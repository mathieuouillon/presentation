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  <p:embeddedFont>
      <p:font typeface="Nunito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33" Type="http://schemas.openxmlformats.org/officeDocument/2006/relationships/font" Target="fonts/NunitoMedium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35" Type="http://schemas.openxmlformats.org/officeDocument/2006/relationships/font" Target="fonts/NunitoMedium-italic.fntdata"/><Relationship Id="rId12" Type="http://schemas.openxmlformats.org/officeDocument/2006/relationships/slide" Target="slides/slide7.xml"/><Relationship Id="rId34" Type="http://schemas.openxmlformats.org/officeDocument/2006/relationships/font" Target="fonts/Nunito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Nunito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1c9b054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1c9b054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1c9b054a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1c9b054a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1c9b054a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1c9b054a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1c9b054a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1c9b054a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1c9b054a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1c9b054a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1c9b054a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1c9b054a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1c9b054a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1c9b054a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1c9b054a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1c9b054a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1c9b054a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1c9b054a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c9b054a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c9b054a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1c9b054a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1c9b054a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1c9b054a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1c9b054a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1c9b054a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1c9b054a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1c9b054a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1c9b054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1c9b054a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1c9b054a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1c9b054a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1c9b054a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1c9b054a5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1c9b054a5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1c9b054a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1c9b054a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1c9b054a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1c9b054a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41c9b054a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41c9b054a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1c9b054a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1c9b054a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1da6dd4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1da6dd4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(19 March,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clas12mon.jlab.org/rgd/pass0v9_qa/phys_qa/timeline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hyperlink" Target="https://clas12mon.jlab.org/rgd/pass0v9_qa/phys_qa/timeline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las12mon.jlab.org/rgd/pass0v9_qa/phys_qa/timeline/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lab.in2p3.fr/dupre/sidis_mc" TargetMode="External"/><Relationship Id="rId4" Type="http://schemas.openxmlformats.org/officeDocument/2006/relationships/hyperlink" Target="https://github.com/raffaelladevita/aiTrackin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19 March,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Cross-check High-level Physics QA Timeline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0" y="647400"/>
            <a:ext cx="90186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Goal: Understand the high-level QA timelines, its relevance for RG-D, and cross-check its results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99107"/>
              <a:buChar char="●"/>
            </a:pPr>
            <a:r>
              <a:rPr lang="fr"/>
              <a:t>Beam charge asymmetry </a:t>
            </a:r>
            <a:r>
              <a:rPr lang="fr" sz="1816"/>
              <a:t>(</a:t>
            </a:r>
            <a:r>
              <a:rPr i="1" lang="fr" sz="1816"/>
              <a:t>should be removed; see next slide</a:t>
            </a:r>
            <a:r>
              <a:rPr lang="fr" sz="1816"/>
              <a:t>)</a:t>
            </a:r>
            <a:endParaRPr sz="1816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Beam spin asymmetry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Define helicity fraction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Electron FD normalized yield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98667"/>
              <a:buChar char="●"/>
            </a:pPr>
            <a:r>
              <a:rPr lang="fr"/>
              <a:t>Electron FT normalized yield: No FT in RG-D, set to 0 </a:t>
            </a:r>
            <a:r>
              <a:rPr lang="fr" sz="1824"/>
              <a:t>(</a:t>
            </a:r>
            <a:r>
              <a:rPr i="1" lang="fr" sz="1824"/>
              <a:t>could be removed as FT was OFF </a:t>
            </a:r>
            <a:r>
              <a:rPr lang="fr" sz="1824"/>
              <a:t>)</a:t>
            </a:r>
            <a:endParaRPr sz="1824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Faraday cup charge gated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Faraday cup charge gated accumulated </a:t>
            </a:r>
            <a:r>
              <a:rPr i="1" lang="fr" sz="1918"/>
              <a:t>(</a:t>
            </a:r>
            <a:r>
              <a:rPr i="1" lang="fr" sz="1792"/>
              <a:t>not significant for RG-D with various target configurations as it can’t be compared with the live accumulated charge plot</a:t>
            </a:r>
            <a:r>
              <a:rPr lang="fr"/>
              <a:t>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453"/>
              <a:buChar char="●"/>
            </a:pPr>
            <a:r>
              <a:rPr lang="fr"/>
              <a:t>Faraday cup gated non-monotonicity: Set to 1 </a:t>
            </a:r>
            <a:r>
              <a:rPr i="1" lang="fr" sz="1792"/>
              <a:t>(could be removed)</a:t>
            </a:r>
            <a:endParaRPr i="1" sz="1792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453"/>
              <a:buChar char="●"/>
            </a:pPr>
            <a:r>
              <a:rPr lang="fr"/>
              <a:t>Faraday cup charge ungated: Same as gated for RG-D </a:t>
            </a:r>
            <a:r>
              <a:rPr i="1" lang="fr" sz="1792"/>
              <a:t>(could be removed)</a:t>
            </a:r>
            <a:endParaRPr i="1" sz="1792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Livetime from fc charge totals: Set to 1 </a:t>
            </a:r>
            <a:r>
              <a:rPr i="1" lang="fr" sz="1792"/>
              <a:t>(could be removed)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2857"/>
              <a:buChar char="●"/>
            </a:pPr>
            <a:r>
              <a:rPr lang="fr" sz="1750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750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750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 sz="1750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600"/>
              <a:t> K</a:t>
            </a:r>
            <a:r>
              <a:rPr lang="fr"/>
              <a:t>inematics means/stddevs (</a:t>
            </a:r>
            <a:r>
              <a:rPr i="1" lang="fr"/>
              <a:t>require further tweaks; more later</a:t>
            </a:r>
            <a:r>
              <a:rPr lang="fr"/>
              <a:t>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Q</a:t>
            </a:r>
            <a:r>
              <a:rPr baseline="30000" lang="fr"/>
              <a:t>2</a:t>
            </a:r>
            <a:r>
              <a:rPr lang="fr"/>
              <a:t>, W, x, y means/stddevs (</a:t>
            </a:r>
            <a:r>
              <a:rPr i="1" lang="fr"/>
              <a:t>require further tweaks; more later</a:t>
            </a:r>
            <a:r>
              <a:rPr lang="fr"/>
              <a:t>)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0" y="787125"/>
            <a:ext cx="91440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BSA extraction is done by performing a SIDIS-type analysis for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and π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with the following criteria: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trigger electron selected with pid= 11, status&lt; 0, 2000≤ |status|&lt; 8000, &amp; -3&lt; chi2pid &lt; 3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DIS cuts: Q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&gt; 1 GeV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W &gt; 2 GeV, and y &lt; 0.8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charged pions (π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 selected with pid = 211/-211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Then, BSA is computed as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What is monitored in the timelines is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Amplitude: the slope of the asymmetry (fitted with a first-order polynomial function)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Offset: intercept of the first-order polynomial function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100" y="2390325"/>
            <a:ext cx="2197125" cy="10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" y="758600"/>
            <a:ext cx="8978724" cy="30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164800" y="4129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From </a:t>
            </a:r>
            <a:r>
              <a:rPr lang="fr" sz="1800" u="sng">
                <a:solidFill>
                  <a:schemeClr val="accent5"/>
                </a:solidFill>
                <a:latin typeface="Nunito Medium"/>
                <a:ea typeface="Nunito Medium"/>
                <a:cs typeface="Nunito Medium"/>
                <a:sym typeface="Nunito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timeline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Beam Spin Asymmetry </a:t>
            </a:r>
            <a:endParaRPr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75" y="748925"/>
            <a:ext cx="8839204" cy="39577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 rot="10800000">
            <a:off x="1058550" y="2917825"/>
            <a:ext cx="0" cy="37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7"/>
          <p:cNvSpPr txBox="1"/>
          <p:nvPr/>
        </p:nvSpPr>
        <p:spPr>
          <a:xfrm>
            <a:off x="729375" y="3284250"/>
            <a:ext cx="3823800" cy="1058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18331: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0.00166, offset: -0.00190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0.00164, offset: -0.00192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0.01861, offset: 0.00518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0.001866, offset: -0.00517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>
            <a:off x="6225525" y="2866675"/>
            <a:ext cx="0" cy="37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 txBox="1"/>
          <p:nvPr/>
        </p:nvSpPr>
        <p:spPr>
          <a:xfrm>
            <a:off x="5000650" y="3284250"/>
            <a:ext cx="3823800" cy="10905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18852: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-0.0052, offset: -0.00322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-0.0054, offset: -0.00320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-0.0149, offset: 0.00798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-0.00143, offset: 0.00804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3039425" y="1750700"/>
            <a:ext cx="0" cy="414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7"/>
          <p:cNvSpPr txBox="1"/>
          <p:nvPr/>
        </p:nvSpPr>
        <p:spPr>
          <a:xfrm>
            <a:off x="2473550" y="820375"/>
            <a:ext cx="3823800" cy="9099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Run 18532: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0.0141, offset: 0.00656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0.0142, offset: 0.00653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My values: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0.0110, offset: 0.00766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Timeline: π</a:t>
            </a:r>
            <a:r>
              <a:rPr baseline="30000"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2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amplitude: 0.01087, offset: 0.00765</a:t>
            </a:r>
            <a:endParaRPr sz="120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Defined Helicity Fraction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50" y="1426750"/>
            <a:ext cx="8839204" cy="3029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0" y="719300"/>
            <a:ext cx="91440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Computed as a ratio of the number of events with defined helicity (1 or -1) and the total number of events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Electron FD Normalized Yield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0" y="628600"/>
            <a:ext cx="927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Represents the number of identified trigger electrons normalized by the accumulated gated beam-charge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00" y="1333625"/>
            <a:ext cx="8441298" cy="289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0" y="4125725"/>
            <a:ext cx="914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i="1" lang="fr" sz="1560"/>
              <a:t>Outliers are expected to diminish once full runs are processed since the normalization is done with the accumulated gated per-run beam-charge (current timelines has only 20 files per run)</a:t>
            </a:r>
            <a:endParaRPr i="1" sz="156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Electron FD Normalized Yield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7425" y="949175"/>
            <a:ext cx="4913100" cy="3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run 18532                                my value       | timelines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sector1: 188953: 0.6664335074 | 0.66643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sector2: 186635: 0.6582579671 | 0.65826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sector3: 188220: 0.6638482308 | 0.66385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sector4: 180457: 0.6364682828 | 0.063647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sector5: 184638: 0.6512145874 | 0.65121</a:t>
            </a:r>
            <a:endParaRPr sz="143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30"/>
              <a:t>nTrigger sector6: 177411: 0.6257251009 | 0.62573</a:t>
            </a:r>
            <a:endParaRPr sz="1430"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4513275" y="949175"/>
            <a:ext cx="4630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run 18331:                               my value     | timelines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sector1: 48458: 0.1488494736 |  0.14885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sector2: 42969: 0.131988795   | 0.13199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sector3: 39778: 0.1221869322 | 0.12219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sector4: 47976: 0.1473689039 |  0.14737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sector5: 41075: 0.1261709548 | 0.12737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nTrigger sector6: 37752: 0.1159636247 | 0.11596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Faraday Cup Charge Gated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0" y="647400"/>
            <a:ext cx="90735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23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95"/>
              <a:buChar char="●"/>
            </a:pPr>
            <a:r>
              <a:rPr lang="fr" sz="1695"/>
              <a:t>Represents BPM/BCM accumulated livetime-corrected charge extracted by Maurik H. by reading BCM currents and livetime information stored in the MYA database </a:t>
            </a:r>
            <a:endParaRPr sz="1695"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50" y="1419600"/>
            <a:ext cx="8839204" cy="2878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50750" y="42221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From </a:t>
            </a:r>
            <a:r>
              <a:rPr lang="fr" u="sng">
                <a:solidFill>
                  <a:schemeClr val="hlink"/>
                </a:solidFill>
                <a:hlinkClick r:id="rId4"/>
              </a:rPr>
              <a:t>the timeline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Faraday Cup Charge Gated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723600"/>
            <a:ext cx="8839204" cy="334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 </a:t>
            </a:r>
            <a:endParaRPr sz="2200"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From </a:t>
            </a:r>
            <a:r>
              <a:rPr lang="fr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timeline</a:t>
            </a:r>
            <a:endParaRPr/>
          </a:p>
        </p:txBody>
      </p:sp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25" y="1074000"/>
            <a:ext cx="9059348" cy="293721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0" y="647400"/>
            <a:ext cx="90735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210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 sz="1918"/>
              <a:t>Extracted by performing a per-run charge accumulation throughout the whole run-period</a:t>
            </a:r>
            <a:endParaRPr sz="1918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</a:t>
            </a:r>
            <a:endParaRPr sz="2200"/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50750" y="4145975"/>
            <a:ext cx="8520600" cy="6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My cross-check</a:t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" y="765900"/>
            <a:ext cx="9043948" cy="3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/>
              <a:t>Faraday Cup Charge Accumulated</a:t>
            </a:r>
            <a:endParaRPr sz="2200"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0" y="647400"/>
            <a:ext cx="8520600" cy="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0678" lvl="0" marL="457200" rtl="0" algn="l">
              <a:spcBef>
                <a:spcPts val="0"/>
              </a:spcBef>
              <a:spcAft>
                <a:spcPts val="0"/>
              </a:spcAft>
              <a:buSzPts val="1765"/>
              <a:buChar char="●"/>
            </a:pPr>
            <a:r>
              <a:rPr lang="fr" sz="1765"/>
              <a:t>The same accumulated per-run charge throughout the whole run period but separated by target configurations</a:t>
            </a:r>
            <a:endParaRPr sz="1765"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1323025"/>
            <a:ext cx="8839204" cy="337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-25" y="723600"/>
            <a:ext cx="9144000" cy="4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fr" sz="1900"/>
              <a:t>To compute the values for these timelines: </a:t>
            </a:r>
            <a:endParaRPr sz="19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Each run is divided into three bins: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1: Contains only the first event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2: Spans from the first event to the last event within the RUN::scaler bank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AutoNum type="alphaLcPeriod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Bin 3: Extends from the end of Bin 2 until the end of the run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For each of these three bins, histograms are filled for the following kinematical variables: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p, p</a:t>
            </a:r>
            <a:r>
              <a:rPr baseline="-25000" i="1"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phiH,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θ, and </a:t>
            </a:r>
            <a:r>
              <a:rPr i="1" lang="fr">
                <a:latin typeface="Nunito"/>
                <a:ea typeface="Nunito"/>
                <a:cs typeface="Nunito"/>
                <a:sym typeface="Nunito"/>
              </a:rPr>
              <a:t>z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 weighted mean is then calculated for each histogram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Next, five new histograms get created and filled with the previously extracted weighted means for each kinematical variable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AutoNum type="arabicPeriod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Then, the weighted mean for these five histograms is computed and displayed in the corresponding timeline for each kinematical variable</a:t>
            </a:r>
            <a:endParaRPr sz="1050">
              <a:solidFill>
                <a:srgbClr val="0E10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 sz="1900"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0" y="647400"/>
            <a:ext cx="9144000" cy="5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Compared to other run group, RG-D has only 3 bins. The first is always empty.</a:t>
            </a:r>
            <a:endParaRPr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" y="1043600"/>
            <a:ext cx="4406344" cy="21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857925" y="32091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043600"/>
            <a:ext cx="4406349" cy="219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-125000" y="3970250"/>
            <a:ext cx="92691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This kinematical binning is used to reject part of the run if some issues are observed in the timelines</a:t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5428725" y="31785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/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44" y="1016389"/>
            <a:ext cx="4031402" cy="1999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721" y="688050"/>
            <a:ext cx="4633853" cy="228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94875" y="3567525"/>
            <a:ext cx="15585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Step 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857925" y="3056750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RG-B Pass2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28725" y="3026175"/>
            <a:ext cx="2819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RG-D Pass0v9 QA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 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/π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−</a:t>
            </a:r>
            <a:r>
              <a:rPr lang="fr"/>
              <a:t> Kinematics means/stddevs</a:t>
            </a:r>
            <a:endParaRPr sz="1900"/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75" y="982775"/>
            <a:ext cx="8839204" cy="301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π</a:t>
            </a:r>
            <a:r>
              <a:rPr baseline="30000" lang="fr"/>
              <a:t>0</a:t>
            </a:r>
            <a:r>
              <a:rPr lang="fr"/>
              <a:t> analysis: Event mixing</a:t>
            </a:r>
            <a:endParaRPr/>
          </a:p>
        </p:txBody>
      </p:sp>
      <p:sp>
        <p:nvSpPr>
          <p:cNvPr id="209" name="Google Shape;209;p3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94875" y="860650"/>
            <a:ext cx="3191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Photon cuts: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 &gt; 1 GeV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-1.67 &lt; Δt &lt; 1.55 ns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θ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eɣ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&gt; 8 deg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 &gt; 2 GeV </a:t>
            </a:r>
            <a:endParaRPr baseline="30000"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&gt; 1 GeV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0.3 &lt; z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&lt; 0.7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θ</a:t>
            </a:r>
            <a:r>
              <a:rPr baseline="-25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ɣ1ɣ2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&gt; 2.5 deg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478" y="647399"/>
            <a:ext cx="6443671" cy="404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π</a:t>
            </a:r>
            <a:r>
              <a:rPr baseline="30000" lang="fr"/>
              <a:t>0</a:t>
            </a:r>
            <a:r>
              <a:rPr lang="fr"/>
              <a:t> analysis: Event mixing</a:t>
            </a:r>
            <a:endParaRPr/>
          </a:p>
        </p:txBody>
      </p:sp>
      <p:sp>
        <p:nvSpPr>
          <p:cNvPr id="217" name="Google Shape;217;p3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18" name="Google Shape;2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150" y="727350"/>
            <a:ext cx="5048453" cy="387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π</a:t>
            </a:r>
            <a:r>
              <a:rPr baseline="30000" lang="fr"/>
              <a:t>0</a:t>
            </a:r>
            <a:r>
              <a:rPr lang="fr"/>
              <a:t> analysis: Event mixing</a:t>
            </a:r>
            <a:endParaRPr/>
          </a:p>
        </p:txBody>
      </p:sp>
      <p:sp>
        <p:nvSpPr>
          <p:cNvPr id="224" name="Google Shape;224;p3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25" name="Google Shape;22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00" y="1200697"/>
            <a:ext cx="4456900" cy="349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100" y="1200712"/>
            <a:ext cx="4456900" cy="349701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 txBox="1"/>
          <p:nvPr/>
        </p:nvSpPr>
        <p:spPr>
          <a:xfrm>
            <a:off x="657350" y="786100"/>
            <a:ext cx="294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Data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5377225" y="830050"/>
            <a:ext cx="2947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Event mixing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Background merging</a:t>
            </a:r>
            <a:endParaRPr/>
          </a:p>
        </p:txBody>
      </p:sp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0" y="647400"/>
            <a:ext cx="9144000" cy="40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For pass1 review, perform this only LD2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First step </a:t>
            </a:r>
            <a:r>
              <a:rPr lang="fr" sz="2400"/>
              <a:t>⇒</a:t>
            </a:r>
            <a:r>
              <a:rPr lang="fr"/>
              <a:t> Get 100k background events from 50nA and 60nA runs (trigger-spliter, trigger-filter and hipo-utils -merge)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The strategy here is to take 20 random runs at 50nA and take 5k background events per run and merge them. (same for 60nA)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Second step </a:t>
            </a:r>
            <a:r>
              <a:rPr lang="fr" sz="2400"/>
              <a:t>⇒</a:t>
            </a:r>
            <a:r>
              <a:rPr lang="fr"/>
              <a:t> Generate 100k SIDIS events with </a:t>
            </a:r>
            <a:r>
              <a:rPr lang="fr" u="sng">
                <a:solidFill>
                  <a:schemeClr val="hlink"/>
                </a:solidFill>
                <a:hlinkClick r:id="rId3"/>
              </a:rPr>
              <a:t>sidis_mc</a:t>
            </a:r>
            <a:r>
              <a:rPr lang="fr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Third step </a:t>
            </a:r>
            <a:r>
              <a:rPr lang="fr" sz="2400"/>
              <a:t>⇒ </a:t>
            </a:r>
            <a:r>
              <a:rPr lang="fr"/>
              <a:t>merge background and simulation (bg-merger)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Finally</a:t>
            </a:r>
            <a:r>
              <a:rPr lang="fr"/>
              <a:t> </a:t>
            </a:r>
            <a:r>
              <a:rPr lang="fr" sz="2400"/>
              <a:t>⇒</a:t>
            </a:r>
            <a:r>
              <a:rPr lang="fr"/>
              <a:t> use </a:t>
            </a:r>
            <a:r>
              <a:rPr lang="fr" u="sng">
                <a:solidFill>
                  <a:schemeClr val="hlink"/>
                </a:solidFill>
                <a:hlinkClick r:id="rId4"/>
              </a:rPr>
              <a:t>aiTracking</a:t>
            </a:r>
            <a:r>
              <a:rPr lang="fr"/>
              <a:t> to reproduce the results obtained with the lumi scan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gcard: /work/clas12/ouillon/background_merging/clas12_lD2-RGD.gcard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yaml: /work/clas12/ouillon/background_merging/data-aicv.yaml</a:t>
            </a:r>
            <a:endParaRPr/>
          </a:p>
        </p:txBody>
      </p:sp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100" y="723599"/>
            <a:ext cx="6683049" cy="39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249" name="Google Shape;24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0" y="1592525"/>
            <a:ext cx="4673782" cy="278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299" y="1592525"/>
            <a:ext cx="4323702" cy="24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 txBox="1"/>
          <p:nvPr/>
        </p:nvSpPr>
        <p:spPr>
          <a:xfrm>
            <a:off x="698000" y="1006250"/>
            <a:ext cx="37455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MC + background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4820300" y="1006250"/>
            <a:ext cx="42198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Luminosity scan (done by Daniel)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