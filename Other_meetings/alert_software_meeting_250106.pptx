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Nunito"/>
      <p:regular r:id="rId11"/>
      <p:bold r:id="rId12"/>
      <p:italic r:id="rId13"/>
      <p:boldItalic r:id="rId14"/>
    </p:embeddedFont>
    <p:embeddedFont>
      <p:font typeface="Nunito Medium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regular.fntdata"/><Relationship Id="rId10" Type="http://schemas.openxmlformats.org/officeDocument/2006/relationships/slide" Target="slides/slide5.xml"/><Relationship Id="rId13" Type="http://schemas.openxmlformats.org/officeDocument/2006/relationships/font" Target="fonts/Nunito-italic.fntdata"/><Relationship Id="rId12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Medium-regular.fntdata"/><Relationship Id="rId14" Type="http://schemas.openxmlformats.org/officeDocument/2006/relationships/font" Target="fonts/Nunito-boldItalic.fntdata"/><Relationship Id="rId17" Type="http://schemas.openxmlformats.org/officeDocument/2006/relationships/font" Target="fonts/NunitoMedium-italic.fntdata"/><Relationship Id="rId16" Type="http://schemas.openxmlformats.org/officeDocument/2006/relationships/font" Target="fonts/Nunito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Nunito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2255f6329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2255f6329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2309e9e27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2309e9e27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2309e9e2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2309e9e2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2255f6329e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2255f6329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1700" y="20778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/>
        </p:nvSpPr>
        <p:spPr>
          <a:xfrm>
            <a:off x="5005450" y="4787400"/>
            <a:ext cx="400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ALERT software group meeting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(6 January 2025)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3880"/>
              <a:t>ALERT software group meeting</a:t>
            </a:r>
            <a:endParaRPr sz="38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fr" sz="1980">
                <a:latin typeface="Nunito"/>
                <a:ea typeface="Nunito"/>
                <a:cs typeface="Nunito"/>
                <a:sym typeface="Nunito"/>
              </a:rPr>
              <a:t>Mathieu Ouillon (Mississippi State University)</a:t>
            </a:r>
            <a:endParaRPr sz="198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011525" y="3480050"/>
            <a:ext cx="413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6 January 2025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5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9875" y="1230892"/>
            <a:ext cx="3559076" cy="3491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300" y="1230900"/>
            <a:ext cx="3559076" cy="349182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Study secondary particles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-25125" y="647400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/>
              <a:t>Determine the frequency of secondary particle production and its ability to cause hits in the AHDC.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/>
              <a:t>Data use: 1 proton p</a:t>
            </a:r>
            <a:r>
              <a:rPr lang="fr" sz="1500">
                <a:latin typeface="Nunito"/>
                <a:ea typeface="Nunito"/>
                <a:cs typeface="Nunito"/>
                <a:sym typeface="Nunito"/>
              </a:rPr>
              <a:t>∈ [60, 250] MeV/c, φ ∈ [0, 360]°, θ ∈ [60, 120]° and vz ∈ [-15, 15] cm.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72" name="Google Shape;72;p14"/>
          <p:cNvCxnSpPr/>
          <p:nvPr/>
        </p:nvCxnSpPr>
        <p:spPr>
          <a:xfrm flipH="1" rot="10800000">
            <a:off x="3655100" y="3209200"/>
            <a:ext cx="2424300" cy="1331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Study secondary particles</a:t>
            </a:r>
            <a:endParaRPr/>
          </a:p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9125" y="647400"/>
            <a:ext cx="4096724" cy="4050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875" y="770700"/>
            <a:ext cx="4037424" cy="389804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6851725" y="797600"/>
            <a:ext cx="19344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Other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2155800" y="868375"/>
            <a:ext cx="19344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Electron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Study secondary particles</a:t>
            </a:r>
            <a:endParaRPr/>
          </a:p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375" y="810125"/>
            <a:ext cx="4374626" cy="3907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700" y="-1274000"/>
            <a:ext cx="6707762" cy="5991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2100" y="1220888"/>
            <a:ext cx="3546626" cy="3479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675" y="1220875"/>
            <a:ext cx="3546626" cy="34796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Study secondary particles</a:t>
            </a:r>
            <a:endParaRPr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-25125" y="647400"/>
            <a:ext cx="9144000" cy="8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/>
              <a:t>Determine the frequency of secondary particle production and its ability to cause hits in the AHDC.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/>
              <a:t>Data use: p,</a:t>
            </a:r>
            <a:r>
              <a:rPr baseline="30000" lang="fr" sz="1500"/>
              <a:t>2</a:t>
            </a:r>
            <a:r>
              <a:rPr lang="fr" sz="1500"/>
              <a:t>H,</a:t>
            </a:r>
            <a:r>
              <a:rPr baseline="30000" lang="fr" sz="1500"/>
              <a:t>3</a:t>
            </a:r>
            <a:r>
              <a:rPr lang="fr" sz="1500"/>
              <a:t>H,</a:t>
            </a:r>
            <a:r>
              <a:rPr baseline="30000" lang="fr" sz="1500"/>
              <a:t>3</a:t>
            </a:r>
            <a:r>
              <a:rPr lang="fr" sz="1500"/>
              <a:t>He,</a:t>
            </a:r>
            <a:r>
              <a:rPr baseline="30000" lang="fr" sz="1500"/>
              <a:t>4</a:t>
            </a:r>
            <a:r>
              <a:rPr lang="fr" sz="1500"/>
              <a:t>He</a:t>
            </a:r>
            <a:r>
              <a:rPr lang="fr" sz="1500"/>
              <a:t> </a:t>
            </a:r>
            <a:r>
              <a:rPr lang="fr" sz="1500">
                <a:latin typeface="Nunito"/>
                <a:ea typeface="Nunito"/>
                <a:cs typeface="Nunito"/>
                <a:sym typeface="Nunito"/>
              </a:rPr>
              <a:t>∈ [60, 450] MeV/c, φ ∈ [0, 360]°, θ ∈ [60, 120]° and vz ∈ [-15, 15] cm.</a:t>
            </a:r>
            <a:endParaRPr sz="1500"/>
          </a:p>
        </p:txBody>
      </p:sp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100" name="Google Shape;100;p17"/>
          <p:cNvCxnSpPr/>
          <p:nvPr/>
        </p:nvCxnSpPr>
        <p:spPr>
          <a:xfrm flipH="1" rot="10800000">
            <a:off x="3655100" y="3209200"/>
            <a:ext cx="2424300" cy="1331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