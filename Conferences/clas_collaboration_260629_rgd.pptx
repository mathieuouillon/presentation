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Fira Sans ExtraLight"/>
      <p:regular r:id="rId38"/>
      <p:bold r:id="rId39"/>
      <p:italic r:id="rId40"/>
      <p:boldItalic r:id="rId41"/>
    </p:embeddedFont>
    <p:embeddedFont>
      <p:font typeface="Nunito"/>
      <p:regular r:id="rId42"/>
      <p:bold r:id="rId43"/>
      <p:italic r:id="rId44"/>
      <p:boldItalic r:id="rId45"/>
    </p:embeddedFont>
    <p:embeddedFont>
      <p:font typeface="Fira Sans Medium"/>
      <p:regular r:id="rId46"/>
      <p:bold r:id="rId47"/>
      <p:italic r:id="rId48"/>
      <p:boldItalic r:id="rId49"/>
    </p:embeddedFont>
    <p:embeddedFont>
      <p:font typeface="Nunito Medium"/>
      <p:regular r:id="rId50"/>
      <p:bold r:id="rId51"/>
      <p:italic r:id="rId52"/>
      <p:boldItalic r:id="rId53"/>
    </p:embeddedFont>
    <p:embeddedFont>
      <p:font typeface="Fira Sans"/>
      <p:regular r:id="rId54"/>
      <p:bold r:id="rId55"/>
      <p:italic r:id="rId56"/>
      <p:boldItalic r:id="rId57"/>
    </p:embeddedFont>
    <p:embeddedFont>
      <p:font typeface="Fira Sans Light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ExtraLight-italic.fntdata"/><Relationship Id="rId42" Type="http://schemas.openxmlformats.org/officeDocument/2006/relationships/font" Target="fonts/Nunito-regular.fntdata"/><Relationship Id="rId41" Type="http://schemas.openxmlformats.org/officeDocument/2006/relationships/font" Target="fonts/FiraSansExtraLight-boldItalic.fntdata"/><Relationship Id="rId44" Type="http://schemas.openxmlformats.org/officeDocument/2006/relationships/font" Target="fonts/Nunito-italic.fntdata"/><Relationship Id="rId43" Type="http://schemas.openxmlformats.org/officeDocument/2006/relationships/font" Target="fonts/Nunito-bold.fntdata"/><Relationship Id="rId46" Type="http://schemas.openxmlformats.org/officeDocument/2006/relationships/font" Target="fonts/FiraSansMedium-regular.fntdata"/><Relationship Id="rId45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FiraSansMedium-italic.fntdata"/><Relationship Id="rId47" Type="http://schemas.openxmlformats.org/officeDocument/2006/relationships/font" Target="fonts/FiraSansMedium-bold.fntdata"/><Relationship Id="rId49" Type="http://schemas.openxmlformats.org/officeDocument/2006/relationships/font" Target="fonts/FiraSa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FiraSansExtraLight-bold.fntdata"/><Relationship Id="rId38" Type="http://schemas.openxmlformats.org/officeDocument/2006/relationships/font" Target="fonts/FiraSansExtraLight-regular.fntdata"/><Relationship Id="rId61" Type="http://schemas.openxmlformats.org/officeDocument/2006/relationships/font" Target="fonts/FiraSansLight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FiraSansLight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NunitoMedium-bold.fntdata"/><Relationship Id="rId50" Type="http://schemas.openxmlformats.org/officeDocument/2006/relationships/font" Target="fonts/NunitoMedium-regular.fntdata"/><Relationship Id="rId53" Type="http://schemas.openxmlformats.org/officeDocument/2006/relationships/font" Target="fonts/NunitoMedium-boldItalic.fntdata"/><Relationship Id="rId52" Type="http://schemas.openxmlformats.org/officeDocument/2006/relationships/font" Target="fonts/NunitoMedium-italic.fntdata"/><Relationship Id="rId11" Type="http://schemas.openxmlformats.org/officeDocument/2006/relationships/slide" Target="slides/slide6.xml"/><Relationship Id="rId55" Type="http://schemas.openxmlformats.org/officeDocument/2006/relationships/font" Target="fonts/FiraSans-bold.fntdata"/><Relationship Id="rId10" Type="http://schemas.openxmlformats.org/officeDocument/2006/relationships/slide" Target="slides/slide5.xml"/><Relationship Id="rId54" Type="http://schemas.openxmlformats.org/officeDocument/2006/relationships/font" Target="fonts/FiraSans-regular.fntdata"/><Relationship Id="rId13" Type="http://schemas.openxmlformats.org/officeDocument/2006/relationships/slide" Target="slides/slide8.xml"/><Relationship Id="rId57" Type="http://schemas.openxmlformats.org/officeDocument/2006/relationships/font" Target="fonts/FiraSans-boldItalic.fntdata"/><Relationship Id="rId12" Type="http://schemas.openxmlformats.org/officeDocument/2006/relationships/slide" Target="slides/slide7.xml"/><Relationship Id="rId56" Type="http://schemas.openxmlformats.org/officeDocument/2006/relationships/font" Target="fonts/FiraSans-italic.fntdata"/><Relationship Id="rId15" Type="http://schemas.openxmlformats.org/officeDocument/2006/relationships/slide" Target="slides/slide10.xml"/><Relationship Id="rId59" Type="http://schemas.openxmlformats.org/officeDocument/2006/relationships/font" Target="fonts/FiraSansLight-bold.fntdata"/><Relationship Id="rId14" Type="http://schemas.openxmlformats.org/officeDocument/2006/relationships/slide" Target="slides/slide9.xml"/><Relationship Id="rId58" Type="http://schemas.openxmlformats.org/officeDocument/2006/relationships/font" Target="fonts/FiraSansLight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b208be983_2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cb208be983_2_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cb208be983_2_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57938ef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57938ef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6bcc0e9a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6bcc0e9a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b251870f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b251870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6bcc0e9a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86bcc0e9a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86bcc0e9a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86bcc0e9a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b8a59f9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eb8a59f9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b8a59f97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eb8a59f97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eb8a59f97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eb8a59f97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eb8a59f97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eb8a59f97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eb8a59f97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eb8a59f97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eb8a59f97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eb8a59f97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eb8a59f97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eb8a59f97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eb8a59f97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eb8a59f97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eb8a59f97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eb8a59f97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eb8a59f97d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eb8a59f97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eb8a59f97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eb8a59f97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eb8a59f97d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eb8a59f97d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eb8a59f97d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eb8a59f97d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eb8a59f97d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eb8a59f97d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ef822023c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ef822023c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86bcc0e9a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86bcc0e9a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86bcc0e9a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86bcc0e9a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86bcc0e9a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386bcc0e9a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cc976e0e8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cc976e0e8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86bcc0e9a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386bcc0e9a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cc976e0e8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3cc976e0e8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86bcc0e9af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86bcc0e9af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eb8a59f97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eb8a59f97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3eb8a59f97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3eb8a59f97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3eb8a59f97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3eb8a59f97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cc976e0e8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3cc976e0e8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AFA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4"/>
          <p:cNvSpPr/>
          <p:nvPr/>
        </p:nvSpPr>
        <p:spPr>
          <a:xfrm>
            <a:off x="1903250" y="512675"/>
            <a:ext cx="1910400" cy="963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background with white text and a white logo  AI-generated content may be incorrect." id="56" name="Google Shape;56;p14"/>
          <p:cNvPicPr preferRelativeResize="0"/>
          <p:nvPr/>
        </p:nvPicPr>
        <p:blipFill rotWithShape="1">
          <a:blip r:embed="rId2">
            <a:alphaModFix/>
          </a:blip>
          <a:srcRect b="0" l="-1" r="28388" t="0"/>
          <a:stretch/>
        </p:blipFill>
        <p:spPr>
          <a:xfrm>
            <a:off x="4066575" y="3500"/>
            <a:ext cx="50774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/>
          <p:nvPr/>
        </p:nvSpPr>
        <p:spPr>
          <a:xfrm rot="10800000">
            <a:off x="2707550" y="75"/>
            <a:ext cx="3421800" cy="5140800"/>
          </a:xfrm>
          <a:prstGeom prst="trapezoid">
            <a:avLst>
              <a:gd fmla="val 25000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 txBox="1"/>
          <p:nvPr>
            <p:ph type="ctrTitle"/>
          </p:nvPr>
        </p:nvSpPr>
        <p:spPr>
          <a:xfrm>
            <a:off x="300035" y="1548377"/>
            <a:ext cx="7772400" cy="731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04D59"/>
              </a:buClr>
              <a:buSzPts val="2400"/>
              <a:buFont typeface="Fira Sans"/>
              <a:buNone/>
              <a:defRPr b="1">
                <a:solidFill>
                  <a:srgbClr val="304D5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00035" y="2864739"/>
            <a:ext cx="6400800" cy="5030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rgbClr val="304D59"/>
              </a:buClr>
              <a:buSzPts val="1800"/>
              <a:buNone/>
              <a:defRPr sz="1800">
                <a:solidFill>
                  <a:srgbClr val="304D59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2150" y="937250"/>
            <a:ext cx="86448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65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63" name="Google Shape;63;p15"/>
          <p:cNvCxnSpPr/>
          <p:nvPr/>
        </p:nvCxnSpPr>
        <p:spPr>
          <a:xfrm>
            <a:off x="119657" y="4861300"/>
            <a:ext cx="8904600" cy="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background with white text and a white circle  AI-generated content may be incorrect." id="64" name="Google Shape;6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023" y="-7023"/>
            <a:ext cx="1066199" cy="912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/>
        </p:nvSpPr>
        <p:spPr>
          <a:xfrm>
            <a:off x="42150" y="4902075"/>
            <a:ext cx="32166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88888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07/01/26 | CLAS Collaboration meeting</a:t>
            </a:r>
            <a:endParaRPr sz="1100">
              <a:solidFill>
                <a:srgbClr val="888888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0"/>
            <a:ext cx="8229600" cy="661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6300" y="936900"/>
            <a:ext cx="40386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3373B"/>
              </a:buClr>
              <a:buSzPts val="1800"/>
              <a:buChar char="•"/>
              <a:defRPr sz="1800">
                <a:solidFill>
                  <a:srgbClr val="23373B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69" name="Google Shape;69;p16"/>
          <p:cNvSpPr txBox="1"/>
          <p:nvPr>
            <p:ph idx="2" type="body"/>
          </p:nvPr>
        </p:nvSpPr>
        <p:spPr>
          <a:xfrm>
            <a:off x="4648200" y="936900"/>
            <a:ext cx="40386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3373B"/>
              </a:buClr>
              <a:buSzPts val="3000"/>
              <a:buFont typeface="Fira Sans"/>
              <a:buNone/>
              <a:defRPr b="1" sz="3000" cap="none">
                <a:solidFill>
                  <a:srgbClr val="23373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0" y="-21310"/>
            <a:ext cx="9144000" cy="731043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inverted colors">
  <p:cSld name="Section header inverted colors">
    <p:bg>
      <p:bgPr>
        <a:solidFill>
          <a:srgbClr val="23373B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3000"/>
              <a:buFont typeface="Fira Sans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0" y="-21310"/>
            <a:ext cx="9144000" cy="112514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wo columns with two subtitles">
  <p:cSld name="title, two columns with two subtitle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199" y="689787"/>
            <a:ext cx="4040188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457200" y="1197449"/>
            <a:ext cx="4040188" cy="33971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45026" y="689787"/>
            <a:ext cx="40417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45026" y="1197449"/>
            <a:ext cx="4041775" cy="33971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lumn and imagen with caption">
  <p:cSld name="Title, column and imagen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457200" y="704851"/>
            <a:ext cx="3008313" cy="39062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0"/>
          <p:cNvSpPr txBox="1"/>
          <p:nvPr>
            <p:ph idx="2" type="body"/>
          </p:nvPr>
        </p:nvSpPr>
        <p:spPr>
          <a:xfrm>
            <a:off x="3579814" y="3895059"/>
            <a:ext cx="5106986" cy="6995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u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0"/>
          <p:cNvSpPr/>
          <p:nvPr>
            <p:ph idx="3" type="pic"/>
          </p:nvPr>
        </p:nvSpPr>
        <p:spPr>
          <a:xfrm>
            <a:off x="3579814" y="712476"/>
            <a:ext cx="5106986" cy="313205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title and sub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1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u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461057" y="697469"/>
            <a:ext cx="8225742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0" name="Google Shape;110;p21"/>
          <p:cNvSpPr txBox="1"/>
          <p:nvPr>
            <p:ph idx="2" type="body"/>
          </p:nvPr>
        </p:nvSpPr>
        <p:spPr>
          <a:xfrm>
            <a:off x="457200" y="1212814"/>
            <a:ext cx="8229599" cy="3366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two columns">
  <p:cSld name="title, subtitle two column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2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u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61057" y="697469"/>
            <a:ext cx="8225742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7" name="Google Shape;117;p22"/>
          <p:cNvSpPr txBox="1"/>
          <p:nvPr>
            <p:ph idx="2" type="body"/>
          </p:nvPr>
        </p:nvSpPr>
        <p:spPr>
          <a:xfrm>
            <a:off x="457199" y="1212814"/>
            <a:ext cx="4056017" cy="33768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8" name="Google Shape;118;p22"/>
          <p:cNvSpPr txBox="1"/>
          <p:nvPr>
            <p:ph idx="3" type="body"/>
          </p:nvPr>
        </p:nvSpPr>
        <p:spPr>
          <a:xfrm>
            <a:off x="4630784" y="1212814"/>
            <a:ext cx="4056017" cy="3366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21" name="Google Shape;121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3"/>
          <p:cNvSpPr/>
          <p:nvPr/>
        </p:nvSpPr>
        <p:spPr>
          <a:xfrm>
            <a:off x="0" y="0"/>
            <a:ext cx="9144000" cy="712177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3"/>
          <p:cNvSpPr/>
          <p:nvPr>
            <p:ph idx="2" type="pic"/>
          </p:nvPr>
        </p:nvSpPr>
        <p:spPr>
          <a:xfrm>
            <a:off x="1792288" y="459581"/>
            <a:ext cx="5486400" cy="351043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">
  <p:cSld name="Only titl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4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n slide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2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"/>
              <a:buNone/>
              <a:defRPr sz="2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>
              <a:spcBef>
                <a:spcPts val="40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23850" lvl="1" marL="914400">
              <a:spcBef>
                <a:spcPts val="300"/>
              </a:spcBef>
              <a:spcAft>
                <a:spcPts val="0"/>
              </a:spcAft>
              <a:buClr>
                <a:srgbClr val="93C47D"/>
              </a:buClr>
              <a:buSzPts val="1500"/>
              <a:buFont typeface="Nunito Medium"/>
              <a:buChar char="–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30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04800" lvl="3" marL="1828800">
              <a:spcBef>
                <a:spcPts val="20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Medium"/>
              <a:buChar char="–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04800" lvl="4" marL="2286000">
              <a:spcBef>
                <a:spcPts val="20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Medium"/>
              <a:buChar char="»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23850" lvl="5" marL="2743200">
              <a:spcBef>
                <a:spcPts val="300"/>
              </a:spcBef>
              <a:spcAft>
                <a:spcPts val="0"/>
              </a:spcAft>
              <a:buSzPts val="15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23850" lvl="6" marL="3200400">
              <a:spcBef>
                <a:spcPts val="300"/>
              </a:spcBef>
              <a:spcAft>
                <a:spcPts val="0"/>
              </a:spcAft>
              <a:buSzPts val="15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23850" lvl="7" marL="3657600">
              <a:spcBef>
                <a:spcPts val="300"/>
              </a:spcBef>
              <a:spcAft>
                <a:spcPts val="0"/>
              </a:spcAft>
              <a:buSzPts val="15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23850" lvl="8" marL="4114800">
              <a:spcBef>
                <a:spcPts val="300"/>
              </a:spcBef>
              <a:spcAft>
                <a:spcPts val="0"/>
              </a:spcAft>
              <a:buSzPts val="15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cxnSp>
        <p:nvCxnSpPr>
          <p:cNvPr id="139" name="Google Shape;139;p26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26"/>
          <p:cNvSpPr/>
          <p:nvPr/>
        </p:nvSpPr>
        <p:spPr>
          <a:xfrm rot="10800000">
            <a:off x="8547000" y="3000"/>
            <a:ext cx="597000" cy="641400"/>
          </a:xfrm>
          <a:prstGeom prst="round1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 txBox="1"/>
          <p:nvPr/>
        </p:nvSpPr>
        <p:spPr>
          <a:xfrm>
            <a:off x="5216950" y="4787400"/>
            <a:ext cx="3797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CLAS Collaboration (5 March, 2025)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" name="Google Shape;142;p26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457200" y="1097281"/>
            <a:ext cx="8229600" cy="34973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23850" lvl="1" marL="914400" marR="0" rtl="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04800" lvl="3" marL="1828800" marR="0" rtl="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04800" lvl="4" marL="2286000" marR="0" rtl="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1059175" y="147484"/>
            <a:ext cx="80847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b="0" i="0" sz="2400" u="none" cap="none" strike="noStrike">
                <a:solidFill>
                  <a:srgbClr val="00315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32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Relationship Id="rId4" Type="http://schemas.openxmlformats.org/officeDocument/2006/relationships/image" Target="../media/image35.png"/><Relationship Id="rId5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ctrTitle"/>
          </p:nvPr>
        </p:nvSpPr>
        <p:spPr>
          <a:xfrm>
            <a:off x="94375" y="1098800"/>
            <a:ext cx="5844600" cy="16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04D59"/>
              </a:buClr>
              <a:buSzPts val="4500"/>
              <a:buFont typeface="Fira Sans"/>
              <a:buNone/>
            </a:pPr>
            <a:r>
              <a:rPr lang="en" sz="3800">
                <a:solidFill>
                  <a:schemeClr val="dk2"/>
                </a:solidFill>
              </a:rPr>
              <a:t>RG-D Experiments: Status</a:t>
            </a:r>
            <a:br>
              <a:rPr lang="en" sz="3800">
                <a:solidFill>
                  <a:schemeClr val="dk2"/>
                </a:solidFill>
              </a:rPr>
            </a:br>
            <a:r>
              <a:rPr lang="en" sz="3800">
                <a:solidFill>
                  <a:schemeClr val="dk2"/>
                </a:solidFill>
              </a:rPr>
              <a:t>and Analysis Plans</a:t>
            </a:r>
            <a:endParaRPr sz="3800">
              <a:solidFill>
                <a:schemeClr val="dk2"/>
              </a:solidFill>
            </a:endParaRPr>
          </a:p>
        </p:txBody>
      </p:sp>
      <p:sp>
        <p:nvSpPr>
          <p:cNvPr id="149" name="Google Shape;149;p27"/>
          <p:cNvSpPr txBox="1"/>
          <p:nvPr>
            <p:ph idx="1" type="subTitle"/>
          </p:nvPr>
        </p:nvSpPr>
        <p:spPr>
          <a:xfrm>
            <a:off x="94375" y="2614240"/>
            <a:ext cx="64008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04D59"/>
              </a:buClr>
              <a:buSzPts val="1800"/>
              <a:buNone/>
            </a:pPr>
            <a:r>
              <a:rPr lang="en"/>
              <a:t>Mathieu Ouillon (Mississippi State University)</a:t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82275"/>
            <a:ext cx="3417775" cy="66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7775" y="4557640"/>
            <a:ext cx="1865524" cy="585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1059174" y="240325"/>
            <a:ext cx="80847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Run Group D</a:t>
            </a:r>
            <a:endParaRPr sz="3200"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42150" y="937250"/>
            <a:ext cx="8644800" cy="3564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/>
              <a:t>Run Group D is composed of two experiments:</a:t>
            </a:r>
            <a:endParaRPr sz="2000"/>
          </a:p>
        </p:txBody>
      </p:sp>
      <p:sp>
        <p:nvSpPr>
          <p:cNvPr id="158" name="Google Shape;158;p28"/>
          <p:cNvSpPr txBox="1"/>
          <p:nvPr/>
        </p:nvSpPr>
        <p:spPr>
          <a:xfrm>
            <a:off x="154925" y="1368200"/>
            <a:ext cx="4337100" cy="1530900"/>
          </a:xfrm>
          <a:prstGeom prst="rect">
            <a:avLst/>
          </a:prstGeom>
          <a:noFill/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32742"/>
                </a:solidFill>
                <a:latin typeface="Fira Sans"/>
                <a:ea typeface="Fira Sans"/>
                <a:cs typeface="Fira Sans"/>
                <a:sym typeface="Fira Sans"/>
              </a:rPr>
              <a:t>Color Transparency (CT)</a:t>
            </a:r>
            <a:endParaRPr sz="1800">
              <a:solidFill>
                <a:srgbClr val="132742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in Exclusive Vector Meson Electro-production off Nuclei </a:t>
            </a:r>
            <a:r>
              <a:rPr lang="en" sz="1600">
                <a:solidFill>
                  <a:srgbClr val="00A5C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E12-06-106</a:t>
            </a:r>
            <a:endParaRPr sz="1600">
              <a:solidFill>
                <a:srgbClr val="00A5C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75569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Spokespersons: W. Armstrong¹, L. El Fassi³,</a:t>
            </a:r>
            <a:endParaRPr sz="1600">
              <a:solidFill>
                <a:srgbClr val="475569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75569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K. Hafidi¹, M. Holtrop⁴, B. Mustapha¹</a:t>
            </a:r>
            <a:endParaRPr sz="1600">
              <a:solidFill>
                <a:srgbClr val="475569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25" y="1323799"/>
            <a:ext cx="4343401" cy="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4763" y="1323800"/>
            <a:ext cx="4114801" cy="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 txBox="1"/>
          <p:nvPr/>
        </p:nvSpPr>
        <p:spPr>
          <a:xfrm>
            <a:off x="4918250" y="1368200"/>
            <a:ext cx="4114800" cy="1530900"/>
          </a:xfrm>
          <a:prstGeom prst="rect">
            <a:avLst/>
          </a:prstGeom>
          <a:noFill/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132742"/>
                </a:solidFill>
                <a:latin typeface="Fira Sans"/>
                <a:ea typeface="Fira Sans"/>
                <a:cs typeface="Fira Sans"/>
                <a:sym typeface="Fira Sans"/>
              </a:rPr>
              <a:t>Nuclear TMDs (nTMDs)</a:t>
            </a:r>
            <a:endParaRPr sz="1800">
              <a:solidFill>
                <a:srgbClr val="132742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40404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in CLAS12 </a:t>
            </a:r>
            <a:r>
              <a:rPr lang="en" sz="1600">
                <a:solidFill>
                  <a:srgbClr val="0D6E8A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E12-06-106A</a:t>
            </a:r>
            <a:endParaRPr sz="1600">
              <a:solidFill>
                <a:srgbClr val="0D6E8A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475569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Spokespersons: R. Dupré², L. El Fassi³,</a:t>
            </a:r>
            <a:endParaRPr sz="1600">
              <a:solidFill>
                <a:srgbClr val="475569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75569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Z.-E. Meziani¹, H. Szumila-Vance⁵</a:t>
            </a:r>
            <a:r>
              <a:rPr lang="en" sz="1600">
                <a:solidFill>
                  <a:schemeClr val="dk1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endParaRPr sz="1600">
              <a:solidFill>
                <a:srgbClr val="132742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8028725" y="3959900"/>
            <a:ext cx="11151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The COMPASS Collaboration</a:t>
            </a:r>
            <a:endParaRPr sz="1000">
              <a:solidFill>
                <a:srgbClr val="1B3A5C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arxiv.org:1912.10322</a:t>
            </a:r>
            <a:endParaRPr sz="1000">
              <a:solidFill>
                <a:srgbClr val="1B3A5C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5320175" y="392625"/>
            <a:ext cx="38760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1</a:t>
            </a:r>
            <a:r>
              <a:rPr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: Argonne National Lab, </a:t>
            </a:r>
            <a:r>
              <a:rPr baseline="30000"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2</a:t>
            </a:r>
            <a:r>
              <a:rPr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: IJCLAB, Orsay, France</a:t>
            </a:r>
            <a:endParaRPr sz="1300">
              <a:solidFill>
                <a:srgbClr val="1B3A5C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3</a:t>
            </a:r>
            <a:r>
              <a:rPr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: Mississippi State U., </a:t>
            </a:r>
            <a:r>
              <a:rPr baseline="30000"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4</a:t>
            </a:r>
            <a:r>
              <a:rPr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: University of New-Hampshire, </a:t>
            </a:r>
            <a:r>
              <a:rPr baseline="30000"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5</a:t>
            </a:r>
            <a:r>
              <a:rPr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: </a:t>
            </a:r>
            <a:r>
              <a:rPr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Florida International University</a:t>
            </a:r>
            <a:endParaRPr sz="1300">
              <a:solidFill>
                <a:srgbClr val="1B3A5C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3650" y="2928125"/>
            <a:ext cx="2964477" cy="2174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8"/>
          <p:cNvPicPr preferRelativeResize="0"/>
          <p:nvPr/>
        </p:nvPicPr>
        <p:blipFill rotWithShape="1">
          <a:blip r:embed="rId6">
            <a:alphaModFix/>
          </a:blip>
          <a:srcRect b="0" l="0" r="0" t="2162"/>
          <a:stretch/>
        </p:blipFill>
        <p:spPr>
          <a:xfrm>
            <a:off x="785275" y="2928125"/>
            <a:ext cx="1998574" cy="222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8"/>
          <p:cNvSpPr txBox="1"/>
          <p:nvPr/>
        </p:nvSpPr>
        <p:spPr>
          <a:xfrm>
            <a:off x="2845775" y="4477350"/>
            <a:ext cx="14142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L. El Fassi, Physics 4, no. 3 (2022)</a:t>
            </a:r>
            <a:endParaRPr sz="1000">
              <a:solidFill>
                <a:srgbClr val="1B3A5C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</p:txBody>
      </p:sp>
      <p:sp>
        <p:nvSpPr>
          <p:cNvPr id="167" name="Google Shape;167;p28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9" name="Google Shape;169;p28"/>
          <p:cNvSpPr/>
          <p:nvPr/>
        </p:nvSpPr>
        <p:spPr>
          <a:xfrm>
            <a:off x="23139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2377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2440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" name="Google Shape;172;p28"/>
          <p:cNvSpPr/>
          <p:nvPr/>
        </p:nvSpPr>
        <p:spPr>
          <a:xfrm>
            <a:off x="2504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2567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" name="Google Shape;174;p28"/>
          <p:cNvSpPr/>
          <p:nvPr/>
        </p:nvSpPr>
        <p:spPr>
          <a:xfrm>
            <a:off x="278384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3660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3723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3787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3850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3914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3977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4041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2" name="Google Shape;182;p28"/>
          <p:cNvSpPr/>
          <p:nvPr/>
        </p:nvSpPr>
        <p:spPr>
          <a:xfrm>
            <a:off x="4104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4168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4231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44475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5044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5107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5171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5234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5298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5361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5425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56413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61683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RG-D: CT Experiment</a:t>
            </a:r>
            <a:endParaRPr sz="3200"/>
          </a:p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0" y="905125"/>
            <a:ext cx="4951500" cy="19923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600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800"/>
              <a:buChar char="•"/>
            </a:pPr>
            <a:r>
              <a:rPr lang="en">
                <a:solidFill>
                  <a:srgbClr val="1B3A5C"/>
                </a:solidFill>
              </a:rPr>
              <a:t>E12-06-106: Color Transparency: suppression of interactions of colorless small size configuration in nuclear medium</a:t>
            </a:r>
            <a:endParaRPr>
              <a:solidFill>
                <a:srgbClr val="1B3A5C"/>
              </a:solidFill>
            </a:endParaRPr>
          </a:p>
          <a:p>
            <a:pPr indent="-1600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800"/>
              <a:buChar char="•"/>
            </a:pPr>
            <a:r>
              <a:rPr lang="en">
                <a:solidFill>
                  <a:srgbClr val="1B3A5C"/>
                </a:solidFill>
              </a:rPr>
              <a:t>Experimental signature: rise of the nuclear transparency, </a:t>
            </a:r>
            <a:r>
              <a:rPr i="1" lang="en">
                <a:solidFill>
                  <a:srgbClr val="1B3A5C"/>
                </a:solidFill>
              </a:rPr>
              <a:t>T</a:t>
            </a:r>
            <a:r>
              <a:rPr baseline="-25000" lang="en">
                <a:solidFill>
                  <a:srgbClr val="1B3A5C"/>
                </a:solidFill>
              </a:rPr>
              <a:t>A</a:t>
            </a:r>
            <a:r>
              <a:rPr lang="en">
                <a:solidFill>
                  <a:srgbClr val="1B3A5C"/>
                </a:solidFill>
              </a:rPr>
              <a:t> as a function of Q</a:t>
            </a:r>
            <a:r>
              <a:rPr baseline="30000" lang="en">
                <a:solidFill>
                  <a:srgbClr val="1B3A5C"/>
                </a:solidFill>
              </a:rPr>
              <a:t>2</a:t>
            </a:r>
            <a:r>
              <a:rPr lang="en">
                <a:solidFill>
                  <a:srgbClr val="1B3A5C"/>
                </a:solidFill>
              </a:rPr>
              <a:t>: ​</a:t>
            </a:r>
            <a:endParaRPr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i="1" lang="en" sz="1600">
                <a:solidFill>
                  <a:srgbClr val="1B3A5C"/>
                </a:solidFill>
              </a:rPr>
              <a:t>T</a:t>
            </a:r>
            <a:r>
              <a:rPr baseline="-25000" lang="en" sz="1600">
                <a:solidFill>
                  <a:srgbClr val="1B3A5C"/>
                </a:solidFill>
              </a:rPr>
              <a:t>A</a:t>
            </a:r>
            <a:r>
              <a:rPr lang="en" sz="1600">
                <a:solidFill>
                  <a:srgbClr val="1B3A5C"/>
                </a:solidFill>
              </a:rPr>
              <a:t>: ratio of the cross section per nucleon on a bound nucleon to that on a free nucleon</a:t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</p:txBody>
      </p:sp>
      <p:pic>
        <p:nvPicPr>
          <p:cNvPr id="202" name="Google Shape;2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8975" y="2404469"/>
            <a:ext cx="3858915" cy="243423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9"/>
          <p:cNvSpPr txBox="1"/>
          <p:nvPr/>
        </p:nvSpPr>
        <p:spPr>
          <a:xfrm>
            <a:off x="0" y="3402825"/>
            <a:ext cx="5099100" cy="174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Objective: understanding the dynamical evolution from small-size configurations into ordinary hadrons, and validating the QCD factorization theorem</a:t>
            </a:r>
            <a:endParaRPr sz="15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Coherence length, l</a:t>
            </a:r>
            <a:r>
              <a:rPr baseline="-25000"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</a:t>
            </a:r>
            <a:r>
              <a:rPr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: the lifetime of the qq-bar pair</a:t>
            </a:r>
            <a:endParaRPr sz="11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Formation time, l</a:t>
            </a:r>
            <a:r>
              <a:rPr baseline="-25000"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f</a:t>
            </a:r>
            <a:r>
              <a:rPr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: the time evolution of SSC to an on-shell ρ</a:t>
            </a:r>
            <a:r>
              <a:rPr baseline="30000"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0</a:t>
            </a:r>
            <a:r>
              <a:rPr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meson​​</a:t>
            </a:r>
            <a:endParaRPr sz="11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204" name="Google Shape;20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8975" y="349100"/>
            <a:ext cx="3813799" cy="19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9" title="{&quot;red&quot;:36,&quot;green&quot;:54,&quot;blue&quot;:67,&quot;origURL&quot;:&quot;https://www.codecogs.com/eqnedit.php?latex=T_A%20%3D%20%5Cfrac%7B%5Csigma_A%7D%7BA%5Csigma_N%7D#0&quot;,&quot;size&quot;:18,&quot;width&quot;:370.2755905511811,&quot;height&quot;:43.20472440944882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00" y="2826006"/>
            <a:ext cx="1542799" cy="6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9"/>
          <p:cNvSpPr txBox="1"/>
          <p:nvPr/>
        </p:nvSpPr>
        <p:spPr>
          <a:xfrm>
            <a:off x="1972850" y="2856918"/>
            <a:ext cx="30000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σ</a:t>
            </a:r>
            <a:r>
              <a:rPr baseline="-25000" lang="en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A</a:t>
            </a:r>
            <a:r>
              <a:rPr lang="en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− nuclei cross section</a:t>
            </a:r>
            <a:endParaRPr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σ</a:t>
            </a:r>
            <a:r>
              <a:rPr baseline="-25000" lang="en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N</a:t>
            </a:r>
            <a:r>
              <a:rPr lang="en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− free nucleon cross section</a:t>
            </a:r>
            <a:endParaRPr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207" name="Google Shape;207;p29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9" name="Google Shape;209;p29"/>
          <p:cNvSpPr/>
          <p:nvPr/>
        </p:nvSpPr>
        <p:spPr>
          <a:xfrm>
            <a:off x="2313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0" name="Google Shape;210;p29"/>
          <p:cNvSpPr/>
          <p:nvPr/>
        </p:nvSpPr>
        <p:spPr>
          <a:xfrm>
            <a:off x="23774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" name="Google Shape;211;p29"/>
          <p:cNvSpPr/>
          <p:nvPr/>
        </p:nvSpPr>
        <p:spPr>
          <a:xfrm>
            <a:off x="2440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" name="Google Shape;212;p29"/>
          <p:cNvSpPr/>
          <p:nvPr/>
        </p:nvSpPr>
        <p:spPr>
          <a:xfrm>
            <a:off x="2504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2567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278384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3660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6" name="Google Shape;216;p29"/>
          <p:cNvSpPr/>
          <p:nvPr/>
        </p:nvSpPr>
        <p:spPr>
          <a:xfrm>
            <a:off x="3723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3787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8" name="Google Shape;218;p29"/>
          <p:cNvSpPr/>
          <p:nvPr/>
        </p:nvSpPr>
        <p:spPr>
          <a:xfrm>
            <a:off x="3850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9" name="Google Shape;219;p29"/>
          <p:cNvSpPr/>
          <p:nvPr/>
        </p:nvSpPr>
        <p:spPr>
          <a:xfrm>
            <a:off x="3914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3977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4041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" name="Google Shape;222;p29"/>
          <p:cNvSpPr/>
          <p:nvPr/>
        </p:nvSpPr>
        <p:spPr>
          <a:xfrm>
            <a:off x="4104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3" name="Google Shape;223;p29"/>
          <p:cNvSpPr/>
          <p:nvPr/>
        </p:nvSpPr>
        <p:spPr>
          <a:xfrm>
            <a:off x="4168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4231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44475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5044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5107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5171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9" name="Google Shape;229;p29"/>
          <p:cNvSpPr/>
          <p:nvPr/>
        </p:nvSpPr>
        <p:spPr>
          <a:xfrm>
            <a:off x="5234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5298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5361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2" name="Google Shape;232;p29"/>
          <p:cNvSpPr/>
          <p:nvPr/>
        </p:nvSpPr>
        <p:spPr>
          <a:xfrm>
            <a:off x="5425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56413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61683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5" name="Google Shape;235;p29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2/23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6875" y="3156125"/>
            <a:ext cx="4341974" cy="14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RG-D: Nuclear TMDs</a:t>
            </a:r>
            <a:endParaRPr sz="3200"/>
          </a:p>
        </p:txBody>
      </p:sp>
      <p:sp>
        <p:nvSpPr>
          <p:cNvPr id="242" name="Google Shape;242;p30"/>
          <p:cNvSpPr txBox="1"/>
          <p:nvPr>
            <p:ph idx="1" type="body"/>
          </p:nvPr>
        </p:nvSpPr>
        <p:spPr>
          <a:xfrm>
            <a:off x="42150" y="937250"/>
            <a:ext cx="53109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60020" lvl="0" marL="18288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1800"/>
              <a:buChar char="•"/>
            </a:pPr>
            <a:r>
              <a:rPr lang="en">
                <a:solidFill>
                  <a:srgbClr val="1B3A5C"/>
                </a:solidFill>
              </a:rPr>
              <a:t>E12-06-106A: nTMDs study uses the same CT running conditions except the beam polarization, and aims to study​:</a:t>
            </a:r>
            <a:endParaRPr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Nuclear effect on SIDIS asymmetries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Transport coefficient of the nuclear matter</a:t>
            </a:r>
            <a:endParaRPr sz="1600">
              <a:solidFill>
                <a:srgbClr val="1B3A5C"/>
              </a:solidFill>
            </a:endParaRPr>
          </a:p>
          <a:p>
            <a:pPr indent="-1600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800"/>
              <a:buChar char="•"/>
            </a:pPr>
            <a:r>
              <a:rPr lang="en">
                <a:solidFill>
                  <a:srgbClr val="1B3A5C"/>
                </a:solidFill>
              </a:rPr>
              <a:t>For that, measure different observables:</a:t>
            </a:r>
            <a:endParaRPr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cos φ, sin φ, cos(2φ)</a:t>
            </a:r>
            <a:r>
              <a:rPr baseline="30000" lang="en" sz="1600">
                <a:solidFill>
                  <a:srgbClr val="1B3A5C"/>
                </a:solidFill>
              </a:rPr>
              <a:t>1</a:t>
            </a:r>
            <a:r>
              <a:rPr lang="en" sz="1600">
                <a:solidFill>
                  <a:srgbClr val="1B3A5C"/>
                </a:solidFill>
              </a:rPr>
              <a:t> moments for different hadrons (π</a:t>
            </a:r>
            <a:r>
              <a:rPr baseline="30000" lang="en" sz="1600">
                <a:solidFill>
                  <a:srgbClr val="1B3A5C"/>
                </a:solidFill>
              </a:rPr>
              <a:t>+</a:t>
            </a:r>
            <a:r>
              <a:rPr lang="en" sz="1600">
                <a:solidFill>
                  <a:srgbClr val="1B3A5C"/>
                </a:solidFill>
              </a:rPr>
              <a:t>,π</a:t>
            </a:r>
            <a:r>
              <a:rPr baseline="30000" lang="en" sz="1600">
                <a:solidFill>
                  <a:srgbClr val="1B3A5C"/>
                </a:solidFill>
              </a:rPr>
              <a:t>-</a:t>
            </a:r>
            <a:r>
              <a:rPr lang="en" sz="1600">
                <a:solidFill>
                  <a:srgbClr val="1B3A5C"/>
                </a:solidFill>
              </a:rPr>
              <a:t>, and π</a:t>
            </a:r>
            <a:r>
              <a:rPr baseline="30000" lang="en" sz="1600">
                <a:solidFill>
                  <a:srgbClr val="1B3A5C"/>
                </a:solidFill>
              </a:rPr>
              <a:t>0</a:t>
            </a:r>
            <a:r>
              <a:rPr lang="en" sz="1600">
                <a:solidFill>
                  <a:srgbClr val="1B3A5C"/>
                </a:solidFill>
              </a:rPr>
              <a:t>):</a:t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</p:txBody>
      </p:sp>
      <p:pic>
        <p:nvPicPr>
          <p:cNvPr id="243" name="Google Shape;24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0600" y="733929"/>
            <a:ext cx="3567750" cy="274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0"/>
          <p:cNvSpPr txBox="1"/>
          <p:nvPr/>
        </p:nvSpPr>
        <p:spPr>
          <a:xfrm>
            <a:off x="5430600" y="505850"/>
            <a:ext cx="35679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Song, Y. et al. (2014) Physical Review D, 89 014005.</a:t>
            </a:r>
            <a:endParaRPr sz="1200">
              <a:solidFill>
                <a:srgbClr val="1B3A5C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</p:txBody>
      </p:sp>
      <p:pic>
        <p:nvPicPr>
          <p:cNvPr id="245" name="Google Shape;24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575" y="3081356"/>
            <a:ext cx="4422551" cy="131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0"/>
          <p:cNvSpPr txBox="1"/>
          <p:nvPr/>
        </p:nvSpPr>
        <p:spPr>
          <a:xfrm>
            <a:off x="42150" y="4321070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q</a:t>
            </a:r>
            <a:r>
              <a:rPr baseline="-25000" lang="en" sz="12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F</a:t>
            </a:r>
            <a:r>
              <a:rPr lang="en" sz="12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(ξ</a:t>
            </a:r>
            <a:r>
              <a:rPr baseline="-25000" lang="en" sz="12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N</a:t>
            </a:r>
            <a:r>
              <a:rPr lang="en" sz="12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): the quark transport parameter</a:t>
            </a:r>
            <a:endParaRPr sz="12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2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1 </a:t>
            </a:r>
            <a:r>
              <a:rPr lang="en" sz="12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No predictions exist for this observable</a:t>
            </a:r>
            <a:endParaRPr sz="12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247" name="Google Shape;247;p30"/>
          <p:cNvSpPr txBox="1"/>
          <p:nvPr/>
        </p:nvSpPr>
        <p:spPr>
          <a:xfrm>
            <a:off x="2892400" y="4550275"/>
            <a:ext cx="6251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The heavier the nucleus, the wider the TMD gaussian width (Nuclear Broadening)</a:t>
            </a:r>
            <a:endParaRPr sz="13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248" name="Google Shape;248;p30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9" name="Google Shape;249;p30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2313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2377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24409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3" name="Google Shape;253;p30"/>
          <p:cNvSpPr/>
          <p:nvPr/>
        </p:nvSpPr>
        <p:spPr>
          <a:xfrm>
            <a:off x="2504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4" name="Google Shape;254;p30"/>
          <p:cNvSpPr/>
          <p:nvPr/>
        </p:nvSpPr>
        <p:spPr>
          <a:xfrm>
            <a:off x="2567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278384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3660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3723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" name="Google Shape;258;p30"/>
          <p:cNvSpPr/>
          <p:nvPr/>
        </p:nvSpPr>
        <p:spPr>
          <a:xfrm>
            <a:off x="3787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9" name="Google Shape;259;p30"/>
          <p:cNvSpPr/>
          <p:nvPr/>
        </p:nvSpPr>
        <p:spPr>
          <a:xfrm>
            <a:off x="3850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0" name="Google Shape;260;p30"/>
          <p:cNvSpPr/>
          <p:nvPr/>
        </p:nvSpPr>
        <p:spPr>
          <a:xfrm>
            <a:off x="3914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1" name="Google Shape;261;p30"/>
          <p:cNvSpPr/>
          <p:nvPr/>
        </p:nvSpPr>
        <p:spPr>
          <a:xfrm>
            <a:off x="3977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4041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3" name="Google Shape;263;p30"/>
          <p:cNvSpPr/>
          <p:nvPr/>
        </p:nvSpPr>
        <p:spPr>
          <a:xfrm>
            <a:off x="4104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4168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5" name="Google Shape;265;p30"/>
          <p:cNvSpPr/>
          <p:nvPr/>
        </p:nvSpPr>
        <p:spPr>
          <a:xfrm>
            <a:off x="4231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6" name="Google Shape;266;p30"/>
          <p:cNvSpPr/>
          <p:nvPr/>
        </p:nvSpPr>
        <p:spPr>
          <a:xfrm>
            <a:off x="44475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5044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8" name="Google Shape;268;p30"/>
          <p:cNvSpPr/>
          <p:nvPr/>
        </p:nvSpPr>
        <p:spPr>
          <a:xfrm>
            <a:off x="5107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9" name="Google Shape;269;p30"/>
          <p:cNvSpPr/>
          <p:nvPr/>
        </p:nvSpPr>
        <p:spPr>
          <a:xfrm>
            <a:off x="5171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0" name="Google Shape;270;p30"/>
          <p:cNvSpPr/>
          <p:nvPr/>
        </p:nvSpPr>
        <p:spPr>
          <a:xfrm>
            <a:off x="5234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1" name="Google Shape;271;p30"/>
          <p:cNvSpPr/>
          <p:nvPr/>
        </p:nvSpPr>
        <p:spPr>
          <a:xfrm>
            <a:off x="5298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" name="Google Shape;272;p30"/>
          <p:cNvSpPr/>
          <p:nvPr/>
        </p:nvSpPr>
        <p:spPr>
          <a:xfrm>
            <a:off x="5361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3" name="Google Shape;273;p30"/>
          <p:cNvSpPr/>
          <p:nvPr/>
        </p:nvSpPr>
        <p:spPr>
          <a:xfrm>
            <a:off x="5425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4" name="Google Shape;274;p30"/>
          <p:cNvSpPr/>
          <p:nvPr/>
        </p:nvSpPr>
        <p:spPr>
          <a:xfrm>
            <a:off x="56413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5" name="Google Shape;275;p30"/>
          <p:cNvSpPr/>
          <p:nvPr/>
        </p:nvSpPr>
        <p:spPr>
          <a:xfrm>
            <a:off x="61683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6" name="Google Shape;276;p30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3/23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RG-D: Run Configuration</a:t>
            </a:r>
            <a:endParaRPr sz="3200"/>
          </a:p>
        </p:txBody>
      </p:sp>
      <p:sp>
        <p:nvSpPr>
          <p:cNvPr id="282" name="Google Shape;282;p31"/>
          <p:cNvSpPr txBox="1"/>
          <p:nvPr>
            <p:ph idx="1" type="body"/>
          </p:nvPr>
        </p:nvSpPr>
        <p:spPr>
          <a:xfrm>
            <a:off x="42150" y="937250"/>
            <a:ext cx="88968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2000"/>
              <a:buChar char="•"/>
            </a:pPr>
            <a:r>
              <a:rPr lang="en" sz="2000">
                <a:solidFill>
                  <a:srgbClr val="1B3A5C"/>
                </a:solidFill>
              </a:rPr>
              <a:t>RG-D experiments collected data in the fall of 2023 with</a:t>
            </a:r>
            <a:endParaRPr sz="20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10.54 GeV polarized beam energy and 𝐼=5–175 nA for luminosity scans and production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Standard CLAS12 configuration with FT-OFF and three layers of FMT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Three target configurations, LD2, CxC, and CuSn, deployed with InBending and OutBending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New cryogenic LD2 and the nuclear-foil flag assembly centered at -5 cm for each configuration</a:t>
            </a:r>
            <a:endParaRPr sz="1600">
              <a:solidFill>
                <a:srgbClr val="1B3A5C"/>
              </a:solidFill>
            </a:endParaRPr>
          </a:p>
          <a:p>
            <a:pPr indent="-1727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000"/>
              <a:buChar char="•"/>
            </a:pPr>
            <a:r>
              <a:rPr lang="en" sz="2000">
                <a:solidFill>
                  <a:srgbClr val="1B3A5C"/>
                </a:solidFill>
              </a:rPr>
              <a:t>Main run hiccups:</a:t>
            </a:r>
            <a:endParaRPr sz="20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Faraday Cup vacuum contamination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Moller cone sagging</a:t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</p:txBody>
      </p:sp>
      <p:pic>
        <p:nvPicPr>
          <p:cNvPr id="283" name="Google Shape;2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12" y="3067350"/>
            <a:ext cx="4865076" cy="198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0400" y="2251475"/>
            <a:ext cx="3765698" cy="289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1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" name="Google Shape;286;p31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2313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8" name="Google Shape;288;p31"/>
          <p:cNvSpPr/>
          <p:nvPr/>
        </p:nvSpPr>
        <p:spPr>
          <a:xfrm>
            <a:off x="2377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2440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25044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2567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2" name="Google Shape;292;p31"/>
          <p:cNvSpPr/>
          <p:nvPr/>
        </p:nvSpPr>
        <p:spPr>
          <a:xfrm>
            <a:off x="278384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3660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3723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5" name="Google Shape;295;p31"/>
          <p:cNvSpPr/>
          <p:nvPr/>
        </p:nvSpPr>
        <p:spPr>
          <a:xfrm>
            <a:off x="3787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3850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3914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8" name="Google Shape;298;p31"/>
          <p:cNvSpPr/>
          <p:nvPr/>
        </p:nvSpPr>
        <p:spPr>
          <a:xfrm>
            <a:off x="3977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4041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4104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4168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4231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44475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4" name="Google Shape;304;p31"/>
          <p:cNvSpPr/>
          <p:nvPr/>
        </p:nvSpPr>
        <p:spPr>
          <a:xfrm>
            <a:off x="5044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5107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5171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7" name="Google Shape;307;p31"/>
          <p:cNvSpPr/>
          <p:nvPr/>
        </p:nvSpPr>
        <p:spPr>
          <a:xfrm>
            <a:off x="5234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5298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5361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5425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56413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61683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4/23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 Status: Cooking Summary</a:t>
            </a:r>
            <a:endParaRPr sz="3200"/>
          </a:p>
        </p:txBody>
      </p:sp>
      <p:sp>
        <p:nvSpPr>
          <p:cNvPr id="319" name="Google Shape;319;p32"/>
          <p:cNvSpPr txBox="1"/>
          <p:nvPr>
            <p:ph idx="1" type="body"/>
          </p:nvPr>
        </p:nvSpPr>
        <p:spPr>
          <a:xfrm>
            <a:off x="0" y="842875"/>
            <a:ext cx="9115800" cy="26355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2000"/>
              <a:buChar char="•"/>
            </a:pPr>
            <a:r>
              <a:rPr lang="en" sz="2000">
                <a:solidFill>
                  <a:srgbClr val="1B3A5C"/>
                </a:solidFill>
              </a:rPr>
              <a:t>RG-D successfully passed Pass1 review on May 27</a:t>
            </a:r>
            <a:r>
              <a:rPr baseline="30000" lang="en" sz="2000">
                <a:solidFill>
                  <a:srgbClr val="1B3A5C"/>
                </a:solidFill>
              </a:rPr>
              <a:t>th</a:t>
            </a:r>
            <a:r>
              <a:rPr lang="en" sz="2000">
                <a:solidFill>
                  <a:srgbClr val="1B3A5C"/>
                </a:solidFill>
              </a:rPr>
              <a:t> 2025</a:t>
            </a:r>
            <a:endParaRPr sz="2000">
              <a:solidFill>
                <a:srgbClr val="1B3A5C"/>
              </a:solidFill>
            </a:endParaRPr>
          </a:p>
          <a:p>
            <a:pPr indent="-1727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000"/>
              <a:buChar char="•"/>
            </a:pPr>
            <a:r>
              <a:rPr lang="en" sz="2000">
                <a:solidFill>
                  <a:srgbClr val="1B3A5C"/>
                </a:solidFill>
              </a:rPr>
              <a:t>Pass1 cooking initiated on June 13</a:t>
            </a:r>
            <a:r>
              <a:rPr baseline="30000" lang="en" sz="2000">
                <a:solidFill>
                  <a:srgbClr val="1B3A5C"/>
                </a:solidFill>
              </a:rPr>
              <a:t>th</a:t>
            </a:r>
            <a:r>
              <a:rPr lang="en" sz="2000">
                <a:solidFill>
                  <a:srgbClr val="1B3A5C"/>
                </a:solidFill>
              </a:rPr>
              <a:t> 2025 using COATJAVA 13.0.0</a:t>
            </a:r>
            <a:endParaRPr sz="2000">
              <a:solidFill>
                <a:srgbClr val="1B3A5C"/>
              </a:solidFill>
            </a:endParaRPr>
          </a:p>
          <a:p>
            <a:pPr indent="-1727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000"/>
              <a:buChar char="•"/>
            </a:pPr>
            <a:r>
              <a:rPr lang="en" sz="2000">
                <a:solidFill>
                  <a:srgbClr val="1B3A5C"/>
                </a:solidFill>
              </a:rPr>
              <a:t>The cooking finished beginning of April:</a:t>
            </a:r>
            <a:endParaRPr sz="2000">
              <a:solidFill>
                <a:srgbClr val="1B3A5C"/>
              </a:solidFill>
            </a:endParaRPr>
          </a:p>
          <a:p>
            <a:pPr indent="-26416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000"/>
              <a:buChar char="–"/>
            </a:pPr>
            <a:r>
              <a:rPr lang="en" sz="2000">
                <a:solidFill>
                  <a:srgbClr val="1B3A5C"/>
                </a:solidFill>
              </a:rPr>
              <a:t>Took 11M CPU-hours, for a total of 177,259 jobs</a:t>
            </a:r>
            <a:endParaRPr sz="20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B3A5C"/>
              </a:solidFill>
            </a:endParaRPr>
          </a:p>
        </p:txBody>
      </p:sp>
      <p:sp>
        <p:nvSpPr>
          <p:cNvPr id="320" name="Google Shape;320;p32"/>
          <p:cNvSpPr txBox="1"/>
          <p:nvPr/>
        </p:nvSpPr>
        <p:spPr>
          <a:xfrm>
            <a:off x="2536243" y="4534052"/>
            <a:ext cx="69147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Thanks to CalCom Experts for their support for calibration and cooking</a:t>
            </a:r>
            <a:endParaRPr sz="16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321" name="Google Shape;32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75" y="2114425"/>
            <a:ext cx="9013550" cy="246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2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3" name="Google Shape;323;p32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2313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2377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6" name="Google Shape;326;p32"/>
          <p:cNvSpPr/>
          <p:nvPr/>
        </p:nvSpPr>
        <p:spPr>
          <a:xfrm>
            <a:off x="2440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7" name="Google Shape;327;p32"/>
          <p:cNvSpPr/>
          <p:nvPr/>
        </p:nvSpPr>
        <p:spPr>
          <a:xfrm>
            <a:off x="2504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8" name="Google Shape;328;p32"/>
          <p:cNvSpPr/>
          <p:nvPr/>
        </p:nvSpPr>
        <p:spPr>
          <a:xfrm>
            <a:off x="25679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9" name="Google Shape;329;p32"/>
          <p:cNvSpPr/>
          <p:nvPr/>
        </p:nvSpPr>
        <p:spPr>
          <a:xfrm>
            <a:off x="278384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3660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" name="Google Shape;331;p32"/>
          <p:cNvSpPr/>
          <p:nvPr/>
        </p:nvSpPr>
        <p:spPr>
          <a:xfrm>
            <a:off x="3723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2" name="Google Shape;332;p32"/>
          <p:cNvSpPr/>
          <p:nvPr/>
        </p:nvSpPr>
        <p:spPr>
          <a:xfrm>
            <a:off x="3787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" name="Google Shape;333;p32"/>
          <p:cNvSpPr/>
          <p:nvPr/>
        </p:nvSpPr>
        <p:spPr>
          <a:xfrm>
            <a:off x="3850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" name="Google Shape;334;p32"/>
          <p:cNvSpPr/>
          <p:nvPr/>
        </p:nvSpPr>
        <p:spPr>
          <a:xfrm>
            <a:off x="3914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5" name="Google Shape;335;p32"/>
          <p:cNvSpPr/>
          <p:nvPr/>
        </p:nvSpPr>
        <p:spPr>
          <a:xfrm>
            <a:off x="3977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6" name="Google Shape;336;p32"/>
          <p:cNvSpPr/>
          <p:nvPr/>
        </p:nvSpPr>
        <p:spPr>
          <a:xfrm>
            <a:off x="4041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7" name="Google Shape;337;p32"/>
          <p:cNvSpPr/>
          <p:nvPr/>
        </p:nvSpPr>
        <p:spPr>
          <a:xfrm>
            <a:off x="4104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8" name="Google Shape;338;p32"/>
          <p:cNvSpPr/>
          <p:nvPr/>
        </p:nvSpPr>
        <p:spPr>
          <a:xfrm>
            <a:off x="41681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9" name="Google Shape;339;p32"/>
          <p:cNvSpPr/>
          <p:nvPr/>
        </p:nvSpPr>
        <p:spPr>
          <a:xfrm>
            <a:off x="42316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0" name="Google Shape;340;p32"/>
          <p:cNvSpPr/>
          <p:nvPr/>
        </p:nvSpPr>
        <p:spPr>
          <a:xfrm>
            <a:off x="44475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1" name="Google Shape;341;p32"/>
          <p:cNvSpPr/>
          <p:nvPr/>
        </p:nvSpPr>
        <p:spPr>
          <a:xfrm>
            <a:off x="5044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2" name="Google Shape;342;p32"/>
          <p:cNvSpPr/>
          <p:nvPr/>
        </p:nvSpPr>
        <p:spPr>
          <a:xfrm>
            <a:off x="5107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3" name="Google Shape;343;p32"/>
          <p:cNvSpPr/>
          <p:nvPr/>
        </p:nvSpPr>
        <p:spPr>
          <a:xfrm>
            <a:off x="5171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4" name="Google Shape;344;p32"/>
          <p:cNvSpPr/>
          <p:nvPr/>
        </p:nvSpPr>
        <p:spPr>
          <a:xfrm>
            <a:off x="5234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5" name="Google Shape;345;p32"/>
          <p:cNvSpPr/>
          <p:nvPr/>
        </p:nvSpPr>
        <p:spPr>
          <a:xfrm>
            <a:off x="5298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6" name="Google Shape;346;p32"/>
          <p:cNvSpPr/>
          <p:nvPr/>
        </p:nvSpPr>
        <p:spPr>
          <a:xfrm>
            <a:off x="5361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7" name="Google Shape;347;p32"/>
          <p:cNvSpPr/>
          <p:nvPr/>
        </p:nvSpPr>
        <p:spPr>
          <a:xfrm>
            <a:off x="5425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8" name="Google Shape;348;p32"/>
          <p:cNvSpPr/>
          <p:nvPr/>
        </p:nvSpPr>
        <p:spPr>
          <a:xfrm>
            <a:off x="56413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9" name="Google Shape;349;p32"/>
          <p:cNvSpPr/>
          <p:nvPr/>
        </p:nvSpPr>
        <p:spPr>
          <a:xfrm>
            <a:off x="61683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0" name="Google Shape;350;p32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5/23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Electron Vertex Study </a:t>
            </a:r>
            <a:endParaRPr sz="2900"/>
          </a:p>
        </p:txBody>
      </p:sp>
      <p:sp>
        <p:nvSpPr>
          <p:cNvPr id="356" name="Google Shape;356;p33"/>
          <p:cNvSpPr txBox="1"/>
          <p:nvPr>
            <p:ph idx="1" type="body"/>
          </p:nvPr>
        </p:nvSpPr>
        <p:spPr>
          <a:xfrm>
            <a:off x="0" y="905125"/>
            <a:ext cx="5361900" cy="9087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With double foil targets: found that the electron Z vertex is shifted and wider as function of momentum, θ, φ, and sector.</a:t>
            </a:r>
            <a:endParaRPr sz="2000"/>
          </a:p>
        </p:txBody>
      </p:sp>
      <p:pic>
        <p:nvPicPr>
          <p:cNvPr id="357" name="Google Shape;35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00" y="1874025"/>
            <a:ext cx="4504402" cy="3182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3"/>
          <p:cNvPicPr preferRelativeResize="0"/>
          <p:nvPr/>
        </p:nvPicPr>
        <p:blipFill rotWithShape="1">
          <a:blip r:embed="rId4">
            <a:alphaModFix/>
          </a:blip>
          <a:srcRect b="7655" l="0" r="0" t="0"/>
          <a:stretch/>
        </p:blipFill>
        <p:spPr>
          <a:xfrm>
            <a:off x="5383097" y="222825"/>
            <a:ext cx="3523149" cy="2298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3097" y="2521550"/>
            <a:ext cx="3523149" cy="2489256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3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1" name="Google Shape;361;p33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26162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36601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3723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3787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3850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3914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3977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4041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4104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4168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4231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44475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5044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0" name="Google Shape;380;p33"/>
          <p:cNvSpPr/>
          <p:nvPr/>
        </p:nvSpPr>
        <p:spPr>
          <a:xfrm>
            <a:off x="5107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5171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5234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5298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5361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5425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56413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61683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8" name="Google Shape;388;p33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6/23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4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Electron Vertex Study </a:t>
            </a:r>
            <a:endParaRPr sz="2900"/>
          </a:p>
        </p:txBody>
      </p:sp>
      <p:sp>
        <p:nvSpPr>
          <p:cNvPr id="394" name="Google Shape;394;p34"/>
          <p:cNvSpPr txBox="1"/>
          <p:nvPr>
            <p:ph idx="1" type="body"/>
          </p:nvPr>
        </p:nvSpPr>
        <p:spPr>
          <a:xfrm>
            <a:off x="0" y="905125"/>
            <a:ext cx="9114000" cy="28227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spcBef>
                <a:spcPts val="400"/>
              </a:spcBef>
              <a:spcAft>
                <a:spcPts val="0"/>
              </a:spcAft>
              <a:buSzPts val="2000"/>
              <a:buFont typeface="Fira Sans Light"/>
              <a:buChar char="•"/>
            </a:pPr>
            <a:r>
              <a:rPr lang="en" sz="2000"/>
              <a:t>Found that the electron V</a:t>
            </a:r>
            <a:r>
              <a:rPr baseline="-25000" lang="en" sz="2000"/>
              <a:t>z</a:t>
            </a:r>
            <a:r>
              <a:rPr lang="en" sz="2000"/>
              <a:t> peaks are shifted and broadened, and the effect depends on p, θ, φ, and sector.</a:t>
            </a:r>
            <a:endParaRPr sz="2000"/>
          </a:p>
          <a:p>
            <a:pPr indent="-172720" lvl="0" marL="182880" rtl="0" algn="l">
              <a:spcBef>
                <a:spcPts val="0"/>
              </a:spcBef>
              <a:spcAft>
                <a:spcPts val="0"/>
              </a:spcAft>
              <a:buSzPts val="2000"/>
              <a:buFont typeface="Fira Sans Light"/>
              <a:buChar char="•"/>
            </a:pPr>
            <a:r>
              <a:rPr lang="en" sz="2000"/>
              <a:t>Goal: derive a correction so that a single pair of V</a:t>
            </a:r>
            <a:r>
              <a:rPr baseline="-25000" lang="en" sz="2000"/>
              <a:t>z</a:t>
            </a:r>
            <a:r>
              <a:rPr lang="en" sz="2000"/>
              <a:t> cut values works across all kinematics.</a:t>
            </a:r>
            <a:endParaRPr sz="2000"/>
          </a:p>
          <a:p>
            <a:pPr indent="-172720" lvl="0" marL="182880" rtl="0" algn="l">
              <a:spcBef>
                <a:spcPts val="0"/>
              </a:spcBef>
              <a:spcAft>
                <a:spcPts val="0"/>
              </a:spcAft>
              <a:buSzPts val="2000"/>
              <a:buFont typeface="Fira Sans Light"/>
              <a:buChar char="•"/>
            </a:pPr>
            <a:r>
              <a:rPr lang="en" sz="2000"/>
              <a:t>Binning</a:t>
            </a:r>
            <a:r>
              <a:rPr lang="en" sz="2000"/>
              <a:t>: </a:t>
            </a:r>
            <a:r>
              <a:rPr lang="en" sz="2000"/>
              <a:t>6 sectors, </a:t>
            </a:r>
            <a:r>
              <a:rPr lang="en" sz="2000"/>
              <a:t>p </a:t>
            </a:r>
            <a:r>
              <a:rPr lang="en" sz="2000"/>
              <a:t>⇒ </a:t>
            </a:r>
            <a:r>
              <a:rPr lang="en" sz="2000"/>
              <a:t>16 bins ∈</a:t>
            </a:r>
            <a:r>
              <a:rPr lang="en" sz="2000"/>
              <a:t> [2, 10] GeV/c</a:t>
            </a:r>
            <a:r>
              <a:rPr lang="en" sz="2000"/>
              <a:t>, θ ⇒ 24 bins ∈ [6, 30]°, local-φ ⇒ 6 bins ⇒ 13,824 (s, p, θ, φ) bins</a:t>
            </a:r>
            <a:endParaRPr sz="2000"/>
          </a:p>
          <a:p>
            <a:pPr indent="-172720" lvl="0" marL="182880" rtl="0" algn="l">
              <a:spcBef>
                <a:spcPts val="0"/>
              </a:spcBef>
              <a:spcAft>
                <a:spcPts val="0"/>
              </a:spcAft>
              <a:buSzPts val="2000"/>
              <a:buFont typeface="Fira Sans Light"/>
              <a:buChar char="•"/>
            </a:pPr>
            <a:r>
              <a:rPr lang="en" sz="2000"/>
              <a:t>The distribution is stable across bins when </a:t>
            </a:r>
            <a:r>
              <a:rPr lang="en" sz="2000"/>
              <a:t>θ &gt; 15° and p &gt; 5 GeV/C → reference region</a:t>
            </a:r>
            <a:endParaRPr sz="2000"/>
          </a:p>
          <a:p>
            <a:pPr indent="-172720" lvl="0" marL="182880" rtl="0" algn="l">
              <a:spcBef>
                <a:spcPts val="0"/>
              </a:spcBef>
              <a:spcAft>
                <a:spcPts val="0"/>
              </a:spcAft>
              <a:buSzPts val="2000"/>
              <a:buFont typeface="Fira Sans Light"/>
              <a:buChar char="•"/>
            </a:pPr>
            <a:r>
              <a:rPr lang="en" sz="2000"/>
              <a:t>Fit the distribution with a double Gaussian and extract μ</a:t>
            </a:r>
            <a:r>
              <a:rPr baseline="-25000" lang="en" sz="2000"/>
              <a:t>0</a:t>
            </a:r>
            <a:r>
              <a:rPr lang="en" sz="2000"/>
              <a:t> and σ</a:t>
            </a:r>
            <a:r>
              <a:rPr baseline="-25000" lang="en" sz="2000"/>
              <a:t>0</a:t>
            </a:r>
            <a:endParaRPr baseline="-25000"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aseline="-25000" sz="2000"/>
          </a:p>
        </p:txBody>
      </p:sp>
      <p:sp>
        <p:nvSpPr>
          <p:cNvPr id="395" name="Google Shape;395;p34"/>
          <p:cNvSpPr txBox="1"/>
          <p:nvPr/>
        </p:nvSpPr>
        <p:spPr>
          <a:xfrm>
            <a:off x="1523250" y="3775013"/>
            <a:ext cx="2136900" cy="95040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Tin: </a:t>
            </a:r>
            <a:r>
              <a:rPr lang="en" sz="20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μ</a:t>
            </a:r>
            <a:r>
              <a:rPr baseline="-25000" lang="en" sz="20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0 </a:t>
            </a:r>
            <a:r>
              <a:rPr lang="en" sz="20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= -2.92 cm</a:t>
            </a:r>
            <a:endParaRPr sz="20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      σ</a:t>
            </a:r>
            <a:r>
              <a:rPr baseline="-25000" lang="en" sz="20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0 </a:t>
            </a:r>
            <a:r>
              <a:rPr lang="en" sz="20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=  0.37 cm</a:t>
            </a:r>
            <a:endParaRPr sz="20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396" name="Google Shape;396;p34"/>
          <p:cNvSpPr txBox="1"/>
          <p:nvPr/>
        </p:nvSpPr>
        <p:spPr>
          <a:xfrm>
            <a:off x="4914300" y="3775013"/>
            <a:ext cx="2616300" cy="95040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Copper</a:t>
            </a:r>
            <a:r>
              <a:rPr lang="en" sz="20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: μ</a:t>
            </a:r>
            <a:r>
              <a:rPr baseline="-25000" lang="en" sz="20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0 </a:t>
            </a:r>
            <a:r>
              <a:rPr lang="en" sz="20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= -7.86 cm</a:t>
            </a:r>
            <a:endParaRPr sz="20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            σ</a:t>
            </a:r>
            <a:r>
              <a:rPr baseline="-25000" lang="en" sz="20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0 </a:t>
            </a:r>
            <a:r>
              <a:rPr lang="en" sz="20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=  0.38 cm</a:t>
            </a:r>
            <a:endParaRPr sz="20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397" name="Google Shape;397;p34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0" name="Google Shape;400;p34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1" name="Google Shape;401;p34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26162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5" name="Google Shape;405;p34"/>
          <p:cNvSpPr/>
          <p:nvPr/>
        </p:nvSpPr>
        <p:spPr>
          <a:xfrm>
            <a:off x="3660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37236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3787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3850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3914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" name="Google Shape;410;p34"/>
          <p:cNvSpPr/>
          <p:nvPr/>
        </p:nvSpPr>
        <p:spPr>
          <a:xfrm>
            <a:off x="3977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1" name="Google Shape;411;p34"/>
          <p:cNvSpPr/>
          <p:nvPr/>
        </p:nvSpPr>
        <p:spPr>
          <a:xfrm>
            <a:off x="4041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2" name="Google Shape;412;p34"/>
          <p:cNvSpPr/>
          <p:nvPr/>
        </p:nvSpPr>
        <p:spPr>
          <a:xfrm>
            <a:off x="4104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3" name="Google Shape;413;p34"/>
          <p:cNvSpPr/>
          <p:nvPr/>
        </p:nvSpPr>
        <p:spPr>
          <a:xfrm>
            <a:off x="4168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4" name="Google Shape;414;p34"/>
          <p:cNvSpPr/>
          <p:nvPr/>
        </p:nvSpPr>
        <p:spPr>
          <a:xfrm>
            <a:off x="4231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5" name="Google Shape;415;p34"/>
          <p:cNvSpPr/>
          <p:nvPr/>
        </p:nvSpPr>
        <p:spPr>
          <a:xfrm>
            <a:off x="44475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6" name="Google Shape;416;p34"/>
          <p:cNvSpPr/>
          <p:nvPr/>
        </p:nvSpPr>
        <p:spPr>
          <a:xfrm>
            <a:off x="5044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5107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5171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5234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5298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1" name="Google Shape;421;p34"/>
          <p:cNvSpPr/>
          <p:nvPr/>
        </p:nvSpPr>
        <p:spPr>
          <a:xfrm>
            <a:off x="5361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2" name="Google Shape;422;p34"/>
          <p:cNvSpPr/>
          <p:nvPr/>
        </p:nvSpPr>
        <p:spPr>
          <a:xfrm>
            <a:off x="5425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3" name="Google Shape;423;p34"/>
          <p:cNvSpPr/>
          <p:nvPr/>
        </p:nvSpPr>
        <p:spPr>
          <a:xfrm>
            <a:off x="56413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4" name="Google Shape;424;p34"/>
          <p:cNvSpPr/>
          <p:nvPr/>
        </p:nvSpPr>
        <p:spPr>
          <a:xfrm>
            <a:off x="61683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5" name="Google Shape;425;p34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7/23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5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Electron Vertex Study </a:t>
            </a:r>
            <a:endParaRPr sz="2900"/>
          </a:p>
        </p:txBody>
      </p:sp>
      <p:sp>
        <p:nvSpPr>
          <p:cNvPr id="431" name="Google Shape;431;p35"/>
          <p:cNvSpPr txBox="1"/>
          <p:nvPr>
            <p:ph idx="1" type="body"/>
          </p:nvPr>
        </p:nvSpPr>
        <p:spPr>
          <a:xfrm>
            <a:off x="0" y="905125"/>
            <a:ext cx="2955300" cy="38271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For every (s, p, φ, θ) bin: Fit two peaks with Gaussians.</a:t>
            </a:r>
            <a:endParaRPr sz="2000"/>
          </a:p>
          <a:p>
            <a:pPr indent="-172720" lvl="0" marL="18288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Give μ, σ with errors for both targets, per (sector, p, φ, θ).</a:t>
            </a:r>
            <a:endParaRPr sz="2000"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172720" lvl="0" marL="18288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Fit with third-order polynomial function the 24 θ-points of: μ</a:t>
            </a:r>
            <a:r>
              <a:rPr baseline="-25000" lang="en" sz="2000"/>
              <a:t>Sn</a:t>
            </a:r>
            <a:r>
              <a:rPr lang="en" sz="2000"/>
              <a:t>(θ), σ</a:t>
            </a:r>
            <a:r>
              <a:rPr baseline="-25000" lang="en" sz="2000"/>
              <a:t>Sn</a:t>
            </a:r>
            <a:r>
              <a:rPr lang="en" sz="2000"/>
              <a:t>(θ), μ</a:t>
            </a:r>
            <a:r>
              <a:rPr baseline="-25000" lang="en" sz="2000"/>
              <a:t>Cu</a:t>
            </a:r>
            <a:r>
              <a:rPr lang="en" sz="2000"/>
              <a:t>(θ), σ</a:t>
            </a:r>
            <a:r>
              <a:rPr baseline="-25000" lang="en" sz="2000"/>
              <a:t>Cu</a:t>
            </a:r>
            <a:r>
              <a:rPr lang="en" sz="2000"/>
              <a:t>(θ).</a:t>
            </a:r>
            <a:endParaRPr sz="2000"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32" name="Google Shape;432;p35"/>
          <p:cNvPicPr preferRelativeResize="0"/>
          <p:nvPr/>
        </p:nvPicPr>
        <p:blipFill rotWithShape="1">
          <a:blip r:embed="rId3">
            <a:alphaModFix/>
          </a:blip>
          <a:srcRect b="0" l="0" r="0" t="764"/>
          <a:stretch/>
        </p:blipFill>
        <p:spPr>
          <a:xfrm>
            <a:off x="2955400" y="835900"/>
            <a:ext cx="6147502" cy="389632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5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4" name="Google Shape;434;p35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5" name="Google Shape;435;p35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6" name="Google Shape;436;p35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7" name="Google Shape;437;p35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8" name="Google Shape;438;p35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9" name="Google Shape;439;p35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0" name="Google Shape;440;p35"/>
          <p:cNvSpPr/>
          <p:nvPr/>
        </p:nvSpPr>
        <p:spPr>
          <a:xfrm>
            <a:off x="26162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1" name="Google Shape;441;p35"/>
          <p:cNvSpPr/>
          <p:nvPr/>
        </p:nvSpPr>
        <p:spPr>
          <a:xfrm>
            <a:off x="3660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2" name="Google Shape;442;p35"/>
          <p:cNvSpPr/>
          <p:nvPr/>
        </p:nvSpPr>
        <p:spPr>
          <a:xfrm>
            <a:off x="3723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3" name="Google Shape;443;p35"/>
          <p:cNvSpPr/>
          <p:nvPr/>
        </p:nvSpPr>
        <p:spPr>
          <a:xfrm>
            <a:off x="37871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" name="Google Shape;444;p35"/>
          <p:cNvSpPr/>
          <p:nvPr/>
        </p:nvSpPr>
        <p:spPr>
          <a:xfrm>
            <a:off x="3850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5" name="Google Shape;445;p35"/>
          <p:cNvSpPr/>
          <p:nvPr/>
        </p:nvSpPr>
        <p:spPr>
          <a:xfrm>
            <a:off x="3914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6" name="Google Shape;446;p35"/>
          <p:cNvSpPr/>
          <p:nvPr/>
        </p:nvSpPr>
        <p:spPr>
          <a:xfrm>
            <a:off x="3977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7" name="Google Shape;447;p35"/>
          <p:cNvSpPr/>
          <p:nvPr/>
        </p:nvSpPr>
        <p:spPr>
          <a:xfrm>
            <a:off x="4041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8" name="Google Shape;448;p35"/>
          <p:cNvSpPr/>
          <p:nvPr/>
        </p:nvSpPr>
        <p:spPr>
          <a:xfrm>
            <a:off x="4104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9" name="Google Shape;449;p35"/>
          <p:cNvSpPr/>
          <p:nvPr/>
        </p:nvSpPr>
        <p:spPr>
          <a:xfrm>
            <a:off x="4168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0" name="Google Shape;450;p35"/>
          <p:cNvSpPr/>
          <p:nvPr/>
        </p:nvSpPr>
        <p:spPr>
          <a:xfrm>
            <a:off x="4231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1" name="Google Shape;451;p35"/>
          <p:cNvSpPr/>
          <p:nvPr/>
        </p:nvSpPr>
        <p:spPr>
          <a:xfrm>
            <a:off x="44475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2" name="Google Shape;452;p35"/>
          <p:cNvSpPr/>
          <p:nvPr/>
        </p:nvSpPr>
        <p:spPr>
          <a:xfrm>
            <a:off x="5044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3" name="Google Shape;453;p35"/>
          <p:cNvSpPr/>
          <p:nvPr/>
        </p:nvSpPr>
        <p:spPr>
          <a:xfrm>
            <a:off x="5107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4" name="Google Shape;454;p35"/>
          <p:cNvSpPr/>
          <p:nvPr/>
        </p:nvSpPr>
        <p:spPr>
          <a:xfrm>
            <a:off x="5171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" name="Google Shape;455;p35"/>
          <p:cNvSpPr/>
          <p:nvPr/>
        </p:nvSpPr>
        <p:spPr>
          <a:xfrm>
            <a:off x="5234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" name="Google Shape;456;p35"/>
          <p:cNvSpPr/>
          <p:nvPr/>
        </p:nvSpPr>
        <p:spPr>
          <a:xfrm>
            <a:off x="5298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7" name="Google Shape;457;p35"/>
          <p:cNvSpPr/>
          <p:nvPr/>
        </p:nvSpPr>
        <p:spPr>
          <a:xfrm>
            <a:off x="5361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8" name="Google Shape;458;p35"/>
          <p:cNvSpPr/>
          <p:nvPr/>
        </p:nvSpPr>
        <p:spPr>
          <a:xfrm>
            <a:off x="5425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9" name="Google Shape;459;p35"/>
          <p:cNvSpPr/>
          <p:nvPr/>
        </p:nvSpPr>
        <p:spPr>
          <a:xfrm>
            <a:off x="56413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0" name="Google Shape;460;p35"/>
          <p:cNvSpPr/>
          <p:nvPr/>
        </p:nvSpPr>
        <p:spPr>
          <a:xfrm>
            <a:off x="61683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1" name="Google Shape;461;p35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8/23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6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Electron Vertex Study </a:t>
            </a:r>
            <a:endParaRPr sz="2900"/>
          </a:p>
        </p:txBody>
      </p:sp>
      <p:sp>
        <p:nvSpPr>
          <p:cNvPr id="467" name="Google Shape;467;p36"/>
          <p:cNvSpPr txBox="1"/>
          <p:nvPr>
            <p:ph idx="1" type="body"/>
          </p:nvPr>
        </p:nvSpPr>
        <p:spPr>
          <a:xfrm>
            <a:off x="0" y="905125"/>
            <a:ext cx="9144000" cy="38271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The correction is:</a:t>
            </a:r>
            <a:endParaRPr sz="2000"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/>
              <a:t> 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172720" lvl="0" marL="18288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Per-bin transform that shifts and rescales V</a:t>
            </a:r>
            <a:r>
              <a:rPr baseline="-25000" lang="en" sz="2000"/>
              <a:t>z</a:t>
            </a:r>
            <a:r>
              <a:rPr lang="en" sz="2000"/>
              <a:t> to align each peak with the reference </a:t>
            </a:r>
            <a:r>
              <a:rPr lang="en" sz="2000"/>
              <a:t>μ</a:t>
            </a:r>
            <a:r>
              <a:rPr baseline="-25000" lang="en" sz="2000"/>
              <a:t>0</a:t>
            </a:r>
            <a:r>
              <a:rPr lang="en" sz="2000"/>
              <a:t> and σ</a:t>
            </a:r>
            <a:r>
              <a:rPr baseline="-25000" lang="en" sz="2000"/>
              <a:t>0</a:t>
            </a:r>
            <a:r>
              <a:rPr lang="en" sz="2000"/>
              <a:t>.</a:t>
            </a:r>
            <a:endParaRPr sz="2000"/>
          </a:p>
          <a:p>
            <a:pPr indent="-172720" lvl="0" marL="18288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Each event shifts toward its nearest target; smooth handover.</a:t>
            </a:r>
            <a:endParaRPr sz="2000"/>
          </a:p>
          <a:p>
            <a:pPr indent="-172720" lvl="0" marL="18288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μ</a:t>
            </a:r>
            <a:r>
              <a:rPr baseline="-25000" lang="en" sz="2000"/>
              <a:t>p,</a:t>
            </a:r>
            <a:r>
              <a:rPr lang="en" sz="2000"/>
              <a:t> σ</a:t>
            </a:r>
            <a:r>
              <a:rPr baseline="-25000" lang="en" sz="2000"/>
              <a:t>p</a:t>
            </a:r>
            <a:r>
              <a:rPr lang="en" sz="2000"/>
              <a:t> come from the third order polynomial function evaluated at the event’s (s, p, φ, θ)</a:t>
            </a:r>
            <a:endParaRPr sz="2000"/>
          </a:p>
        </p:txBody>
      </p:sp>
      <p:pic>
        <p:nvPicPr>
          <p:cNvPr id="468" name="Google Shape;468;p36" title="CodeCogsEq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64" y="1391133"/>
            <a:ext cx="8923377" cy="9566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6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0" name="Google Shape;470;p36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1" name="Google Shape;471;p36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2" name="Google Shape;472;p36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3" name="Google Shape;473;p36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4" name="Google Shape;474;p36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5" name="Google Shape;475;p36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6" name="Google Shape;476;p36"/>
          <p:cNvSpPr/>
          <p:nvPr/>
        </p:nvSpPr>
        <p:spPr>
          <a:xfrm>
            <a:off x="26162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7" name="Google Shape;477;p36"/>
          <p:cNvSpPr/>
          <p:nvPr/>
        </p:nvSpPr>
        <p:spPr>
          <a:xfrm>
            <a:off x="3660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8" name="Google Shape;478;p36"/>
          <p:cNvSpPr/>
          <p:nvPr/>
        </p:nvSpPr>
        <p:spPr>
          <a:xfrm>
            <a:off x="3723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9" name="Google Shape;479;p36"/>
          <p:cNvSpPr/>
          <p:nvPr/>
        </p:nvSpPr>
        <p:spPr>
          <a:xfrm>
            <a:off x="3787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0" name="Google Shape;480;p36"/>
          <p:cNvSpPr/>
          <p:nvPr/>
        </p:nvSpPr>
        <p:spPr>
          <a:xfrm>
            <a:off x="38506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1" name="Google Shape;481;p36"/>
          <p:cNvSpPr/>
          <p:nvPr/>
        </p:nvSpPr>
        <p:spPr>
          <a:xfrm>
            <a:off x="3914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2" name="Google Shape;482;p36"/>
          <p:cNvSpPr/>
          <p:nvPr/>
        </p:nvSpPr>
        <p:spPr>
          <a:xfrm>
            <a:off x="3977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3" name="Google Shape;483;p36"/>
          <p:cNvSpPr/>
          <p:nvPr/>
        </p:nvSpPr>
        <p:spPr>
          <a:xfrm>
            <a:off x="4041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4" name="Google Shape;484;p36"/>
          <p:cNvSpPr/>
          <p:nvPr/>
        </p:nvSpPr>
        <p:spPr>
          <a:xfrm>
            <a:off x="4104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5" name="Google Shape;485;p36"/>
          <p:cNvSpPr/>
          <p:nvPr/>
        </p:nvSpPr>
        <p:spPr>
          <a:xfrm>
            <a:off x="4168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6" name="Google Shape;486;p36"/>
          <p:cNvSpPr/>
          <p:nvPr/>
        </p:nvSpPr>
        <p:spPr>
          <a:xfrm>
            <a:off x="4231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7" name="Google Shape;487;p36"/>
          <p:cNvSpPr/>
          <p:nvPr/>
        </p:nvSpPr>
        <p:spPr>
          <a:xfrm>
            <a:off x="44475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8" name="Google Shape;488;p36"/>
          <p:cNvSpPr/>
          <p:nvPr/>
        </p:nvSpPr>
        <p:spPr>
          <a:xfrm>
            <a:off x="5044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9" name="Google Shape;489;p36"/>
          <p:cNvSpPr/>
          <p:nvPr/>
        </p:nvSpPr>
        <p:spPr>
          <a:xfrm>
            <a:off x="5107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0" name="Google Shape;490;p36"/>
          <p:cNvSpPr/>
          <p:nvPr/>
        </p:nvSpPr>
        <p:spPr>
          <a:xfrm>
            <a:off x="5171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1" name="Google Shape;491;p36"/>
          <p:cNvSpPr/>
          <p:nvPr/>
        </p:nvSpPr>
        <p:spPr>
          <a:xfrm>
            <a:off x="5234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2" name="Google Shape;492;p36"/>
          <p:cNvSpPr/>
          <p:nvPr/>
        </p:nvSpPr>
        <p:spPr>
          <a:xfrm>
            <a:off x="5298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3" name="Google Shape;493;p36"/>
          <p:cNvSpPr/>
          <p:nvPr/>
        </p:nvSpPr>
        <p:spPr>
          <a:xfrm>
            <a:off x="5361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4" name="Google Shape;494;p36"/>
          <p:cNvSpPr/>
          <p:nvPr/>
        </p:nvSpPr>
        <p:spPr>
          <a:xfrm>
            <a:off x="5425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5" name="Google Shape;495;p36"/>
          <p:cNvSpPr/>
          <p:nvPr/>
        </p:nvSpPr>
        <p:spPr>
          <a:xfrm>
            <a:off x="56413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6" name="Google Shape;496;p36"/>
          <p:cNvSpPr/>
          <p:nvPr/>
        </p:nvSpPr>
        <p:spPr>
          <a:xfrm>
            <a:off x="61683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" name="Google Shape;497;p36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9/23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7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Electron Vertex Study </a:t>
            </a:r>
            <a:endParaRPr sz="2900"/>
          </a:p>
        </p:txBody>
      </p:sp>
      <p:sp>
        <p:nvSpPr>
          <p:cNvPr id="503" name="Google Shape;503;p37"/>
          <p:cNvSpPr txBox="1"/>
          <p:nvPr>
            <p:ph idx="1" type="body"/>
          </p:nvPr>
        </p:nvSpPr>
        <p:spPr>
          <a:xfrm>
            <a:off x="0" y="905125"/>
            <a:ext cx="9144000" cy="4632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Effect of the correction on outbending electron: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4" name="Google Shape;50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68315"/>
            <a:ext cx="9144003" cy="342007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37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6" name="Google Shape;506;p37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7" name="Google Shape;507;p37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8" name="Google Shape;508;p37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9" name="Google Shape;509;p37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0" name="Google Shape;510;p37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1" name="Google Shape;511;p37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2" name="Google Shape;512;p37"/>
          <p:cNvSpPr/>
          <p:nvPr/>
        </p:nvSpPr>
        <p:spPr>
          <a:xfrm>
            <a:off x="26162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3" name="Google Shape;513;p37"/>
          <p:cNvSpPr/>
          <p:nvPr/>
        </p:nvSpPr>
        <p:spPr>
          <a:xfrm>
            <a:off x="3660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" name="Google Shape;514;p37"/>
          <p:cNvSpPr/>
          <p:nvPr/>
        </p:nvSpPr>
        <p:spPr>
          <a:xfrm>
            <a:off x="3723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5" name="Google Shape;515;p37"/>
          <p:cNvSpPr/>
          <p:nvPr/>
        </p:nvSpPr>
        <p:spPr>
          <a:xfrm>
            <a:off x="3787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6" name="Google Shape;516;p37"/>
          <p:cNvSpPr/>
          <p:nvPr/>
        </p:nvSpPr>
        <p:spPr>
          <a:xfrm>
            <a:off x="3850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7" name="Google Shape;517;p37"/>
          <p:cNvSpPr/>
          <p:nvPr/>
        </p:nvSpPr>
        <p:spPr>
          <a:xfrm>
            <a:off x="39141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8" name="Google Shape;518;p37"/>
          <p:cNvSpPr/>
          <p:nvPr/>
        </p:nvSpPr>
        <p:spPr>
          <a:xfrm>
            <a:off x="3977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9" name="Google Shape;519;p37"/>
          <p:cNvSpPr/>
          <p:nvPr/>
        </p:nvSpPr>
        <p:spPr>
          <a:xfrm>
            <a:off x="4041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0" name="Google Shape;520;p37"/>
          <p:cNvSpPr/>
          <p:nvPr/>
        </p:nvSpPr>
        <p:spPr>
          <a:xfrm>
            <a:off x="4104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1" name="Google Shape;521;p37"/>
          <p:cNvSpPr/>
          <p:nvPr/>
        </p:nvSpPr>
        <p:spPr>
          <a:xfrm>
            <a:off x="4168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2" name="Google Shape;522;p37"/>
          <p:cNvSpPr/>
          <p:nvPr/>
        </p:nvSpPr>
        <p:spPr>
          <a:xfrm>
            <a:off x="4231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3" name="Google Shape;523;p37"/>
          <p:cNvSpPr/>
          <p:nvPr/>
        </p:nvSpPr>
        <p:spPr>
          <a:xfrm>
            <a:off x="44475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4" name="Google Shape;524;p37"/>
          <p:cNvSpPr/>
          <p:nvPr/>
        </p:nvSpPr>
        <p:spPr>
          <a:xfrm>
            <a:off x="5044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5" name="Google Shape;525;p37"/>
          <p:cNvSpPr/>
          <p:nvPr/>
        </p:nvSpPr>
        <p:spPr>
          <a:xfrm>
            <a:off x="5107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6" name="Google Shape;526;p37"/>
          <p:cNvSpPr/>
          <p:nvPr/>
        </p:nvSpPr>
        <p:spPr>
          <a:xfrm>
            <a:off x="5171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7" name="Google Shape;527;p37"/>
          <p:cNvSpPr/>
          <p:nvPr/>
        </p:nvSpPr>
        <p:spPr>
          <a:xfrm>
            <a:off x="5234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" name="Google Shape;528;p37"/>
          <p:cNvSpPr/>
          <p:nvPr/>
        </p:nvSpPr>
        <p:spPr>
          <a:xfrm>
            <a:off x="5298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" name="Google Shape;529;p37"/>
          <p:cNvSpPr/>
          <p:nvPr/>
        </p:nvSpPr>
        <p:spPr>
          <a:xfrm>
            <a:off x="5361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0" name="Google Shape;530;p37"/>
          <p:cNvSpPr/>
          <p:nvPr/>
        </p:nvSpPr>
        <p:spPr>
          <a:xfrm>
            <a:off x="5425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1" name="Google Shape;531;p37"/>
          <p:cNvSpPr/>
          <p:nvPr/>
        </p:nvSpPr>
        <p:spPr>
          <a:xfrm>
            <a:off x="56413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2" name="Google Shape;532;p37"/>
          <p:cNvSpPr/>
          <p:nvPr/>
        </p:nvSpPr>
        <p:spPr>
          <a:xfrm>
            <a:off x="61683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3" name="Google Shape;533;p37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10/23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8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Electron Vertex Study </a:t>
            </a:r>
            <a:endParaRPr sz="2900"/>
          </a:p>
        </p:txBody>
      </p:sp>
      <p:sp>
        <p:nvSpPr>
          <p:cNvPr id="539" name="Google Shape;539;p38"/>
          <p:cNvSpPr txBox="1"/>
          <p:nvPr>
            <p:ph idx="1" type="body"/>
          </p:nvPr>
        </p:nvSpPr>
        <p:spPr>
          <a:xfrm>
            <a:off x="0" y="905125"/>
            <a:ext cx="9144000" cy="4632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Comparison of MC and data: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0" name="Google Shape;540;p38"/>
          <p:cNvPicPr preferRelativeResize="0"/>
          <p:nvPr/>
        </p:nvPicPr>
        <p:blipFill rotWithShape="1">
          <a:blip r:embed="rId3">
            <a:alphaModFix/>
          </a:blip>
          <a:srcRect b="0" l="0" r="0" t="4798"/>
          <a:stretch/>
        </p:blipFill>
        <p:spPr>
          <a:xfrm>
            <a:off x="37800" y="1422375"/>
            <a:ext cx="9015575" cy="339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8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2" name="Google Shape;542;p38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3" name="Google Shape;543;p38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4" name="Google Shape;544;p38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5" name="Google Shape;545;p38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6" name="Google Shape;546;p38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7" name="Google Shape;547;p38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8" name="Google Shape;548;p38"/>
          <p:cNvSpPr/>
          <p:nvPr/>
        </p:nvSpPr>
        <p:spPr>
          <a:xfrm>
            <a:off x="26162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9" name="Google Shape;549;p38"/>
          <p:cNvSpPr/>
          <p:nvPr/>
        </p:nvSpPr>
        <p:spPr>
          <a:xfrm>
            <a:off x="3660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0" name="Google Shape;550;p38"/>
          <p:cNvSpPr/>
          <p:nvPr/>
        </p:nvSpPr>
        <p:spPr>
          <a:xfrm>
            <a:off x="3723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1" name="Google Shape;551;p38"/>
          <p:cNvSpPr/>
          <p:nvPr/>
        </p:nvSpPr>
        <p:spPr>
          <a:xfrm>
            <a:off x="3787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2" name="Google Shape;552;p38"/>
          <p:cNvSpPr/>
          <p:nvPr/>
        </p:nvSpPr>
        <p:spPr>
          <a:xfrm>
            <a:off x="3850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3" name="Google Shape;553;p38"/>
          <p:cNvSpPr/>
          <p:nvPr/>
        </p:nvSpPr>
        <p:spPr>
          <a:xfrm>
            <a:off x="3914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4" name="Google Shape;554;p38"/>
          <p:cNvSpPr/>
          <p:nvPr/>
        </p:nvSpPr>
        <p:spPr>
          <a:xfrm>
            <a:off x="39776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5" name="Google Shape;555;p38"/>
          <p:cNvSpPr/>
          <p:nvPr/>
        </p:nvSpPr>
        <p:spPr>
          <a:xfrm>
            <a:off x="4041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6" name="Google Shape;556;p38"/>
          <p:cNvSpPr/>
          <p:nvPr/>
        </p:nvSpPr>
        <p:spPr>
          <a:xfrm>
            <a:off x="4104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7" name="Google Shape;557;p38"/>
          <p:cNvSpPr/>
          <p:nvPr/>
        </p:nvSpPr>
        <p:spPr>
          <a:xfrm>
            <a:off x="4168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8" name="Google Shape;558;p38"/>
          <p:cNvSpPr/>
          <p:nvPr/>
        </p:nvSpPr>
        <p:spPr>
          <a:xfrm>
            <a:off x="4231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9" name="Google Shape;559;p38"/>
          <p:cNvSpPr/>
          <p:nvPr/>
        </p:nvSpPr>
        <p:spPr>
          <a:xfrm>
            <a:off x="44475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0" name="Google Shape;560;p38"/>
          <p:cNvSpPr/>
          <p:nvPr/>
        </p:nvSpPr>
        <p:spPr>
          <a:xfrm>
            <a:off x="5044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1" name="Google Shape;561;p38"/>
          <p:cNvSpPr/>
          <p:nvPr/>
        </p:nvSpPr>
        <p:spPr>
          <a:xfrm>
            <a:off x="5107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2" name="Google Shape;562;p38"/>
          <p:cNvSpPr/>
          <p:nvPr/>
        </p:nvSpPr>
        <p:spPr>
          <a:xfrm>
            <a:off x="5171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3" name="Google Shape;563;p38"/>
          <p:cNvSpPr/>
          <p:nvPr/>
        </p:nvSpPr>
        <p:spPr>
          <a:xfrm>
            <a:off x="5234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4" name="Google Shape;564;p38"/>
          <p:cNvSpPr/>
          <p:nvPr/>
        </p:nvSpPr>
        <p:spPr>
          <a:xfrm>
            <a:off x="5298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5" name="Google Shape;565;p38"/>
          <p:cNvSpPr/>
          <p:nvPr/>
        </p:nvSpPr>
        <p:spPr>
          <a:xfrm>
            <a:off x="5361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6" name="Google Shape;566;p38"/>
          <p:cNvSpPr/>
          <p:nvPr/>
        </p:nvSpPr>
        <p:spPr>
          <a:xfrm>
            <a:off x="5425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7" name="Google Shape;567;p38"/>
          <p:cNvSpPr/>
          <p:nvPr/>
        </p:nvSpPr>
        <p:spPr>
          <a:xfrm>
            <a:off x="56413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8" name="Google Shape;568;p38"/>
          <p:cNvSpPr/>
          <p:nvPr/>
        </p:nvSpPr>
        <p:spPr>
          <a:xfrm>
            <a:off x="61683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9" name="Google Shape;569;p38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11/23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9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Electron Vertex Study </a:t>
            </a:r>
            <a:endParaRPr sz="2900"/>
          </a:p>
        </p:txBody>
      </p:sp>
      <p:sp>
        <p:nvSpPr>
          <p:cNvPr id="575" name="Google Shape;575;p39"/>
          <p:cNvSpPr txBox="1"/>
          <p:nvPr>
            <p:ph idx="1" type="body"/>
          </p:nvPr>
        </p:nvSpPr>
        <p:spPr>
          <a:xfrm>
            <a:off x="0" y="905125"/>
            <a:ext cx="9144000" cy="4632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Comparison of Inbending vs Outbending CuSn: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6" name="Google Shape;57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39389"/>
            <a:ext cx="9144003" cy="3254872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9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78" name="Google Shape;578;p39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79" name="Google Shape;579;p39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0" name="Google Shape;580;p39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1" name="Google Shape;581;p39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2" name="Google Shape;582;p39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3" name="Google Shape;583;p39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4" name="Google Shape;584;p39"/>
          <p:cNvSpPr/>
          <p:nvPr/>
        </p:nvSpPr>
        <p:spPr>
          <a:xfrm>
            <a:off x="26162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5" name="Google Shape;585;p39"/>
          <p:cNvSpPr/>
          <p:nvPr/>
        </p:nvSpPr>
        <p:spPr>
          <a:xfrm>
            <a:off x="3660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6" name="Google Shape;586;p39"/>
          <p:cNvSpPr/>
          <p:nvPr/>
        </p:nvSpPr>
        <p:spPr>
          <a:xfrm>
            <a:off x="3723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7" name="Google Shape;587;p39"/>
          <p:cNvSpPr/>
          <p:nvPr/>
        </p:nvSpPr>
        <p:spPr>
          <a:xfrm>
            <a:off x="3787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8" name="Google Shape;588;p39"/>
          <p:cNvSpPr/>
          <p:nvPr/>
        </p:nvSpPr>
        <p:spPr>
          <a:xfrm>
            <a:off x="3850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9" name="Google Shape;589;p39"/>
          <p:cNvSpPr/>
          <p:nvPr/>
        </p:nvSpPr>
        <p:spPr>
          <a:xfrm>
            <a:off x="3914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0" name="Google Shape;590;p39"/>
          <p:cNvSpPr/>
          <p:nvPr/>
        </p:nvSpPr>
        <p:spPr>
          <a:xfrm>
            <a:off x="3977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1" name="Google Shape;591;p39"/>
          <p:cNvSpPr/>
          <p:nvPr/>
        </p:nvSpPr>
        <p:spPr>
          <a:xfrm>
            <a:off x="40411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2" name="Google Shape;592;p39"/>
          <p:cNvSpPr/>
          <p:nvPr/>
        </p:nvSpPr>
        <p:spPr>
          <a:xfrm>
            <a:off x="4104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3" name="Google Shape;593;p39"/>
          <p:cNvSpPr/>
          <p:nvPr/>
        </p:nvSpPr>
        <p:spPr>
          <a:xfrm>
            <a:off x="4168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4" name="Google Shape;594;p39"/>
          <p:cNvSpPr/>
          <p:nvPr/>
        </p:nvSpPr>
        <p:spPr>
          <a:xfrm>
            <a:off x="4231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5" name="Google Shape;595;p39"/>
          <p:cNvSpPr/>
          <p:nvPr/>
        </p:nvSpPr>
        <p:spPr>
          <a:xfrm>
            <a:off x="44475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6" name="Google Shape;596;p39"/>
          <p:cNvSpPr/>
          <p:nvPr/>
        </p:nvSpPr>
        <p:spPr>
          <a:xfrm>
            <a:off x="5044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7" name="Google Shape;597;p39"/>
          <p:cNvSpPr/>
          <p:nvPr/>
        </p:nvSpPr>
        <p:spPr>
          <a:xfrm>
            <a:off x="5107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8" name="Google Shape;598;p39"/>
          <p:cNvSpPr/>
          <p:nvPr/>
        </p:nvSpPr>
        <p:spPr>
          <a:xfrm>
            <a:off x="5171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9" name="Google Shape;599;p39"/>
          <p:cNvSpPr/>
          <p:nvPr/>
        </p:nvSpPr>
        <p:spPr>
          <a:xfrm>
            <a:off x="5234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0" name="Google Shape;600;p39"/>
          <p:cNvSpPr/>
          <p:nvPr/>
        </p:nvSpPr>
        <p:spPr>
          <a:xfrm>
            <a:off x="5298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1" name="Google Shape;601;p39"/>
          <p:cNvSpPr/>
          <p:nvPr/>
        </p:nvSpPr>
        <p:spPr>
          <a:xfrm>
            <a:off x="5361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2" name="Google Shape;602;p39"/>
          <p:cNvSpPr/>
          <p:nvPr/>
        </p:nvSpPr>
        <p:spPr>
          <a:xfrm>
            <a:off x="5425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3" name="Google Shape;603;p39"/>
          <p:cNvSpPr/>
          <p:nvPr/>
        </p:nvSpPr>
        <p:spPr>
          <a:xfrm>
            <a:off x="56413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4" name="Google Shape;604;p39"/>
          <p:cNvSpPr/>
          <p:nvPr/>
        </p:nvSpPr>
        <p:spPr>
          <a:xfrm>
            <a:off x="61683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5" name="Google Shape;605;p39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12/23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0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Electron Vertex Study </a:t>
            </a:r>
            <a:endParaRPr sz="2900"/>
          </a:p>
        </p:txBody>
      </p:sp>
      <p:sp>
        <p:nvSpPr>
          <p:cNvPr id="611" name="Google Shape;611;p40"/>
          <p:cNvSpPr txBox="1"/>
          <p:nvPr>
            <p:ph idx="1" type="body"/>
          </p:nvPr>
        </p:nvSpPr>
        <p:spPr>
          <a:xfrm>
            <a:off x="0" y="905125"/>
            <a:ext cx="9144000" cy="4632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60020" lvl="0" marL="182880" rtl="0" algn="l"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Comparison of Carbon vs CuSn Outbending: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2" name="Google Shape;61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68314"/>
            <a:ext cx="9144003" cy="3254872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0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4" name="Google Shape;614;p40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5" name="Google Shape;615;p40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6" name="Google Shape;616;p40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7" name="Google Shape;617;p40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8" name="Google Shape;618;p40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9" name="Google Shape;619;p40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0" name="Google Shape;620;p40"/>
          <p:cNvSpPr/>
          <p:nvPr/>
        </p:nvSpPr>
        <p:spPr>
          <a:xfrm>
            <a:off x="26162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1" name="Google Shape;621;p40"/>
          <p:cNvSpPr/>
          <p:nvPr/>
        </p:nvSpPr>
        <p:spPr>
          <a:xfrm>
            <a:off x="3660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2" name="Google Shape;622;p40"/>
          <p:cNvSpPr/>
          <p:nvPr/>
        </p:nvSpPr>
        <p:spPr>
          <a:xfrm>
            <a:off x="3723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3" name="Google Shape;623;p40"/>
          <p:cNvSpPr/>
          <p:nvPr/>
        </p:nvSpPr>
        <p:spPr>
          <a:xfrm>
            <a:off x="3787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4" name="Google Shape;624;p40"/>
          <p:cNvSpPr/>
          <p:nvPr/>
        </p:nvSpPr>
        <p:spPr>
          <a:xfrm>
            <a:off x="3850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5" name="Google Shape;625;p40"/>
          <p:cNvSpPr/>
          <p:nvPr/>
        </p:nvSpPr>
        <p:spPr>
          <a:xfrm>
            <a:off x="3914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6" name="Google Shape;626;p40"/>
          <p:cNvSpPr/>
          <p:nvPr/>
        </p:nvSpPr>
        <p:spPr>
          <a:xfrm>
            <a:off x="3977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7" name="Google Shape;627;p40"/>
          <p:cNvSpPr/>
          <p:nvPr/>
        </p:nvSpPr>
        <p:spPr>
          <a:xfrm>
            <a:off x="4041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8" name="Google Shape;628;p40"/>
          <p:cNvSpPr/>
          <p:nvPr/>
        </p:nvSpPr>
        <p:spPr>
          <a:xfrm>
            <a:off x="41046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9" name="Google Shape;629;p40"/>
          <p:cNvSpPr/>
          <p:nvPr/>
        </p:nvSpPr>
        <p:spPr>
          <a:xfrm>
            <a:off x="4168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0" name="Google Shape;630;p40"/>
          <p:cNvSpPr/>
          <p:nvPr/>
        </p:nvSpPr>
        <p:spPr>
          <a:xfrm>
            <a:off x="4231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1" name="Google Shape;631;p40"/>
          <p:cNvSpPr/>
          <p:nvPr/>
        </p:nvSpPr>
        <p:spPr>
          <a:xfrm>
            <a:off x="44475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2" name="Google Shape;632;p40"/>
          <p:cNvSpPr/>
          <p:nvPr/>
        </p:nvSpPr>
        <p:spPr>
          <a:xfrm>
            <a:off x="5044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3" name="Google Shape;633;p40"/>
          <p:cNvSpPr/>
          <p:nvPr/>
        </p:nvSpPr>
        <p:spPr>
          <a:xfrm>
            <a:off x="5107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4" name="Google Shape;634;p40"/>
          <p:cNvSpPr/>
          <p:nvPr/>
        </p:nvSpPr>
        <p:spPr>
          <a:xfrm>
            <a:off x="5171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5" name="Google Shape;635;p40"/>
          <p:cNvSpPr/>
          <p:nvPr/>
        </p:nvSpPr>
        <p:spPr>
          <a:xfrm>
            <a:off x="5234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6" name="Google Shape;636;p40"/>
          <p:cNvSpPr/>
          <p:nvPr/>
        </p:nvSpPr>
        <p:spPr>
          <a:xfrm>
            <a:off x="5298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7" name="Google Shape;637;p40"/>
          <p:cNvSpPr/>
          <p:nvPr/>
        </p:nvSpPr>
        <p:spPr>
          <a:xfrm>
            <a:off x="5361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8" name="Google Shape;638;p40"/>
          <p:cNvSpPr/>
          <p:nvPr/>
        </p:nvSpPr>
        <p:spPr>
          <a:xfrm>
            <a:off x="5425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9" name="Google Shape;639;p40"/>
          <p:cNvSpPr/>
          <p:nvPr/>
        </p:nvSpPr>
        <p:spPr>
          <a:xfrm>
            <a:off x="56413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0" name="Google Shape;640;p40"/>
          <p:cNvSpPr/>
          <p:nvPr/>
        </p:nvSpPr>
        <p:spPr>
          <a:xfrm>
            <a:off x="61683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1" name="Google Shape;641;p40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13/23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1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Electron Vertex Study </a:t>
            </a:r>
            <a:endParaRPr sz="2900"/>
          </a:p>
        </p:txBody>
      </p:sp>
      <p:sp>
        <p:nvSpPr>
          <p:cNvPr id="647" name="Google Shape;647;p41"/>
          <p:cNvSpPr txBox="1"/>
          <p:nvPr>
            <p:ph idx="1" type="body"/>
          </p:nvPr>
        </p:nvSpPr>
        <p:spPr>
          <a:xfrm>
            <a:off x="0" y="905125"/>
            <a:ext cx="9144000" cy="6117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After</a:t>
            </a:r>
            <a:r>
              <a:rPr lang="en" sz="2000"/>
              <a:t> correction: fit the Vz distribution with simpler function (same for electron and pions): 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8" name="Google Shape;64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3300" y="1254825"/>
            <a:ext cx="6794299" cy="3741323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41"/>
          <p:cNvSpPr txBox="1"/>
          <p:nvPr/>
        </p:nvSpPr>
        <p:spPr>
          <a:xfrm>
            <a:off x="0" y="1644850"/>
            <a:ext cx="2305200" cy="30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Use 2 Voigt distributions as fit function</a:t>
            </a:r>
            <a:endParaRPr sz="20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650" name="Google Shape;650;p41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1" name="Google Shape;651;p41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2" name="Google Shape;652;p41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3" name="Google Shape;653;p41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4" name="Google Shape;654;p41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5" name="Google Shape;655;p41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6" name="Google Shape;656;p41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7" name="Google Shape;657;p41"/>
          <p:cNvSpPr/>
          <p:nvPr/>
        </p:nvSpPr>
        <p:spPr>
          <a:xfrm>
            <a:off x="26162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8" name="Google Shape;658;p41"/>
          <p:cNvSpPr/>
          <p:nvPr/>
        </p:nvSpPr>
        <p:spPr>
          <a:xfrm>
            <a:off x="3660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9" name="Google Shape;659;p41"/>
          <p:cNvSpPr/>
          <p:nvPr/>
        </p:nvSpPr>
        <p:spPr>
          <a:xfrm>
            <a:off x="3723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0" name="Google Shape;660;p41"/>
          <p:cNvSpPr/>
          <p:nvPr/>
        </p:nvSpPr>
        <p:spPr>
          <a:xfrm>
            <a:off x="3787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1" name="Google Shape;661;p41"/>
          <p:cNvSpPr/>
          <p:nvPr/>
        </p:nvSpPr>
        <p:spPr>
          <a:xfrm>
            <a:off x="3850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2" name="Google Shape;662;p41"/>
          <p:cNvSpPr/>
          <p:nvPr/>
        </p:nvSpPr>
        <p:spPr>
          <a:xfrm>
            <a:off x="3914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3" name="Google Shape;663;p41"/>
          <p:cNvSpPr/>
          <p:nvPr/>
        </p:nvSpPr>
        <p:spPr>
          <a:xfrm>
            <a:off x="3977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4" name="Google Shape;664;p41"/>
          <p:cNvSpPr/>
          <p:nvPr/>
        </p:nvSpPr>
        <p:spPr>
          <a:xfrm>
            <a:off x="4041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5" name="Google Shape;665;p41"/>
          <p:cNvSpPr/>
          <p:nvPr/>
        </p:nvSpPr>
        <p:spPr>
          <a:xfrm>
            <a:off x="4104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6" name="Google Shape;666;p41"/>
          <p:cNvSpPr/>
          <p:nvPr/>
        </p:nvSpPr>
        <p:spPr>
          <a:xfrm>
            <a:off x="41681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7" name="Google Shape;667;p41"/>
          <p:cNvSpPr/>
          <p:nvPr/>
        </p:nvSpPr>
        <p:spPr>
          <a:xfrm>
            <a:off x="4231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8" name="Google Shape;668;p41"/>
          <p:cNvSpPr/>
          <p:nvPr/>
        </p:nvSpPr>
        <p:spPr>
          <a:xfrm>
            <a:off x="44475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9" name="Google Shape;669;p41"/>
          <p:cNvSpPr/>
          <p:nvPr/>
        </p:nvSpPr>
        <p:spPr>
          <a:xfrm>
            <a:off x="5044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0" name="Google Shape;670;p41"/>
          <p:cNvSpPr/>
          <p:nvPr/>
        </p:nvSpPr>
        <p:spPr>
          <a:xfrm>
            <a:off x="5107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1" name="Google Shape;671;p41"/>
          <p:cNvSpPr/>
          <p:nvPr/>
        </p:nvSpPr>
        <p:spPr>
          <a:xfrm>
            <a:off x="5171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2" name="Google Shape;672;p41"/>
          <p:cNvSpPr/>
          <p:nvPr/>
        </p:nvSpPr>
        <p:spPr>
          <a:xfrm>
            <a:off x="5234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3" name="Google Shape;673;p41"/>
          <p:cNvSpPr/>
          <p:nvPr/>
        </p:nvSpPr>
        <p:spPr>
          <a:xfrm>
            <a:off x="5298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4" name="Google Shape;674;p41"/>
          <p:cNvSpPr/>
          <p:nvPr/>
        </p:nvSpPr>
        <p:spPr>
          <a:xfrm>
            <a:off x="5361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5" name="Google Shape;675;p41"/>
          <p:cNvSpPr/>
          <p:nvPr/>
        </p:nvSpPr>
        <p:spPr>
          <a:xfrm>
            <a:off x="5425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6" name="Google Shape;676;p41"/>
          <p:cNvSpPr/>
          <p:nvPr/>
        </p:nvSpPr>
        <p:spPr>
          <a:xfrm>
            <a:off x="56413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7" name="Google Shape;677;p41"/>
          <p:cNvSpPr/>
          <p:nvPr/>
        </p:nvSpPr>
        <p:spPr>
          <a:xfrm>
            <a:off x="61683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8" name="Google Shape;678;p41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14/23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2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Electron Vertex Study </a:t>
            </a:r>
            <a:endParaRPr sz="2900"/>
          </a:p>
        </p:txBody>
      </p:sp>
      <p:pic>
        <p:nvPicPr>
          <p:cNvPr id="684" name="Google Shape;684;p42"/>
          <p:cNvPicPr preferRelativeResize="0"/>
          <p:nvPr/>
        </p:nvPicPr>
        <p:blipFill rotWithShape="1">
          <a:blip r:embed="rId3">
            <a:alphaModFix/>
          </a:blip>
          <a:srcRect b="0" l="646" r="0" t="0"/>
          <a:stretch/>
        </p:blipFill>
        <p:spPr>
          <a:xfrm>
            <a:off x="3431250" y="833300"/>
            <a:ext cx="5595225" cy="3321875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42"/>
          <p:cNvSpPr txBox="1"/>
          <p:nvPr/>
        </p:nvSpPr>
        <p:spPr>
          <a:xfrm>
            <a:off x="0" y="905125"/>
            <a:ext cx="3343500" cy="4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We can use simulation to estimate the Cu contamination in the Sn target and Sn contamination in Cu target: 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For each target peak we define a ±3σ window from its Voigt fit. Contamination is the fraction of counts in that window coming from the other target, estimated from truth-labelled MC integrated in the same window.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686" name="Google Shape;68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76449"/>
            <a:ext cx="6269525" cy="6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42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88" name="Google Shape;688;p42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89" name="Google Shape;689;p42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0" name="Google Shape;690;p42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1" name="Google Shape;691;p42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2" name="Google Shape;692;p42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3" name="Google Shape;693;p42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4" name="Google Shape;694;p42"/>
          <p:cNvSpPr/>
          <p:nvPr/>
        </p:nvSpPr>
        <p:spPr>
          <a:xfrm>
            <a:off x="26162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5" name="Google Shape;695;p42"/>
          <p:cNvSpPr/>
          <p:nvPr/>
        </p:nvSpPr>
        <p:spPr>
          <a:xfrm>
            <a:off x="3660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6" name="Google Shape;696;p42"/>
          <p:cNvSpPr/>
          <p:nvPr/>
        </p:nvSpPr>
        <p:spPr>
          <a:xfrm>
            <a:off x="3723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7" name="Google Shape;697;p42"/>
          <p:cNvSpPr/>
          <p:nvPr/>
        </p:nvSpPr>
        <p:spPr>
          <a:xfrm>
            <a:off x="3787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8" name="Google Shape;698;p42"/>
          <p:cNvSpPr/>
          <p:nvPr/>
        </p:nvSpPr>
        <p:spPr>
          <a:xfrm>
            <a:off x="3850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9" name="Google Shape;699;p42"/>
          <p:cNvSpPr/>
          <p:nvPr/>
        </p:nvSpPr>
        <p:spPr>
          <a:xfrm>
            <a:off x="3914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0" name="Google Shape;700;p42"/>
          <p:cNvSpPr/>
          <p:nvPr/>
        </p:nvSpPr>
        <p:spPr>
          <a:xfrm>
            <a:off x="3977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1" name="Google Shape;701;p42"/>
          <p:cNvSpPr/>
          <p:nvPr/>
        </p:nvSpPr>
        <p:spPr>
          <a:xfrm>
            <a:off x="4041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2" name="Google Shape;702;p42"/>
          <p:cNvSpPr/>
          <p:nvPr/>
        </p:nvSpPr>
        <p:spPr>
          <a:xfrm>
            <a:off x="41046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3" name="Google Shape;703;p42"/>
          <p:cNvSpPr/>
          <p:nvPr/>
        </p:nvSpPr>
        <p:spPr>
          <a:xfrm>
            <a:off x="41681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4" name="Google Shape;704;p42"/>
          <p:cNvSpPr/>
          <p:nvPr/>
        </p:nvSpPr>
        <p:spPr>
          <a:xfrm>
            <a:off x="42316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5" name="Google Shape;705;p42"/>
          <p:cNvSpPr/>
          <p:nvPr/>
        </p:nvSpPr>
        <p:spPr>
          <a:xfrm>
            <a:off x="44475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6" name="Google Shape;706;p42"/>
          <p:cNvSpPr/>
          <p:nvPr/>
        </p:nvSpPr>
        <p:spPr>
          <a:xfrm>
            <a:off x="5044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7" name="Google Shape;707;p42"/>
          <p:cNvSpPr/>
          <p:nvPr/>
        </p:nvSpPr>
        <p:spPr>
          <a:xfrm>
            <a:off x="5107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8" name="Google Shape;708;p42"/>
          <p:cNvSpPr/>
          <p:nvPr/>
        </p:nvSpPr>
        <p:spPr>
          <a:xfrm>
            <a:off x="5171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9" name="Google Shape;709;p42"/>
          <p:cNvSpPr/>
          <p:nvPr/>
        </p:nvSpPr>
        <p:spPr>
          <a:xfrm>
            <a:off x="5234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10" name="Google Shape;710;p42"/>
          <p:cNvSpPr/>
          <p:nvPr/>
        </p:nvSpPr>
        <p:spPr>
          <a:xfrm>
            <a:off x="5298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11" name="Google Shape;711;p42"/>
          <p:cNvSpPr/>
          <p:nvPr/>
        </p:nvSpPr>
        <p:spPr>
          <a:xfrm>
            <a:off x="5361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12" name="Google Shape;712;p42"/>
          <p:cNvSpPr/>
          <p:nvPr/>
        </p:nvSpPr>
        <p:spPr>
          <a:xfrm>
            <a:off x="5425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13" name="Google Shape;713;p42"/>
          <p:cNvSpPr/>
          <p:nvPr/>
        </p:nvSpPr>
        <p:spPr>
          <a:xfrm>
            <a:off x="56413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14" name="Google Shape;714;p42"/>
          <p:cNvSpPr/>
          <p:nvPr/>
        </p:nvSpPr>
        <p:spPr>
          <a:xfrm>
            <a:off x="61683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15" name="Google Shape;715;p42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15/23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3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B3A5C"/>
                </a:solidFill>
              </a:rPr>
              <a:t>RG-D TMDs Studies: π</a:t>
            </a:r>
            <a:r>
              <a:rPr baseline="30000" lang="en" sz="3200">
                <a:solidFill>
                  <a:srgbClr val="1B3A5C"/>
                </a:solidFill>
              </a:rPr>
              <a:t>0</a:t>
            </a:r>
            <a:r>
              <a:rPr lang="en" sz="3200">
                <a:solidFill>
                  <a:srgbClr val="1B3A5C"/>
                </a:solidFill>
              </a:rPr>
              <a:t> analysis </a:t>
            </a:r>
            <a:endParaRPr sz="3200">
              <a:solidFill>
                <a:srgbClr val="1B3A5C"/>
              </a:solidFill>
            </a:endParaRPr>
          </a:p>
        </p:txBody>
      </p:sp>
      <p:sp>
        <p:nvSpPr>
          <p:cNvPr id="721" name="Google Shape;721;p43"/>
          <p:cNvSpPr txBox="1"/>
          <p:nvPr>
            <p:ph idx="1" type="body"/>
          </p:nvPr>
        </p:nvSpPr>
        <p:spPr>
          <a:xfrm>
            <a:off x="42150" y="937250"/>
            <a:ext cx="89949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3A5C"/>
                </a:solidFill>
              </a:rPr>
              <a:t>First look at the π</a:t>
            </a:r>
            <a:r>
              <a:rPr baseline="30000" lang="en" sz="2000">
                <a:solidFill>
                  <a:srgbClr val="1B3A5C"/>
                </a:solidFill>
              </a:rPr>
              <a:t>0</a:t>
            </a:r>
            <a:r>
              <a:rPr lang="en" sz="2000">
                <a:solidFill>
                  <a:srgbClr val="1B3A5C"/>
                </a:solidFill>
              </a:rPr>
              <a:t> channel to extract multiplicity ratios and azimuthal asymmetries:</a:t>
            </a:r>
            <a:endParaRPr sz="20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</p:txBody>
      </p:sp>
      <p:sp>
        <p:nvSpPr>
          <p:cNvPr id="722" name="Google Shape;722;p43"/>
          <p:cNvSpPr txBox="1"/>
          <p:nvPr/>
        </p:nvSpPr>
        <p:spPr>
          <a:xfrm>
            <a:off x="8350" y="1624625"/>
            <a:ext cx="3409500" cy="3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Use 4D binning, with equal statistic (KD-Tree): 8 Q</a:t>
            </a:r>
            <a:r>
              <a:rPr baseline="30000"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2</a:t>
            </a: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, 8 x</a:t>
            </a:r>
            <a:r>
              <a:rPr baseline="-25000"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B</a:t>
            </a: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, 5 z</a:t>
            </a:r>
            <a:r>
              <a:rPr baseline="-25000"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h</a:t>
            </a: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and 5 p</a:t>
            </a:r>
            <a:r>
              <a:rPr baseline="-25000"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</a:t>
            </a:r>
            <a:r>
              <a:rPr baseline="30000"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2</a:t>
            </a: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bins: 1600 bins</a:t>
            </a:r>
            <a:endParaRPr sz="18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Different z</a:t>
            </a:r>
            <a:r>
              <a:rPr baseline="-25000"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h</a:t>
            </a: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and p</a:t>
            </a:r>
            <a:r>
              <a:rPr baseline="-25000"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</a:t>
            </a:r>
            <a:r>
              <a:rPr baseline="30000"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2 </a:t>
            </a: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bins for each Q</a:t>
            </a:r>
            <a:r>
              <a:rPr baseline="30000"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2 </a:t>
            </a: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and x</a:t>
            </a:r>
            <a:r>
              <a:rPr baseline="-25000"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B </a:t>
            </a: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bins </a:t>
            </a:r>
            <a:endParaRPr sz="18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723" name="Google Shape;72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7356" y="1462825"/>
            <a:ext cx="2982068" cy="3208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9425" y="1462825"/>
            <a:ext cx="3004475" cy="3208643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3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26" name="Google Shape;726;p43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27" name="Google Shape;727;p43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28" name="Google Shape;728;p43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29" name="Google Shape;729;p43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0" name="Google Shape;730;p43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1" name="Google Shape;731;p43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2" name="Google Shape;732;p43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3" name="Google Shape;733;p43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4" name="Google Shape;734;p43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5" name="Google Shape;735;p43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6" name="Google Shape;736;p43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7" name="Google Shape;737;p43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8" name="Google Shape;738;p43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9" name="Google Shape;739;p43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0" name="Google Shape;740;p43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1" name="Google Shape;741;p43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2" name="Google Shape;742;p43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3" name="Google Shape;743;p43"/>
          <p:cNvSpPr/>
          <p:nvPr/>
        </p:nvSpPr>
        <p:spPr>
          <a:xfrm>
            <a:off x="4279900" y="38100"/>
            <a:ext cx="67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4" name="Google Shape;744;p43"/>
          <p:cNvSpPr/>
          <p:nvPr/>
        </p:nvSpPr>
        <p:spPr>
          <a:xfrm>
            <a:off x="498856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5" name="Google Shape;745;p43"/>
          <p:cNvSpPr/>
          <p:nvPr/>
        </p:nvSpPr>
        <p:spPr>
          <a:xfrm>
            <a:off x="5052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6" name="Google Shape;746;p43"/>
          <p:cNvSpPr/>
          <p:nvPr/>
        </p:nvSpPr>
        <p:spPr>
          <a:xfrm>
            <a:off x="5115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7" name="Google Shape;747;p43"/>
          <p:cNvSpPr/>
          <p:nvPr/>
        </p:nvSpPr>
        <p:spPr>
          <a:xfrm>
            <a:off x="5179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8" name="Google Shape;748;p43"/>
          <p:cNvSpPr/>
          <p:nvPr/>
        </p:nvSpPr>
        <p:spPr>
          <a:xfrm>
            <a:off x="5242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9" name="Google Shape;749;p43"/>
          <p:cNvSpPr/>
          <p:nvPr/>
        </p:nvSpPr>
        <p:spPr>
          <a:xfrm>
            <a:off x="5306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50" name="Google Shape;750;p43"/>
          <p:cNvSpPr/>
          <p:nvPr/>
        </p:nvSpPr>
        <p:spPr>
          <a:xfrm>
            <a:off x="5369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51" name="Google Shape;751;p43"/>
          <p:cNvSpPr/>
          <p:nvPr/>
        </p:nvSpPr>
        <p:spPr>
          <a:xfrm>
            <a:off x="558546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52" name="Google Shape;752;p43"/>
          <p:cNvSpPr/>
          <p:nvPr/>
        </p:nvSpPr>
        <p:spPr>
          <a:xfrm>
            <a:off x="611251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53" name="Google Shape;753;p43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16/23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4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B3A5C"/>
                </a:solidFill>
              </a:rPr>
              <a:t>RG-D TMDs Studies: π</a:t>
            </a:r>
            <a:r>
              <a:rPr baseline="30000" lang="en" sz="3200">
                <a:solidFill>
                  <a:srgbClr val="1B3A5C"/>
                </a:solidFill>
              </a:rPr>
              <a:t>0</a:t>
            </a:r>
            <a:r>
              <a:rPr lang="en" sz="3200">
                <a:solidFill>
                  <a:srgbClr val="1B3A5C"/>
                </a:solidFill>
              </a:rPr>
              <a:t> analysis </a:t>
            </a:r>
            <a:endParaRPr sz="3200">
              <a:solidFill>
                <a:srgbClr val="1B3A5C"/>
              </a:solidFill>
            </a:endParaRPr>
          </a:p>
        </p:txBody>
      </p:sp>
      <p:sp>
        <p:nvSpPr>
          <p:cNvPr id="759" name="Google Shape;759;p44"/>
          <p:cNvSpPr txBox="1"/>
          <p:nvPr>
            <p:ph idx="1" type="body"/>
          </p:nvPr>
        </p:nvSpPr>
        <p:spPr>
          <a:xfrm>
            <a:off x="42150" y="937250"/>
            <a:ext cx="8994900" cy="6648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3A5C"/>
                </a:solidFill>
              </a:rPr>
              <a:t>First look at the π</a:t>
            </a:r>
            <a:r>
              <a:rPr baseline="30000" lang="en" sz="2000">
                <a:solidFill>
                  <a:srgbClr val="1B3A5C"/>
                </a:solidFill>
              </a:rPr>
              <a:t>0</a:t>
            </a:r>
            <a:r>
              <a:rPr lang="en" sz="2000">
                <a:solidFill>
                  <a:srgbClr val="1B3A5C"/>
                </a:solidFill>
              </a:rPr>
              <a:t> channel to extract multiplicity ratios and azimuthal asymmetries:</a:t>
            </a:r>
            <a:endParaRPr sz="20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</p:txBody>
      </p:sp>
      <p:sp>
        <p:nvSpPr>
          <p:cNvPr id="760" name="Google Shape;760;p44"/>
          <p:cNvSpPr txBox="1"/>
          <p:nvPr/>
        </p:nvSpPr>
        <p:spPr>
          <a:xfrm>
            <a:off x="0" y="1500925"/>
            <a:ext cx="5274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Extract </a:t>
            </a: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multiplicity</a:t>
            </a: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ratio after the background </a:t>
            </a: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subtraction</a:t>
            </a: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using event mixing technique</a:t>
            </a:r>
            <a:endParaRPr sz="16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761" name="Google Shape;76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295" y="2386898"/>
            <a:ext cx="3186000" cy="2756327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44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3" name="Google Shape;763;p44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4" name="Google Shape;764;p44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5" name="Google Shape;765;p44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6" name="Google Shape;766;p44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7" name="Google Shape;767;p44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8" name="Google Shape;768;p44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9" name="Google Shape;769;p44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0" name="Google Shape;770;p44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1" name="Google Shape;771;p44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2" name="Google Shape;772;p44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3" name="Google Shape;773;p44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4" name="Google Shape;774;p44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5" name="Google Shape;775;p44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6" name="Google Shape;776;p44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7" name="Google Shape;777;p44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8" name="Google Shape;778;p44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9" name="Google Shape;779;p44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0" name="Google Shape;780;p44"/>
          <p:cNvSpPr/>
          <p:nvPr/>
        </p:nvSpPr>
        <p:spPr>
          <a:xfrm>
            <a:off x="4279900" y="38100"/>
            <a:ext cx="67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1" name="Google Shape;781;p44"/>
          <p:cNvSpPr/>
          <p:nvPr/>
        </p:nvSpPr>
        <p:spPr>
          <a:xfrm>
            <a:off x="4988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2" name="Google Shape;782;p44"/>
          <p:cNvSpPr/>
          <p:nvPr/>
        </p:nvSpPr>
        <p:spPr>
          <a:xfrm>
            <a:off x="505206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3" name="Google Shape;783;p44"/>
          <p:cNvSpPr/>
          <p:nvPr/>
        </p:nvSpPr>
        <p:spPr>
          <a:xfrm>
            <a:off x="5115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4" name="Google Shape;784;p44"/>
          <p:cNvSpPr/>
          <p:nvPr/>
        </p:nvSpPr>
        <p:spPr>
          <a:xfrm>
            <a:off x="5179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5" name="Google Shape;785;p44"/>
          <p:cNvSpPr/>
          <p:nvPr/>
        </p:nvSpPr>
        <p:spPr>
          <a:xfrm>
            <a:off x="5242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6" name="Google Shape;786;p44"/>
          <p:cNvSpPr/>
          <p:nvPr/>
        </p:nvSpPr>
        <p:spPr>
          <a:xfrm>
            <a:off x="5306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7" name="Google Shape;787;p44"/>
          <p:cNvSpPr/>
          <p:nvPr/>
        </p:nvSpPr>
        <p:spPr>
          <a:xfrm>
            <a:off x="5369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8" name="Google Shape;788;p44"/>
          <p:cNvSpPr/>
          <p:nvPr/>
        </p:nvSpPr>
        <p:spPr>
          <a:xfrm>
            <a:off x="558546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9" name="Google Shape;789;p44"/>
          <p:cNvSpPr/>
          <p:nvPr/>
        </p:nvSpPr>
        <p:spPr>
          <a:xfrm>
            <a:off x="611251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90" name="Google Shape;790;p44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17/23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791" name="Google Shape;791;p44"/>
          <p:cNvPicPr preferRelativeResize="0"/>
          <p:nvPr/>
        </p:nvPicPr>
        <p:blipFill rotWithShape="1">
          <a:blip r:embed="rId4">
            <a:alphaModFix/>
          </a:blip>
          <a:srcRect b="0" l="567" r="0" t="7149"/>
          <a:stretch/>
        </p:blipFill>
        <p:spPr>
          <a:xfrm>
            <a:off x="3492500" y="2233275"/>
            <a:ext cx="5588000" cy="267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8950" y="1808062"/>
            <a:ext cx="3252000" cy="3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5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B3A5C"/>
                </a:solidFill>
              </a:rPr>
              <a:t>RG-D TMDs Studies: π</a:t>
            </a:r>
            <a:r>
              <a:rPr baseline="30000" lang="en" sz="3200">
                <a:solidFill>
                  <a:srgbClr val="1B3A5C"/>
                </a:solidFill>
              </a:rPr>
              <a:t>0</a:t>
            </a:r>
            <a:r>
              <a:rPr lang="en" sz="3200">
                <a:solidFill>
                  <a:srgbClr val="1B3A5C"/>
                </a:solidFill>
              </a:rPr>
              <a:t> analysis </a:t>
            </a:r>
            <a:endParaRPr sz="3200">
              <a:solidFill>
                <a:srgbClr val="1B3A5C"/>
              </a:solidFill>
            </a:endParaRPr>
          </a:p>
        </p:txBody>
      </p:sp>
      <p:sp>
        <p:nvSpPr>
          <p:cNvPr id="798" name="Google Shape;798;p45"/>
          <p:cNvSpPr txBox="1"/>
          <p:nvPr>
            <p:ph idx="1" type="body"/>
          </p:nvPr>
        </p:nvSpPr>
        <p:spPr>
          <a:xfrm>
            <a:off x="42150" y="937250"/>
            <a:ext cx="8994900" cy="6648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3A5C"/>
                </a:solidFill>
              </a:rPr>
              <a:t>First look at the π</a:t>
            </a:r>
            <a:r>
              <a:rPr baseline="30000" lang="en" sz="2000">
                <a:solidFill>
                  <a:srgbClr val="1B3A5C"/>
                </a:solidFill>
              </a:rPr>
              <a:t>0</a:t>
            </a:r>
            <a:r>
              <a:rPr lang="en" sz="2000">
                <a:solidFill>
                  <a:srgbClr val="1B3A5C"/>
                </a:solidFill>
              </a:rPr>
              <a:t> channel to extract multiplicity ratios and azimuthal asymmetries:</a:t>
            </a:r>
            <a:endParaRPr sz="20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</p:txBody>
      </p:sp>
      <p:sp>
        <p:nvSpPr>
          <p:cNvPr id="799" name="Google Shape;799;p45"/>
          <p:cNvSpPr txBox="1"/>
          <p:nvPr/>
        </p:nvSpPr>
        <p:spPr>
          <a:xfrm>
            <a:off x="0" y="1602050"/>
            <a:ext cx="4499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Extract p</a:t>
            </a:r>
            <a:r>
              <a:rPr baseline="-25000"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</a:t>
            </a: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broadening for </a:t>
            </a: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8 Q</a:t>
            </a:r>
            <a:r>
              <a:rPr baseline="30000"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2</a:t>
            </a: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, 8 x</a:t>
            </a:r>
            <a:r>
              <a:rPr baseline="-25000"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B</a:t>
            </a: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, 5 z</a:t>
            </a:r>
            <a:r>
              <a:rPr baseline="-25000"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h</a:t>
            </a: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endParaRPr sz="16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800" name="Google Shape;80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00" y="2098250"/>
            <a:ext cx="4339497" cy="250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9700" y="2098250"/>
            <a:ext cx="4339502" cy="2496058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45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3" name="Google Shape;803;p45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4" name="Google Shape;804;p45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5" name="Google Shape;805;p45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6" name="Google Shape;806;p45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7" name="Google Shape;807;p45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8" name="Google Shape;808;p45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9" name="Google Shape;809;p45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0" name="Google Shape;810;p45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1" name="Google Shape;811;p45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2" name="Google Shape;812;p45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3" name="Google Shape;813;p45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4" name="Google Shape;814;p45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5" name="Google Shape;815;p45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6" name="Google Shape;816;p45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7" name="Google Shape;817;p45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8" name="Google Shape;818;p45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9" name="Google Shape;819;p45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0" name="Google Shape;820;p45"/>
          <p:cNvSpPr/>
          <p:nvPr/>
        </p:nvSpPr>
        <p:spPr>
          <a:xfrm>
            <a:off x="4279900" y="38100"/>
            <a:ext cx="67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1" name="Google Shape;821;p45"/>
          <p:cNvSpPr/>
          <p:nvPr/>
        </p:nvSpPr>
        <p:spPr>
          <a:xfrm>
            <a:off x="4988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2" name="Google Shape;822;p45"/>
          <p:cNvSpPr/>
          <p:nvPr/>
        </p:nvSpPr>
        <p:spPr>
          <a:xfrm>
            <a:off x="5052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3" name="Google Shape;823;p45"/>
          <p:cNvSpPr/>
          <p:nvPr/>
        </p:nvSpPr>
        <p:spPr>
          <a:xfrm>
            <a:off x="511556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4" name="Google Shape;824;p45"/>
          <p:cNvSpPr/>
          <p:nvPr/>
        </p:nvSpPr>
        <p:spPr>
          <a:xfrm>
            <a:off x="5179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5" name="Google Shape;825;p45"/>
          <p:cNvSpPr/>
          <p:nvPr/>
        </p:nvSpPr>
        <p:spPr>
          <a:xfrm>
            <a:off x="5242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6" name="Google Shape;826;p45"/>
          <p:cNvSpPr/>
          <p:nvPr/>
        </p:nvSpPr>
        <p:spPr>
          <a:xfrm>
            <a:off x="5306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7" name="Google Shape;827;p45"/>
          <p:cNvSpPr/>
          <p:nvPr/>
        </p:nvSpPr>
        <p:spPr>
          <a:xfrm>
            <a:off x="5369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8" name="Google Shape;828;p45"/>
          <p:cNvSpPr/>
          <p:nvPr/>
        </p:nvSpPr>
        <p:spPr>
          <a:xfrm>
            <a:off x="558546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9" name="Google Shape;829;p45"/>
          <p:cNvSpPr/>
          <p:nvPr/>
        </p:nvSpPr>
        <p:spPr>
          <a:xfrm>
            <a:off x="611251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30" name="Google Shape;830;p45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18/23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6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B3A5C"/>
                </a:solidFill>
              </a:rPr>
              <a:t>RG-D TMDs Studies: pions analysis</a:t>
            </a:r>
            <a:endParaRPr sz="3200">
              <a:solidFill>
                <a:srgbClr val="1B3A5C"/>
              </a:solidFill>
            </a:endParaRPr>
          </a:p>
        </p:txBody>
      </p:sp>
      <p:sp>
        <p:nvSpPr>
          <p:cNvPr id="836" name="Google Shape;836;p46"/>
          <p:cNvSpPr txBox="1"/>
          <p:nvPr>
            <p:ph idx="1" type="body"/>
          </p:nvPr>
        </p:nvSpPr>
        <p:spPr>
          <a:xfrm>
            <a:off x="42150" y="937250"/>
            <a:ext cx="3122100" cy="41727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3A5C"/>
                </a:solidFill>
              </a:rPr>
              <a:t>Study multiplicity ratio, transverse momentum broadening and azimuthal moments for both negatively and positively charged pions:</a:t>
            </a:r>
            <a:endParaRPr sz="2000">
              <a:solidFill>
                <a:srgbClr val="1B3A5C"/>
              </a:solidFill>
            </a:endParaRPr>
          </a:p>
          <a:p>
            <a:pPr indent="-160020" lvl="0" marL="182880" rtl="0" algn="l"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1800"/>
              <a:buChar char="-"/>
            </a:pPr>
            <a:r>
              <a:rPr lang="en">
                <a:solidFill>
                  <a:srgbClr val="1B3A5C"/>
                </a:solidFill>
              </a:rPr>
              <a:t>Ratio of radiative-correction factors, 𝛿</a:t>
            </a:r>
            <a:r>
              <a:rPr baseline="-25000" lang="en">
                <a:solidFill>
                  <a:srgbClr val="1B3A5C"/>
                </a:solidFill>
              </a:rPr>
              <a:t>𝑅𝐶</a:t>
            </a:r>
            <a:r>
              <a:rPr baseline="30000" lang="en">
                <a:solidFill>
                  <a:srgbClr val="1B3A5C"/>
                </a:solidFill>
              </a:rPr>
              <a:t>𝐿𝐷2</a:t>
            </a:r>
            <a:r>
              <a:rPr lang="en">
                <a:solidFill>
                  <a:srgbClr val="1B3A5C"/>
                </a:solidFill>
              </a:rPr>
              <a:t>/ 𝛿</a:t>
            </a:r>
            <a:r>
              <a:rPr baseline="-25000" lang="en">
                <a:solidFill>
                  <a:srgbClr val="1B3A5C"/>
                </a:solidFill>
              </a:rPr>
              <a:t>𝑅𝐶</a:t>
            </a:r>
            <a:r>
              <a:rPr baseline="30000" lang="en">
                <a:solidFill>
                  <a:srgbClr val="1B3A5C"/>
                </a:solidFill>
              </a:rPr>
              <a:t>𝐴</a:t>
            </a:r>
            <a:r>
              <a:rPr lang="en">
                <a:solidFill>
                  <a:srgbClr val="1B3A5C"/>
                </a:solidFill>
              </a:rPr>
              <a:t>.</a:t>
            </a:r>
            <a:endParaRPr>
              <a:solidFill>
                <a:srgbClr val="1B3A5C"/>
              </a:solidFill>
            </a:endParaRPr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800"/>
              <a:buChar char="-"/>
            </a:pPr>
            <a:r>
              <a:rPr lang="en">
                <a:solidFill>
                  <a:srgbClr val="1B3A5C"/>
                </a:solidFill>
              </a:rPr>
              <a:t>Dashed lines show internal-only corrections and solid lines show internal+external corrections. </a:t>
            </a:r>
            <a:endParaRPr>
              <a:solidFill>
                <a:srgbClr val="1B3A5C"/>
              </a:solidFill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3A5C"/>
              </a:solidFill>
            </a:endParaRPr>
          </a:p>
        </p:txBody>
      </p:sp>
      <p:sp>
        <p:nvSpPr>
          <p:cNvPr id="837" name="Google Shape;837;p46"/>
          <p:cNvSpPr txBox="1"/>
          <p:nvPr/>
        </p:nvSpPr>
        <p:spPr>
          <a:xfrm>
            <a:off x="5078300" y="4819925"/>
            <a:ext cx="4065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Ongoing analysis by S. Shrestha</a:t>
            </a:r>
            <a:endParaRPr>
              <a:solidFill>
                <a:srgbClr val="00315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838" name="Google Shape;83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4325" y="980350"/>
            <a:ext cx="5979576" cy="3445129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46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0" name="Google Shape;840;p46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1" name="Google Shape;841;p46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2" name="Google Shape;842;p46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3" name="Google Shape;843;p46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4" name="Google Shape;844;p46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5" name="Google Shape;845;p46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6" name="Google Shape;846;p46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7" name="Google Shape;847;p46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8" name="Google Shape;848;p46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9" name="Google Shape;849;p46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0" name="Google Shape;850;p46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1" name="Google Shape;851;p46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2" name="Google Shape;852;p46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3" name="Google Shape;853;p46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4" name="Google Shape;854;p46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5" name="Google Shape;855;p46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6" name="Google Shape;856;p46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7" name="Google Shape;857;p46"/>
          <p:cNvSpPr/>
          <p:nvPr/>
        </p:nvSpPr>
        <p:spPr>
          <a:xfrm>
            <a:off x="4279900" y="38100"/>
            <a:ext cx="67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8" name="Google Shape;858;p46"/>
          <p:cNvSpPr/>
          <p:nvPr/>
        </p:nvSpPr>
        <p:spPr>
          <a:xfrm>
            <a:off x="4988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9" name="Google Shape;859;p46"/>
          <p:cNvSpPr/>
          <p:nvPr/>
        </p:nvSpPr>
        <p:spPr>
          <a:xfrm>
            <a:off x="5052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0" name="Google Shape;860;p46"/>
          <p:cNvSpPr/>
          <p:nvPr/>
        </p:nvSpPr>
        <p:spPr>
          <a:xfrm>
            <a:off x="5115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1" name="Google Shape;861;p46"/>
          <p:cNvSpPr/>
          <p:nvPr/>
        </p:nvSpPr>
        <p:spPr>
          <a:xfrm>
            <a:off x="517906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2" name="Google Shape;862;p46"/>
          <p:cNvSpPr/>
          <p:nvPr/>
        </p:nvSpPr>
        <p:spPr>
          <a:xfrm>
            <a:off x="5242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3" name="Google Shape;863;p46"/>
          <p:cNvSpPr/>
          <p:nvPr/>
        </p:nvSpPr>
        <p:spPr>
          <a:xfrm>
            <a:off x="5306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4" name="Google Shape;864;p46"/>
          <p:cNvSpPr/>
          <p:nvPr/>
        </p:nvSpPr>
        <p:spPr>
          <a:xfrm>
            <a:off x="5369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5" name="Google Shape;865;p46"/>
          <p:cNvSpPr/>
          <p:nvPr/>
        </p:nvSpPr>
        <p:spPr>
          <a:xfrm>
            <a:off x="558546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6" name="Google Shape;866;p46"/>
          <p:cNvSpPr/>
          <p:nvPr/>
        </p:nvSpPr>
        <p:spPr>
          <a:xfrm>
            <a:off x="611251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7" name="Google Shape;867;p46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19/23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7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B3A5C"/>
                </a:solidFill>
              </a:rPr>
              <a:t>RG-D TMDs Studies: pions analysis</a:t>
            </a:r>
            <a:endParaRPr sz="3200">
              <a:solidFill>
                <a:srgbClr val="1B3A5C"/>
              </a:solidFill>
            </a:endParaRPr>
          </a:p>
        </p:txBody>
      </p:sp>
      <p:sp>
        <p:nvSpPr>
          <p:cNvPr id="873" name="Google Shape;873;p47"/>
          <p:cNvSpPr txBox="1"/>
          <p:nvPr>
            <p:ph idx="1" type="body"/>
          </p:nvPr>
        </p:nvSpPr>
        <p:spPr>
          <a:xfrm>
            <a:off x="42150" y="937250"/>
            <a:ext cx="9065100" cy="41727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B3A5C"/>
                </a:solidFill>
              </a:rPr>
              <a:t>Study multiplicity ratio, transverse momentum broadening and azimuthal moments for both negatively and positively charged pions:</a:t>
            </a:r>
            <a:endParaRPr sz="2000">
              <a:solidFill>
                <a:srgbClr val="1B3A5C"/>
              </a:solidFill>
            </a:endParaRPr>
          </a:p>
          <a:p>
            <a:pPr indent="-172720" lvl="0" marL="182880" rtl="0" algn="l"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2000"/>
              <a:buChar char="-"/>
            </a:pPr>
            <a:r>
              <a:rPr lang="en" sz="2000">
                <a:solidFill>
                  <a:srgbClr val="1B3A5C"/>
                </a:solidFill>
              </a:rPr>
              <a:t>𝜋</a:t>
            </a:r>
            <a:r>
              <a:rPr baseline="30000" lang="en" sz="2000">
                <a:solidFill>
                  <a:srgbClr val="1B3A5C"/>
                </a:solidFill>
              </a:rPr>
              <a:t>+</a:t>
            </a:r>
            <a:r>
              <a:rPr lang="en" sz="2000">
                <a:solidFill>
                  <a:srgbClr val="1B3A5C"/>
                </a:solidFill>
              </a:rPr>
              <a:t>  multiplicity ratio 𝑅</a:t>
            </a:r>
            <a:r>
              <a:rPr baseline="-25000" lang="en" sz="2000">
                <a:solidFill>
                  <a:srgbClr val="1B3A5C"/>
                </a:solidFill>
              </a:rPr>
              <a:t>𝑀</a:t>
            </a:r>
            <a:r>
              <a:rPr baseline="30000" lang="en" sz="2000">
                <a:solidFill>
                  <a:srgbClr val="1B3A5C"/>
                </a:solidFill>
              </a:rPr>
              <a:t>𝜋+</a:t>
            </a:r>
            <a:r>
              <a:rPr lang="en" sz="2000">
                <a:solidFill>
                  <a:srgbClr val="1B3A5C"/>
                </a:solidFill>
              </a:rPr>
              <a:t> )   versus 𝑧</a:t>
            </a:r>
            <a:r>
              <a:rPr baseline="-25000" lang="en" sz="2000">
                <a:solidFill>
                  <a:srgbClr val="1B3A5C"/>
                </a:solidFill>
              </a:rPr>
              <a:t>𝜋+</a:t>
            </a:r>
            <a:r>
              <a:rPr lang="en" sz="2000">
                <a:solidFill>
                  <a:srgbClr val="1B3A5C"/>
                </a:solidFill>
              </a:rPr>
              <a:t>  before and after applying the DIS radiative correction. Three x</a:t>
            </a:r>
            <a:r>
              <a:rPr baseline="-25000" lang="en" sz="2000">
                <a:solidFill>
                  <a:srgbClr val="1B3A5C"/>
                </a:solidFill>
              </a:rPr>
              <a:t>B</a:t>
            </a:r>
            <a:r>
              <a:rPr lang="en" sz="2000">
                <a:solidFill>
                  <a:srgbClr val="1B3A5C"/>
                </a:solidFill>
              </a:rPr>
              <a:t> bins are shown at fixed Q</a:t>
            </a:r>
            <a:r>
              <a:rPr baseline="30000" lang="en" sz="2000">
                <a:solidFill>
                  <a:srgbClr val="1B3A5C"/>
                </a:solidFill>
              </a:rPr>
              <a:t>2</a:t>
            </a:r>
            <a:r>
              <a:rPr lang="en" sz="2000">
                <a:solidFill>
                  <a:srgbClr val="1B3A5C"/>
                </a:solidFill>
              </a:rPr>
              <a:t> and p</a:t>
            </a:r>
            <a:r>
              <a:rPr baseline="-25000" lang="en" sz="2000">
                <a:solidFill>
                  <a:srgbClr val="1B3A5C"/>
                </a:solidFill>
              </a:rPr>
              <a:t>𝑇</a:t>
            </a:r>
            <a:r>
              <a:rPr baseline="30000" lang="en" sz="2000">
                <a:solidFill>
                  <a:srgbClr val="1B3A5C"/>
                </a:solidFill>
              </a:rPr>
              <a:t>2</a:t>
            </a:r>
            <a:r>
              <a:rPr lang="en" sz="2000">
                <a:solidFill>
                  <a:srgbClr val="1B3A5C"/>
                </a:solidFill>
              </a:rPr>
              <a:t>. </a:t>
            </a:r>
            <a:endParaRPr sz="20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B3A5C"/>
              </a:solidFill>
            </a:endParaRPr>
          </a:p>
        </p:txBody>
      </p:sp>
      <p:sp>
        <p:nvSpPr>
          <p:cNvPr id="874" name="Google Shape;874;p47"/>
          <p:cNvSpPr txBox="1"/>
          <p:nvPr/>
        </p:nvSpPr>
        <p:spPr>
          <a:xfrm>
            <a:off x="5078300" y="4819925"/>
            <a:ext cx="4065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Ongoing analysis by S. Shrestha</a:t>
            </a:r>
            <a:endParaRPr>
              <a:solidFill>
                <a:srgbClr val="00315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875" name="Google Shape;87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4250" y="2561024"/>
            <a:ext cx="2976950" cy="226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1200" y="2561023"/>
            <a:ext cx="3026403" cy="226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350" y="2555214"/>
            <a:ext cx="2976950" cy="2276483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47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79" name="Google Shape;879;p47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0" name="Google Shape;880;p47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1" name="Google Shape;881;p47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2" name="Google Shape;882;p47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3" name="Google Shape;883;p47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4" name="Google Shape;884;p47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5" name="Google Shape;885;p47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6" name="Google Shape;886;p47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7" name="Google Shape;887;p47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8" name="Google Shape;888;p47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9" name="Google Shape;889;p47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0" name="Google Shape;890;p47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1" name="Google Shape;891;p47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2" name="Google Shape;892;p47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3" name="Google Shape;893;p47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4" name="Google Shape;894;p47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5" name="Google Shape;895;p47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6" name="Google Shape;896;p47"/>
          <p:cNvSpPr/>
          <p:nvPr/>
        </p:nvSpPr>
        <p:spPr>
          <a:xfrm>
            <a:off x="4279900" y="38100"/>
            <a:ext cx="67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7" name="Google Shape;897;p47"/>
          <p:cNvSpPr/>
          <p:nvPr/>
        </p:nvSpPr>
        <p:spPr>
          <a:xfrm>
            <a:off x="4988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8" name="Google Shape;898;p47"/>
          <p:cNvSpPr/>
          <p:nvPr/>
        </p:nvSpPr>
        <p:spPr>
          <a:xfrm>
            <a:off x="5052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9" name="Google Shape;899;p47"/>
          <p:cNvSpPr/>
          <p:nvPr/>
        </p:nvSpPr>
        <p:spPr>
          <a:xfrm>
            <a:off x="5115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0" name="Google Shape;900;p47"/>
          <p:cNvSpPr/>
          <p:nvPr/>
        </p:nvSpPr>
        <p:spPr>
          <a:xfrm>
            <a:off x="5179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1" name="Google Shape;901;p47"/>
          <p:cNvSpPr/>
          <p:nvPr/>
        </p:nvSpPr>
        <p:spPr>
          <a:xfrm>
            <a:off x="524256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2" name="Google Shape;902;p47"/>
          <p:cNvSpPr/>
          <p:nvPr/>
        </p:nvSpPr>
        <p:spPr>
          <a:xfrm>
            <a:off x="5306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3" name="Google Shape;903;p47"/>
          <p:cNvSpPr/>
          <p:nvPr/>
        </p:nvSpPr>
        <p:spPr>
          <a:xfrm>
            <a:off x="5369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4" name="Google Shape;904;p47"/>
          <p:cNvSpPr/>
          <p:nvPr/>
        </p:nvSpPr>
        <p:spPr>
          <a:xfrm>
            <a:off x="558546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5" name="Google Shape;905;p47"/>
          <p:cNvSpPr/>
          <p:nvPr/>
        </p:nvSpPr>
        <p:spPr>
          <a:xfrm>
            <a:off x="611251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6" name="Google Shape;906;p47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20/23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48"/>
          <p:cNvSpPr txBox="1"/>
          <p:nvPr>
            <p:ph type="title"/>
          </p:nvPr>
        </p:nvSpPr>
        <p:spPr>
          <a:xfrm>
            <a:off x="1059174" y="240325"/>
            <a:ext cx="80742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B3A5C"/>
                </a:solidFill>
              </a:rPr>
              <a:t>RG-D </a:t>
            </a:r>
            <a:r>
              <a:rPr lang="en" sz="2500">
                <a:solidFill>
                  <a:srgbClr val="1B3A5C"/>
                </a:solidFill>
              </a:rPr>
              <a:t>CT Study: Very Preliminary Nuclear Transparency </a:t>
            </a:r>
            <a:endParaRPr sz="2500">
              <a:solidFill>
                <a:srgbClr val="1B3A5C"/>
              </a:solidFill>
            </a:endParaRPr>
          </a:p>
        </p:txBody>
      </p:sp>
      <p:sp>
        <p:nvSpPr>
          <p:cNvPr id="912" name="Google Shape;912;p48"/>
          <p:cNvSpPr txBox="1"/>
          <p:nvPr>
            <p:ph idx="1" type="body"/>
          </p:nvPr>
        </p:nvSpPr>
        <p:spPr>
          <a:xfrm>
            <a:off x="0" y="937250"/>
            <a:ext cx="9144000" cy="8556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B3A5C"/>
                </a:solidFill>
              </a:rPr>
              <a:t>Fit oppositely charged pions invariant mass with a Breit-Wigner and 3</a:t>
            </a:r>
            <a:r>
              <a:rPr baseline="30000" lang="en">
                <a:solidFill>
                  <a:srgbClr val="1B3A5C"/>
                </a:solidFill>
              </a:rPr>
              <a:t>rd</a:t>
            </a:r>
            <a:r>
              <a:rPr lang="en">
                <a:solidFill>
                  <a:srgbClr val="1B3A5C"/>
                </a:solidFill>
              </a:rPr>
              <a:t>-order polynomial</a:t>
            </a:r>
            <a:endParaRPr>
              <a:solidFill>
                <a:srgbClr val="1B3A5C"/>
              </a:solidFill>
            </a:endParaRPr>
          </a:p>
          <a:p>
            <a:pPr indent="-147320" lvl="0" marL="18288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1600"/>
              <a:buChar char="-"/>
            </a:pPr>
            <a:r>
              <a:rPr lang="en" sz="1600">
                <a:solidFill>
                  <a:srgbClr val="1B3A5C"/>
                </a:solidFill>
              </a:rPr>
              <a:t>Extract ρ</a:t>
            </a:r>
            <a:r>
              <a:rPr baseline="30000" lang="en" sz="1600">
                <a:solidFill>
                  <a:srgbClr val="1B3A5C"/>
                </a:solidFill>
              </a:rPr>
              <a:t>0</a:t>
            </a:r>
            <a:r>
              <a:rPr lang="en" sz="1600">
                <a:solidFill>
                  <a:srgbClr val="1B3A5C"/>
                </a:solidFill>
              </a:rPr>
              <a:t> yield by integrating the background-subtracted BW</a:t>
            </a:r>
            <a:r>
              <a:rPr lang="en" sz="1600">
                <a:solidFill>
                  <a:srgbClr val="1B3A5C"/>
                </a:solidFill>
              </a:rPr>
              <a:t> within a 3σ range using 10% of the Pass1 reconstruction data</a:t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</p:txBody>
      </p:sp>
      <p:pic>
        <p:nvPicPr>
          <p:cNvPr id="913" name="Google Shape;91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92750"/>
            <a:ext cx="4568307" cy="335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5056" y="1792750"/>
            <a:ext cx="4568258" cy="3350751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48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6" name="Google Shape;916;p48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7" name="Google Shape;917;p48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8" name="Google Shape;918;p48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9" name="Google Shape;919;p48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0" name="Google Shape;920;p48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1" name="Google Shape;921;p48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2" name="Google Shape;922;p48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3" name="Google Shape;923;p48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4" name="Google Shape;924;p48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5" name="Google Shape;925;p48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6" name="Google Shape;926;p48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7" name="Google Shape;927;p48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8" name="Google Shape;928;p48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9" name="Google Shape;929;p48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0" name="Google Shape;930;p48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1" name="Google Shape;931;p48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2" name="Google Shape;932;p48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3" name="Google Shape;933;p48"/>
          <p:cNvSpPr/>
          <p:nvPr/>
        </p:nvSpPr>
        <p:spPr>
          <a:xfrm>
            <a:off x="4279900" y="38100"/>
            <a:ext cx="67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4" name="Google Shape;934;p48"/>
          <p:cNvSpPr/>
          <p:nvPr/>
        </p:nvSpPr>
        <p:spPr>
          <a:xfrm>
            <a:off x="4988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5" name="Google Shape;935;p48"/>
          <p:cNvSpPr/>
          <p:nvPr/>
        </p:nvSpPr>
        <p:spPr>
          <a:xfrm>
            <a:off x="5052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6" name="Google Shape;936;p48"/>
          <p:cNvSpPr/>
          <p:nvPr/>
        </p:nvSpPr>
        <p:spPr>
          <a:xfrm>
            <a:off x="5115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7" name="Google Shape;937;p48"/>
          <p:cNvSpPr/>
          <p:nvPr/>
        </p:nvSpPr>
        <p:spPr>
          <a:xfrm>
            <a:off x="5179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8" name="Google Shape;938;p48"/>
          <p:cNvSpPr/>
          <p:nvPr/>
        </p:nvSpPr>
        <p:spPr>
          <a:xfrm>
            <a:off x="5242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9" name="Google Shape;939;p48"/>
          <p:cNvSpPr/>
          <p:nvPr/>
        </p:nvSpPr>
        <p:spPr>
          <a:xfrm>
            <a:off x="530606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0" name="Google Shape;940;p48"/>
          <p:cNvSpPr/>
          <p:nvPr/>
        </p:nvSpPr>
        <p:spPr>
          <a:xfrm>
            <a:off x="5369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1" name="Google Shape;941;p48"/>
          <p:cNvSpPr/>
          <p:nvPr/>
        </p:nvSpPr>
        <p:spPr>
          <a:xfrm>
            <a:off x="558546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2" name="Google Shape;942;p48"/>
          <p:cNvSpPr/>
          <p:nvPr/>
        </p:nvSpPr>
        <p:spPr>
          <a:xfrm>
            <a:off x="611251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3" name="Google Shape;943;p48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21/23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49"/>
          <p:cNvSpPr txBox="1"/>
          <p:nvPr>
            <p:ph type="title"/>
          </p:nvPr>
        </p:nvSpPr>
        <p:spPr>
          <a:xfrm>
            <a:off x="1059174" y="240325"/>
            <a:ext cx="79911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B3A5C"/>
                </a:solidFill>
              </a:rPr>
              <a:t>RG-D CT Study: Very Preliminary Nuclear Transparency </a:t>
            </a:r>
            <a:endParaRPr sz="2500">
              <a:solidFill>
                <a:srgbClr val="1B3A5C"/>
              </a:solidFill>
            </a:endParaRPr>
          </a:p>
        </p:txBody>
      </p:sp>
      <p:sp>
        <p:nvSpPr>
          <p:cNvPr id="949" name="Google Shape;949;p49"/>
          <p:cNvSpPr txBox="1"/>
          <p:nvPr>
            <p:ph idx="1" type="body"/>
          </p:nvPr>
        </p:nvSpPr>
        <p:spPr>
          <a:xfrm>
            <a:off x="0" y="826006"/>
            <a:ext cx="3906600" cy="40176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3A5C"/>
                </a:solidFill>
              </a:rPr>
              <a:t>Extract (raw) nuclear transparency as currently available Pass1 reconstructed data (around 10% of total)</a:t>
            </a:r>
            <a:endParaRPr sz="20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B3A5C"/>
              </a:solidFill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r</a:t>
            </a:r>
            <a:r>
              <a:rPr baseline="-25000" lang="en" sz="1500">
                <a:solidFill>
                  <a:srgbClr val="1B3A5C"/>
                </a:solidFill>
              </a:rPr>
              <a:t>LD2</a:t>
            </a:r>
            <a:r>
              <a:rPr lang="en" sz="1500">
                <a:solidFill>
                  <a:srgbClr val="1B3A5C"/>
                </a:solidFill>
              </a:rPr>
              <a:t>= 5 cm: LD2 thickness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r</a:t>
            </a:r>
            <a:r>
              <a:rPr baseline="-25000" lang="en" sz="1500">
                <a:solidFill>
                  <a:srgbClr val="1B3A5C"/>
                </a:solidFill>
              </a:rPr>
              <a:t>C</a:t>
            </a:r>
            <a:r>
              <a:rPr lang="en" sz="1500">
                <a:solidFill>
                  <a:srgbClr val="1B3A5C"/>
                </a:solidFill>
              </a:rPr>
              <a:t> = 0.4 cm: CxC thickness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r</a:t>
            </a:r>
            <a:r>
              <a:rPr baseline="-25000" lang="en" sz="1500">
                <a:solidFill>
                  <a:srgbClr val="1B3A5C"/>
                </a:solidFill>
              </a:rPr>
              <a:t>Cu</a:t>
            </a:r>
            <a:r>
              <a:rPr lang="en" sz="1500">
                <a:solidFill>
                  <a:srgbClr val="1B3A5C"/>
                </a:solidFill>
              </a:rPr>
              <a:t>= 93 μm: Copper thickness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r</a:t>
            </a:r>
            <a:r>
              <a:rPr baseline="-25000" lang="en" sz="1500">
                <a:solidFill>
                  <a:srgbClr val="1B3A5C"/>
                </a:solidFill>
              </a:rPr>
              <a:t>Sn</a:t>
            </a:r>
            <a:r>
              <a:rPr lang="en" sz="1500">
                <a:solidFill>
                  <a:srgbClr val="1B3A5C"/>
                </a:solidFill>
              </a:rPr>
              <a:t> = 171 μm: Tin thickness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ρ</a:t>
            </a:r>
            <a:r>
              <a:rPr baseline="-25000" lang="en" sz="1500">
                <a:solidFill>
                  <a:srgbClr val="1B3A5C"/>
                </a:solidFill>
              </a:rPr>
              <a:t>LD2</a:t>
            </a:r>
            <a:r>
              <a:rPr lang="en" sz="1500">
                <a:solidFill>
                  <a:srgbClr val="1B3A5C"/>
                </a:solidFill>
              </a:rPr>
              <a:t>= 0.164 g/cm</a:t>
            </a:r>
            <a:r>
              <a:rPr baseline="30000" lang="en" sz="1500">
                <a:solidFill>
                  <a:srgbClr val="1B3A5C"/>
                </a:solidFill>
              </a:rPr>
              <a:t>3</a:t>
            </a:r>
            <a:r>
              <a:rPr lang="en" sz="1500">
                <a:solidFill>
                  <a:srgbClr val="1B3A5C"/>
                </a:solidFill>
              </a:rPr>
              <a:t>: LD2 density 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ρ</a:t>
            </a:r>
            <a:r>
              <a:rPr baseline="-25000" lang="en" sz="1500">
                <a:solidFill>
                  <a:srgbClr val="1B3A5C"/>
                </a:solidFill>
              </a:rPr>
              <a:t>C</a:t>
            </a:r>
            <a:r>
              <a:rPr lang="en" sz="1500">
                <a:solidFill>
                  <a:srgbClr val="1B3A5C"/>
                </a:solidFill>
              </a:rPr>
              <a:t>= 2.2 g/cm</a:t>
            </a:r>
            <a:r>
              <a:rPr baseline="30000" lang="en" sz="1500">
                <a:solidFill>
                  <a:srgbClr val="1B3A5C"/>
                </a:solidFill>
              </a:rPr>
              <a:t>3</a:t>
            </a:r>
            <a:r>
              <a:rPr lang="en" sz="1500">
                <a:solidFill>
                  <a:srgbClr val="1B3A5C"/>
                </a:solidFill>
              </a:rPr>
              <a:t>: Carbon density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ρ</a:t>
            </a:r>
            <a:r>
              <a:rPr baseline="-25000" lang="en" sz="1500">
                <a:solidFill>
                  <a:srgbClr val="1B3A5C"/>
                </a:solidFill>
              </a:rPr>
              <a:t>Cu</a:t>
            </a:r>
            <a:r>
              <a:rPr lang="en" sz="1500">
                <a:solidFill>
                  <a:srgbClr val="1B3A5C"/>
                </a:solidFill>
              </a:rPr>
              <a:t>= 8.96 g/cm</a:t>
            </a:r>
            <a:r>
              <a:rPr baseline="30000" lang="en" sz="1500">
                <a:solidFill>
                  <a:srgbClr val="1B3A5C"/>
                </a:solidFill>
              </a:rPr>
              <a:t>3</a:t>
            </a:r>
            <a:r>
              <a:rPr lang="en" sz="1500">
                <a:solidFill>
                  <a:srgbClr val="1B3A5C"/>
                </a:solidFill>
              </a:rPr>
              <a:t>: Copper density 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ρ</a:t>
            </a:r>
            <a:r>
              <a:rPr baseline="-25000" lang="en" sz="1500">
                <a:solidFill>
                  <a:srgbClr val="1B3A5C"/>
                </a:solidFill>
              </a:rPr>
              <a:t>Sn</a:t>
            </a:r>
            <a:r>
              <a:rPr lang="en" sz="1500">
                <a:solidFill>
                  <a:srgbClr val="1B3A5C"/>
                </a:solidFill>
              </a:rPr>
              <a:t>= 7.31 g/cm</a:t>
            </a:r>
            <a:r>
              <a:rPr baseline="30000" lang="en" sz="1500">
                <a:solidFill>
                  <a:srgbClr val="1B3A5C"/>
                </a:solidFill>
              </a:rPr>
              <a:t>3</a:t>
            </a:r>
            <a:r>
              <a:rPr lang="en" sz="1500">
                <a:solidFill>
                  <a:srgbClr val="1B3A5C"/>
                </a:solidFill>
              </a:rPr>
              <a:t>: Tin density</a:t>
            </a:r>
            <a:endParaRPr sz="15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</p:txBody>
      </p:sp>
      <p:pic>
        <p:nvPicPr>
          <p:cNvPr id="950" name="Google Shape;950;p49"/>
          <p:cNvPicPr preferRelativeResize="0"/>
          <p:nvPr/>
        </p:nvPicPr>
        <p:blipFill rotWithShape="1">
          <a:blip r:embed="rId3">
            <a:alphaModFix/>
          </a:blip>
          <a:srcRect b="0" l="0" r="0" t="833"/>
          <a:stretch/>
        </p:blipFill>
        <p:spPr>
          <a:xfrm>
            <a:off x="3906600" y="858720"/>
            <a:ext cx="5206577" cy="381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49" title="{&quot;red&quot;:0,&quot;green&quot;:0,&quot;blue&quot;:0,&quot;origURL&quot;:&quot;https://www.codecogs.com/eqnedit.php?latex=T_A%3D%5Cfrac%7BN_%7B%5Crho%5E0%7D%5EA%7D%7BN_%7B%5Crho%5E0%7D%5E%7BL%20D%202%7D%7D%20%5Cfrac%7Br_%7BL%20D%202%7D%20%5Crho_%7BL%20D%202%7D%7D%7Br_A%20%5Crho_A%7D%20%5Cfrac%7BQ_%7BLD2%7D%7D%7BQ_A%7D#0&quot;,&quot;size&quot;:14,&quot;width&quot;:236.50393700787404,&quot;height&quot;:97.91338582677166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300" y="2150750"/>
            <a:ext cx="3409598" cy="841989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49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3" name="Google Shape;953;p49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4" name="Google Shape;954;p49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5" name="Google Shape;955;p49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6" name="Google Shape;956;p49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7" name="Google Shape;957;p49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8" name="Google Shape;958;p49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9" name="Google Shape;959;p49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0" name="Google Shape;960;p49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1" name="Google Shape;961;p49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2" name="Google Shape;962;p49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3" name="Google Shape;963;p49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4" name="Google Shape;964;p49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5" name="Google Shape;965;p49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6" name="Google Shape;966;p49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7" name="Google Shape;967;p49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8" name="Google Shape;968;p49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9" name="Google Shape;969;p49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0" name="Google Shape;970;p49"/>
          <p:cNvSpPr/>
          <p:nvPr/>
        </p:nvSpPr>
        <p:spPr>
          <a:xfrm>
            <a:off x="4279900" y="38100"/>
            <a:ext cx="67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1" name="Google Shape;971;p49"/>
          <p:cNvSpPr/>
          <p:nvPr/>
        </p:nvSpPr>
        <p:spPr>
          <a:xfrm>
            <a:off x="4988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2" name="Google Shape;972;p49"/>
          <p:cNvSpPr/>
          <p:nvPr/>
        </p:nvSpPr>
        <p:spPr>
          <a:xfrm>
            <a:off x="5052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3" name="Google Shape;973;p49"/>
          <p:cNvSpPr/>
          <p:nvPr/>
        </p:nvSpPr>
        <p:spPr>
          <a:xfrm>
            <a:off x="5115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4" name="Google Shape;974;p49"/>
          <p:cNvSpPr/>
          <p:nvPr/>
        </p:nvSpPr>
        <p:spPr>
          <a:xfrm>
            <a:off x="5179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5" name="Google Shape;975;p49"/>
          <p:cNvSpPr/>
          <p:nvPr/>
        </p:nvSpPr>
        <p:spPr>
          <a:xfrm>
            <a:off x="52425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6" name="Google Shape;976;p49"/>
          <p:cNvSpPr/>
          <p:nvPr/>
        </p:nvSpPr>
        <p:spPr>
          <a:xfrm>
            <a:off x="53060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7" name="Google Shape;977;p49"/>
          <p:cNvSpPr/>
          <p:nvPr/>
        </p:nvSpPr>
        <p:spPr>
          <a:xfrm>
            <a:off x="536956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8" name="Google Shape;978;p49"/>
          <p:cNvSpPr/>
          <p:nvPr/>
        </p:nvSpPr>
        <p:spPr>
          <a:xfrm>
            <a:off x="558546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9" name="Google Shape;979;p49"/>
          <p:cNvSpPr/>
          <p:nvPr/>
        </p:nvSpPr>
        <p:spPr>
          <a:xfrm>
            <a:off x="611251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80" name="Google Shape;980;p49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22/23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50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B3A5C"/>
                </a:solidFill>
              </a:rPr>
              <a:t>Summary and Outlook</a:t>
            </a:r>
            <a:endParaRPr sz="3200">
              <a:solidFill>
                <a:srgbClr val="1B3A5C"/>
              </a:solidFill>
            </a:endParaRPr>
          </a:p>
        </p:txBody>
      </p:sp>
      <p:sp>
        <p:nvSpPr>
          <p:cNvPr id="986" name="Google Shape;986;p50"/>
          <p:cNvSpPr txBox="1"/>
          <p:nvPr>
            <p:ph idx="1" type="body"/>
          </p:nvPr>
        </p:nvSpPr>
        <p:spPr>
          <a:xfrm>
            <a:off x="42150" y="937250"/>
            <a:ext cx="90342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000"/>
              <a:buFont typeface="Fira Sans"/>
              <a:buChar char="•"/>
            </a:pPr>
            <a:r>
              <a:rPr lang="en" sz="2000">
                <a:solidFill>
                  <a:srgbClr val="00315F"/>
                </a:solidFill>
                <a:latin typeface="Fira Sans"/>
                <a:ea typeface="Fira Sans"/>
                <a:cs typeface="Fira Sans"/>
                <a:sym typeface="Fira Sans"/>
              </a:rPr>
              <a:t>RG-D has passed the Pass1 review, and the cooking is done</a:t>
            </a:r>
            <a:endParaRPr sz="2000">
              <a:solidFill>
                <a:srgbClr val="00315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600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Thanks to everyone who help us </a:t>
            </a:r>
            <a:endParaRPr sz="1800">
              <a:solidFill>
                <a:srgbClr val="00315F"/>
              </a:solidFill>
            </a:endParaRPr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15F"/>
              </a:solidFill>
            </a:endParaRPr>
          </a:p>
          <a:p>
            <a:pPr indent="-1727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000"/>
              <a:buFont typeface="Fira Sans"/>
              <a:buChar char="•"/>
            </a:pPr>
            <a:r>
              <a:rPr lang="en" sz="2000">
                <a:solidFill>
                  <a:srgbClr val="00315F"/>
                </a:solidFill>
                <a:latin typeface="Fira Sans"/>
                <a:ea typeface="Fira Sans"/>
                <a:cs typeface="Fira Sans"/>
                <a:sym typeface="Fira Sans"/>
              </a:rPr>
              <a:t>Optimizing analysis tools for CT and nTMDs studies to</a:t>
            </a:r>
            <a:endParaRPr sz="2000">
              <a:solidFill>
                <a:srgbClr val="00315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600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Study the hadron/electron contamination in pion sample</a:t>
            </a:r>
            <a:endParaRPr sz="1800">
              <a:solidFill>
                <a:srgbClr val="00315F"/>
              </a:solidFill>
            </a:endParaRPr>
          </a:p>
          <a:p>
            <a:pPr indent="-1600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Continue to develop the correction contamination with the CuSn target</a:t>
            </a:r>
            <a:endParaRPr sz="1800">
              <a:solidFill>
                <a:srgbClr val="00315F"/>
              </a:solidFill>
            </a:endParaRPr>
          </a:p>
          <a:p>
            <a:pPr indent="-1600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Deploy the ρ</a:t>
            </a:r>
            <a:r>
              <a:rPr baseline="30000" lang="en" sz="1800">
                <a:solidFill>
                  <a:srgbClr val="00315F"/>
                </a:solidFill>
              </a:rPr>
              <a:t>0</a:t>
            </a:r>
            <a:r>
              <a:rPr lang="en" sz="1800">
                <a:solidFill>
                  <a:srgbClr val="00315F"/>
                </a:solidFill>
              </a:rPr>
              <a:t> event generator for the two-pion invariant mass background subtraction and apply necessary corrections for the extraction of the preliminary CT results</a:t>
            </a:r>
            <a:endParaRPr sz="1800">
              <a:solidFill>
                <a:srgbClr val="00315F"/>
              </a:solidFill>
            </a:endParaRPr>
          </a:p>
          <a:p>
            <a:pPr indent="-1600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Implement radiative </a:t>
            </a:r>
            <a:r>
              <a:rPr lang="en" sz="1800">
                <a:solidFill>
                  <a:srgbClr val="00315F"/>
                </a:solidFill>
              </a:rPr>
              <a:t>and acceptance</a:t>
            </a:r>
            <a:r>
              <a:rPr lang="en" sz="1800">
                <a:solidFill>
                  <a:srgbClr val="00315F"/>
                </a:solidFill>
              </a:rPr>
              <a:t> correction for the nuclear transparency</a:t>
            </a:r>
            <a:endParaRPr sz="1800">
              <a:solidFill>
                <a:srgbClr val="00315F"/>
              </a:solidFill>
            </a:endParaRPr>
          </a:p>
          <a:p>
            <a:pPr indent="-1600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Extract azithumal asymmetry, multiplicity ratio and pT broadening results for </a:t>
            </a:r>
            <a:r>
              <a:rPr lang="en" sz="1800">
                <a:solidFill>
                  <a:srgbClr val="00315F"/>
                </a:solidFill>
              </a:rPr>
              <a:t>π</a:t>
            </a:r>
            <a:r>
              <a:rPr baseline="30000" lang="en" sz="1800">
                <a:solidFill>
                  <a:srgbClr val="00315F"/>
                </a:solidFill>
              </a:rPr>
              <a:t>0</a:t>
            </a:r>
            <a:endParaRPr sz="1800">
              <a:solidFill>
                <a:srgbClr val="00315F"/>
              </a:solidFill>
            </a:endParaRPr>
          </a:p>
          <a:p>
            <a:pPr indent="-1600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Obtain the preliminary asymmetry results for charged pions nTMDs studies</a:t>
            </a:r>
            <a:endParaRPr sz="1800">
              <a:solidFill>
                <a:srgbClr val="00315F"/>
              </a:solidFill>
            </a:endParaRPr>
          </a:p>
        </p:txBody>
      </p:sp>
      <p:sp>
        <p:nvSpPr>
          <p:cNvPr id="987" name="Google Shape;987;p50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88" name="Google Shape;988;p50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89" name="Google Shape;989;p50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0" name="Google Shape;990;p50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1" name="Google Shape;991;p50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2" name="Google Shape;992;p50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3" name="Google Shape;993;p50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4" name="Google Shape;994;p50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5" name="Google Shape;995;p50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6" name="Google Shape;996;p50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7" name="Google Shape;997;p50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8" name="Google Shape;998;p50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9" name="Google Shape;999;p50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0" name="Google Shape;1000;p50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1" name="Google Shape;1001;p50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2" name="Google Shape;1002;p50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3" name="Google Shape;1003;p50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4" name="Google Shape;1004;p50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5" name="Google Shape;1005;p50"/>
          <p:cNvSpPr/>
          <p:nvPr/>
        </p:nvSpPr>
        <p:spPr>
          <a:xfrm>
            <a:off x="42799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6" name="Google Shape;1006;p50"/>
          <p:cNvSpPr/>
          <p:nvPr/>
        </p:nvSpPr>
        <p:spPr>
          <a:xfrm>
            <a:off x="487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7" name="Google Shape;1007;p50"/>
          <p:cNvSpPr/>
          <p:nvPr/>
        </p:nvSpPr>
        <p:spPr>
          <a:xfrm>
            <a:off x="494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8" name="Google Shape;1008;p50"/>
          <p:cNvSpPr/>
          <p:nvPr/>
        </p:nvSpPr>
        <p:spPr>
          <a:xfrm>
            <a:off x="5003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9" name="Google Shape;1009;p50"/>
          <p:cNvSpPr/>
          <p:nvPr/>
        </p:nvSpPr>
        <p:spPr>
          <a:xfrm>
            <a:off x="5067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0" name="Google Shape;1010;p50"/>
          <p:cNvSpPr/>
          <p:nvPr/>
        </p:nvSpPr>
        <p:spPr>
          <a:xfrm>
            <a:off x="5130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1" name="Google Shape;1011;p50"/>
          <p:cNvSpPr/>
          <p:nvPr/>
        </p:nvSpPr>
        <p:spPr>
          <a:xfrm>
            <a:off x="5194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2" name="Google Shape;1012;p50"/>
          <p:cNvSpPr/>
          <p:nvPr/>
        </p:nvSpPr>
        <p:spPr>
          <a:xfrm>
            <a:off x="5257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3" name="Google Shape;1013;p50"/>
          <p:cNvSpPr/>
          <p:nvPr/>
        </p:nvSpPr>
        <p:spPr>
          <a:xfrm>
            <a:off x="5473700" y="38100"/>
            <a:ext cx="586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4" name="Google Shape;1014;p50"/>
          <p:cNvSpPr/>
          <p:nvPr/>
        </p:nvSpPr>
        <p:spPr>
          <a:xfrm>
            <a:off x="60985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5" name="Google Shape;1015;p50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23/23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51"/>
          <p:cNvSpPr txBox="1"/>
          <p:nvPr>
            <p:ph type="title"/>
          </p:nvPr>
        </p:nvSpPr>
        <p:spPr>
          <a:xfrm>
            <a:off x="685788" y="1806601"/>
            <a:ext cx="7772400" cy="1021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3162"/>
                </a:solidFill>
              </a:rPr>
              <a:t>Backup slides</a:t>
            </a:r>
            <a:endParaRPr sz="4000">
              <a:solidFill>
                <a:srgbClr val="003162"/>
              </a:solidFill>
            </a:endParaRPr>
          </a:p>
        </p:txBody>
      </p:sp>
      <p:sp>
        <p:nvSpPr>
          <p:cNvPr id="1021" name="Google Shape;1021;p51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22" name="Google Shape;1022;p51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23" name="Google Shape;1023;p51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24" name="Google Shape;1024;p51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25" name="Google Shape;1025;p51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26" name="Google Shape;1026;p51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27" name="Google Shape;1027;p51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28" name="Google Shape;1028;p51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29" name="Google Shape;1029;p51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0" name="Google Shape;1030;p51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1" name="Google Shape;1031;p51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2" name="Google Shape;1032;p51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3" name="Google Shape;1033;p51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4" name="Google Shape;1034;p51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5" name="Google Shape;1035;p51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6" name="Google Shape;1036;p51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7" name="Google Shape;1037;p51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8" name="Google Shape;1038;p51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9" name="Google Shape;1039;p51"/>
          <p:cNvSpPr/>
          <p:nvPr/>
        </p:nvSpPr>
        <p:spPr>
          <a:xfrm>
            <a:off x="42799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0" name="Google Shape;1040;p51"/>
          <p:cNvSpPr/>
          <p:nvPr/>
        </p:nvSpPr>
        <p:spPr>
          <a:xfrm>
            <a:off x="487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1" name="Google Shape;1041;p51"/>
          <p:cNvSpPr/>
          <p:nvPr/>
        </p:nvSpPr>
        <p:spPr>
          <a:xfrm>
            <a:off x="494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2" name="Google Shape;1042;p51"/>
          <p:cNvSpPr/>
          <p:nvPr/>
        </p:nvSpPr>
        <p:spPr>
          <a:xfrm>
            <a:off x="5003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3" name="Google Shape;1043;p51"/>
          <p:cNvSpPr/>
          <p:nvPr/>
        </p:nvSpPr>
        <p:spPr>
          <a:xfrm>
            <a:off x="5067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4" name="Google Shape;1044;p51"/>
          <p:cNvSpPr/>
          <p:nvPr/>
        </p:nvSpPr>
        <p:spPr>
          <a:xfrm>
            <a:off x="5130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5" name="Google Shape;1045;p51"/>
          <p:cNvSpPr/>
          <p:nvPr/>
        </p:nvSpPr>
        <p:spPr>
          <a:xfrm>
            <a:off x="5194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6" name="Google Shape;1046;p51"/>
          <p:cNvSpPr/>
          <p:nvPr/>
        </p:nvSpPr>
        <p:spPr>
          <a:xfrm>
            <a:off x="5257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7" name="Google Shape;1047;p51"/>
          <p:cNvSpPr/>
          <p:nvPr/>
        </p:nvSpPr>
        <p:spPr>
          <a:xfrm>
            <a:off x="54737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8" name="Google Shape;1048;p51"/>
          <p:cNvSpPr/>
          <p:nvPr/>
        </p:nvSpPr>
        <p:spPr>
          <a:xfrm>
            <a:off x="60007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9" name="Google Shape;1049;p51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Backup</a:t>
            </a:r>
            <a:endParaRPr sz="95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52"/>
          <p:cNvSpPr txBox="1"/>
          <p:nvPr>
            <p:ph type="title"/>
          </p:nvPr>
        </p:nvSpPr>
        <p:spPr>
          <a:xfrm>
            <a:off x="1059174" y="240325"/>
            <a:ext cx="80721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 Particle IDentification: Pions Fiducial</a:t>
            </a:r>
            <a:endParaRPr sz="3200"/>
          </a:p>
        </p:txBody>
      </p:sp>
      <p:sp>
        <p:nvSpPr>
          <p:cNvPr id="1055" name="Google Shape;1055;p52"/>
          <p:cNvSpPr txBox="1"/>
          <p:nvPr>
            <p:ph idx="1" type="body"/>
          </p:nvPr>
        </p:nvSpPr>
        <p:spPr>
          <a:xfrm>
            <a:off x="42150" y="937250"/>
            <a:ext cx="34821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/>
              <a:t>The goal is to remove tracks near the drift chamber edges where tracking quality degrades</a:t>
            </a:r>
            <a:endParaRPr sz="1300"/>
          </a:p>
          <a:p>
            <a:pPr indent="-115570" lvl="0" marL="182880" rtl="0" algn="l">
              <a:spcBef>
                <a:spcPts val="40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profile the chi2/ndf of the track fit as a function of distance from the DC edge</a:t>
            </a:r>
            <a:endParaRPr sz="1100"/>
          </a:p>
          <a:p>
            <a:pPr indent="-11557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Near the edge: chi2/ndf fluctuates due to poor tracking resolution</a:t>
            </a:r>
            <a:endParaRPr sz="1100"/>
          </a:p>
          <a:p>
            <a:pPr indent="-11557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Far from the edge: chi2/ndf is stable (good tracking)</a:t>
            </a:r>
            <a:endParaRPr sz="1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/>
              <a:t>To find the transition between these two regimes automatically:</a:t>
            </a:r>
            <a:endParaRPr sz="1300"/>
          </a:p>
          <a:p>
            <a:pPr indent="-115570" lvl="0" marL="182880" rtl="0" algn="l">
              <a:spcBef>
                <a:spcPts val="40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Compute a moving variance of the chi2/ndf profile using a sliding window of 5 bins </a:t>
            </a:r>
            <a:endParaRPr sz="1100"/>
          </a:p>
          <a:p>
            <a:pPr indent="-11557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Scan from right to left (from the stable region toward the edge)</a:t>
            </a:r>
            <a:endParaRPr sz="1100"/>
          </a:p>
          <a:p>
            <a:pPr indent="-11557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The first bin where the variance exceeds a threshold (0.05) marks the boundary — this is the cut position</a:t>
            </a:r>
            <a:endParaRPr sz="1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/>
              <a:t>Tracks closer to the edge than the cut position are rejected; tracks beyond are kept</a:t>
            </a:r>
            <a:endParaRPr sz="1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/>
              <a:t>The method is applied independently for each target, pion charge, and DC region (R1, R2, R3)</a:t>
            </a:r>
            <a:endParaRPr sz="1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1056" name="Google Shape;105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200" y="1204774"/>
            <a:ext cx="5607025" cy="3063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52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58" name="Google Shape;1058;p52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59" name="Google Shape;1059;p52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0" name="Google Shape;1060;p52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1" name="Google Shape;1061;p52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2" name="Google Shape;1062;p52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3" name="Google Shape;1063;p52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4" name="Google Shape;1064;p52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5" name="Google Shape;1065;p52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6" name="Google Shape;1066;p52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7" name="Google Shape;1067;p52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8" name="Google Shape;1068;p52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9" name="Google Shape;1069;p52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0" name="Google Shape;1070;p52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1" name="Google Shape;1071;p52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2" name="Google Shape;1072;p52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3" name="Google Shape;1073;p52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4" name="Google Shape;1074;p52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5" name="Google Shape;1075;p52"/>
          <p:cNvSpPr/>
          <p:nvPr/>
        </p:nvSpPr>
        <p:spPr>
          <a:xfrm>
            <a:off x="42799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6" name="Google Shape;1076;p52"/>
          <p:cNvSpPr/>
          <p:nvPr/>
        </p:nvSpPr>
        <p:spPr>
          <a:xfrm>
            <a:off x="487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7" name="Google Shape;1077;p52"/>
          <p:cNvSpPr/>
          <p:nvPr/>
        </p:nvSpPr>
        <p:spPr>
          <a:xfrm>
            <a:off x="494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8" name="Google Shape;1078;p52"/>
          <p:cNvSpPr/>
          <p:nvPr/>
        </p:nvSpPr>
        <p:spPr>
          <a:xfrm>
            <a:off x="5003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9" name="Google Shape;1079;p52"/>
          <p:cNvSpPr/>
          <p:nvPr/>
        </p:nvSpPr>
        <p:spPr>
          <a:xfrm>
            <a:off x="5067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80" name="Google Shape;1080;p52"/>
          <p:cNvSpPr/>
          <p:nvPr/>
        </p:nvSpPr>
        <p:spPr>
          <a:xfrm>
            <a:off x="5130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81" name="Google Shape;1081;p52"/>
          <p:cNvSpPr/>
          <p:nvPr/>
        </p:nvSpPr>
        <p:spPr>
          <a:xfrm>
            <a:off x="5194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82" name="Google Shape;1082;p52"/>
          <p:cNvSpPr/>
          <p:nvPr/>
        </p:nvSpPr>
        <p:spPr>
          <a:xfrm>
            <a:off x="5257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83" name="Google Shape;1083;p52"/>
          <p:cNvSpPr/>
          <p:nvPr/>
        </p:nvSpPr>
        <p:spPr>
          <a:xfrm>
            <a:off x="54737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84" name="Google Shape;1084;p52"/>
          <p:cNvSpPr/>
          <p:nvPr/>
        </p:nvSpPr>
        <p:spPr>
          <a:xfrm>
            <a:off x="60007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85" name="Google Shape;1085;p52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Backup</a:t>
            </a:r>
            <a:endParaRPr sz="95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53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 Particle IDentification: Pions</a:t>
            </a:r>
            <a:endParaRPr sz="3200"/>
          </a:p>
        </p:txBody>
      </p:sp>
      <p:sp>
        <p:nvSpPr>
          <p:cNvPr id="1091" name="Google Shape;1091;p53"/>
          <p:cNvSpPr txBox="1"/>
          <p:nvPr>
            <p:ph idx="1" type="body"/>
          </p:nvPr>
        </p:nvSpPr>
        <p:spPr>
          <a:xfrm>
            <a:off x="42150" y="937250"/>
            <a:ext cx="30588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The pion identification is very important for RG-D analyses (both CT and TMDs)</a:t>
            </a:r>
            <a:endParaRPr/>
          </a:p>
          <a:p>
            <a:pPr indent="-147320" lvl="0" marL="182880" rtl="0" algn="l">
              <a:spcBef>
                <a:spcPts val="4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Also look into the pions detected in the central detector (CD)</a:t>
            </a:r>
            <a:endParaRPr sz="1600"/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π</a:t>
            </a:r>
            <a:r>
              <a:rPr baseline="30000" lang="en" sz="1600"/>
              <a:t>+</a:t>
            </a:r>
            <a:r>
              <a:rPr lang="en" sz="1600"/>
              <a:t>: Central 46.2%, Forward 53.8%</a:t>
            </a:r>
            <a:endParaRPr sz="1600"/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π</a:t>
            </a:r>
            <a:r>
              <a:rPr baseline="30000" lang="en" sz="1600"/>
              <a:t>-</a:t>
            </a:r>
            <a:r>
              <a:rPr lang="en" sz="1600"/>
              <a:t>: Central 30.5%, Forward 69.5%</a:t>
            </a:r>
            <a:endParaRPr sz="1600"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SzPts val="1600"/>
              <a:buFont typeface="Fira Sans Medium"/>
              <a:buChar char="-"/>
            </a:pPr>
            <a:r>
              <a:rPr lang="en" sz="1600">
                <a:latin typeface="Fira Sans Medium"/>
                <a:ea typeface="Fira Sans Medium"/>
                <a:cs typeface="Fira Sans Medium"/>
                <a:sym typeface="Fira Sans Medium"/>
              </a:rPr>
              <a:t>Between a third and half of the statistic is in the central</a:t>
            </a:r>
            <a:endParaRPr sz="1600"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Worse β and chi2pid in the central</a:t>
            </a:r>
            <a:endParaRPr sz="1600"/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 central pions don’t have any cuts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092" name="Google Shape;109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8050" y="764349"/>
            <a:ext cx="5939149" cy="41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53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4" name="Google Shape;1094;p53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5" name="Google Shape;1095;p53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6" name="Google Shape;1096;p53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7" name="Google Shape;1097;p53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8" name="Google Shape;1098;p53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9" name="Google Shape;1099;p53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0" name="Google Shape;1100;p53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1" name="Google Shape;1101;p53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2" name="Google Shape;1102;p53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3" name="Google Shape;1103;p53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4" name="Google Shape;1104;p53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5" name="Google Shape;1105;p53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6" name="Google Shape;1106;p53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7" name="Google Shape;1107;p53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8" name="Google Shape;1108;p53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9" name="Google Shape;1109;p53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10" name="Google Shape;1110;p53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11" name="Google Shape;1111;p53"/>
          <p:cNvSpPr/>
          <p:nvPr/>
        </p:nvSpPr>
        <p:spPr>
          <a:xfrm>
            <a:off x="42799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12" name="Google Shape;1112;p53"/>
          <p:cNvSpPr/>
          <p:nvPr/>
        </p:nvSpPr>
        <p:spPr>
          <a:xfrm>
            <a:off x="487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13" name="Google Shape;1113;p53"/>
          <p:cNvSpPr/>
          <p:nvPr/>
        </p:nvSpPr>
        <p:spPr>
          <a:xfrm>
            <a:off x="494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14" name="Google Shape;1114;p53"/>
          <p:cNvSpPr/>
          <p:nvPr/>
        </p:nvSpPr>
        <p:spPr>
          <a:xfrm>
            <a:off x="5003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15" name="Google Shape;1115;p53"/>
          <p:cNvSpPr/>
          <p:nvPr/>
        </p:nvSpPr>
        <p:spPr>
          <a:xfrm>
            <a:off x="5067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16" name="Google Shape;1116;p53"/>
          <p:cNvSpPr/>
          <p:nvPr/>
        </p:nvSpPr>
        <p:spPr>
          <a:xfrm>
            <a:off x="5130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17" name="Google Shape;1117;p53"/>
          <p:cNvSpPr/>
          <p:nvPr/>
        </p:nvSpPr>
        <p:spPr>
          <a:xfrm>
            <a:off x="5194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18" name="Google Shape;1118;p53"/>
          <p:cNvSpPr/>
          <p:nvPr/>
        </p:nvSpPr>
        <p:spPr>
          <a:xfrm>
            <a:off x="5257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19" name="Google Shape;1119;p53"/>
          <p:cNvSpPr/>
          <p:nvPr/>
        </p:nvSpPr>
        <p:spPr>
          <a:xfrm>
            <a:off x="54737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20" name="Google Shape;1120;p53"/>
          <p:cNvSpPr/>
          <p:nvPr/>
        </p:nvSpPr>
        <p:spPr>
          <a:xfrm>
            <a:off x="60007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21" name="Google Shape;1121;p53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Backup</a:t>
            </a:r>
            <a:endParaRPr sz="95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54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 Particle IDentification: Pions</a:t>
            </a:r>
            <a:endParaRPr sz="3200"/>
          </a:p>
        </p:txBody>
      </p:sp>
      <p:sp>
        <p:nvSpPr>
          <p:cNvPr id="1127" name="Google Shape;1127;p54"/>
          <p:cNvSpPr txBox="1"/>
          <p:nvPr>
            <p:ph idx="1" type="body"/>
          </p:nvPr>
        </p:nvSpPr>
        <p:spPr>
          <a:xfrm>
            <a:off x="42150" y="937250"/>
            <a:ext cx="86448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The pion identification is very important for RG-D analyses (both CT and TMDs)</a:t>
            </a:r>
            <a:endParaRPr/>
          </a:p>
          <a:p>
            <a:pPr indent="-147320" lvl="0" marL="182880" rtl="0" algn="l">
              <a:spcBef>
                <a:spcPts val="4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Also look into invariant mass for the pions detected in the central detector (CD)</a:t>
            </a:r>
            <a:endParaRPr sz="1600"/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After applying cuts: z</a:t>
            </a:r>
            <a:r>
              <a:rPr baseline="-25000" lang="en" sz="1600"/>
              <a:t>h </a:t>
            </a:r>
            <a:r>
              <a:rPr lang="en" sz="1600"/>
              <a:t>&gt; 0.9, 0.1 &lt; -t &lt; 0.5 GeV</a:t>
            </a:r>
            <a:r>
              <a:rPr baseline="30000" lang="en" sz="1600"/>
              <a:t>2</a:t>
            </a:r>
            <a:r>
              <a:rPr lang="en" sz="1600"/>
              <a:t>, l</a:t>
            </a:r>
            <a:r>
              <a:rPr baseline="-25000" lang="en" sz="1600"/>
              <a:t>c</a:t>
            </a:r>
            <a:r>
              <a:rPr lang="en" sz="1600"/>
              <a:t>&lt; 1 fm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128" name="Google Shape;112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63" y="1934600"/>
            <a:ext cx="7885476" cy="287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54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30" name="Google Shape;1130;p54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31" name="Google Shape;1131;p54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32" name="Google Shape;1132;p54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33" name="Google Shape;1133;p54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34" name="Google Shape;1134;p54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35" name="Google Shape;1135;p54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36" name="Google Shape;1136;p54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37" name="Google Shape;1137;p54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38" name="Google Shape;1138;p54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39" name="Google Shape;1139;p54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40" name="Google Shape;1140;p54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41" name="Google Shape;1141;p54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42" name="Google Shape;1142;p54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43" name="Google Shape;1143;p54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44" name="Google Shape;1144;p54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45" name="Google Shape;1145;p54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46" name="Google Shape;1146;p54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47" name="Google Shape;1147;p54"/>
          <p:cNvSpPr/>
          <p:nvPr/>
        </p:nvSpPr>
        <p:spPr>
          <a:xfrm>
            <a:off x="42799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48" name="Google Shape;1148;p54"/>
          <p:cNvSpPr/>
          <p:nvPr/>
        </p:nvSpPr>
        <p:spPr>
          <a:xfrm>
            <a:off x="487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49" name="Google Shape;1149;p54"/>
          <p:cNvSpPr/>
          <p:nvPr/>
        </p:nvSpPr>
        <p:spPr>
          <a:xfrm>
            <a:off x="494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0" name="Google Shape;1150;p54"/>
          <p:cNvSpPr/>
          <p:nvPr/>
        </p:nvSpPr>
        <p:spPr>
          <a:xfrm>
            <a:off x="5003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1" name="Google Shape;1151;p54"/>
          <p:cNvSpPr/>
          <p:nvPr/>
        </p:nvSpPr>
        <p:spPr>
          <a:xfrm>
            <a:off x="5067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2" name="Google Shape;1152;p54"/>
          <p:cNvSpPr/>
          <p:nvPr/>
        </p:nvSpPr>
        <p:spPr>
          <a:xfrm>
            <a:off x="5130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3" name="Google Shape;1153;p54"/>
          <p:cNvSpPr/>
          <p:nvPr/>
        </p:nvSpPr>
        <p:spPr>
          <a:xfrm>
            <a:off x="5194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4" name="Google Shape;1154;p54"/>
          <p:cNvSpPr/>
          <p:nvPr/>
        </p:nvSpPr>
        <p:spPr>
          <a:xfrm>
            <a:off x="5257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5" name="Google Shape;1155;p54"/>
          <p:cNvSpPr/>
          <p:nvPr/>
        </p:nvSpPr>
        <p:spPr>
          <a:xfrm>
            <a:off x="54737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6" name="Google Shape;1156;p54"/>
          <p:cNvSpPr/>
          <p:nvPr/>
        </p:nvSpPr>
        <p:spPr>
          <a:xfrm>
            <a:off x="60007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7" name="Google Shape;1157;p54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Backup</a:t>
            </a:r>
            <a:endParaRPr sz="95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5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Electron Vertex Study </a:t>
            </a:r>
            <a:endParaRPr sz="2900"/>
          </a:p>
        </p:txBody>
      </p:sp>
      <p:sp>
        <p:nvSpPr>
          <p:cNvPr id="1163" name="Google Shape;1163;p55"/>
          <p:cNvSpPr txBox="1"/>
          <p:nvPr>
            <p:ph idx="1" type="body"/>
          </p:nvPr>
        </p:nvSpPr>
        <p:spPr>
          <a:xfrm>
            <a:off x="0" y="905125"/>
            <a:ext cx="9144000" cy="4632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Effect of the correction: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4" name="Google Shape;116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00" y="1278050"/>
            <a:ext cx="9057477" cy="2834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55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66" name="Google Shape;1166;p55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67" name="Google Shape;1167;p55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68" name="Google Shape;1168;p55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69" name="Google Shape;1169;p55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0" name="Google Shape;1170;p55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1" name="Google Shape;1171;p55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2" name="Google Shape;1172;p55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3" name="Google Shape;1173;p55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4" name="Google Shape;1174;p55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5" name="Google Shape;1175;p55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6" name="Google Shape;1176;p55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7" name="Google Shape;1177;p55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8" name="Google Shape;1178;p55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9" name="Google Shape;1179;p55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80" name="Google Shape;1180;p55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81" name="Google Shape;1181;p55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82" name="Google Shape;1182;p55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83" name="Google Shape;1183;p55"/>
          <p:cNvSpPr/>
          <p:nvPr/>
        </p:nvSpPr>
        <p:spPr>
          <a:xfrm>
            <a:off x="42799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84" name="Google Shape;1184;p55"/>
          <p:cNvSpPr/>
          <p:nvPr/>
        </p:nvSpPr>
        <p:spPr>
          <a:xfrm>
            <a:off x="487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85" name="Google Shape;1185;p55"/>
          <p:cNvSpPr/>
          <p:nvPr/>
        </p:nvSpPr>
        <p:spPr>
          <a:xfrm>
            <a:off x="494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86" name="Google Shape;1186;p55"/>
          <p:cNvSpPr/>
          <p:nvPr/>
        </p:nvSpPr>
        <p:spPr>
          <a:xfrm>
            <a:off x="5003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87" name="Google Shape;1187;p55"/>
          <p:cNvSpPr/>
          <p:nvPr/>
        </p:nvSpPr>
        <p:spPr>
          <a:xfrm>
            <a:off x="5067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88" name="Google Shape;1188;p55"/>
          <p:cNvSpPr/>
          <p:nvPr/>
        </p:nvSpPr>
        <p:spPr>
          <a:xfrm>
            <a:off x="5130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89" name="Google Shape;1189;p55"/>
          <p:cNvSpPr/>
          <p:nvPr/>
        </p:nvSpPr>
        <p:spPr>
          <a:xfrm>
            <a:off x="5194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90" name="Google Shape;1190;p55"/>
          <p:cNvSpPr/>
          <p:nvPr/>
        </p:nvSpPr>
        <p:spPr>
          <a:xfrm>
            <a:off x="5257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91" name="Google Shape;1191;p55"/>
          <p:cNvSpPr/>
          <p:nvPr/>
        </p:nvSpPr>
        <p:spPr>
          <a:xfrm>
            <a:off x="54737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92" name="Google Shape;1192;p55"/>
          <p:cNvSpPr/>
          <p:nvPr/>
        </p:nvSpPr>
        <p:spPr>
          <a:xfrm>
            <a:off x="60007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93" name="Google Shape;1193;p55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Backup</a:t>
            </a:r>
            <a:endParaRPr sz="95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56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Electron Vertex Study </a:t>
            </a:r>
            <a:endParaRPr sz="2900"/>
          </a:p>
        </p:txBody>
      </p:sp>
      <p:sp>
        <p:nvSpPr>
          <p:cNvPr id="1199" name="Google Shape;1199;p56"/>
          <p:cNvSpPr txBox="1"/>
          <p:nvPr>
            <p:ph idx="1" type="body"/>
          </p:nvPr>
        </p:nvSpPr>
        <p:spPr>
          <a:xfrm>
            <a:off x="0" y="905125"/>
            <a:ext cx="9144000" cy="4632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Develop a similar </a:t>
            </a:r>
            <a:r>
              <a:rPr lang="en" sz="2000"/>
              <a:t>correction for pions (CuSn Outbending):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200" name="Google Shape;120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50" y="1237600"/>
            <a:ext cx="9013477" cy="35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56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2" name="Google Shape;1202;p56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3" name="Google Shape;1203;p56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4" name="Google Shape;1204;p56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5" name="Google Shape;1205;p56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6" name="Google Shape;1206;p56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7" name="Google Shape;1207;p56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8" name="Google Shape;1208;p56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9" name="Google Shape;1209;p56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10" name="Google Shape;1210;p56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11" name="Google Shape;1211;p56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12" name="Google Shape;1212;p56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13" name="Google Shape;1213;p56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14" name="Google Shape;1214;p56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15" name="Google Shape;1215;p56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16" name="Google Shape;1216;p56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17" name="Google Shape;1217;p56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18" name="Google Shape;1218;p56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19" name="Google Shape;1219;p56"/>
          <p:cNvSpPr/>
          <p:nvPr/>
        </p:nvSpPr>
        <p:spPr>
          <a:xfrm>
            <a:off x="42799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20" name="Google Shape;1220;p56"/>
          <p:cNvSpPr/>
          <p:nvPr/>
        </p:nvSpPr>
        <p:spPr>
          <a:xfrm>
            <a:off x="487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21" name="Google Shape;1221;p56"/>
          <p:cNvSpPr/>
          <p:nvPr/>
        </p:nvSpPr>
        <p:spPr>
          <a:xfrm>
            <a:off x="494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22" name="Google Shape;1222;p56"/>
          <p:cNvSpPr/>
          <p:nvPr/>
        </p:nvSpPr>
        <p:spPr>
          <a:xfrm>
            <a:off x="5003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23" name="Google Shape;1223;p56"/>
          <p:cNvSpPr/>
          <p:nvPr/>
        </p:nvSpPr>
        <p:spPr>
          <a:xfrm>
            <a:off x="5067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24" name="Google Shape;1224;p56"/>
          <p:cNvSpPr/>
          <p:nvPr/>
        </p:nvSpPr>
        <p:spPr>
          <a:xfrm>
            <a:off x="5130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25" name="Google Shape;1225;p56"/>
          <p:cNvSpPr/>
          <p:nvPr/>
        </p:nvSpPr>
        <p:spPr>
          <a:xfrm>
            <a:off x="5194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26" name="Google Shape;1226;p56"/>
          <p:cNvSpPr/>
          <p:nvPr/>
        </p:nvSpPr>
        <p:spPr>
          <a:xfrm>
            <a:off x="5257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27" name="Google Shape;1227;p56"/>
          <p:cNvSpPr/>
          <p:nvPr/>
        </p:nvSpPr>
        <p:spPr>
          <a:xfrm>
            <a:off x="54737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28" name="Google Shape;1228;p56"/>
          <p:cNvSpPr/>
          <p:nvPr/>
        </p:nvSpPr>
        <p:spPr>
          <a:xfrm>
            <a:off x="60007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29" name="Google Shape;1229;p56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Backup</a:t>
            </a:r>
            <a:endParaRPr sz="95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57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Electron Vertex Study </a:t>
            </a:r>
            <a:endParaRPr sz="2900"/>
          </a:p>
        </p:txBody>
      </p:sp>
      <p:sp>
        <p:nvSpPr>
          <p:cNvPr id="1235" name="Google Shape;1235;p57"/>
          <p:cNvSpPr txBox="1"/>
          <p:nvPr>
            <p:ph idx="1" type="body"/>
          </p:nvPr>
        </p:nvSpPr>
        <p:spPr>
          <a:xfrm>
            <a:off x="0" y="905125"/>
            <a:ext cx="9144000" cy="4632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Effect of the FMT on RG-E inbending dataset: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6" name="Google Shape;1236;p57"/>
          <p:cNvPicPr preferRelativeResize="0"/>
          <p:nvPr/>
        </p:nvPicPr>
        <p:blipFill rotWithShape="1">
          <a:blip r:embed="rId3">
            <a:alphaModFix/>
          </a:blip>
          <a:srcRect b="0" l="0" r="0" t="1244"/>
          <a:stretch/>
        </p:blipFill>
        <p:spPr>
          <a:xfrm>
            <a:off x="159125" y="1274100"/>
            <a:ext cx="8496526" cy="350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57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38" name="Google Shape;1238;p57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39" name="Google Shape;1239;p57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0" name="Google Shape;1240;p57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1" name="Google Shape;1241;p57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2" name="Google Shape;1242;p57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3" name="Google Shape;1243;p57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4" name="Google Shape;1244;p57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5" name="Google Shape;1245;p57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6" name="Google Shape;1246;p57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7" name="Google Shape;1247;p57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8" name="Google Shape;1248;p57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9" name="Google Shape;1249;p57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0" name="Google Shape;1250;p57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1" name="Google Shape;1251;p57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2" name="Google Shape;1252;p57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3" name="Google Shape;1253;p57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4" name="Google Shape;1254;p57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5" name="Google Shape;1255;p57"/>
          <p:cNvSpPr/>
          <p:nvPr/>
        </p:nvSpPr>
        <p:spPr>
          <a:xfrm>
            <a:off x="42799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6" name="Google Shape;1256;p57"/>
          <p:cNvSpPr/>
          <p:nvPr/>
        </p:nvSpPr>
        <p:spPr>
          <a:xfrm>
            <a:off x="487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7" name="Google Shape;1257;p57"/>
          <p:cNvSpPr/>
          <p:nvPr/>
        </p:nvSpPr>
        <p:spPr>
          <a:xfrm>
            <a:off x="494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8" name="Google Shape;1258;p57"/>
          <p:cNvSpPr/>
          <p:nvPr/>
        </p:nvSpPr>
        <p:spPr>
          <a:xfrm>
            <a:off x="5003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9" name="Google Shape;1259;p57"/>
          <p:cNvSpPr/>
          <p:nvPr/>
        </p:nvSpPr>
        <p:spPr>
          <a:xfrm>
            <a:off x="5067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0" name="Google Shape;1260;p57"/>
          <p:cNvSpPr/>
          <p:nvPr/>
        </p:nvSpPr>
        <p:spPr>
          <a:xfrm>
            <a:off x="5130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1" name="Google Shape;1261;p57"/>
          <p:cNvSpPr/>
          <p:nvPr/>
        </p:nvSpPr>
        <p:spPr>
          <a:xfrm>
            <a:off x="5194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2" name="Google Shape;1262;p57"/>
          <p:cNvSpPr/>
          <p:nvPr/>
        </p:nvSpPr>
        <p:spPr>
          <a:xfrm>
            <a:off x="5257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3" name="Google Shape;1263;p57"/>
          <p:cNvSpPr/>
          <p:nvPr/>
        </p:nvSpPr>
        <p:spPr>
          <a:xfrm>
            <a:off x="54737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4" name="Google Shape;1264;p57"/>
          <p:cNvSpPr/>
          <p:nvPr/>
        </p:nvSpPr>
        <p:spPr>
          <a:xfrm>
            <a:off x="60007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5" name="Google Shape;1265;p57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Backup</a:t>
            </a:r>
            <a:endParaRPr sz="95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58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CT Study: Two-pion Invariant Mass</a:t>
            </a:r>
            <a:endParaRPr sz="3200"/>
          </a:p>
        </p:txBody>
      </p:sp>
      <p:sp>
        <p:nvSpPr>
          <p:cNvPr id="1271" name="Google Shape;1271;p58"/>
          <p:cNvSpPr txBox="1"/>
          <p:nvPr>
            <p:ph idx="1" type="body"/>
          </p:nvPr>
        </p:nvSpPr>
        <p:spPr>
          <a:xfrm>
            <a:off x="42150" y="937250"/>
            <a:ext cx="86448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60020" lvl="0" marL="182880" rtl="0" algn="l"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Our event generator incorporates the measured cross sections by Cassel et al. for the electroproduction of ρ0 and the three main background processes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2" name="Google Shape;127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1725" y="1558925"/>
            <a:ext cx="6829852" cy="358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58"/>
          <p:cNvSpPr/>
          <p:nvPr/>
        </p:nvSpPr>
        <p:spPr>
          <a:xfrm>
            <a:off x="7714550" y="4923050"/>
            <a:ext cx="267000" cy="22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58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75" name="Google Shape;1275;p58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76" name="Google Shape;1276;p58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77" name="Google Shape;1277;p58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78" name="Google Shape;1278;p58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79" name="Google Shape;1279;p58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0" name="Google Shape;1280;p58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1" name="Google Shape;1281;p58"/>
          <p:cNvSpPr/>
          <p:nvPr/>
        </p:nvSpPr>
        <p:spPr>
          <a:xfrm>
            <a:off x="26162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Vertex Study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2" name="Google Shape;1282;p58"/>
          <p:cNvSpPr/>
          <p:nvPr/>
        </p:nvSpPr>
        <p:spPr>
          <a:xfrm>
            <a:off x="3492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3" name="Google Shape;1283;p58"/>
          <p:cNvSpPr/>
          <p:nvPr/>
        </p:nvSpPr>
        <p:spPr>
          <a:xfrm>
            <a:off x="3556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4" name="Google Shape;1284;p58"/>
          <p:cNvSpPr/>
          <p:nvPr/>
        </p:nvSpPr>
        <p:spPr>
          <a:xfrm>
            <a:off x="3619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5" name="Google Shape;1285;p58"/>
          <p:cNvSpPr/>
          <p:nvPr/>
        </p:nvSpPr>
        <p:spPr>
          <a:xfrm>
            <a:off x="3683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6" name="Google Shape;1286;p58"/>
          <p:cNvSpPr/>
          <p:nvPr/>
        </p:nvSpPr>
        <p:spPr>
          <a:xfrm>
            <a:off x="3746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7" name="Google Shape;1287;p58"/>
          <p:cNvSpPr/>
          <p:nvPr/>
        </p:nvSpPr>
        <p:spPr>
          <a:xfrm>
            <a:off x="3810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8" name="Google Shape;1288;p58"/>
          <p:cNvSpPr/>
          <p:nvPr/>
        </p:nvSpPr>
        <p:spPr>
          <a:xfrm>
            <a:off x="3873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9" name="Google Shape;1289;p58"/>
          <p:cNvSpPr/>
          <p:nvPr/>
        </p:nvSpPr>
        <p:spPr>
          <a:xfrm>
            <a:off x="3937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90" name="Google Shape;1290;p58"/>
          <p:cNvSpPr/>
          <p:nvPr/>
        </p:nvSpPr>
        <p:spPr>
          <a:xfrm>
            <a:off x="40005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91" name="Google Shape;1291;p58"/>
          <p:cNvSpPr/>
          <p:nvPr/>
        </p:nvSpPr>
        <p:spPr>
          <a:xfrm>
            <a:off x="40640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92" name="Google Shape;1292;p58"/>
          <p:cNvSpPr/>
          <p:nvPr/>
        </p:nvSpPr>
        <p:spPr>
          <a:xfrm>
            <a:off x="42799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93" name="Google Shape;1293;p58"/>
          <p:cNvSpPr/>
          <p:nvPr/>
        </p:nvSpPr>
        <p:spPr>
          <a:xfrm>
            <a:off x="487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94" name="Google Shape;1294;p58"/>
          <p:cNvSpPr/>
          <p:nvPr/>
        </p:nvSpPr>
        <p:spPr>
          <a:xfrm>
            <a:off x="494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95" name="Google Shape;1295;p58"/>
          <p:cNvSpPr/>
          <p:nvPr/>
        </p:nvSpPr>
        <p:spPr>
          <a:xfrm>
            <a:off x="5003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96" name="Google Shape;1296;p58"/>
          <p:cNvSpPr/>
          <p:nvPr/>
        </p:nvSpPr>
        <p:spPr>
          <a:xfrm>
            <a:off x="5067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97" name="Google Shape;1297;p58"/>
          <p:cNvSpPr/>
          <p:nvPr/>
        </p:nvSpPr>
        <p:spPr>
          <a:xfrm>
            <a:off x="5130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98" name="Google Shape;1298;p58"/>
          <p:cNvSpPr/>
          <p:nvPr/>
        </p:nvSpPr>
        <p:spPr>
          <a:xfrm>
            <a:off x="5194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99" name="Google Shape;1299;p58"/>
          <p:cNvSpPr/>
          <p:nvPr/>
        </p:nvSpPr>
        <p:spPr>
          <a:xfrm>
            <a:off x="5257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00" name="Google Shape;1300;p58"/>
          <p:cNvSpPr/>
          <p:nvPr/>
        </p:nvSpPr>
        <p:spPr>
          <a:xfrm>
            <a:off x="54737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01" name="Google Shape;1301;p58"/>
          <p:cNvSpPr/>
          <p:nvPr/>
        </p:nvSpPr>
        <p:spPr>
          <a:xfrm>
            <a:off x="60007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02" name="Google Shape;1302;p58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Backup</a:t>
            </a:r>
            <a:endParaRPr sz="95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