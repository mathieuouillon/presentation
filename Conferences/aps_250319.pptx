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slide" Target="slides/slide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2.xml"/><Relationship Id="rId18" Type="http://schemas.openxmlformats.org/officeDocument/2006/relationships/font" Target="fonts/Nuni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48343" y="68965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48343" y="3299959"/>
            <a:ext cx="9144000" cy="635227"/>
          </a:xfrm>
          <a:prstGeom prst="rect">
            <a:avLst/>
          </a:prstGeom>
          <a:solidFill>
            <a:srgbClr val="A8D08C"/>
          </a:solidFill>
          <a:ln cap="flat" cmpd="sng" w="9525">
            <a:solidFill>
              <a:srgbClr val="548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9862457" y="4421074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1624693" y="4421073"/>
            <a:ext cx="82377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682467"/>
            <a:ext cx="5055507" cy="971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5314" y="78445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 flipH="1" rot="-5400000">
            <a:off x="11339852" y="-171112"/>
            <a:ext cx="681036" cy="1023257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548135"/>
          </a:solidFill>
          <a:ln cap="flat" cmpd="sng" w="127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 rot="10800000">
            <a:off x="0" y="649287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A8D08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1244599" y="6492875"/>
            <a:ext cx="4140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Mathieu Ouillon</a:t>
            </a:r>
            <a:endParaRPr b="0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5314" y="78445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 flipH="1" rot="-5400000">
            <a:off x="11339852" y="-171112"/>
            <a:ext cx="681036" cy="1023257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548135"/>
          </a:solidFill>
          <a:ln cap="flat" cmpd="sng" w="127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4"/>
          <p:cNvCxnSpPr/>
          <p:nvPr/>
        </p:nvCxnSpPr>
        <p:spPr>
          <a:xfrm rot="10800000">
            <a:off x="0" y="649287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A8D08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" name="Google Shape;7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3147445" y="-2297680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ctrTitle"/>
          </p:nvPr>
        </p:nvSpPr>
        <p:spPr>
          <a:xfrm>
            <a:off x="348342" y="689656"/>
            <a:ext cx="10060931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AI-enhanced Track Finding for Recoil Ions with ALERT and CLAS12 at Jefferson Lab</a:t>
            </a:r>
            <a:endParaRPr/>
          </a:p>
        </p:txBody>
      </p:sp>
      <p:sp>
        <p:nvSpPr>
          <p:cNvPr id="95" name="Google Shape;95;p14"/>
          <p:cNvSpPr txBox="1"/>
          <p:nvPr>
            <p:ph idx="1" type="subTitle"/>
          </p:nvPr>
        </p:nvSpPr>
        <p:spPr>
          <a:xfrm>
            <a:off x="348343" y="4298250"/>
            <a:ext cx="7287699" cy="560829"/>
          </a:xfrm>
          <a:prstGeom prst="rect">
            <a:avLst/>
          </a:prstGeom>
          <a:solidFill>
            <a:srgbClr val="A8D08C"/>
          </a:solidFill>
          <a:ln cap="flat" cmpd="sng" w="9525">
            <a:solidFill>
              <a:srgbClr val="548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595959"/>
                </a:solidFill>
              </a:rPr>
              <a:t>Mathieu Ouillon (Mississippi State University)</a:t>
            </a:r>
            <a:endParaRPr/>
          </a:p>
        </p:txBody>
      </p:sp>
      <p:sp>
        <p:nvSpPr>
          <p:cNvPr id="96" name="Google Shape;96;p14"/>
          <p:cNvSpPr txBox="1"/>
          <p:nvPr>
            <p:ph idx="11" type="ftr"/>
          </p:nvPr>
        </p:nvSpPr>
        <p:spPr>
          <a:xfrm>
            <a:off x="2647507" y="3112389"/>
            <a:ext cx="94046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APS Joint March Meeting and April Meeting Global Physics Summit</a:t>
            </a:r>
            <a:endParaRPr sz="2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8807" y="5440778"/>
            <a:ext cx="2257235" cy="1208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0447" y="5478718"/>
            <a:ext cx="3784019" cy="118250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0" type="dt"/>
          </p:nvPr>
        </p:nvSpPr>
        <p:spPr>
          <a:xfrm>
            <a:off x="10409273" y="3512647"/>
            <a:ext cx="1642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3/19/25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ALERT Physics Program 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-1311" y="741533"/>
            <a:ext cx="12112488" cy="470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Comprehensive studies QCD in nuclei and associated medium modifications</a:t>
            </a:r>
            <a:endParaRPr/>
          </a:p>
        </p:txBody>
      </p:sp>
      <p:sp>
        <p:nvSpPr>
          <p:cNvPr id="106" name="Google Shape;106;p15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242859" y="1257140"/>
            <a:ext cx="3428489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Coherent DVCS on </a:t>
            </a:r>
            <a:r>
              <a:rPr b="1" baseline="30000" i="0" lang="en-US" sz="2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US" sz="2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300679" y="1254641"/>
            <a:ext cx="2749826" cy="461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DIS on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810244" y="1254967"/>
            <a:ext cx="4281532" cy="461665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Incoherent DVCS on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 (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H)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27343" y="5500182"/>
            <a:ext cx="342848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Explore the partonic structure of </a:t>
            </a:r>
            <a:r>
              <a:rPr baseline="30000"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with Generalized Parton Distributions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381755" y="5500182"/>
            <a:ext cx="34284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Test the Final State Interactions and rescaling model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103966" y="5500183"/>
            <a:ext cx="39596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Explore the 3-D structure of modified nucleons in light ions </a:t>
            </a:r>
            <a:r>
              <a:rPr baseline="30000"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H,</a:t>
            </a:r>
            <a:r>
              <a:rPr baseline="30000"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H, and </a:t>
            </a:r>
            <a:r>
              <a:rPr baseline="30000"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(</a:t>
            </a:r>
            <a:r>
              <a:rPr baseline="30000"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or neutron) </a:t>
            </a:r>
            <a:endParaRPr/>
          </a:p>
        </p:txBody>
      </p:sp>
      <p:pic>
        <p:nvPicPr>
          <p:cNvPr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2" y="1791494"/>
            <a:ext cx="2963066" cy="367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8430" y="1791494"/>
            <a:ext cx="2985228" cy="3599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6837" y="2014475"/>
            <a:ext cx="3492618" cy="257041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3/19/25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ALERT Physics Program </a:t>
            </a:r>
            <a:endParaRPr/>
          </a:p>
        </p:txBody>
      </p:sp>
      <p:sp>
        <p:nvSpPr>
          <p:cNvPr id="123" name="Google Shape;123;p16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APS Joint March Meeting and April Meeting Global Physics Summit</a:t>
            </a:r>
            <a:endParaRPr sz="16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8990" y="2155702"/>
            <a:ext cx="3707993" cy="296834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4356668" y="5280131"/>
            <a:ext cx="395270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Measure the F</a:t>
            </a:r>
            <a:r>
              <a:rPr b="0" baseline="-2500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structure function of a weakly bound nucleon in </a:t>
            </a:r>
            <a:r>
              <a:rPr b="0" baseline="3000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and compare it to the </a:t>
            </a:r>
            <a:r>
              <a:rPr b="0" baseline="3000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case. Control FSIs with tagged fragments</a:t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8520652" y="5292545"/>
            <a:ext cx="342848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Extract quarks GPDs for bound nucleons and thus understand the effect of FSIs</a:t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242859" y="1257140"/>
            <a:ext cx="3734453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Coherent Process on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562648" y="1237872"/>
            <a:ext cx="3124934" cy="83099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DIS on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H: Tagged EMC effect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93337" y="1232480"/>
            <a:ext cx="3428488" cy="830997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Incoherent Process on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91" y="2205991"/>
            <a:ext cx="3957521" cy="2445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209621" y="5292545"/>
            <a:ext cx="376769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Extract quark and gluon GPDs in a dense nucleus; in this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case, GPD H is obtained for both quarks and gluons in </a:t>
            </a:r>
            <a:r>
              <a:rPr b="0" baseline="3000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40858" y="2147124"/>
            <a:ext cx="4368512" cy="276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3/19/25</a:t>
            </a:r>
            <a:endParaRPr/>
          </a:p>
        </p:txBody>
      </p:sp>
      <p:sp>
        <p:nvSpPr>
          <p:cNvPr id="135" name="Google Shape;135;p16"/>
          <p:cNvSpPr txBox="1"/>
          <p:nvPr>
            <p:ph idx="1" type="body"/>
          </p:nvPr>
        </p:nvSpPr>
        <p:spPr>
          <a:xfrm>
            <a:off x="-1311" y="741533"/>
            <a:ext cx="12112488" cy="470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Comprehensive studies QCD in nuclei and associated medium modifications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ALERT Experiment Setup</a:t>
            </a:r>
            <a:endParaRPr/>
          </a:p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0" y="795753"/>
            <a:ext cx="11991331" cy="619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200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The ALERT experiment will take place in Hall B at Jefferson Lab</a:t>
            </a:r>
            <a:endParaRPr b="0" i="0" sz="2400" u="none" strike="noStrike">
              <a:solidFill>
                <a:srgbClr val="A8D08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101201"/>
            <a:ext cx="6017079" cy="575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0" y="1280146"/>
            <a:ext cx="5813570" cy="453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32004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CLAS12: detect scattered electrons and forward scattered hadrons</a:t>
            </a:r>
            <a:endParaRPr/>
          </a:p>
          <a:p>
            <a:pPr indent="-228600" lvl="0" marL="320040" marR="0" rtl="0" algn="l">
              <a:spcBef>
                <a:spcPts val="6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ALERT: detect recoil spectators or coherently scattered nucleus</a:t>
            </a:r>
            <a:endParaRPr/>
          </a:p>
          <a:p>
            <a:pPr indent="-76200" lvl="0" marL="320040" marR="0" rtl="0" algn="l">
              <a:spcBef>
                <a:spcPts val="6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</a:pPr>
            <a:r>
              <a:t/>
            </a:r>
            <a:endParaRPr b="0" i="0" sz="24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2004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ALERT Goals: </a:t>
            </a:r>
            <a:endParaRPr/>
          </a:p>
          <a:p>
            <a:pPr indent="-342900" lvl="1" marL="800100" marR="0" rtl="0" algn="l">
              <a:spcBef>
                <a:spcPts val="6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Aim to identify light ions: p,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H,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H,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He, and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/>
          </a:p>
          <a:p>
            <a:pPr indent="-342900" lvl="1" marL="800100" marR="0" rtl="0" algn="l">
              <a:spcBef>
                <a:spcPts val="6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Detect the lowest momentum possible, down to 70 MeV/c for proton</a:t>
            </a:r>
            <a:endParaRPr/>
          </a:p>
          <a:p>
            <a:pPr indent="-342900" lvl="1" marL="800100" marR="0" rtl="0" algn="l">
              <a:spcBef>
                <a:spcPts val="6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Handle high CLAS12 rates and luminosities (10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r>
              <a:rPr b="0" baseline="-25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)  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endParaRPr b="0" i="0" sz="2000" u="none" cap="none" strike="noStrik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7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3/19/25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ALERT Experiment Setup</a:t>
            </a:r>
            <a:endParaRPr/>
          </a:p>
        </p:txBody>
      </p:sp>
      <p:sp>
        <p:nvSpPr>
          <p:cNvPr id="153" name="Google Shape;153;p18"/>
          <p:cNvSpPr txBox="1"/>
          <p:nvPr>
            <p:ph idx="1" type="body"/>
          </p:nvPr>
        </p:nvSpPr>
        <p:spPr>
          <a:xfrm>
            <a:off x="65313" y="784451"/>
            <a:ext cx="12061374" cy="853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ALERT </a:t>
            </a:r>
            <a:r>
              <a:rPr lang="en-US" sz="2400">
                <a:solidFill>
                  <a:srgbClr val="3F3F3F"/>
                </a:solidFill>
              </a:rPr>
              <a:t>have </a:t>
            </a: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two sub-detectors: A Hyperbolic Drift Chamber (AHDC) and A Time of Flight (ATOF)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55" name="Google Shape;155;p18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804943" y="1910833"/>
            <a:ext cx="2524655" cy="461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ATOF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342163" y="2495875"/>
            <a:ext cx="575383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Time of flight: used for Particle IDentification</a:t>
            </a:r>
            <a:endParaRPr sz="20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Small barrel of segmented scintillators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The TOF measurement is degenerate for </a:t>
            </a:r>
            <a:r>
              <a:rPr b="0" baseline="3000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and </a:t>
            </a:r>
            <a:r>
              <a:rPr b="0" baseline="3000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He, but </a:t>
            </a:r>
            <a:r>
              <a:rPr b="0" i="1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dE/dx 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can distinguish the two nuclei bands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1804943" y="4312525"/>
            <a:ext cx="2520539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AHDC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342162" y="4781740"/>
            <a:ext cx="5468587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Aluminum wire: 2 mm apart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20-degree stereo angle (hyperbolic shape)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5 superlayers, each composed of 2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576 signal wires (6 ground wires of each signal)</a:t>
            </a:r>
            <a:endParaRPr/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66102"/>
          <a:stretch/>
        </p:blipFill>
        <p:spPr>
          <a:xfrm>
            <a:off x="5810749" y="3988375"/>
            <a:ext cx="6313412" cy="249089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1147012" y="1184832"/>
            <a:ext cx="701559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</a:pPr>
            <a:r>
              <a:t/>
            </a:r>
            <a:endParaRPr b="0" i="0" sz="1400" u="none" strike="noStrike">
              <a:solidFill>
                <a:srgbClr val="93C47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0849" y="1162756"/>
            <a:ext cx="4013856" cy="289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3/19/25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Track Finding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1" y="818990"/>
            <a:ext cx="6316910" cy="5554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Two stages of track reconstruction: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Track finding: Identifying which hits came from the same charged particle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Track fitting: Fitting hits to a single track to extract track parameters (momentum and position)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Hits: 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particles deposit energy when interacting with the detector material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Tracks: reconstructed sequences of hits representing charged particle trajectories</a:t>
            </a:r>
            <a:endParaRPr>
              <a:solidFill>
                <a:srgbClr val="3F3F3F"/>
              </a:solidFill>
            </a:endParaRPr>
          </a:p>
        </p:txBody>
      </p:sp>
      <p:sp>
        <p:nvSpPr>
          <p:cNvPr id="170" name="Google Shape;170;p19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71" name="Google Shape;171;p19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6911" y="715959"/>
            <a:ext cx="5714051" cy="574199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3/19/25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AI-assisted Model and Training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-8828" y="784451"/>
            <a:ext cx="1201959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200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-US" sz="2000">
                <a:solidFill>
                  <a:srgbClr val="3F3F3F"/>
                </a:solidFill>
              </a:rPr>
              <a:t>MultiLayer Perceptron, 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10 inputs, 1/3/5 hidden layer (20/100 neurons), 1 output</a:t>
            </a:r>
            <a:endParaRPr/>
          </a:p>
          <a:p>
            <a:pPr indent="-228600" lvl="0" marL="3200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</a:rPr>
              <a:t>I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nputs: </a:t>
            </a:r>
            <a:r>
              <a:rPr b="0" i="1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position of the five super-preclusters </a:t>
            </a:r>
            <a:endParaRPr/>
          </a:p>
          <a:p>
            <a:pPr indent="-228600" lvl="0" marL="3200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</a:rPr>
              <a:t>Good and bad tracks for the training:</a:t>
            </a:r>
            <a:endParaRPr b="0" i="0" sz="20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7772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F3F3F"/>
                </a:solidFill>
              </a:rPr>
              <a:t>G</a:t>
            </a: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ood tracks: GEANT4 simulation </a:t>
            </a:r>
            <a:r>
              <a:rPr b="0" i="0" lang="en-US" sz="16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(proton with p ∈ [70, 250] MeV/c, φ ∈ [0, 360]°, θ ∈ [60, 120]° and Vz ∈ [-15, 15] cm)</a:t>
            </a:r>
            <a:endParaRPr b="0" i="0" sz="20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7772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False tracks: Interchanging randomly up to two super-preclusters with another event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rgbClr val="3F3F3F"/>
              </a:solidFill>
            </a:endParaRPr>
          </a:p>
        </p:txBody>
      </p:sp>
      <p:sp>
        <p:nvSpPr>
          <p:cNvPr id="180" name="Google Shape;180;p20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81" name="Google Shape;181;p20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-8828" y="2379389"/>
            <a:ext cx="305682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32004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Output: Number between 0 and 1, with 0/1 means bad/good track</a:t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918" y="2375089"/>
            <a:ext cx="4619373" cy="405851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8042081" y="5609534"/>
            <a:ext cx="30150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Bad track</a:t>
            </a:r>
            <a:endParaRPr/>
          </a:p>
        </p:txBody>
      </p:sp>
      <p:pic>
        <p:nvPicPr>
          <p:cNvPr id="185" name="Google Shape;185;p20"/>
          <p:cNvPicPr preferRelativeResize="0"/>
          <p:nvPr/>
        </p:nvPicPr>
        <p:blipFill rotWithShape="1">
          <a:blip r:embed="rId4">
            <a:alphaModFix/>
          </a:blip>
          <a:srcRect b="10569" l="0" r="0" t="11875"/>
          <a:stretch/>
        </p:blipFill>
        <p:spPr>
          <a:xfrm>
            <a:off x="2217218" y="2505474"/>
            <a:ext cx="5340743" cy="395786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3/19/25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Efficiency and Purity vs. Threshold</a:t>
            </a:r>
            <a:endParaRPr/>
          </a:p>
        </p:txBody>
      </p:sp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0" y="694644"/>
            <a:ext cx="121703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Threshold: if output above/lower than the threshold </a:t>
            </a:r>
            <a:r>
              <a:rPr lang="en-US" sz="2400">
                <a:solidFill>
                  <a:srgbClr val="3F3F3F"/>
                </a:solidFill>
              </a:rPr>
              <a:t>⇒</a:t>
            </a: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good/bad tracks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To evaluate the model: </a:t>
            </a:r>
            <a:endParaRPr sz="2400">
              <a:solidFill>
                <a:srgbClr val="3F3F3F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Efficiency: Number of good tracks classified as good normalized by number of events.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Purity: Number of good tracks classified as good normalized by number of tracks (good or bad) classified as good.</a:t>
            </a:r>
            <a:endParaRPr/>
          </a:p>
        </p:txBody>
      </p:sp>
      <p:sp>
        <p:nvSpPr>
          <p:cNvPr id="193" name="Google Shape;193;p21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94" name="Google Shape;194;p21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620" y="2221852"/>
            <a:ext cx="6760604" cy="425741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21675" y="2513855"/>
            <a:ext cx="520436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vents need to have at least one track candi</a:t>
            </a: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date.</a:t>
            </a:r>
            <a:endParaRPr b="0" i="0" sz="20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et the threshold to 0.2 to have a higher efficiency</a:t>
            </a:r>
            <a:endParaRPr/>
          </a:p>
        </p:txBody>
      </p:sp>
      <p:sp>
        <p:nvSpPr>
          <p:cNvPr id="197" name="Google Shape;197;p21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3/19/25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0" y="3614821"/>
            <a:ext cx="391363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3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100 neurons in 3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5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</a:t>
            </a: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hidden layer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Efficiency and Purity vs. Current</a:t>
            </a:r>
            <a:endParaRPr/>
          </a:p>
        </p:txBody>
      </p:sp>
      <p:sp>
        <p:nvSpPr>
          <p:cNvPr id="204" name="Google Shape;204;p22"/>
          <p:cNvSpPr txBox="1"/>
          <p:nvPr>
            <p:ph idx="1" type="body"/>
          </p:nvPr>
        </p:nvSpPr>
        <p:spPr>
          <a:xfrm>
            <a:off x="65313" y="784451"/>
            <a:ext cx="12052545" cy="2131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E</a:t>
            </a: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fficiency is always higher than 90% and the purity is between 55% and 95%</a:t>
            </a:r>
            <a:endParaRPr b="0" i="0" sz="24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05" name="Google Shape;205;p22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06" name="Google Shape;206;p22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3632" y="1680316"/>
            <a:ext cx="8216974" cy="439323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3/19/25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0" y="3614821"/>
            <a:ext cx="391363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3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100 neurons in 3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5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</a:t>
            </a: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hidden layer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Efficiency and Purity vs. Momentum</a:t>
            </a:r>
            <a:endParaRPr/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65314" y="784451"/>
            <a:ext cx="12036070" cy="981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Background is generated with</a:t>
            </a:r>
            <a:r>
              <a:rPr i="1" lang="en-US" sz="2400">
                <a:solidFill>
                  <a:srgbClr val="3F3F3F"/>
                </a:solidFill>
              </a:rPr>
              <a:t> </a:t>
            </a:r>
            <a:r>
              <a:rPr lang="en-US" sz="2400">
                <a:solidFill>
                  <a:srgbClr val="3F3F3F"/>
                </a:solidFill>
              </a:rPr>
              <a:t>current </a:t>
            </a: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-US" sz="2400">
                <a:solidFill>
                  <a:srgbClr val="3F3F3F"/>
                </a:solidFill>
              </a:rPr>
              <a:t> </a:t>
            </a:r>
            <a:r>
              <a:rPr lang="en-US" sz="2400">
                <a:solidFill>
                  <a:srgbClr val="3F3F3F"/>
                </a:solidFill>
              </a:rPr>
              <a:t>= 487.5 nA</a:t>
            </a:r>
            <a:endParaRPr sz="2400">
              <a:solidFill>
                <a:srgbClr val="3F3F3F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Constant e</a:t>
            </a: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fficiency and purit</a:t>
            </a: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 across the momentum range</a:t>
            </a:r>
            <a:endParaRPr b="0" i="0" sz="24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rgbClr val="3F3F3F"/>
              </a:solidFill>
            </a:endParaRPr>
          </a:p>
        </p:txBody>
      </p:sp>
      <p:sp>
        <p:nvSpPr>
          <p:cNvPr id="216" name="Google Shape;216;p23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  <p:pic>
        <p:nvPicPr>
          <p:cNvPr id="218" name="Google Shape;2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7853" y="1656888"/>
            <a:ext cx="7033227" cy="48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3/19/25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0" y="3614821"/>
            <a:ext cx="391363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3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100 neurons in 3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5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</a:t>
            </a: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hidden layer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Summary and Outlook</a:t>
            </a:r>
            <a:endParaRPr/>
          </a:p>
        </p:txBody>
      </p:sp>
      <p:sp>
        <p:nvSpPr>
          <p:cNvPr id="227" name="Google Shape;227;p24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1" y="777785"/>
            <a:ext cx="12191999" cy="5658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ALERT physics program will explore: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Coherent processes on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⇒ its partonic structure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Tagged DIS on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⇒ EMC effect in more detail with spectator information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Tagged incoherent DVCS on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⇒ structure of the bound nucleons.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We have developed an AI-assisted MLP for track finding:</a:t>
            </a:r>
            <a:endParaRPr/>
          </a:p>
          <a:p>
            <a:pPr indent="-228600" lvl="1" marL="685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Evaluated the model's efficiency and purity as a function of momentum, threshold, and current</a:t>
            </a:r>
            <a:endParaRPr/>
          </a:p>
          <a:p>
            <a:pPr indent="-228600" lvl="1" marL="685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Compared efficiency of conventional and AI-assisted algorithms</a:t>
            </a:r>
            <a:endParaRPr/>
          </a:p>
          <a:p>
            <a:pPr indent="-228600" lvl="1" marL="685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Efficiency is always higher than 90%</a:t>
            </a:r>
            <a:endParaRPr b="0" i="0" sz="2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8997" lvl="0" marL="9899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600"/>
              <a:buFont typeface="Arial"/>
              <a:buChar char="•"/>
            </a:pPr>
            <a:r>
              <a:rPr b="0" i="0" lang="en-US" sz="2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Future work: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Check the efficiency and purity of real data using elastic scattering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Improve the model with other information as input (energy deposited and angle between hits)</a:t>
            </a:r>
            <a:endParaRPr/>
          </a:p>
          <a:p>
            <a:pPr indent="0" lvl="1" marL="32759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A8D0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2523745" y="6488667"/>
            <a:ext cx="84140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This work is supported in part by the U.S. DOE award #: DE-FG02-07ER41528</a:t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1848498" y="6055939"/>
            <a:ext cx="84140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Thanks</a:t>
            </a:r>
            <a:endParaRPr sz="2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