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Nunito"/>
      <p:regular r:id="rId32"/>
      <p:bold r:id="rId33"/>
      <p:italic r:id="rId34"/>
      <p:boldItalic r:id="rId35"/>
    </p:embeddedFont>
    <p:embeddedFont>
      <p:font typeface="Nunito Medium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Nunito-bold.fntdata"/><Relationship Id="rId10" Type="http://schemas.openxmlformats.org/officeDocument/2006/relationships/slide" Target="slides/slide5.xml"/><Relationship Id="rId32" Type="http://schemas.openxmlformats.org/officeDocument/2006/relationships/font" Target="fonts/Nunito-regular.fntdata"/><Relationship Id="rId13" Type="http://schemas.openxmlformats.org/officeDocument/2006/relationships/slide" Target="slides/slide8.xml"/><Relationship Id="rId35" Type="http://schemas.openxmlformats.org/officeDocument/2006/relationships/font" Target="fonts/Nunito-boldItalic.fntdata"/><Relationship Id="rId12" Type="http://schemas.openxmlformats.org/officeDocument/2006/relationships/slide" Target="slides/slide7.xml"/><Relationship Id="rId34" Type="http://schemas.openxmlformats.org/officeDocument/2006/relationships/font" Target="fonts/Nunito-italic.fntdata"/><Relationship Id="rId15" Type="http://schemas.openxmlformats.org/officeDocument/2006/relationships/slide" Target="slides/slide10.xml"/><Relationship Id="rId37" Type="http://schemas.openxmlformats.org/officeDocument/2006/relationships/font" Target="fonts/NunitoMedium-bold.fntdata"/><Relationship Id="rId14" Type="http://schemas.openxmlformats.org/officeDocument/2006/relationships/slide" Target="slides/slide9.xml"/><Relationship Id="rId36" Type="http://schemas.openxmlformats.org/officeDocument/2006/relationships/font" Target="fonts/NunitoMedium-regular.fntdata"/><Relationship Id="rId17" Type="http://schemas.openxmlformats.org/officeDocument/2006/relationships/slide" Target="slides/slide12.xml"/><Relationship Id="rId39" Type="http://schemas.openxmlformats.org/officeDocument/2006/relationships/font" Target="fonts/NunitoMedium-boldItalic.fntdata"/><Relationship Id="rId16" Type="http://schemas.openxmlformats.org/officeDocument/2006/relationships/slide" Target="slides/slide11.xml"/><Relationship Id="rId38" Type="http://schemas.openxmlformats.org/officeDocument/2006/relationships/font" Target="fonts/NunitoMedium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117aaf66a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117aaf66a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117aaf66a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117aaf66a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117aaf66a9_7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117aaf66a9_7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117aaf66a9_7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117aaf66a9_7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117aaf66a9_7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117aaf66a9_7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14156df67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14156df67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13e077b3b8_4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13e077b3b8_4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117aaf66a9_7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117aaf66a9_7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12882b9bd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12882b9bd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12882b9bd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12882b9bd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12882b9bd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12882b9bd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12882b9bdb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12882b9bd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12882b9bdb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12882b9bdb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12a2d79de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12a2d79de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12a2d79de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12a2d79de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12a2d79de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12a2d79de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12a2d79de0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12a2d79de0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12a2d79de0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12a2d79de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12a2d79de0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12a2d79de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12a2d79de0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12a2d79de0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1338de0b2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1338de0b2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1338de0b2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1338de0b2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1338de0b2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1338de0b2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1338de0b2a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1338de0b2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1338de0b2a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1338de0b2a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0" y="703475"/>
            <a:ext cx="8520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344500"/>
            <a:ext cx="64122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Nunito Medium"/>
              <a:buNone/>
              <a:defRPr sz="2600"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91440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unito"/>
              <a:buNone/>
              <a:defRPr sz="2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8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cxnSp>
        <p:nvCxnSpPr>
          <p:cNvPr id="20" name="Google Shape;20;p4"/>
          <p:cNvCxnSpPr/>
          <p:nvPr/>
        </p:nvCxnSpPr>
        <p:spPr>
          <a:xfrm>
            <a:off x="155650" y="4743825"/>
            <a:ext cx="8889900" cy="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" name="Google Shape;21;p4"/>
          <p:cNvSpPr/>
          <p:nvPr/>
        </p:nvSpPr>
        <p:spPr>
          <a:xfrm rot="10800000">
            <a:off x="8547000" y="3000"/>
            <a:ext cx="597000" cy="641400"/>
          </a:xfrm>
          <a:prstGeom prst="round1Rect">
            <a:avLst>
              <a:gd fmla="val 16667" name="adj"/>
            </a:avLst>
          </a:prstGeom>
          <a:solidFill>
            <a:srgbClr val="6AA84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/>
        </p:nvSpPr>
        <p:spPr>
          <a:xfrm>
            <a:off x="5216950" y="4787400"/>
            <a:ext cx="37977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CLAS Collaboration (November 13</a:t>
            </a:r>
            <a:r>
              <a:rPr baseline="30000"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th</a:t>
            </a: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, 2024)</a:t>
            </a:r>
            <a:endParaRPr sz="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misportal.jlab.org/mis/physics/experiments/viewProposal.cfm?paperId=685" TargetMode="External"/><Relationship Id="rId4" Type="http://schemas.openxmlformats.org/officeDocument/2006/relationships/hyperlink" Target="https://www.jlab.org/exp_prog/proposals/20/E12-06-106A_Proposal.pdf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las12mon.jlab.org/rgd/pass0v4/tlsummary/" TargetMode="External"/><Relationship Id="rId4" Type="http://schemas.openxmlformats.org/officeDocument/2006/relationships/hyperlink" Target="https://clas12mon.jlab.org/rgd/pass0v5/tlsummary/" TargetMode="External"/><Relationship Id="rId5" Type="http://schemas.openxmlformats.org/officeDocument/2006/relationships/hyperlink" Target="https://clas12mon.jlab.org/rgd/pass0v6/tlsummary/" TargetMode="External"/><Relationship Id="rId6" Type="http://schemas.openxmlformats.org/officeDocument/2006/relationships/hyperlink" Target="https://clasweb.jlab.org/wiki/index.php/Run_Group_D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8.png"/><Relationship Id="rId4" Type="http://schemas.openxmlformats.org/officeDocument/2006/relationships/image" Target="../media/image2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9.png"/><Relationship Id="rId4" Type="http://schemas.openxmlformats.org/officeDocument/2006/relationships/image" Target="../media/image4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0.png"/><Relationship Id="rId4" Type="http://schemas.openxmlformats.org/officeDocument/2006/relationships/image" Target="../media/image3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.png"/><Relationship Id="rId4" Type="http://schemas.openxmlformats.org/officeDocument/2006/relationships/image" Target="../media/image3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Relationship Id="rId4" Type="http://schemas.openxmlformats.org/officeDocument/2006/relationships/image" Target="../media/image3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gitlab.in2p3.fr/dupre/sidis_mc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2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266700" y="979950"/>
            <a:ext cx="8565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fr" sz="3880"/>
              <a:t>Update on RG-D Experiments:</a:t>
            </a:r>
            <a:endParaRPr sz="388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3880"/>
              <a:t>Calibration and Analysis Status</a:t>
            </a:r>
            <a:endParaRPr sz="3880"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266700" y="2245350"/>
            <a:ext cx="6412200" cy="47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fr" sz="1980">
                <a:latin typeface="Nunito"/>
                <a:ea typeface="Nunito"/>
                <a:cs typeface="Nunito"/>
                <a:sym typeface="Nunito"/>
              </a:rPr>
              <a:t>Mathieu Ouillon (Mississippi State University)</a:t>
            </a:r>
            <a:endParaRPr sz="198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3619500" y="3480050"/>
            <a:ext cx="5524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CLAS Collaboration (November 13</a:t>
            </a:r>
            <a:r>
              <a:rPr baseline="30000" lang="fr" sz="1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th</a:t>
            </a:r>
            <a:r>
              <a:rPr lang="fr" sz="1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, 2024)</a:t>
            </a:r>
            <a:endParaRPr sz="1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245800"/>
            <a:ext cx="3863174" cy="74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5550" y="4088450"/>
            <a:ext cx="3098799" cy="96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24050" y="4020000"/>
            <a:ext cx="1808951" cy="968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Run Group D​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85050" y="796800"/>
            <a:ext cx="8957700" cy="36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000"/>
              <a:t>RG-D is c</a:t>
            </a:r>
            <a:r>
              <a:rPr lang="fr" sz="2000"/>
              <a:t>omposed of two experiments:</a:t>
            </a:r>
            <a:endParaRPr sz="2000"/>
          </a:p>
          <a:p>
            <a:pPr indent="-164700" lvl="0" marL="2808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Study of Color Transparency (CT) in Exclusive Vector Meson Electroproduction </a:t>
            </a:r>
            <a:r>
              <a:rPr lang="fr"/>
              <a:t>off</a:t>
            </a:r>
            <a:r>
              <a:rPr lang="fr"/>
              <a:t> Nuclei (</a:t>
            </a:r>
            <a:r>
              <a:rPr lang="fr" u="sng">
                <a:solidFill>
                  <a:schemeClr val="hlink"/>
                </a:solidFill>
                <a:hlinkClick r:id="rId3"/>
              </a:rPr>
              <a:t>E12-06-106</a:t>
            </a:r>
            <a:r>
              <a:rPr lang="fr"/>
              <a:t>)​:</a:t>
            </a:r>
            <a:endParaRPr/>
          </a:p>
          <a:p>
            <a:pPr indent="-139300" lvl="1" marL="4860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Spokespeople: W. Armstrong</a:t>
            </a:r>
            <a:r>
              <a:rPr baseline="30000" lang="fr"/>
              <a:t>1</a:t>
            </a:r>
            <a:r>
              <a:rPr lang="fr"/>
              <a:t> , L. El Fassi</a:t>
            </a:r>
            <a:r>
              <a:rPr baseline="30000" lang="fr"/>
              <a:t>3</a:t>
            </a:r>
            <a:r>
              <a:rPr lang="fr"/>
              <a:t> , K. Hafidi</a:t>
            </a:r>
            <a:r>
              <a:rPr baseline="30000" lang="fr"/>
              <a:t>1</a:t>
            </a:r>
            <a:r>
              <a:rPr lang="fr"/>
              <a:t> , M. Holtrop</a:t>
            </a:r>
            <a:r>
              <a:rPr baseline="30000" lang="fr"/>
              <a:t>4</a:t>
            </a:r>
            <a:r>
              <a:rPr lang="fr"/>
              <a:t> and B. Mustapha</a:t>
            </a:r>
            <a:r>
              <a:rPr baseline="30000" lang="fr"/>
              <a:t>1​</a:t>
            </a:r>
            <a:endParaRPr baseline="30000"/>
          </a:p>
          <a:p>
            <a:pPr indent="-164700" lvl="0" marL="2808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Nuclear Transverse Momentum Distributions (nTMDs) in CLAS12 (</a:t>
            </a:r>
            <a:r>
              <a:rPr lang="fr" u="sng">
                <a:solidFill>
                  <a:schemeClr val="hlink"/>
                </a:solidFill>
                <a:hlinkClick r:id="rId4"/>
              </a:rPr>
              <a:t>E12-06-106A</a:t>
            </a:r>
            <a:r>
              <a:rPr lang="fr"/>
              <a:t>)​:</a:t>
            </a:r>
            <a:endParaRPr/>
          </a:p>
          <a:p>
            <a:pPr indent="-139300" lvl="1" marL="5220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Spokespeople: R. Dupré</a:t>
            </a:r>
            <a:r>
              <a:rPr baseline="30000" lang="fr"/>
              <a:t>2</a:t>
            </a:r>
            <a:r>
              <a:rPr lang="fr"/>
              <a:t> , L. El Fassi</a:t>
            </a:r>
            <a:r>
              <a:rPr baseline="30000" lang="fr"/>
              <a:t>3</a:t>
            </a:r>
            <a:r>
              <a:rPr lang="fr"/>
              <a:t> , Zein-Eddine Meziani</a:t>
            </a:r>
            <a:r>
              <a:rPr baseline="30000" lang="fr"/>
              <a:t>1</a:t>
            </a:r>
            <a:r>
              <a:rPr lang="fr"/>
              <a:t> , and Holly Szumila-Vance​</a:t>
            </a:r>
            <a:r>
              <a:rPr baseline="30000" lang="fr"/>
              <a:t>5</a:t>
            </a:r>
            <a:endParaRPr baseline="30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aseline="30000" lang="fr"/>
              <a:t>1</a:t>
            </a:r>
            <a:r>
              <a:rPr lang="fr"/>
              <a:t>: Argonne National Lab (ANL), </a:t>
            </a:r>
            <a:r>
              <a:rPr baseline="30000" lang="fr"/>
              <a:t>2</a:t>
            </a:r>
            <a:r>
              <a:rPr lang="fr"/>
              <a:t>: IJCLAB, Orsay, France </a:t>
            </a:r>
            <a:r>
              <a:rPr baseline="30000" lang="fr"/>
              <a:t>3</a:t>
            </a:r>
            <a:r>
              <a:rPr lang="fr"/>
              <a:t>: Mississippi State U. (MSSate), </a:t>
            </a:r>
            <a:r>
              <a:rPr baseline="30000" lang="fr"/>
              <a:t>4</a:t>
            </a:r>
            <a:r>
              <a:rPr lang="fr"/>
              <a:t>: University of New-Hampshire (UNH), </a:t>
            </a:r>
            <a:r>
              <a:rPr baseline="30000" lang="fr"/>
              <a:t>5</a:t>
            </a:r>
            <a:r>
              <a:rPr lang="fr"/>
              <a:t>: Jefferson Lab</a:t>
            </a:r>
            <a:endParaRPr/>
          </a:p>
        </p:txBody>
      </p:sp>
      <p:sp>
        <p:nvSpPr>
          <p:cNvPr id="70" name="Google Shape;70;p14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RG-D: CT Experiment​</a:t>
            </a:r>
            <a:endParaRPr/>
          </a:p>
        </p:txBody>
      </p:sp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85875" y="719550"/>
            <a:ext cx="4756200" cy="1899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/>
          <a:p>
            <a:pPr indent="-152000" lvl="0" marL="280800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E12-06-106, CT - the experimental signature of CT is the rise of the nuclear transparency, </a:t>
            </a:r>
            <a:r>
              <a:rPr i="1" lang="fr" sz="1600">
                <a:latin typeface="Nunito"/>
                <a:ea typeface="Nunito"/>
                <a:cs typeface="Nunito"/>
                <a:sym typeface="Nunito"/>
              </a:rPr>
              <a:t>T</a:t>
            </a:r>
            <a:r>
              <a:rPr baseline="-25000" lang="fr" sz="1600">
                <a:latin typeface="Nunito"/>
                <a:ea typeface="Nunito"/>
                <a:cs typeface="Nunito"/>
                <a:sym typeface="Nunito"/>
              </a:rPr>
              <a:t>A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 as a function of Q</a:t>
            </a:r>
            <a:r>
              <a:rPr baseline="30000" lang="fr" sz="1600"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: ​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39300" lvl="1" marL="4860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i="1" lang="fr">
                <a:latin typeface="Nunito"/>
                <a:ea typeface="Nunito"/>
                <a:cs typeface="Nunito"/>
                <a:sym typeface="Nunito"/>
              </a:rPr>
              <a:t>T</a:t>
            </a:r>
            <a:r>
              <a:rPr baseline="-25000" lang="fr">
                <a:latin typeface="Nunito"/>
                <a:ea typeface="Nunito"/>
                <a:cs typeface="Nunito"/>
                <a:sym typeface="Nunito"/>
              </a:rPr>
              <a:t>A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 is defined as the ratio of the cross section per nucleon on a bound nucleon to that on a free nucleon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6737" y="689351"/>
            <a:ext cx="3269714" cy="184157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/>
          <p:nvPr/>
        </p:nvSpPr>
        <p:spPr>
          <a:xfrm>
            <a:off x="2543500" y="2320625"/>
            <a:ext cx="339300" cy="210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5625" y="2499525"/>
            <a:ext cx="3424100" cy="2229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 title="[89,89,89,&quot;https://www.codecogs.com/eqnedit.php?latex=T_A%20%3D%20%5Cfrac%7B%5Csigma_A%7D%7BA%5Csigma_N%7D#0&quot;]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6375" y="2571750"/>
            <a:ext cx="1502444" cy="6474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/>
          <p:nvPr/>
        </p:nvSpPr>
        <p:spPr>
          <a:xfrm>
            <a:off x="2111850" y="2602950"/>
            <a:ext cx="2608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σ</a:t>
            </a:r>
            <a:r>
              <a:rPr baseline="-25000" lang="fr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</a:t>
            </a:r>
            <a:r>
              <a:rPr lang="fr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− nuclei cross section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σ</a:t>
            </a:r>
            <a:r>
              <a:rPr baseline="-25000" lang="fr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N</a:t>
            </a:r>
            <a:r>
              <a:rPr lang="fr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− free nucleon cross section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85875" y="3598575"/>
            <a:ext cx="3318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l</a:t>
            </a:r>
            <a:r>
              <a:rPr baseline="-25000"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</a:t>
            </a: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coherence length - the lifetime of the qq-bar pair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l</a:t>
            </a:r>
            <a:r>
              <a:rPr baseline="-25000"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</a:t>
            </a: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formation time - the time evolution of Small Size Configurations (SSC) to an on-shell ρ</a:t>
            </a:r>
            <a:r>
              <a:rPr baseline="30000"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0</a:t>
            </a: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meson​​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84" name="Google Shape;84;p15"/>
          <p:cNvCxnSpPr>
            <a:endCxn id="85" idx="0"/>
          </p:cNvCxnSpPr>
          <p:nvPr/>
        </p:nvCxnSpPr>
        <p:spPr>
          <a:xfrm flipH="1">
            <a:off x="5733175" y="3720076"/>
            <a:ext cx="146400" cy="3429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" name="Google Shape;85;p15"/>
          <p:cNvSpPr txBox="1"/>
          <p:nvPr/>
        </p:nvSpPr>
        <p:spPr>
          <a:xfrm>
            <a:off x="5325625" y="4062976"/>
            <a:ext cx="8151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Virtual photon</a:t>
            </a:r>
            <a:endParaRPr sz="8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86" name="Google Shape;86;p15"/>
          <p:cNvCxnSpPr>
            <a:endCxn id="87" idx="0"/>
          </p:cNvCxnSpPr>
          <p:nvPr/>
        </p:nvCxnSpPr>
        <p:spPr>
          <a:xfrm>
            <a:off x="6821508" y="3720300"/>
            <a:ext cx="180300" cy="391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" name="Google Shape;88;p15"/>
          <p:cNvCxnSpPr>
            <a:endCxn id="87" idx="0"/>
          </p:cNvCxnSpPr>
          <p:nvPr/>
        </p:nvCxnSpPr>
        <p:spPr>
          <a:xfrm flipH="1">
            <a:off x="7001808" y="3720300"/>
            <a:ext cx="235200" cy="391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" name="Google Shape;87;p15"/>
          <p:cNvSpPr txBox="1"/>
          <p:nvPr/>
        </p:nvSpPr>
        <p:spPr>
          <a:xfrm>
            <a:off x="6318258" y="4111500"/>
            <a:ext cx="1367100" cy="4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Small size configuration (SSC),​ ρ</a:t>
            </a:r>
            <a:r>
              <a:rPr baseline="30000" lang="fr" sz="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0</a:t>
            </a:r>
            <a:r>
              <a:rPr lang="fr" sz="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, is the nuclear cross section​ escapes interactions with the nucleus​</a:t>
            </a:r>
            <a:endParaRPr sz="8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7146900" y="681850"/>
            <a:ext cx="489900" cy="191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RG-D: Nuclear TMDs</a:t>
            </a:r>
            <a:endParaRPr/>
          </a:p>
        </p:txBody>
      </p:sp>
      <p:sp>
        <p:nvSpPr>
          <p:cNvPr id="95" name="Google Shape;95;p16"/>
          <p:cNvSpPr txBox="1"/>
          <p:nvPr>
            <p:ph idx="1" type="body"/>
          </p:nvPr>
        </p:nvSpPr>
        <p:spPr>
          <a:xfrm>
            <a:off x="81650" y="763125"/>
            <a:ext cx="5815500" cy="38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64700" lvl="0" marL="172800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E12-06-106A: Nuclear TMDs study uses the same CT running conditions except the beam polarization, and aims to explore​: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52000" lvl="1" marL="486000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Fragmentation functions in nuclei​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52000" lvl="1" marL="486000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Nuclear asymmetries at the partonic level​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52000" lvl="1" marL="486000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Missing part of nuclear effects description​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64700" lvl="0" marL="172800" rtl="0" algn="l">
              <a:spcBef>
                <a:spcPts val="100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Goal: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52000" lvl="1" marL="486000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Measure the cos and sin modulations for p</a:t>
            </a:r>
            <a:r>
              <a:rPr baseline="30000" lang="fr" sz="1600"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baseline="-25000" lang="fr" sz="1600">
                <a:latin typeface="Nunito"/>
                <a:ea typeface="Nunito"/>
                <a:cs typeface="Nunito"/>
                <a:sym typeface="Nunito"/>
              </a:rPr>
              <a:t>T</a:t>
            </a:r>
            <a:endParaRPr baseline="-25000" sz="1600">
              <a:latin typeface="Nunito"/>
              <a:ea typeface="Nunito"/>
              <a:cs typeface="Nunito"/>
              <a:sym typeface="Nunito"/>
            </a:endParaRPr>
          </a:p>
          <a:p>
            <a:pPr indent="-152000" lvl="1" marL="486000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Mesure multiplicity ratios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52000" lvl="1" marL="486000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For both charged pions and kaons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52000" lvl="1" marL="486000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Accesses transport coefficient at parton level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6" name="Google Shape;96;p16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pic>
        <p:nvPicPr>
          <p:cNvPr id="97" name="Google Shape;9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0725" y="647400"/>
            <a:ext cx="2705209" cy="19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4650" y="2479225"/>
            <a:ext cx="2110800" cy="22389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6"/>
          <p:cNvSpPr txBox="1"/>
          <p:nvPr/>
        </p:nvSpPr>
        <p:spPr>
          <a:xfrm>
            <a:off x="7524325" y="4272600"/>
            <a:ext cx="1569300" cy="3120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Projected statistical error bars for sin and cos moments</a:t>
            </a:r>
            <a:endParaRPr sz="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7712100" y="2629950"/>
            <a:ext cx="1381500" cy="2463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Ratio of sin asymmetries nuclei to nucleon</a:t>
            </a:r>
            <a:endParaRPr sz="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01" name="Google Shape;101;p16"/>
          <p:cNvCxnSpPr>
            <a:stCxn id="99" idx="0"/>
          </p:cNvCxnSpPr>
          <p:nvPr/>
        </p:nvCxnSpPr>
        <p:spPr>
          <a:xfrm rot="10800000">
            <a:off x="7084975" y="3960600"/>
            <a:ext cx="1224000" cy="3120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" name="Google Shape;102;p16"/>
          <p:cNvCxnSpPr>
            <a:stCxn id="100" idx="0"/>
          </p:cNvCxnSpPr>
          <p:nvPr/>
        </p:nvCxnSpPr>
        <p:spPr>
          <a:xfrm rot="10800000">
            <a:off x="7366650" y="2210550"/>
            <a:ext cx="1036200" cy="4194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RG-D: Run configuration</a:t>
            </a:r>
            <a:endParaRPr/>
          </a:p>
        </p:txBody>
      </p:sp>
      <p:sp>
        <p:nvSpPr>
          <p:cNvPr id="108" name="Google Shape;108;p17"/>
          <p:cNvSpPr txBox="1"/>
          <p:nvPr>
            <p:ph idx="1" type="body"/>
          </p:nvPr>
        </p:nvSpPr>
        <p:spPr>
          <a:xfrm>
            <a:off x="37675" y="617825"/>
            <a:ext cx="8574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64700" lvl="0" marL="28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RG-D experiments ran with: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39300" lvl="1" marL="4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10.54 GeV polarized beam with </a:t>
            </a:r>
            <a:r>
              <a:rPr lang="fr">
                <a:latin typeface="Courier New"/>
                <a:ea typeface="Courier New"/>
                <a:cs typeface="Courier New"/>
                <a:sym typeface="Courier New"/>
              </a:rPr>
              <a:t>I= 5–175 nA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 for luminosity scans and production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39300" lvl="1" marL="4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Standard CLAS12 configuration with FT-OFF and three layers of FMT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39300" lvl="1" marL="4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Three target configurations, LD2, CxC, and CuSn, 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and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 Inbending and Outbending torus magnet setup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39300" lvl="1" marL="4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New cryogenic LD2 and the nuclear-foil flag assembly centered at -5 cm for each configuration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64700" lvl="0" marL="28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Main run hiccups: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39300" lvl="1" marL="4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Faraday Cup vacuum contamination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39300" lvl="1" marL="4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Moller cone sagging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9" name="Google Shape;109;p17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2125" y="2021400"/>
            <a:ext cx="3752549" cy="2680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775" y="2844926"/>
            <a:ext cx="4119449" cy="1831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" name="Google Shape;112;p17"/>
          <p:cNvCxnSpPr>
            <a:stCxn id="113" idx="2"/>
          </p:cNvCxnSpPr>
          <p:nvPr/>
        </p:nvCxnSpPr>
        <p:spPr>
          <a:xfrm>
            <a:off x="5652150" y="3900000"/>
            <a:ext cx="113100" cy="4395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" name="Google Shape;113;p17"/>
          <p:cNvSpPr txBox="1"/>
          <p:nvPr/>
        </p:nvSpPr>
        <p:spPr>
          <a:xfrm>
            <a:off x="5325600" y="3561000"/>
            <a:ext cx="653100" cy="3390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LD2 entrance window</a:t>
            </a:r>
            <a:endParaRPr sz="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14" name="Google Shape;114;p17"/>
          <p:cNvCxnSpPr>
            <a:stCxn id="115" idx="2"/>
          </p:cNvCxnSpPr>
          <p:nvPr/>
        </p:nvCxnSpPr>
        <p:spPr>
          <a:xfrm>
            <a:off x="6075300" y="3479438"/>
            <a:ext cx="65100" cy="7473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" name="Google Shape;115;p17"/>
          <p:cNvSpPr txBox="1"/>
          <p:nvPr/>
        </p:nvSpPr>
        <p:spPr>
          <a:xfrm>
            <a:off x="5765250" y="3228038"/>
            <a:ext cx="620100" cy="2514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LD2 exit window</a:t>
            </a:r>
            <a:endParaRPr sz="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16" name="Google Shape;116;p17"/>
          <p:cNvCxnSpPr>
            <a:stCxn id="117" idx="3"/>
          </p:cNvCxnSpPr>
          <p:nvPr/>
        </p:nvCxnSpPr>
        <p:spPr>
          <a:xfrm>
            <a:off x="6237425" y="2681800"/>
            <a:ext cx="262800" cy="4710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" name="Google Shape;117;p17"/>
          <p:cNvSpPr txBox="1"/>
          <p:nvPr/>
        </p:nvSpPr>
        <p:spPr>
          <a:xfrm>
            <a:off x="5617325" y="2556100"/>
            <a:ext cx="620100" cy="2514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Cu target</a:t>
            </a:r>
            <a:endParaRPr sz="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18" name="Google Shape;118;p17"/>
          <p:cNvCxnSpPr>
            <a:stCxn id="119" idx="1"/>
          </p:cNvCxnSpPr>
          <p:nvPr/>
        </p:nvCxnSpPr>
        <p:spPr>
          <a:xfrm flipH="1">
            <a:off x="6870550" y="2502825"/>
            <a:ext cx="186600" cy="6060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" name="Google Shape;119;p17"/>
          <p:cNvSpPr txBox="1"/>
          <p:nvPr/>
        </p:nvSpPr>
        <p:spPr>
          <a:xfrm>
            <a:off x="7057150" y="2377125"/>
            <a:ext cx="620100" cy="2514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Sn</a:t>
            </a:r>
            <a:r>
              <a:rPr lang="fr" sz="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target</a:t>
            </a:r>
            <a:endParaRPr sz="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20" name="Google Shape;120;p17"/>
          <p:cNvCxnSpPr>
            <a:stCxn id="121" idx="2"/>
          </p:cNvCxnSpPr>
          <p:nvPr/>
        </p:nvCxnSpPr>
        <p:spPr>
          <a:xfrm flipH="1">
            <a:off x="7938100" y="3623700"/>
            <a:ext cx="12600" cy="5904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" name="Google Shape;121;p17"/>
          <p:cNvSpPr txBox="1"/>
          <p:nvPr/>
        </p:nvSpPr>
        <p:spPr>
          <a:xfrm>
            <a:off x="7542550" y="3372300"/>
            <a:ext cx="816300" cy="2514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Scattering chamber entrance</a:t>
            </a:r>
            <a:endParaRPr sz="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RG-D: Data Processing Summary</a:t>
            </a:r>
            <a:endParaRPr/>
          </a:p>
        </p:txBody>
      </p:sp>
      <p:sp>
        <p:nvSpPr>
          <p:cNvPr id="127" name="Google Shape;127;p18"/>
          <p:cNvSpPr txBox="1"/>
          <p:nvPr>
            <p:ph idx="1" type="body"/>
          </p:nvPr>
        </p:nvSpPr>
        <p:spPr>
          <a:xfrm>
            <a:off x="110750" y="731700"/>
            <a:ext cx="4926000" cy="39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64700" lvl="0" marL="280800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Alignment: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39300" lvl="1" marL="4860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final DC (FMT) alignment using zero-field 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(and cosmic runs)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 run is completed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00699" lvl="0" marL="208799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 sz="1300">
                <a:latin typeface="Nunito"/>
                <a:ea typeface="Nunito"/>
                <a:cs typeface="Nunito"/>
                <a:sym typeface="Nunito"/>
              </a:rPr>
              <a:t>Plots show track: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-175299" lvl="1" marL="41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 sz="1300">
                <a:latin typeface="Nunito"/>
                <a:ea typeface="Nunito"/>
                <a:cs typeface="Nunito"/>
                <a:sym typeface="Nunito"/>
              </a:rPr>
              <a:t>Fit residuals (colored points) and vertex residuals (black symbols) vs. θ bin.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-175299" lvl="1" marL="41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 sz="1300">
                <a:latin typeface="Nunito"/>
                <a:ea typeface="Nunito"/>
                <a:cs typeface="Nunito"/>
                <a:sym typeface="Nunito"/>
              </a:rPr>
              <a:t>Different symbols (circle, square, triangle, etc.) represent different φ  bins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-175299" lvl="1" marL="41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 sz="1300">
                <a:latin typeface="Nunito"/>
                <a:ea typeface="Nunito"/>
                <a:cs typeface="Nunito"/>
                <a:sym typeface="Nunito"/>
              </a:rPr>
              <a:t>Colors different superlayers 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-175299" lvl="1" marL="41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 sz="1300">
                <a:latin typeface="Nunito"/>
                <a:ea typeface="Nunito"/>
                <a:cs typeface="Nunito"/>
                <a:sym typeface="Nunito"/>
              </a:rPr>
              <a:t>Y axis position the θ bin.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8" name="Google Shape;128;p18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sp>
        <p:nvSpPr>
          <p:cNvPr id="129" name="Google Shape;129;p18"/>
          <p:cNvSpPr txBox="1"/>
          <p:nvPr/>
        </p:nvSpPr>
        <p:spPr>
          <a:xfrm>
            <a:off x="5221325" y="656200"/>
            <a:ext cx="813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Nominal geometry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8074200" y="656200"/>
            <a:ext cx="813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Final alignment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3">
            <a:alphaModFix/>
          </a:blip>
          <a:srcRect b="0" l="0" r="2629" t="0"/>
          <a:stretch/>
        </p:blipFill>
        <p:spPr>
          <a:xfrm>
            <a:off x="6533988" y="970100"/>
            <a:ext cx="1041425" cy="371482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8"/>
          <p:cNvSpPr txBox="1"/>
          <p:nvPr/>
        </p:nvSpPr>
        <p:spPr>
          <a:xfrm>
            <a:off x="6647776" y="656200"/>
            <a:ext cx="894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First+Second alignment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33" name="Google Shape;13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3512" y="1003698"/>
            <a:ext cx="1069525" cy="3714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7650" y="1036250"/>
            <a:ext cx="1041425" cy="358253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 txBox="1"/>
          <p:nvPr/>
        </p:nvSpPr>
        <p:spPr>
          <a:xfrm>
            <a:off x="154700" y="4099025"/>
            <a:ext cx="4027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Thanks to R. De Vita and M. Maynes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RG-D: Data Processing Summary</a:t>
            </a:r>
            <a:endParaRPr/>
          </a:p>
        </p:txBody>
      </p:sp>
      <p:sp>
        <p:nvSpPr>
          <p:cNvPr id="141" name="Google Shape;141;p19"/>
          <p:cNvSpPr txBox="1"/>
          <p:nvPr>
            <p:ph idx="1" type="body"/>
          </p:nvPr>
        </p:nvSpPr>
        <p:spPr>
          <a:xfrm>
            <a:off x="110750" y="731700"/>
            <a:ext cx="4926000" cy="39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64700" lvl="0" marL="280800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Alignment: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39300" lvl="1" marL="4860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final DC (FMT) alignment using zero-field (and cosmic runs) run is completed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2" name="Google Shape;142;p19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sp>
        <p:nvSpPr>
          <p:cNvPr id="143" name="Google Shape;143;p19"/>
          <p:cNvSpPr txBox="1"/>
          <p:nvPr/>
        </p:nvSpPr>
        <p:spPr>
          <a:xfrm>
            <a:off x="154700" y="4099025"/>
            <a:ext cx="4027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44" name="Google Shape;144;p19"/>
          <p:cNvPicPr preferRelativeResize="0"/>
          <p:nvPr/>
        </p:nvPicPr>
        <p:blipFill rotWithShape="1">
          <a:blip r:embed="rId3">
            <a:alphaModFix/>
          </a:blip>
          <a:srcRect b="48286" l="0" r="0" t="0"/>
          <a:stretch/>
        </p:blipFill>
        <p:spPr>
          <a:xfrm>
            <a:off x="189538" y="2131375"/>
            <a:ext cx="8764923" cy="254739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/>
        </p:nvSpPr>
        <p:spPr>
          <a:xfrm>
            <a:off x="4427550" y="731700"/>
            <a:ext cx="46095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5301" lvl="0" marL="24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"/>
              <a:buChar char="●"/>
            </a:pP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Final FMT alignment constants were extracted using the zero-filed and cosmic runs, and uploaded for layers 2 and 3 (</a:t>
            </a:r>
            <a:r>
              <a:rPr i="1"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layer 1 disk was not functional in RG-D</a:t>
            </a: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).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75301" lvl="0" marL="24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"/>
              <a:buChar char="●"/>
            </a:pP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Thanks to Y. Gotra 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RG-D: Data Processing Summary</a:t>
            </a:r>
            <a:endParaRPr/>
          </a:p>
        </p:txBody>
      </p:sp>
      <p:sp>
        <p:nvSpPr>
          <p:cNvPr id="151" name="Google Shape;151;p20"/>
          <p:cNvSpPr txBox="1"/>
          <p:nvPr>
            <p:ph idx="1" type="body"/>
          </p:nvPr>
        </p:nvSpPr>
        <p:spPr>
          <a:xfrm>
            <a:off x="110750" y="731700"/>
            <a:ext cx="8870100" cy="39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156127" lvl="0" marL="280800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Alignment: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32632" lvl="1" marL="486000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final DC (FMT) alignment using zero-field (and cosmic runs) run is completed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56127" lvl="0" marL="280800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Calibration 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44380" lvl="1" marL="486000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Beam offsets: transverse X and Y positions for FD and CD were calibrated and CVT z-offset was adjusted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44380" lvl="1" marL="486000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RF calibration is done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44380" lvl="1" marL="486000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FTOF and CTOF calibrations are almost finalized depending on the to-be-produced timelines after the latest iterations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44380" lvl="1" marL="486000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RICH: time calibration is finalized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44380" lvl="1" marL="486000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LTCC: per-sector number of photon electron signal was calibrated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44380" lvl="1" marL="486000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ECal: time residual constants were updated for IB and OB datasets 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44380" lvl="1" marL="486000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CND calibration is almost finalized depending on the to-be-produced timelines after the latest iterations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2" name="Google Shape;152;p20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RG-D: Data Processing Summary</a:t>
            </a:r>
            <a:endParaRPr/>
          </a:p>
        </p:txBody>
      </p:sp>
      <p:sp>
        <p:nvSpPr>
          <p:cNvPr id="158" name="Google Shape;158;p21"/>
          <p:cNvSpPr txBox="1"/>
          <p:nvPr>
            <p:ph idx="1" type="body"/>
          </p:nvPr>
        </p:nvSpPr>
        <p:spPr>
          <a:xfrm>
            <a:off x="62800" y="750825"/>
            <a:ext cx="9005700" cy="390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64700" lvl="0" marL="280800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Timelines monitoring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: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52000" lvl="1" marL="486000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The first three 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timelines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 for RG-D 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datasets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 were done online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39300" lvl="1" marL="4860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September 4</a:t>
            </a:r>
            <a:r>
              <a:rPr baseline="30000" lang="fr">
                <a:latin typeface="Nunito"/>
                <a:ea typeface="Nunito"/>
                <a:cs typeface="Nunito"/>
                <a:sym typeface="Nunito"/>
              </a:rPr>
              <a:t>th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: Pass0v4:  final RG-D DC alignment, beam offsets, and CVT z-offset adjustment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75299" lvl="2" marL="9036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■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Timelines are available </a:t>
            </a:r>
            <a:r>
              <a:rPr lang="fr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3"/>
              </a:rPr>
              <a:t>here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39300" lvl="1" marL="4860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October 14</a:t>
            </a:r>
            <a:r>
              <a:rPr baseline="30000" lang="fr">
                <a:latin typeface="Nunito"/>
                <a:ea typeface="Nunito"/>
                <a:cs typeface="Nunito"/>
                <a:sym typeface="Nunito"/>
              </a:rPr>
              <a:t>th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: Pass0v5: 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Pass0v4 conditions +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 first-round of FTOF and CTOF, and 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partial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 ECal energy calibrations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75299" lvl="2" marL="9036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■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Timelines are available </a:t>
            </a:r>
            <a:r>
              <a:rPr lang="fr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4"/>
              </a:rPr>
              <a:t>here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39300" lvl="1" marL="4860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October 23</a:t>
            </a:r>
            <a:r>
              <a:rPr baseline="30000" lang="fr">
                <a:latin typeface="Nunito"/>
                <a:ea typeface="Nunito"/>
                <a:cs typeface="Nunito"/>
                <a:sym typeface="Nunito"/>
              </a:rPr>
              <a:t>th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: Pass0v6: 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Pass0v5 conditions 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+ first round of RF calibration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75299" lvl="2" marL="9036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■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Timelines are available </a:t>
            </a:r>
            <a:r>
              <a:rPr lang="fr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5"/>
              </a:rPr>
              <a:t>here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58350" lvl="0" marL="280800" rtl="0" algn="l">
              <a:spcBef>
                <a:spcPts val="120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fr" sz="1700">
                <a:latin typeface="Nunito"/>
                <a:ea typeface="Nunito"/>
                <a:cs typeface="Nunito"/>
                <a:sym typeface="Nunito"/>
              </a:rPr>
              <a:t>For more details, please visit the RG-D analysis</a:t>
            </a:r>
            <a:r>
              <a:rPr lang="fr" sz="170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fr" sz="17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6"/>
              </a:rPr>
              <a:t>wikipage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9" name="Google Shape;159;p21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Beam Offsets Calibration</a:t>
            </a:r>
            <a:endParaRPr/>
          </a:p>
        </p:txBody>
      </p:sp>
      <p:sp>
        <p:nvSpPr>
          <p:cNvPr id="165" name="Google Shape;165;p22"/>
          <p:cNvSpPr txBox="1"/>
          <p:nvPr>
            <p:ph idx="1" type="body"/>
          </p:nvPr>
        </p:nvSpPr>
        <p:spPr>
          <a:xfrm>
            <a:off x="33475" y="675750"/>
            <a:ext cx="8914500" cy="17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64700" lvl="0" marL="280800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After the completion of DC and CVT alignment, the beam spot analysis was run by S. Polcher for LD2, C, and CuSn runs: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39300" lvl="1" marL="4860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FD and CD beam spots are consistent with each other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39300" lvl="1" marL="4860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Relative position of DC and CVT is already correct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39300" lvl="1" marL="4860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x position is basically constant and consistent with 0 cm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39300" lvl="1" marL="4860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Three run ranges with different y positions: -0.03, -0.09, and -0.18 cm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6" name="Google Shape;166;p22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pic>
        <p:nvPicPr>
          <p:cNvPr id="167" name="Google Shape;16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475" y="2384575"/>
            <a:ext cx="7694397" cy="221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2"/>
          <p:cNvSpPr txBox="1"/>
          <p:nvPr/>
        </p:nvSpPr>
        <p:spPr>
          <a:xfrm>
            <a:off x="7762800" y="3848175"/>
            <a:ext cx="1236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Beam spot analysis for LD2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3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RICH: first calibration</a:t>
            </a:r>
            <a:endParaRPr/>
          </a:p>
        </p:txBody>
      </p:sp>
      <p:sp>
        <p:nvSpPr>
          <p:cNvPr id="174" name="Google Shape;174;p23"/>
          <p:cNvSpPr txBox="1"/>
          <p:nvPr>
            <p:ph idx="1" type="body"/>
          </p:nvPr>
        </p:nvSpPr>
        <p:spPr>
          <a:xfrm>
            <a:off x="43950" y="773000"/>
            <a:ext cx="2999100" cy="38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Calibration done using the data of the pass0v4 cooking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Thanks to M. Mirazita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5" name="Google Shape;175;p23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sp>
        <p:nvSpPr>
          <p:cNvPr id="176" name="Google Shape;176;p23"/>
          <p:cNvSpPr txBox="1"/>
          <p:nvPr/>
        </p:nvSpPr>
        <p:spPr>
          <a:xfrm>
            <a:off x="5325625" y="932675"/>
            <a:ext cx="246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3025" y="674125"/>
            <a:ext cx="6100982" cy="189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3000" y="2636151"/>
            <a:ext cx="6101023" cy="189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3"/>
          <p:cNvSpPr txBox="1"/>
          <p:nvPr/>
        </p:nvSpPr>
        <p:spPr>
          <a:xfrm>
            <a:off x="3265725" y="803875"/>
            <a:ext cx="103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6AA84F"/>
                </a:solidFill>
                <a:latin typeface="Nunito"/>
                <a:ea typeface="Nunito"/>
                <a:cs typeface="Nunito"/>
                <a:sym typeface="Nunito"/>
              </a:rPr>
              <a:t>Pass0v4</a:t>
            </a:r>
            <a:endParaRPr sz="1800">
              <a:solidFill>
                <a:srgbClr val="6AA84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0" name="Google Shape;180;p23"/>
          <p:cNvSpPr txBox="1"/>
          <p:nvPr/>
        </p:nvSpPr>
        <p:spPr>
          <a:xfrm>
            <a:off x="3265725" y="2777525"/>
            <a:ext cx="103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6AA84F"/>
                </a:solidFill>
                <a:latin typeface="Nunito"/>
                <a:ea typeface="Nunito"/>
                <a:cs typeface="Nunito"/>
                <a:sym typeface="Nunito"/>
              </a:rPr>
              <a:t>Pass0v6</a:t>
            </a:r>
            <a:endParaRPr sz="1800">
              <a:solidFill>
                <a:srgbClr val="6AA84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FTOF: first and second calibration rounds</a:t>
            </a:r>
            <a:endParaRPr/>
          </a:p>
        </p:txBody>
      </p:sp>
      <p:sp>
        <p:nvSpPr>
          <p:cNvPr id="186" name="Google Shape;186;p24"/>
          <p:cNvSpPr txBox="1"/>
          <p:nvPr>
            <p:ph idx="1" type="body"/>
          </p:nvPr>
        </p:nvSpPr>
        <p:spPr>
          <a:xfrm>
            <a:off x="81650" y="700300"/>
            <a:ext cx="2782200" cy="39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Calibration using specific cooking calib_v8, calib_v9.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500">
                <a:latin typeface="Nunito"/>
                <a:ea typeface="Nunito"/>
                <a:cs typeface="Nunito"/>
                <a:sym typeface="Nunito"/>
              </a:rPr>
              <a:t>D. Carman calibrated the attenuation length, effective velocity, gain balance, time walk, time walk position, time offsets. </a:t>
            </a:r>
            <a:endParaRPr sz="15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500">
                <a:latin typeface="Nunito"/>
                <a:ea typeface="Nunito"/>
                <a:cs typeface="Nunito"/>
                <a:sym typeface="Nunito"/>
              </a:rPr>
              <a:t>3 iterations of the FTOF calibration.</a:t>
            </a:r>
            <a:endParaRPr sz="15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Thanks to D. Carman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7" name="Google Shape;187;p24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pic>
        <p:nvPicPr>
          <p:cNvPr id="188" name="Google Shape;18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7650" y="2634812"/>
            <a:ext cx="6176353" cy="1987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7650" y="647411"/>
            <a:ext cx="6176353" cy="1987411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4"/>
          <p:cNvSpPr txBox="1"/>
          <p:nvPr/>
        </p:nvSpPr>
        <p:spPr>
          <a:xfrm>
            <a:off x="3265725" y="803875"/>
            <a:ext cx="103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6AA84F"/>
                </a:solidFill>
                <a:latin typeface="Nunito"/>
                <a:ea typeface="Nunito"/>
                <a:cs typeface="Nunito"/>
                <a:sym typeface="Nunito"/>
              </a:rPr>
              <a:t>Pass0v4</a:t>
            </a:r>
            <a:endParaRPr sz="1800">
              <a:solidFill>
                <a:srgbClr val="6AA84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1" name="Google Shape;191;p24"/>
          <p:cNvSpPr txBox="1"/>
          <p:nvPr/>
        </p:nvSpPr>
        <p:spPr>
          <a:xfrm>
            <a:off x="3265725" y="2808950"/>
            <a:ext cx="103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6AA84F"/>
                </a:solidFill>
                <a:latin typeface="Nunito"/>
                <a:ea typeface="Nunito"/>
                <a:cs typeface="Nunito"/>
                <a:sym typeface="Nunito"/>
              </a:rPr>
              <a:t>Pass0v6</a:t>
            </a:r>
            <a:endParaRPr sz="1800">
              <a:solidFill>
                <a:srgbClr val="6AA84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CTOF: calibration</a:t>
            </a:r>
            <a:endParaRPr/>
          </a:p>
        </p:txBody>
      </p:sp>
      <p:sp>
        <p:nvSpPr>
          <p:cNvPr id="197" name="Google Shape;197;p25"/>
          <p:cNvSpPr txBox="1"/>
          <p:nvPr>
            <p:ph idx="1" type="body"/>
          </p:nvPr>
        </p:nvSpPr>
        <p:spPr>
          <a:xfrm>
            <a:off x="98150" y="737975"/>
            <a:ext cx="3085800" cy="389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Calibration using specific cooking calib_v8 and calib_v9.</a:t>
            </a:r>
            <a:r>
              <a:rPr lang="fr" sz="1500">
                <a:latin typeface="Nunito"/>
                <a:ea typeface="Nunito"/>
                <a:cs typeface="Nunito"/>
                <a:sym typeface="Nunito"/>
              </a:rPr>
              <a:t> </a:t>
            </a:r>
            <a:endParaRPr sz="15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500">
                <a:latin typeface="Nunito"/>
                <a:ea typeface="Nunito"/>
                <a:cs typeface="Nunito"/>
                <a:sym typeface="Nunito"/>
              </a:rPr>
              <a:t>2 iterations of the CTOF calibration.</a:t>
            </a:r>
            <a:endParaRPr sz="15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Thanks to D. Carman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8" name="Google Shape;198;p25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pic>
        <p:nvPicPr>
          <p:cNvPr id="199" name="Google Shape;19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2400" y="737975"/>
            <a:ext cx="5655248" cy="184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2625" y="2786725"/>
            <a:ext cx="5655250" cy="1819731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5"/>
          <p:cNvSpPr txBox="1"/>
          <p:nvPr/>
        </p:nvSpPr>
        <p:spPr>
          <a:xfrm>
            <a:off x="7383900" y="910625"/>
            <a:ext cx="103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6AA84F"/>
                </a:solidFill>
                <a:latin typeface="Nunito"/>
                <a:ea typeface="Nunito"/>
                <a:cs typeface="Nunito"/>
                <a:sym typeface="Nunito"/>
              </a:rPr>
              <a:t>Pass0v4</a:t>
            </a:r>
            <a:endParaRPr sz="1800">
              <a:solidFill>
                <a:srgbClr val="6AA84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2" name="Google Shape;202;p25"/>
          <p:cNvSpPr txBox="1"/>
          <p:nvPr/>
        </p:nvSpPr>
        <p:spPr>
          <a:xfrm>
            <a:off x="7383900" y="4071250"/>
            <a:ext cx="103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6AA84F"/>
                </a:solidFill>
                <a:latin typeface="Nunito"/>
                <a:ea typeface="Nunito"/>
                <a:cs typeface="Nunito"/>
                <a:sym typeface="Nunito"/>
              </a:rPr>
              <a:t>Pass0v6</a:t>
            </a:r>
            <a:endParaRPr sz="1800">
              <a:solidFill>
                <a:srgbClr val="6AA84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9150" y="2698400"/>
            <a:ext cx="6204800" cy="201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9091" y="680600"/>
            <a:ext cx="6204908" cy="201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6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RF: calibration</a:t>
            </a:r>
            <a:endParaRPr/>
          </a:p>
        </p:txBody>
      </p:sp>
      <p:sp>
        <p:nvSpPr>
          <p:cNvPr id="210" name="Google Shape;210;p26"/>
          <p:cNvSpPr txBox="1"/>
          <p:nvPr>
            <p:ph idx="1" type="body"/>
          </p:nvPr>
        </p:nvSpPr>
        <p:spPr>
          <a:xfrm>
            <a:off x="79350" y="687750"/>
            <a:ext cx="2627400" cy="39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RF offsets were updated based on Pass0v5 using a 5 ps threshold.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Using all runs and the rf train.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Thanks to R. De Vita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1" name="Google Shape;211;p26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sp>
        <p:nvSpPr>
          <p:cNvPr id="212" name="Google Shape;212;p26"/>
          <p:cNvSpPr txBox="1"/>
          <p:nvPr/>
        </p:nvSpPr>
        <p:spPr>
          <a:xfrm>
            <a:off x="3282600" y="2047350"/>
            <a:ext cx="103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6AA84F"/>
                </a:solidFill>
                <a:latin typeface="Nunito"/>
                <a:ea typeface="Nunito"/>
                <a:cs typeface="Nunito"/>
                <a:sym typeface="Nunito"/>
              </a:rPr>
              <a:t>Pass0v4</a:t>
            </a:r>
            <a:endParaRPr sz="1800">
              <a:solidFill>
                <a:srgbClr val="6AA84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3" name="Google Shape;213;p26"/>
          <p:cNvSpPr txBox="1"/>
          <p:nvPr/>
        </p:nvSpPr>
        <p:spPr>
          <a:xfrm>
            <a:off x="3282600" y="4152875"/>
            <a:ext cx="103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6AA84F"/>
                </a:solidFill>
                <a:latin typeface="Nunito"/>
                <a:ea typeface="Nunito"/>
                <a:cs typeface="Nunito"/>
                <a:sym typeface="Nunito"/>
              </a:rPr>
              <a:t>Pass0v6</a:t>
            </a:r>
            <a:endParaRPr sz="1800">
              <a:solidFill>
                <a:srgbClr val="6AA84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ECAL: calibration</a:t>
            </a:r>
            <a:endParaRPr/>
          </a:p>
        </p:txBody>
      </p:sp>
      <p:sp>
        <p:nvSpPr>
          <p:cNvPr id="219" name="Google Shape;219;p27"/>
          <p:cNvSpPr txBox="1"/>
          <p:nvPr>
            <p:ph idx="1" type="body"/>
          </p:nvPr>
        </p:nvSpPr>
        <p:spPr>
          <a:xfrm>
            <a:off x="129575" y="832200"/>
            <a:ext cx="2916300" cy="37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Fi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rst iteration of adjustments to timing residual offsets to compensate for probable time-walk.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First energy calibration attempt using LD2 runs processed in Pass0v4.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Thanks to C. Smith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0" name="Google Shape;220;p27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pic>
        <p:nvPicPr>
          <p:cNvPr id="221" name="Google Shape;22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125" y="2664422"/>
            <a:ext cx="5941873" cy="1932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2126" y="709648"/>
            <a:ext cx="5880750" cy="1912401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7"/>
          <p:cNvSpPr txBox="1"/>
          <p:nvPr/>
        </p:nvSpPr>
        <p:spPr>
          <a:xfrm>
            <a:off x="7540575" y="832200"/>
            <a:ext cx="103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6AA84F"/>
                </a:solidFill>
                <a:latin typeface="Nunito"/>
                <a:ea typeface="Nunito"/>
                <a:cs typeface="Nunito"/>
                <a:sym typeface="Nunito"/>
              </a:rPr>
              <a:t>Pass0v4</a:t>
            </a:r>
            <a:endParaRPr sz="1800">
              <a:solidFill>
                <a:srgbClr val="6AA84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4" name="Google Shape;224;p27"/>
          <p:cNvSpPr txBox="1"/>
          <p:nvPr/>
        </p:nvSpPr>
        <p:spPr>
          <a:xfrm>
            <a:off x="7540575" y="2758675"/>
            <a:ext cx="103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6AA84F"/>
                </a:solidFill>
                <a:latin typeface="Nunito"/>
                <a:ea typeface="Nunito"/>
                <a:cs typeface="Nunito"/>
                <a:sym typeface="Nunito"/>
              </a:rPr>
              <a:t>Pass0v6</a:t>
            </a:r>
            <a:endParaRPr sz="1800">
              <a:solidFill>
                <a:srgbClr val="6AA84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Other calibration</a:t>
            </a:r>
            <a:endParaRPr/>
          </a:p>
        </p:txBody>
      </p:sp>
      <p:sp>
        <p:nvSpPr>
          <p:cNvPr id="230" name="Google Shape;230;p28"/>
          <p:cNvSpPr txBox="1"/>
          <p:nvPr>
            <p:ph idx="1" type="body"/>
          </p:nvPr>
        </p:nvSpPr>
        <p:spPr>
          <a:xfrm>
            <a:off x="274000" y="888700"/>
            <a:ext cx="8520600" cy="37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00701" lvl="0" marL="316800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LTCC calibration have been done with calib_v9 data, thanks to V. Mascagna.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00701" lvl="0" marL="316800" rtl="0" algn="l">
              <a:spcBef>
                <a:spcPts val="120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Ongoing calibration: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75301" lvl="1" marL="5220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DC with the new calibration suite.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75301" lvl="1" marL="5220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HTCC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75301" lvl="1" marL="5220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CND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Thanks to all the calibrators. 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1" name="Google Shape;231;p28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9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 Vertex Studies</a:t>
            </a:r>
            <a:endParaRPr/>
          </a:p>
        </p:txBody>
      </p:sp>
      <p:sp>
        <p:nvSpPr>
          <p:cNvPr id="237" name="Google Shape;237;p29"/>
          <p:cNvSpPr txBox="1"/>
          <p:nvPr>
            <p:ph idx="1" type="body"/>
          </p:nvPr>
        </p:nvSpPr>
        <p:spPr>
          <a:xfrm>
            <a:off x="98200" y="744225"/>
            <a:ext cx="8951700" cy="13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00699" lvl="0" marL="208799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Goal: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71374" lvl="1" marL="414000" rtl="0" algn="l">
              <a:spcBef>
                <a:spcPts val="0"/>
              </a:spcBef>
              <a:spcAft>
                <a:spcPts val="0"/>
              </a:spcAft>
              <a:buSzPts val="1338"/>
              <a:buFont typeface="Nunito"/>
              <a:buChar char="○"/>
            </a:pPr>
            <a:r>
              <a:rPr lang="fr" sz="1538">
                <a:latin typeface="Nunito"/>
                <a:ea typeface="Nunito"/>
                <a:cs typeface="Nunito"/>
                <a:sym typeface="Nunito"/>
              </a:rPr>
              <a:t>S</a:t>
            </a:r>
            <a:r>
              <a:rPr lang="fr" sz="1538">
                <a:latin typeface="Nunito"/>
                <a:ea typeface="Nunito"/>
                <a:cs typeface="Nunito"/>
                <a:sym typeface="Nunito"/>
              </a:rPr>
              <a:t>ectors are well aligned in Vx, vy and vz, </a:t>
            </a:r>
            <a:endParaRPr sz="1538">
              <a:latin typeface="Nunito"/>
              <a:ea typeface="Nunito"/>
              <a:cs typeface="Nunito"/>
              <a:sym typeface="Nunito"/>
            </a:endParaRPr>
          </a:p>
          <a:p>
            <a:pPr indent="-171374" lvl="1" marL="414000" rtl="0" algn="l">
              <a:spcBef>
                <a:spcPts val="0"/>
              </a:spcBef>
              <a:spcAft>
                <a:spcPts val="0"/>
              </a:spcAft>
              <a:buSzPts val="1338"/>
              <a:buFont typeface="Nunito"/>
              <a:buChar char="○"/>
            </a:pPr>
            <a:r>
              <a:rPr lang="fr" sz="1538">
                <a:latin typeface="Nunito"/>
                <a:ea typeface="Nunito"/>
                <a:cs typeface="Nunito"/>
                <a:sym typeface="Nunito"/>
              </a:rPr>
              <a:t>Could sector-</a:t>
            </a:r>
            <a:r>
              <a:rPr lang="fr" sz="1538">
                <a:latin typeface="Nunito"/>
                <a:ea typeface="Nunito"/>
                <a:cs typeface="Nunito"/>
                <a:sym typeface="Nunito"/>
              </a:rPr>
              <a:t>independent</a:t>
            </a:r>
            <a:r>
              <a:rPr lang="fr" sz="1538">
                <a:latin typeface="Nunito"/>
                <a:ea typeface="Nunito"/>
                <a:cs typeface="Nunito"/>
                <a:sym typeface="Nunito"/>
              </a:rPr>
              <a:t> cuts on vx, vy and vz be applied? </a:t>
            </a:r>
            <a:endParaRPr sz="1538">
              <a:latin typeface="Nunito"/>
              <a:ea typeface="Nunito"/>
              <a:cs typeface="Nunito"/>
              <a:sym typeface="Nunito"/>
            </a:endParaRPr>
          </a:p>
          <a:p>
            <a:pPr indent="-171374" lvl="1" marL="414000" rtl="0" algn="l">
              <a:spcBef>
                <a:spcPts val="0"/>
              </a:spcBef>
              <a:spcAft>
                <a:spcPts val="0"/>
              </a:spcAft>
              <a:buSzPts val="1338"/>
              <a:buFont typeface="Nunito"/>
              <a:buChar char="○"/>
            </a:pPr>
            <a:r>
              <a:rPr lang="fr" sz="1538">
                <a:latin typeface="Nunito"/>
                <a:ea typeface="Nunito"/>
                <a:cs typeface="Nunito"/>
                <a:sym typeface="Nunito"/>
              </a:rPr>
              <a:t>Reduce the </a:t>
            </a:r>
            <a:r>
              <a:rPr lang="fr" sz="1538">
                <a:latin typeface="Nunito"/>
                <a:ea typeface="Nunito"/>
                <a:cs typeface="Nunito"/>
                <a:sym typeface="Nunito"/>
              </a:rPr>
              <a:t>contamination</a:t>
            </a:r>
            <a:r>
              <a:rPr lang="fr" sz="1538">
                <a:latin typeface="Nunito"/>
                <a:ea typeface="Nunito"/>
                <a:cs typeface="Nunito"/>
                <a:sym typeface="Nunito"/>
              </a:rPr>
              <a:t> for the </a:t>
            </a:r>
            <a:r>
              <a:rPr lang="fr" sz="1538">
                <a:latin typeface="Nunito"/>
                <a:ea typeface="Nunito"/>
                <a:cs typeface="Nunito"/>
                <a:sym typeface="Nunito"/>
              </a:rPr>
              <a:t>target</a:t>
            </a:r>
            <a:r>
              <a:rPr lang="fr" sz="1538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fr" sz="1538">
                <a:latin typeface="Nunito"/>
                <a:ea typeface="Nunito"/>
                <a:cs typeface="Nunito"/>
                <a:sym typeface="Nunito"/>
              </a:rPr>
              <a:t>configuration</a:t>
            </a:r>
            <a:r>
              <a:rPr lang="fr" sz="1538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fr" sz="1538">
                <a:latin typeface="Nunito"/>
                <a:ea typeface="Nunito"/>
                <a:cs typeface="Nunito"/>
                <a:sym typeface="Nunito"/>
              </a:rPr>
              <a:t>with</a:t>
            </a:r>
            <a:r>
              <a:rPr lang="fr" sz="1538">
                <a:latin typeface="Nunito"/>
                <a:ea typeface="Nunito"/>
                <a:cs typeface="Nunito"/>
                <a:sym typeface="Nunito"/>
              </a:rPr>
              <a:t> two different foils, CuSn</a:t>
            </a:r>
            <a:endParaRPr sz="1538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8" name="Google Shape;238;p29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pic>
        <p:nvPicPr>
          <p:cNvPr id="239" name="Google Shape;23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450" y="2047350"/>
            <a:ext cx="3493926" cy="269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5975" y="2044370"/>
            <a:ext cx="3493924" cy="26783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0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 Vertex Studies: Transverse COmponents </a:t>
            </a:r>
            <a:endParaRPr/>
          </a:p>
        </p:txBody>
      </p:sp>
      <p:sp>
        <p:nvSpPr>
          <p:cNvPr id="246" name="Google Shape;246;p30"/>
          <p:cNvSpPr txBox="1"/>
          <p:nvPr>
            <p:ph idx="1" type="body"/>
          </p:nvPr>
        </p:nvSpPr>
        <p:spPr>
          <a:xfrm>
            <a:off x="0" y="723600"/>
            <a:ext cx="9093900" cy="1108500"/>
          </a:xfrm>
          <a:prstGeom prst="rect">
            <a:avLst/>
          </a:prstGeom>
        </p:spPr>
        <p:txBody>
          <a:bodyPr anchorCtr="0" anchor="t" bIns="0" lIns="90000" spcFirstLastPara="1" rIns="0" wrap="square" tIns="0">
            <a:normAutofit/>
          </a:bodyPr>
          <a:lstStyle/>
          <a:p>
            <a:pPr indent="-168949" lvl="0" marL="208799" rtl="0" algn="l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fr" sz="1300">
                <a:latin typeface="Nunito"/>
                <a:ea typeface="Nunito"/>
                <a:cs typeface="Nunito"/>
                <a:sym typeface="Nunito"/>
              </a:rPr>
              <a:t>Get rid of the </a:t>
            </a:r>
            <a:r>
              <a:rPr lang="fr" sz="1300">
                <a:latin typeface="Nunito"/>
                <a:ea typeface="Nunito"/>
                <a:cs typeface="Nunito"/>
                <a:sym typeface="Nunito"/>
              </a:rPr>
              <a:t>sector-</a:t>
            </a:r>
            <a:r>
              <a:rPr lang="fr" sz="1300">
                <a:latin typeface="Nunito"/>
                <a:ea typeface="Nunito"/>
                <a:cs typeface="Nunito"/>
                <a:sym typeface="Nunito"/>
              </a:rPr>
              <a:t>independent cuts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7" name="Google Shape;247;p30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pic>
        <p:nvPicPr>
          <p:cNvPr id="248" name="Google Shape;24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075" y="1587900"/>
            <a:ext cx="4119350" cy="3112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4775" y="1474100"/>
            <a:ext cx="4093699" cy="3257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1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RGD studies: vertex study</a:t>
            </a:r>
            <a:endParaRPr/>
          </a:p>
        </p:txBody>
      </p:sp>
      <p:sp>
        <p:nvSpPr>
          <p:cNvPr id="255" name="Google Shape;255;p31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pic>
        <p:nvPicPr>
          <p:cNvPr id="256" name="Google Shape;25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5775" y="1371100"/>
            <a:ext cx="4117633" cy="3308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900" y="1433888"/>
            <a:ext cx="4383101" cy="3308426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1"/>
          <p:cNvSpPr txBox="1"/>
          <p:nvPr>
            <p:ph idx="1" type="body"/>
          </p:nvPr>
        </p:nvSpPr>
        <p:spPr>
          <a:xfrm>
            <a:off x="0" y="647400"/>
            <a:ext cx="8775900" cy="1108500"/>
          </a:xfrm>
          <a:prstGeom prst="rect">
            <a:avLst/>
          </a:prstGeom>
        </p:spPr>
        <p:txBody>
          <a:bodyPr anchorCtr="0" anchor="t" bIns="0" lIns="90000" spcFirstLastPara="1" rIns="0" wrap="square" tIns="0">
            <a:normAutofit/>
          </a:bodyPr>
          <a:lstStyle/>
          <a:p>
            <a:pPr indent="-168949" lvl="0" marL="208799" rtl="0" algn="l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t/>
            </a:r>
            <a:endParaRPr sz="13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350" y="810150"/>
            <a:ext cx="4596401" cy="37618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2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 Vertex Studies: z-vertex</a:t>
            </a:r>
            <a:endParaRPr/>
          </a:p>
        </p:txBody>
      </p:sp>
      <p:sp>
        <p:nvSpPr>
          <p:cNvPr id="265" name="Google Shape;265;p32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cxnSp>
        <p:nvCxnSpPr>
          <p:cNvPr id="266" name="Google Shape;266;p32"/>
          <p:cNvCxnSpPr/>
          <p:nvPr/>
        </p:nvCxnSpPr>
        <p:spPr>
          <a:xfrm>
            <a:off x="1048775" y="4433775"/>
            <a:ext cx="986100" cy="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32"/>
          <p:cNvCxnSpPr/>
          <p:nvPr/>
        </p:nvCxnSpPr>
        <p:spPr>
          <a:xfrm>
            <a:off x="2072450" y="4433775"/>
            <a:ext cx="8934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" name="Google Shape;268;p32"/>
          <p:cNvSpPr txBox="1"/>
          <p:nvPr/>
        </p:nvSpPr>
        <p:spPr>
          <a:xfrm>
            <a:off x="825225" y="4502925"/>
            <a:ext cx="11994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6AA84F"/>
                </a:solidFill>
                <a:latin typeface="Nunito"/>
                <a:ea typeface="Nunito"/>
                <a:cs typeface="Nunito"/>
                <a:sym typeface="Nunito"/>
              </a:rPr>
              <a:t>Empty LD2 cell</a:t>
            </a:r>
            <a:endParaRPr sz="1300">
              <a:solidFill>
                <a:srgbClr val="6AA84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9" name="Google Shape;269;p32"/>
          <p:cNvSpPr txBox="1"/>
          <p:nvPr/>
        </p:nvSpPr>
        <p:spPr>
          <a:xfrm>
            <a:off x="2051300" y="4502925"/>
            <a:ext cx="17043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CC0000"/>
                </a:solidFill>
                <a:latin typeface="Nunito"/>
                <a:ea typeface="Nunito"/>
                <a:cs typeface="Nunito"/>
                <a:sym typeface="Nunito"/>
              </a:rPr>
              <a:t>Nuclear-foil</a:t>
            </a:r>
            <a:endParaRPr sz="1300">
              <a:solidFill>
                <a:srgbClr val="CC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0" name="Google Shape;270;p32"/>
          <p:cNvSpPr txBox="1"/>
          <p:nvPr>
            <p:ph idx="1" type="body"/>
          </p:nvPr>
        </p:nvSpPr>
        <p:spPr>
          <a:xfrm>
            <a:off x="4691325" y="1168650"/>
            <a:ext cx="4289400" cy="3560400"/>
          </a:xfrm>
          <a:prstGeom prst="rect">
            <a:avLst/>
          </a:prstGeom>
        </p:spPr>
        <p:txBody>
          <a:bodyPr anchorCtr="0" anchor="t" bIns="0" lIns="90000" spcFirstLastPara="1" rIns="0" wrap="square" tIns="0">
            <a:normAutofit/>
          </a:bodyPr>
          <a:lstStyle/>
          <a:p>
            <a:pPr indent="-168949" lvl="0" marL="20879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fr" sz="1400">
                <a:latin typeface="Nunito"/>
                <a:ea typeface="Nunito"/>
                <a:cs typeface="Nunito"/>
                <a:sym typeface="Nunito"/>
              </a:rPr>
              <a:t>Fits: </a:t>
            </a:r>
            <a:endParaRPr sz="1400">
              <a:latin typeface="Nunito"/>
              <a:ea typeface="Nunito"/>
              <a:cs typeface="Nunito"/>
              <a:sym typeface="Nunito"/>
            </a:endParaRPr>
          </a:p>
          <a:p>
            <a:pPr indent="-168949" lvl="1" marL="41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○"/>
            </a:pPr>
            <a:r>
              <a:rPr lang="fr" sz="1400">
                <a:latin typeface="Nunito"/>
                <a:ea typeface="Nunito"/>
                <a:cs typeface="Nunito"/>
                <a:sym typeface="Nunito"/>
              </a:rPr>
              <a:t>Fit the empty LD2 cell and nucle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ar-foil</a:t>
            </a:r>
            <a:r>
              <a:rPr lang="fr" sz="1400">
                <a:latin typeface="Nunito"/>
                <a:ea typeface="Nunito"/>
                <a:cs typeface="Nunito"/>
                <a:sym typeface="Nunito"/>
              </a:rPr>
              <a:t> regions  with double gaussians and 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first-</a:t>
            </a:r>
            <a:r>
              <a:rPr lang="fr" sz="1400">
                <a:latin typeface="Nunito"/>
                <a:ea typeface="Nunito"/>
                <a:cs typeface="Nunito"/>
                <a:sym typeface="Nunito"/>
              </a:rPr>
              <a:t>order polynomial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68949" lvl="1" marL="4140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Same study on Carbon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Nunito"/>
              <a:ea typeface="Nunito"/>
              <a:cs typeface="Nunito"/>
              <a:sym typeface="Nunito"/>
            </a:endParaRPr>
          </a:p>
          <a:p>
            <a:pPr indent="-168949" lvl="0" marL="20879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fr" sz="1400">
                <a:latin typeface="Nunito"/>
                <a:ea typeface="Nunito"/>
                <a:cs typeface="Nunito"/>
                <a:sym typeface="Nunito"/>
              </a:rPr>
              <a:t>Separate the </a:t>
            </a:r>
            <a:r>
              <a:rPr lang="fr" sz="1538">
                <a:latin typeface="Nunito"/>
                <a:ea typeface="Nunito"/>
                <a:cs typeface="Nunito"/>
                <a:sym typeface="Nunito"/>
              </a:rPr>
              <a:t>two different foils, Cu and Sn </a:t>
            </a:r>
            <a:r>
              <a:rPr lang="fr" sz="1400">
                <a:latin typeface="Nunito"/>
                <a:ea typeface="Nunito"/>
                <a:cs typeface="Nunito"/>
                <a:sym typeface="Nunito"/>
              </a:rPr>
              <a:t>from each other</a:t>
            </a:r>
            <a:endParaRPr sz="14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6625" y="2248350"/>
            <a:ext cx="3636226" cy="2882651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3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RG-D studies: Color Transparency</a:t>
            </a:r>
            <a:endParaRPr/>
          </a:p>
        </p:txBody>
      </p:sp>
      <p:sp>
        <p:nvSpPr>
          <p:cNvPr id="277" name="Google Shape;277;p33"/>
          <p:cNvSpPr txBox="1"/>
          <p:nvPr>
            <p:ph idx="1" type="body"/>
          </p:nvPr>
        </p:nvSpPr>
        <p:spPr>
          <a:xfrm>
            <a:off x="66775" y="744225"/>
            <a:ext cx="4084500" cy="13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147555" lvl="0" marL="172800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Extract nuclear transparency </a:t>
            </a:r>
            <a:r>
              <a:rPr i="1" lang="fr">
                <a:latin typeface="Nunito"/>
                <a:ea typeface="Nunito"/>
                <a:cs typeface="Nunito"/>
                <a:sym typeface="Nunito"/>
              </a:rPr>
              <a:t>T</a:t>
            </a:r>
            <a:r>
              <a:rPr baseline="-25000" lang="fr">
                <a:latin typeface="Nunito"/>
                <a:ea typeface="Nunito"/>
                <a:cs typeface="Nunito"/>
                <a:sym typeface="Nunito"/>
              </a:rPr>
              <a:t>A 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as a function of Q</a:t>
            </a:r>
            <a:r>
              <a:rPr baseline="30000" lang="fr">
                <a:latin typeface="Nunito"/>
                <a:ea typeface="Nunito"/>
                <a:cs typeface="Nunito"/>
                <a:sym typeface="Nunito"/>
              </a:rPr>
              <a:t>2</a:t>
            </a:r>
            <a:endParaRPr baseline="30000">
              <a:latin typeface="Nunito"/>
              <a:ea typeface="Nunito"/>
              <a:cs typeface="Nunito"/>
              <a:sym typeface="Nunito"/>
            </a:endParaRPr>
          </a:p>
          <a:p>
            <a:pPr indent="-161964" lvl="1" marL="414000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Select event with 2 π that pass our cuts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61964" lvl="1" marL="414000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Fit the invariant mass of the 2 π to extract the yield of ρ</a:t>
            </a:r>
            <a:r>
              <a:rPr baseline="30000" lang="fr">
                <a:latin typeface="Nunito"/>
                <a:ea typeface="Nunito"/>
                <a:cs typeface="Nunito"/>
                <a:sym typeface="Nunito"/>
              </a:rPr>
              <a:t>0</a:t>
            </a:r>
            <a:endParaRPr baseline="30000">
              <a:latin typeface="Nunito"/>
              <a:ea typeface="Nunito"/>
              <a:cs typeface="Nunito"/>
              <a:sym typeface="Nunito"/>
            </a:endParaRPr>
          </a:p>
          <a:p>
            <a:pPr indent="-161964" lvl="1" marL="414000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Compute the nuclear transparency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8" name="Google Shape;278;p33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pic>
        <p:nvPicPr>
          <p:cNvPr id="279" name="Google Shape;279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900" y="2110125"/>
            <a:ext cx="3800311" cy="25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3"/>
          <p:cNvSpPr txBox="1"/>
          <p:nvPr/>
        </p:nvSpPr>
        <p:spPr>
          <a:xfrm>
            <a:off x="4074175" y="675150"/>
            <a:ext cx="3298800" cy="15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87999" lvl="0" marL="2087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600"/>
              <a:buFont typeface="Nunito"/>
              <a:buChar char="●"/>
            </a:pPr>
            <a:r>
              <a:rPr lang="fr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electron:</a:t>
            </a:r>
            <a:endParaRPr sz="12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26600" lvl="1" marL="342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Nunito"/>
              <a:buChar char="○"/>
            </a:pPr>
            <a:r>
              <a:rPr lang="fr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-5 &lt; chi2pid &lt; 5</a:t>
            </a:r>
            <a:endParaRPr sz="12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26600" lvl="1" marL="342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Nunito"/>
              <a:buChar char="○"/>
            </a:pPr>
            <a:r>
              <a:rPr lang="fr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-11.463 &lt; vz &lt; 5 cm for carbon</a:t>
            </a:r>
            <a:endParaRPr sz="12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26600" lvl="1" marL="342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Nunito"/>
              <a:buChar char="○"/>
            </a:pPr>
            <a:r>
              <a:rPr lang="fr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-20 &lt; vz &lt; 5 cm for LD2</a:t>
            </a:r>
            <a:endParaRPr sz="12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7999" lvl="0" marL="2087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600"/>
              <a:buFont typeface="Nunito"/>
              <a:buChar char="●"/>
            </a:pPr>
            <a:r>
              <a:rPr lang="fr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π</a:t>
            </a:r>
            <a:r>
              <a:rPr baseline="30000" lang="fr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±</a:t>
            </a:r>
            <a:r>
              <a:rPr lang="fr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endParaRPr sz="12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26600" lvl="1" marL="342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Nunito"/>
              <a:buChar char="○"/>
            </a:pPr>
            <a:r>
              <a:rPr lang="fr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-10 &lt; chi2pid &lt; 10</a:t>
            </a:r>
            <a:endParaRPr sz="12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1" name="Google Shape;281;p33"/>
          <p:cNvSpPr txBox="1"/>
          <p:nvPr/>
        </p:nvSpPr>
        <p:spPr>
          <a:xfrm>
            <a:off x="6606800" y="744213"/>
            <a:ext cx="1970400" cy="13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26600" lvl="0" marL="172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Nunito Medium"/>
              <a:buChar char="●"/>
            </a:pPr>
            <a:r>
              <a:rPr lang="fr" sz="12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Select event:</a:t>
            </a:r>
            <a:endParaRPr sz="12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162601" lvl="1" marL="522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Nunito Medium"/>
              <a:buChar char="○"/>
            </a:pPr>
            <a:r>
              <a:rPr lang="fr" sz="12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W&gt; 2 GeV</a:t>
            </a:r>
            <a:endParaRPr sz="12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162601" lvl="1" marL="522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Nunito Medium"/>
              <a:buChar char="○"/>
            </a:pPr>
            <a:r>
              <a:rPr lang="fr" sz="12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z</a:t>
            </a:r>
            <a:r>
              <a:rPr baseline="-25000" lang="fr" sz="12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h</a:t>
            </a:r>
            <a:r>
              <a:rPr lang="fr" sz="12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&gt; 0.9</a:t>
            </a:r>
            <a:endParaRPr sz="12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162601" lvl="1" marL="522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Nunito Medium"/>
              <a:buChar char="○"/>
            </a:pPr>
            <a:r>
              <a:rPr lang="fr" sz="12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0.1 &lt; -t &lt; 0.5</a:t>
            </a:r>
            <a:endParaRPr sz="12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latin typeface="Nunito Medium"/>
              <a:ea typeface="Nunito Medium"/>
              <a:cs typeface="Nunito Medium"/>
              <a:sym typeface="Nunito Mediu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RGD studies: Color Transparency</a:t>
            </a:r>
            <a:endParaRPr/>
          </a:p>
        </p:txBody>
      </p:sp>
      <p:sp>
        <p:nvSpPr>
          <p:cNvPr id="287" name="Google Shape;287;p34"/>
          <p:cNvSpPr txBox="1"/>
          <p:nvPr>
            <p:ph idx="1" type="body"/>
          </p:nvPr>
        </p:nvSpPr>
        <p:spPr>
          <a:xfrm>
            <a:off x="79000" y="700275"/>
            <a:ext cx="9014700" cy="6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6253" lvl="0" marL="20879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73"/>
              <a:buFont typeface="Nunito"/>
              <a:buChar char="●"/>
            </a:pPr>
            <a:r>
              <a:rPr lang="fr" sz="1573">
                <a:latin typeface="Nunito"/>
                <a:ea typeface="Nunito"/>
                <a:cs typeface="Nunito"/>
                <a:sym typeface="Nunito"/>
              </a:rPr>
              <a:t>Fit the invariant mass for the 2</a:t>
            </a:r>
            <a:r>
              <a:rPr lang="fr" sz="1573">
                <a:latin typeface="Nunito"/>
                <a:ea typeface="Nunito"/>
                <a:cs typeface="Nunito"/>
                <a:sym typeface="Nunito"/>
              </a:rPr>
              <a:t> π with a Breit-Wigner and temporarily with 3-order polynomial</a:t>
            </a:r>
            <a:endParaRPr sz="1573">
              <a:latin typeface="Nunito"/>
              <a:ea typeface="Nunito"/>
              <a:cs typeface="Nunito"/>
              <a:sym typeface="Nunito"/>
            </a:endParaRPr>
          </a:p>
          <a:p>
            <a:pPr indent="-181332" lvl="0" marL="20879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5"/>
              <a:buFont typeface="Nunito"/>
              <a:buChar char="●"/>
            </a:pPr>
            <a:r>
              <a:rPr lang="fr" sz="1495">
                <a:latin typeface="Nunito"/>
                <a:ea typeface="Nunito"/>
                <a:cs typeface="Nunito"/>
                <a:sym typeface="Nunito"/>
              </a:rPr>
              <a:t>Extract ρ</a:t>
            </a:r>
            <a:r>
              <a:rPr baseline="30000" lang="fr" sz="1495">
                <a:latin typeface="Nunito"/>
                <a:ea typeface="Nunito"/>
                <a:cs typeface="Nunito"/>
                <a:sym typeface="Nunito"/>
              </a:rPr>
              <a:t>0</a:t>
            </a:r>
            <a:r>
              <a:rPr lang="fr" sz="1495">
                <a:latin typeface="Nunito"/>
                <a:ea typeface="Nunito"/>
                <a:cs typeface="Nunito"/>
                <a:sym typeface="Nunito"/>
              </a:rPr>
              <a:t> yield by integrating the Breit-Wigner peak between μ ± 0.075, shown be the red lines.</a:t>
            </a:r>
            <a:endParaRPr sz="1495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8" name="Google Shape;288;p34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pic>
        <p:nvPicPr>
          <p:cNvPr id="289" name="Google Shape;28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025" y="1463325"/>
            <a:ext cx="4264177" cy="3152626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4"/>
          <p:cNvSpPr txBox="1"/>
          <p:nvPr/>
        </p:nvSpPr>
        <p:spPr>
          <a:xfrm>
            <a:off x="1073925" y="4427550"/>
            <a:ext cx="18591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38761D"/>
                </a:solidFill>
                <a:latin typeface="Nunito"/>
                <a:ea typeface="Nunito"/>
                <a:cs typeface="Nunito"/>
                <a:sym typeface="Nunito"/>
              </a:rPr>
              <a:t>Carbon data</a:t>
            </a:r>
            <a:endParaRPr sz="1600">
              <a:solidFill>
                <a:srgbClr val="38761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1" name="Google Shape;29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9800" y="1472865"/>
            <a:ext cx="4264174" cy="3165936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4"/>
          <p:cNvSpPr txBox="1"/>
          <p:nvPr/>
        </p:nvSpPr>
        <p:spPr>
          <a:xfrm>
            <a:off x="5189150" y="4427550"/>
            <a:ext cx="18591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38761D"/>
                </a:solidFill>
                <a:latin typeface="Nunito"/>
                <a:ea typeface="Nunito"/>
                <a:cs typeface="Nunito"/>
                <a:sym typeface="Nunito"/>
              </a:rPr>
              <a:t>LD2</a:t>
            </a:r>
            <a:r>
              <a:rPr lang="fr" sz="1600">
                <a:solidFill>
                  <a:srgbClr val="38761D"/>
                </a:solidFill>
                <a:latin typeface="Nunito"/>
                <a:ea typeface="Nunito"/>
                <a:cs typeface="Nunito"/>
                <a:sym typeface="Nunito"/>
              </a:rPr>
              <a:t> data</a:t>
            </a:r>
            <a:endParaRPr sz="1600">
              <a:solidFill>
                <a:srgbClr val="38761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5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 studies: Color Transparency</a:t>
            </a:r>
            <a:endParaRPr/>
          </a:p>
        </p:txBody>
      </p:sp>
      <p:sp>
        <p:nvSpPr>
          <p:cNvPr id="298" name="Google Shape;298;p35"/>
          <p:cNvSpPr txBox="1"/>
          <p:nvPr>
            <p:ph idx="1" type="body"/>
          </p:nvPr>
        </p:nvSpPr>
        <p:spPr>
          <a:xfrm>
            <a:off x="94225" y="794500"/>
            <a:ext cx="4176300" cy="37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00699" lvl="0" marL="208799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Extract the nuclear transparency: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00699" lvl="0" marL="208799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r</a:t>
            </a:r>
            <a:r>
              <a:rPr baseline="-25000" lang="fr">
                <a:latin typeface="Nunito"/>
                <a:ea typeface="Nunito"/>
                <a:cs typeface="Nunito"/>
                <a:sym typeface="Nunito"/>
              </a:rPr>
              <a:t>LD2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= 5 cm: LD2 thickness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00699" lvl="0" marL="20879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r</a:t>
            </a:r>
            <a:r>
              <a:rPr baseline="-25000" lang="fr">
                <a:latin typeface="Nunito"/>
                <a:ea typeface="Nunito"/>
                <a:cs typeface="Nunito"/>
                <a:sym typeface="Nunito"/>
              </a:rPr>
              <a:t>CxC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 = 0.4 cm: is CxC thickness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00699" lvl="0" marL="20879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ρ</a:t>
            </a:r>
            <a:r>
              <a:rPr baseline="-25000" lang="fr">
                <a:latin typeface="Nunito"/>
                <a:ea typeface="Nunito"/>
                <a:cs typeface="Nunito"/>
                <a:sym typeface="Nunito"/>
              </a:rPr>
              <a:t>LD2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=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 0.164 g/cm</a:t>
            </a:r>
            <a:r>
              <a:rPr baseline="30000" lang="fr">
                <a:latin typeface="Nunito"/>
                <a:ea typeface="Nunito"/>
                <a:cs typeface="Nunito"/>
                <a:sym typeface="Nunito"/>
              </a:rPr>
              <a:t>3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: the density of target LD2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00699" lvl="0" marL="20879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ρ</a:t>
            </a:r>
            <a:r>
              <a:rPr baseline="-25000" lang="fr">
                <a:latin typeface="Nunito"/>
                <a:ea typeface="Nunito"/>
                <a:cs typeface="Nunito"/>
                <a:sym typeface="Nunito"/>
              </a:rPr>
              <a:t>CxC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= 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2.2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g/cm</a:t>
            </a:r>
            <a:r>
              <a:rPr baseline="30000" lang="fr">
                <a:latin typeface="Nunito"/>
                <a:ea typeface="Nunito"/>
                <a:cs typeface="Nunito"/>
                <a:sym typeface="Nunito"/>
              </a:rPr>
              <a:t>3 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: the density of target CxC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Ongoing a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nalysis by M. Maynes 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9" name="Google Shape;299;p35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pic>
        <p:nvPicPr>
          <p:cNvPr id="300" name="Google Shape;30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100" y="1217450"/>
            <a:ext cx="2538574" cy="86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9225" y="888700"/>
            <a:ext cx="4972376" cy="3415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6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RG-D Studies: nTMDs observables </a:t>
            </a:r>
            <a:endParaRPr/>
          </a:p>
        </p:txBody>
      </p:sp>
      <p:sp>
        <p:nvSpPr>
          <p:cNvPr id="307" name="Google Shape;307;p36"/>
          <p:cNvSpPr txBox="1"/>
          <p:nvPr>
            <p:ph idx="1" type="body"/>
          </p:nvPr>
        </p:nvSpPr>
        <p:spPr>
          <a:xfrm>
            <a:off x="211200" y="781950"/>
            <a:ext cx="5196000" cy="38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D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evelopment on nuclear TMD analysis: Ongoing analysis (Daniel Matamoros)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94351" lvl="0" marL="316800" rtl="0" algn="l">
              <a:spcBef>
                <a:spcPts val="120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fr" sz="1700">
                <a:latin typeface="Nunito"/>
                <a:ea typeface="Nunito"/>
                <a:cs typeface="Nunito"/>
                <a:sym typeface="Nunito"/>
              </a:rPr>
              <a:t>Pythia event generator with nuclear effects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-194351" lvl="0" marL="316800" rtl="0" algn="l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fr" sz="1700">
                <a:latin typeface="Nunito"/>
                <a:ea typeface="Nunito"/>
                <a:cs typeface="Nunito"/>
                <a:sym typeface="Nunito"/>
              </a:rPr>
              <a:t>Full GEMC simulation for production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-194351" lvl="0" marL="316800" rtl="0" algn="l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fr" sz="1700">
                <a:latin typeface="Nunito"/>
                <a:ea typeface="Nunito"/>
                <a:cs typeface="Nunito"/>
                <a:sym typeface="Nunito"/>
              </a:rPr>
              <a:t>Extract multiplicity ratio and cos(ϕ) for differents targets.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00699" lvl="0" marL="208799" rtl="0" algn="l">
              <a:spcBef>
                <a:spcPts val="120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Cuts: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39300" lvl="1" marL="3060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Q² &gt; 1 GeV²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39300" lvl="1" marL="3060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0.25 &lt; y &lt; 0.85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39300" lvl="1" marL="3060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W &gt; 2 GeV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39300" lvl="1" marL="3060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0.3 &lt; z &lt; 0.7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8" name="Google Shape;308;p36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pic>
        <p:nvPicPr>
          <p:cNvPr id="309" name="Google Shape;30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225" y="2686208"/>
            <a:ext cx="4873450" cy="72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5125" y="737000"/>
            <a:ext cx="3651601" cy="38213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7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 nTMDs Studies</a:t>
            </a:r>
            <a:endParaRPr/>
          </a:p>
        </p:txBody>
      </p:sp>
      <p:sp>
        <p:nvSpPr>
          <p:cNvPr id="316" name="Google Shape;316;p37"/>
          <p:cNvSpPr txBox="1"/>
          <p:nvPr>
            <p:ph idx="1" type="body"/>
          </p:nvPr>
        </p:nvSpPr>
        <p:spPr>
          <a:xfrm>
            <a:off x="41650" y="687700"/>
            <a:ext cx="8964300" cy="139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00699" lvl="0" marL="208799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R</a:t>
            </a:r>
            <a:r>
              <a:rPr lang="fr"/>
              <a:t>ecent preliminary work: </a:t>
            </a:r>
            <a:endParaRPr/>
          </a:p>
          <a:p>
            <a:pPr indent="-175301" lvl="1" marL="4500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Simulations are produced using </a:t>
            </a:r>
            <a:r>
              <a:rPr lang="fr" u="sng">
                <a:solidFill>
                  <a:schemeClr val="hlink"/>
                </a:solidFill>
                <a:hlinkClick r:id="rId3"/>
              </a:rPr>
              <a:t>modified version of Pythia</a:t>
            </a:r>
            <a:r>
              <a:rPr lang="fr"/>
              <a:t> with nuclear effects</a:t>
            </a:r>
            <a:endParaRPr/>
          </a:p>
          <a:p>
            <a:pPr indent="-175301" lvl="1" marL="4500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Reconstruction was only run using conventional tracking</a:t>
            </a:r>
            <a:endParaRPr/>
          </a:p>
          <a:p>
            <a:pPr indent="-175301" lvl="1" marL="4500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Comparing experimental data to simulation</a:t>
            </a:r>
            <a:endParaRPr/>
          </a:p>
        </p:txBody>
      </p:sp>
      <p:sp>
        <p:nvSpPr>
          <p:cNvPr id="317" name="Google Shape;317;p37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pic>
        <p:nvPicPr>
          <p:cNvPr id="318" name="Google Shape;318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050" y="2053625"/>
            <a:ext cx="3455475" cy="25419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7"/>
          <p:cNvSpPr txBox="1"/>
          <p:nvPr/>
        </p:nvSpPr>
        <p:spPr>
          <a:xfrm>
            <a:off x="2405325" y="4473000"/>
            <a:ext cx="8352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Q</a:t>
            </a:r>
            <a:r>
              <a:rPr baseline="30000" lang="fr" sz="13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2</a:t>
            </a:r>
            <a:r>
              <a:rPr lang="fr" sz="13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 [GeV</a:t>
            </a:r>
            <a:r>
              <a:rPr baseline="30000" lang="fr" sz="13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2</a:t>
            </a:r>
            <a:r>
              <a:rPr lang="fr" sz="13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]</a:t>
            </a:r>
            <a:endParaRPr sz="13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320" name="Google Shape;320;p37"/>
          <p:cNvSpPr txBox="1"/>
          <p:nvPr/>
        </p:nvSpPr>
        <p:spPr>
          <a:xfrm>
            <a:off x="1807725" y="2317400"/>
            <a:ext cx="597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38761D"/>
                </a:solidFill>
                <a:latin typeface="Nunito Medium"/>
                <a:ea typeface="Nunito Medium"/>
                <a:cs typeface="Nunito Medium"/>
                <a:sym typeface="Nunito Medium"/>
              </a:rPr>
              <a:t>LD2</a:t>
            </a:r>
            <a:endParaRPr sz="1800">
              <a:solidFill>
                <a:srgbClr val="38761D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pic>
        <p:nvPicPr>
          <p:cNvPr id="321" name="Google Shape;321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58700" y="2078800"/>
            <a:ext cx="3455474" cy="2481487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7"/>
          <p:cNvSpPr txBox="1"/>
          <p:nvPr/>
        </p:nvSpPr>
        <p:spPr>
          <a:xfrm>
            <a:off x="6840825" y="4506075"/>
            <a:ext cx="3123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z</a:t>
            </a:r>
            <a:r>
              <a:rPr baseline="-25000" lang="fr" sz="13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h</a:t>
            </a:r>
            <a:endParaRPr baseline="-25000" sz="13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323" name="Google Shape;323;p37"/>
          <p:cNvSpPr txBox="1"/>
          <p:nvPr/>
        </p:nvSpPr>
        <p:spPr>
          <a:xfrm>
            <a:off x="5885275" y="2457250"/>
            <a:ext cx="597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38761D"/>
                </a:solidFill>
                <a:latin typeface="Nunito Medium"/>
                <a:ea typeface="Nunito Medium"/>
                <a:cs typeface="Nunito Medium"/>
                <a:sym typeface="Nunito Medium"/>
              </a:rPr>
              <a:t>LD2</a:t>
            </a:r>
            <a:endParaRPr sz="1800">
              <a:solidFill>
                <a:srgbClr val="38761D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8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Summary and Outlook</a:t>
            </a:r>
            <a:endParaRPr/>
          </a:p>
        </p:txBody>
      </p:sp>
      <p:sp>
        <p:nvSpPr>
          <p:cNvPr id="329" name="Google Shape;329;p38"/>
          <p:cNvSpPr txBox="1"/>
          <p:nvPr>
            <p:ph idx="1" type="body"/>
          </p:nvPr>
        </p:nvSpPr>
        <p:spPr>
          <a:xfrm>
            <a:off x="106775" y="825900"/>
            <a:ext cx="8899200" cy="39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00699" lvl="0" marL="208799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Calibration is progressing as planned within the three-month 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timeframe;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tttt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00699" lvl="0" marL="208799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Developing analysis for color transparency and nuclear TMDs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75299" lvl="1" marL="4140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Separation of the empty LD2 target and the two targets to limit contamination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75299" lvl="1" marL="4140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Extraction of the nuclear transparency as function of Q</a:t>
            </a:r>
            <a:r>
              <a:rPr baseline="30000" lang="fr">
                <a:latin typeface="Nunito"/>
                <a:ea typeface="Nunito"/>
                <a:cs typeface="Nunito"/>
                <a:sym typeface="Nunito"/>
              </a:rPr>
              <a:t>2</a:t>
            </a:r>
            <a:endParaRPr baseline="30000">
              <a:latin typeface="Nunito"/>
              <a:ea typeface="Nunito"/>
              <a:cs typeface="Nunito"/>
              <a:sym typeface="Nunito"/>
            </a:endParaRPr>
          </a:p>
          <a:p>
            <a:pPr indent="-175299" lvl="1" marL="4140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Simulation for TMD observables + comparison data and simulation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76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0" name="Google Shape;330;p38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