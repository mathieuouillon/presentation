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Nunito"/>
      <p:regular r:id="rId10"/>
      <p:bold r:id="rId11"/>
      <p:italic r:id="rId12"/>
      <p:boldItalic r:id="rId13"/>
    </p:embeddedFont>
    <p:embeddedFont>
      <p:font typeface="Nunito Medium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unito-bold.fntdata"/><Relationship Id="rId10" Type="http://schemas.openxmlformats.org/officeDocument/2006/relationships/font" Target="fonts/Nunito-regular.fntdata"/><Relationship Id="rId13" Type="http://schemas.openxmlformats.org/officeDocument/2006/relationships/font" Target="fonts/Nunito-boldItalic.fntdata"/><Relationship Id="rId12" Type="http://schemas.openxmlformats.org/officeDocument/2006/relationships/font" Target="fonts/Nuni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Medium-bold.fntdata"/><Relationship Id="rId14" Type="http://schemas.openxmlformats.org/officeDocument/2006/relationships/font" Target="fonts/NunitoMedium-regular.fntdata"/><Relationship Id="rId17" Type="http://schemas.openxmlformats.org/officeDocument/2006/relationships/font" Target="fonts/NunitoMedium-boldItalic.fntdata"/><Relationship Id="rId16" Type="http://schemas.openxmlformats.org/officeDocument/2006/relationships/font" Target="fonts/Nunito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a4eb159f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a4eb159f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a4eb159f9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a4eb159f9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4eb159f9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a4eb159f9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1700" y="2077800"/>
            <a:ext cx="64122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703475"/>
            <a:ext cx="8520600" cy="12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077800"/>
            <a:ext cx="6412200" cy="6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0" y="0"/>
            <a:ext cx="91440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unito Medium"/>
              <a:buNone/>
              <a:defRPr sz="25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8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  <p:sp>
        <p:nvSpPr>
          <p:cNvPr id="21" name="Google Shape;21;p4"/>
          <p:cNvSpPr/>
          <p:nvPr/>
        </p:nvSpPr>
        <p:spPr>
          <a:xfrm rot="-5400000">
            <a:off x="8447400" y="-49200"/>
            <a:ext cx="647400" cy="745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6AA84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155650" y="4743825"/>
            <a:ext cx="8889900" cy="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" name="Google Shape;24;p4"/>
          <p:cNvSpPr txBox="1"/>
          <p:nvPr/>
        </p:nvSpPr>
        <p:spPr>
          <a:xfrm>
            <a:off x="5005450" y="4787400"/>
            <a:ext cx="4009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TMD group meeting</a:t>
            </a: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(7 January 2025)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11700" y="703475"/>
            <a:ext cx="8520600" cy="12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3880"/>
              <a:t>TMD group meeting</a:t>
            </a:r>
            <a:endParaRPr sz="388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11700" y="2077800"/>
            <a:ext cx="6412200" cy="6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fr" sz="1980">
                <a:latin typeface="Nunito"/>
                <a:ea typeface="Nunito"/>
                <a:cs typeface="Nunito"/>
                <a:sym typeface="Nunito"/>
              </a:rPr>
              <a:t>Mathieu Ouillon (Mississippi State University)</a:t>
            </a:r>
            <a:endParaRPr sz="198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5011525" y="3480050"/>
            <a:ext cx="4132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7 January 2025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75" y="4245800"/>
            <a:ext cx="3863174" cy="74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Detached vertex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5758925" y="744275"/>
            <a:ext cx="3215400" cy="39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36700" lvl="0" marL="2448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Cuts electron:</a:t>
            </a:r>
            <a:endParaRPr/>
          </a:p>
          <a:p>
            <a:pPr indent="-211300" lvl="1" marL="4500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-10 &lt; Vz &lt; 0 cm</a:t>
            </a:r>
            <a:endParaRPr/>
          </a:p>
          <a:p>
            <a:pPr indent="-211300" lvl="1" marL="4500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-3 &lt; chi2pid &lt; 3</a:t>
            </a:r>
            <a:endParaRPr/>
          </a:p>
          <a:p>
            <a:pPr indent="-236700" lvl="0" marL="2448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Pions:</a:t>
            </a:r>
            <a:endParaRPr/>
          </a:p>
          <a:p>
            <a:pPr indent="-211300" lvl="1" marL="4500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-10 &lt; Vz &lt; 0 cm</a:t>
            </a:r>
            <a:endParaRPr/>
          </a:p>
          <a:p>
            <a:pPr indent="-211300" lvl="1" marL="4500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-10 &lt; chi2pid &lt; 10</a:t>
            </a:r>
            <a:endParaRPr/>
          </a:p>
          <a:p>
            <a:pPr indent="-236700" lvl="0" marL="2448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Kinematical cuts:</a:t>
            </a:r>
            <a:endParaRPr/>
          </a:p>
          <a:p>
            <a:pPr indent="-211300" lvl="1" marL="4500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Q</a:t>
            </a:r>
            <a:r>
              <a:rPr baseline="30000" lang="fr"/>
              <a:t>2</a:t>
            </a:r>
            <a:r>
              <a:rPr lang="fr"/>
              <a:t> &gt; 1 GeV</a:t>
            </a:r>
            <a:r>
              <a:rPr baseline="30000" lang="fr"/>
              <a:t>2</a:t>
            </a:r>
            <a:endParaRPr baseline="30000"/>
          </a:p>
          <a:p>
            <a:pPr indent="-211300" lvl="1" marL="4500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W &gt; 2 GeV</a:t>
            </a:r>
            <a:endParaRPr/>
          </a:p>
          <a:p>
            <a:pPr indent="-211300" lvl="1" marL="4500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0 &lt; zh &lt; 1</a:t>
            </a:r>
            <a:endParaRPr/>
          </a:p>
          <a:p>
            <a:pPr indent="-236700" lvl="0" marL="2448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Detached vertex cuts:</a:t>
            </a:r>
            <a:endParaRPr/>
          </a:p>
          <a:p>
            <a:pPr indent="-211300" lvl="1" marL="4500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r &lt; 5 mm</a:t>
            </a:r>
            <a:endParaRPr/>
          </a:p>
          <a:p>
            <a:pPr indent="-211300" lvl="1" marL="4500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pions vertex to be downstream of the e- vertex</a:t>
            </a:r>
            <a:endParaRPr/>
          </a:p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75" y="647400"/>
            <a:ext cx="5568198" cy="4075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Detached vertex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85600" y="781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Use LD2 data from Pass0v7</a:t>
            </a:r>
            <a:endParaRPr/>
          </a:p>
        </p:txBody>
      </p:sp>
      <p:sp>
        <p:nvSpPr>
          <p:cNvPr id="77" name="Google Shape;77;p15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78" name="Google Shape;7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3875" y="1242563"/>
            <a:ext cx="4394571" cy="332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600" y="1198925"/>
            <a:ext cx="4509766" cy="34164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/>
        </p:nvSpPr>
        <p:spPr>
          <a:xfrm>
            <a:off x="558950" y="1557500"/>
            <a:ext cx="13125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Before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5233125" y="1483825"/>
            <a:ext cx="13125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After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Detached vertex</a:t>
            </a:r>
            <a:endParaRPr/>
          </a:p>
        </p:txBody>
      </p:sp>
      <p:sp>
        <p:nvSpPr>
          <p:cNvPr id="87" name="Google Shape;87;p16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450" y="854100"/>
            <a:ext cx="4545198" cy="3426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7600" y="950550"/>
            <a:ext cx="4335650" cy="326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