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Nunito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22" Type="http://schemas.openxmlformats.org/officeDocument/2006/relationships/font" Target="fonts/NunitoMedium-bold.fntdata"/><Relationship Id="rId10" Type="http://schemas.openxmlformats.org/officeDocument/2006/relationships/slide" Target="slides/slide5.xml"/><Relationship Id="rId21" Type="http://schemas.openxmlformats.org/officeDocument/2006/relationships/font" Target="fonts/NunitoMedium-regular.fntdata"/><Relationship Id="rId13" Type="http://schemas.openxmlformats.org/officeDocument/2006/relationships/slide" Target="slides/slide8.xml"/><Relationship Id="rId24" Type="http://schemas.openxmlformats.org/officeDocument/2006/relationships/font" Target="fonts/NunitoMedium-boldItalic.fntdata"/><Relationship Id="rId12" Type="http://schemas.openxmlformats.org/officeDocument/2006/relationships/slide" Target="slides/slide7.xml"/><Relationship Id="rId23" Type="http://schemas.openxmlformats.org/officeDocument/2006/relationships/font" Target="fonts/Nunito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f3a409d5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f3a409d5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af3a409d5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af3a409d5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f3a409d5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af3a409d5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f3a409d5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af3a409d5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af3a409d5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af3a409d5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f3a409d5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af3a409d5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af3a409d5d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af3a409d5d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af3a409d5d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af3a409d5d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af3a409d5d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af3a409d5d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29ff1f69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29ff1f69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Analysis group meeting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(28 January, 2025)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jlab.org/Hall-B/shifts/admin/paper_reviews/2020/analysis-6510077-2020-07-13-v16.pdf" TargetMode="External"/><Relationship Id="rId4" Type="http://schemas.openxmlformats.org/officeDocument/2006/relationships/hyperlink" Target="https://www.jlab.org/Hall-B/shifts/admin/paper_reviews/2024/SIDIS_analysis_note_v4.pdf-9505791-2024-02-21-v8.pd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hyperlink" Target="https://www.jlab.org/Hall-B/shifts/admin/paper_reviews/2024/SIDIS_analysis_note_v4.pdf-9505791-2024-02-21-v8.pdf" TargetMode="External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jlab.org/Hall-B/shifts/admin/paper_reviews/2024/SIDIS_analysis_note_v4.pdf-9505791-2024-02-21-v8.pdf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3880"/>
              <a:t>TMD group meeting</a:t>
            </a:r>
            <a:endParaRPr sz="38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011525" y="3480050"/>
            <a:ext cx="413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28 January, 2025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study: K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121950" y="793300"/>
            <a:ext cx="4350600" cy="3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Data: Pass0v7, LD2 target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Electron cuts: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11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pid = 11 and status &lt; 0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11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-5 &lt; chi2pid &lt; 5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11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-10 &lt; vz &lt; 0 cm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Pions cuts: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11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pid = 211, -211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11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-10 &lt; chi2pid &lt; 10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11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-10 &lt; vz &lt; 0 cm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Kinematical cuts: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11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&gt; 1 GeV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to select the DIS regime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11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W &gt; 2 GeV to avoid the resonance region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11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y &lt; 0.85 to avoid large contribution from radiative processes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11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z</a:t>
            </a:r>
            <a:r>
              <a:rPr baseline="-25000" lang="fr">
                <a:latin typeface="Nunito"/>
                <a:ea typeface="Nunito"/>
                <a:cs typeface="Nunito"/>
                <a:sym typeface="Nunito"/>
              </a:rPr>
              <a:t>h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&lt;0.9 to reduce diffractive ρ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0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-211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-t &gt; 0.4 GeV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2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to reduce diffractive ρ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0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1400" y="873488"/>
            <a:ext cx="4366648" cy="339651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5163825" y="4059225"/>
            <a:ext cx="2839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With z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cut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study: K</a:t>
            </a:r>
            <a:r>
              <a:rPr baseline="30000" lang="fr"/>
              <a:t>0</a:t>
            </a:r>
            <a:r>
              <a:rPr lang="fr"/>
              <a:t> analysis, without cuts on z</a:t>
            </a:r>
            <a:r>
              <a:rPr baseline="-25000" lang="fr"/>
              <a:t>h</a:t>
            </a:r>
            <a:r>
              <a:rPr lang="fr"/>
              <a:t> and -t</a:t>
            </a:r>
            <a:endParaRPr/>
          </a:p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625" y="706612"/>
            <a:ext cx="4293100" cy="341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704925"/>
            <a:ext cx="4400476" cy="341853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460825" y="3940550"/>
            <a:ext cx="25344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No cut on r and ΔVz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631800" y="3940550"/>
            <a:ext cx="30123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 &lt; 5mm and ΔVz &gt; 0 cm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study: K</a:t>
            </a:r>
            <a:r>
              <a:rPr baseline="30000" lang="fr"/>
              <a:t>0</a:t>
            </a:r>
            <a:r>
              <a:rPr lang="fr"/>
              <a:t> analysis</a:t>
            </a:r>
            <a:r>
              <a:rPr lang="fr"/>
              <a:t>, with cuts on z</a:t>
            </a:r>
            <a:r>
              <a:rPr baseline="-25000" lang="fr"/>
              <a:t>h</a:t>
            </a:r>
            <a:r>
              <a:rPr lang="fr"/>
              <a:t> and -t</a:t>
            </a:r>
            <a:endParaRPr/>
          </a:p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00" y="648900"/>
            <a:ext cx="4509798" cy="354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8800" y="685350"/>
            <a:ext cx="4544123" cy="34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460825" y="3940550"/>
            <a:ext cx="38355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No cut on r and ΔVz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Small reduction of the 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ρ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peak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4631800" y="3940550"/>
            <a:ext cx="30123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 &lt; 5mm and ΔVz &gt; 0 cm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RG-D study: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101625" y="739100"/>
            <a:ext cx="8891100" cy="4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Use all Pass0v7 data, LD2 target.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Goal: find the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and estimate the amount.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Select trigger electron: pid=11, status&lt;0, -5 &lt; chi2pid &lt; 5 and -11 &lt; Vz &lt; 0 cm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Select photon: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pid=22 (EB use a cut on ꞵ&gt;0.9 to assign the pid + E&gt;0.0001GeV)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E &gt; 0.6 GeV →  reduce radiative photon 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1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-11 &lt; Vz &lt; 0 cm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sector</a:t>
            </a:r>
            <a:r>
              <a:rPr baseline="-25000" lang="fr"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!= sector</a:t>
            </a:r>
            <a:r>
              <a:rPr baseline="-25000" lang="fr">
                <a:latin typeface="Nunito"/>
                <a:ea typeface="Nunito"/>
                <a:cs typeface="Nunito"/>
                <a:sym typeface="Nunito"/>
              </a:rPr>
              <a:t>γ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→ reduce radiative photon 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1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cut based on the matching of the photon flight time with the path which photon traveled from target to the EC: −1.68 &lt; t_{EC} − t_{start} − l_{EC} /30 &lt; 1.55 ns (</a:t>
            </a:r>
            <a:r>
              <a:rPr lang="fr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Analysis note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by T.Mineeva, W.Brooks, K.Joo)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Radiative photons are dominant at small energies and show a small opening angle in relation to the emitting scattered electron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6051575" y="739100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1: </a:t>
            </a:r>
            <a:r>
              <a:rPr lang="fr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(</a:t>
            </a:r>
            <a:r>
              <a:rPr lang="fr" u="sng">
                <a:solidFill>
                  <a:schemeClr val="accent5"/>
                </a:solidFill>
                <a:latin typeface="Nunito Medium"/>
                <a:ea typeface="Nunito Medium"/>
                <a:cs typeface="Nunito Medium"/>
                <a:sym typeface="Nunito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Analysis note</a:t>
            </a:r>
            <a:r>
              <a:rPr lang="fr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by Stefan Diehl, Andrey Kim, Kyungseon Joo)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study: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00" y="771985"/>
            <a:ext cx="4480599" cy="3546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17963"/>
            <a:ext cx="4513150" cy="350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study: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75" y="914850"/>
            <a:ext cx="4487849" cy="352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1825" y="896409"/>
            <a:ext cx="4432673" cy="3466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study: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121" name="Google Shape;121;p20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325" y="703050"/>
            <a:ext cx="5641677" cy="396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6348" y="1369175"/>
            <a:ext cx="4722123" cy="328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study: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0" name="Google Shape;130;p21"/>
          <p:cNvSpPr txBox="1"/>
          <p:nvPr/>
        </p:nvSpPr>
        <p:spPr>
          <a:xfrm>
            <a:off x="0" y="647400"/>
            <a:ext cx="91440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Try a cut on the photon sector: </a:t>
            </a:r>
            <a:r>
              <a:rPr lang="fr" sz="16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sector</a:t>
            </a:r>
            <a:r>
              <a:rPr baseline="-25000" lang="fr" sz="16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γ1</a:t>
            </a:r>
            <a:r>
              <a:rPr lang="fr" sz="16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= sector</a:t>
            </a:r>
            <a:r>
              <a:rPr baseline="-25000" lang="fr" sz="16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γ2 </a:t>
            </a:r>
            <a:r>
              <a:rPr lang="fr" sz="16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kinematically both photons from neutral pion decay are more likely to end up in the same sector</a:t>
            </a:r>
            <a:r>
              <a:rPr lang="fr" sz="16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</a:t>
            </a:r>
            <a:r>
              <a:rPr lang="fr" sz="12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(</a:t>
            </a:r>
            <a:r>
              <a:rPr lang="fr" sz="1200" u="sng">
                <a:solidFill>
                  <a:schemeClr val="accent5"/>
                </a:solidFill>
                <a:latin typeface="Nunito Medium"/>
                <a:ea typeface="Nunito Medium"/>
                <a:cs typeface="Nunito Medium"/>
                <a:sym typeface="Nunito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Analysis note</a:t>
            </a:r>
            <a:r>
              <a:rPr lang="fr" sz="12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by Stefan Diehl, Andrey Kim, Kyungseon Joo)</a:t>
            </a:r>
            <a:endParaRPr sz="12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pic>
        <p:nvPicPr>
          <p:cNvPr id="131" name="Google Shape;13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25" y="1321750"/>
            <a:ext cx="4722136" cy="3391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/>
        </p:nvSpPr>
        <p:spPr>
          <a:xfrm>
            <a:off x="203275" y="4409975"/>
            <a:ext cx="21483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Without sector cut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4791550" y="4409975"/>
            <a:ext cx="21483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With sector cut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555725" y="12130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Nunito"/>
                <a:ea typeface="Nunito"/>
                <a:cs typeface="Nunito"/>
                <a:sym typeface="Nunito"/>
              </a:rPr>
              <a:t>Number of </a:t>
            </a:r>
            <a:r>
              <a:rPr lang="fr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π</a:t>
            </a:r>
            <a:r>
              <a:rPr baseline="30000" lang="fr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 sz="1200">
                <a:latin typeface="Nunito"/>
                <a:ea typeface="Nunito"/>
                <a:cs typeface="Nunito"/>
                <a:sym typeface="Nunito"/>
              </a:rPr>
              <a:t>: 3477790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4791550" y="1263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Nunito"/>
                <a:ea typeface="Nunito"/>
                <a:cs typeface="Nunito"/>
                <a:sym typeface="Nunito"/>
              </a:rPr>
              <a:t>Number of </a:t>
            </a:r>
            <a:r>
              <a:rPr lang="fr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π</a:t>
            </a:r>
            <a:r>
              <a:rPr baseline="30000" lang="fr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 sz="1200"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fr" sz="1200">
                <a:latin typeface="Nunito"/>
                <a:ea typeface="Nunito"/>
                <a:cs typeface="Nunito"/>
                <a:sym typeface="Nunito"/>
              </a:rPr>
              <a:t>2835602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study: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42" name="Google Shape;142;p22"/>
          <p:cNvSpPr txBox="1"/>
          <p:nvPr/>
        </p:nvSpPr>
        <p:spPr>
          <a:xfrm>
            <a:off x="0" y="647400"/>
            <a:ext cx="9144000" cy="25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Try a cut on the photon sector: sector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γ1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= sector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γ2 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 kinematically both photons from neutral pion decay are more likely to end up in the same sector (</a:t>
            </a:r>
            <a:r>
              <a:rPr lang="fr" sz="1800" u="sng">
                <a:solidFill>
                  <a:schemeClr val="accent5"/>
                </a:solidFill>
                <a:latin typeface="Nunito Medium"/>
                <a:ea typeface="Nunito Medium"/>
                <a:cs typeface="Nunito Medium"/>
                <a:sym typeface="Nunito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Analysis note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by Stefan Diehl, Andrey Kim, Kyungseon Joo)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Fit the 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two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photons mass distribution with a gaussian and a 1st order polynomial function.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Small improvement with the sector cuts but reduction of the number of 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π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by 20%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264250" y="3074800"/>
            <a:ext cx="34494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Without sector cut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Number of π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3477790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μ: </a:t>
            </a:r>
            <a:r>
              <a:rPr lang="fr" sz="1800">
                <a:solidFill>
                  <a:schemeClr val="dk2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0.1295 GeV/c</a:t>
            </a:r>
            <a:r>
              <a:rPr baseline="30000" lang="fr" sz="1800">
                <a:solidFill>
                  <a:schemeClr val="dk2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2</a:t>
            </a:r>
            <a:endParaRPr baseline="30000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𝜎: </a:t>
            </a:r>
            <a:r>
              <a:rPr lang="fr" sz="1800">
                <a:solidFill>
                  <a:schemeClr val="dk2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0.01081 GeV/c</a:t>
            </a:r>
            <a:r>
              <a:rPr baseline="30000" lang="fr" sz="1800">
                <a:solidFill>
                  <a:schemeClr val="dk2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2</a:t>
            </a:r>
            <a:endParaRPr baseline="30000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4838975" y="3074800"/>
            <a:ext cx="29610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With sector cut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Number of π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2835602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μ: </a:t>
            </a:r>
            <a:r>
              <a:rPr lang="fr" sz="1800">
                <a:solidFill>
                  <a:schemeClr val="dk2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0.1297 GeV/c</a:t>
            </a:r>
            <a:r>
              <a:rPr baseline="30000" lang="fr" sz="1800">
                <a:solidFill>
                  <a:schemeClr val="dk2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2</a:t>
            </a:r>
            <a:endParaRPr baseline="30000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𝜎: </a:t>
            </a:r>
            <a:r>
              <a:rPr lang="fr" sz="1800">
                <a:solidFill>
                  <a:schemeClr val="dk2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0.01055 GeV/c</a:t>
            </a:r>
            <a:r>
              <a:rPr baseline="30000" lang="fr" sz="1800">
                <a:solidFill>
                  <a:schemeClr val="dk2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2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study: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149050" y="752650"/>
            <a:ext cx="5631600" cy="38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Nothings to show.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I started working on the event mixing method, based on Neutral Pion Multiplicity Ratios from SIDIS Lepton-nuclear Scattering T.Mineeva, W.Brooks, K.Joo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Need to be able to process next and previous event with the HIPO C++ library, I had to develop code to do that. And also be able to come back to a specific event.</a:t>
            </a:r>
            <a:endParaRPr/>
          </a:p>
        </p:txBody>
      </p:sp>
      <p:sp>
        <p:nvSpPr>
          <p:cNvPr id="151" name="Google Shape;151;p23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1300" y="880950"/>
            <a:ext cx="2685275" cy="363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