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Fira Sans ExtraLight"/>
      <p:regular r:id="rId24"/>
      <p:bold r:id="rId25"/>
      <p:italic r:id="rId26"/>
      <p:boldItalic r:id="rId27"/>
    </p:embeddedFont>
    <p:embeddedFont>
      <p:font typeface="Fira Sans Medium"/>
      <p:regular r:id="rId28"/>
      <p:bold r:id="rId29"/>
      <p:italic r:id="rId30"/>
      <p:boldItalic r:id="rId31"/>
    </p:embeddedFont>
    <p:embeddedFont>
      <p:font typeface="Fira Sans"/>
      <p:regular r:id="rId32"/>
      <p:bold r:id="rId33"/>
      <p:italic r:id="rId34"/>
      <p:boldItalic r:id="rId35"/>
    </p:embeddedFont>
    <p:embeddedFont>
      <p:font typeface="Fira Sans 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FiraSansExtraLight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ExtraLight-italic.fntdata"/><Relationship Id="rId25" Type="http://schemas.openxmlformats.org/officeDocument/2006/relationships/font" Target="fonts/FiraSansExtraLight-bold.fntdata"/><Relationship Id="rId28" Type="http://schemas.openxmlformats.org/officeDocument/2006/relationships/font" Target="fonts/FiraSansMedium-regular.fntdata"/><Relationship Id="rId27" Type="http://schemas.openxmlformats.org/officeDocument/2006/relationships/font" Target="fonts/FiraSansExtra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Medium-boldItalic.fntdata"/><Relationship Id="rId30" Type="http://schemas.openxmlformats.org/officeDocument/2006/relationships/font" Target="fonts/FiraSansMedium-italic.fntdata"/><Relationship Id="rId11" Type="http://schemas.openxmlformats.org/officeDocument/2006/relationships/slide" Target="slides/slide5.xml"/><Relationship Id="rId33" Type="http://schemas.openxmlformats.org/officeDocument/2006/relationships/font" Target="fonts/FiraSans-bold.fntdata"/><Relationship Id="rId10" Type="http://schemas.openxmlformats.org/officeDocument/2006/relationships/slide" Target="slides/slide4.xml"/><Relationship Id="rId32" Type="http://schemas.openxmlformats.org/officeDocument/2006/relationships/font" Target="fonts/FiraSans-regular.fntdata"/><Relationship Id="rId13" Type="http://schemas.openxmlformats.org/officeDocument/2006/relationships/slide" Target="slides/slide7.xml"/><Relationship Id="rId35" Type="http://schemas.openxmlformats.org/officeDocument/2006/relationships/font" Target="fonts/FiraSans-boldItalic.fntdata"/><Relationship Id="rId12" Type="http://schemas.openxmlformats.org/officeDocument/2006/relationships/slide" Target="slides/slide6.xml"/><Relationship Id="rId34" Type="http://schemas.openxmlformats.org/officeDocument/2006/relationships/font" Target="fonts/FiraSans-italic.fntdata"/><Relationship Id="rId15" Type="http://schemas.openxmlformats.org/officeDocument/2006/relationships/slide" Target="slides/slide9.xml"/><Relationship Id="rId37" Type="http://schemas.openxmlformats.org/officeDocument/2006/relationships/font" Target="fonts/FiraSansLight-bold.fntdata"/><Relationship Id="rId14" Type="http://schemas.openxmlformats.org/officeDocument/2006/relationships/slide" Target="slides/slide8.xml"/><Relationship Id="rId36" Type="http://schemas.openxmlformats.org/officeDocument/2006/relationships/font" Target="fonts/FiraSansLight-regular.fntdata"/><Relationship Id="rId17" Type="http://schemas.openxmlformats.org/officeDocument/2006/relationships/slide" Target="slides/slide11.xml"/><Relationship Id="rId39" Type="http://schemas.openxmlformats.org/officeDocument/2006/relationships/font" Target="fonts/FiraSans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FiraSansLigh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b208be983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b208be983_2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b208be983_2_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c38f76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c38f76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c38f76df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c38f76df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c38f76df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c38f76df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c38f76df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c38f76df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c38f76df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c38f76df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c4e6488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c4e6488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c4e6488d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cc4e6488d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c4e6488d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c4e6488d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c4e6488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c4e6488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c76441e0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c76441e0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c76441e0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c76441e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cfad4e88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cfad4e88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c76441e0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cc76441e0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c76441e0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cc76441e0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cfad4e8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ccfad4e8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cc4e6488d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cc4e6488d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AFA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4"/>
          <p:cNvSpPr/>
          <p:nvPr/>
        </p:nvSpPr>
        <p:spPr>
          <a:xfrm>
            <a:off x="1903250" y="512675"/>
            <a:ext cx="1910400" cy="96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background with white text and a white logo  AI-generated content may be incorrect.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-1" r="28388" t="0"/>
          <a:stretch/>
        </p:blipFill>
        <p:spPr>
          <a:xfrm>
            <a:off x="4066575" y="3500"/>
            <a:ext cx="50774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 rot="10800000">
            <a:off x="2707550" y="75"/>
            <a:ext cx="3421800" cy="5140800"/>
          </a:xfrm>
          <a:prstGeom prst="trapezoid">
            <a:avLst>
              <a:gd fmla="val 25000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300035" y="1548377"/>
            <a:ext cx="7772400" cy="731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2400"/>
              <a:buFont typeface="Fira Sans"/>
              <a:buNone/>
              <a:defRPr b="1">
                <a:solidFill>
                  <a:srgbClr val="304D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00035" y="2864739"/>
            <a:ext cx="6400800" cy="5030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  <a:defRPr sz="1800">
                <a:solidFill>
                  <a:srgbClr val="304D59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65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>
            <a:off x="119657" y="4861300"/>
            <a:ext cx="89046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background with white text and a white circle  AI-generated content may be incorrect."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023" y="-7023"/>
            <a:ext cx="1066199" cy="912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42150" y="4902075"/>
            <a:ext cx="3216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88888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03/10/26 | CLAS Collaboration meeting</a:t>
            </a:r>
            <a:endParaRPr sz="1100">
              <a:solidFill>
                <a:srgbClr val="888888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0"/>
            <a:ext cx="8229600" cy="661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63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3373B"/>
              </a:buClr>
              <a:buSzPts val="1800"/>
              <a:buChar char="•"/>
              <a:defRPr sz="1800">
                <a:solidFill>
                  <a:srgbClr val="23373B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46482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3373B"/>
              </a:buClr>
              <a:buSzPts val="3000"/>
              <a:buFont typeface="Fira Sans"/>
              <a:buNone/>
              <a:defRPr b="1" sz="3000" cap="none">
                <a:solidFill>
                  <a:srgbClr val="23373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-21310"/>
            <a:ext cx="9144000" cy="731043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inverted colors">
  <p:cSld name="Section header inverted colors">
    <p:bg>
      <p:bgPr>
        <a:solidFill>
          <a:srgbClr val="23373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3000"/>
              <a:buFont typeface="Fira Sans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0" y="-21310"/>
            <a:ext cx="9144000" cy="112514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s with two subtitles">
  <p:cSld name="title, two columns with two subtitle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199" y="689787"/>
            <a:ext cx="4040188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197449"/>
            <a:ext cx="4040188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6" y="689787"/>
            <a:ext cx="40417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6" y="1197449"/>
            <a:ext cx="4041775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lumn and imagen with caption">
  <p:cSld name="Title, column and imagen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04851"/>
            <a:ext cx="3008313" cy="39062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3579814" y="3895059"/>
            <a:ext cx="5106986" cy="6995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/>
          <p:nvPr>
            <p:ph idx="3" type="pic"/>
          </p:nvPr>
        </p:nvSpPr>
        <p:spPr>
          <a:xfrm>
            <a:off x="3579814" y="712476"/>
            <a:ext cx="5106986" cy="31320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457200" y="1212814"/>
            <a:ext cx="8229599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two columns">
  <p:cSld name="title, subtitle two 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7" name="Google Shape;117;p22"/>
          <p:cNvSpPr txBox="1"/>
          <p:nvPr>
            <p:ph idx="2" type="body"/>
          </p:nvPr>
        </p:nvSpPr>
        <p:spPr>
          <a:xfrm>
            <a:off x="457199" y="1212814"/>
            <a:ext cx="4056017" cy="33768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8" name="Google Shape;118;p22"/>
          <p:cNvSpPr txBox="1"/>
          <p:nvPr>
            <p:ph idx="3" type="body"/>
          </p:nvPr>
        </p:nvSpPr>
        <p:spPr>
          <a:xfrm>
            <a:off x="4630784" y="1212814"/>
            <a:ext cx="4056017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3"/>
          <p:cNvSpPr/>
          <p:nvPr/>
        </p:nvSpPr>
        <p:spPr>
          <a:xfrm>
            <a:off x="0" y="0"/>
            <a:ext cx="9144000" cy="712177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>
            <p:ph idx="2" type="pic"/>
          </p:nvPr>
        </p:nvSpPr>
        <p:spPr>
          <a:xfrm>
            <a:off x="1792288" y="459581"/>
            <a:ext cx="5486400" cy="35104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4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57200" y="1097281"/>
            <a:ext cx="8229600" cy="34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2385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04800" lvl="3" marL="18288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04800" lvl="4" marL="22860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059175" y="147484"/>
            <a:ext cx="80847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b="0" i="0" sz="2400" u="none" cap="none" strike="noStrike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ctrTitle"/>
          </p:nvPr>
        </p:nvSpPr>
        <p:spPr>
          <a:xfrm>
            <a:off x="94375" y="1098800"/>
            <a:ext cx="58782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4500"/>
              <a:buFont typeface="Fira Sans"/>
              <a:buNone/>
            </a:pPr>
            <a:r>
              <a:rPr lang="en" sz="3200">
                <a:solidFill>
                  <a:schemeClr val="dk2"/>
                </a:solidFill>
              </a:rPr>
              <a:t>Machine Learning Approaches</a:t>
            </a:r>
            <a:endParaRPr sz="3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4500"/>
              <a:buFont typeface="Fira Sans"/>
              <a:buNone/>
            </a:pPr>
            <a:r>
              <a:rPr lang="en" sz="3200">
                <a:solidFill>
                  <a:schemeClr val="dk2"/>
                </a:solidFill>
              </a:rPr>
              <a:t>for ALERT Track matching</a:t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141" name="Google Shape;141;p26"/>
          <p:cNvSpPr txBox="1"/>
          <p:nvPr>
            <p:ph idx="1" type="subTitle"/>
          </p:nvPr>
        </p:nvSpPr>
        <p:spPr>
          <a:xfrm>
            <a:off x="94375" y="2614240"/>
            <a:ext cx="64008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</a:pPr>
            <a:r>
              <a:rPr lang="en"/>
              <a:t>Mathieu Ouillon (Mississippi State University)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2275"/>
            <a:ext cx="3417775" cy="6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7775" y="4557640"/>
            <a:ext cx="1865524" cy="585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ALERT Experiment Setup</a:t>
            </a:r>
            <a:endParaRPr sz="3200"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42150" y="937250"/>
            <a:ext cx="8644800" cy="66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Char char="•"/>
            </a:pPr>
            <a:r>
              <a:rPr lang="en" sz="2000">
                <a:solidFill>
                  <a:srgbClr val="00315F"/>
                </a:solidFill>
              </a:rPr>
              <a:t>ALERT is composed of two sub-detectors:</a:t>
            </a:r>
            <a:endParaRPr sz="2000">
              <a:solidFill>
                <a:srgbClr val="00315F"/>
              </a:solidFill>
            </a:endParaRPr>
          </a:p>
          <a:p>
            <a:pPr indent="-1536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Char char="–"/>
            </a:pPr>
            <a:r>
              <a:rPr lang="en" sz="1700">
                <a:solidFill>
                  <a:srgbClr val="00315F"/>
                </a:solidFill>
              </a:rPr>
              <a:t>A Hyperbolic Drift Chamber (AHDC) and A Time of Flight (ATOF)</a:t>
            </a:r>
            <a:endParaRPr sz="1700">
              <a:solidFill>
                <a:srgbClr val="00315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15F"/>
              </a:solidFill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775" y="1559275"/>
            <a:ext cx="4911500" cy="35301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 txBox="1"/>
          <p:nvPr/>
        </p:nvSpPr>
        <p:spPr>
          <a:xfrm>
            <a:off x="42075" y="1602050"/>
            <a:ext cx="43398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15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ATOF</a:t>
            </a:r>
            <a:endParaRPr sz="1800">
              <a:solidFill>
                <a:srgbClr val="00315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409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●"/>
            </a:pP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Time of flight: used for Particle Identification</a:t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409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●"/>
            </a:pP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Small barrel of segmented scintillators</a:t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409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●"/>
            </a:pP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TOF measurement is degenerate for </a:t>
            </a:r>
            <a:r>
              <a:rPr baseline="30000"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</a:t>
            </a: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H and </a:t>
            </a:r>
            <a:r>
              <a:rPr baseline="30000"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4</a:t>
            </a: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He, but </a:t>
            </a:r>
            <a:r>
              <a:rPr i="1"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dE/dx </a:t>
            </a: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can distinguish the two nuclei bands</a:t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42150" y="3186350"/>
            <a:ext cx="43398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315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AHDC</a:t>
            </a:r>
            <a:endParaRPr sz="1800">
              <a:solidFill>
                <a:srgbClr val="00315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409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●"/>
            </a:pP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Aluminum wire: 2 mm apart</a:t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409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●"/>
            </a:pP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20-degree stereo angle (hyperbolic shape)</a:t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409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●"/>
            </a:pP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5 superlayers, each composed of 2 layers</a:t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409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●"/>
            </a:pPr>
            <a:r>
              <a:rPr lang="en" sz="1500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576 signal wires (6 ground wires of each signal)</a:t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2313940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237713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2440336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250353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271913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366528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372847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394407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468067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474387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480707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487027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508586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550496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556816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563136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569456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575775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597335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650040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Introduction</a:t>
            </a:r>
            <a:endParaRPr sz="3200"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0" y="842869"/>
            <a:ext cx="4422300" cy="4132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Medium"/>
              <a:buChar char="•"/>
            </a:pPr>
            <a:r>
              <a:rPr lang="en" sz="1900">
                <a:solidFill>
                  <a:srgbClr val="00315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Problem</a:t>
            </a:r>
            <a:r>
              <a:rPr lang="en" sz="1700">
                <a:solidFill>
                  <a:srgbClr val="00315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:</a:t>
            </a:r>
            <a:endParaRPr sz="1700">
              <a:solidFill>
                <a:srgbClr val="00315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536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–"/>
            </a:pPr>
            <a:r>
              <a:rPr lang="en" sz="1700">
                <a:solidFill>
                  <a:srgbClr val="00315F"/>
                </a:solidFill>
              </a:rPr>
              <a:t>Given a charged particle track reconstructed in the AHDC, predict which ATOF scintillator it will hit</a:t>
            </a:r>
            <a:endParaRPr sz="1700">
              <a:solidFill>
                <a:srgbClr val="00315F"/>
              </a:solidFill>
            </a:endParaRPr>
          </a:p>
          <a:p>
            <a:pPr indent="-1663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900"/>
              <a:buFont typeface="Fira Sans Light"/>
              <a:buChar char="•"/>
            </a:pPr>
            <a:r>
              <a:rPr lang="en" sz="1900">
                <a:solidFill>
                  <a:srgbClr val="00315F"/>
                </a:solidFill>
              </a:rPr>
              <a:t>ATOF Address = 3 labels:</a:t>
            </a:r>
            <a:endParaRPr sz="1900">
              <a:solidFill>
                <a:srgbClr val="00315F"/>
              </a:solidFill>
            </a:endParaRPr>
          </a:p>
          <a:p>
            <a:pPr indent="-1409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–"/>
            </a:pPr>
            <a:r>
              <a:rPr lang="en">
                <a:solidFill>
                  <a:srgbClr val="00315F"/>
                </a:solidFill>
              </a:rPr>
              <a:t>Sector (0–14): azimuthal φ</a:t>
            </a:r>
            <a:endParaRPr>
              <a:solidFill>
                <a:srgbClr val="00315F"/>
              </a:solidFill>
            </a:endParaRPr>
          </a:p>
          <a:p>
            <a:pPr indent="-1409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–"/>
            </a:pPr>
            <a:r>
              <a:rPr lang="en">
                <a:solidFill>
                  <a:srgbClr val="00315F"/>
                </a:solidFill>
              </a:rPr>
              <a:t>Layer (0–3): quarter within sector</a:t>
            </a:r>
            <a:endParaRPr>
              <a:solidFill>
                <a:srgbClr val="00315F"/>
              </a:solidFill>
            </a:endParaRPr>
          </a:p>
          <a:p>
            <a:pPr indent="-1409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–"/>
            </a:pPr>
            <a:r>
              <a:rPr lang="en">
                <a:solidFill>
                  <a:srgbClr val="00315F"/>
                </a:solidFill>
              </a:rPr>
              <a:t>Wedge (0–9): longitudinal z slice</a:t>
            </a:r>
            <a:endParaRPr>
              <a:solidFill>
                <a:srgbClr val="00315F"/>
              </a:solidFill>
            </a:endParaRPr>
          </a:p>
          <a:p>
            <a:pPr indent="-1409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–"/>
            </a:pPr>
            <a:r>
              <a:rPr lang="en">
                <a:solidFill>
                  <a:srgbClr val="00315F"/>
                </a:solidFill>
              </a:rPr>
              <a:t>Total: 600 possible paddle IDs</a:t>
            </a:r>
            <a:endParaRPr>
              <a:solidFill>
                <a:srgbClr val="00315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315F"/>
              </a:solidFill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•"/>
            </a:pPr>
            <a:r>
              <a:rPr lang="en" sz="1700">
                <a:solidFill>
                  <a:srgbClr val="00315F"/>
                </a:solidFill>
              </a:rPr>
              <a:t>Goal: with an AI, predict which wedge should be hit based on the inter-clusters:</a:t>
            </a:r>
            <a:endParaRPr sz="1700">
              <a:solidFill>
                <a:srgbClr val="00315F"/>
              </a:solidFill>
            </a:endParaRPr>
          </a:p>
          <a:p>
            <a:pPr indent="-1409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–"/>
            </a:pPr>
            <a:r>
              <a:rPr lang="en">
                <a:solidFill>
                  <a:srgbClr val="00315F"/>
                </a:solidFill>
              </a:rPr>
              <a:t>Inputs: 5 of 2-D points (x, y)</a:t>
            </a:r>
            <a:endParaRPr>
              <a:solidFill>
                <a:srgbClr val="00315F"/>
              </a:solidFill>
            </a:endParaRPr>
          </a:p>
          <a:p>
            <a:pPr indent="-14097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500"/>
              <a:buFont typeface="Fira Sans Light"/>
              <a:buChar char="–"/>
            </a:pPr>
            <a:r>
              <a:rPr lang="en">
                <a:solidFill>
                  <a:srgbClr val="00315F"/>
                </a:solidFill>
              </a:rPr>
              <a:t>Output: sector, layer, wedge</a:t>
            </a:r>
            <a:endParaRPr>
              <a:solidFill>
                <a:srgbClr val="00315F"/>
              </a:solidFill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150" y="684200"/>
            <a:ext cx="4639601" cy="442789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2313940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2377138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2440336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250353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271913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366528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372847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394407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468067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474387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480707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487027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508586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550496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556816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563136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569456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575775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597335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50040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Detector Geometry</a:t>
            </a:r>
            <a:endParaRPr sz="3200"/>
          </a:p>
        </p:txBody>
      </p:sp>
      <p:pic>
        <p:nvPicPr>
          <p:cNvPr id="211" name="Google Shape;2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63" y="1659450"/>
            <a:ext cx="8964275" cy="29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42150" y="937250"/>
            <a:ext cx="8916900" cy="8571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Font typeface="Fira Sans Light"/>
              <a:buChar char="•"/>
            </a:pPr>
            <a:r>
              <a:rPr lang="en" sz="2000">
                <a:solidFill>
                  <a:srgbClr val="00315F"/>
                </a:solidFill>
              </a:rPr>
              <a:t>Use information from the AHDC (one point per superlayer) to predict the wedge</a:t>
            </a:r>
            <a:endParaRPr sz="2000">
              <a:solidFill>
                <a:srgbClr val="00315F"/>
              </a:solidFill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2313940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237713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2440336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250353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271913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366528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372847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394407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468067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474387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80707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487027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508586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550496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556816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563136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569456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575775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597335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650040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3/14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 Architecture</a:t>
            </a:r>
            <a:endParaRPr sz="3200"/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42150" y="842875"/>
            <a:ext cx="3274500" cy="4037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Shared experts</a:t>
            </a:r>
            <a:endParaRPr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473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600"/>
              <a:buChar char="-"/>
            </a:pPr>
            <a:r>
              <a:rPr lang="en" sz="1600">
                <a:solidFill>
                  <a:srgbClr val="00315F"/>
                </a:solidFill>
              </a:rPr>
              <a:t>6 expert networks, each with 2 residual blocks (Linear+ LayerNorm+ReLU+Dropout)</a:t>
            </a:r>
            <a:endParaRPr sz="16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Per-task gating</a:t>
            </a:r>
            <a:endParaRPr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473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600"/>
              <a:buChar char="-"/>
            </a:pPr>
            <a:r>
              <a:rPr lang="en" sz="1600">
                <a:solidFill>
                  <a:srgbClr val="00315F"/>
                </a:solidFill>
              </a:rPr>
              <a:t>Each task learns a softmax weighting over all experts, enabling task specialization</a:t>
            </a:r>
            <a:endParaRPr sz="16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Cascaded conditioning</a:t>
            </a:r>
            <a:endParaRPr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346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400"/>
              <a:buFont typeface="Fira Sans Light"/>
              <a:buChar char="-"/>
            </a:pPr>
            <a:r>
              <a:rPr lang="en" sz="1600">
                <a:solidFill>
                  <a:srgbClr val="00315F"/>
                </a:solidFill>
              </a:rPr>
              <a:t>Layer head receives sector logits, wedge head receives both sector and layer logits </a:t>
            </a:r>
            <a:endParaRPr sz="1600">
              <a:solidFill>
                <a:srgbClr val="00315F"/>
              </a:solidFill>
            </a:endParaRPr>
          </a:p>
        </p:txBody>
      </p:sp>
      <p:pic>
        <p:nvPicPr>
          <p:cNvPr id="242" name="Google Shape;242;p30"/>
          <p:cNvPicPr preferRelativeResize="0"/>
          <p:nvPr/>
        </p:nvPicPr>
        <p:blipFill rotWithShape="1">
          <a:blip r:embed="rId3">
            <a:alphaModFix/>
          </a:blip>
          <a:srcRect b="0" l="0" r="13390" t="0"/>
          <a:stretch/>
        </p:blipFill>
        <p:spPr>
          <a:xfrm>
            <a:off x="3275851" y="806724"/>
            <a:ext cx="5759324" cy="431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2313940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237713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2440336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2503533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271913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366528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372847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394407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468067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474387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480707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487027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508586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550496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556816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563136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569456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575775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597335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650040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4/14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Training pipeline</a:t>
            </a:r>
            <a:endParaRPr sz="3200"/>
          </a:p>
        </p:txBody>
      </p:sp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42150" y="937250"/>
            <a:ext cx="3409200" cy="2784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1900"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-"/>
            </a:pPr>
            <a:r>
              <a:rPr lang="en" sz="1700">
                <a:solidFill>
                  <a:srgbClr val="00315F"/>
                </a:solidFill>
              </a:rPr>
              <a:t>From GEMC simulation</a:t>
            </a:r>
            <a:endParaRPr sz="1700">
              <a:solidFill>
                <a:srgbClr val="00315F"/>
              </a:solidFill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-"/>
            </a:pPr>
            <a:r>
              <a:rPr lang="en" sz="1700">
                <a:solidFill>
                  <a:srgbClr val="00315F"/>
                </a:solidFill>
              </a:rPr>
              <a:t>5M events with only ATOF hits </a:t>
            </a:r>
            <a:endParaRPr sz="1700">
              <a:solidFill>
                <a:srgbClr val="00315F"/>
              </a:solidFill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-"/>
            </a:pPr>
            <a:r>
              <a:rPr lang="en" sz="1700">
                <a:solidFill>
                  <a:srgbClr val="00315F"/>
                </a:solidFill>
              </a:rPr>
              <a:t>Split: 70/15/15 train/val/test</a:t>
            </a:r>
            <a:endParaRPr sz="1700">
              <a:solidFill>
                <a:srgbClr val="00315F"/>
              </a:solidFill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-"/>
            </a:pPr>
            <a:r>
              <a:rPr lang="en" sz="1700">
                <a:solidFill>
                  <a:srgbClr val="00315F"/>
                </a:solidFill>
              </a:rPr>
              <a:t>Batch size: 4096</a:t>
            </a:r>
            <a:endParaRPr sz="17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Loss Function</a:t>
            </a:r>
            <a:endParaRPr sz="1900"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-"/>
            </a:pPr>
            <a:r>
              <a:rPr lang="en" sz="1700">
                <a:solidFill>
                  <a:srgbClr val="00315F"/>
                </a:solidFill>
              </a:rPr>
              <a:t>Sector: Cross-Entropy</a:t>
            </a:r>
            <a:endParaRPr sz="1700">
              <a:solidFill>
                <a:srgbClr val="00315F"/>
              </a:solidFill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-"/>
            </a:pPr>
            <a:r>
              <a:rPr lang="en" sz="1700">
                <a:solidFill>
                  <a:srgbClr val="00315F"/>
                </a:solidFill>
              </a:rPr>
              <a:t>Layer: Cross-Entropy </a:t>
            </a:r>
            <a:endParaRPr sz="1700">
              <a:solidFill>
                <a:srgbClr val="00315F"/>
              </a:solidFill>
            </a:endParaRPr>
          </a:p>
          <a:p>
            <a:pPr indent="-15367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700"/>
              <a:buFont typeface="Fira Sans Light"/>
              <a:buChar char="-"/>
            </a:pPr>
            <a:r>
              <a:rPr lang="en" sz="1700">
                <a:solidFill>
                  <a:srgbClr val="00315F"/>
                </a:solidFill>
              </a:rPr>
              <a:t>Wedge: Focal loss (Ɣ=2.0)</a:t>
            </a:r>
            <a:endParaRPr sz="2200">
              <a:solidFill>
                <a:srgbClr val="00315F"/>
              </a:solidFill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50439" l="0" r="0" t="0"/>
          <a:stretch/>
        </p:blipFill>
        <p:spPr>
          <a:xfrm>
            <a:off x="4407200" y="2571748"/>
            <a:ext cx="3649251" cy="237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7511" y="835875"/>
            <a:ext cx="6042977" cy="16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 title="{&quot;red&quot;:0,&quot;green&quot;:0,&quot;blue&quot;:0,&quot;origURL&quot;:&quot;https://www.codecogs.com/eqnedit.php?latex=%5Cmathcal%7BL%7D%20%3D%20w_s%5Cmathcal%7BL%7D_%7B%5Ctext%7Bsector%7D%7D%20%2B%20w_l%5Cmathcal%7BL%7D_%7B%5Ctext%7Blayer%7D%7D%20%2B%20w_w%5Cmathcal%7BL%7D_%5Ctext%7Bwedge%7D#0&quot;,&quot;size&quot;:14,&quot;width&quot;:374.1496062992126,&quot;height&quot;:68.5039370078740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1" y="4119835"/>
            <a:ext cx="4312874" cy="28511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2551491" y="38100"/>
            <a:ext cx="108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3679251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3742449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395804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469464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475784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482104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488424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509983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551893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558213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564533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570853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577172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598732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651437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5/14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Evaluation on Simulation</a:t>
            </a:r>
            <a:endParaRPr sz="3000"/>
          </a:p>
        </p:txBody>
      </p:sp>
      <p:sp>
        <p:nvSpPr>
          <p:cNvPr id="303" name="Google Shape;303;p32"/>
          <p:cNvSpPr txBox="1"/>
          <p:nvPr>
            <p:ph idx="1" type="body"/>
          </p:nvPr>
        </p:nvSpPr>
        <p:spPr>
          <a:xfrm>
            <a:off x="42150" y="937250"/>
            <a:ext cx="44271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•"/>
            </a:pPr>
            <a:r>
              <a:rPr lang="en">
                <a:solidFill>
                  <a:srgbClr val="00315F"/>
                </a:solidFill>
              </a:rPr>
              <a:t>Monitor the accuracy: how often the model predicts the good sector, layer, and wedge</a:t>
            </a:r>
            <a:endParaRPr>
              <a:solidFill>
                <a:srgbClr val="00315F"/>
              </a:solidFill>
            </a:endParaRPr>
          </a:p>
          <a:p>
            <a:pPr indent="-1600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•"/>
            </a:pPr>
            <a:r>
              <a:rPr lang="en">
                <a:solidFill>
                  <a:srgbClr val="00315F"/>
                </a:solidFill>
              </a:rPr>
              <a:t>Accuracy off by one: </a:t>
            </a:r>
            <a:r>
              <a:rPr lang="en">
                <a:solidFill>
                  <a:srgbClr val="00315F"/>
                </a:solidFill>
              </a:rPr>
              <a:t>how often </a:t>
            </a:r>
            <a:r>
              <a:rPr lang="en">
                <a:solidFill>
                  <a:srgbClr val="00315F"/>
                </a:solidFill>
              </a:rPr>
              <a:t>the model predicts the correct sector, layer but the wedge is the correct one or off by one.</a:t>
            </a:r>
            <a:endParaRPr>
              <a:solidFill>
                <a:srgbClr val="00315F"/>
              </a:solidFill>
            </a:endParaRPr>
          </a:p>
          <a:p>
            <a:pPr indent="-1600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•"/>
            </a:pPr>
            <a:r>
              <a:rPr lang="en">
                <a:solidFill>
                  <a:srgbClr val="00315F"/>
                </a:solidFill>
              </a:rPr>
              <a:t>The distance: the x,y,z distance between the center of the predicted wedge and the correct one.</a:t>
            </a:r>
            <a:endParaRPr sz="2200">
              <a:solidFill>
                <a:srgbClr val="00315F"/>
              </a:solidFill>
            </a:endParaRPr>
          </a:p>
        </p:txBody>
      </p:sp>
      <p:pic>
        <p:nvPicPr>
          <p:cNvPr id="304" name="Google Shape;3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150" y="2948550"/>
            <a:ext cx="4030400" cy="219495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2551491" y="38100"/>
            <a:ext cx="108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2" name="Google Shape;312;p32"/>
          <p:cNvSpPr/>
          <p:nvPr/>
        </p:nvSpPr>
        <p:spPr>
          <a:xfrm>
            <a:off x="3679251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3742449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395804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469464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475784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482104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488424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509983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51893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558213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564533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570853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577172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598732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651437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6/14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648" y="781075"/>
            <a:ext cx="4320775" cy="212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Simulation</a:t>
            </a:r>
            <a:endParaRPr sz="3200"/>
          </a:p>
        </p:txBody>
      </p:sp>
      <p:sp>
        <p:nvSpPr>
          <p:cNvPr id="334" name="Google Shape;334;p33"/>
          <p:cNvSpPr txBox="1"/>
          <p:nvPr>
            <p:ph idx="1" type="body"/>
          </p:nvPr>
        </p:nvSpPr>
        <p:spPr>
          <a:xfrm>
            <a:off x="1809625" y="775475"/>
            <a:ext cx="1966800" cy="3639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</a:rPr>
              <a:t>good predictions</a:t>
            </a:r>
            <a:endParaRPr>
              <a:solidFill>
                <a:srgbClr val="00315F"/>
              </a:solidFill>
            </a:endParaRPr>
          </a:p>
        </p:txBody>
      </p:sp>
      <p:pic>
        <p:nvPicPr>
          <p:cNvPr id="335" name="Google Shape;3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25" y="1126250"/>
            <a:ext cx="8772372" cy="39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8" name="Google Shape;338;p33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0" name="Google Shape;340;p33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5" name="Google Shape;345;p33"/>
          <p:cNvSpPr/>
          <p:nvPr/>
        </p:nvSpPr>
        <p:spPr>
          <a:xfrm>
            <a:off x="3776437" y="381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4652737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4715934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4779132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4842330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505792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547702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554022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560342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566662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572981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59454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64724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8" name="Google Shape;358;p3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7/14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6214675" y="775475"/>
            <a:ext cx="1966800" cy="3639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</a:rPr>
              <a:t>bad</a:t>
            </a:r>
            <a:r>
              <a:rPr lang="en">
                <a:solidFill>
                  <a:srgbClr val="00315F"/>
                </a:solidFill>
              </a:rPr>
              <a:t> predictions</a:t>
            </a:r>
            <a:endParaRPr>
              <a:solidFill>
                <a:srgbClr val="00315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Simulation</a:t>
            </a:r>
            <a:endParaRPr sz="3200"/>
          </a:p>
        </p:txBody>
      </p:sp>
      <p:sp>
        <p:nvSpPr>
          <p:cNvPr id="365" name="Google Shape;365;p34"/>
          <p:cNvSpPr txBox="1"/>
          <p:nvPr>
            <p:ph idx="1" type="body"/>
          </p:nvPr>
        </p:nvSpPr>
        <p:spPr>
          <a:xfrm>
            <a:off x="42150" y="1038367"/>
            <a:ext cx="9011100" cy="66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Char char="•"/>
            </a:pPr>
            <a:r>
              <a:rPr lang="en" sz="2000">
                <a:solidFill>
                  <a:srgbClr val="00315F"/>
                </a:solidFill>
              </a:rPr>
              <a:t>Accuracy per class (sector, layer and wedge)</a:t>
            </a:r>
            <a:endParaRPr sz="2000">
              <a:solidFill>
                <a:srgbClr val="00315F"/>
              </a:solidFill>
            </a:endParaRPr>
          </a:p>
        </p:txBody>
      </p:sp>
      <p:pic>
        <p:nvPicPr>
          <p:cNvPr id="366" name="Google Shape;3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0" y="1777150"/>
            <a:ext cx="9051602" cy="237339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3776437" y="381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4652737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4715934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4779132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4842330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505792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547702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554022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560342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566662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572981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59454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64724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8/14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Real Data</a:t>
            </a:r>
            <a:endParaRPr sz="3200"/>
          </a:p>
        </p:txBody>
      </p:sp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42150" y="937250"/>
            <a:ext cx="9045000" cy="4311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spcBef>
                <a:spcPts val="400"/>
              </a:spcBef>
              <a:spcAft>
                <a:spcPts val="0"/>
              </a:spcAft>
              <a:buClr>
                <a:srgbClr val="00315F"/>
              </a:buClr>
              <a:buSzPts val="2000"/>
              <a:buChar char="•"/>
            </a:pPr>
            <a:r>
              <a:rPr lang="en" sz="2000">
                <a:solidFill>
                  <a:srgbClr val="00315F"/>
                </a:solidFill>
              </a:rPr>
              <a:t>D</a:t>
            </a:r>
            <a:r>
              <a:rPr lang="en" sz="2000">
                <a:solidFill>
                  <a:srgbClr val="00315F"/>
                </a:solidFill>
              </a:rPr>
              <a:t>euterium</a:t>
            </a:r>
            <a:r>
              <a:rPr lang="en" sz="2000">
                <a:solidFill>
                  <a:srgbClr val="00315F"/>
                </a:solidFill>
              </a:rPr>
              <a:t> elastic event (2.2 GeV run) selection</a:t>
            </a:r>
            <a:endParaRPr sz="2000">
              <a:solidFill>
                <a:srgbClr val="00315F"/>
              </a:solidFill>
            </a:endParaRPr>
          </a:p>
        </p:txBody>
      </p:sp>
      <p:pic>
        <p:nvPicPr>
          <p:cNvPr id="396" name="Google Shape;3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0" y="1368350"/>
            <a:ext cx="9045002" cy="254390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5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0" name="Google Shape;400;p35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1" name="Google Shape;401;p35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4" name="Google Shape;404;p35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3776437" y="381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4652737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4715934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4779132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4842330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505792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547702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554022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560342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566662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572981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59454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64724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9/14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Real Data</a:t>
            </a:r>
            <a:endParaRPr sz="3200"/>
          </a:p>
        </p:txBody>
      </p:sp>
      <p:sp>
        <p:nvSpPr>
          <p:cNvPr id="425" name="Google Shape;425;p36"/>
          <p:cNvSpPr txBox="1"/>
          <p:nvPr>
            <p:ph idx="1" type="body"/>
          </p:nvPr>
        </p:nvSpPr>
        <p:spPr>
          <a:xfrm>
            <a:off x="42150" y="937250"/>
            <a:ext cx="8644800" cy="632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315F"/>
                </a:solidFill>
              </a:rPr>
              <a:t>Estimate the wedge that should be hit based on the electron kinematics and use it as the </a:t>
            </a:r>
            <a:r>
              <a:rPr lang="en" sz="2000">
                <a:solidFill>
                  <a:srgbClr val="00315F"/>
                </a:solidFill>
              </a:rPr>
              <a:t>truth</a:t>
            </a:r>
            <a:endParaRPr sz="2000">
              <a:solidFill>
                <a:srgbClr val="00315F"/>
              </a:solidFill>
            </a:endParaRPr>
          </a:p>
        </p:txBody>
      </p:sp>
      <p:pic>
        <p:nvPicPr>
          <p:cNvPr id="426" name="Google Shape;4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100" y="1569950"/>
            <a:ext cx="6124252" cy="3546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8" name="Google Shape;428;p36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2" name="Google Shape;432;p36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377643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451303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8" name="Google Shape;438;p36"/>
          <p:cNvSpPr/>
          <p:nvPr/>
        </p:nvSpPr>
        <p:spPr>
          <a:xfrm>
            <a:off x="457623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9" name="Google Shape;439;p36"/>
          <p:cNvSpPr/>
          <p:nvPr/>
        </p:nvSpPr>
        <p:spPr>
          <a:xfrm>
            <a:off x="463943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4702630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4918228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2" name="Google Shape;442;p36"/>
          <p:cNvSpPr/>
          <p:nvPr/>
        </p:nvSpPr>
        <p:spPr>
          <a:xfrm>
            <a:off x="5337328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3" name="Google Shape;443;p36"/>
          <p:cNvSpPr/>
          <p:nvPr/>
        </p:nvSpPr>
        <p:spPr>
          <a:xfrm>
            <a:off x="5400525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" name="Google Shape;444;p36"/>
          <p:cNvSpPr/>
          <p:nvPr/>
        </p:nvSpPr>
        <p:spPr>
          <a:xfrm>
            <a:off x="546372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5526921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6" name="Google Shape;446;p36"/>
          <p:cNvSpPr/>
          <p:nvPr/>
        </p:nvSpPr>
        <p:spPr>
          <a:xfrm>
            <a:off x="559011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58057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63327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10/14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Real Data</a:t>
            </a:r>
            <a:endParaRPr sz="3200"/>
          </a:p>
        </p:txBody>
      </p:sp>
      <p:sp>
        <p:nvSpPr>
          <p:cNvPr id="455" name="Google Shape;455;p37"/>
          <p:cNvSpPr txBox="1"/>
          <p:nvPr>
            <p:ph idx="1" type="body"/>
          </p:nvPr>
        </p:nvSpPr>
        <p:spPr>
          <a:xfrm>
            <a:off x="42150" y="788725"/>
            <a:ext cx="9072000" cy="435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15F"/>
              </a:solidFill>
            </a:endParaRPr>
          </a:p>
          <a:p>
            <a:pPr indent="-1727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Char char="–"/>
            </a:pPr>
            <a:r>
              <a:rPr lang="en" sz="2000">
                <a:solidFill>
                  <a:srgbClr val="00315F"/>
                </a:solidFill>
              </a:rPr>
              <a:t>N</a:t>
            </a:r>
            <a:r>
              <a:rPr baseline="-25000" lang="en" sz="2000">
                <a:solidFill>
                  <a:srgbClr val="00315F"/>
                </a:solidFill>
              </a:rPr>
              <a:t>true matchable</a:t>
            </a:r>
            <a:r>
              <a:rPr lang="en" sz="2000">
                <a:solidFill>
                  <a:srgbClr val="00315F"/>
                </a:solidFill>
              </a:rPr>
              <a:t>: Number of AHDC tracks that genuinely hit a specific ATOF sector</a:t>
            </a:r>
            <a:endParaRPr sz="2000">
              <a:solidFill>
                <a:srgbClr val="00315F"/>
              </a:solidFill>
            </a:endParaRPr>
          </a:p>
          <a:p>
            <a:pPr indent="-1727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Char char="–"/>
            </a:pPr>
            <a:r>
              <a:rPr lang="en" sz="2000">
                <a:solidFill>
                  <a:srgbClr val="00315F"/>
                </a:solidFill>
              </a:rPr>
              <a:t>N</a:t>
            </a:r>
            <a:r>
              <a:rPr baseline="-25000" lang="en" sz="2000">
                <a:solidFill>
                  <a:srgbClr val="00315F"/>
                </a:solidFill>
              </a:rPr>
              <a:t>correctly matched</a:t>
            </a:r>
            <a:r>
              <a:rPr lang="en" sz="2000">
                <a:solidFill>
                  <a:srgbClr val="00315F"/>
                </a:solidFill>
              </a:rPr>
              <a:t>: Number of those tracks where the predicted = true</a:t>
            </a:r>
            <a:endParaRPr sz="2000">
              <a:solidFill>
                <a:srgbClr val="00315F"/>
              </a:solidFill>
            </a:endParaRPr>
          </a:p>
          <a:p>
            <a:pPr indent="-1727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Char char="–"/>
            </a:pPr>
            <a:r>
              <a:rPr lang="en" sz="2000">
                <a:solidFill>
                  <a:srgbClr val="00315F"/>
                </a:solidFill>
              </a:rPr>
              <a:t>This answers: "Of all tracks that should have been matched, what fraction did we correctly find?"</a:t>
            </a:r>
            <a:endParaRPr sz="20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N</a:t>
            </a:r>
            <a:r>
              <a:rPr baseline="-25000" lang="en" sz="1800">
                <a:solidFill>
                  <a:srgbClr val="00315F"/>
                </a:solidFill>
              </a:rPr>
              <a:t>candidates</a:t>
            </a:r>
            <a:r>
              <a:rPr lang="en" sz="1800">
                <a:solidFill>
                  <a:srgbClr val="00315F"/>
                </a:solidFill>
              </a:rPr>
              <a:t>: Number of tracks the model assigns to a given class, regardless of whether that assignment is correct or not.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This answers: "Of all tracks the model selected as matches, what fraction are genuine?"</a:t>
            </a:r>
            <a:endParaRPr sz="1800">
              <a:solidFill>
                <a:srgbClr val="00315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315F"/>
              </a:solidFill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7" name="Google Shape;457;p37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8" name="Google Shape;458;p37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9" name="Google Shape;459;p37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0" name="Google Shape;460;p37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377643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451303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457623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463943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470263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4918228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1" name="Google Shape;471;p37"/>
          <p:cNvSpPr/>
          <p:nvPr/>
        </p:nvSpPr>
        <p:spPr>
          <a:xfrm>
            <a:off x="533732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2" name="Google Shape;472;p37"/>
          <p:cNvSpPr/>
          <p:nvPr/>
        </p:nvSpPr>
        <p:spPr>
          <a:xfrm>
            <a:off x="5400525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3" name="Google Shape;473;p37"/>
          <p:cNvSpPr/>
          <p:nvPr/>
        </p:nvSpPr>
        <p:spPr>
          <a:xfrm>
            <a:off x="546372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4" name="Google Shape;474;p37"/>
          <p:cNvSpPr/>
          <p:nvPr/>
        </p:nvSpPr>
        <p:spPr>
          <a:xfrm>
            <a:off x="5526921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559011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6" name="Google Shape;476;p37"/>
          <p:cNvSpPr/>
          <p:nvPr/>
        </p:nvSpPr>
        <p:spPr>
          <a:xfrm>
            <a:off x="58057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7" name="Google Shape;477;p37"/>
          <p:cNvSpPr/>
          <p:nvPr/>
        </p:nvSpPr>
        <p:spPr>
          <a:xfrm>
            <a:off x="63327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8" name="Google Shape;478;p3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11/14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479" name="Google Shape;479;p37" title="{&quot;red&quot;:0,&quot;green&quot;:49,&quot;blue&quot;:95,&quot;origURL&quot;:&quot;https://www.codecogs.com/eqnedit.php?latex=%5Ctext%7BEfficiency%7D%20%3D%20%5Cfrac%7BN_%7B%5Ctext%7Bcorrectly%20matched%7D%7D%7D%7BN_%7B%5Ctext%7Btrue%20matchable%7D%7D%7D#0&quot;,&quot;size&quot;:20,&quot;width&quot;:536.6456692913385,&quot;height&quot;:81.7322834645669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199" y="824327"/>
            <a:ext cx="3815799" cy="70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7" title="{&quot;red&quot;:0,&quot;green&quot;:49,&quot;blue&quot;:95,&quot;origURL&quot;:&quot;https://www.codecogs.com/eqnedit.php?latex=%5Ctext%7BPurity%7D%20%3D%20%5Cfrac%7BN_%7B%5Ctext%7Bcorrectly%20matched%7D%7D%7D%7BN_%7B%5Ctext%7Bcandidates%7D%7D%7D#0&quot;,&quot;size&quot;:14,&quot;width&quot;:236.2204724409449,&quot;height&quot;:236.220472440944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2700" y="2858500"/>
            <a:ext cx="3370586" cy="7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8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Real Data</a:t>
            </a:r>
            <a:endParaRPr sz="3200"/>
          </a:p>
        </p:txBody>
      </p:sp>
      <p:pic>
        <p:nvPicPr>
          <p:cNvPr id="486" name="Google Shape;486;p38"/>
          <p:cNvPicPr preferRelativeResize="0"/>
          <p:nvPr/>
        </p:nvPicPr>
        <p:blipFill rotWithShape="1">
          <a:blip r:embed="rId3">
            <a:alphaModFix/>
          </a:blip>
          <a:srcRect b="0" l="0" r="49703" t="1283"/>
          <a:stretch/>
        </p:blipFill>
        <p:spPr>
          <a:xfrm>
            <a:off x="76705" y="1085791"/>
            <a:ext cx="4423501" cy="354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8"/>
          <p:cNvPicPr preferRelativeResize="0"/>
          <p:nvPr/>
        </p:nvPicPr>
        <p:blipFill rotWithShape="1">
          <a:blip r:embed="rId3">
            <a:alphaModFix/>
          </a:blip>
          <a:srcRect b="0" l="50140" r="0" t="1283"/>
          <a:stretch/>
        </p:blipFill>
        <p:spPr>
          <a:xfrm>
            <a:off x="4639418" y="1085800"/>
            <a:ext cx="4385014" cy="35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2" name="Google Shape;492;p38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3" name="Google Shape;493;p38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4" name="Google Shape;494;p38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5" name="Google Shape;495;p38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6" name="Google Shape;496;p38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" name="Google Shape;497;p38"/>
          <p:cNvSpPr/>
          <p:nvPr/>
        </p:nvSpPr>
        <p:spPr>
          <a:xfrm>
            <a:off x="377643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8" name="Google Shape;498;p38"/>
          <p:cNvSpPr/>
          <p:nvPr/>
        </p:nvSpPr>
        <p:spPr>
          <a:xfrm>
            <a:off x="451303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9" name="Google Shape;499;p38"/>
          <p:cNvSpPr/>
          <p:nvPr/>
        </p:nvSpPr>
        <p:spPr>
          <a:xfrm>
            <a:off x="457623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0" name="Google Shape;500;p38"/>
          <p:cNvSpPr/>
          <p:nvPr/>
        </p:nvSpPr>
        <p:spPr>
          <a:xfrm>
            <a:off x="463943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1" name="Google Shape;501;p38"/>
          <p:cNvSpPr/>
          <p:nvPr/>
        </p:nvSpPr>
        <p:spPr>
          <a:xfrm>
            <a:off x="470263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2" name="Google Shape;502;p38"/>
          <p:cNvSpPr/>
          <p:nvPr/>
        </p:nvSpPr>
        <p:spPr>
          <a:xfrm>
            <a:off x="4918228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3" name="Google Shape;503;p38"/>
          <p:cNvSpPr/>
          <p:nvPr/>
        </p:nvSpPr>
        <p:spPr>
          <a:xfrm>
            <a:off x="533732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4" name="Google Shape;504;p38"/>
          <p:cNvSpPr/>
          <p:nvPr/>
        </p:nvSpPr>
        <p:spPr>
          <a:xfrm>
            <a:off x="5400525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5" name="Google Shape;505;p38"/>
          <p:cNvSpPr/>
          <p:nvPr/>
        </p:nvSpPr>
        <p:spPr>
          <a:xfrm>
            <a:off x="546372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6" name="Google Shape;506;p38"/>
          <p:cNvSpPr/>
          <p:nvPr/>
        </p:nvSpPr>
        <p:spPr>
          <a:xfrm>
            <a:off x="5526921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7" name="Google Shape;507;p38"/>
          <p:cNvSpPr/>
          <p:nvPr/>
        </p:nvSpPr>
        <p:spPr>
          <a:xfrm>
            <a:off x="559011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8" name="Google Shape;508;p38"/>
          <p:cNvSpPr/>
          <p:nvPr/>
        </p:nvSpPr>
        <p:spPr>
          <a:xfrm>
            <a:off x="58057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9" name="Google Shape;509;p38"/>
          <p:cNvSpPr/>
          <p:nvPr/>
        </p:nvSpPr>
        <p:spPr>
          <a:xfrm>
            <a:off x="63327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0" name="Google Shape;510;p3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11/14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9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real data</a:t>
            </a:r>
            <a:endParaRPr sz="3200"/>
          </a:p>
        </p:txBody>
      </p:sp>
      <p:sp>
        <p:nvSpPr>
          <p:cNvPr id="516" name="Google Shape;516;p3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1" name="Google Shape;521;p39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2" name="Google Shape;522;p39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3" name="Google Shape;523;p39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4" name="Google Shape;524;p39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5" name="Google Shape;525;p39"/>
          <p:cNvSpPr/>
          <p:nvPr/>
        </p:nvSpPr>
        <p:spPr>
          <a:xfrm>
            <a:off x="377643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6" name="Google Shape;526;p39"/>
          <p:cNvSpPr/>
          <p:nvPr/>
        </p:nvSpPr>
        <p:spPr>
          <a:xfrm>
            <a:off x="451303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7" name="Google Shape;527;p39"/>
          <p:cNvSpPr/>
          <p:nvPr/>
        </p:nvSpPr>
        <p:spPr>
          <a:xfrm>
            <a:off x="457623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" name="Google Shape;528;p39"/>
          <p:cNvSpPr/>
          <p:nvPr/>
        </p:nvSpPr>
        <p:spPr>
          <a:xfrm>
            <a:off x="463943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" name="Google Shape;529;p39"/>
          <p:cNvSpPr/>
          <p:nvPr/>
        </p:nvSpPr>
        <p:spPr>
          <a:xfrm>
            <a:off x="470263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0" name="Google Shape;530;p39"/>
          <p:cNvSpPr/>
          <p:nvPr/>
        </p:nvSpPr>
        <p:spPr>
          <a:xfrm>
            <a:off x="4918228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1" name="Google Shape;531;p39"/>
          <p:cNvSpPr/>
          <p:nvPr/>
        </p:nvSpPr>
        <p:spPr>
          <a:xfrm>
            <a:off x="533732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5400525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3" name="Google Shape;533;p39"/>
          <p:cNvSpPr/>
          <p:nvPr/>
        </p:nvSpPr>
        <p:spPr>
          <a:xfrm>
            <a:off x="5463723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4" name="Google Shape;534;p39"/>
          <p:cNvSpPr/>
          <p:nvPr/>
        </p:nvSpPr>
        <p:spPr>
          <a:xfrm>
            <a:off x="5526921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5" name="Google Shape;535;p39"/>
          <p:cNvSpPr/>
          <p:nvPr/>
        </p:nvSpPr>
        <p:spPr>
          <a:xfrm>
            <a:off x="559011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6" name="Google Shape;536;p39"/>
          <p:cNvSpPr/>
          <p:nvPr/>
        </p:nvSpPr>
        <p:spPr>
          <a:xfrm>
            <a:off x="58057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7" name="Google Shape;537;p39"/>
          <p:cNvSpPr/>
          <p:nvPr/>
        </p:nvSpPr>
        <p:spPr>
          <a:xfrm>
            <a:off x="63327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8" name="Google Shape;538;p3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12/14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39" name="Google Shape;5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600" y="754175"/>
            <a:ext cx="7227976" cy="408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0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Summary and Outlook</a:t>
            </a:r>
            <a:endParaRPr sz="3200"/>
          </a:p>
        </p:txBody>
      </p:sp>
      <p:sp>
        <p:nvSpPr>
          <p:cNvPr id="545" name="Google Shape;545;p40"/>
          <p:cNvSpPr txBox="1"/>
          <p:nvPr>
            <p:ph idx="1" type="body"/>
          </p:nvPr>
        </p:nvSpPr>
        <p:spPr>
          <a:xfrm>
            <a:off x="42150" y="937250"/>
            <a:ext cx="90111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9070" lvl="0" marL="182880" rtl="0" algn="l">
              <a:spcBef>
                <a:spcPts val="400"/>
              </a:spcBef>
              <a:spcAft>
                <a:spcPts val="0"/>
              </a:spcAft>
              <a:buClr>
                <a:srgbClr val="00315F"/>
              </a:buClr>
              <a:buSzPts val="2100"/>
              <a:buChar char="•"/>
            </a:pPr>
            <a:r>
              <a:rPr lang="en" sz="2100">
                <a:solidFill>
                  <a:srgbClr val="00315F"/>
                </a:solidFill>
              </a:rPr>
              <a:t>An AI-assisted MLP has been developed for track matching between AHDC and ATOF:</a:t>
            </a:r>
            <a:endParaRPr sz="2100">
              <a:solidFill>
                <a:srgbClr val="00315F"/>
              </a:solidFill>
            </a:endParaRPr>
          </a:p>
          <a:p>
            <a:pPr indent="-160020" lvl="1" marL="36576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The network have been optimized and 3 heads to predict the sector, layer and wedge have been used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The AI is already implemented in COATJAVA and have been used in cooking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Evaluated the model's efficiency and purity as a function of momentum on simulation and data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Efficiency is always higher than 80% on data / 90% on simulation</a:t>
            </a:r>
            <a:endParaRPr sz="1800">
              <a:solidFill>
                <a:srgbClr val="00315F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315F"/>
              </a:solidFill>
            </a:endParaRPr>
          </a:p>
          <a:p>
            <a:pPr indent="-179070" lvl="0" marL="182880" rtl="0" algn="l">
              <a:spcBef>
                <a:spcPts val="400"/>
              </a:spcBef>
              <a:spcAft>
                <a:spcPts val="0"/>
              </a:spcAft>
              <a:buClr>
                <a:srgbClr val="00315F"/>
              </a:buClr>
              <a:buSzPts val="2100"/>
              <a:buChar char="•"/>
            </a:pPr>
            <a:r>
              <a:rPr lang="en" sz="2100">
                <a:solidFill>
                  <a:srgbClr val="00315F"/>
                </a:solidFill>
              </a:rPr>
              <a:t>Future work:</a:t>
            </a:r>
            <a:endParaRPr sz="2100">
              <a:solidFill>
                <a:srgbClr val="00315F"/>
              </a:solidFill>
            </a:endParaRPr>
          </a:p>
          <a:p>
            <a:pPr indent="-160020" lvl="1" marL="36576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Retrain the track finding and track matching with the updated geometry</a:t>
            </a:r>
            <a:endParaRPr sz="1800">
              <a:solidFill>
                <a:srgbClr val="00315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315F"/>
              </a:solidFill>
            </a:endParaRPr>
          </a:p>
        </p:txBody>
      </p:sp>
      <p:sp>
        <p:nvSpPr>
          <p:cNvPr id="546" name="Google Shape;546;p4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7" name="Google Shape;547;p40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8" name="Google Shape;548;p40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9" name="Google Shape;549;p40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0" name="Google Shape;550;p40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1" name="Google Shape;551;p40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2" name="Google Shape;552;p40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3" name="Google Shape;553;p40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4" name="Google Shape;554;p40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5" name="Google Shape;555;p40"/>
          <p:cNvSpPr/>
          <p:nvPr/>
        </p:nvSpPr>
        <p:spPr>
          <a:xfrm>
            <a:off x="377643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6" name="Google Shape;556;p40"/>
          <p:cNvSpPr/>
          <p:nvPr/>
        </p:nvSpPr>
        <p:spPr>
          <a:xfrm>
            <a:off x="451303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7" name="Google Shape;557;p40"/>
          <p:cNvSpPr/>
          <p:nvPr/>
        </p:nvSpPr>
        <p:spPr>
          <a:xfrm>
            <a:off x="457623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" name="Google Shape;558;p40"/>
          <p:cNvSpPr/>
          <p:nvPr/>
        </p:nvSpPr>
        <p:spPr>
          <a:xfrm>
            <a:off x="463943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9" name="Google Shape;559;p40"/>
          <p:cNvSpPr/>
          <p:nvPr/>
        </p:nvSpPr>
        <p:spPr>
          <a:xfrm>
            <a:off x="470263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0" name="Google Shape;560;p40"/>
          <p:cNvSpPr/>
          <p:nvPr/>
        </p:nvSpPr>
        <p:spPr>
          <a:xfrm>
            <a:off x="4918228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1" name="Google Shape;561;p40"/>
          <p:cNvSpPr/>
          <p:nvPr/>
        </p:nvSpPr>
        <p:spPr>
          <a:xfrm>
            <a:off x="533732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2" name="Google Shape;562;p40"/>
          <p:cNvSpPr/>
          <p:nvPr/>
        </p:nvSpPr>
        <p:spPr>
          <a:xfrm>
            <a:off x="5400525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3" name="Google Shape;563;p40"/>
          <p:cNvSpPr/>
          <p:nvPr/>
        </p:nvSpPr>
        <p:spPr>
          <a:xfrm>
            <a:off x="546372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4" name="Google Shape;564;p40"/>
          <p:cNvSpPr/>
          <p:nvPr/>
        </p:nvSpPr>
        <p:spPr>
          <a:xfrm>
            <a:off x="5526921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5" name="Google Shape;565;p40"/>
          <p:cNvSpPr/>
          <p:nvPr/>
        </p:nvSpPr>
        <p:spPr>
          <a:xfrm>
            <a:off x="559011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6" name="Google Shape;566;p40"/>
          <p:cNvSpPr/>
          <p:nvPr/>
        </p:nvSpPr>
        <p:spPr>
          <a:xfrm>
            <a:off x="58057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7" name="Google Shape;567;p40"/>
          <p:cNvSpPr/>
          <p:nvPr/>
        </p:nvSpPr>
        <p:spPr>
          <a:xfrm>
            <a:off x="63327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8" name="Google Shape;568;p4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13/14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/>
          <p:cNvSpPr txBox="1"/>
          <p:nvPr>
            <p:ph type="title"/>
          </p:nvPr>
        </p:nvSpPr>
        <p:spPr>
          <a:xfrm>
            <a:off x="685788" y="1806601"/>
            <a:ext cx="7772400" cy="102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315F"/>
                </a:solidFill>
              </a:rPr>
              <a:t>Backup slides</a:t>
            </a:r>
            <a:endParaRPr sz="4000">
              <a:solidFill>
                <a:srgbClr val="00315F"/>
              </a:solidFill>
            </a:endParaRPr>
          </a:p>
        </p:txBody>
      </p:sp>
      <p:sp>
        <p:nvSpPr>
          <p:cNvPr id="574" name="Google Shape;574;p4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5" name="Google Shape;575;p41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6" name="Google Shape;576;p41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7" name="Google Shape;577;p41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8" name="Google Shape;578;p41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9" name="Google Shape;579;p41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0" name="Google Shape;580;p41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1" name="Google Shape;581;p41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2" name="Google Shape;582;p41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3" name="Google Shape;583;p41"/>
          <p:cNvSpPr/>
          <p:nvPr/>
        </p:nvSpPr>
        <p:spPr>
          <a:xfrm>
            <a:off x="377643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4" name="Google Shape;584;p41"/>
          <p:cNvSpPr/>
          <p:nvPr/>
        </p:nvSpPr>
        <p:spPr>
          <a:xfrm>
            <a:off x="451303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5" name="Google Shape;585;p41"/>
          <p:cNvSpPr/>
          <p:nvPr/>
        </p:nvSpPr>
        <p:spPr>
          <a:xfrm>
            <a:off x="457623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6" name="Google Shape;586;p41"/>
          <p:cNvSpPr/>
          <p:nvPr/>
        </p:nvSpPr>
        <p:spPr>
          <a:xfrm>
            <a:off x="463943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7" name="Google Shape;587;p41"/>
          <p:cNvSpPr/>
          <p:nvPr/>
        </p:nvSpPr>
        <p:spPr>
          <a:xfrm>
            <a:off x="470263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8" name="Google Shape;588;p41"/>
          <p:cNvSpPr/>
          <p:nvPr/>
        </p:nvSpPr>
        <p:spPr>
          <a:xfrm>
            <a:off x="4918228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9" name="Google Shape;589;p41"/>
          <p:cNvSpPr/>
          <p:nvPr/>
        </p:nvSpPr>
        <p:spPr>
          <a:xfrm>
            <a:off x="5337328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0" name="Google Shape;590;p41"/>
          <p:cNvSpPr/>
          <p:nvPr/>
        </p:nvSpPr>
        <p:spPr>
          <a:xfrm>
            <a:off x="5400525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1" name="Google Shape;591;p41"/>
          <p:cNvSpPr/>
          <p:nvPr/>
        </p:nvSpPr>
        <p:spPr>
          <a:xfrm>
            <a:off x="5463723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" name="Google Shape;592;p41"/>
          <p:cNvSpPr/>
          <p:nvPr/>
        </p:nvSpPr>
        <p:spPr>
          <a:xfrm>
            <a:off x="5526921" y="92151"/>
            <a:ext cx="31500" cy="315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3" name="Google Shape;593;p41"/>
          <p:cNvSpPr/>
          <p:nvPr/>
        </p:nvSpPr>
        <p:spPr>
          <a:xfrm>
            <a:off x="5590118" y="85831"/>
            <a:ext cx="44100" cy="441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4" name="Google Shape;594;p41"/>
          <p:cNvSpPr/>
          <p:nvPr/>
        </p:nvSpPr>
        <p:spPr>
          <a:xfrm>
            <a:off x="58057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5" name="Google Shape;595;p41"/>
          <p:cNvSpPr/>
          <p:nvPr/>
        </p:nvSpPr>
        <p:spPr>
          <a:xfrm>
            <a:off x="63327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6" name="Google Shape;596;p4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14/14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2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Evaluation on simulation</a:t>
            </a:r>
            <a:endParaRPr sz="3200"/>
          </a:p>
        </p:txBody>
      </p:sp>
      <p:sp>
        <p:nvSpPr>
          <p:cNvPr id="602" name="Google Shape;602;p42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•"/>
            </a:pPr>
            <a:r>
              <a:rPr lang="en">
                <a:solidFill>
                  <a:srgbClr val="00315F"/>
                </a:solidFill>
              </a:rPr>
              <a:t>Detail errors: good accuracy for sector and layer, wedge can be off by one</a:t>
            </a:r>
            <a:endParaRPr>
              <a:solidFill>
                <a:srgbClr val="00315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15F"/>
              </a:solidFill>
            </a:endParaRPr>
          </a:p>
        </p:txBody>
      </p:sp>
      <p:pic>
        <p:nvPicPr>
          <p:cNvPr id="603" name="Google Shape;6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638" y="1271332"/>
            <a:ext cx="7932626" cy="382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5" name="Google Shape;605;p42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214630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7" name="Google Shape;607;p42"/>
          <p:cNvSpPr/>
          <p:nvPr/>
        </p:nvSpPr>
        <p:spPr>
          <a:xfrm>
            <a:off x="220949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8" name="Google Shape;608;p42"/>
          <p:cNvSpPr/>
          <p:nvPr/>
        </p:nvSpPr>
        <p:spPr>
          <a:xfrm>
            <a:off x="227269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9" name="Google Shape;609;p42"/>
          <p:cNvSpPr/>
          <p:nvPr/>
        </p:nvSpPr>
        <p:spPr>
          <a:xfrm>
            <a:off x="233589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0" name="Google Shape;610;p42"/>
          <p:cNvSpPr/>
          <p:nvPr/>
        </p:nvSpPr>
        <p:spPr>
          <a:xfrm>
            <a:off x="2551491" y="50800"/>
            <a:ext cx="90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Model &amp; Train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1" name="Google Shape;611;p42"/>
          <p:cNvSpPr/>
          <p:nvPr/>
        </p:nvSpPr>
        <p:spPr>
          <a:xfrm>
            <a:off x="349764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2" name="Google Shape;612;p42"/>
          <p:cNvSpPr/>
          <p:nvPr/>
        </p:nvSpPr>
        <p:spPr>
          <a:xfrm>
            <a:off x="3560839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3" name="Google Shape;613;p42"/>
          <p:cNvSpPr/>
          <p:nvPr/>
        </p:nvSpPr>
        <p:spPr>
          <a:xfrm>
            <a:off x="3776437" y="50800"/>
            <a:ext cx="69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Simulation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4" name="Google Shape;614;p42"/>
          <p:cNvSpPr/>
          <p:nvPr/>
        </p:nvSpPr>
        <p:spPr>
          <a:xfrm>
            <a:off x="4513037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5" name="Google Shape;615;p42"/>
          <p:cNvSpPr/>
          <p:nvPr/>
        </p:nvSpPr>
        <p:spPr>
          <a:xfrm>
            <a:off x="4576234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6" name="Google Shape;616;p42"/>
          <p:cNvSpPr/>
          <p:nvPr/>
        </p:nvSpPr>
        <p:spPr>
          <a:xfrm>
            <a:off x="4639432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7" name="Google Shape;617;p42"/>
          <p:cNvSpPr/>
          <p:nvPr/>
        </p:nvSpPr>
        <p:spPr>
          <a:xfrm>
            <a:off x="4702630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8" name="Google Shape;618;p42"/>
          <p:cNvSpPr/>
          <p:nvPr/>
        </p:nvSpPr>
        <p:spPr>
          <a:xfrm>
            <a:off x="4918228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Data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9" name="Google Shape;619;p42"/>
          <p:cNvSpPr/>
          <p:nvPr/>
        </p:nvSpPr>
        <p:spPr>
          <a:xfrm>
            <a:off x="533732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0" name="Google Shape;620;p42"/>
          <p:cNvSpPr/>
          <p:nvPr/>
        </p:nvSpPr>
        <p:spPr>
          <a:xfrm>
            <a:off x="5400525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1" name="Google Shape;621;p42"/>
          <p:cNvSpPr/>
          <p:nvPr/>
        </p:nvSpPr>
        <p:spPr>
          <a:xfrm>
            <a:off x="5463723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2" name="Google Shape;622;p42"/>
          <p:cNvSpPr/>
          <p:nvPr/>
        </p:nvSpPr>
        <p:spPr>
          <a:xfrm>
            <a:off x="5526921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3" name="Google Shape;623;p42"/>
          <p:cNvSpPr/>
          <p:nvPr/>
        </p:nvSpPr>
        <p:spPr>
          <a:xfrm>
            <a:off x="5590118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" name="Google Shape;624;p42"/>
          <p:cNvSpPr/>
          <p:nvPr/>
        </p:nvSpPr>
        <p:spPr>
          <a:xfrm>
            <a:off x="5805716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5" name="Google Shape;625;p42"/>
          <p:cNvSpPr/>
          <p:nvPr/>
        </p:nvSpPr>
        <p:spPr>
          <a:xfrm>
            <a:off x="6332766" y="92151"/>
            <a:ext cx="31500" cy="315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