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Nunito"/>
      <p:regular r:id="rId20"/>
      <p:bold r:id="rId21"/>
      <p:italic r:id="rId22"/>
      <p:boldItalic r:id="rId23"/>
    </p:embeddedFont>
    <p:embeddedFont>
      <p:font typeface="Nunito Medium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4826F39-9362-4EED-BD97-C6A74597448D}">
  <a:tblStyle styleId="{54826F39-9362-4EED-BD97-C6A74597448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regular.fntdata"/><Relationship Id="rId22" Type="http://schemas.openxmlformats.org/officeDocument/2006/relationships/font" Target="fonts/Nunito-italic.fntdata"/><Relationship Id="rId21" Type="http://schemas.openxmlformats.org/officeDocument/2006/relationships/font" Target="fonts/Nunito-bold.fntdata"/><Relationship Id="rId24" Type="http://schemas.openxmlformats.org/officeDocument/2006/relationships/font" Target="fonts/NunitoMedium-regular.fntdata"/><Relationship Id="rId23" Type="http://schemas.openxmlformats.org/officeDocument/2006/relationships/font" Target="fonts/Nuni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NunitoMedium-italic.fntdata"/><Relationship Id="rId25" Type="http://schemas.openxmlformats.org/officeDocument/2006/relationships/font" Target="fonts/NunitoMedium-bold.fntdata"/><Relationship Id="rId27" Type="http://schemas.openxmlformats.org/officeDocument/2006/relationships/font" Target="fonts/NunitoMedium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204b072a57_1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204b072a57_1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204b072a5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204b072a5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204b072a5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204b072a5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204b072a57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204b072a57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204b072a57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204b072a57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204b072a57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204b072a57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204b072a57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204b072a57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204b072a57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204b072a57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204b072a57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204b072a57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204b072a57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204b072a57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204b072a57_1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204b072a57_1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204b072a57_1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204b072a57_1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1700" y="2077800"/>
            <a:ext cx="6412200" cy="6474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B6D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703475"/>
            <a:ext cx="8520600" cy="12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077800"/>
            <a:ext cx="6412200" cy="64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B6D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" name="Google Shape;19;p4"/>
          <p:cNvSpPr txBox="1"/>
          <p:nvPr>
            <p:ph type="title"/>
          </p:nvPr>
        </p:nvSpPr>
        <p:spPr>
          <a:xfrm>
            <a:off x="0" y="0"/>
            <a:ext cx="7601400" cy="5283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Nunito Medium"/>
              <a:buNone/>
              <a:defRPr sz="25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800"/>
              <a:buFont typeface="Nunito Medium"/>
              <a:buChar char="●"/>
              <a:defRPr>
                <a:latin typeface="Nunito Medium"/>
                <a:ea typeface="Nunito Medium"/>
                <a:cs typeface="Nunito Medium"/>
                <a:sym typeface="Nunito Medium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Medium"/>
              <a:buChar char="○"/>
              <a:defRPr>
                <a:latin typeface="Nunito Medium"/>
                <a:ea typeface="Nunito Medium"/>
                <a:cs typeface="Nunito Medium"/>
                <a:sym typeface="Nunito Medium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Medium"/>
              <a:buChar char="■"/>
              <a:defRPr>
                <a:latin typeface="Nunito Medium"/>
                <a:ea typeface="Nunito Medium"/>
                <a:cs typeface="Nunito Medium"/>
                <a:sym typeface="Nunito Medium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Medium"/>
              <a:buChar char="●"/>
              <a:defRPr>
                <a:latin typeface="Nunito Medium"/>
                <a:ea typeface="Nunito Medium"/>
                <a:cs typeface="Nunito Medium"/>
                <a:sym typeface="Nunito Medium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Medium"/>
              <a:buChar char="○"/>
              <a:defRPr>
                <a:latin typeface="Nunito Medium"/>
                <a:ea typeface="Nunito Medium"/>
                <a:cs typeface="Nunito Medium"/>
                <a:sym typeface="Nunito Medium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■"/>
              <a:defRPr>
                <a:latin typeface="Nunito Medium"/>
                <a:ea typeface="Nunito Medium"/>
                <a:cs typeface="Nunito Medium"/>
                <a:sym typeface="Nunito Medium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●"/>
              <a:defRPr>
                <a:latin typeface="Nunito Medium"/>
                <a:ea typeface="Nunito Medium"/>
                <a:cs typeface="Nunito Medium"/>
                <a:sym typeface="Nunito Medium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○"/>
              <a:defRPr>
                <a:latin typeface="Nunito Medium"/>
                <a:ea typeface="Nunito Medium"/>
                <a:cs typeface="Nunito Medium"/>
                <a:sym typeface="Nunito Medium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■"/>
              <a:defRPr>
                <a:latin typeface="Nunito Medium"/>
                <a:ea typeface="Nunito Medium"/>
                <a:cs typeface="Nunito Medium"/>
                <a:sym typeface="Nunito Medium"/>
              </a:defRPr>
            </a:lvl9pPr>
          </a:lstStyle>
          <a:p/>
        </p:txBody>
      </p:sp>
      <p:sp>
        <p:nvSpPr>
          <p:cNvPr id="21" name="Google Shape;21;p4"/>
          <p:cNvSpPr/>
          <p:nvPr/>
        </p:nvSpPr>
        <p:spPr>
          <a:xfrm rot="-5400000">
            <a:off x="8593150" y="-22800"/>
            <a:ext cx="528300" cy="5736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6AA84F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576500" y="0"/>
            <a:ext cx="567600" cy="5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3" name="Google Shape;23;p4"/>
          <p:cNvCxnSpPr/>
          <p:nvPr/>
        </p:nvCxnSpPr>
        <p:spPr>
          <a:xfrm>
            <a:off x="155650" y="4896225"/>
            <a:ext cx="8889900" cy="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" name="Google Shape;24;p4"/>
          <p:cNvSpPr txBox="1"/>
          <p:nvPr/>
        </p:nvSpPr>
        <p:spPr>
          <a:xfrm>
            <a:off x="5134800" y="4863600"/>
            <a:ext cx="40092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RG-D Group Meeting</a:t>
            </a:r>
            <a:r>
              <a:rPr lang="en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(18 December, 2024)</a:t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5.png"/><Relationship Id="rId5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hyperlink" Target="https://dash.harvard.edu/bitstream/handle/1/29362185/1606.03833.pdf?sequence=1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311700" y="703475"/>
            <a:ext cx="8520600" cy="12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880"/>
              <a:t>Analysis and cooking status</a:t>
            </a:r>
            <a:endParaRPr sz="3880"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311700" y="2077800"/>
            <a:ext cx="6412200" cy="64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980">
                <a:latin typeface="Nunito"/>
                <a:ea typeface="Nunito"/>
                <a:cs typeface="Nunito"/>
                <a:sym typeface="Nunito"/>
              </a:rPr>
              <a:t>Mathieu Ouillon (Mississippi State University)</a:t>
            </a:r>
            <a:endParaRPr sz="198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5011525" y="3480050"/>
            <a:ext cx="4132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18 December</a:t>
            </a:r>
            <a:r>
              <a:rPr lang="en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, 2024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62" name="Google Shape;6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75" y="4245800"/>
            <a:ext cx="3863174" cy="74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0" y="0"/>
            <a:ext cx="7601400" cy="5283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Cooking status</a:t>
            </a:r>
            <a:endParaRPr/>
          </a:p>
        </p:txBody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117300" y="614675"/>
            <a:ext cx="8520600" cy="42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Florian asked to cook: 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The runs for T2D are (need at least 4M):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-inbending: 18321 (25M events), 18348 (10M events), 18369 (101M), 18388 (13M), 18331 (100M) (LD2)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-outbending: 19125, 18670, 18588 , 18846, 18937 , 19090 , 18522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Special DC runs 18309, 18310, 18311, 18312 with 1-2M events for individual T00 calibration.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It is hard to know in advance the number of events per file. Should I cook all the runs or 100 files, maybe?</a:t>
            </a:r>
            <a:endParaRPr/>
          </a:p>
        </p:txBody>
      </p:sp>
      <p:sp>
        <p:nvSpPr>
          <p:cNvPr id="69" name="Google Shape;69;p14"/>
          <p:cNvSpPr txBox="1"/>
          <p:nvPr>
            <p:ph idx="12" type="sldNum"/>
          </p:nvPr>
        </p:nvSpPr>
        <p:spPr>
          <a:xfrm>
            <a:off x="8576500" y="0"/>
            <a:ext cx="567600" cy="5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0" y="0"/>
            <a:ext cx="7601400" cy="5283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Nunito"/>
                <a:ea typeface="Nunito"/>
                <a:cs typeface="Nunito"/>
                <a:sym typeface="Nunito"/>
              </a:rPr>
              <a:t>RG-D Vertex study: </a:t>
            </a:r>
            <a:r>
              <a:rPr lang="en" sz="3000">
                <a:latin typeface="Nunito"/>
                <a:ea typeface="Nunito"/>
                <a:cs typeface="Nunito"/>
                <a:sym typeface="Nunito"/>
              </a:rPr>
              <a:t>π</a:t>
            </a:r>
            <a:r>
              <a:rPr baseline="30000" lang="en" sz="3000">
                <a:latin typeface="Nunito"/>
                <a:ea typeface="Nunito"/>
                <a:cs typeface="Nunito"/>
                <a:sym typeface="Nunito"/>
              </a:rPr>
              <a:t>- </a:t>
            </a:r>
            <a:r>
              <a:rPr lang="en" sz="3000">
                <a:latin typeface="Nunito"/>
                <a:ea typeface="Nunito"/>
                <a:cs typeface="Nunito"/>
                <a:sym typeface="Nunito"/>
              </a:rPr>
              <a:t>in CxC</a:t>
            </a:r>
            <a:endParaRPr sz="3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5" name="Google Shape;75;p15"/>
          <p:cNvSpPr txBox="1"/>
          <p:nvPr>
            <p:ph idx="12" type="sldNum"/>
          </p:nvPr>
        </p:nvSpPr>
        <p:spPr>
          <a:xfrm>
            <a:off x="8576500" y="0"/>
            <a:ext cx="567600" cy="5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6" name="Google Shape;7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75" y="1430250"/>
            <a:ext cx="4503918" cy="3364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478063"/>
            <a:ext cx="4439901" cy="3316276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/>
          <p:nvPr/>
        </p:nvSpPr>
        <p:spPr>
          <a:xfrm>
            <a:off x="102150" y="623025"/>
            <a:ext cx="4256700" cy="7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π</a:t>
            </a:r>
            <a:r>
              <a:rPr baseline="30000"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-</a:t>
            </a: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after Vx, Vy and Vz cuts on the electron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79" name="Google Shape;79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90075" y="574299"/>
            <a:ext cx="3886425" cy="96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0" y="0"/>
            <a:ext cx="7601400" cy="5283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Nunito"/>
                <a:ea typeface="Nunito"/>
                <a:cs typeface="Nunito"/>
                <a:sym typeface="Nunito"/>
              </a:rPr>
              <a:t>RG-D Vertex study: π</a:t>
            </a:r>
            <a:r>
              <a:rPr baseline="30000" lang="en" sz="3000">
                <a:latin typeface="Nunito"/>
                <a:ea typeface="Nunito"/>
                <a:cs typeface="Nunito"/>
                <a:sym typeface="Nunito"/>
              </a:rPr>
              <a:t>- </a:t>
            </a:r>
            <a:r>
              <a:rPr lang="en" sz="3000">
                <a:latin typeface="Nunito"/>
                <a:ea typeface="Nunito"/>
                <a:cs typeface="Nunito"/>
                <a:sym typeface="Nunito"/>
              </a:rPr>
              <a:t>in CxC</a:t>
            </a:r>
            <a:endParaRPr sz="3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5" name="Google Shape;85;p16"/>
          <p:cNvSpPr txBox="1"/>
          <p:nvPr>
            <p:ph idx="12" type="sldNum"/>
          </p:nvPr>
        </p:nvSpPr>
        <p:spPr>
          <a:xfrm>
            <a:off x="8576500" y="0"/>
            <a:ext cx="567600" cy="5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6" name="Google Shape;8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99800"/>
            <a:ext cx="4295249" cy="3472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00049" y="799800"/>
            <a:ext cx="4391549" cy="3549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type="title"/>
          </p:nvPr>
        </p:nvSpPr>
        <p:spPr>
          <a:xfrm>
            <a:off x="0" y="0"/>
            <a:ext cx="7601400" cy="5283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Nunito"/>
                <a:ea typeface="Nunito"/>
                <a:cs typeface="Nunito"/>
                <a:sym typeface="Nunito"/>
              </a:rPr>
              <a:t>RG-D Vertex study: π</a:t>
            </a:r>
            <a:r>
              <a:rPr baseline="30000" lang="en" sz="3000">
                <a:latin typeface="Nunito"/>
                <a:ea typeface="Nunito"/>
                <a:cs typeface="Nunito"/>
                <a:sym typeface="Nunito"/>
              </a:rPr>
              <a:t>- </a:t>
            </a:r>
            <a:r>
              <a:rPr lang="en" sz="3000">
                <a:latin typeface="Nunito"/>
                <a:ea typeface="Nunito"/>
                <a:cs typeface="Nunito"/>
                <a:sym typeface="Nunito"/>
              </a:rPr>
              <a:t>in CxC</a:t>
            </a:r>
            <a:endParaRPr sz="3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576500" y="0"/>
            <a:ext cx="567600" cy="5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99800"/>
            <a:ext cx="8839198" cy="3571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0" y="0"/>
            <a:ext cx="7601400" cy="5283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Nunito"/>
                <a:ea typeface="Nunito"/>
                <a:cs typeface="Nunito"/>
                <a:sym typeface="Nunito"/>
              </a:rPr>
              <a:t>RG-D Vertex study: π</a:t>
            </a:r>
            <a:r>
              <a:rPr baseline="30000" lang="en" sz="3000">
                <a:latin typeface="Nunito"/>
                <a:ea typeface="Nunito"/>
                <a:cs typeface="Nunito"/>
                <a:sym typeface="Nunito"/>
              </a:rPr>
              <a:t>- </a:t>
            </a:r>
            <a:r>
              <a:rPr lang="en" sz="3000">
                <a:latin typeface="Nunito"/>
                <a:ea typeface="Nunito"/>
                <a:cs typeface="Nunito"/>
                <a:sym typeface="Nunito"/>
              </a:rPr>
              <a:t>in CxC</a:t>
            </a:r>
            <a:endParaRPr sz="3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0" name="Google Shape;100;p18"/>
          <p:cNvSpPr txBox="1"/>
          <p:nvPr>
            <p:ph idx="12" type="sldNum"/>
          </p:nvPr>
        </p:nvSpPr>
        <p:spPr>
          <a:xfrm>
            <a:off x="8576500" y="0"/>
            <a:ext cx="567600" cy="5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99800"/>
            <a:ext cx="8839204" cy="3569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type="title"/>
          </p:nvPr>
        </p:nvSpPr>
        <p:spPr>
          <a:xfrm>
            <a:off x="0" y="0"/>
            <a:ext cx="7601400" cy="5283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Nunito"/>
                <a:ea typeface="Nunito"/>
                <a:cs typeface="Nunito"/>
                <a:sym typeface="Nunito"/>
              </a:rPr>
              <a:t>RG-D Vertex study: π</a:t>
            </a:r>
            <a:r>
              <a:rPr baseline="30000" lang="en" sz="3000">
                <a:latin typeface="Nunito"/>
                <a:ea typeface="Nunito"/>
                <a:cs typeface="Nunito"/>
                <a:sym typeface="Nunito"/>
              </a:rPr>
              <a:t>- </a:t>
            </a:r>
            <a:r>
              <a:rPr lang="en" sz="3000">
                <a:latin typeface="Nunito"/>
                <a:ea typeface="Nunito"/>
                <a:cs typeface="Nunito"/>
                <a:sym typeface="Nunito"/>
              </a:rPr>
              <a:t>in CxC</a:t>
            </a:r>
            <a:endParaRPr sz="3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7" name="Google Shape;107;p19"/>
          <p:cNvSpPr txBox="1"/>
          <p:nvPr>
            <p:ph idx="12" type="sldNum"/>
          </p:nvPr>
        </p:nvSpPr>
        <p:spPr>
          <a:xfrm>
            <a:off x="8576500" y="0"/>
            <a:ext cx="567600" cy="5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2849" y="894025"/>
            <a:ext cx="4706802" cy="3458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625" y="971400"/>
            <a:ext cx="4356326" cy="320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type="title"/>
          </p:nvPr>
        </p:nvSpPr>
        <p:spPr>
          <a:xfrm>
            <a:off x="0" y="0"/>
            <a:ext cx="7601400" cy="5283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Nunito"/>
                <a:ea typeface="Nunito"/>
                <a:cs typeface="Nunito"/>
                <a:sym typeface="Nunito"/>
              </a:rPr>
              <a:t>RG-D Vertex study: π</a:t>
            </a:r>
            <a:r>
              <a:rPr baseline="30000" lang="en" sz="3000">
                <a:latin typeface="Nunito"/>
                <a:ea typeface="Nunito"/>
                <a:cs typeface="Nunito"/>
                <a:sym typeface="Nunito"/>
              </a:rPr>
              <a:t>- </a:t>
            </a:r>
            <a:r>
              <a:rPr lang="en" sz="3000">
                <a:latin typeface="Nunito"/>
                <a:ea typeface="Nunito"/>
                <a:cs typeface="Nunito"/>
                <a:sym typeface="Nunito"/>
              </a:rPr>
              <a:t>in CxC</a:t>
            </a:r>
            <a:endParaRPr/>
          </a:p>
        </p:txBody>
      </p:sp>
      <p:sp>
        <p:nvSpPr>
          <p:cNvPr id="115" name="Google Shape;115;p20"/>
          <p:cNvSpPr txBox="1"/>
          <p:nvPr>
            <p:ph idx="12" type="sldNum"/>
          </p:nvPr>
        </p:nvSpPr>
        <p:spPr>
          <a:xfrm>
            <a:off x="8576500" y="0"/>
            <a:ext cx="567600" cy="5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116" name="Google Shape;116;p20"/>
          <p:cNvGraphicFramePr/>
          <p:nvPr/>
        </p:nvGraphicFramePr>
        <p:xfrm>
          <a:off x="181200" y="1105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{54826F39-9362-4EED-BD97-C6A74597448D}</a:tableStyleId>
              </a:tblPr>
              <a:tblGrid>
                <a:gridCol w="1085850"/>
                <a:gridCol w="1085850"/>
                <a:gridCol w="1085850"/>
                <a:gridCol w="1085850"/>
                <a:gridCol w="1085850"/>
              </a:tblGrid>
              <a:tr h="286800">
                <a:tc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Vx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Vy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868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Mean [cm]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Sigma [cm]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Mean [cm]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Sigma [cm]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9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Sector independant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-0.00514765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0.254569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-0.167978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0.244907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5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Sector 1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0.0823251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0.174071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-0.466764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0.401006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Sector 2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0.456328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0.441058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-0.219773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 0.172871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Sector 3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0.0449543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0.236303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-0.14104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0.312123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Sector 4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-0.189492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0.236972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0.412643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0.458341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Sector 5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-0.343068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0.408256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-0.119481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0.157631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Sector 6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-0.00472142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0.220994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-0.146407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0.311463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7" name="Google Shape;117;p20"/>
          <p:cNvGraphicFramePr/>
          <p:nvPr/>
        </p:nvGraphicFramePr>
        <p:xfrm>
          <a:off x="5668875" y="1105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{54826F39-9362-4EED-BD97-C6A74597448D}</a:tableStyleId>
              </a:tblPr>
              <a:tblGrid>
                <a:gridCol w="382850"/>
                <a:gridCol w="1142175"/>
                <a:gridCol w="1016875"/>
                <a:gridCol w="847300"/>
              </a:tblGrid>
              <a:tr h="17825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Mean [cm]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Sigma [cm]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675">
                <a:tc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Vz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first foil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-8.31203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0.745773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6822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second foil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-3.48624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0.848342</a:t>
                      </a:r>
                      <a:endParaRPr sz="10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title"/>
          </p:nvPr>
        </p:nvSpPr>
        <p:spPr>
          <a:xfrm>
            <a:off x="0" y="0"/>
            <a:ext cx="7601400" cy="5283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Nunito"/>
                <a:ea typeface="Nunito"/>
                <a:cs typeface="Nunito"/>
                <a:sym typeface="Nunito"/>
              </a:rPr>
              <a:t>RG-D Vertex study: π</a:t>
            </a:r>
            <a:r>
              <a:rPr baseline="30000" lang="en" sz="3000">
                <a:latin typeface="Nunito"/>
                <a:ea typeface="Nunito"/>
                <a:cs typeface="Nunito"/>
                <a:sym typeface="Nunito"/>
              </a:rPr>
              <a:t>- </a:t>
            </a:r>
            <a:r>
              <a:rPr lang="en" sz="3000">
                <a:latin typeface="Nunito"/>
                <a:ea typeface="Nunito"/>
                <a:cs typeface="Nunito"/>
                <a:sym typeface="Nunito"/>
              </a:rPr>
              <a:t>in Cu</a:t>
            </a:r>
            <a:endParaRPr/>
          </a:p>
        </p:txBody>
      </p:sp>
      <p:sp>
        <p:nvSpPr>
          <p:cNvPr id="123" name="Google Shape;123;p21"/>
          <p:cNvSpPr txBox="1"/>
          <p:nvPr>
            <p:ph idx="1" type="body"/>
          </p:nvPr>
        </p:nvSpPr>
        <p:spPr>
          <a:xfrm>
            <a:off x="130275" y="679450"/>
            <a:ext cx="8520600" cy="5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π</a:t>
            </a:r>
            <a:r>
              <a:rPr baseline="30000" lang="en">
                <a:latin typeface="Nunito"/>
                <a:ea typeface="Nunito"/>
                <a:cs typeface="Nunito"/>
                <a:sym typeface="Nunito"/>
              </a:rPr>
              <a:t>-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after Vx, Vy and Vz cuts on the electron</a:t>
            </a:r>
            <a:endParaRPr/>
          </a:p>
        </p:txBody>
      </p:sp>
      <p:sp>
        <p:nvSpPr>
          <p:cNvPr id="124" name="Google Shape;124;p21"/>
          <p:cNvSpPr txBox="1"/>
          <p:nvPr>
            <p:ph idx="12" type="sldNum"/>
          </p:nvPr>
        </p:nvSpPr>
        <p:spPr>
          <a:xfrm>
            <a:off x="8576500" y="0"/>
            <a:ext cx="567600" cy="5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5" name="Google Shape;12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998" y="621400"/>
            <a:ext cx="4448651" cy="115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1350" y="1642675"/>
            <a:ext cx="4267200" cy="31938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1850" y="1642675"/>
            <a:ext cx="4156549" cy="3111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/>
          <p:nvPr>
            <p:ph type="title"/>
          </p:nvPr>
        </p:nvSpPr>
        <p:spPr>
          <a:xfrm>
            <a:off x="0" y="0"/>
            <a:ext cx="7601400" cy="5283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Nunito"/>
                <a:ea typeface="Nunito"/>
                <a:cs typeface="Nunito"/>
                <a:sym typeface="Nunito"/>
              </a:rPr>
              <a:t>RG-D Vertex study: π</a:t>
            </a:r>
            <a:r>
              <a:rPr baseline="30000" lang="en" sz="3000">
                <a:latin typeface="Nunito"/>
                <a:ea typeface="Nunito"/>
                <a:cs typeface="Nunito"/>
                <a:sym typeface="Nunito"/>
              </a:rPr>
              <a:t>- </a:t>
            </a:r>
            <a:r>
              <a:rPr lang="en" sz="3000">
                <a:latin typeface="Nunito"/>
                <a:ea typeface="Nunito"/>
                <a:cs typeface="Nunito"/>
                <a:sym typeface="Nunito"/>
              </a:rPr>
              <a:t>in Cu</a:t>
            </a:r>
            <a:endParaRPr/>
          </a:p>
        </p:txBody>
      </p:sp>
      <p:sp>
        <p:nvSpPr>
          <p:cNvPr id="133" name="Google Shape;133;p22"/>
          <p:cNvSpPr txBox="1"/>
          <p:nvPr>
            <p:ph idx="12" type="sldNum"/>
          </p:nvPr>
        </p:nvSpPr>
        <p:spPr>
          <a:xfrm>
            <a:off x="8576500" y="0"/>
            <a:ext cx="567600" cy="5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4" name="Google Shape;13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67350"/>
            <a:ext cx="8839204" cy="35563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"/>
          <p:cNvSpPr txBox="1"/>
          <p:nvPr>
            <p:ph type="title"/>
          </p:nvPr>
        </p:nvSpPr>
        <p:spPr>
          <a:xfrm>
            <a:off x="0" y="0"/>
            <a:ext cx="7601400" cy="5283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Nunito"/>
                <a:ea typeface="Nunito"/>
                <a:cs typeface="Nunito"/>
                <a:sym typeface="Nunito"/>
              </a:rPr>
              <a:t>RG-D Vertex study: π</a:t>
            </a:r>
            <a:r>
              <a:rPr baseline="30000" lang="en" sz="3000">
                <a:latin typeface="Nunito"/>
                <a:ea typeface="Nunito"/>
                <a:cs typeface="Nunito"/>
                <a:sym typeface="Nunito"/>
              </a:rPr>
              <a:t>- </a:t>
            </a:r>
            <a:r>
              <a:rPr lang="en" sz="3000">
                <a:latin typeface="Nunito"/>
                <a:ea typeface="Nunito"/>
                <a:cs typeface="Nunito"/>
                <a:sym typeface="Nunito"/>
              </a:rPr>
              <a:t>in Cu</a:t>
            </a:r>
            <a:endParaRPr/>
          </a:p>
        </p:txBody>
      </p:sp>
      <p:sp>
        <p:nvSpPr>
          <p:cNvPr id="140" name="Google Shape;140;p23"/>
          <p:cNvSpPr txBox="1"/>
          <p:nvPr>
            <p:ph idx="12" type="sldNum"/>
          </p:nvPr>
        </p:nvSpPr>
        <p:spPr>
          <a:xfrm>
            <a:off x="8576500" y="0"/>
            <a:ext cx="567600" cy="5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1" name="Google Shape;14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92400"/>
            <a:ext cx="8839204" cy="35563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4"/>
          <p:cNvSpPr txBox="1"/>
          <p:nvPr>
            <p:ph type="title"/>
          </p:nvPr>
        </p:nvSpPr>
        <p:spPr>
          <a:xfrm>
            <a:off x="0" y="0"/>
            <a:ext cx="7601400" cy="5283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Nunito"/>
                <a:ea typeface="Nunito"/>
                <a:cs typeface="Nunito"/>
                <a:sym typeface="Nunito"/>
              </a:rPr>
              <a:t>RG-D Vertex study: π</a:t>
            </a:r>
            <a:r>
              <a:rPr baseline="30000" lang="en" sz="3000">
                <a:latin typeface="Nunito"/>
                <a:ea typeface="Nunito"/>
                <a:cs typeface="Nunito"/>
                <a:sym typeface="Nunito"/>
              </a:rPr>
              <a:t>- </a:t>
            </a:r>
            <a:r>
              <a:rPr lang="en" sz="3000">
                <a:latin typeface="Nunito"/>
                <a:ea typeface="Nunito"/>
                <a:cs typeface="Nunito"/>
                <a:sym typeface="Nunito"/>
              </a:rPr>
              <a:t>in Cu</a:t>
            </a:r>
            <a:endParaRPr/>
          </a:p>
        </p:txBody>
      </p:sp>
      <p:sp>
        <p:nvSpPr>
          <p:cNvPr id="147" name="Google Shape;147;p24"/>
          <p:cNvSpPr txBox="1"/>
          <p:nvPr>
            <p:ph idx="12" type="sldNum"/>
          </p:nvPr>
        </p:nvSpPr>
        <p:spPr>
          <a:xfrm>
            <a:off x="8576500" y="0"/>
            <a:ext cx="567600" cy="5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8" name="Google Shape;14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450" y="860025"/>
            <a:ext cx="5083101" cy="370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4"/>
          <p:cNvSpPr txBox="1"/>
          <p:nvPr/>
        </p:nvSpPr>
        <p:spPr>
          <a:xfrm>
            <a:off x="5403975" y="920100"/>
            <a:ext cx="3479700" cy="3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I have code for Sn target also and also </a:t>
            </a: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π</a:t>
            </a:r>
            <a:r>
              <a:rPr baseline="30000"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+</a:t>
            </a:r>
            <a:endParaRPr baseline="30000"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5"/>
          <p:cNvSpPr txBox="1"/>
          <p:nvPr>
            <p:ph type="title"/>
          </p:nvPr>
        </p:nvSpPr>
        <p:spPr>
          <a:xfrm>
            <a:off x="0" y="0"/>
            <a:ext cx="7601400" cy="5283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Nunito"/>
                <a:ea typeface="Nunito"/>
                <a:cs typeface="Nunito"/>
                <a:sym typeface="Nunito"/>
              </a:rPr>
              <a:t>RG-D Vertex study: electron</a:t>
            </a:r>
            <a:endParaRPr/>
          </a:p>
        </p:txBody>
      </p:sp>
      <p:sp>
        <p:nvSpPr>
          <p:cNvPr id="155" name="Google Shape;155;p25"/>
          <p:cNvSpPr txBox="1"/>
          <p:nvPr>
            <p:ph idx="12" type="sldNum"/>
          </p:nvPr>
        </p:nvSpPr>
        <p:spPr>
          <a:xfrm>
            <a:off x="8576500" y="0"/>
            <a:ext cx="567600" cy="5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6" name="Google Shape;15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050" y="583500"/>
            <a:ext cx="5938444" cy="4310398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5"/>
          <p:cNvSpPr txBox="1"/>
          <p:nvPr/>
        </p:nvSpPr>
        <p:spPr>
          <a:xfrm>
            <a:off x="6324075" y="751625"/>
            <a:ext cx="2669700" cy="32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Fit with double-sided Crystal Ball function.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Function from </a:t>
            </a:r>
            <a:r>
              <a:rPr lang="en" sz="1800" u="sng">
                <a:solidFill>
                  <a:schemeClr val="hlink"/>
                </a:solidFill>
                <a:hlinkClick r:id="rId4"/>
              </a:rPr>
              <a:t>here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Draw the gaussian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