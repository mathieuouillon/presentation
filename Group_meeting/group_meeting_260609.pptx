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handoutMasterIdLst>
    <p:handoutMasterId r:id="rId26"/>
  </p:handoutMasterIdLst>
  <p:sldIdLst>
    <p:sldId id="256"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48" r:id="rId16"/>
    <p:sldId id="350" r:id="rId17"/>
    <p:sldId id="351" r:id="rId18"/>
    <p:sldId id="352" r:id="rId19"/>
    <p:sldId id="354" r:id="rId20"/>
    <p:sldId id="355" r:id="rId21"/>
    <p:sldId id="357" r:id="rId22"/>
    <p:sldId id="356" r:id="rId23"/>
    <p:sldId id="33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D1C603-28A2-1340-9515-120EA66DFE1A}">
          <p14:sldIdLst>
            <p14:sldId id="256"/>
            <p14:sldId id="335"/>
            <p14:sldId id="336"/>
            <p14:sldId id="337"/>
            <p14:sldId id="338"/>
            <p14:sldId id="339"/>
            <p14:sldId id="340"/>
            <p14:sldId id="341"/>
            <p14:sldId id="342"/>
            <p14:sldId id="343"/>
            <p14:sldId id="344"/>
            <p14:sldId id="345"/>
            <p14:sldId id="346"/>
            <p14:sldId id="347"/>
            <p14:sldId id="348"/>
            <p14:sldId id="350"/>
            <p14:sldId id="351"/>
            <p14:sldId id="352"/>
            <p14:sldId id="354"/>
            <p14:sldId id="355"/>
            <p14:sldId id="357"/>
            <p14:sldId id="356"/>
            <p14:sldId id="33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ué Meneses Díaz" initials="JMD" lastIdx="1" clrIdx="0">
    <p:extLst>
      <p:ext uri="{19B8F6BF-5375-455C-9EA6-DF929625EA0E}">
        <p15:presenceInfo xmlns:p15="http://schemas.microsoft.com/office/powerpoint/2012/main" userId="b04c2315aa3d41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643"/>
    <a:srgbClr val="23373B"/>
    <a:srgbClr val="304D59"/>
    <a:srgbClr val="00315F"/>
    <a:srgbClr val="262626"/>
    <a:srgbClr val="FAFAFA"/>
    <a:srgbClr val="FFFFFF"/>
    <a:srgbClr val="243A45"/>
    <a:srgbClr val="98B6C2"/>
    <a:srgbClr val="ADADA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55" autoAdjust="0"/>
    <p:restoredTop sz="94637" autoAdjust="0"/>
  </p:normalViewPr>
  <p:slideViewPr>
    <p:cSldViewPr snapToGrid="0" snapToObjects="1">
      <p:cViewPr varScale="1">
        <p:scale>
          <a:sx n="168" d="100"/>
          <a:sy n="168" d="100"/>
        </p:scale>
        <p:origin x="320" y="20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0494"/>
    </p:cViewPr>
  </p:sorterViewPr>
  <p:notesViewPr>
    <p:cSldViewPr snapToGrid="0" snapToObjects="1">
      <p:cViewPr varScale="1">
        <p:scale>
          <a:sx n="66" d="100"/>
          <a:sy n="66" d="100"/>
        </p:scale>
        <p:origin x="306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0EDF28E-8800-4B7E-93CE-9140A17976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4F043AF5-1FB9-40F2-A50C-00F64C47C8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0510DC-4C2A-4F6F-9501-4E7F5F169603}" type="datetimeFigureOut">
              <a:rPr lang="es-CL" smtClean="0"/>
              <a:t>09-06-26</a:t>
            </a:fld>
            <a:endParaRPr lang="es-CL"/>
          </a:p>
        </p:txBody>
      </p:sp>
      <p:sp>
        <p:nvSpPr>
          <p:cNvPr id="4" name="Marcador de pie de página 3">
            <a:extLst>
              <a:ext uri="{FF2B5EF4-FFF2-40B4-BE49-F238E27FC236}">
                <a16:creationId xmlns:a16="http://schemas.microsoft.com/office/drawing/2014/main" id="{59BC3DD2-F926-44DF-82AE-6BA853059A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42F9B4BF-E6EE-4D98-BCE0-35D9588A1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62CA5F-72BF-4704-8861-7B23D0958B13}" type="slidenum">
              <a:rPr lang="es-CL" smtClean="0"/>
              <a:t>‹#›</a:t>
            </a:fld>
            <a:endParaRPr lang="es-CL"/>
          </a:p>
        </p:txBody>
      </p:sp>
    </p:spTree>
    <p:extLst>
      <p:ext uri="{BB962C8B-B14F-4D97-AF65-F5344CB8AC3E}">
        <p14:creationId xmlns:p14="http://schemas.microsoft.com/office/powerpoint/2010/main" val="78931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9D9A3-6AD0-4C7D-A17B-441070370095}" type="datetimeFigureOut">
              <a:rPr lang="es-CL" smtClean="0"/>
              <a:t>09-06-26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5FC93-B29F-41F1-A4D9-E7914667CA34}" type="slidenum">
              <a:rPr lang="es-CL" smtClean="0"/>
              <a:t>‹#›</a:t>
            </a:fld>
            <a:endParaRPr lang="es-CL"/>
          </a:p>
        </p:txBody>
      </p:sp>
    </p:spTree>
    <p:extLst>
      <p:ext uri="{BB962C8B-B14F-4D97-AF65-F5344CB8AC3E}">
        <p14:creationId xmlns:p14="http://schemas.microsoft.com/office/powerpoint/2010/main" val="377268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BA45FC93-B29F-41F1-A4D9-E7914667CA34}" type="slidenum">
              <a:rPr lang="es-CL" smtClean="0"/>
              <a:t>1</a:t>
            </a:fld>
            <a:endParaRPr lang="es-CL"/>
          </a:p>
        </p:txBody>
      </p:sp>
    </p:spTree>
    <p:extLst>
      <p:ext uri="{BB962C8B-B14F-4D97-AF65-F5344CB8AC3E}">
        <p14:creationId xmlns:p14="http://schemas.microsoft.com/office/powerpoint/2010/main" val="38055791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AFAFA"/>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11" name="Rectángulo 10">
            <a:extLst>
              <a:ext uri="{FF2B5EF4-FFF2-40B4-BE49-F238E27FC236}">
                <a16:creationId xmlns:a16="http://schemas.microsoft.com/office/drawing/2014/main" id="{2C680E2D-A060-426E-80B4-6B882581BABF}"/>
              </a:ext>
            </a:extLst>
          </p:cNvPr>
          <p:cNvSpPr/>
          <p:nvPr userDrawn="1"/>
        </p:nvSpPr>
        <p:spPr>
          <a:xfrm>
            <a:off x="0" y="-28414"/>
            <a:ext cx="12192000" cy="1321437"/>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pic>
        <p:nvPicPr>
          <p:cNvPr id="8" name="Picture 7" descr="A blue background with white text and a white logo&#10;&#10;AI-generated content may be incorrect.">
            <a:extLst>
              <a:ext uri="{FF2B5EF4-FFF2-40B4-BE49-F238E27FC236}">
                <a16:creationId xmlns:a16="http://schemas.microsoft.com/office/drawing/2014/main" id="{550513C9-FE37-ABDB-DC73-3268493D8E01}"/>
              </a:ext>
            </a:extLst>
          </p:cNvPr>
          <p:cNvPicPr>
            <a:picLocks noChangeAspect="1"/>
          </p:cNvPicPr>
          <p:nvPr userDrawn="1"/>
        </p:nvPicPr>
        <p:blipFill>
          <a:blip r:embed="rId2"/>
          <a:srcRect l="-1" r="28388"/>
          <a:stretch>
            <a:fillRect/>
          </a:stretch>
        </p:blipFill>
        <p:spPr>
          <a:xfrm>
            <a:off x="5422107" y="-30370"/>
            <a:ext cx="6777036" cy="6905800"/>
          </a:xfrm>
          <a:prstGeom prst="rect">
            <a:avLst/>
          </a:prstGeom>
        </p:spPr>
      </p:pic>
      <p:sp>
        <p:nvSpPr>
          <p:cNvPr id="9" name="Trapezoid 8">
            <a:extLst>
              <a:ext uri="{FF2B5EF4-FFF2-40B4-BE49-F238E27FC236}">
                <a16:creationId xmlns:a16="http://schemas.microsoft.com/office/drawing/2014/main" id="{B1728B86-6592-DDFF-0871-A958EF66574A}"/>
              </a:ext>
            </a:extLst>
          </p:cNvPr>
          <p:cNvSpPr/>
          <p:nvPr userDrawn="1"/>
        </p:nvSpPr>
        <p:spPr>
          <a:xfrm rot="10800000">
            <a:off x="3610050" y="-47801"/>
            <a:ext cx="4562400" cy="6905800"/>
          </a:xfrm>
          <a:prstGeom prst="trapezoid">
            <a:avLst/>
          </a:prstGeom>
          <a:solidFill>
            <a:srgbClr val="FAFAFA"/>
          </a:solidFill>
          <a:ln>
            <a:solidFill>
              <a:srgbClr val="FAFA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00046" y="2064502"/>
            <a:ext cx="10363200" cy="974724"/>
          </a:xfrm>
          <a:prstGeom prst="rect">
            <a:avLst/>
          </a:prstGeom>
        </p:spPr>
        <p:txBody>
          <a:bodyPr/>
          <a:lstStyle>
            <a:lvl1pPr algn="l">
              <a:defRPr b="0" i="0">
                <a:solidFill>
                  <a:srgbClr val="304D59"/>
                </a:solidFill>
                <a:latin typeface="Fira Sans" panose="020B0503050000020004" pitchFamily="34" charset="0"/>
                <a:ea typeface="Fira Sans" panose="020B0503050000020004" pitchFamily="34" charset="0"/>
              </a:defRPr>
            </a:lvl1pPr>
          </a:lstStyle>
          <a:p>
            <a:r>
              <a:rPr lang="en-US" dirty="0"/>
              <a:t>Click to edit Master title style</a:t>
            </a:r>
          </a:p>
        </p:txBody>
      </p:sp>
      <p:sp>
        <p:nvSpPr>
          <p:cNvPr id="3" name="Subtitle 2"/>
          <p:cNvSpPr>
            <a:spLocks noGrp="1"/>
          </p:cNvSpPr>
          <p:nvPr>
            <p:ph type="subTitle" idx="1"/>
          </p:nvPr>
        </p:nvSpPr>
        <p:spPr>
          <a:xfrm>
            <a:off x="400046" y="3819652"/>
            <a:ext cx="8534400" cy="670705"/>
          </a:xfrm>
        </p:spPr>
        <p:txBody>
          <a:bodyPr>
            <a:normAutofit/>
          </a:bodyPr>
          <a:lstStyle>
            <a:lvl1pPr marL="0" indent="0" algn="l">
              <a:buNone/>
              <a:defRPr sz="2400">
                <a:solidFill>
                  <a:srgbClr val="304D59"/>
                </a:solidFill>
                <a:latin typeface="Fira Sans" panose="020B0503050000020004" pitchFamily="34" charset="0"/>
                <a:ea typeface="Fira Sans" panose="020B05030500000200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Group meeting</a:t>
            </a:r>
          </a:p>
        </p:txBody>
      </p:sp>
      <p:sp>
        <p:nvSpPr>
          <p:cNvPr id="4" name="Date Placeholder 3"/>
          <p:cNvSpPr>
            <a:spLocks noGrp="1"/>
          </p:cNvSpPr>
          <p:nvPr>
            <p:ph type="dt" sz="half" idx="10"/>
          </p:nvPr>
        </p:nvSpPr>
        <p:spPr/>
        <p:txBody>
          <a:bodyPr/>
          <a:lstStyle/>
          <a:p>
            <a:r>
              <a:rPr lang="en-US"/>
              <a:t>06/09/26</a:t>
            </a:r>
            <a:endParaRPr lang="en-US" dirty="0"/>
          </a:p>
        </p:txBody>
      </p:sp>
    </p:spTree>
    <p:extLst>
      <p:ext uri="{BB962C8B-B14F-4D97-AF65-F5344CB8AC3E}">
        <p14:creationId xmlns:p14="http://schemas.microsoft.com/office/powerpoint/2010/main" val="144435751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47360" y="16635"/>
            <a:ext cx="9496425" cy="897765"/>
          </a:xfrm>
          <a:prstGeom prst="rect">
            <a:avLst/>
          </a:prstGeom>
        </p:spPr>
        <p:txBody>
          <a:bodyPr/>
          <a:lstStyle>
            <a:lvl1pPr algn="l">
              <a:defRPr b="0" i="0" cap="small" baseline="0">
                <a:latin typeface="Fira Sans" panose="020B0503050000020004" pitchFamily="34" charset="0"/>
                <a:ea typeface="Fira Sans" panose="020B0503050000020004" pitchFamily="34" charset="0"/>
              </a:defRPr>
            </a:lvl1pPr>
          </a:lstStyle>
          <a:p>
            <a:r>
              <a:rPr lang="en-US" dirty="0"/>
              <a:t>Click to edit Master title style</a:t>
            </a:r>
          </a:p>
        </p:txBody>
      </p:sp>
      <p:sp>
        <p:nvSpPr>
          <p:cNvPr id="3" name="Content Placeholder 2"/>
          <p:cNvSpPr>
            <a:spLocks noGrp="1"/>
          </p:cNvSpPr>
          <p:nvPr>
            <p:ph idx="1"/>
          </p:nvPr>
        </p:nvSpPr>
        <p:spPr>
          <a:xfrm>
            <a:off x="109982" y="1032481"/>
            <a:ext cx="11922474" cy="5087667"/>
          </a:xfrm>
        </p:spPr>
        <p:txBody>
          <a:bodyPr>
            <a:normAutofit/>
          </a:bodyPr>
          <a:lstStyle>
            <a:lvl1pPr>
              <a:defRPr sz="2400" b="0" i="0">
                <a:latin typeface="Fira Sans Light" panose="020B0403050000020004" pitchFamily="34" charset="0"/>
                <a:ea typeface="Fira Sans Light" panose="020B0403050000020004" pitchFamily="34" charset="0"/>
              </a:defRPr>
            </a:lvl1pPr>
            <a:lvl2pPr>
              <a:defRPr sz="2000" b="0" i="0">
                <a:latin typeface="Fira Sans Light" panose="020B0403050000020004" pitchFamily="34" charset="0"/>
                <a:ea typeface="Fira Sans Light" panose="020B0403050000020004" pitchFamily="34" charset="0"/>
              </a:defRPr>
            </a:lvl2pPr>
            <a:lvl3pPr>
              <a:defRPr sz="1800" b="0" i="0">
                <a:latin typeface="Fira Sans Light" panose="020B0403050000020004" pitchFamily="34" charset="0"/>
                <a:ea typeface="Fira Sans Light" panose="020B0403050000020004" pitchFamily="34" charset="0"/>
              </a:defRPr>
            </a:lvl3pPr>
            <a:lvl4pPr>
              <a:defRPr sz="1600" b="0" i="0">
                <a:latin typeface="Fira Sans Light" panose="020B0403050000020004" pitchFamily="34" charset="0"/>
                <a:ea typeface="Fira Sans Light" panose="020B0403050000020004" pitchFamily="34" charset="0"/>
              </a:defRPr>
            </a:lvl4pPr>
            <a:lvl5pPr>
              <a:defRPr sz="1600" b="0" i="0">
                <a:latin typeface="Fira Sans Light" panose="020B0403050000020004" pitchFamily="34" charset="0"/>
                <a:ea typeface="Fira Sans Light" panose="020B04030500000200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600" y="6452993"/>
            <a:ext cx="2844800" cy="365125"/>
          </a:xfrm>
        </p:spPr>
        <p:txBody>
          <a:bodyPr/>
          <a:lstStyle/>
          <a:p>
            <a:r>
              <a:rPr lang="en-US"/>
              <a:t>06/09/26</a:t>
            </a:r>
            <a:endParaRPr lang="en-US" dirty="0"/>
          </a:p>
        </p:txBody>
      </p:sp>
      <p:sp>
        <p:nvSpPr>
          <p:cNvPr id="5" name="Footer Placeholder 4"/>
          <p:cNvSpPr>
            <a:spLocks noGrp="1"/>
          </p:cNvSpPr>
          <p:nvPr>
            <p:ph type="ftr" sz="quarter" idx="11"/>
          </p:nvPr>
        </p:nvSpPr>
        <p:spPr>
          <a:xfrm>
            <a:off x="4165600" y="6452993"/>
            <a:ext cx="3860800" cy="365125"/>
          </a:xfrm>
        </p:spPr>
        <p:txBody>
          <a:bodyPr/>
          <a:lstStyle/>
          <a:p>
            <a:r>
              <a:rPr lang="en-US"/>
              <a:t>Group meeting</a:t>
            </a:r>
          </a:p>
        </p:txBody>
      </p:sp>
      <p:sp>
        <p:nvSpPr>
          <p:cNvPr id="6" name="Slide Number Placeholder 5"/>
          <p:cNvSpPr>
            <a:spLocks noGrp="1"/>
          </p:cNvSpPr>
          <p:nvPr>
            <p:ph type="sldNum" sz="quarter" idx="12"/>
          </p:nvPr>
        </p:nvSpPr>
        <p:spPr>
          <a:xfrm>
            <a:off x="8737600" y="6452993"/>
            <a:ext cx="2844800" cy="365125"/>
          </a:xfrm>
        </p:spPr>
        <p:txBody>
          <a:bodyPr/>
          <a:lstStyle/>
          <a:p>
            <a:fld id="{C5EF2332-01BF-834F-8236-50238282D533}" type="slidenum">
              <a:rPr lang="en-US" smtClean="0"/>
              <a:t>‹#›</a:t>
            </a:fld>
            <a:endParaRPr lang="en-US"/>
          </a:p>
        </p:txBody>
      </p:sp>
      <p:cxnSp>
        <p:nvCxnSpPr>
          <p:cNvPr id="9" name="Straight Connector 8">
            <a:extLst>
              <a:ext uri="{FF2B5EF4-FFF2-40B4-BE49-F238E27FC236}">
                <a16:creationId xmlns:a16="http://schemas.microsoft.com/office/drawing/2014/main" id="{60EAA4C7-D0B6-0DE2-E030-4ACD062DD5B1}"/>
              </a:ext>
            </a:extLst>
          </p:cNvPr>
          <p:cNvCxnSpPr/>
          <p:nvPr userDrawn="1"/>
        </p:nvCxnSpPr>
        <p:spPr>
          <a:xfrm>
            <a:off x="159543" y="6386948"/>
            <a:ext cx="11872913" cy="0"/>
          </a:xfrm>
          <a:prstGeom prst="line">
            <a:avLst/>
          </a:prstGeom>
          <a:ln w="12700">
            <a:solidFill>
              <a:srgbClr val="00315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82595"/>
          </a:xfrm>
          <a:prstGeom prst="rect">
            <a:avLst/>
          </a:prstGeom>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608400" y="1249200"/>
            <a:ext cx="5384800" cy="4860000"/>
          </a:xfrm>
        </p:spPr>
        <p:txBody>
          <a:bodyPr>
            <a:normAutofit/>
          </a:bodyPr>
          <a:lstStyle>
            <a:lvl1pPr>
              <a:defRPr sz="2400">
                <a:solidFill>
                  <a:srgbClr val="23373B"/>
                </a:solidFill>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249200"/>
            <a:ext cx="5384800" cy="4860000"/>
          </a:xfrm>
        </p:spPr>
        <p:txBody>
          <a:bodyPr>
            <a:normAutofit/>
          </a:bodyPr>
          <a:lstStyle>
            <a:lvl1pPr>
              <a:defRPr sz="2400">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en-US"/>
              <a:t>06/09/26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23373B"/>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06/09/26</a:t>
            </a:r>
          </a:p>
        </p:txBody>
      </p:sp>
      <p:sp>
        <p:nvSpPr>
          <p:cNvPr id="5" name="Footer Placeholder 4"/>
          <p:cNvSpPr>
            <a:spLocks noGrp="1"/>
          </p:cNvSpPr>
          <p:nvPr>
            <p:ph type="ftr" sz="quarter" idx="11"/>
          </p:nvPr>
        </p:nvSpPr>
        <p:spPr/>
        <p:txBody>
          <a:bodyPr/>
          <a:lstStyle/>
          <a:p>
            <a:r>
              <a:rPr lang="en-US"/>
              <a:t>Group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974724"/>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107306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inverted colors">
    <p:bg>
      <p:bgPr>
        <a:solidFill>
          <a:srgbClr val="23373B"/>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06/09/26</a:t>
            </a:r>
          </a:p>
        </p:txBody>
      </p:sp>
      <p:sp>
        <p:nvSpPr>
          <p:cNvPr id="5" name="Footer Placeholder 4"/>
          <p:cNvSpPr>
            <a:spLocks noGrp="1"/>
          </p:cNvSpPr>
          <p:nvPr>
            <p:ph type="ftr" sz="quarter" idx="11"/>
          </p:nvPr>
        </p:nvSpPr>
        <p:spPr/>
        <p:txBody>
          <a:bodyPr/>
          <a:lstStyle/>
          <a:p>
            <a:r>
              <a:rPr lang="en-US"/>
              <a:t>Group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1500186"/>
          </a:xfrm>
          <a:prstGeom prst="rect">
            <a:avLst/>
          </a:prstGeom>
          <a:solidFill>
            <a:srgbClr val="23373B"/>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4167477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wo columns with two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599" y="919716"/>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596599"/>
            <a:ext cx="5386917"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919716"/>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596599"/>
            <a:ext cx="5389033"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06/09/26</a:t>
            </a:r>
          </a:p>
        </p:txBody>
      </p:sp>
      <p:sp>
        <p:nvSpPr>
          <p:cNvPr id="8" name="Footer Placeholder 7"/>
          <p:cNvSpPr>
            <a:spLocks noGrp="1"/>
          </p:cNvSpPr>
          <p:nvPr>
            <p:ph type="ftr" sz="quarter" idx="11"/>
          </p:nvPr>
        </p:nvSpPr>
        <p:spPr/>
        <p:txBody>
          <a:bodyPr/>
          <a:lstStyle/>
          <a:p>
            <a:r>
              <a:rPr lang="en-US"/>
              <a:t>Group meeting</a:t>
            </a:r>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0" name="Title 1">
            <a:extLst>
              <a:ext uri="{FF2B5EF4-FFF2-40B4-BE49-F238E27FC236}">
                <a16:creationId xmlns:a16="http://schemas.microsoft.com/office/drawing/2014/main" id="{98049B74-EB33-49E5-A21C-5BC17B1D48D9}"/>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lumn and imagen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09600" y="939802"/>
            <a:ext cx="4011084" cy="52083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r>
              <a:rPr lang="en-US"/>
              <a:t>06/09/26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ext Placeholder 3">
            <a:extLst>
              <a:ext uri="{FF2B5EF4-FFF2-40B4-BE49-F238E27FC236}">
                <a16:creationId xmlns:a16="http://schemas.microsoft.com/office/drawing/2014/main" id="{765B64F9-9C06-4BFC-9CC7-D62D4572BDE4}"/>
              </a:ext>
            </a:extLst>
          </p:cNvPr>
          <p:cNvSpPr>
            <a:spLocks noGrp="1"/>
          </p:cNvSpPr>
          <p:nvPr>
            <p:ph type="body" sz="half" idx="13"/>
          </p:nvPr>
        </p:nvSpPr>
        <p:spPr>
          <a:xfrm>
            <a:off x="4773085" y="5193412"/>
            <a:ext cx="6809314" cy="93275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1" name="Marcador de posición de imagen 7">
            <a:extLst>
              <a:ext uri="{FF2B5EF4-FFF2-40B4-BE49-F238E27FC236}">
                <a16:creationId xmlns:a16="http://schemas.microsoft.com/office/drawing/2014/main" id="{D74A7F3F-C231-4039-8494-F902CE8BAA4B}"/>
              </a:ext>
            </a:extLst>
          </p:cNvPr>
          <p:cNvSpPr>
            <a:spLocks noGrp="1"/>
          </p:cNvSpPr>
          <p:nvPr>
            <p:ph type="pic" sz="quarter" idx="14"/>
          </p:nvPr>
        </p:nvSpPr>
        <p:spPr>
          <a:xfrm>
            <a:off x="4773085" y="949968"/>
            <a:ext cx="6809315" cy="4176069"/>
          </a:xfrm>
        </p:spPr>
        <p:txBody>
          <a:bodyPr/>
          <a:lstStyle/>
          <a:p>
            <a:endParaRPr lang="es-CL"/>
          </a:p>
        </p:txBody>
      </p:sp>
    </p:spTree>
    <p:extLst>
      <p:ext uri="{BB962C8B-B14F-4D97-AF65-F5344CB8AC3E}">
        <p14:creationId xmlns:p14="http://schemas.microsoft.com/office/powerpoint/2010/main" val="193102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06/09/26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600" y="1617085"/>
            <a:ext cx="10972799"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two column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06/09/26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599" y="1617085"/>
            <a:ext cx="5408022" cy="4502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Text Placeholder 3">
            <a:extLst>
              <a:ext uri="{FF2B5EF4-FFF2-40B4-BE49-F238E27FC236}">
                <a16:creationId xmlns:a16="http://schemas.microsoft.com/office/drawing/2014/main" id="{C37F2929-6A18-4BAD-AA36-EE60744758F0}"/>
              </a:ext>
            </a:extLst>
          </p:cNvPr>
          <p:cNvSpPr>
            <a:spLocks noGrp="1"/>
          </p:cNvSpPr>
          <p:nvPr>
            <p:ph type="body" sz="half" idx="13"/>
          </p:nvPr>
        </p:nvSpPr>
        <p:spPr>
          <a:xfrm>
            <a:off x="6174379" y="1617085"/>
            <a:ext cx="5408022"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117577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06/09/26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Rectángulo 7">
            <a:extLst>
              <a:ext uri="{FF2B5EF4-FFF2-40B4-BE49-F238E27FC236}">
                <a16:creationId xmlns:a16="http://schemas.microsoft.com/office/drawing/2014/main" id="{8962BEB1-7B29-4BAC-8B48-10A147F1A42A}"/>
              </a:ext>
            </a:extLst>
          </p:cNvPr>
          <p:cNvSpPr/>
          <p:nvPr userDrawn="1"/>
        </p:nvSpPr>
        <p:spPr>
          <a:xfrm>
            <a:off x="0" y="0"/>
            <a:ext cx="12192000" cy="949569"/>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
        <p:nvSpPr>
          <p:cNvPr id="9" name="Picture Placeholder 2">
            <a:extLst>
              <a:ext uri="{FF2B5EF4-FFF2-40B4-BE49-F238E27FC236}">
                <a16:creationId xmlns:a16="http://schemas.microsoft.com/office/drawing/2014/main" id="{8D9C7531-5490-48CC-82EC-3580AEA6AEAF}"/>
              </a:ext>
            </a:extLst>
          </p:cNvPr>
          <p:cNvSpPr>
            <a:spLocks noGrp="1"/>
          </p:cNvSpPr>
          <p:nvPr>
            <p:ph type="pic" idx="1"/>
          </p:nvPr>
        </p:nvSpPr>
        <p:spPr>
          <a:xfrm>
            <a:off x="2389717" y="612774"/>
            <a:ext cx="7315200" cy="468058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a:t>06/09/26</a:t>
            </a:r>
          </a:p>
        </p:txBody>
      </p:sp>
      <p:sp>
        <p:nvSpPr>
          <p:cNvPr id="4" name="Footer Placeholder 3"/>
          <p:cNvSpPr>
            <a:spLocks noGrp="1"/>
          </p:cNvSpPr>
          <p:nvPr>
            <p:ph type="ftr" sz="quarter" idx="11"/>
          </p:nvPr>
        </p:nvSpPr>
        <p:spPr/>
        <p:txBody>
          <a:bodyPr/>
          <a:lstStyle/>
          <a:p>
            <a:r>
              <a:rPr lang="en-US"/>
              <a:t>Group meeting</a:t>
            </a:r>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1AF30ABA-6BFD-4C8C-A4E2-2A730B48E388}"/>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lean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06/09/26</a:t>
            </a:r>
          </a:p>
        </p:txBody>
      </p:sp>
      <p:sp>
        <p:nvSpPr>
          <p:cNvPr id="3" name="Footer Placeholder 2"/>
          <p:cNvSpPr>
            <a:spLocks noGrp="1"/>
          </p:cNvSpPr>
          <p:nvPr>
            <p:ph type="ftr" sz="quarter" idx="11"/>
          </p:nvPr>
        </p:nvSpPr>
        <p:spPr/>
        <p:txBody>
          <a:bodyPr/>
          <a:lstStyle/>
          <a:p>
            <a:r>
              <a:rPr lang="en-US"/>
              <a:t>Group meeting</a:t>
            </a:r>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8157" y="1463041"/>
            <a:ext cx="11374243" cy="46631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Fira Sans" panose="020B0503050000020004" pitchFamily="34" charset="0"/>
                <a:ea typeface="Fira Sans" panose="020B0503050000020004" pitchFamily="34" charset="0"/>
              </a:defRPr>
            </a:lvl1pPr>
          </a:lstStyle>
          <a:p>
            <a:r>
              <a:rPr lang="en-US"/>
              <a:t>06/09/26</a:t>
            </a:r>
            <a:endParaRPr lang="en-US" dirty="0">
              <a:latin typeface="Fira Sans" panose="020B0503050000020004" pitchFamily="34" charset="0"/>
              <a:ea typeface="Fira Sans" panose="020B0503050000020004" pitchFamily="34"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Fira Sans" panose="020B0503050000020004" pitchFamily="34" charset="0"/>
                <a:ea typeface="Fira Sans" panose="020B0503050000020004" pitchFamily="34" charset="0"/>
              </a:defRPr>
            </a:lvl1pPr>
          </a:lstStyle>
          <a:p>
            <a:r>
              <a:rPr lang="en-US" dirty="0"/>
              <a:t>Group meeting</a:t>
            </a:r>
            <a:endParaRPr lang="en-US" dirty="0">
              <a:latin typeface="Fira Sans" panose="020B0503050000020004" pitchFamily="34" charset="0"/>
              <a:ea typeface="Fira Sans" panose="020B0503050000020004" pitchFamily="34" charset="0"/>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Fira Sans" panose="020B0503050000020004" pitchFamily="34" charset="0"/>
                <a:ea typeface="Fira Sans" panose="020B0503050000020004" pitchFamily="34" charset="0"/>
              </a:defRPr>
            </a:lvl1pPr>
          </a:lstStyle>
          <a:p>
            <a:fld id="{C5EF2332-01BF-834F-8236-50238282D533}" type="slidenum">
              <a:rPr lang="en-US" smtClean="0"/>
              <a:pPr/>
              <a:t>‹#›</a:t>
            </a:fld>
            <a:endParaRPr lang="en-US" dirty="0">
              <a:latin typeface="Fira Sans" panose="020B0503050000020004" pitchFamily="34" charset="0"/>
              <a:ea typeface="Fira Sans" panose="020B0503050000020004" pitchFamily="34" charset="0"/>
            </a:endParaRPr>
          </a:p>
        </p:txBody>
      </p:sp>
      <p:sp>
        <p:nvSpPr>
          <p:cNvPr id="10" name="Title Placeholder 1">
            <a:extLst>
              <a:ext uri="{FF2B5EF4-FFF2-40B4-BE49-F238E27FC236}">
                <a16:creationId xmlns:a16="http://schemas.microsoft.com/office/drawing/2014/main" id="{F72AA3B3-8196-4D73-8E74-BE65D0B261E3}"/>
              </a:ext>
            </a:extLst>
          </p:cNvPr>
          <p:cNvSpPr>
            <a:spLocks noGrp="1"/>
          </p:cNvSpPr>
          <p:nvPr>
            <p:ph type="title"/>
          </p:nvPr>
        </p:nvSpPr>
        <p:spPr>
          <a:xfrm>
            <a:off x="1629756" y="1"/>
            <a:ext cx="9410700" cy="930340"/>
          </a:xfrm>
          <a:prstGeom prst="rect">
            <a:avLst/>
          </a:prstGeom>
        </p:spPr>
        <p:txBody>
          <a:bodyPr vert="horz" lIns="91440" tIns="45720" rIns="91440" bIns="45720" rtlCol="0" anchor="ctr">
            <a:normAutofit/>
          </a:bodyPr>
          <a:lstStyle/>
          <a:p>
            <a:endParaRPr lang="en-US" dirty="0"/>
          </a:p>
        </p:txBody>
      </p:sp>
      <p:pic>
        <p:nvPicPr>
          <p:cNvPr id="8" name="Picture 7" descr="A blue background with white text and a white circle&#10;&#10;AI-generated content may be incorrect.">
            <a:extLst>
              <a:ext uri="{FF2B5EF4-FFF2-40B4-BE49-F238E27FC236}">
                <a16:creationId xmlns:a16="http://schemas.microsoft.com/office/drawing/2014/main" id="{8EB0ECAC-F4C3-9F09-0CD7-41F0101D8FE5}"/>
              </a:ext>
            </a:extLst>
          </p:cNvPr>
          <p:cNvPicPr>
            <a:picLocks noChangeAspect="1"/>
          </p:cNvPicPr>
          <p:nvPr userDrawn="1"/>
        </p:nvPicPr>
        <p:blipFill>
          <a:blip r:embed="rId14">
            <a:extLst>
              <a:ext uri="{BEBA8EAE-BF5A-486C-A8C5-ECC9F3942E4B}">
                <a14:imgProps xmlns:a14="http://schemas.microsoft.com/office/drawing/2010/main">
                  <a14:imgLayer r:embed="rId15">
                    <a14:imgEffect>
                      <a14:sharpenSoften amount="50000"/>
                    </a14:imgEffect>
                  </a14:imgLayer>
                </a14:imgProps>
              </a:ext>
            </a:extLst>
          </a:blip>
          <a:srcRect b="24538"/>
          <a:stretch>
            <a:fillRect/>
          </a:stretch>
        </p:blipFill>
        <p:spPr>
          <a:xfrm>
            <a:off x="208157" y="1"/>
            <a:ext cx="1421599" cy="930340"/>
          </a:xfrm>
          <a:prstGeom prst="rect">
            <a:avLst/>
          </a:prstGeom>
          <a:effectLst/>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62" r:id="rId5"/>
    <p:sldLayoutId id="2147483653" r:id="rId6"/>
    <p:sldLayoutId id="2147483660" r:id="rId7"/>
    <p:sldLayoutId id="2147483656" r:id="rId8"/>
    <p:sldLayoutId id="2147483661" r:id="rId9"/>
    <p:sldLayoutId id="2147483657" r:id="rId10"/>
    <p:sldLayoutId id="2147483654" r:id="rId11"/>
    <p:sldLayoutId id="2147483655" r:id="rId12"/>
  </p:sldLayoutIdLst>
  <p:hf hdr="0"/>
  <p:txStyles>
    <p:titleStyle>
      <a:lvl1pPr algn="l" defTabSz="457200" rtl="0" eaLnBrk="1" latinLnBrk="0" hangingPunct="1">
        <a:spcBef>
          <a:spcPct val="0"/>
        </a:spcBef>
        <a:buNone/>
        <a:defRPr sz="3200" b="0" i="0" kern="1200">
          <a:solidFill>
            <a:srgbClr val="00315F"/>
          </a:solidFill>
          <a:latin typeface="Fira Sans" panose="020B0503050000020004" pitchFamily="34" charset="0"/>
          <a:ea typeface="Fira Sans" panose="020B0503050000020004" pitchFamily="34" charset="0"/>
          <a:cs typeface="+mj-cs"/>
        </a:defRPr>
      </a:lvl1pPr>
    </p:titleStyle>
    <p:bodyStyle>
      <a:lvl1pPr marL="342900" indent="-342900" algn="l" defTabSz="457200" rtl="0" eaLnBrk="1" latinLnBrk="0" hangingPunct="1">
        <a:spcBef>
          <a:spcPct val="20000"/>
        </a:spcBef>
        <a:buFont typeface="Arial"/>
        <a:buChar char="•"/>
        <a:defRPr sz="2400" b="0" i="0" kern="1200">
          <a:solidFill>
            <a:srgbClr val="243643"/>
          </a:solidFill>
          <a:latin typeface="Fira Sans" panose="020B0503050000020004" pitchFamily="34" charset="0"/>
          <a:ea typeface="Fira Sans" panose="020B0503050000020004" pitchFamily="34" charset="0"/>
          <a:cs typeface="+mn-cs"/>
        </a:defRPr>
      </a:lvl1pPr>
      <a:lvl2pPr marL="742950" indent="-285750" algn="l" defTabSz="457200" rtl="0" eaLnBrk="1" latinLnBrk="0" hangingPunct="1">
        <a:spcBef>
          <a:spcPct val="20000"/>
        </a:spcBef>
        <a:buFont typeface="Arial"/>
        <a:buChar char="–"/>
        <a:defRPr sz="2000" b="0" i="0" kern="1200">
          <a:solidFill>
            <a:srgbClr val="243643"/>
          </a:solidFill>
          <a:latin typeface="Fira Sans" panose="020B0503050000020004" pitchFamily="34" charset="0"/>
          <a:ea typeface="Fira Sans" panose="020B0503050000020004" pitchFamily="34" charset="0"/>
          <a:cs typeface="+mn-cs"/>
        </a:defRPr>
      </a:lvl2pPr>
      <a:lvl3pPr marL="1143000" indent="-228600" algn="l" defTabSz="457200" rtl="0" eaLnBrk="1" latinLnBrk="0" hangingPunct="1">
        <a:spcBef>
          <a:spcPct val="20000"/>
        </a:spcBef>
        <a:buFont typeface="Arial"/>
        <a:buChar char="•"/>
        <a:defRPr sz="1800" b="0" i="0" kern="1200">
          <a:solidFill>
            <a:srgbClr val="243643"/>
          </a:solidFill>
          <a:latin typeface="Fira Sans" panose="020B0503050000020004" pitchFamily="34" charset="0"/>
          <a:ea typeface="Fira Sans" panose="020B0503050000020004" pitchFamily="34" charset="0"/>
          <a:cs typeface="+mn-cs"/>
        </a:defRPr>
      </a:lvl3pPr>
      <a:lvl4pPr marL="1600200" indent="-228600" algn="l" defTabSz="457200" rtl="0" eaLnBrk="1" latinLnBrk="0" hangingPunct="1">
        <a:spcBef>
          <a:spcPct val="20000"/>
        </a:spcBef>
        <a:buFont typeface="Arial"/>
        <a:buChar char="–"/>
        <a:defRPr sz="1600" b="0" i="0" kern="1200">
          <a:solidFill>
            <a:srgbClr val="243643"/>
          </a:solidFill>
          <a:latin typeface="Fira Sans" panose="020B0503050000020004" pitchFamily="34" charset="0"/>
          <a:ea typeface="Fira Sans" panose="020B0503050000020004" pitchFamily="34" charset="0"/>
          <a:cs typeface="+mn-cs"/>
        </a:defRPr>
      </a:lvl4pPr>
      <a:lvl5pPr marL="2057400" indent="-228600" algn="l" defTabSz="457200" rtl="0" eaLnBrk="1" latinLnBrk="0" hangingPunct="1">
        <a:spcBef>
          <a:spcPct val="20000"/>
        </a:spcBef>
        <a:buFont typeface="Arial"/>
        <a:buChar char="»"/>
        <a:defRPr sz="1600" b="0" i="0" kern="1200">
          <a:solidFill>
            <a:srgbClr val="243643"/>
          </a:solidFill>
          <a:latin typeface="Fira Sans" panose="020B0503050000020004" pitchFamily="34" charset="0"/>
          <a:ea typeface="Fira Sans" panose="020B05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JeffersonLab/clas12-config/"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JeffersonLab/clas12-config/"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JeffersonLab/clas12-beamspo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33385"/>
            <a:ext cx="6978580" cy="2234317"/>
          </a:xfrm>
        </p:spPr>
        <p:txBody>
          <a:bodyPr>
            <a:normAutofit/>
          </a:bodyPr>
          <a:lstStyle/>
          <a:p>
            <a:pPr lvl="0" algn="l"/>
            <a:r>
              <a:rPr lang="en-US" sz="7200" cap="small" dirty="0">
                <a:latin typeface="Fira Sans" panose="020B0503050000020004" pitchFamily="34" charset="0"/>
                <a:ea typeface="Fira Sans" panose="020B0503050000020004" pitchFamily="34" charset="0"/>
              </a:rPr>
              <a:t>Group meeting</a:t>
            </a:r>
            <a:endParaRPr sz="7200" cap="small" dirty="0">
              <a:latin typeface="Fira Sans" panose="020B0503050000020004" pitchFamily="34" charset="0"/>
              <a:ea typeface="Fira Sans" panose="020B0503050000020004" pitchFamily="34" charset="0"/>
            </a:endParaRPr>
          </a:p>
        </p:txBody>
      </p:sp>
      <p:sp>
        <p:nvSpPr>
          <p:cNvPr id="3" name="Subtitle 2"/>
          <p:cNvSpPr>
            <a:spLocks noGrp="1"/>
          </p:cNvSpPr>
          <p:nvPr>
            <p:ph type="subTitle" idx="1"/>
          </p:nvPr>
        </p:nvSpPr>
        <p:spPr>
          <a:xfrm>
            <a:off x="457200" y="4069887"/>
            <a:ext cx="6873240" cy="676127"/>
          </a:xfrm>
        </p:spPr>
        <p:txBody>
          <a:bodyPr>
            <a:normAutofit/>
          </a:bodyPr>
          <a:lstStyle/>
          <a:p>
            <a:pPr marL="0" lvl="0" indent="0">
              <a:buNone/>
            </a:pPr>
            <a:r>
              <a:rPr lang="es-MX" dirty="0">
                <a:latin typeface="Fira Sans" panose="020B0503050000020004" pitchFamily="34" charset="0"/>
                <a:ea typeface="Fira Sans" panose="020B0503050000020004" pitchFamily="34" charset="0"/>
              </a:rPr>
              <a:t>Mathieu Ouillon (Mississippi State University)</a:t>
            </a:r>
            <a:endParaRPr dirty="0">
              <a:latin typeface="Fira Sans" panose="020B0503050000020004" pitchFamily="34" charset="0"/>
              <a:ea typeface="Fira Sans" panose="020B0503050000020004" pitchFamily="34" charset="0"/>
            </a:endParaRPr>
          </a:p>
        </p:txBody>
      </p:sp>
      <p:sp>
        <p:nvSpPr>
          <p:cNvPr id="5" name="Date Placeholder 3">
            <a:extLst>
              <a:ext uri="{FF2B5EF4-FFF2-40B4-BE49-F238E27FC236}">
                <a16:creationId xmlns:a16="http://schemas.microsoft.com/office/drawing/2014/main" id="{0D63A573-154D-7B40-5738-504DAF2B226D}"/>
              </a:ext>
            </a:extLst>
          </p:cNvPr>
          <p:cNvSpPr txBox="1">
            <a:spLocks/>
          </p:cNvSpPr>
          <p:nvPr/>
        </p:nvSpPr>
        <p:spPr>
          <a:xfrm>
            <a:off x="457200" y="4746014"/>
            <a:ext cx="2075717"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l" defTabSz="457200" rtl="0" eaLnBrk="1" latinLnBrk="0" hangingPunct="1">
              <a:spcBef>
                <a:spcPct val="20000"/>
              </a:spcBef>
              <a:buFont typeface="Arial"/>
              <a:buNone/>
            </a:pPr>
            <a:r>
              <a:rPr lang="es-CL" sz="2000" kern="1200" noProof="0" dirty="0">
                <a:solidFill>
                  <a:srgbClr val="304D59"/>
                </a:solidFill>
                <a:latin typeface="Fira Sans" panose="020B0503050000020004" pitchFamily="34" charset="0"/>
                <a:ea typeface="Fira Sans" panose="020B0503050000020004" pitchFamily="34" charset="0"/>
              </a:rPr>
              <a:t>06/09/26</a:t>
            </a:r>
          </a:p>
        </p:txBody>
      </p:sp>
    </p:spTree>
  </p:cSld>
  <p:clrMapOvr>
    <a:masterClrMapping/>
  </p:clrMapOvr>
  <mc:AlternateContent xmlns:mc="http://schemas.openxmlformats.org/markup-compatibility/2006" xmlns:p14="http://schemas.microsoft.com/office/powerpoint/2010/main">
    <mc:Choice Requires="p14">
      <p:transition spd="slow" p14:dur="2000" advTm="13319"/>
    </mc:Choice>
    <mc:Fallback xmlns="">
      <p:transition spd="slow" advTm="133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1DEE-22C9-7031-D658-E0B764650CD4}"/>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3A90E175-4471-897D-0352-0615CEECD9AB}"/>
              </a:ext>
            </a:extLst>
          </p:cNvPr>
          <p:cNvSpPr>
            <a:spLocks noGrp="1"/>
          </p:cNvSpPr>
          <p:nvPr>
            <p:ph idx="1"/>
          </p:nvPr>
        </p:nvSpPr>
        <p:spPr>
          <a:xfrm>
            <a:off x="109982" y="1032481"/>
            <a:ext cx="5323554" cy="5162579"/>
          </a:xfrm>
        </p:spPr>
        <p:txBody>
          <a:bodyPr>
            <a:normAutofit/>
          </a:bodyPr>
          <a:lstStyle/>
          <a:p>
            <a:pPr marL="57150" indent="0">
              <a:buNone/>
            </a:pPr>
            <a:r>
              <a:rPr lang="en-US" sz="2000" dirty="0">
                <a:latin typeface="Fira Sans Light" panose="020B0403050000020004" pitchFamily="34" charset="0"/>
                <a:ea typeface="Fira Sans Light" panose="020B0403050000020004" pitchFamily="34" charset="0"/>
              </a:rPr>
              <a:t>Ok I found an</a:t>
            </a:r>
            <a:r>
              <a:rPr lang="en-US" sz="2000" dirty="0"/>
              <a:t> issue in the code for the propagation of the pion in the magnetic field: </a:t>
            </a:r>
          </a:p>
          <a:p>
            <a:pPr marL="400050">
              <a:buFontTx/>
              <a:buChar char="-"/>
            </a:pPr>
            <a:r>
              <a:rPr lang="en-US" sz="2000" dirty="0">
                <a:latin typeface="Fira Sans Light" panose="020B0403050000020004" pitchFamily="34" charset="0"/>
                <a:ea typeface="Fira Sans Light" panose="020B0403050000020004" pitchFamily="34" charset="0"/>
              </a:rPr>
              <a:t>I forgot t</a:t>
            </a:r>
            <a:r>
              <a:rPr lang="en-US" sz="2000" dirty="0"/>
              <a:t>o shift the solenoid map by -3cm</a:t>
            </a:r>
          </a:p>
          <a:p>
            <a:pPr marL="400050">
              <a:buFontTx/>
              <a:buChar char="-"/>
            </a:pPr>
            <a:r>
              <a:rPr lang="en-US" sz="2000" dirty="0"/>
              <a:t>With the shift the reconstructed </a:t>
            </a:r>
            <a:r>
              <a:rPr lang="en-US" sz="2000" dirty="0" err="1"/>
              <a:t>Vz</a:t>
            </a:r>
            <a:r>
              <a:rPr lang="en-US" sz="2000" dirty="0"/>
              <a:t> from the EB and my reconstructed VZ by swimming the particle is similar</a:t>
            </a:r>
          </a:p>
          <a:p>
            <a:pPr marL="400050">
              <a:buFontTx/>
              <a:buChar char="-"/>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That indicates to me that the issue may be in the shift of the solenoid map, not in the reconstruction.</a:t>
            </a: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F516DE40-634B-6437-8CC3-0FD061C7F117}"/>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24CE86C5-59DE-A182-C626-DDC5A88367CF}"/>
              </a:ext>
            </a:extLst>
          </p:cNvPr>
          <p:cNvSpPr>
            <a:spLocks noGrp="1"/>
          </p:cNvSpPr>
          <p:nvPr>
            <p:ph type="sldNum" sz="quarter" idx="12"/>
          </p:nvPr>
        </p:nvSpPr>
        <p:spPr/>
        <p:txBody>
          <a:bodyPr/>
          <a:lstStyle/>
          <a:p>
            <a:fld id="{C5EF2332-01BF-834F-8236-50238282D533}" type="slidenum">
              <a:rPr lang="en-US" smtClean="0"/>
              <a:t>2</a:t>
            </a:fld>
            <a:endParaRPr lang="en-US"/>
          </a:p>
        </p:txBody>
      </p:sp>
      <p:sp>
        <p:nvSpPr>
          <p:cNvPr id="5" name="Footer Placeholder 4">
            <a:extLst>
              <a:ext uri="{FF2B5EF4-FFF2-40B4-BE49-F238E27FC236}">
                <a16:creationId xmlns:a16="http://schemas.microsoft.com/office/drawing/2014/main" id="{E6A2E877-994F-075F-5795-58873E76BAE0}"/>
              </a:ext>
            </a:extLst>
          </p:cNvPr>
          <p:cNvSpPr>
            <a:spLocks noGrp="1"/>
          </p:cNvSpPr>
          <p:nvPr>
            <p:ph type="ftr" sz="quarter" idx="11"/>
          </p:nvPr>
        </p:nvSpPr>
        <p:spPr/>
        <p:txBody>
          <a:bodyPr/>
          <a:lstStyle/>
          <a:p>
            <a:r>
              <a:rPr lang="en-US"/>
              <a:t>Group meeting</a:t>
            </a:r>
          </a:p>
        </p:txBody>
      </p:sp>
      <p:pic>
        <p:nvPicPr>
          <p:cNvPr id="8" name="Picture 7">
            <a:extLst>
              <a:ext uri="{FF2B5EF4-FFF2-40B4-BE49-F238E27FC236}">
                <a16:creationId xmlns:a16="http://schemas.microsoft.com/office/drawing/2014/main" id="{6EE94AD1-64CC-800B-039E-FDB8414C5B0C}"/>
              </a:ext>
            </a:extLst>
          </p:cNvPr>
          <p:cNvPicPr>
            <a:picLocks noChangeAspect="1"/>
          </p:cNvPicPr>
          <p:nvPr/>
        </p:nvPicPr>
        <p:blipFill>
          <a:blip r:embed="rId2"/>
          <a:stretch>
            <a:fillRect/>
          </a:stretch>
        </p:blipFill>
        <p:spPr>
          <a:xfrm>
            <a:off x="8899684" y="-16635"/>
            <a:ext cx="3182334" cy="6858000"/>
          </a:xfrm>
          <a:prstGeom prst="rect">
            <a:avLst/>
          </a:prstGeom>
        </p:spPr>
      </p:pic>
      <p:pic>
        <p:nvPicPr>
          <p:cNvPr id="9" name="Picture 8">
            <a:extLst>
              <a:ext uri="{FF2B5EF4-FFF2-40B4-BE49-F238E27FC236}">
                <a16:creationId xmlns:a16="http://schemas.microsoft.com/office/drawing/2014/main" id="{06EE6565-CFCE-605D-A575-FB48B9AE3C4F}"/>
              </a:ext>
            </a:extLst>
          </p:cNvPr>
          <p:cNvPicPr>
            <a:picLocks noChangeAspect="1"/>
          </p:cNvPicPr>
          <p:nvPr/>
        </p:nvPicPr>
        <p:blipFill>
          <a:blip r:embed="rId3"/>
          <a:srcRect r="51674"/>
          <a:stretch>
            <a:fillRect/>
          </a:stretch>
        </p:blipFill>
        <p:spPr>
          <a:xfrm>
            <a:off x="5492718" y="-16635"/>
            <a:ext cx="3185986" cy="4352415"/>
          </a:xfrm>
          <a:prstGeom prst="rect">
            <a:avLst/>
          </a:prstGeom>
        </p:spPr>
      </p:pic>
      <p:pic>
        <p:nvPicPr>
          <p:cNvPr id="10" name="Picture 9">
            <a:extLst>
              <a:ext uri="{FF2B5EF4-FFF2-40B4-BE49-F238E27FC236}">
                <a16:creationId xmlns:a16="http://schemas.microsoft.com/office/drawing/2014/main" id="{CEA86025-4423-3C2A-F7A4-ECCB9AB955C7}"/>
              </a:ext>
            </a:extLst>
          </p:cNvPr>
          <p:cNvPicPr>
            <a:picLocks noChangeAspect="1"/>
          </p:cNvPicPr>
          <p:nvPr/>
        </p:nvPicPr>
        <p:blipFill>
          <a:blip r:embed="rId4"/>
          <a:stretch>
            <a:fillRect/>
          </a:stretch>
        </p:blipFill>
        <p:spPr>
          <a:xfrm>
            <a:off x="5463127" y="4335780"/>
            <a:ext cx="3245168" cy="2356153"/>
          </a:xfrm>
          <a:prstGeom prst="rect">
            <a:avLst/>
          </a:prstGeom>
        </p:spPr>
      </p:pic>
      <p:sp>
        <p:nvSpPr>
          <p:cNvPr id="11" name="TextBox 10">
            <a:extLst>
              <a:ext uri="{FF2B5EF4-FFF2-40B4-BE49-F238E27FC236}">
                <a16:creationId xmlns:a16="http://schemas.microsoft.com/office/drawing/2014/main" id="{DFB5D454-22E7-0735-1018-9E6187884428}"/>
              </a:ext>
            </a:extLst>
          </p:cNvPr>
          <p:cNvSpPr txBox="1"/>
          <p:nvPr/>
        </p:nvSpPr>
        <p:spPr>
          <a:xfrm>
            <a:off x="6096000" y="564904"/>
            <a:ext cx="1189749" cy="369332"/>
          </a:xfrm>
          <a:prstGeom prst="rect">
            <a:avLst/>
          </a:prstGeom>
          <a:noFill/>
        </p:spPr>
        <p:txBody>
          <a:bodyPr wrap="none" rtlCol="0">
            <a:spAutoFit/>
          </a:bodyPr>
          <a:lstStyle/>
          <a:p>
            <a:r>
              <a:rPr lang="en-US" dirty="0">
                <a:latin typeface="Fira Sans Light" panose="020B0403050000020004" pitchFamily="34" charset="0"/>
                <a:ea typeface="Fira Sans Light" panose="020B0403050000020004" pitchFamily="34" charset="0"/>
              </a:rPr>
              <a:t>Last week</a:t>
            </a:r>
          </a:p>
        </p:txBody>
      </p:sp>
      <p:sp>
        <p:nvSpPr>
          <p:cNvPr id="12" name="TextBox 11">
            <a:extLst>
              <a:ext uri="{FF2B5EF4-FFF2-40B4-BE49-F238E27FC236}">
                <a16:creationId xmlns:a16="http://schemas.microsoft.com/office/drawing/2014/main" id="{FB7F1A94-AED6-A8A7-9BB6-6E11C91ED04F}"/>
              </a:ext>
            </a:extLst>
          </p:cNvPr>
          <p:cNvSpPr txBox="1"/>
          <p:nvPr/>
        </p:nvSpPr>
        <p:spPr>
          <a:xfrm>
            <a:off x="9469652" y="545068"/>
            <a:ext cx="1188146" cy="369332"/>
          </a:xfrm>
          <a:prstGeom prst="rect">
            <a:avLst/>
          </a:prstGeom>
          <a:noFill/>
        </p:spPr>
        <p:txBody>
          <a:bodyPr wrap="none" rtlCol="0">
            <a:spAutoFit/>
          </a:bodyPr>
          <a:lstStyle/>
          <a:p>
            <a:r>
              <a:rPr lang="en-US" dirty="0">
                <a:latin typeface="Fira Sans Light" panose="020B0403050000020004" pitchFamily="34" charset="0"/>
                <a:ea typeface="Fira Sans Light" panose="020B0403050000020004" pitchFamily="34" charset="0"/>
              </a:rPr>
              <a:t>This week</a:t>
            </a:r>
          </a:p>
        </p:txBody>
      </p:sp>
    </p:spTree>
    <p:extLst>
      <p:ext uri="{BB962C8B-B14F-4D97-AF65-F5344CB8AC3E}">
        <p14:creationId xmlns:p14="http://schemas.microsoft.com/office/powerpoint/2010/main" val="2136463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F971-4526-E12F-4201-A96B79ED2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5A8B5B-1EC1-8B9E-F2FC-392E1B393C29}"/>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FDA0ABFE-938C-978F-4F6A-DFE0B2850D2F}"/>
              </a:ext>
            </a:extLst>
          </p:cNvPr>
          <p:cNvSpPr>
            <a:spLocks noGrp="1"/>
          </p:cNvSpPr>
          <p:nvPr>
            <p:ph idx="1"/>
          </p:nvPr>
        </p:nvSpPr>
        <p:spPr>
          <a:xfrm>
            <a:off x="109982" y="1032481"/>
            <a:ext cx="11815318" cy="5162579"/>
          </a:xfrm>
        </p:spPr>
        <p:txBody>
          <a:bodyPr>
            <a:normAutofit/>
          </a:bodyPr>
          <a:lstStyle/>
          <a:p>
            <a:pPr marL="57150" indent="0">
              <a:buNone/>
            </a:pPr>
            <a:r>
              <a:rPr lang="en-US" sz="2000" dirty="0">
                <a:latin typeface="Fira Sans Light" panose="020B0403050000020004" pitchFamily="34" charset="0"/>
                <a:ea typeface="Fira Sans Light" panose="020B0403050000020004" pitchFamily="34" charset="0"/>
              </a:rPr>
              <a:t>So I look into the GCARD that I use and compare it to other GCARD in clas12-config: </a:t>
            </a:r>
          </a:p>
          <a:p>
            <a:pPr marL="400050">
              <a:buFontTx/>
              <a:buChar char="-"/>
            </a:pPr>
            <a:r>
              <a:rPr lang="en-US" sz="2000" dirty="0"/>
              <a:t>In most of the GCARDs (RG-A fall 2018/spring 2019, RG-C, RG-E, RG-K and RG-M):</a:t>
            </a:r>
          </a:p>
          <a:p>
            <a:pPr marL="400050">
              <a:buFontTx/>
              <a:buChar char="-"/>
            </a:pPr>
            <a:endParaRPr lang="en-US" sz="2000" dirty="0"/>
          </a:p>
          <a:p>
            <a:pPr marL="400050">
              <a:buFontTx/>
              <a:buChar char="-"/>
            </a:pPr>
            <a:endParaRPr lang="en-US" sz="2000" dirty="0"/>
          </a:p>
          <a:p>
            <a:pPr marL="400050">
              <a:buFontTx/>
              <a:buChar char="-"/>
            </a:pPr>
            <a:endParaRPr lang="en-US" sz="2000" dirty="0"/>
          </a:p>
          <a:p>
            <a:pPr marL="400050">
              <a:buFontTx/>
              <a:buChar char="-"/>
            </a:pPr>
            <a:r>
              <a:rPr lang="en-US" sz="2000" dirty="0"/>
              <a:t>But it is not in the RG-D ones</a:t>
            </a:r>
          </a:p>
          <a:p>
            <a:pPr marL="400050">
              <a:buFontTx/>
              <a:buChar char="-"/>
            </a:pPr>
            <a:endParaRPr lang="en-US" sz="2000" dirty="0"/>
          </a:p>
          <a:p>
            <a:pPr marL="400050">
              <a:buFontTx/>
              <a:buChar char="-"/>
            </a:pPr>
            <a:r>
              <a:rPr lang="en-US" sz="2000" dirty="0"/>
              <a:t>RG-A spring 2018 is the only one with: </a:t>
            </a: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A11BBD0D-160F-887B-9F21-06348C6A64DE}"/>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433C998A-226A-486E-C557-141ACB14E182}"/>
              </a:ext>
            </a:extLst>
          </p:cNvPr>
          <p:cNvSpPr>
            <a:spLocks noGrp="1"/>
          </p:cNvSpPr>
          <p:nvPr>
            <p:ph type="sldNum" sz="quarter" idx="12"/>
          </p:nvPr>
        </p:nvSpPr>
        <p:spPr/>
        <p:txBody>
          <a:bodyPr/>
          <a:lstStyle/>
          <a:p>
            <a:fld id="{C5EF2332-01BF-834F-8236-50238282D533}" type="slidenum">
              <a:rPr lang="en-US" smtClean="0"/>
              <a:t>3</a:t>
            </a:fld>
            <a:endParaRPr lang="en-US"/>
          </a:p>
        </p:txBody>
      </p:sp>
      <p:sp>
        <p:nvSpPr>
          <p:cNvPr id="5" name="Footer Placeholder 4">
            <a:extLst>
              <a:ext uri="{FF2B5EF4-FFF2-40B4-BE49-F238E27FC236}">
                <a16:creationId xmlns:a16="http://schemas.microsoft.com/office/drawing/2014/main" id="{28F74DE5-E45A-4797-A0E9-D578865D58D3}"/>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C67A6BC6-23E3-E760-029E-B0D99E494982}"/>
              </a:ext>
            </a:extLst>
          </p:cNvPr>
          <p:cNvPicPr>
            <a:picLocks noChangeAspect="1"/>
          </p:cNvPicPr>
          <p:nvPr/>
        </p:nvPicPr>
        <p:blipFill>
          <a:blip r:embed="rId2"/>
          <a:stretch>
            <a:fillRect/>
          </a:stretch>
        </p:blipFill>
        <p:spPr>
          <a:xfrm>
            <a:off x="1828800" y="1817974"/>
            <a:ext cx="7772400" cy="829371"/>
          </a:xfrm>
          <a:prstGeom prst="rect">
            <a:avLst/>
          </a:prstGeom>
        </p:spPr>
      </p:pic>
      <p:pic>
        <p:nvPicPr>
          <p:cNvPr id="13" name="Picture 12">
            <a:extLst>
              <a:ext uri="{FF2B5EF4-FFF2-40B4-BE49-F238E27FC236}">
                <a16:creationId xmlns:a16="http://schemas.microsoft.com/office/drawing/2014/main" id="{CAD4D501-125D-B10A-EF50-B945CE4E003A}"/>
              </a:ext>
            </a:extLst>
          </p:cNvPr>
          <p:cNvPicPr>
            <a:picLocks noChangeAspect="1"/>
          </p:cNvPicPr>
          <p:nvPr/>
        </p:nvPicPr>
        <p:blipFill>
          <a:blip r:embed="rId3"/>
          <a:stretch>
            <a:fillRect/>
          </a:stretch>
        </p:blipFill>
        <p:spPr>
          <a:xfrm>
            <a:off x="1828800" y="3965700"/>
            <a:ext cx="7772400" cy="648720"/>
          </a:xfrm>
          <a:prstGeom prst="rect">
            <a:avLst/>
          </a:prstGeom>
        </p:spPr>
      </p:pic>
    </p:spTree>
    <p:extLst>
      <p:ext uri="{BB962C8B-B14F-4D97-AF65-F5344CB8AC3E}">
        <p14:creationId xmlns:p14="http://schemas.microsoft.com/office/powerpoint/2010/main" val="2760189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3053-B208-4951-AD9A-5C6ED1C44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2CBC3-95D8-0D4F-0417-FDE23CA91B21}"/>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30A3513A-A101-95AE-F8D3-84D043AE85DD}"/>
              </a:ext>
            </a:extLst>
          </p:cNvPr>
          <p:cNvSpPr>
            <a:spLocks noGrp="1"/>
          </p:cNvSpPr>
          <p:nvPr>
            <p:ph idx="1"/>
          </p:nvPr>
        </p:nvSpPr>
        <p:spPr>
          <a:xfrm>
            <a:off x="109982" y="1032481"/>
            <a:ext cx="5323520" cy="5162579"/>
          </a:xfrm>
        </p:spPr>
        <p:txBody>
          <a:bodyPr>
            <a:normAutofit/>
          </a:bodyPr>
          <a:lstStyle/>
          <a:p>
            <a:pPr marL="57150" indent="0">
              <a:buNone/>
            </a:pPr>
            <a:r>
              <a:rPr lang="en-US" sz="2000" dirty="0">
                <a:latin typeface="Fira Sans Light" panose="020B0403050000020004" pitchFamily="34" charset="0"/>
                <a:ea typeface="Fira Sans Light" panose="020B0403050000020004" pitchFamily="34" charset="0"/>
              </a:rPr>
              <a:t>So, if I add these lines in the RG-D GCARD: </a:t>
            </a:r>
          </a:p>
          <a:p>
            <a:pPr marL="57150" indent="0">
              <a:buNone/>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No more shift for low momentum </a:t>
            </a:r>
            <a:r>
              <a:rPr lang="en-US" sz="2000" dirty="0" err="1"/>
              <a:t>pions</a:t>
            </a: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I need to simulated again my sample of </a:t>
            </a:r>
            <a:r>
              <a:rPr lang="en-US" sz="2000" dirty="0" err="1"/>
              <a:t>pions</a:t>
            </a:r>
            <a:r>
              <a:rPr lang="en-US" sz="2000" dirty="0"/>
              <a:t> and electrons, with the new GCARDs</a:t>
            </a:r>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I also need to modify the RG-D GCARDs </a:t>
            </a:r>
          </a:p>
          <a:p>
            <a:pPr marL="57150" indent="0">
              <a:buNone/>
            </a:pPr>
            <a:r>
              <a:rPr lang="en-US" sz="2000" dirty="0"/>
              <a:t>in </a:t>
            </a:r>
            <a:r>
              <a:rPr lang="en-US" sz="2000" dirty="0">
                <a:hlinkClick r:id="rId2"/>
              </a:rPr>
              <a:t>clas12-config</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A3C94159-46EA-7D20-E340-6909F0FC3917}"/>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86004817-87A5-A04E-948A-D3D273D23E4D}"/>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5" name="Footer Placeholder 4">
            <a:extLst>
              <a:ext uri="{FF2B5EF4-FFF2-40B4-BE49-F238E27FC236}">
                <a16:creationId xmlns:a16="http://schemas.microsoft.com/office/drawing/2014/main" id="{69DC573E-4913-0434-BC93-AD107A055020}"/>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1BA08CD5-BC16-0F5E-1A6F-25C4DC8B2275}"/>
              </a:ext>
            </a:extLst>
          </p:cNvPr>
          <p:cNvPicPr>
            <a:picLocks noChangeAspect="1"/>
          </p:cNvPicPr>
          <p:nvPr/>
        </p:nvPicPr>
        <p:blipFill>
          <a:blip r:embed="rId3"/>
          <a:stretch>
            <a:fillRect/>
          </a:stretch>
        </p:blipFill>
        <p:spPr>
          <a:xfrm>
            <a:off x="190500" y="1482695"/>
            <a:ext cx="5243002" cy="559466"/>
          </a:xfrm>
          <a:prstGeom prst="rect">
            <a:avLst/>
          </a:prstGeom>
        </p:spPr>
      </p:pic>
      <p:pic>
        <p:nvPicPr>
          <p:cNvPr id="8" name="Picture 7">
            <a:extLst>
              <a:ext uri="{FF2B5EF4-FFF2-40B4-BE49-F238E27FC236}">
                <a16:creationId xmlns:a16="http://schemas.microsoft.com/office/drawing/2014/main" id="{46750360-4740-C29C-3B2B-0CECB9A7218A}"/>
              </a:ext>
            </a:extLst>
          </p:cNvPr>
          <p:cNvPicPr>
            <a:picLocks noChangeAspect="1"/>
          </p:cNvPicPr>
          <p:nvPr/>
        </p:nvPicPr>
        <p:blipFill>
          <a:blip r:embed="rId4"/>
          <a:srcRect l="544"/>
          <a:stretch>
            <a:fillRect/>
          </a:stretch>
        </p:blipFill>
        <p:spPr>
          <a:xfrm>
            <a:off x="5608320" y="774548"/>
            <a:ext cx="6473698" cy="5086842"/>
          </a:xfrm>
          <a:prstGeom prst="rect">
            <a:avLst/>
          </a:prstGeom>
        </p:spPr>
      </p:pic>
      <p:pic>
        <p:nvPicPr>
          <p:cNvPr id="9" name="Picture 8">
            <a:extLst>
              <a:ext uri="{FF2B5EF4-FFF2-40B4-BE49-F238E27FC236}">
                <a16:creationId xmlns:a16="http://schemas.microsoft.com/office/drawing/2014/main" id="{7D69AE95-758F-C1E4-5816-BA911F4394C6}"/>
              </a:ext>
            </a:extLst>
          </p:cNvPr>
          <p:cNvPicPr>
            <a:picLocks noChangeAspect="1"/>
          </p:cNvPicPr>
          <p:nvPr/>
        </p:nvPicPr>
        <p:blipFill>
          <a:blip r:embed="rId5"/>
          <a:stretch>
            <a:fillRect/>
          </a:stretch>
        </p:blipFill>
        <p:spPr>
          <a:xfrm>
            <a:off x="4782820" y="3600790"/>
            <a:ext cx="825500" cy="2260600"/>
          </a:xfrm>
          <a:prstGeom prst="rect">
            <a:avLst/>
          </a:prstGeom>
        </p:spPr>
      </p:pic>
    </p:spTree>
    <p:extLst>
      <p:ext uri="{BB962C8B-B14F-4D97-AF65-F5344CB8AC3E}">
        <p14:creationId xmlns:p14="http://schemas.microsoft.com/office/powerpoint/2010/main" val="336926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A6EB-BEC4-50D8-4E1E-9B22CCDA5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B4A7F-7FF0-B54C-4CC0-AD272B3503A2}"/>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EC7110E2-99AE-696C-730D-2745975BBD55}"/>
              </a:ext>
            </a:extLst>
          </p:cNvPr>
          <p:cNvSpPr>
            <a:spLocks noGrp="1"/>
          </p:cNvSpPr>
          <p:nvPr>
            <p:ph idx="1"/>
          </p:nvPr>
        </p:nvSpPr>
        <p:spPr>
          <a:xfrm>
            <a:off x="109982" y="1032481"/>
            <a:ext cx="5323520" cy="5162579"/>
          </a:xfrm>
        </p:spPr>
        <p:txBody>
          <a:bodyPr>
            <a:normAutofit/>
          </a:bodyPr>
          <a:lstStyle/>
          <a:p>
            <a:pPr marL="57150" indent="0">
              <a:buNone/>
            </a:pPr>
            <a:r>
              <a:rPr lang="en-US" sz="2000" dirty="0">
                <a:latin typeface="Fira Sans Light" panose="020B0403050000020004" pitchFamily="34" charset="0"/>
                <a:ea typeface="Fira Sans Light" panose="020B0403050000020004" pitchFamily="34" charset="0"/>
              </a:rPr>
              <a:t>So, if I add these lines in the RG-D GCARD: </a:t>
            </a:r>
          </a:p>
          <a:p>
            <a:pPr marL="57150" indent="0">
              <a:buNone/>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No more shift for low momentum </a:t>
            </a:r>
            <a:r>
              <a:rPr lang="en-US" sz="2000" dirty="0" err="1"/>
              <a:t>pions</a:t>
            </a: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I need to simulated again my sample of </a:t>
            </a:r>
            <a:r>
              <a:rPr lang="en-US" sz="2000" dirty="0" err="1"/>
              <a:t>pions</a:t>
            </a:r>
            <a:r>
              <a:rPr lang="en-US" sz="2000" dirty="0"/>
              <a:t> and electrons, with the new GCARDs</a:t>
            </a:r>
          </a:p>
          <a:p>
            <a:pPr marL="57150" indent="0">
              <a:buNone/>
            </a:pPr>
            <a:endParaRPr lang="en-US" sz="2000" dirty="0">
              <a:latin typeface="Fira Sans Light" panose="020B0403050000020004" pitchFamily="34" charset="0"/>
              <a:ea typeface="Fira Sans Light" panose="020B0403050000020004" pitchFamily="34" charset="0"/>
            </a:endParaRPr>
          </a:p>
          <a:p>
            <a:pPr marL="57150" indent="0">
              <a:buNone/>
            </a:pPr>
            <a:r>
              <a:rPr lang="en-US" sz="2000" dirty="0"/>
              <a:t>I also need to modify the RG-D GCARDs </a:t>
            </a:r>
          </a:p>
          <a:p>
            <a:pPr marL="57150" indent="0">
              <a:buNone/>
            </a:pPr>
            <a:r>
              <a:rPr lang="en-US" sz="2000" dirty="0"/>
              <a:t>in </a:t>
            </a:r>
            <a:r>
              <a:rPr lang="en-US" sz="2000" dirty="0">
                <a:hlinkClick r:id="rId2"/>
              </a:rPr>
              <a:t>clas12-config</a:t>
            </a:r>
            <a:endParaRPr lang="en-US" sz="2000" dirty="0"/>
          </a:p>
          <a:p>
            <a:pPr marL="57150" indent="0">
              <a:buNone/>
            </a:pPr>
            <a:endParaRPr lang="en-US" sz="2000" dirty="0"/>
          </a:p>
          <a:p>
            <a:pPr marL="57150" indent="0">
              <a:buNone/>
            </a:pPr>
            <a:r>
              <a:rPr lang="en-US" sz="2000" dirty="0"/>
              <a:t>I also hope with that the data and simulation for </a:t>
            </a:r>
            <a:r>
              <a:rPr lang="en-US" sz="2000" dirty="0" err="1"/>
              <a:t>pions</a:t>
            </a:r>
            <a:r>
              <a:rPr lang="en-US" sz="2000" dirty="0"/>
              <a:t> would be closer</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F649CBC4-C357-E38B-CD1B-65F6C7FBA0C4}"/>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01CE44CF-78FA-E2B2-414E-247382A0F4A5}"/>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5" name="Footer Placeholder 4">
            <a:extLst>
              <a:ext uri="{FF2B5EF4-FFF2-40B4-BE49-F238E27FC236}">
                <a16:creationId xmlns:a16="http://schemas.microsoft.com/office/drawing/2014/main" id="{BAB01721-E4E4-07F6-F607-493B19591D71}"/>
              </a:ext>
            </a:extLst>
          </p:cNvPr>
          <p:cNvSpPr>
            <a:spLocks noGrp="1"/>
          </p:cNvSpPr>
          <p:nvPr>
            <p:ph type="ftr" sz="quarter" idx="11"/>
          </p:nvPr>
        </p:nvSpPr>
        <p:spPr/>
        <p:txBody>
          <a:bodyPr/>
          <a:lstStyle/>
          <a:p>
            <a:r>
              <a:rPr lang="en-US" dirty="0"/>
              <a:t>Group meeting</a:t>
            </a:r>
          </a:p>
        </p:txBody>
      </p:sp>
      <p:pic>
        <p:nvPicPr>
          <p:cNvPr id="7" name="Picture 6">
            <a:extLst>
              <a:ext uri="{FF2B5EF4-FFF2-40B4-BE49-F238E27FC236}">
                <a16:creationId xmlns:a16="http://schemas.microsoft.com/office/drawing/2014/main" id="{17743C67-6C05-C1CA-794F-FD5E4A54D224}"/>
              </a:ext>
            </a:extLst>
          </p:cNvPr>
          <p:cNvPicPr>
            <a:picLocks noChangeAspect="1"/>
          </p:cNvPicPr>
          <p:nvPr/>
        </p:nvPicPr>
        <p:blipFill>
          <a:blip r:embed="rId3"/>
          <a:stretch>
            <a:fillRect/>
          </a:stretch>
        </p:blipFill>
        <p:spPr>
          <a:xfrm>
            <a:off x="190500" y="1482695"/>
            <a:ext cx="5243002" cy="559466"/>
          </a:xfrm>
          <a:prstGeom prst="rect">
            <a:avLst/>
          </a:prstGeom>
        </p:spPr>
      </p:pic>
      <p:pic>
        <p:nvPicPr>
          <p:cNvPr id="9" name="Picture 8">
            <a:extLst>
              <a:ext uri="{FF2B5EF4-FFF2-40B4-BE49-F238E27FC236}">
                <a16:creationId xmlns:a16="http://schemas.microsoft.com/office/drawing/2014/main" id="{7DD3A890-160C-1F8E-3D15-1AF70627FA09}"/>
              </a:ext>
            </a:extLst>
          </p:cNvPr>
          <p:cNvPicPr>
            <a:picLocks noChangeAspect="1"/>
          </p:cNvPicPr>
          <p:nvPr/>
        </p:nvPicPr>
        <p:blipFill>
          <a:blip r:embed="rId4"/>
          <a:stretch>
            <a:fillRect/>
          </a:stretch>
        </p:blipFill>
        <p:spPr>
          <a:xfrm>
            <a:off x="4782820" y="3600790"/>
            <a:ext cx="825500" cy="2260600"/>
          </a:xfrm>
          <a:prstGeom prst="rect">
            <a:avLst/>
          </a:prstGeom>
        </p:spPr>
      </p:pic>
      <p:pic>
        <p:nvPicPr>
          <p:cNvPr id="10" name="Picture 9">
            <a:extLst>
              <a:ext uri="{FF2B5EF4-FFF2-40B4-BE49-F238E27FC236}">
                <a16:creationId xmlns:a16="http://schemas.microsoft.com/office/drawing/2014/main" id="{CC40938A-D1AF-62C4-6B7E-364DDAF3B155}"/>
              </a:ext>
            </a:extLst>
          </p:cNvPr>
          <p:cNvPicPr>
            <a:picLocks noChangeAspect="1"/>
          </p:cNvPicPr>
          <p:nvPr/>
        </p:nvPicPr>
        <p:blipFill>
          <a:blip r:embed="rId5"/>
          <a:stretch>
            <a:fillRect/>
          </a:stretch>
        </p:blipFill>
        <p:spPr>
          <a:xfrm>
            <a:off x="5608320" y="1005498"/>
            <a:ext cx="6580943" cy="5151694"/>
          </a:xfrm>
          <a:prstGeom prst="rect">
            <a:avLst/>
          </a:prstGeom>
        </p:spPr>
      </p:pic>
      <p:sp>
        <p:nvSpPr>
          <p:cNvPr id="11" name="TextBox 10">
            <a:extLst>
              <a:ext uri="{FF2B5EF4-FFF2-40B4-BE49-F238E27FC236}">
                <a16:creationId xmlns:a16="http://schemas.microsoft.com/office/drawing/2014/main" id="{A5A66752-5587-F7DE-8BA9-22647FC4B9C6}"/>
              </a:ext>
            </a:extLst>
          </p:cNvPr>
          <p:cNvSpPr txBox="1"/>
          <p:nvPr/>
        </p:nvSpPr>
        <p:spPr>
          <a:xfrm>
            <a:off x="6096000" y="564904"/>
            <a:ext cx="3060453" cy="369332"/>
          </a:xfrm>
          <a:prstGeom prst="rect">
            <a:avLst/>
          </a:prstGeom>
          <a:noFill/>
        </p:spPr>
        <p:txBody>
          <a:bodyPr wrap="none" rtlCol="0">
            <a:spAutoFit/>
          </a:bodyPr>
          <a:lstStyle/>
          <a:p>
            <a:r>
              <a:rPr lang="en-US" dirty="0">
                <a:latin typeface="Fira Sans Light" panose="020B0403050000020004" pitchFamily="34" charset="0"/>
                <a:ea typeface="Fira Sans Light" panose="020B0403050000020004" pitchFamily="34" charset="0"/>
              </a:rPr>
              <a:t>Last week no solenoid shift</a:t>
            </a:r>
          </a:p>
        </p:txBody>
      </p:sp>
    </p:spTree>
    <p:extLst>
      <p:ext uri="{BB962C8B-B14F-4D97-AF65-F5344CB8AC3E}">
        <p14:creationId xmlns:p14="http://schemas.microsoft.com/office/powerpoint/2010/main" val="776865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847F6-34D7-4BC3-5A5B-E14BA4B32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236D9-D6BA-C920-988F-A1AF490D1980}"/>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03861DEF-43B2-D620-99D8-37833F39880A}"/>
              </a:ext>
            </a:extLst>
          </p:cNvPr>
          <p:cNvSpPr>
            <a:spLocks noGrp="1"/>
          </p:cNvSpPr>
          <p:nvPr>
            <p:ph idx="1"/>
          </p:nvPr>
        </p:nvSpPr>
        <p:spPr>
          <a:xfrm>
            <a:off x="109982" y="1032481"/>
            <a:ext cx="3197098" cy="2983259"/>
          </a:xfrm>
        </p:spPr>
        <p:txBody>
          <a:bodyPr>
            <a:normAutofit/>
          </a:bodyPr>
          <a:lstStyle/>
          <a:p>
            <a:pPr marL="57150" indent="0">
              <a:buNone/>
            </a:pPr>
            <a:r>
              <a:rPr lang="en-US" sz="2000" dirty="0"/>
              <a:t>Two or three weeks ago I have fitted the </a:t>
            </a:r>
            <a:r>
              <a:rPr lang="en-US" sz="2000" dirty="0" err="1"/>
              <a:t>Vz</a:t>
            </a:r>
            <a:r>
              <a:rPr lang="en-US" sz="2000" dirty="0"/>
              <a:t> distribution for data after correction with two Voigt distributions: </a:t>
            </a:r>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DC31F2DF-7B7D-FF3B-637F-853B470C9691}"/>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E9BD7F02-3F22-0B78-0297-97DAAFB0B176}"/>
              </a:ext>
            </a:extLst>
          </p:cNvPr>
          <p:cNvSpPr>
            <a:spLocks noGrp="1"/>
          </p:cNvSpPr>
          <p:nvPr>
            <p:ph type="sldNum" sz="quarter" idx="12"/>
          </p:nvPr>
        </p:nvSpPr>
        <p:spPr/>
        <p:txBody>
          <a:bodyPr/>
          <a:lstStyle/>
          <a:p>
            <a:fld id="{C5EF2332-01BF-834F-8236-50238282D533}" type="slidenum">
              <a:rPr lang="en-US" smtClean="0"/>
              <a:t>6</a:t>
            </a:fld>
            <a:endParaRPr lang="en-US"/>
          </a:p>
        </p:txBody>
      </p:sp>
      <p:sp>
        <p:nvSpPr>
          <p:cNvPr id="5" name="Footer Placeholder 4">
            <a:extLst>
              <a:ext uri="{FF2B5EF4-FFF2-40B4-BE49-F238E27FC236}">
                <a16:creationId xmlns:a16="http://schemas.microsoft.com/office/drawing/2014/main" id="{7B0B7693-FD9E-FC7C-070F-0F308E9C35E7}"/>
              </a:ext>
            </a:extLst>
          </p:cNvPr>
          <p:cNvSpPr>
            <a:spLocks noGrp="1"/>
          </p:cNvSpPr>
          <p:nvPr>
            <p:ph type="ftr" sz="quarter" idx="11"/>
          </p:nvPr>
        </p:nvSpPr>
        <p:spPr/>
        <p:txBody>
          <a:bodyPr/>
          <a:lstStyle/>
          <a:p>
            <a:r>
              <a:rPr lang="en-US" dirty="0"/>
              <a:t>Group meeting</a:t>
            </a:r>
          </a:p>
        </p:txBody>
      </p:sp>
      <p:pic>
        <p:nvPicPr>
          <p:cNvPr id="8" name="Picture 7">
            <a:extLst>
              <a:ext uri="{FF2B5EF4-FFF2-40B4-BE49-F238E27FC236}">
                <a16:creationId xmlns:a16="http://schemas.microsoft.com/office/drawing/2014/main" id="{2829C5EA-A35E-8D13-F8D7-AD56E812E3B4}"/>
              </a:ext>
            </a:extLst>
          </p:cNvPr>
          <p:cNvPicPr>
            <a:picLocks noChangeAspect="1"/>
          </p:cNvPicPr>
          <p:nvPr/>
        </p:nvPicPr>
        <p:blipFill>
          <a:blip r:embed="rId2"/>
          <a:stretch>
            <a:fillRect/>
          </a:stretch>
        </p:blipFill>
        <p:spPr>
          <a:xfrm>
            <a:off x="3307080" y="653286"/>
            <a:ext cx="8884920" cy="6235194"/>
          </a:xfrm>
          <a:prstGeom prst="rect">
            <a:avLst/>
          </a:prstGeom>
        </p:spPr>
      </p:pic>
    </p:spTree>
    <p:extLst>
      <p:ext uri="{BB962C8B-B14F-4D97-AF65-F5344CB8AC3E}">
        <p14:creationId xmlns:p14="http://schemas.microsoft.com/office/powerpoint/2010/main" val="3863511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B291-5E1D-B857-FF42-2CD26DC2C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73A1C-8423-A8EC-1343-D4E19FEA1D96}"/>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21B5E469-C844-708E-04EF-67AECB3EA04F}"/>
              </a:ext>
            </a:extLst>
          </p:cNvPr>
          <p:cNvSpPr>
            <a:spLocks noGrp="1"/>
          </p:cNvSpPr>
          <p:nvPr>
            <p:ph idx="1"/>
          </p:nvPr>
        </p:nvSpPr>
        <p:spPr>
          <a:xfrm>
            <a:off x="109982" y="1032481"/>
            <a:ext cx="4055618" cy="5231159"/>
          </a:xfrm>
        </p:spPr>
        <p:txBody>
          <a:bodyPr>
            <a:normAutofit/>
          </a:bodyPr>
          <a:lstStyle/>
          <a:p>
            <a:pPr marL="57150" indent="0">
              <a:buNone/>
            </a:pPr>
            <a:r>
              <a:rPr lang="en-US" sz="2000" dirty="0"/>
              <a:t>Add using the mean and sigma for that fit, I have extracted the </a:t>
            </a:r>
            <a:r>
              <a:rPr lang="en-US" sz="2000" dirty="0" err="1"/>
              <a:t>CuSn</a:t>
            </a:r>
            <a:r>
              <a:rPr lang="en-US" sz="2000" dirty="0"/>
              <a:t> contamination for electrons:</a:t>
            </a:r>
          </a:p>
          <a:p>
            <a:pPr marL="57150" indent="0">
              <a:buNone/>
            </a:pPr>
            <a:endParaRPr lang="en-US" sz="2000" dirty="0"/>
          </a:p>
          <a:p>
            <a:pPr marL="57150" indent="0">
              <a:buNone/>
            </a:pPr>
            <a:r>
              <a:rPr lang="en-US" sz="2000" dirty="0"/>
              <a:t>For each target peak we define a ±3σ window from its Voigt fit. Contamination is the fraction of counts in that window coming from the other target, estimated from truth-labelled MC integrated in the same window.</a:t>
            </a:r>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C4FCAB4C-9808-572E-973E-FEC0EC067C59}"/>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5AE016AE-BEB1-159E-CCB4-BE79EBF7498D}"/>
              </a:ext>
            </a:extLst>
          </p:cNvPr>
          <p:cNvSpPr>
            <a:spLocks noGrp="1"/>
          </p:cNvSpPr>
          <p:nvPr>
            <p:ph type="sldNum" sz="quarter" idx="12"/>
          </p:nvPr>
        </p:nvSpPr>
        <p:spPr/>
        <p:txBody>
          <a:bodyPr/>
          <a:lstStyle/>
          <a:p>
            <a:fld id="{C5EF2332-01BF-834F-8236-50238282D533}" type="slidenum">
              <a:rPr lang="en-US" smtClean="0"/>
              <a:t>7</a:t>
            </a:fld>
            <a:endParaRPr lang="en-US"/>
          </a:p>
        </p:txBody>
      </p:sp>
      <p:sp>
        <p:nvSpPr>
          <p:cNvPr id="5" name="Footer Placeholder 4">
            <a:extLst>
              <a:ext uri="{FF2B5EF4-FFF2-40B4-BE49-F238E27FC236}">
                <a16:creationId xmlns:a16="http://schemas.microsoft.com/office/drawing/2014/main" id="{3C0E4C3D-FCD9-85F3-C2F6-E991512D1517}"/>
              </a:ext>
            </a:extLst>
          </p:cNvPr>
          <p:cNvSpPr>
            <a:spLocks noGrp="1"/>
          </p:cNvSpPr>
          <p:nvPr>
            <p:ph type="ftr" sz="quarter" idx="11"/>
          </p:nvPr>
        </p:nvSpPr>
        <p:spPr/>
        <p:txBody>
          <a:bodyPr/>
          <a:lstStyle/>
          <a:p>
            <a:r>
              <a:rPr lang="en-US" dirty="0"/>
              <a:t>Group meeting</a:t>
            </a:r>
          </a:p>
        </p:txBody>
      </p:sp>
      <p:pic>
        <p:nvPicPr>
          <p:cNvPr id="7" name="Picture 6">
            <a:extLst>
              <a:ext uri="{FF2B5EF4-FFF2-40B4-BE49-F238E27FC236}">
                <a16:creationId xmlns:a16="http://schemas.microsoft.com/office/drawing/2014/main" id="{584B9996-22E3-CC54-2D31-A8FDE934CD85}"/>
              </a:ext>
            </a:extLst>
          </p:cNvPr>
          <p:cNvPicPr>
            <a:picLocks noChangeAspect="1"/>
          </p:cNvPicPr>
          <p:nvPr/>
        </p:nvPicPr>
        <p:blipFill>
          <a:blip r:embed="rId2"/>
          <a:stretch>
            <a:fillRect/>
          </a:stretch>
        </p:blipFill>
        <p:spPr>
          <a:xfrm>
            <a:off x="4309618" y="763713"/>
            <a:ext cx="7772400" cy="4599053"/>
          </a:xfrm>
          <a:prstGeom prst="rect">
            <a:avLst/>
          </a:prstGeom>
        </p:spPr>
      </p:pic>
      <p:pic>
        <p:nvPicPr>
          <p:cNvPr id="9" name="Picture 8">
            <a:extLst>
              <a:ext uri="{FF2B5EF4-FFF2-40B4-BE49-F238E27FC236}">
                <a16:creationId xmlns:a16="http://schemas.microsoft.com/office/drawing/2014/main" id="{779525F0-1E7D-AD9F-4A54-B521E0427F74}"/>
              </a:ext>
            </a:extLst>
          </p:cNvPr>
          <p:cNvPicPr>
            <a:picLocks noChangeAspect="1"/>
          </p:cNvPicPr>
          <p:nvPr/>
        </p:nvPicPr>
        <p:blipFill>
          <a:blip r:embed="rId3"/>
          <a:stretch>
            <a:fillRect/>
          </a:stretch>
        </p:blipFill>
        <p:spPr>
          <a:xfrm>
            <a:off x="109982" y="5415718"/>
            <a:ext cx="7772400" cy="819601"/>
          </a:xfrm>
          <a:prstGeom prst="rect">
            <a:avLst/>
          </a:prstGeom>
        </p:spPr>
      </p:pic>
    </p:spTree>
    <p:extLst>
      <p:ext uri="{BB962C8B-B14F-4D97-AF65-F5344CB8AC3E}">
        <p14:creationId xmlns:p14="http://schemas.microsoft.com/office/powerpoint/2010/main" val="2783061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03841-C258-F1B0-D8B7-EBB109FBE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4EAB0-C46D-1BB8-F4AC-0A7B1760D262}"/>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C35E064A-F4A6-5886-2FD0-7D1626145A37}"/>
              </a:ext>
            </a:extLst>
          </p:cNvPr>
          <p:cNvSpPr>
            <a:spLocks noGrp="1"/>
          </p:cNvSpPr>
          <p:nvPr>
            <p:ph idx="1"/>
          </p:nvPr>
        </p:nvSpPr>
        <p:spPr>
          <a:xfrm>
            <a:off x="109982" y="1032481"/>
            <a:ext cx="4055618" cy="5231159"/>
          </a:xfrm>
        </p:spPr>
        <p:txBody>
          <a:bodyPr>
            <a:normAutofit/>
          </a:bodyPr>
          <a:lstStyle/>
          <a:p>
            <a:pPr marL="57150" indent="0">
              <a:buNone/>
            </a:pPr>
            <a:r>
              <a:rPr lang="en-US" sz="2000" dirty="0"/>
              <a:t>Add using the mean and sigma for that fit, I have extracted the </a:t>
            </a:r>
            <a:r>
              <a:rPr lang="en-US" sz="2000" dirty="0" err="1"/>
              <a:t>CuSn</a:t>
            </a:r>
            <a:r>
              <a:rPr lang="en-US" sz="2000" dirty="0"/>
              <a:t> contamination for electrons:</a:t>
            </a:r>
          </a:p>
          <a:p>
            <a:pPr marL="57150" indent="0">
              <a:buNone/>
            </a:pPr>
            <a:endParaRPr lang="en-US" sz="2000" dirty="0"/>
          </a:p>
          <a:p>
            <a:pPr marL="57150" indent="0">
              <a:buNone/>
            </a:pPr>
            <a:r>
              <a:rPr lang="en-US" sz="2000" dirty="0"/>
              <a:t>For each target peak we define a ±3σ window from its Voigt fit. Contamination is the fraction of counts in that window coming from the other target, estimated from truth-labelled MC integrated in the same window.</a:t>
            </a:r>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12E1846C-ECA3-2D3F-4E48-434DA1060ED7}"/>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AA4D8757-1EE5-84DE-85EE-502DBE5B717D}"/>
              </a:ext>
            </a:extLst>
          </p:cNvPr>
          <p:cNvSpPr>
            <a:spLocks noGrp="1"/>
          </p:cNvSpPr>
          <p:nvPr>
            <p:ph type="sldNum" sz="quarter" idx="12"/>
          </p:nvPr>
        </p:nvSpPr>
        <p:spPr/>
        <p:txBody>
          <a:bodyPr/>
          <a:lstStyle/>
          <a:p>
            <a:fld id="{C5EF2332-01BF-834F-8236-50238282D533}" type="slidenum">
              <a:rPr lang="en-US" smtClean="0"/>
              <a:t>8</a:t>
            </a:fld>
            <a:endParaRPr lang="en-US"/>
          </a:p>
        </p:txBody>
      </p:sp>
      <p:sp>
        <p:nvSpPr>
          <p:cNvPr id="5" name="Footer Placeholder 4">
            <a:extLst>
              <a:ext uri="{FF2B5EF4-FFF2-40B4-BE49-F238E27FC236}">
                <a16:creationId xmlns:a16="http://schemas.microsoft.com/office/drawing/2014/main" id="{F6D6969C-2075-E3F9-237A-ECDF94444E35}"/>
              </a:ext>
            </a:extLst>
          </p:cNvPr>
          <p:cNvSpPr>
            <a:spLocks noGrp="1"/>
          </p:cNvSpPr>
          <p:nvPr>
            <p:ph type="ftr" sz="quarter" idx="11"/>
          </p:nvPr>
        </p:nvSpPr>
        <p:spPr/>
        <p:txBody>
          <a:bodyPr/>
          <a:lstStyle/>
          <a:p>
            <a:r>
              <a:rPr lang="en-US" dirty="0"/>
              <a:t>Group meeting</a:t>
            </a:r>
          </a:p>
        </p:txBody>
      </p:sp>
      <p:pic>
        <p:nvPicPr>
          <p:cNvPr id="9" name="Picture 8">
            <a:extLst>
              <a:ext uri="{FF2B5EF4-FFF2-40B4-BE49-F238E27FC236}">
                <a16:creationId xmlns:a16="http://schemas.microsoft.com/office/drawing/2014/main" id="{B3C48ADB-D4D8-8F8D-AF89-AD996FD32774}"/>
              </a:ext>
            </a:extLst>
          </p:cNvPr>
          <p:cNvPicPr>
            <a:picLocks noChangeAspect="1"/>
          </p:cNvPicPr>
          <p:nvPr/>
        </p:nvPicPr>
        <p:blipFill>
          <a:blip r:embed="rId2"/>
          <a:stretch>
            <a:fillRect/>
          </a:stretch>
        </p:blipFill>
        <p:spPr>
          <a:xfrm>
            <a:off x="109982" y="5415718"/>
            <a:ext cx="7772400" cy="819601"/>
          </a:xfrm>
          <a:prstGeom prst="rect">
            <a:avLst/>
          </a:prstGeom>
        </p:spPr>
      </p:pic>
      <p:pic>
        <p:nvPicPr>
          <p:cNvPr id="8" name="Picture 7">
            <a:extLst>
              <a:ext uri="{FF2B5EF4-FFF2-40B4-BE49-F238E27FC236}">
                <a16:creationId xmlns:a16="http://schemas.microsoft.com/office/drawing/2014/main" id="{059E7DF4-5B8C-412E-A660-A190BACA1222}"/>
              </a:ext>
            </a:extLst>
          </p:cNvPr>
          <p:cNvPicPr>
            <a:picLocks noChangeAspect="1"/>
          </p:cNvPicPr>
          <p:nvPr/>
        </p:nvPicPr>
        <p:blipFill>
          <a:blip r:embed="rId3"/>
          <a:stretch>
            <a:fillRect/>
          </a:stretch>
        </p:blipFill>
        <p:spPr>
          <a:xfrm>
            <a:off x="4149652" y="720900"/>
            <a:ext cx="7932366" cy="4694818"/>
          </a:xfrm>
          <a:prstGeom prst="rect">
            <a:avLst/>
          </a:prstGeom>
        </p:spPr>
      </p:pic>
    </p:spTree>
    <p:extLst>
      <p:ext uri="{BB962C8B-B14F-4D97-AF65-F5344CB8AC3E}">
        <p14:creationId xmlns:p14="http://schemas.microsoft.com/office/powerpoint/2010/main" val="333470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DA68-B3C9-E47C-69C4-E7A6FE313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D1D4C-6B46-F9CA-07C3-E7D2364462D3}"/>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933104F7-8584-D8AE-A0F8-A06D3E04DEB0}"/>
              </a:ext>
            </a:extLst>
          </p:cNvPr>
          <p:cNvSpPr>
            <a:spLocks noGrp="1"/>
          </p:cNvSpPr>
          <p:nvPr>
            <p:ph idx="1"/>
          </p:nvPr>
        </p:nvSpPr>
        <p:spPr>
          <a:xfrm>
            <a:off x="109982" y="1032481"/>
            <a:ext cx="4055618" cy="5231159"/>
          </a:xfrm>
        </p:spPr>
        <p:txBody>
          <a:bodyPr>
            <a:normAutofit/>
          </a:bodyPr>
          <a:lstStyle/>
          <a:p>
            <a:pPr marL="57150" indent="0">
              <a:buNone/>
            </a:pPr>
            <a:r>
              <a:rPr lang="en-US" sz="2000" dirty="0"/>
              <a:t>Add using the mean and sigma for that fit, I have extracted the </a:t>
            </a:r>
            <a:r>
              <a:rPr lang="en-US" sz="2000" dirty="0" err="1"/>
              <a:t>CuSn</a:t>
            </a:r>
            <a:r>
              <a:rPr lang="en-US" sz="2000" dirty="0"/>
              <a:t> contamination for electrons:</a:t>
            </a:r>
          </a:p>
          <a:p>
            <a:pPr marL="57150" indent="0">
              <a:buNone/>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6632A198-915A-DAF2-8B7F-3378DB00D3C5}"/>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47B7E1CC-6B0C-B525-243F-BF3EB45B3EB1}"/>
              </a:ext>
            </a:extLst>
          </p:cNvPr>
          <p:cNvSpPr>
            <a:spLocks noGrp="1"/>
          </p:cNvSpPr>
          <p:nvPr>
            <p:ph type="sldNum" sz="quarter" idx="12"/>
          </p:nvPr>
        </p:nvSpPr>
        <p:spPr/>
        <p:txBody>
          <a:bodyPr/>
          <a:lstStyle/>
          <a:p>
            <a:fld id="{C5EF2332-01BF-834F-8236-50238282D533}" type="slidenum">
              <a:rPr lang="en-US" smtClean="0"/>
              <a:t>9</a:t>
            </a:fld>
            <a:endParaRPr lang="en-US"/>
          </a:p>
        </p:txBody>
      </p:sp>
      <p:sp>
        <p:nvSpPr>
          <p:cNvPr id="5" name="Footer Placeholder 4">
            <a:extLst>
              <a:ext uri="{FF2B5EF4-FFF2-40B4-BE49-F238E27FC236}">
                <a16:creationId xmlns:a16="http://schemas.microsoft.com/office/drawing/2014/main" id="{2C539691-866F-A876-8E48-A43AE82327D2}"/>
              </a:ext>
            </a:extLst>
          </p:cNvPr>
          <p:cNvSpPr>
            <a:spLocks noGrp="1"/>
          </p:cNvSpPr>
          <p:nvPr>
            <p:ph type="ftr" sz="quarter" idx="11"/>
          </p:nvPr>
        </p:nvSpPr>
        <p:spPr/>
        <p:txBody>
          <a:bodyPr/>
          <a:lstStyle/>
          <a:p>
            <a:r>
              <a:rPr lang="en-US" dirty="0"/>
              <a:t>Group meeting</a:t>
            </a:r>
          </a:p>
        </p:txBody>
      </p:sp>
      <p:pic>
        <p:nvPicPr>
          <p:cNvPr id="7" name="Picture 6">
            <a:extLst>
              <a:ext uri="{FF2B5EF4-FFF2-40B4-BE49-F238E27FC236}">
                <a16:creationId xmlns:a16="http://schemas.microsoft.com/office/drawing/2014/main" id="{EEC6CDFA-481B-B1F4-6142-A60D8697A576}"/>
              </a:ext>
            </a:extLst>
          </p:cNvPr>
          <p:cNvPicPr>
            <a:picLocks noChangeAspect="1"/>
          </p:cNvPicPr>
          <p:nvPr/>
        </p:nvPicPr>
        <p:blipFill>
          <a:blip r:embed="rId2"/>
          <a:stretch>
            <a:fillRect/>
          </a:stretch>
        </p:blipFill>
        <p:spPr>
          <a:xfrm>
            <a:off x="223520" y="2753360"/>
            <a:ext cx="2159000" cy="1625600"/>
          </a:xfrm>
          <a:prstGeom prst="rect">
            <a:avLst/>
          </a:prstGeom>
        </p:spPr>
      </p:pic>
      <p:pic>
        <p:nvPicPr>
          <p:cNvPr id="10" name="Picture 9">
            <a:extLst>
              <a:ext uri="{FF2B5EF4-FFF2-40B4-BE49-F238E27FC236}">
                <a16:creationId xmlns:a16="http://schemas.microsoft.com/office/drawing/2014/main" id="{57C81C97-0623-B894-B8E7-8CC67BCBE000}"/>
              </a:ext>
            </a:extLst>
          </p:cNvPr>
          <p:cNvPicPr>
            <a:picLocks noChangeAspect="1"/>
          </p:cNvPicPr>
          <p:nvPr/>
        </p:nvPicPr>
        <p:blipFill>
          <a:blip r:embed="rId3"/>
          <a:stretch>
            <a:fillRect/>
          </a:stretch>
        </p:blipFill>
        <p:spPr>
          <a:xfrm>
            <a:off x="541020" y="2435860"/>
            <a:ext cx="1524000" cy="317500"/>
          </a:xfrm>
          <a:prstGeom prst="rect">
            <a:avLst/>
          </a:prstGeom>
        </p:spPr>
      </p:pic>
      <p:pic>
        <p:nvPicPr>
          <p:cNvPr id="11" name="Picture 10">
            <a:extLst>
              <a:ext uri="{FF2B5EF4-FFF2-40B4-BE49-F238E27FC236}">
                <a16:creationId xmlns:a16="http://schemas.microsoft.com/office/drawing/2014/main" id="{31993A17-AC50-70CE-AAB3-707525790563}"/>
              </a:ext>
            </a:extLst>
          </p:cNvPr>
          <p:cNvPicPr>
            <a:picLocks noChangeAspect="1"/>
          </p:cNvPicPr>
          <p:nvPr/>
        </p:nvPicPr>
        <p:blipFill>
          <a:blip r:embed="rId4"/>
          <a:stretch>
            <a:fillRect/>
          </a:stretch>
        </p:blipFill>
        <p:spPr>
          <a:xfrm>
            <a:off x="3219450" y="2435860"/>
            <a:ext cx="1485900" cy="304800"/>
          </a:xfrm>
          <a:prstGeom prst="rect">
            <a:avLst/>
          </a:prstGeom>
        </p:spPr>
      </p:pic>
      <p:pic>
        <p:nvPicPr>
          <p:cNvPr id="12" name="Picture 11">
            <a:extLst>
              <a:ext uri="{FF2B5EF4-FFF2-40B4-BE49-F238E27FC236}">
                <a16:creationId xmlns:a16="http://schemas.microsoft.com/office/drawing/2014/main" id="{B700D983-305A-DF4E-967D-320F02AC08D3}"/>
              </a:ext>
            </a:extLst>
          </p:cNvPr>
          <p:cNvPicPr>
            <a:picLocks noChangeAspect="1"/>
          </p:cNvPicPr>
          <p:nvPr/>
        </p:nvPicPr>
        <p:blipFill>
          <a:blip r:embed="rId5"/>
          <a:stretch>
            <a:fillRect/>
          </a:stretch>
        </p:blipFill>
        <p:spPr>
          <a:xfrm>
            <a:off x="2870200" y="2753360"/>
            <a:ext cx="2184400" cy="1625600"/>
          </a:xfrm>
          <a:prstGeom prst="rect">
            <a:avLst/>
          </a:prstGeom>
        </p:spPr>
      </p:pic>
    </p:spTree>
    <p:extLst>
      <p:ext uri="{BB962C8B-B14F-4D97-AF65-F5344CB8AC3E}">
        <p14:creationId xmlns:p14="http://schemas.microsoft.com/office/powerpoint/2010/main" val="238146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F8AE-B862-66E8-7EC3-0E8820A16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9140A-976F-74BF-04B8-FD5903D0DB1D}"/>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A2EFE859-C1A2-982D-1E7E-1A535ECC0709}"/>
              </a:ext>
            </a:extLst>
          </p:cNvPr>
          <p:cNvSpPr>
            <a:spLocks noGrp="1"/>
          </p:cNvSpPr>
          <p:nvPr>
            <p:ph idx="1"/>
          </p:nvPr>
        </p:nvSpPr>
        <p:spPr>
          <a:xfrm>
            <a:off x="109982" y="1032481"/>
            <a:ext cx="4055618" cy="5231159"/>
          </a:xfrm>
        </p:spPr>
        <p:txBody>
          <a:bodyPr>
            <a:normAutofit/>
          </a:bodyPr>
          <a:lstStyle/>
          <a:p>
            <a:pPr marL="57150" indent="0">
              <a:buNone/>
            </a:pPr>
            <a:r>
              <a:rPr lang="en-US" sz="2000" dirty="0"/>
              <a:t>Can try to do the same for </a:t>
            </a:r>
            <a:r>
              <a:rPr lang="en-US" sz="2000" dirty="0" err="1"/>
              <a:t>pions</a:t>
            </a:r>
            <a:r>
              <a:rPr lang="en-US" sz="2000" dirty="0"/>
              <a:t>:</a:t>
            </a:r>
          </a:p>
          <a:p>
            <a:pPr marL="57150" indent="0">
              <a:buNone/>
            </a:pPr>
            <a:endParaRPr lang="en-US" sz="2000" dirty="0"/>
          </a:p>
          <a:p>
            <a:pPr marL="57150" indent="0">
              <a:buNone/>
            </a:pPr>
            <a:r>
              <a:rPr lang="en-US" sz="2000" dirty="0"/>
              <a:t>To different but can still extract something</a:t>
            </a:r>
          </a:p>
          <a:p>
            <a:pPr marL="57150" indent="0">
              <a:buNone/>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5E1D350F-25A5-4E48-8795-317658589BBF}"/>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2C7CE47C-92FA-0AB2-2A65-B5124CF4558A}"/>
              </a:ext>
            </a:extLst>
          </p:cNvPr>
          <p:cNvSpPr>
            <a:spLocks noGrp="1"/>
          </p:cNvSpPr>
          <p:nvPr>
            <p:ph type="sldNum" sz="quarter" idx="12"/>
          </p:nvPr>
        </p:nvSpPr>
        <p:spPr/>
        <p:txBody>
          <a:bodyPr/>
          <a:lstStyle/>
          <a:p>
            <a:fld id="{C5EF2332-01BF-834F-8236-50238282D533}" type="slidenum">
              <a:rPr lang="en-US" smtClean="0"/>
              <a:t>10</a:t>
            </a:fld>
            <a:endParaRPr lang="en-US"/>
          </a:p>
        </p:txBody>
      </p:sp>
      <p:sp>
        <p:nvSpPr>
          <p:cNvPr id="5" name="Footer Placeholder 4">
            <a:extLst>
              <a:ext uri="{FF2B5EF4-FFF2-40B4-BE49-F238E27FC236}">
                <a16:creationId xmlns:a16="http://schemas.microsoft.com/office/drawing/2014/main" id="{41240741-CBD8-4BC4-BF2B-504D2F0869B0}"/>
              </a:ext>
            </a:extLst>
          </p:cNvPr>
          <p:cNvSpPr>
            <a:spLocks noGrp="1"/>
          </p:cNvSpPr>
          <p:nvPr>
            <p:ph type="ftr" sz="quarter" idx="11"/>
          </p:nvPr>
        </p:nvSpPr>
        <p:spPr/>
        <p:txBody>
          <a:bodyPr/>
          <a:lstStyle/>
          <a:p>
            <a:r>
              <a:rPr lang="en-US" dirty="0"/>
              <a:t>Group meeting</a:t>
            </a:r>
          </a:p>
        </p:txBody>
      </p:sp>
      <p:pic>
        <p:nvPicPr>
          <p:cNvPr id="8" name="Picture 7">
            <a:extLst>
              <a:ext uri="{FF2B5EF4-FFF2-40B4-BE49-F238E27FC236}">
                <a16:creationId xmlns:a16="http://schemas.microsoft.com/office/drawing/2014/main" id="{6C911942-FDF1-82B5-FCF3-CA77F2F5B004}"/>
              </a:ext>
            </a:extLst>
          </p:cNvPr>
          <p:cNvPicPr>
            <a:picLocks noChangeAspect="1"/>
          </p:cNvPicPr>
          <p:nvPr/>
        </p:nvPicPr>
        <p:blipFill>
          <a:blip r:embed="rId2"/>
          <a:stretch>
            <a:fillRect/>
          </a:stretch>
        </p:blipFill>
        <p:spPr>
          <a:xfrm>
            <a:off x="4165600" y="1032481"/>
            <a:ext cx="7772400" cy="4597135"/>
          </a:xfrm>
          <a:prstGeom prst="rect">
            <a:avLst/>
          </a:prstGeom>
        </p:spPr>
      </p:pic>
    </p:spTree>
    <p:extLst>
      <p:ext uri="{BB962C8B-B14F-4D97-AF65-F5344CB8AC3E}">
        <p14:creationId xmlns:p14="http://schemas.microsoft.com/office/powerpoint/2010/main" val="2856236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FF10-2B3D-0088-936E-C355BACE2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4EBB3-B319-D13B-47DF-949FEEA9FDF7}"/>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4886680E-77C4-0CD0-515F-BFD2C13057E0}"/>
              </a:ext>
            </a:extLst>
          </p:cNvPr>
          <p:cNvSpPr>
            <a:spLocks noGrp="1"/>
          </p:cNvSpPr>
          <p:nvPr>
            <p:ph idx="1"/>
          </p:nvPr>
        </p:nvSpPr>
        <p:spPr>
          <a:xfrm>
            <a:off x="109982" y="1032481"/>
            <a:ext cx="4187698" cy="5231159"/>
          </a:xfrm>
        </p:spPr>
        <p:txBody>
          <a:bodyPr>
            <a:normAutofit/>
          </a:bodyPr>
          <a:lstStyle/>
          <a:p>
            <a:pPr marL="57150" indent="0">
              <a:buNone/>
            </a:pPr>
            <a:r>
              <a:rPr lang="en-US" sz="2000" dirty="0"/>
              <a:t>Can try to do the same for </a:t>
            </a:r>
            <a:r>
              <a:rPr lang="en-US" sz="2000" dirty="0" err="1"/>
              <a:t>pions</a:t>
            </a:r>
            <a:r>
              <a:rPr lang="en-US" sz="2000" dirty="0"/>
              <a:t>:</a:t>
            </a:r>
          </a:p>
          <a:p>
            <a:pPr marL="57150" indent="0">
              <a:buNone/>
            </a:pPr>
            <a:endParaRPr lang="en-US" sz="2000" dirty="0"/>
          </a:p>
          <a:p>
            <a:pPr marL="57150" indent="0">
              <a:buNone/>
            </a:pPr>
            <a:r>
              <a:rPr lang="en-US" sz="2000" dirty="0"/>
              <a:t>To different but can still extract something</a:t>
            </a:r>
          </a:p>
          <a:p>
            <a:pPr marL="57150" indent="0">
              <a:buNone/>
            </a:pPr>
            <a:endParaRPr lang="en-US" sz="2000" dirty="0"/>
          </a:p>
          <a:p>
            <a:pPr marL="57150" indent="0">
              <a:buNone/>
            </a:pPr>
            <a:r>
              <a:rPr lang="en-US" sz="2000" dirty="0"/>
              <a:t>I need to regenerate the reconstruction files with the -3 cm solenoid shift </a:t>
            </a:r>
          </a:p>
          <a:p>
            <a:pPr marL="57150" indent="0">
              <a:buNone/>
            </a:pPr>
            <a:endParaRPr lang="en-US" sz="2000" dirty="0"/>
          </a:p>
          <a:p>
            <a:pPr marL="57150" indent="0">
              <a:buNone/>
            </a:pP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62764365-B2CC-ACAC-B6CB-E63185835954}"/>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BF0E4B8F-1F1A-056B-1648-6B05C502DE15}"/>
              </a:ext>
            </a:extLst>
          </p:cNvPr>
          <p:cNvSpPr>
            <a:spLocks noGrp="1"/>
          </p:cNvSpPr>
          <p:nvPr>
            <p:ph type="sldNum" sz="quarter" idx="12"/>
          </p:nvPr>
        </p:nvSpPr>
        <p:spPr/>
        <p:txBody>
          <a:bodyPr/>
          <a:lstStyle/>
          <a:p>
            <a:fld id="{C5EF2332-01BF-834F-8236-50238282D533}" type="slidenum">
              <a:rPr lang="en-US" smtClean="0"/>
              <a:t>11</a:t>
            </a:fld>
            <a:endParaRPr lang="en-US"/>
          </a:p>
        </p:txBody>
      </p:sp>
      <p:sp>
        <p:nvSpPr>
          <p:cNvPr id="5" name="Footer Placeholder 4">
            <a:extLst>
              <a:ext uri="{FF2B5EF4-FFF2-40B4-BE49-F238E27FC236}">
                <a16:creationId xmlns:a16="http://schemas.microsoft.com/office/drawing/2014/main" id="{6E34BDFA-EAE1-CFEF-D042-C9619AD7D8A0}"/>
              </a:ext>
            </a:extLst>
          </p:cNvPr>
          <p:cNvSpPr>
            <a:spLocks noGrp="1"/>
          </p:cNvSpPr>
          <p:nvPr>
            <p:ph type="ftr" sz="quarter" idx="11"/>
          </p:nvPr>
        </p:nvSpPr>
        <p:spPr/>
        <p:txBody>
          <a:bodyPr/>
          <a:lstStyle/>
          <a:p>
            <a:r>
              <a:rPr lang="en-US" dirty="0"/>
              <a:t>Group meeting</a:t>
            </a:r>
          </a:p>
        </p:txBody>
      </p:sp>
      <p:pic>
        <p:nvPicPr>
          <p:cNvPr id="7" name="Picture 6">
            <a:extLst>
              <a:ext uri="{FF2B5EF4-FFF2-40B4-BE49-F238E27FC236}">
                <a16:creationId xmlns:a16="http://schemas.microsoft.com/office/drawing/2014/main" id="{6F332A60-B8EC-84C1-4107-BEE41EBC0BAC}"/>
              </a:ext>
            </a:extLst>
          </p:cNvPr>
          <p:cNvPicPr>
            <a:picLocks noChangeAspect="1"/>
          </p:cNvPicPr>
          <p:nvPr/>
        </p:nvPicPr>
        <p:blipFill>
          <a:blip r:embed="rId2"/>
          <a:stretch>
            <a:fillRect/>
          </a:stretch>
        </p:blipFill>
        <p:spPr>
          <a:xfrm>
            <a:off x="4165600" y="843128"/>
            <a:ext cx="7957284" cy="4706488"/>
          </a:xfrm>
          <a:prstGeom prst="rect">
            <a:avLst/>
          </a:prstGeom>
        </p:spPr>
      </p:pic>
    </p:spTree>
    <p:extLst>
      <p:ext uri="{BB962C8B-B14F-4D97-AF65-F5344CB8AC3E}">
        <p14:creationId xmlns:p14="http://schemas.microsoft.com/office/powerpoint/2010/main" val="355115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4DCAF-68A6-BBB9-5E86-42A2E03E6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E911-E295-5D26-CE46-74D84D202C29}"/>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F2748CBB-C997-24BF-2E4E-DDA3ACAD4556}"/>
              </a:ext>
            </a:extLst>
          </p:cNvPr>
          <p:cNvSpPr>
            <a:spLocks noGrp="1"/>
          </p:cNvSpPr>
          <p:nvPr>
            <p:ph idx="1"/>
          </p:nvPr>
        </p:nvSpPr>
        <p:spPr>
          <a:xfrm>
            <a:off x="109982" y="1032481"/>
            <a:ext cx="4187698" cy="5231159"/>
          </a:xfrm>
        </p:spPr>
        <p:txBody>
          <a:bodyPr>
            <a:normAutofit/>
          </a:bodyPr>
          <a:lstStyle/>
          <a:p>
            <a:pPr marL="57150" indent="0">
              <a:buNone/>
            </a:pPr>
            <a:r>
              <a:rPr lang="en-US" sz="2000" dirty="0"/>
              <a:t>Can use just data and the fit:  </a:t>
            </a:r>
          </a:p>
          <a:p>
            <a:pPr marL="57150" indent="0">
              <a:buNone/>
            </a:pPr>
            <a:r>
              <a:rPr lang="en-US" sz="2000" dirty="0"/>
              <a:t>For each target peak we define a ±3σ window from its Voigt fit. Contamination is the fraction of counts in that window coming from the other target, estimated from the fitted Voigt of the wrong peak in the data</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5F3A7D67-A1C5-24F6-8C2B-9CD27611F0D7}"/>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A66D8388-075F-5943-335F-A6B543165EBB}"/>
              </a:ext>
            </a:extLst>
          </p:cNvPr>
          <p:cNvSpPr>
            <a:spLocks noGrp="1"/>
          </p:cNvSpPr>
          <p:nvPr>
            <p:ph type="sldNum" sz="quarter" idx="12"/>
          </p:nvPr>
        </p:nvSpPr>
        <p:spPr/>
        <p:txBody>
          <a:bodyPr/>
          <a:lstStyle/>
          <a:p>
            <a:fld id="{C5EF2332-01BF-834F-8236-50238282D533}" type="slidenum">
              <a:rPr lang="en-US" smtClean="0"/>
              <a:t>12</a:t>
            </a:fld>
            <a:endParaRPr lang="en-US"/>
          </a:p>
        </p:txBody>
      </p:sp>
      <p:sp>
        <p:nvSpPr>
          <p:cNvPr id="5" name="Footer Placeholder 4">
            <a:extLst>
              <a:ext uri="{FF2B5EF4-FFF2-40B4-BE49-F238E27FC236}">
                <a16:creationId xmlns:a16="http://schemas.microsoft.com/office/drawing/2014/main" id="{730A6F53-1398-D41C-91E7-BECA4F2F18E8}"/>
              </a:ext>
            </a:extLst>
          </p:cNvPr>
          <p:cNvSpPr>
            <a:spLocks noGrp="1"/>
          </p:cNvSpPr>
          <p:nvPr>
            <p:ph type="ftr" sz="quarter" idx="11"/>
          </p:nvPr>
        </p:nvSpPr>
        <p:spPr/>
        <p:txBody>
          <a:bodyPr/>
          <a:lstStyle/>
          <a:p>
            <a:r>
              <a:rPr lang="en-US" dirty="0"/>
              <a:t>Group meeting</a:t>
            </a:r>
          </a:p>
        </p:txBody>
      </p:sp>
      <p:pic>
        <p:nvPicPr>
          <p:cNvPr id="8" name="Picture 7">
            <a:extLst>
              <a:ext uri="{FF2B5EF4-FFF2-40B4-BE49-F238E27FC236}">
                <a16:creationId xmlns:a16="http://schemas.microsoft.com/office/drawing/2014/main" id="{19D5B533-B9E2-A0F9-6485-28E370ECBBB3}"/>
              </a:ext>
            </a:extLst>
          </p:cNvPr>
          <p:cNvPicPr>
            <a:picLocks noChangeAspect="1"/>
          </p:cNvPicPr>
          <p:nvPr/>
        </p:nvPicPr>
        <p:blipFill>
          <a:blip r:embed="rId2"/>
          <a:stretch>
            <a:fillRect/>
          </a:stretch>
        </p:blipFill>
        <p:spPr>
          <a:xfrm>
            <a:off x="4297680" y="1032481"/>
            <a:ext cx="7772400" cy="4611869"/>
          </a:xfrm>
          <a:prstGeom prst="rect">
            <a:avLst/>
          </a:prstGeom>
        </p:spPr>
      </p:pic>
    </p:spTree>
    <p:extLst>
      <p:ext uri="{BB962C8B-B14F-4D97-AF65-F5344CB8AC3E}">
        <p14:creationId xmlns:p14="http://schemas.microsoft.com/office/powerpoint/2010/main" val="3422772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1D8AD-39F5-6F31-D1AC-30AD1511B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B2C20-0D08-632D-D38A-5E08AE07D02A}"/>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97812920-7D05-050B-25DD-3135D465F27B}"/>
              </a:ext>
            </a:extLst>
          </p:cNvPr>
          <p:cNvSpPr>
            <a:spLocks noGrp="1"/>
          </p:cNvSpPr>
          <p:nvPr>
            <p:ph idx="1"/>
          </p:nvPr>
        </p:nvSpPr>
        <p:spPr>
          <a:xfrm>
            <a:off x="109982" y="1032481"/>
            <a:ext cx="5208778" cy="5231159"/>
          </a:xfrm>
        </p:spPr>
        <p:txBody>
          <a:bodyPr>
            <a:normAutofit/>
          </a:bodyPr>
          <a:lstStyle/>
          <a:p>
            <a:pPr marL="57150" indent="0">
              <a:buNone/>
            </a:pPr>
            <a:r>
              <a:rPr lang="en-US" sz="2000" dirty="0"/>
              <a:t>Can use just data and the fit:  </a:t>
            </a:r>
          </a:p>
          <a:p>
            <a:pPr marL="57150" indent="0">
              <a:buNone/>
            </a:pPr>
            <a:r>
              <a:rPr lang="en-US" sz="2000" dirty="0"/>
              <a:t>For each target peak we define a ±3σ window from its Voigt fit. Contamination is the fraction of counts in that window coming from the other target, estimated from the fitted Voigt of the wrong peak in the data</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0B0D9A03-8502-7F85-6135-76285FD96B76}"/>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1BF60D74-CC5C-F3B0-7AAC-AE31895C3440}"/>
              </a:ext>
            </a:extLst>
          </p:cNvPr>
          <p:cNvSpPr>
            <a:spLocks noGrp="1"/>
          </p:cNvSpPr>
          <p:nvPr>
            <p:ph type="sldNum" sz="quarter" idx="12"/>
          </p:nvPr>
        </p:nvSpPr>
        <p:spPr/>
        <p:txBody>
          <a:bodyPr/>
          <a:lstStyle/>
          <a:p>
            <a:fld id="{C5EF2332-01BF-834F-8236-50238282D533}" type="slidenum">
              <a:rPr lang="en-US" smtClean="0"/>
              <a:t>13</a:t>
            </a:fld>
            <a:endParaRPr lang="en-US"/>
          </a:p>
        </p:txBody>
      </p:sp>
      <p:sp>
        <p:nvSpPr>
          <p:cNvPr id="5" name="Footer Placeholder 4">
            <a:extLst>
              <a:ext uri="{FF2B5EF4-FFF2-40B4-BE49-F238E27FC236}">
                <a16:creationId xmlns:a16="http://schemas.microsoft.com/office/drawing/2014/main" id="{4AC456E1-6773-FE6A-1F86-96AD6D290835}"/>
              </a:ext>
            </a:extLst>
          </p:cNvPr>
          <p:cNvSpPr>
            <a:spLocks noGrp="1"/>
          </p:cNvSpPr>
          <p:nvPr>
            <p:ph type="ftr" sz="quarter" idx="11"/>
          </p:nvPr>
        </p:nvSpPr>
        <p:spPr/>
        <p:txBody>
          <a:bodyPr/>
          <a:lstStyle/>
          <a:p>
            <a:r>
              <a:rPr lang="en-US" dirty="0"/>
              <a:t>Group meeting</a:t>
            </a:r>
          </a:p>
        </p:txBody>
      </p:sp>
      <p:pic>
        <p:nvPicPr>
          <p:cNvPr id="8" name="Picture 7">
            <a:extLst>
              <a:ext uri="{FF2B5EF4-FFF2-40B4-BE49-F238E27FC236}">
                <a16:creationId xmlns:a16="http://schemas.microsoft.com/office/drawing/2014/main" id="{A1A71EB7-0301-4219-3714-91413833C86C}"/>
              </a:ext>
            </a:extLst>
          </p:cNvPr>
          <p:cNvPicPr>
            <a:picLocks noChangeAspect="1"/>
          </p:cNvPicPr>
          <p:nvPr/>
        </p:nvPicPr>
        <p:blipFill>
          <a:blip r:embed="rId2"/>
          <a:stretch>
            <a:fillRect/>
          </a:stretch>
        </p:blipFill>
        <p:spPr>
          <a:xfrm>
            <a:off x="5509260" y="0"/>
            <a:ext cx="5753100" cy="3413687"/>
          </a:xfrm>
          <a:prstGeom prst="rect">
            <a:avLst/>
          </a:prstGeom>
        </p:spPr>
      </p:pic>
      <p:pic>
        <p:nvPicPr>
          <p:cNvPr id="7" name="Picture 6">
            <a:extLst>
              <a:ext uri="{FF2B5EF4-FFF2-40B4-BE49-F238E27FC236}">
                <a16:creationId xmlns:a16="http://schemas.microsoft.com/office/drawing/2014/main" id="{21858985-E625-BC59-283D-68203C2A31E8}"/>
              </a:ext>
            </a:extLst>
          </p:cNvPr>
          <p:cNvPicPr>
            <a:picLocks noChangeAspect="1"/>
          </p:cNvPicPr>
          <p:nvPr/>
        </p:nvPicPr>
        <p:blipFill>
          <a:blip r:embed="rId3"/>
          <a:stretch>
            <a:fillRect/>
          </a:stretch>
        </p:blipFill>
        <p:spPr>
          <a:xfrm>
            <a:off x="5509260" y="3413687"/>
            <a:ext cx="5753100" cy="3380014"/>
          </a:xfrm>
          <a:prstGeom prst="rect">
            <a:avLst/>
          </a:prstGeom>
        </p:spPr>
      </p:pic>
    </p:spTree>
    <p:extLst>
      <p:ext uri="{BB962C8B-B14F-4D97-AF65-F5344CB8AC3E}">
        <p14:creationId xmlns:p14="http://schemas.microsoft.com/office/powerpoint/2010/main" val="2547848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1223E-0711-13A1-9D64-FCD0164DB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ADA88-35E0-17FA-D849-07A1FFFB2464}"/>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3D564F6C-9097-B2A5-A0BC-A0BE6F968878}"/>
              </a:ext>
            </a:extLst>
          </p:cNvPr>
          <p:cNvSpPr>
            <a:spLocks noGrp="1"/>
          </p:cNvSpPr>
          <p:nvPr>
            <p:ph idx="1"/>
          </p:nvPr>
        </p:nvSpPr>
        <p:spPr>
          <a:xfrm>
            <a:off x="109982" y="1032481"/>
            <a:ext cx="5208778" cy="5231159"/>
          </a:xfrm>
        </p:spPr>
        <p:txBody>
          <a:bodyPr>
            <a:normAutofit/>
          </a:bodyPr>
          <a:lstStyle/>
          <a:p>
            <a:pPr marL="57150" indent="0">
              <a:buNone/>
            </a:pPr>
            <a:r>
              <a:rPr lang="en-US" sz="2000" dirty="0"/>
              <a:t>Can use just data and the fit:  </a:t>
            </a:r>
          </a:p>
          <a:p>
            <a:pPr marL="57150" indent="0">
              <a:buNone/>
            </a:pPr>
            <a:r>
              <a:rPr lang="en-US" sz="2000" dirty="0"/>
              <a:t>For each target peak we define a ±3σ window from its Voigt fit. Contamination is the fraction of counts in that window coming from the other target, estimated from the fitted Voigt of the wrong peak in the data</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2E500C76-6EB9-852F-9DF0-41D2AD1899B4}"/>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F9E75478-1D12-BA63-9BDE-79DF2E80758F}"/>
              </a:ext>
            </a:extLst>
          </p:cNvPr>
          <p:cNvSpPr>
            <a:spLocks noGrp="1"/>
          </p:cNvSpPr>
          <p:nvPr>
            <p:ph type="sldNum" sz="quarter" idx="12"/>
          </p:nvPr>
        </p:nvSpPr>
        <p:spPr/>
        <p:txBody>
          <a:bodyPr/>
          <a:lstStyle/>
          <a:p>
            <a:fld id="{C5EF2332-01BF-834F-8236-50238282D533}" type="slidenum">
              <a:rPr lang="en-US" smtClean="0"/>
              <a:t>14</a:t>
            </a:fld>
            <a:endParaRPr lang="en-US"/>
          </a:p>
        </p:txBody>
      </p:sp>
      <p:sp>
        <p:nvSpPr>
          <p:cNvPr id="5" name="Footer Placeholder 4">
            <a:extLst>
              <a:ext uri="{FF2B5EF4-FFF2-40B4-BE49-F238E27FC236}">
                <a16:creationId xmlns:a16="http://schemas.microsoft.com/office/drawing/2014/main" id="{99BEF921-25B9-CD69-1CBA-632C7E39B04A}"/>
              </a:ext>
            </a:extLst>
          </p:cNvPr>
          <p:cNvSpPr>
            <a:spLocks noGrp="1"/>
          </p:cNvSpPr>
          <p:nvPr>
            <p:ph type="ftr" sz="quarter" idx="11"/>
          </p:nvPr>
        </p:nvSpPr>
        <p:spPr/>
        <p:txBody>
          <a:bodyPr/>
          <a:lstStyle/>
          <a:p>
            <a:r>
              <a:rPr lang="en-US" dirty="0"/>
              <a:t>Group meeting</a:t>
            </a:r>
          </a:p>
        </p:txBody>
      </p:sp>
      <p:pic>
        <p:nvPicPr>
          <p:cNvPr id="9" name="Picture 8">
            <a:extLst>
              <a:ext uri="{FF2B5EF4-FFF2-40B4-BE49-F238E27FC236}">
                <a16:creationId xmlns:a16="http://schemas.microsoft.com/office/drawing/2014/main" id="{914009AE-6610-DD1F-F902-02225659036D}"/>
              </a:ext>
            </a:extLst>
          </p:cNvPr>
          <p:cNvPicPr>
            <a:picLocks noChangeAspect="1"/>
          </p:cNvPicPr>
          <p:nvPr/>
        </p:nvPicPr>
        <p:blipFill>
          <a:blip r:embed="rId2"/>
          <a:stretch>
            <a:fillRect/>
          </a:stretch>
        </p:blipFill>
        <p:spPr>
          <a:xfrm>
            <a:off x="6096000" y="1"/>
            <a:ext cx="6096000" cy="3611374"/>
          </a:xfrm>
          <a:prstGeom prst="rect">
            <a:avLst/>
          </a:prstGeom>
        </p:spPr>
      </p:pic>
      <p:pic>
        <p:nvPicPr>
          <p:cNvPr id="10" name="Picture 9">
            <a:extLst>
              <a:ext uri="{FF2B5EF4-FFF2-40B4-BE49-F238E27FC236}">
                <a16:creationId xmlns:a16="http://schemas.microsoft.com/office/drawing/2014/main" id="{AFA5DFFF-E625-07DC-BF69-445437A96D06}"/>
              </a:ext>
            </a:extLst>
          </p:cNvPr>
          <p:cNvPicPr>
            <a:picLocks noChangeAspect="1"/>
          </p:cNvPicPr>
          <p:nvPr/>
        </p:nvPicPr>
        <p:blipFill>
          <a:blip r:embed="rId3"/>
          <a:stretch>
            <a:fillRect/>
          </a:stretch>
        </p:blipFill>
        <p:spPr>
          <a:xfrm>
            <a:off x="6096000" y="3259227"/>
            <a:ext cx="6096000" cy="3598773"/>
          </a:xfrm>
          <a:prstGeom prst="rect">
            <a:avLst/>
          </a:prstGeom>
        </p:spPr>
      </p:pic>
    </p:spTree>
    <p:extLst>
      <p:ext uri="{BB962C8B-B14F-4D97-AF65-F5344CB8AC3E}">
        <p14:creationId xmlns:p14="http://schemas.microsoft.com/office/powerpoint/2010/main" val="3449815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32E0-623F-DA43-4124-95EBB692E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75616-90CB-E3A4-1561-36E2E7BE2337}"/>
              </a:ext>
            </a:extLst>
          </p:cNvPr>
          <p:cNvSpPr>
            <a:spLocks noGrp="1"/>
          </p:cNvSpPr>
          <p:nvPr>
            <p:ph type="title"/>
          </p:nvPr>
        </p:nvSpPr>
        <p:spPr/>
        <p:txBody>
          <a:bodyPr/>
          <a:lstStyle/>
          <a:p>
            <a:r>
              <a:rPr lang="en-US" cap="small" dirty="0"/>
              <a:t>RG-D: </a:t>
            </a:r>
            <a:r>
              <a:rPr lang="en-US" cap="small" dirty="0" err="1"/>
              <a:t>CuSn</a:t>
            </a:r>
            <a:r>
              <a:rPr lang="en-US" cap="small" dirty="0"/>
              <a:t> contamination for </a:t>
            </a:r>
            <a:r>
              <a:rPr lang="en-US" dirty="0"/>
              <a:t>p</a:t>
            </a:r>
            <a:r>
              <a:rPr lang="en-US" cap="small" dirty="0"/>
              <a:t>ion </a:t>
            </a:r>
          </a:p>
        </p:txBody>
      </p:sp>
      <p:sp>
        <p:nvSpPr>
          <p:cNvPr id="3" name="Content Placeholder 2">
            <a:extLst>
              <a:ext uri="{FF2B5EF4-FFF2-40B4-BE49-F238E27FC236}">
                <a16:creationId xmlns:a16="http://schemas.microsoft.com/office/drawing/2014/main" id="{BDEC2609-2078-3BB7-E463-D26F9883B1B2}"/>
              </a:ext>
            </a:extLst>
          </p:cNvPr>
          <p:cNvSpPr>
            <a:spLocks noGrp="1"/>
          </p:cNvSpPr>
          <p:nvPr>
            <p:ph idx="1"/>
          </p:nvPr>
        </p:nvSpPr>
        <p:spPr>
          <a:xfrm>
            <a:off x="109982" y="1032481"/>
            <a:ext cx="11845798" cy="5231159"/>
          </a:xfrm>
        </p:spPr>
        <p:txBody>
          <a:bodyPr>
            <a:normAutofit/>
          </a:bodyPr>
          <a:lstStyle/>
          <a:p>
            <a:pPr marL="57150" indent="0">
              <a:buNone/>
            </a:pPr>
            <a:r>
              <a:rPr lang="en-US" sz="2000" dirty="0"/>
              <a:t>Can use just data and the fit:  </a:t>
            </a:r>
          </a:p>
          <a:p>
            <a:pPr marL="57150" indent="0">
              <a:buNone/>
            </a:pPr>
            <a:r>
              <a:rPr lang="en-US" sz="2000" dirty="0"/>
              <a:t>For each target peak we define a ±3σ window from its Voigt fit. Contamination is the fraction of counts in that window coming from the other target, estimated from the fitted Voigt of the wrong peak in the data</a:t>
            </a:r>
            <a:endParaRPr lang="en-US" sz="2000" dirty="0">
              <a:latin typeface="Fira Sans Light" panose="020B0403050000020004" pitchFamily="34" charset="0"/>
              <a:ea typeface="Fira Sans Light" panose="020B0403050000020004" pitchFamily="34" charset="0"/>
            </a:endParaRPr>
          </a:p>
          <a:p>
            <a:pPr marL="400050">
              <a:buFontTx/>
              <a:buChar char="-"/>
            </a:pPr>
            <a:endParaRPr lang="en-US" sz="20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3252DE02-B36A-59A9-E559-3B1660B3919F}"/>
              </a:ext>
            </a:extLst>
          </p:cNvPr>
          <p:cNvSpPr>
            <a:spLocks noGrp="1"/>
          </p:cNvSpPr>
          <p:nvPr>
            <p:ph type="dt" sz="half" idx="10"/>
          </p:nvPr>
        </p:nvSpPr>
        <p:spPr/>
        <p:txBody>
          <a:bodyPr/>
          <a:lstStyle/>
          <a:p>
            <a:r>
              <a:rPr lang="en-US"/>
              <a:t>06/09/26</a:t>
            </a:r>
            <a:endParaRPr lang="en-US" dirty="0"/>
          </a:p>
        </p:txBody>
      </p:sp>
      <p:sp>
        <p:nvSpPr>
          <p:cNvPr id="6" name="Slide Number Placeholder 5">
            <a:extLst>
              <a:ext uri="{FF2B5EF4-FFF2-40B4-BE49-F238E27FC236}">
                <a16:creationId xmlns:a16="http://schemas.microsoft.com/office/drawing/2014/main" id="{9DE6014D-CB2F-18FB-3E79-092683C750FA}"/>
              </a:ext>
            </a:extLst>
          </p:cNvPr>
          <p:cNvSpPr>
            <a:spLocks noGrp="1"/>
          </p:cNvSpPr>
          <p:nvPr>
            <p:ph type="sldNum" sz="quarter" idx="12"/>
          </p:nvPr>
        </p:nvSpPr>
        <p:spPr/>
        <p:txBody>
          <a:bodyPr/>
          <a:lstStyle/>
          <a:p>
            <a:fld id="{C5EF2332-01BF-834F-8236-50238282D533}" type="slidenum">
              <a:rPr lang="en-US" smtClean="0"/>
              <a:t>15</a:t>
            </a:fld>
            <a:endParaRPr lang="en-US"/>
          </a:p>
        </p:txBody>
      </p:sp>
      <p:sp>
        <p:nvSpPr>
          <p:cNvPr id="5" name="Footer Placeholder 4">
            <a:extLst>
              <a:ext uri="{FF2B5EF4-FFF2-40B4-BE49-F238E27FC236}">
                <a16:creationId xmlns:a16="http://schemas.microsoft.com/office/drawing/2014/main" id="{070F61A9-806B-7606-B297-3E0C13F9E3AC}"/>
              </a:ext>
            </a:extLst>
          </p:cNvPr>
          <p:cNvSpPr>
            <a:spLocks noGrp="1"/>
          </p:cNvSpPr>
          <p:nvPr>
            <p:ph type="ftr" sz="quarter" idx="11"/>
          </p:nvPr>
        </p:nvSpPr>
        <p:spPr/>
        <p:txBody>
          <a:bodyPr/>
          <a:lstStyle/>
          <a:p>
            <a:r>
              <a:rPr lang="en-US" dirty="0"/>
              <a:t>Group meeting</a:t>
            </a:r>
          </a:p>
        </p:txBody>
      </p:sp>
      <p:pic>
        <p:nvPicPr>
          <p:cNvPr id="7" name="Picture 6">
            <a:extLst>
              <a:ext uri="{FF2B5EF4-FFF2-40B4-BE49-F238E27FC236}">
                <a16:creationId xmlns:a16="http://schemas.microsoft.com/office/drawing/2014/main" id="{8EF4A8FA-165E-4B85-E789-47386D2B39C8}"/>
              </a:ext>
            </a:extLst>
          </p:cNvPr>
          <p:cNvPicPr>
            <a:picLocks noChangeAspect="1"/>
          </p:cNvPicPr>
          <p:nvPr/>
        </p:nvPicPr>
        <p:blipFill>
          <a:blip r:embed="rId2"/>
          <a:stretch>
            <a:fillRect/>
          </a:stretch>
        </p:blipFill>
        <p:spPr>
          <a:xfrm>
            <a:off x="523410" y="3260090"/>
            <a:ext cx="2247900" cy="1689100"/>
          </a:xfrm>
          <a:prstGeom prst="rect">
            <a:avLst/>
          </a:prstGeom>
        </p:spPr>
      </p:pic>
      <p:pic>
        <p:nvPicPr>
          <p:cNvPr id="8" name="Picture 7">
            <a:extLst>
              <a:ext uri="{FF2B5EF4-FFF2-40B4-BE49-F238E27FC236}">
                <a16:creationId xmlns:a16="http://schemas.microsoft.com/office/drawing/2014/main" id="{2524E39C-FB30-4958-9BBB-9C7B5E1F6490}"/>
              </a:ext>
            </a:extLst>
          </p:cNvPr>
          <p:cNvPicPr>
            <a:picLocks noChangeAspect="1"/>
          </p:cNvPicPr>
          <p:nvPr/>
        </p:nvPicPr>
        <p:blipFill>
          <a:blip r:embed="rId3"/>
          <a:stretch>
            <a:fillRect/>
          </a:stretch>
        </p:blipFill>
        <p:spPr>
          <a:xfrm>
            <a:off x="847260" y="2942590"/>
            <a:ext cx="1600200" cy="317500"/>
          </a:xfrm>
          <a:prstGeom prst="rect">
            <a:avLst/>
          </a:prstGeom>
        </p:spPr>
      </p:pic>
      <p:pic>
        <p:nvPicPr>
          <p:cNvPr id="11" name="Picture 10">
            <a:extLst>
              <a:ext uri="{FF2B5EF4-FFF2-40B4-BE49-F238E27FC236}">
                <a16:creationId xmlns:a16="http://schemas.microsoft.com/office/drawing/2014/main" id="{547EB1FF-4680-91C5-A1AF-1021EBA9CE22}"/>
              </a:ext>
            </a:extLst>
          </p:cNvPr>
          <p:cNvPicPr>
            <a:picLocks noChangeAspect="1"/>
          </p:cNvPicPr>
          <p:nvPr/>
        </p:nvPicPr>
        <p:blipFill>
          <a:blip r:embed="rId4"/>
          <a:stretch>
            <a:fillRect/>
          </a:stretch>
        </p:blipFill>
        <p:spPr>
          <a:xfrm>
            <a:off x="3313430" y="3267710"/>
            <a:ext cx="2197100" cy="1651000"/>
          </a:xfrm>
          <a:prstGeom prst="rect">
            <a:avLst/>
          </a:prstGeom>
        </p:spPr>
      </p:pic>
      <p:pic>
        <p:nvPicPr>
          <p:cNvPr id="12" name="Picture 11">
            <a:extLst>
              <a:ext uri="{FF2B5EF4-FFF2-40B4-BE49-F238E27FC236}">
                <a16:creationId xmlns:a16="http://schemas.microsoft.com/office/drawing/2014/main" id="{C6C43C95-57E1-013D-F3B2-931028326725}"/>
              </a:ext>
            </a:extLst>
          </p:cNvPr>
          <p:cNvPicPr>
            <a:picLocks noChangeAspect="1"/>
          </p:cNvPicPr>
          <p:nvPr/>
        </p:nvPicPr>
        <p:blipFill>
          <a:blip r:embed="rId5"/>
          <a:stretch>
            <a:fillRect/>
          </a:stretch>
        </p:blipFill>
        <p:spPr>
          <a:xfrm>
            <a:off x="3599180" y="2980690"/>
            <a:ext cx="1625600" cy="279400"/>
          </a:xfrm>
          <a:prstGeom prst="rect">
            <a:avLst/>
          </a:prstGeom>
        </p:spPr>
      </p:pic>
      <p:pic>
        <p:nvPicPr>
          <p:cNvPr id="13" name="Picture 12">
            <a:extLst>
              <a:ext uri="{FF2B5EF4-FFF2-40B4-BE49-F238E27FC236}">
                <a16:creationId xmlns:a16="http://schemas.microsoft.com/office/drawing/2014/main" id="{B85E56E3-B403-2D1F-42AA-587CF2BBA003}"/>
              </a:ext>
            </a:extLst>
          </p:cNvPr>
          <p:cNvPicPr>
            <a:picLocks noChangeAspect="1"/>
          </p:cNvPicPr>
          <p:nvPr/>
        </p:nvPicPr>
        <p:blipFill>
          <a:blip r:embed="rId6"/>
          <a:stretch>
            <a:fillRect/>
          </a:stretch>
        </p:blipFill>
        <p:spPr>
          <a:xfrm>
            <a:off x="6143562" y="3255010"/>
            <a:ext cx="2197100" cy="1663700"/>
          </a:xfrm>
          <a:prstGeom prst="rect">
            <a:avLst/>
          </a:prstGeom>
        </p:spPr>
      </p:pic>
      <p:pic>
        <p:nvPicPr>
          <p:cNvPr id="14" name="Picture 13">
            <a:extLst>
              <a:ext uri="{FF2B5EF4-FFF2-40B4-BE49-F238E27FC236}">
                <a16:creationId xmlns:a16="http://schemas.microsoft.com/office/drawing/2014/main" id="{63CD6E71-20D5-0813-9202-67023C1B9907}"/>
              </a:ext>
            </a:extLst>
          </p:cNvPr>
          <p:cNvPicPr>
            <a:picLocks noChangeAspect="1"/>
          </p:cNvPicPr>
          <p:nvPr/>
        </p:nvPicPr>
        <p:blipFill>
          <a:blip r:embed="rId7"/>
          <a:stretch>
            <a:fillRect/>
          </a:stretch>
        </p:blipFill>
        <p:spPr>
          <a:xfrm>
            <a:off x="6543421" y="2957830"/>
            <a:ext cx="1473200" cy="317500"/>
          </a:xfrm>
          <a:prstGeom prst="rect">
            <a:avLst/>
          </a:prstGeom>
        </p:spPr>
      </p:pic>
      <p:pic>
        <p:nvPicPr>
          <p:cNvPr id="15" name="Picture 14">
            <a:extLst>
              <a:ext uri="{FF2B5EF4-FFF2-40B4-BE49-F238E27FC236}">
                <a16:creationId xmlns:a16="http://schemas.microsoft.com/office/drawing/2014/main" id="{1E76E671-F7AF-D5CB-3183-FEF6166229E6}"/>
              </a:ext>
            </a:extLst>
          </p:cNvPr>
          <p:cNvPicPr>
            <a:picLocks noChangeAspect="1"/>
          </p:cNvPicPr>
          <p:nvPr/>
        </p:nvPicPr>
        <p:blipFill>
          <a:blip r:embed="rId8"/>
          <a:stretch>
            <a:fillRect/>
          </a:stretch>
        </p:blipFill>
        <p:spPr>
          <a:xfrm>
            <a:off x="9112165" y="3275330"/>
            <a:ext cx="2171700" cy="1600200"/>
          </a:xfrm>
          <a:prstGeom prst="rect">
            <a:avLst/>
          </a:prstGeom>
        </p:spPr>
      </p:pic>
      <p:pic>
        <p:nvPicPr>
          <p:cNvPr id="16" name="Picture 15">
            <a:extLst>
              <a:ext uri="{FF2B5EF4-FFF2-40B4-BE49-F238E27FC236}">
                <a16:creationId xmlns:a16="http://schemas.microsoft.com/office/drawing/2014/main" id="{87DDE9FC-1571-5643-5007-1CD783103D3F}"/>
              </a:ext>
            </a:extLst>
          </p:cNvPr>
          <p:cNvPicPr>
            <a:picLocks noChangeAspect="1"/>
          </p:cNvPicPr>
          <p:nvPr/>
        </p:nvPicPr>
        <p:blipFill>
          <a:blip r:embed="rId9"/>
          <a:stretch>
            <a:fillRect/>
          </a:stretch>
        </p:blipFill>
        <p:spPr>
          <a:xfrm>
            <a:off x="9442365" y="2886090"/>
            <a:ext cx="1511300" cy="330200"/>
          </a:xfrm>
          <a:prstGeom prst="rect">
            <a:avLst/>
          </a:prstGeom>
        </p:spPr>
      </p:pic>
    </p:spTree>
    <p:extLst>
      <p:ext uri="{BB962C8B-B14F-4D97-AF65-F5344CB8AC3E}">
        <p14:creationId xmlns:p14="http://schemas.microsoft.com/office/powerpoint/2010/main" val="1375939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918C-8E33-AB3E-FB61-C8BF59A119D9}"/>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7CD6AF30-153A-934B-0F6E-1BDDA9E17D28}"/>
              </a:ext>
            </a:extLst>
          </p:cNvPr>
          <p:cNvSpPr>
            <a:spLocks noGrp="1"/>
          </p:cNvSpPr>
          <p:nvPr>
            <p:ph idx="1"/>
          </p:nvPr>
        </p:nvSpPr>
        <p:spPr>
          <a:xfrm>
            <a:off x="109982" y="1032481"/>
            <a:ext cx="3981958" cy="5087667"/>
          </a:xfrm>
        </p:spPr>
        <p:txBody>
          <a:bodyPr>
            <a:normAutofit/>
          </a:bodyPr>
          <a:lstStyle/>
          <a:p>
            <a:r>
              <a:rPr lang="en-US" sz="1800" dirty="0"/>
              <a:t>Ok with the new binning I can extract the multiplicity ratio:</a:t>
            </a:r>
          </a:p>
          <a:p>
            <a:r>
              <a:rPr lang="en-US" sz="1800" dirty="0"/>
              <a:t>I have 1600 bins in Q</a:t>
            </a:r>
            <a:r>
              <a:rPr lang="en-US" sz="1800" baseline="30000" dirty="0"/>
              <a:t>2</a:t>
            </a:r>
            <a:r>
              <a:rPr lang="en-US" sz="1800" dirty="0"/>
              <a:t>, </a:t>
            </a:r>
            <a:r>
              <a:rPr lang="en-US" sz="1800" dirty="0" err="1"/>
              <a:t>x</a:t>
            </a:r>
            <a:r>
              <a:rPr lang="en-US" sz="1800" baseline="-25000" dirty="0" err="1"/>
              <a:t>B</a:t>
            </a:r>
            <a:r>
              <a:rPr lang="en-US" sz="1800" dirty="0"/>
              <a:t>, </a:t>
            </a:r>
            <a:r>
              <a:rPr lang="en-US" sz="1800" dirty="0" err="1"/>
              <a:t>z</a:t>
            </a:r>
            <a:r>
              <a:rPr lang="en-US" sz="1800" baseline="-25000" dirty="0" err="1"/>
              <a:t>h</a:t>
            </a:r>
            <a:r>
              <a:rPr lang="en-US" sz="1800" dirty="0"/>
              <a:t> and p</a:t>
            </a:r>
            <a:r>
              <a:rPr lang="en-US" sz="1800" baseline="-25000" dirty="0"/>
              <a:t>T</a:t>
            </a:r>
            <a:r>
              <a:rPr lang="en-US" sz="1800" baseline="30000" dirty="0"/>
              <a:t>2</a:t>
            </a:r>
            <a:r>
              <a:rPr lang="en-US" sz="1800" dirty="0"/>
              <a:t>, for each I can plot the invariants mass of the two photons after the background subtraction:  </a:t>
            </a:r>
          </a:p>
        </p:txBody>
      </p:sp>
      <p:sp>
        <p:nvSpPr>
          <p:cNvPr id="4" name="Date Placeholder 3">
            <a:extLst>
              <a:ext uri="{FF2B5EF4-FFF2-40B4-BE49-F238E27FC236}">
                <a16:creationId xmlns:a16="http://schemas.microsoft.com/office/drawing/2014/main" id="{438FB08C-B791-AC3F-C375-3320F55CEEBA}"/>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D57F93AE-68DA-BEBB-C447-92D8F58E7D4E}"/>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5ED1065A-AC27-6973-EB2E-CE5A595837CA}"/>
              </a:ext>
            </a:extLst>
          </p:cNvPr>
          <p:cNvSpPr>
            <a:spLocks noGrp="1"/>
          </p:cNvSpPr>
          <p:nvPr>
            <p:ph type="sldNum" sz="quarter" idx="12"/>
          </p:nvPr>
        </p:nvSpPr>
        <p:spPr/>
        <p:txBody>
          <a:bodyPr/>
          <a:lstStyle/>
          <a:p>
            <a:fld id="{C5EF2332-01BF-834F-8236-50238282D533}" type="slidenum">
              <a:rPr lang="en-US" smtClean="0"/>
              <a:t>16</a:t>
            </a:fld>
            <a:endParaRPr lang="en-US"/>
          </a:p>
        </p:txBody>
      </p:sp>
      <p:pic>
        <p:nvPicPr>
          <p:cNvPr id="8" name="Picture 7">
            <a:extLst>
              <a:ext uri="{FF2B5EF4-FFF2-40B4-BE49-F238E27FC236}">
                <a16:creationId xmlns:a16="http://schemas.microsoft.com/office/drawing/2014/main" id="{5F6CB901-8159-46EA-73F8-6174DB10E6E4}"/>
              </a:ext>
            </a:extLst>
          </p:cNvPr>
          <p:cNvPicPr>
            <a:picLocks noChangeAspect="1"/>
          </p:cNvPicPr>
          <p:nvPr/>
        </p:nvPicPr>
        <p:blipFill>
          <a:blip r:embed="rId2"/>
          <a:stretch>
            <a:fillRect/>
          </a:stretch>
        </p:blipFill>
        <p:spPr>
          <a:xfrm>
            <a:off x="4309618" y="39882"/>
            <a:ext cx="7772400" cy="6583114"/>
          </a:xfrm>
          <a:prstGeom prst="rect">
            <a:avLst/>
          </a:prstGeom>
        </p:spPr>
      </p:pic>
    </p:spTree>
    <p:extLst>
      <p:ext uri="{BB962C8B-B14F-4D97-AF65-F5344CB8AC3E}">
        <p14:creationId xmlns:p14="http://schemas.microsoft.com/office/powerpoint/2010/main" val="299436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5E9B6-0860-B274-1C99-B8F77ADFB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9155F-8D81-ED52-6986-E1BA3E616879}"/>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53AEF2F3-820D-EC84-7BA7-BDD43C99050D}"/>
              </a:ext>
            </a:extLst>
          </p:cNvPr>
          <p:cNvSpPr>
            <a:spLocks noGrp="1"/>
          </p:cNvSpPr>
          <p:nvPr>
            <p:ph idx="1"/>
          </p:nvPr>
        </p:nvSpPr>
        <p:spPr>
          <a:xfrm>
            <a:off x="109982" y="1032481"/>
            <a:ext cx="4187698" cy="5087667"/>
          </a:xfrm>
        </p:spPr>
        <p:txBody>
          <a:bodyPr>
            <a:normAutofit/>
          </a:bodyPr>
          <a:lstStyle/>
          <a:p>
            <a:r>
              <a:rPr lang="en-US" sz="1800" dirty="0"/>
              <a:t>Ok with the new binning I can extract the multiplicity ratio:</a:t>
            </a:r>
          </a:p>
          <a:p>
            <a:r>
              <a:rPr lang="en-US" sz="1800" dirty="0"/>
              <a:t>I have 1600 bins in Q</a:t>
            </a:r>
            <a:r>
              <a:rPr lang="en-US" sz="1800" baseline="30000" dirty="0"/>
              <a:t>2</a:t>
            </a:r>
            <a:r>
              <a:rPr lang="en-US" sz="1800" dirty="0"/>
              <a:t>, </a:t>
            </a:r>
            <a:r>
              <a:rPr lang="en-US" sz="1800" dirty="0" err="1"/>
              <a:t>x</a:t>
            </a:r>
            <a:r>
              <a:rPr lang="en-US" sz="1800" baseline="-25000" dirty="0" err="1"/>
              <a:t>B</a:t>
            </a:r>
            <a:r>
              <a:rPr lang="en-US" sz="1800" dirty="0"/>
              <a:t>, </a:t>
            </a:r>
            <a:r>
              <a:rPr lang="en-US" sz="1800" dirty="0" err="1"/>
              <a:t>z</a:t>
            </a:r>
            <a:r>
              <a:rPr lang="en-US" sz="1800" baseline="-25000" dirty="0" err="1"/>
              <a:t>h</a:t>
            </a:r>
            <a:r>
              <a:rPr lang="en-US" sz="1800" dirty="0"/>
              <a:t> and p</a:t>
            </a:r>
            <a:r>
              <a:rPr lang="en-US" sz="1800" baseline="-25000" dirty="0"/>
              <a:t>T</a:t>
            </a:r>
            <a:r>
              <a:rPr lang="en-US" sz="1800" baseline="30000" dirty="0"/>
              <a:t>2</a:t>
            </a:r>
            <a:r>
              <a:rPr lang="en-US" sz="1800" dirty="0"/>
              <a:t>, for each I can plot the invariants mass of the two photons after the background subtraction:  </a:t>
            </a:r>
          </a:p>
        </p:txBody>
      </p:sp>
      <p:sp>
        <p:nvSpPr>
          <p:cNvPr id="4" name="Date Placeholder 3">
            <a:extLst>
              <a:ext uri="{FF2B5EF4-FFF2-40B4-BE49-F238E27FC236}">
                <a16:creationId xmlns:a16="http://schemas.microsoft.com/office/drawing/2014/main" id="{D368B9DF-9180-29D0-DDD1-8D6339B74B3A}"/>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BA6AE415-26F8-9F01-4F58-BBB587AFE601}"/>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01E7F39C-3A51-84C2-4C1E-6FF2AFBA4F6A}"/>
              </a:ext>
            </a:extLst>
          </p:cNvPr>
          <p:cNvSpPr>
            <a:spLocks noGrp="1"/>
          </p:cNvSpPr>
          <p:nvPr>
            <p:ph type="sldNum" sz="quarter" idx="12"/>
          </p:nvPr>
        </p:nvSpPr>
        <p:spPr/>
        <p:txBody>
          <a:bodyPr/>
          <a:lstStyle/>
          <a:p>
            <a:fld id="{C5EF2332-01BF-834F-8236-50238282D533}" type="slidenum">
              <a:rPr lang="en-US" smtClean="0"/>
              <a:t>17</a:t>
            </a:fld>
            <a:endParaRPr lang="en-US"/>
          </a:p>
        </p:txBody>
      </p:sp>
      <p:pic>
        <p:nvPicPr>
          <p:cNvPr id="9" name="Picture 8">
            <a:extLst>
              <a:ext uri="{FF2B5EF4-FFF2-40B4-BE49-F238E27FC236}">
                <a16:creationId xmlns:a16="http://schemas.microsoft.com/office/drawing/2014/main" id="{053600C6-0C6B-5260-8475-455212A536D3}"/>
              </a:ext>
            </a:extLst>
          </p:cNvPr>
          <p:cNvPicPr>
            <a:picLocks noChangeAspect="1"/>
          </p:cNvPicPr>
          <p:nvPr/>
        </p:nvPicPr>
        <p:blipFill>
          <a:blip r:embed="rId2"/>
          <a:stretch>
            <a:fillRect/>
          </a:stretch>
        </p:blipFill>
        <p:spPr>
          <a:xfrm>
            <a:off x="4297680" y="16635"/>
            <a:ext cx="7772400" cy="6559969"/>
          </a:xfrm>
          <a:prstGeom prst="rect">
            <a:avLst/>
          </a:prstGeom>
        </p:spPr>
      </p:pic>
    </p:spTree>
    <p:extLst>
      <p:ext uri="{BB962C8B-B14F-4D97-AF65-F5344CB8AC3E}">
        <p14:creationId xmlns:p14="http://schemas.microsoft.com/office/powerpoint/2010/main" val="290326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540A-77B5-CAD2-FB69-21D2739A7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32271-AE35-5085-7401-A2F4FF619000}"/>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D11AA648-6BC2-A518-284C-5A3980B008C0}"/>
              </a:ext>
            </a:extLst>
          </p:cNvPr>
          <p:cNvSpPr>
            <a:spLocks noGrp="1"/>
          </p:cNvSpPr>
          <p:nvPr>
            <p:ph idx="1"/>
          </p:nvPr>
        </p:nvSpPr>
        <p:spPr>
          <a:xfrm>
            <a:off x="109982" y="1032481"/>
            <a:ext cx="4187698" cy="5087667"/>
          </a:xfrm>
        </p:spPr>
        <p:txBody>
          <a:bodyPr>
            <a:normAutofit/>
          </a:bodyPr>
          <a:lstStyle/>
          <a:p>
            <a:r>
              <a:rPr lang="en-US" sz="1800" dirty="0"/>
              <a:t>Ok with the new binning I can extract the multiplicity ratio:</a:t>
            </a:r>
          </a:p>
          <a:p>
            <a:r>
              <a:rPr lang="en-US" sz="1800" dirty="0"/>
              <a:t>I have 1600 bins in Q</a:t>
            </a:r>
            <a:r>
              <a:rPr lang="en-US" sz="1800" baseline="30000" dirty="0"/>
              <a:t>2</a:t>
            </a:r>
            <a:r>
              <a:rPr lang="en-US" sz="1800" dirty="0"/>
              <a:t>, </a:t>
            </a:r>
            <a:r>
              <a:rPr lang="en-US" sz="1800" dirty="0" err="1"/>
              <a:t>x</a:t>
            </a:r>
            <a:r>
              <a:rPr lang="en-US" sz="1800" baseline="-25000" dirty="0" err="1"/>
              <a:t>B</a:t>
            </a:r>
            <a:r>
              <a:rPr lang="en-US" sz="1800" dirty="0"/>
              <a:t>, </a:t>
            </a:r>
            <a:r>
              <a:rPr lang="en-US" sz="1800" dirty="0" err="1"/>
              <a:t>z</a:t>
            </a:r>
            <a:r>
              <a:rPr lang="en-US" sz="1800" baseline="-25000" dirty="0" err="1"/>
              <a:t>h</a:t>
            </a:r>
            <a:r>
              <a:rPr lang="en-US" sz="1800" dirty="0"/>
              <a:t> and p</a:t>
            </a:r>
            <a:r>
              <a:rPr lang="en-US" sz="1800" baseline="-25000" dirty="0"/>
              <a:t>T</a:t>
            </a:r>
            <a:r>
              <a:rPr lang="en-US" sz="1800" baseline="30000" dirty="0"/>
              <a:t>2</a:t>
            </a:r>
            <a:r>
              <a:rPr lang="en-US" sz="1800" dirty="0"/>
              <a:t>, for each I can plot the invariants mass of the two photons after the background subtraction.</a:t>
            </a:r>
          </a:p>
          <a:p>
            <a:r>
              <a:rPr lang="en-US" sz="1800" dirty="0"/>
              <a:t>Looking at 1000 plots is a bit too much so I plotted the mean, sigma and chi2/</a:t>
            </a:r>
            <a:r>
              <a:rPr lang="en-US" sz="1800" dirty="0" err="1"/>
              <a:t>ndf</a:t>
            </a:r>
            <a:r>
              <a:rPr lang="en-US" sz="1800" dirty="0"/>
              <a:t> for each bin</a:t>
            </a:r>
          </a:p>
          <a:p>
            <a:endParaRPr lang="en-US" sz="1800" dirty="0"/>
          </a:p>
          <a:p>
            <a:r>
              <a:rPr lang="en-US" sz="1800" dirty="0"/>
              <a:t>Couple of bad fits</a:t>
            </a:r>
          </a:p>
        </p:txBody>
      </p:sp>
      <p:sp>
        <p:nvSpPr>
          <p:cNvPr id="4" name="Date Placeholder 3">
            <a:extLst>
              <a:ext uri="{FF2B5EF4-FFF2-40B4-BE49-F238E27FC236}">
                <a16:creationId xmlns:a16="http://schemas.microsoft.com/office/drawing/2014/main" id="{0CBE1600-658B-818D-9EB2-690033B559FB}"/>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EFAC16A4-3C0D-2667-DD02-CDC3A1B162C9}"/>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F08BA571-97DD-AF23-2114-F23DAA28E29C}"/>
              </a:ext>
            </a:extLst>
          </p:cNvPr>
          <p:cNvSpPr>
            <a:spLocks noGrp="1"/>
          </p:cNvSpPr>
          <p:nvPr>
            <p:ph type="sldNum" sz="quarter" idx="12"/>
          </p:nvPr>
        </p:nvSpPr>
        <p:spPr/>
        <p:txBody>
          <a:bodyPr/>
          <a:lstStyle/>
          <a:p>
            <a:fld id="{C5EF2332-01BF-834F-8236-50238282D533}" type="slidenum">
              <a:rPr lang="en-US" smtClean="0"/>
              <a:t>18</a:t>
            </a:fld>
            <a:endParaRPr lang="en-US"/>
          </a:p>
        </p:txBody>
      </p:sp>
      <p:pic>
        <p:nvPicPr>
          <p:cNvPr id="7" name="Picture 6">
            <a:extLst>
              <a:ext uri="{FF2B5EF4-FFF2-40B4-BE49-F238E27FC236}">
                <a16:creationId xmlns:a16="http://schemas.microsoft.com/office/drawing/2014/main" id="{9D69C99C-884E-E666-89B4-BAFCF38C40AE}"/>
              </a:ext>
            </a:extLst>
          </p:cNvPr>
          <p:cNvPicPr>
            <a:picLocks noChangeAspect="1"/>
          </p:cNvPicPr>
          <p:nvPr/>
        </p:nvPicPr>
        <p:blipFill>
          <a:blip r:embed="rId2"/>
          <a:stretch>
            <a:fillRect/>
          </a:stretch>
        </p:blipFill>
        <p:spPr>
          <a:xfrm>
            <a:off x="4625340" y="39883"/>
            <a:ext cx="7456678" cy="2515078"/>
          </a:xfrm>
          <a:prstGeom prst="rect">
            <a:avLst/>
          </a:prstGeom>
        </p:spPr>
      </p:pic>
      <p:pic>
        <p:nvPicPr>
          <p:cNvPr id="9" name="Picture 8">
            <a:extLst>
              <a:ext uri="{FF2B5EF4-FFF2-40B4-BE49-F238E27FC236}">
                <a16:creationId xmlns:a16="http://schemas.microsoft.com/office/drawing/2014/main" id="{AF5383E0-4199-CEC4-7288-FCAE21DC967D}"/>
              </a:ext>
            </a:extLst>
          </p:cNvPr>
          <p:cNvPicPr>
            <a:picLocks noChangeAspect="1"/>
          </p:cNvPicPr>
          <p:nvPr/>
        </p:nvPicPr>
        <p:blipFill>
          <a:blip r:embed="rId3"/>
          <a:stretch>
            <a:fillRect/>
          </a:stretch>
        </p:blipFill>
        <p:spPr>
          <a:xfrm>
            <a:off x="4605782" y="2554961"/>
            <a:ext cx="7476236" cy="2515756"/>
          </a:xfrm>
          <a:prstGeom prst="rect">
            <a:avLst/>
          </a:prstGeom>
        </p:spPr>
      </p:pic>
      <p:pic>
        <p:nvPicPr>
          <p:cNvPr id="10" name="Picture 9">
            <a:extLst>
              <a:ext uri="{FF2B5EF4-FFF2-40B4-BE49-F238E27FC236}">
                <a16:creationId xmlns:a16="http://schemas.microsoft.com/office/drawing/2014/main" id="{3571B78A-6420-A169-EF2D-7259B99A10BE}"/>
              </a:ext>
            </a:extLst>
          </p:cNvPr>
          <p:cNvPicPr>
            <a:picLocks noChangeAspect="1"/>
          </p:cNvPicPr>
          <p:nvPr/>
        </p:nvPicPr>
        <p:blipFill>
          <a:blip r:embed="rId4"/>
          <a:stretch>
            <a:fillRect/>
          </a:stretch>
        </p:blipFill>
        <p:spPr>
          <a:xfrm>
            <a:off x="4572000" y="5064842"/>
            <a:ext cx="5379720" cy="1800334"/>
          </a:xfrm>
          <a:prstGeom prst="rect">
            <a:avLst/>
          </a:prstGeom>
        </p:spPr>
      </p:pic>
    </p:spTree>
    <p:extLst>
      <p:ext uri="{BB962C8B-B14F-4D97-AF65-F5344CB8AC3E}">
        <p14:creationId xmlns:p14="http://schemas.microsoft.com/office/powerpoint/2010/main" val="804529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AE73-B694-E4A0-46C4-A0393C0A5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7E267-5385-C860-5414-0D0EF6DC6890}"/>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7E97B1AC-DE67-3244-03D8-F1E41C1CFED6}"/>
              </a:ext>
            </a:extLst>
          </p:cNvPr>
          <p:cNvSpPr>
            <a:spLocks noGrp="1"/>
          </p:cNvSpPr>
          <p:nvPr>
            <p:ph idx="1"/>
          </p:nvPr>
        </p:nvSpPr>
        <p:spPr>
          <a:xfrm>
            <a:off x="109982" y="1032481"/>
            <a:ext cx="4187698" cy="5087667"/>
          </a:xfrm>
        </p:spPr>
        <p:txBody>
          <a:bodyPr>
            <a:normAutofit/>
          </a:bodyPr>
          <a:lstStyle/>
          <a:p>
            <a:r>
              <a:rPr lang="en-US" sz="1800" dirty="0"/>
              <a:t>Ok with the new binning I can extract the multiplicity ratio:</a:t>
            </a:r>
          </a:p>
          <a:p>
            <a:r>
              <a:rPr lang="en-US" sz="1800" dirty="0"/>
              <a:t>I have 1600 (8*8*5*5) bins in Q</a:t>
            </a:r>
            <a:r>
              <a:rPr lang="en-US" sz="1800" baseline="30000" dirty="0"/>
              <a:t>2</a:t>
            </a:r>
            <a:r>
              <a:rPr lang="en-US" sz="1800" dirty="0"/>
              <a:t>, </a:t>
            </a:r>
            <a:r>
              <a:rPr lang="en-US" sz="1800" dirty="0" err="1"/>
              <a:t>x</a:t>
            </a:r>
            <a:r>
              <a:rPr lang="en-US" sz="1800" baseline="-25000" dirty="0" err="1"/>
              <a:t>B</a:t>
            </a:r>
            <a:r>
              <a:rPr lang="en-US" sz="1800" dirty="0"/>
              <a:t>, </a:t>
            </a:r>
            <a:r>
              <a:rPr lang="en-US" sz="1800" dirty="0" err="1"/>
              <a:t>z</a:t>
            </a:r>
            <a:r>
              <a:rPr lang="en-US" sz="1800" baseline="-25000" dirty="0" err="1"/>
              <a:t>h</a:t>
            </a:r>
            <a:r>
              <a:rPr lang="en-US" sz="1800" dirty="0"/>
              <a:t> and p</a:t>
            </a:r>
            <a:r>
              <a:rPr lang="en-US" sz="1800" baseline="-25000" dirty="0"/>
              <a:t>T</a:t>
            </a:r>
            <a:r>
              <a:rPr lang="en-US" sz="1800" baseline="30000" dirty="0"/>
              <a:t>2</a:t>
            </a:r>
            <a:r>
              <a:rPr lang="en-US" sz="1800" dirty="0"/>
              <a:t>, for each I can plot the invariants mass of the two photons after the background subtraction.</a:t>
            </a:r>
          </a:p>
          <a:p>
            <a:r>
              <a:rPr lang="en-US" sz="1800" dirty="0"/>
              <a:t>Looking at 1000 plots is a bit too much so I plotted the mean, sigma and chi2/</a:t>
            </a:r>
            <a:r>
              <a:rPr lang="en-US" sz="1800" dirty="0" err="1"/>
              <a:t>ndf</a:t>
            </a:r>
            <a:r>
              <a:rPr lang="en-US" sz="1800" dirty="0"/>
              <a:t> for each bin</a:t>
            </a:r>
          </a:p>
          <a:p>
            <a:endParaRPr lang="en-US" sz="1800" dirty="0"/>
          </a:p>
          <a:p>
            <a:endParaRPr lang="en-US" sz="1800" dirty="0"/>
          </a:p>
          <a:p>
            <a:r>
              <a:rPr lang="en-US" sz="1800" dirty="0"/>
              <a:t>Couple of bad fits, I need to work on the fit range, initial parameters and maybe add constant term. Also it is probably an issue with the event mixing </a:t>
            </a:r>
          </a:p>
          <a:p>
            <a:endParaRPr lang="en-US" sz="1800" dirty="0"/>
          </a:p>
        </p:txBody>
      </p:sp>
      <p:sp>
        <p:nvSpPr>
          <p:cNvPr id="4" name="Date Placeholder 3">
            <a:extLst>
              <a:ext uri="{FF2B5EF4-FFF2-40B4-BE49-F238E27FC236}">
                <a16:creationId xmlns:a16="http://schemas.microsoft.com/office/drawing/2014/main" id="{DEADD6EC-1FA5-4451-262B-7CC8AC41C941}"/>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E6ACF939-B88F-6650-2D22-47CF9CBF97C2}"/>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558E6239-E52A-DE6C-3C71-268FFD5FBF8A}"/>
              </a:ext>
            </a:extLst>
          </p:cNvPr>
          <p:cNvSpPr>
            <a:spLocks noGrp="1"/>
          </p:cNvSpPr>
          <p:nvPr>
            <p:ph type="sldNum" sz="quarter" idx="12"/>
          </p:nvPr>
        </p:nvSpPr>
        <p:spPr/>
        <p:txBody>
          <a:bodyPr/>
          <a:lstStyle/>
          <a:p>
            <a:fld id="{C5EF2332-01BF-834F-8236-50238282D533}" type="slidenum">
              <a:rPr lang="en-US" smtClean="0"/>
              <a:t>19</a:t>
            </a:fld>
            <a:endParaRPr lang="en-US"/>
          </a:p>
        </p:txBody>
      </p:sp>
      <p:pic>
        <p:nvPicPr>
          <p:cNvPr id="11" name="Picture 10">
            <a:extLst>
              <a:ext uri="{FF2B5EF4-FFF2-40B4-BE49-F238E27FC236}">
                <a16:creationId xmlns:a16="http://schemas.microsoft.com/office/drawing/2014/main" id="{1B800473-964D-812D-F1B4-038D58AD98FE}"/>
              </a:ext>
            </a:extLst>
          </p:cNvPr>
          <p:cNvPicPr>
            <a:picLocks noChangeAspect="1"/>
          </p:cNvPicPr>
          <p:nvPr/>
        </p:nvPicPr>
        <p:blipFill>
          <a:blip r:embed="rId2"/>
          <a:stretch>
            <a:fillRect/>
          </a:stretch>
        </p:blipFill>
        <p:spPr>
          <a:xfrm>
            <a:off x="4867094" y="312420"/>
            <a:ext cx="6875326" cy="5807728"/>
          </a:xfrm>
          <a:prstGeom prst="rect">
            <a:avLst/>
          </a:prstGeom>
        </p:spPr>
      </p:pic>
    </p:spTree>
    <p:extLst>
      <p:ext uri="{BB962C8B-B14F-4D97-AF65-F5344CB8AC3E}">
        <p14:creationId xmlns:p14="http://schemas.microsoft.com/office/powerpoint/2010/main" val="1073380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78D22-FB82-D81E-7625-3C05C6BA5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48C7E-EBCD-3B02-65EF-892BE72BE48C}"/>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E9842B09-E94B-518E-198D-5DE58B8981FA}"/>
              </a:ext>
            </a:extLst>
          </p:cNvPr>
          <p:cNvSpPr>
            <a:spLocks noGrp="1"/>
          </p:cNvSpPr>
          <p:nvPr>
            <p:ph idx="1"/>
          </p:nvPr>
        </p:nvSpPr>
        <p:spPr>
          <a:xfrm>
            <a:off x="109982" y="1032481"/>
            <a:ext cx="2374138" cy="5087667"/>
          </a:xfrm>
        </p:spPr>
        <p:txBody>
          <a:bodyPr>
            <a:normAutofit/>
          </a:bodyPr>
          <a:lstStyle/>
          <a:p>
            <a:r>
              <a:rPr lang="en-US" sz="1800" dirty="0"/>
              <a:t>Ok with the new binning I can extract the multiplicity ratio:</a:t>
            </a:r>
          </a:p>
          <a:p>
            <a:endParaRPr lang="en-US" sz="1800" dirty="0"/>
          </a:p>
          <a:p>
            <a:endParaRPr lang="en-US" sz="1800" dirty="0"/>
          </a:p>
          <a:p>
            <a:pPr marL="0" indent="0">
              <a:buNone/>
            </a:pPr>
            <a:endParaRPr lang="en-US" sz="1800" dirty="0"/>
          </a:p>
          <a:p>
            <a:endParaRPr lang="en-US" sz="1800" dirty="0"/>
          </a:p>
        </p:txBody>
      </p:sp>
      <p:sp>
        <p:nvSpPr>
          <p:cNvPr id="4" name="Date Placeholder 3">
            <a:extLst>
              <a:ext uri="{FF2B5EF4-FFF2-40B4-BE49-F238E27FC236}">
                <a16:creationId xmlns:a16="http://schemas.microsoft.com/office/drawing/2014/main" id="{0A1FF00A-5A9E-11AB-503C-DE23ACC715E4}"/>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C0F13530-BCE1-7ECA-945A-4389D247CA25}"/>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8004B627-4F33-4058-D829-30F777BC1577}"/>
              </a:ext>
            </a:extLst>
          </p:cNvPr>
          <p:cNvSpPr>
            <a:spLocks noGrp="1"/>
          </p:cNvSpPr>
          <p:nvPr>
            <p:ph type="sldNum" sz="quarter" idx="12"/>
          </p:nvPr>
        </p:nvSpPr>
        <p:spPr/>
        <p:txBody>
          <a:bodyPr/>
          <a:lstStyle/>
          <a:p>
            <a:fld id="{C5EF2332-01BF-834F-8236-50238282D533}" type="slidenum">
              <a:rPr lang="en-US" smtClean="0"/>
              <a:t>20</a:t>
            </a:fld>
            <a:endParaRPr lang="en-US"/>
          </a:p>
        </p:txBody>
      </p:sp>
      <p:pic>
        <p:nvPicPr>
          <p:cNvPr id="9" name="Picture 8">
            <a:extLst>
              <a:ext uri="{FF2B5EF4-FFF2-40B4-BE49-F238E27FC236}">
                <a16:creationId xmlns:a16="http://schemas.microsoft.com/office/drawing/2014/main" id="{CE70E646-3563-2998-8486-429FAE377E41}"/>
              </a:ext>
            </a:extLst>
          </p:cNvPr>
          <p:cNvPicPr>
            <a:picLocks noChangeAspect="1"/>
          </p:cNvPicPr>
          <p:nvPr/>
        </p:nvPicPr>
        <p:blipFill>
          <a:blip r:embed="rId2"/>
          <a:stretch>
            <a:fillRect/>
          </a:stretch>
        </p:blipFill>
        <p:spPr>
          <a:xfrm>
            <a:off x="2598420" y="102966"/>
            <a:ext cx="4634097" cy="3159611"/>
          </a:xfrm>
          <a:prstGeom prst="rect">
            <a:avLst/>
          </a:prstGeom>
        </p:spPr>
      </p:pic>
      <p:pic>
        <p:nvPicPr>
          <p:cNvPr id="10" name="Picture 9">
            <a:extLst>
              <a:ext uri="{FF2B5EF4-FFF2-40B4-BE49-F238E27FC236}">
                <a16:creationId xmlns:a16="http://schemas.microsoft.com/office/drawing/2014/main" id="{7C797805-143B-017B-98DC-2D67E8EB9557}"/>
              </a:ext>
            </a:extLst>
          </p:cNvPr>
          <p:cNvPicPr>
            <a:picLocks noChangeAspect="1"/>
          </p:cNvPicPr>
          <p:nvPr/>
        </p:nvPicPr>
        <p:blipFill>
          <a:blip r:embed="rId3"/>
          <a:stretch>
            <a:fillRect/>
          </a:stretch>
        </p:blipFill>
        <p:spPr>
          <a:xfrm>
            <a:off x="7232517" y="29390"/>
            <a:ext cx="4945724" cy="3337115"/>
          </a:xfrm>
          <a:prstGeom prst="rect">
            <a:avLst/>
          </a:prstGeom>
        </p:spPr>
      </p:pic>
      <p:pic>
        <p:nvPicPr>
          <p:cNvPr id="11" name="Picture 10">
            <a:extLst>
              <a:ext uri="{FF2B5EF4-FFF2-40B4-BE49-F238E27FC236}">
                <a16:creationId xmlns:a16="http://schemas.microsoft.com/office/drawing/2014/main" id="{23163F65-7366-E774-911F-84572339DA1B}"/>
              </a:ext>
            </a:extLst>
          </p:cNvPr>
          <p:cNvPicPr>
            <a:picLocks noChangeAspect="1"/>
          </p:cNvPicPr>
          <p:nvPr/>
        </p:nvPicPr>
        <p:blipFill>
          <a:blip r:embed="rId4"/>
          <a:stretch>
            <a:fillRect/>
          </a:stretch>
        </p:blipFill>
        <p:spPr>
          <a:xfrm>
            <a:off x="7206388" y="3277979"/>
            <a:ext cx="4997982" cy="3412365"/>
          </a:xfrm>
          <a:prstGeom prst="rect">
            <a:avLst/>
          </a:prstGeom>
        </p:spPr>
      </p:pic>
      <p:pic>
        <p:nvPicPr>
          <p:cNvPr id="12" name="Picture 11">
            <a:extLst>
              <a:ext uri="{FF2B5EF4-FFF2-40B4-BE49-F238E27FC236}">
                <a16:creationId xmlns:a16="http://schemas.microsoft.com/office/drawing/2014/main" id="{FBBA8134-065E-0E09-786A-73F2AE42D02A}"/>
              </a:ext>
            </a:extLst>
          </p:cNvPr>
          <p:cNvPicPr>
            <a:picLocks noChangeAspect="1"/>
          </p:cNvPicPr>
          <p:nvPr/>
        </p:nvPicPr>
        <p:blipFill>
          <a:blip r:embed="rId5"/>
          <a:stretch>
            <a:fillRect/>
          </a:stretch>
        </p:blipFill>
        <p:spPr>
          <a:xfrm>
            <a:off x="2557274" y="3277979"/>
            <a:ext cx="4636744" cy="3175014"/>
          </a:xfrm>
          <a:prstGeom prst="rect">
            <a:avLst/>
          </a:prstGeom>
        </p:spPr>
      </p:pic>
    </p:spTree>
    <p:extLst>
      <p:ext uri="{BB962C8B-B14F-4D97-AF65-F5344CB8AC3E}">
        <p14:creationId xmlns:p14="http://schemas.microsoft.com/office/powerpoint/2010/main" val="4171567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859A-C108-D4A0-1523-624BBE7B1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8E3E0-4405-346F-671A-2ACAE7FB7E8B}"/>
              </a:ext>
            </a:extLst>
          </p:cNvPr>
          <p:cNvSpPr>
            <a:spLocks noGrp="1"/>
          </p:cNvSpPr>
          <p:nvPr>
            <p:ph type="title"/>
          </p:nvPr>
        </p:nvSpPr>
        <p:spPr/>
        <p:txBody>
          <a:bodyPr/>
          <a:lstStyle/>
          <a:p>
            <a:r>
              <a:rPr lang="en-US" dirty="0"/>
              <a:t>RG-D: Clas Collaboration meeting plan</a:t>
            </a:r>
            <a:endParaRPr lang="en-US" baseline="30000" dirty="0"/>
          </a:p>
        </p:txBody>
      </p:sp>
      <p:sp>
        <p:nvSpPr>
          <p:cNvPr id="3" name="Content Placeholder 2">
            <a:extLst>
              <a:ext uri="{FF2B5EF4-FFF2-40B4-BE49-F238E27FC236}">
                <a16:creationId xmlns:a16="http://schemas.microsoft.com/office/drawing/2014/main" id="{7B6D52D7-EBB5-C7AE-6AD4-9BD76CD29DF1}"/>
              </a:ext>
            </a:extLst>
          </p:cNvPr>
          <p:cNvSpPr>
            <a:spLocks noGrp="1"/>
          </p:cNvSpPr>
          <p:nvPr>
            <p:ph idx="1"/>
          </p:nvPr>
        </p:nvSpPr>
        <p:spPr>
          <a:xfrm>
            <a:off x="109982" y="1032481"/>
            <a:ext cx="6046978" cy="5087667"/>
          </a:xfrm>
        </p:spPr>
        <p:txBody>
          <a:bodyPr>
            <a:normAutofit/>
          </a:bodyPr>
          <a:lstStyle/>
          <a:p>
            <a:r>
              <a:rPr lang="en-US" sz="2000" dirty="0"/>
              <a:t>Introduction: </a:t>
            </a:r>
          </a:p>
          <a:p>
            <a:pPr lvl="1"/>
            <a:r>
              <a:rPr lang="en-US" sz="1600" dirty="0"/>
              <a:t>Run Group D</a:t>
            </a:r>
          </a:p>
          <a:p>
            <a:pPr lvl="1"/>
            <a:r>
              <a:rPr lang="en-US" sz="1600" dirty="0"/>
              <a:t>CT Experiment</a:t>
            </a:r>
          </a:p>
          <a:p>
            <a:pPr lvl="1"/>
            <a:r>
              <a:rPr lang="en-US" sz="1600" dirty="0"/>
              <a:t>Nuclear TMDs</a:t>
            </a:r>
          </a:p>
          <a:p>
            <a:pPr lvl="1"/>
            <a:r>
              <a:rPr lang="en-US" sz="1600" dirty="0"/>
              <a:t>Run Configuration</a:t>
            </a:r>
          </a:p>
          <a:p>
            <a:pPr lvl="1"/>
            <a:r>
              <a:rPr lang="en-US" sz="1600" dirty="0"/>
              <a:t>Cooking Summary: some stats</a:t>
            </a:r>
          </a:p>
          <a:p>
            <a:r>
              <a:rPr lang="en-US" sz="2000" dirty="0"/>
              <a:t>Particle Identification:</a:t>
            </a:r>
          </a:p>
          <a:p>
            <a:pPr lvl="1"/>
            <a:r>
              <a:rPr lang="en-US" sz="1600" dirty="0"/>
              <a:t>Vertex correction</a:t>
            </a:r>
          </a:p>
          <a:p>
            <a:pPr lvl="1"/>
            <a:r>
              <a:rPr lang="en-US" sz="1600" dirty="0"/>
              <a:t>Problem for electrons and </a:t>
            </a:r>
            <a:r>
              <a:rPr lang="en-US" sz="1600" dirty="0" err="1"/>
              <a:t>pions</a:t>
            </a:r>
            <a:r>
              <a:rPr lang="en-US" sz="1600" dirty="0"/>
              <a:t> (maybe 2 slides): low momentum + low theta</a:t>
            </a:r>
          </a:p>
          <a:p>
            <a:pPr lvl="1"/>
            <a:r>
              <a:rPr lang="en-US" sz="1600" dirty="0"/>
              <a:t>Explanation for the correction</a:t>
            </a:r>
          </a:p>
          <a:p>
            <a:pPr lvl="1"/>
            <a:r>
              <a:rPr lang="en-US" sz="1600" dirty="0"/>
              <a:t>Show correction electron (3 slides)</a:t>
            </a:r>
          </a:p>
          <a:p>
            <a:pPr lvl="1"/>
            <a:r>
              <a:rPr lang="en-US" sz="1600" dirty="0"/>
              <a:t>Show correction on </a:t>
            </a:r>
            <a:r>
              <a:rPr lang="en-US" sz="1600" dirty="0" err="1"/>
              <a:t>pions</a:t>
            </a:r>
            <a:endParaRPr lang="en-US" sz="1600" dirty="0"/>
          </a:p>
          <a:p>
            <a:pPr lvl="1"/>
            <a:r>
              <a:rPr lang="en-US" sz="1600" dirty="0"/>
              <a:t>Comparison of the electron with the simulation</a:t>
            </a:r>
          </a:p>
          <a:p>
            <a:pPr lvl="1"/>
            <a:r>
              <a:rPr lang="en-US" sz="1600" dirty="0" err="1"/>
              <a:t>CuSn</a:t>
            </a:r>
            <a:r>
              <a:rPr lang="en-US" sz="1600" dirty="0"/>
              <a:t> contamination using simulation</a:t>
            </a:r>
            <a:endParaRPr lang="en-US" sz="2000" dirty="0"/>
          </a:p>
        </p:txBody>
      </p:sp>
      <p:sp>
        <p:nvSpPr>
          <p:cNvPr id="4" name="Date Placeholder 3">
            <a:extLst>
              <a:ext uri="{FF2B5EF4-FFF2-40B4-BE49-F238E27FC236}">
                <a16:creationId xmlns:a16="http://schemas.microsoft.com/office/drawing/2014/main" id="{5273DBEF-9134-AC17-0174-35BDA8D37688}"/>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19653AFE-D829-32C3-B8AC-F265F64FF9AC}"/>
              </a:ext>
            </a:extLst>
          </p:cNvPr>
          <p:cNvSpPr>
            <a:spLocks noGrp="1"/>
          </p:cNvSpPr>
          <p:nvPr>
            <p:ph type="ftr" sz="quarter" idx="11"/>
          </p:nvPr>
        </p:nvSpPr>
        <p:spPr/>
        <p:txBody>
          <a:bodyPr/>
          <a:lstStyle/>
          <a:p>
            <a:r>
              <a:rPr lang="en-US" dirty="0"/>
              <a:t>Group meeting</a:t>
            </a:r>
          </a:p>
        </p:txBody>
      </p:sp>
      <p:sp>
        <p:nvSpPr>
          <p:cNvPr id="6" name="Slide Number Placeholder 5">
            <a:extLst>
              <a:ext uri="{FF2B5EF4-FFF2-40B4-BE49-F238E27FC236}">
                <a16:creationId xmlns:a16="http://schemas.microsoft.com/office/drawing/2014/main" id="{E0E112A7-D056-002C-F3EC-E4D20E077548}"/>
              </a:ext>
            </a:extLst>
          </p:cNvPr>
          <p:cNvSpPr>
            <a:spLocks noGrp="1"/>
          </p:cNvSpPr>
          <p:nvPr>
            <p:ph type="sldNum" sz="quarter" idx="12"/>
          </p:nvPr>
        </p:nvSpPr>
        <p:spPr/>
        <p:txBody>
          <a:bodyPr/>
          <a:lstStyle/>
          <a:p>
            <a:fld id="{C5EF2332-01BF-834F-8236-50238282D533}" type="slidenum">
              <a:rPr lang="en-US" smtClean="0"/>
              <a:t>21</a:t>
            </a:fld>
            <a:endParaRPr lang="en-US"/>
          </a:p>
        </p:txBody>
      </p:sp>
      <p:sp>
        <p:nvSpPr>
          <p:cNvPr id="9" name="TextBox 8">
            <a:extLst>
              <a:ext uri="{FF2B5EF4-FFF2-40B4-BE49-F238E27FC236}">
                <a16:creationId xmlns:a16="http://schemas.microsoft.com/office/drawing/2014/main" id="{96BB4E3A-315C-75F9-01FA-4CE79DDAC41C}"/>
              </a:ext>
            </a:extLst>
          </p:cNvPr>
          <p:cNvSpPr txBox="1"/>
          <p:nvPr/>
        </p:nvSpPr>
        <p:spPr>
          <a:xfrm>
            <a:off x="6096000" y="1043882"/>
            <a:ext cx="5699760" cy="3170099"/>
          </a:xfrm>
          <a:prstGeom prst="rect">
            <a:avLst/>
          </a:prstGeom>
          <a:noFill/>
        </p:spPr>
        <p:txBody>
          <a:bodyPr wrap="square">
            <a:spAutoFit/>
          </a:bodyPr>
          <a:lstStyle/>
          <a:p>
            <a:pPr marL="285750" indent="-285750">
              <a:buFont typeface="Arial" panose="020B0604020202020204" pitchFamily="34" charset="0"/>
              <a:buChar char="•"/>
            </a:pPr>
            <a:r>
              <a:rPr lang="en-US" sz="2000" dirty="0">
                <a:solidFill>
                  <a:srgbClr val="243643"/>
                </a:solidFill>
                <a:latin typeface="Fira Sans Light" panose="020B0403050000020004" pitchFamily="34" charset="0"/>
                <a:ea typeface="Fira Sans Light" panose="020B0403050000020004" pitchFamily="34" charset="0"/>
              </a:rPr>
              <a:t>pi0 analysis: </a:t>
            </a:r>
          </a:p>
          <a:p>
            <a:pPr marL="742950" lvl="1" indent="-285750">
              <a:buFont typeface="Arial" panose="020B0604020202020204" pitchFamily="34" charset="0"/>
              <a:buChar char="•"/>
            </a:pPr>
            <a:r>
              <a:rPr lang="en-US" sz="1600" dirty="0">
                <a:solidFill>
                  <a:srgbClr val="243643"/>
                </a:solidFill>
                <a:latin typeface="Fira Sans Light" panose="020B0403050000020004" pitchFamily="34" charset="0"/>
                <a:ea typeface="Fira Sans Light" panose="020B0403050000020004" pitchFamily="34" charset="0"/>
              </a:rPr>
              <a:t>Binning using a KD-tree</a:t>
            </a:r>
          </a:p>
          <a:p>
            <a:pPr marL="742950" lvl="1" indent="-285750">
              <a:buFont typeface="Arial" panose="020B0604020202020204" pitchFamily="34" charset="0"/>
              <a:buChar char="•"/>
            </a:pPr>
            <a:r>
              <a:rPr lang="en-US" sz="1600" dirty="0">
                <a:solidFill>
                  <a:srgbClr val="243643"/>
                </a:solidFill>
                <a:latin typeface="Fira Sans Light" panose="020B0403050000020004" pitchFamily="34" charset="0"/>
                <a:ea typeface="Fira Sans Light" panose="020B0403050000020004" pitchFamily="34" charset="0"/>
              </a:rPr>
              <a:t>π0 event mixing background-subtraction</a:t>
            </a:r>
          </a:p>
          <a:p>
            <a:pPr marL="742950" lvl="1" indent="-285750">
              <a:buFont typeface="Arial" panose="020B0604020202020204" pitchFamily="34" charset="0"/>
              <a:buChar char="•"/>
            </a:pPr>
            <a:r>
              <a:rPr lang="en-US" sz="1600" dirty="0">
                <a:solidFill>
                  <a:srgbClr val="243643"/>
                </a:solidFill>
                <a:latin typeface="Fira Sans Light" panose="020B0403050000020004" pitchFamily="34" charset="0"/>
                <a:ea typeface="Fira Sans Light" panose="020B0403050000020004" pitchFamily="34" charset="0"/>
              </a:rPr>
              <a:t>4D multiplicity ratio</a:t>
            </a:r>
          </a:p>
          <a:p>
            <a:pPr marL="742950" lvl="1" indent="-285750">
              <a:buFont typeface="Arial" panose="020B0604020202020204" pitchFamily="34" charset="0"/>
              <a:buChar char="•"/>
            </a:pPr>
            <a:r>
              <a:rPr lang="en-US" sz="1600" dirty="0" err="1">
                <a:solidFill>
                  <a:srgbClr val="243643"/>
                </a:solidFill>
                <a:latin typeface="Fira Sans Light" panose="020B0403050000020004" pitchFamily="34" charset="0"/>
                <a:ea typeface="Fira Sans Light" panose="020B0403050000020004" pitchFamily="34" charset="0"/>
              </a:rPr>
              <a:t>pT</a:t>
            </a:r>
            <a:r>
              <a:rPr lang="en-US" sz="1600" dirty="0">
                <a:solidFill>
                  <a:srgbClr val="243643"/>
                </a:solidFill>
                <a:latin typeface="Fira Sans Light" panose="020B0403050000020004" pitchFamily="34" charset="0"/>
                <a:ea typeface="Fira Sans Light" panose="020B0403050000020004" pitchFamily="34" charset="0"/>
              </a:rPr>
              <a:t> broadening</a:t>
            </a:r>
          </a:p>
          <a:p>
            <a:pPr marL="742950" lvl="1" indent="-285750">
              <a:buFont typeface="Arial" panose="020B0604020202020204" pitchFamily="34" charset="0"/>
              <a:buChar char="•"/>
            </a:pPr>
            <a:r>
              <a:rPr lang="en-US" sz="1600" dirty="0">
                <a:solidFill>
                  <a:srgbClr val="243643"/>
                </a:solidFill>
                <a:latin typeface="Fira Sans Light" panose="020B0403050000020004" pitchFamily="34" charset="0"/>
                <a:ea typeface="Fira Sans Light" panose="020B0403050000020004" pitchFamily="34" charset="0"/>
              </a:rPr>
              <a:t>azimuthal modulation</a:t>
            </a:r>
          </a:p>
          <a:p>
            <a:pPr marL="285750" indent="-285750">
              <a:buFont typeface="Arial" panose="020B0604020202020204" pitchFamily="34" charset="0"/>
              <a:buChar char="•"/>
            </a:pPr>
            <a:r>
              <a:rPr lang="en-US" sz="2000" dirty="0">
                <a:solidFill>
                  <a:srgbClr val="243643"/>
                </a:solidFill>
                <a:latin typeface="Fira Sans Light" panose="020B0403050000020004" pitchFamily="34" charset="0"/>
                <a:ea typeface="Fira Sans Light" panose="020B0403050000020004" pitchFamily="34" charset="0"/>
              </a:rPr>
              <a:t>Pion analysis from Suman? </a:t>
            </a:r>
          </a:p>
          <a:p>
            <a:pPr marL="742950" lvl="1" indent="-285750">
              <a:buFont typeface="Arial" panose="020B0604020202020204" pitchFamily="34" charset="0"/>
              <a:buChar char="•"/>
            </a:pPr>
            <a:r>
              <a:rPr lang="en-US" dirty="0">
                <a:solidFill>
                  <a:srgbClr val="243643"/>
                </a:solidFill>
                <a:latin typeface="Fira Sans Light" panose="020B0403050000020004" pitchFamily="34" charset="0"/>
                <a:ea typeface="Fira Sans Light" panose="020B0403050000020004" pitchFamily="34" charset="0"/>
              </a:rPr>
              <a:t>Study the hadron/electron contamination</a:t>
            </a:r>
          </a:p>
          <a:p>
            <a:pPr marL="285750" indent="-285750">
              <a:buFont typeface="Arial" panose="020B0604020202020204" pitchFamily="34" charset="0"/>
              <a:buChar char="•"/>
            </a:pPr>
            <a:r>
              <a:rPr lang="en-US" sz="2000" dirty="0">
                <a:solidFill>
                  <a:srgbClr val="243643"/>
                </a:solidFill>
                <a:latin typeface="Fira Sans Light" panose="020B0403050000020004" pitchFamily="34" charset="0"/>
                <a:ea typeface="Fira Sans Light" panose="020B0403050000020004" pitchFamily="34" charset="0"/>
              </a:rPr>
              <a:t>Color transparency analysis</a:t>
            </a:r>
          </a:p>
          <a:p>
            <a:pPr marL="742950" lvl="1" indent="-285750">
              <a:buFont typeface="Arial" panose="020B0604020202020204" pitchFamily="34" charset="0"/>
              <a:buChar char="•"/>
            </a:pPr>
            <a:r>
              <a:rPr lang="en-US" dirty="0">
                <a:solidFill>
                  <a:srgbClr val="243643"/>
                </a:solidFill>
                <a:latin typeface="Fira Sans Light" panose="020B0403050000020004" pitchFamily="34" charset="0"/>
                <a:ea typeface="Fira Sans Light" panose="020B0403050000020004" pitchFamily="34" charset="0"/>
              </a:rPr>
              <a:t>rho invariant mass</a:t>
            </a:r>
          </a:p>
          <a:p>
            <a:pPr marL="742950" lvl="1" indent="-285750">
              <a:buFont typeface="Arial" panose="020B0604020202020204" pitchFamily="34" charset="0"/>
              <a:buChar char="•"/>
            </a:pPr>
            <a:r>
              <a:rPr lang="en-US" dirty="0">
                <a:solidFill>
                  <a:srgbClr val="243643"/>
                </a:solidFill>
                <a:latin typeface="Fira Sans Light" panose="020B0403050000020004" pitchFamily="34" charset="0"/>
                <a:ea typeface="Fira Sans Light" panose="020B0403050000020004" pitchFamily="34" charset="0"/>
              </a:rPr>
              <a:t>color transparency </a:t>
            </a:r>
          </a:p>
        </p:txBody>
      </p:sp>
    </p:spTree>
    <p:extLst>
      <p:ext uri="{BB962C8B-B14F-4D97-AF65-F5344CB8AC3E}">
        <p14:creationId xmlns:p14="http://schemas.microsoft.com/office/powerpoint/2010/main" val="2854328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7969-DB2B-2A08-BD00-A9E05EFF8E4F}"/>
              </a:ext>
            </a:extLst>
          </p:cNvPr>
          <p:cNvSpPr>
            <a:spLocks noGrp="1"/>
          </p:cNvSpPr>
          <p:nvPr>
            <p:ph type="title"/>
          </p:nvPr>
        </p:nvSpPr>
        <p:spPr/>
        <p:txBody>
          <a:bodyPr/>
          <a:lstStyle/>
          <a:p>
            <a:r>
              <a:rPr lang="en-US" dirty="0"/>
              <a:t>RG-L/Alert</a:t>
            </a:r>
          </a:p>
        </p:txBody>
      </p:sp>
      <p:sp>
        <p:nvSpPr>
          <p:cNvPr id="3" name="Content Placeholder 2">
            <a:extLst>
              <a:ext uri="{FF2B5EF4-FFF2-40B4-BE49-F238E27FC236}">
                <a16:creationId xmlns:a16="http://schemas.microsoft.com/office/drawing/2014/main" id="{A1E4B2F1-554B-D889-5521-3E1A336869F5}"/>
              </a:ext>
            </a:extLst>
          </p:cNvPr>
          <p:cNvSpPr>
            <a:spLocks noGrp="1"/>
          </p:cNvSpPr>
          <p:nvPr>
            <p:ph idx="1"/>
          </p:nvPr>
        </p:nvSpPr>
        <p:spPr/>
        <p:txBody>
          <a:bodyPr/>
          <a:lstStyle/>
          <a:p>
            <a:r>
              <a:rPr lang="en-US" dirty="0"/>
              <a:t>I have discussed with Raphael about some work I can do for RG-L/ALERT</a:t>
            </a:r>
          </a:p>
          <a:p>
            <a:r>
              <a:rPr lang="en-US" dirty="0"/>
              <a:t>He want me to work on beam position calibration</a:t>
            </a:r>
          </a:p>
          <a:p>
            <a:r>
              <a:rPr lang="en-US" dirty="0"/>
              <a:t>Some NMSU student work on that but he want me to integrate that in the timeline.</a:t>
            </a:r>
          </a:p>
          <a:p>
            <a:r>
              <a:rPr lang="en-US" dirty="0"/>
              <a:t>Add also we didn’t ear from them in months.  </a:t>
            </a:r>
          </a:p>
          <a:p>
            <a:endParaRPr lang="en-US" dirty="0"/>
          </a:p>
          <a:p>
            <a:r>
              <a:rPr lang="en-US" dirty="0"/>
              <a:t>For that, I will be using the clas12-beamspot software: </a:t>
            </a:r>
            <a:r>
              <a:rPr lang="en-US" dirty="0">
                <a:hlinkClick r:id="rId2"/>
              </a:rPr>
              <a:t>https://github.com/JeffersonLab/clas12-beamspot</a:t>
            </a:r>
            <a:endParaRPr lang="en-US" dirty="0"/>
          </a:p>
          <a:p>
            <a:endParaRPr lang="en-US" dirty="0"/>
          </a:p>
          <a:p>
            <a:r>
              <a:rPr lang="en-US" dirty="0"/>
              <a:t>Is it ok for you, if I work? </a:t>
            </a:r>
          </a:p>
        </p:txBody>
      </p:sp>
      <p:sp>
        <p:nvSpPr>
          <p:cNvPr id="4" name="Date Placeholder 3">
            <a:extLst>
              <a:ext uri="{FF2B5EF4-FFF2-40B4-BE49-F238E27FC236}">
                <a16:creationId xmlns:a16="http://schemas.microsoft.com/office/drawing/2014/main" id="{20BD2BDA-5D76-2A82-45FE-CCCE4E46CFED}"/>
              </a:ext>
            </a:extLst>
          </p:cNvPr>
          <p:cNvSpPr>
            <a:spLocks noGrp="1"/>
          </p:cNvSpPr>
          <p:nvPr>
            <p:ph type="dt" sz="half" idx="10"/>
          </p:nvPr>
        </p:nvSpPr>
        <p:spPr/>
        <p:txBody>
          <a:bodyPr/>
          <a:lstStyle/>
          <a:p>
            <a:r>
              <a:rPr lang="en-US"/>
              <a:t>06/09/26</a:t>
            </a:r>
            <a:endParaRPr lang="en-US" dirty="0"/>
          </a:p>
        </p:txBody>
      </p:sp>
      <p:sp>
        <p:nvSpPr>
          <p:cNvPr id="5" name="Footer Placeholder 4">
            <a:extLst>
              <a:ext uri="{FF2B5EF4-FFF2-40B4-BE49-F238E27FC236}">
                <a16:creationId xmlns:a16="http://schemas.microsoft.com/office/drawing/2014/main" id="{584E88B2-D92A-53B5-1849-9A9A6F0AA204}"/>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D571BFBD-2C25-6042-8AAD-6DED63329B35}"/>
              </a:ext>
            </a:extLst>
          </p:cNvPr>
          <p:cNvSpPr>
            <a:spLocks noGrp="1"/>
          </p:cNvSpPr>
          <p:nvPr>
            <p:ph type="sldNum" sz="quarter" idx="12"/>
          </p:nvPr>
        </p:nvSpPr>
        <p:spPr/>
        <p:txBody>
          <a:bodyPr/>
          <a:lstStyle/>
          <a:p>
            <a:fld id="{C5EF2332-01BF-834F-8236-50238282D533}" type="slidenum">
              <a:rPr lang="en-US" smtClean="0"/>
              <a:t>22</a:t>
            </a:fld>
            <a:endParaRPr lang="en-US"/>
          </a:p>
        </p:txBody>
      </p:sp>
    </p:spTree>
    <p:extLst>
      <p:ext uri="{BB962C8B-B14F-4D97-AF65-F5344CB8AC3E}">
        <p14:creationId xmlns:p14="http://schemas.microsoft.com/office/powerpoint/2010/main" val="486860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195E4-88D7-69F5-83A6-D0E5C8932B33}"/>
              </a:ext>
            </a:extLst>
          </p:cNvPr>
          <p:cNvSpPr>
            <a:spLocks noGrp="1"/>
          </p:cNvSpPr>
          <p:nvPr>
            <p:ph type="title"/>
          </p:nvPr>
        </p:nvSpPr>
        <p:spPr/>
        <p:txBody>
          <a:bodyPr/>
          <a:lstStyle/>
          <a:p>
            <a:r>
              <a:rPr lang="en-US" cap="small" dirty="0"/>
              <a:t>To do list</a:t>
            </a:r>
          </a:p>
        </p:txBody>
      </p:sp>
      <p:sp>
        <p:nvSpPr>
          <p:cNvPr id="3" name="Content Placeholder 2">
            <a:extLst>
              <a:ext uri="{FF2B5EF4-FFF2-40B4-BE49-F238E27FC236}">
                <a16:creationId xmlns:a16="http://schemas.microsoft.com/office/drawing/2014/main" id="{FF7E2598-B386-02D3-ECE4-6A6D09FB64DA}"/>
              </a:ext>
            </a:extLst>
          </p:cNvPr>
          <p:cNvSpPr>
            <a:spLocks noGrp="1"/>
          </p:cNvSpPr>
          <p:nvPr>
            <p:ph idx="1"/>
          </p:nvPr>
        </p:nvSpPr>
        <p:spPr/>
        <p:txBody>
          <a:bodyPr>
            <a:normAutofit/>
          </a:bodyPr>
          <a:lstStyle/>
          <a:p>
            <a:r>
              <a:rPr lang="en-US" dirty="0">
                <a:latin typeface="Fira Sans Light" panose="020B0403050000020004" pitchFamily="34" charset="0"/>
                <a:ea typeface="Fira Sans Light" panose="020B0403050000020004" pitchFamily="34" charset="0"/>
              </a:rPr>
              <a:t>RG-D:</a:t>
            </a:r>
          </a:p>
          <a:p>
            <a:pPr lvl="1"/>
            <a:r>
              <a:rPr lang="en-US" dirty="0"/>
              <a:t>Regenerate simulation with the -3 cm solenoid shift.</a:t>
            </a:r>
          </a:p>
          <a:p>
            <a:pPr lvl="1"/>
            <a:r>
              <a:rPr lang="en-US" dirty="0">
                <a:latin typeface="Fira Sans Light" panose="020B0403050000020004" pitchFamily="34" charset="0"/>
                <a:ea typeface="Fira Sans Light" panose="020B0403050000020004" pitchFamily="34" charset="0"/>
              </a:rPr>
              <a:t>Correct the</a:t>
            </a:r>
            <a:r>
              <a:rPr lang="en-US" dirty="0"/>
              <a:t> RG-D GCARDs in clas12-config </a:t>
            </a:r>
            <a:endParaRPr lang="en-US" dirty="0">
              <a:latin typeface="Fira Sans Light" panose="020B0403050000020004" pitchFamily="34" charset="0"/>
              <a:ea typeface="Fira Sans Light" panose="020B0403050000020004" pitchFamily="34" charset="0"/>
            </a:endParaRPr>
          </a:p>
          <a:p>
            <a:pPr lvl="1"/>
            <a:r>
              <a:rPr lang="en-US" dirty="0">
                <a:latin typeface="Fira Sans Light" panose="020B0403050000020004" pitchFamily="34" charset="0"/>
                <a:ea typeface="Fira Sans Light" panose="020B0403050000020004" pitchFamily="34" charset="0"/>
              </a:rPr>
              <a:t>Continue the work on cos and sin </a:t>
            </a:r>
            <a:r>
              <a:rPr lang="en-US" dirty="0" err="1">
                <a:latin typeface="Fira Sans Light" panose="020B0403050000020004" pitchFamily="34" charset="0"/>
                <a:ea typeface="Fira Sans Light" panose="020B0403050000020004" pitchFamily="34" charset="0"/>
              </a:rPr>
              <a:t>φ</a:t>
            </a:r>
            <a:r>
              <a:rPr lang="en-US" baseline="-25000" dirty="0" err="1">
                <a:latin typeface="Fira Sans Light" panose="020B0403050000020004" pitchFamily="34" charset="0"/>
                <a:ea typeface="Fira Sans Light" panose="020B0403050000020004" pitchFamily="34" charset="0"/>
              </a:rPr>
              <a:t>h</a:t>
            </a:r>
            <a:r>
              <a:rPr lang="en-US" dirty="0">
                <a:latin typeface="Fira Sans Light" panose="020B0403050000020004" pitchFamily="34" charset="0"/>
                <a:ea typeface="Fira Sans Light" panose="020B0403050000020004" pitchFamily="34" charset="0"/>
              </a:rPr>
              <a:t> extraction </a:t>
            </a:r>
          </a:p>
          <a:p>
            <a:pPr lvl="1"/>
            <a:r>
              <a:rPr lang="en-US" dirty="0">
                <a:latin typeface="Fira Sans Light" panose="020B0403050000020004" pitchFamily="34" charset="0"/>
                <a:ea typeface="Fira Sans Light" panose="020B0403050000020004" pitchFamily="34" charset="0"/>
              </a:rPr>
              <a:t>Radiative and acceptance correction</a:t>
            </a:r>
          </a:p>
          <a:p>
            <a:pPr lvl="1"/>
            <a:r>
              <a:rPr lang="en-US" dirty="0">
                <a:latin typeface="Fira Sans Light" panose="020B0403050000020004" pitchFamily="34" charset="0"/>
                <a:ea typeface="Fira Sans Light" panose="020B0403050000020004" pitchFamily="34" charset="0"/>
              </a:rPr>
              <a:t>Background for ρ</a:t>
            </a:r>
            <a:r>
              <a:rPr lang="en-US" baseline="30000" dirty="0">
                <a:latin typeface="Fira Sans Light" panose="020B0403050000020004" pitchFamily="34" charset="0"/>
                <a:ea typeface="Fira Sans Light" panose="020B0403050000020004" pitchFamily="34" charset="0"/>
              </a:rPr>
              <a:t>0</a:t>
            </a:r>
            <a:r>
              <a:rPr lang="en-US" dirty="0">
                <a:latin typeface="Fira Sans Light" panose="020B0403050000020004" pitchFamily="34" charset="0"/>
                <a:ea typeface="Fira Sans Light" panose="020B0403050000020004" pitchFamily="34" charset="0"/>
              </a:rPr>
              <a:t> with simulation for CT analysis</a:t>
            </a:r>
          </a:p>
          <a:p>
            <a:pPr lvl="1"/>
            <a:r>
              <a:rPr lang="en-US" dirty="0"/>
              <a:t>Write README and analysis details about the code </a:t>
            </a:r>
          </a:p>
          <a:p>
            <a:pPr lvl="1"/>
            <a:endParaRPr lang="en-US" dirty="0">
              <a:latin typeface="Fira Sans Light" panose="020B0403050000020004" pitchFamily="34" charset="0"/>
              <a:ea typeface="Fira Sans Light" panose="020B0403050000020004" pitchFamily="34" charset="0"/>
            </a:endParaRPr>
          </a:p>
          <a:p>
            <a:r>
              <a:rPr lang="en-US" dirty="0"/>
              <a:t>ALERT: </a:t>
            </a:r>
          </a:p>
          <a:p>
            <a:pPr lvl="1"/>
            <a:r>
              <a:rPr lang="en-US" dirty="0"/>
              <a:t>Work on the beam position calibration: </a:t>
            </a:r>
          </a:p>
          <a:p>
            <a:pPr lvl="2"/>
            <a:r>
              <a:rPr lang="en-US" dirty="0"/>
              <a:t>Understand how the software work </a:t>
            </a:r>
            <a:endParaRPr lang="en-US"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7EA120B9-0D55-C183-E2CD-1FE69337A251}"/>
              </a:ext>
            </a:extLst>
          </p:cNvPr>
          <p:cNvSpPr>
            <a:spLocks noGrp="1"/>
          </p:cNvSpPr>
          <p:nvPr>
            <p:ph type="dt" sz="half" idx="10"/>
          </p:nvPr>
        </p:nvSpPr>
        <p:spPr/>
        <p:txBody>
          <a:bodyPr/>
          <a:lstStyle/>
          <a:p>
            <a:r>
              <a:rPr lang="en-US"/>
              <a:t>06/09/26</a:t>
            </a:r>
          </a:p>
        </p:txBody>
      </p:sp>
      <p:sp>
        <p:nvSpPr>
          <p:cNvPr id="6" name="Slide Number Placeholder 5">
            <a:extLst>
              <a:ext uri="{FF2B5EF4-FFF2-40B4-BE49-F238E27FC236}">
                <a16:creationId xmlns:a16="http://schemas.microsoft.com/office/drawing/2014/main" id="{1204FCEA-620F-8086-B86F-5A1E2FD7BAB0}"/>
              </a:ext>
            </a:extLst>
          </p:cNvPr>
          <p:cNvSpPr>
            <a:spLocks noGrp="1"/>
          </p:cNvSpPr>
          <p:nvPr>
            <p:ph type="sldNum" sz="quarter" idx="12"/>
          </p:nvPr>
        </p:nvSpPr>
        <p:spPr/>
        <p:txBody>
          <a:bodyPr/>
          <a:lstStyle/>
          <a:p>
            <a:fld id="{C5EF2332-01BF-834F-8236-50238282D533}" type="slidenum">
              <a:rPr lang="en-US" smtClean="0"/>
              <a:t>23</a:t>
            </a:fld>
            <a:endParaRPr lang="en-US" dirty="0"/>
          </a:p>
        </p:txBody>
      </p:sp>
      <p:sp>
        <p:nvSpPr>
          <p:cNvPr id="5" name="Footer Placeholder 4">
            <a:extLst>
              <a:ext uri="{FF2B5EF4-FFF2-40B4-BE49-F238E27FC236}">
                <a16:creationId xmlns:a16="http://schemas.microsoft.com/office/drawing/2014/main" id="{CAAA86AE-223C-803F-A19B-9CAD39110687}"/>
              </a:ext>
            </a:extLst>
          </p:cNvPr>
          <p:cNvSpPr>
            <a:spLocks noGrp="1"/>
          </p:cNvSpPr>
          <p:nvPr>
            <p:ph type="ftr" sz="quarter" idx="11"/>
          </p:nvPr>
        </p:nvSpPr>
        <p:spPr/>
        <p:txBody>
          <a:bodyPr/>
          <a:lstStyle/>
          <a:p>
            <a:r>
              <a:rPr lang="en-US"/>
              <a:t>Group meeting</a:t>
            </a:r>
          </a:p>
        </p:txBody>
      </p:sp>
    </p:spTree>
    <p:extLst>
      <p:ext uri="{BB962C8B-B14F-4D97-AF65-F5344CB8AC3E}">
        <p14:creationId xmlns:p14="http://schemas.microsoft.com/office/powerpoint/2010/main" val="1754477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5496074-1DCC-FD49-93DA-4F2CC4561AAB}">
  <we:reference id="wa200010001" version="1.0.0.1" store="en-US" storeType="OMEX"/>
  <we:alternateReferences>
    <we:reference id="WA200010001" version="1.0.0.1" store="WA200010001" storeType="OMEX"/>
  </we:alternateReferences>
  <we:properties>
    <we:property name="claude.fileId" value="&quot;fb46c37d-841d-4d0b-b2b7-fe02fdbc604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5C88D9CA-47B6-6A4B-8F47-1A768226DC03}">
  <we:reference id="wa200007297" version="1.5.0.0" store="en-US" storeType="OMEX"/>
  <we:alternateReferences>
    <we:reference id="WA200007297" version="1.5.0.0" store="WA20000729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20022</TotalTime>
  <Words>1355</Words>
  <Application>Microsoft Macintosh PowerPoint</Application>
  <PresentationFormat>Widescreen</PresentationFormat>
  <Paragraphs>219</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Fira Sans</vt:lpstr>
      <vt:lpstr>Fira Sans Light</vt:lpstr>
      <vt:lpstr>Office Theme</vt:lpstr>
      <vt:lpstr>Group meeting</vt:lpstr>
      <vt:lpstr>RG-D: MC Pion </vt:lpstr>
      <vt:lpstr>RG-D: MC Pion </vt:lpstr>
      <vt:lpstr>RG-D: MC Pion </vt:lpstr>
      <vt:lpstr>RG-D: MC Pion </vt:lpstr>
      <vt:lpstr>RG-D: CuSn contamination for pion </vt:lpstr>
      <vt:lpstr>RG-D: CuSn contamination for pion </vt:lpstr>
      <vt:lpstr>RG-D: CuSn contamination for pion </vt:lpstr>
      <vt:lpstr>RG-D: CuSn contamination for pion </vt:lpstr>
      <vt:lpstr>RG-D: CuSn contamination for pion </vt:lpstr>
      <vt:lpstr>RG-D: CuSn contamination for pion </vt:lpstr>
      <vt:lpstr>RG-D: CuSn contamination for pion </vt:lpstr>
      <vt:lpstr>RG-D: CuSn contamination for pion </vt:lpstr>
      <vt:lpstr>RG-D: CuSn contamination for pion </vt:lpstr>
      <vt:lpstr>RG-D: CuSn contamination for pion </vt:lpstr>
      <vt:lpstr>RG-D: ᴨ0 analysis</vt:lpstr>
      <vt:lpstr>RG-D: ᴨ0 analysis</vt:lpstr>
      <vt:lpstr>RG-D: ᴨ0 analysis</vt:lpstr>
      <vt:lpstr>RG-D: ᴨ0 analysis</vt:lpstr>
      <vt:lpstr>RG-D: ᴨ0 analysis</vt:lpstr>
      <vt:lpstr>RG-D: Clas Collaboration meeting plan</vt:lpstr>
      <vt:lpstr>RG-L/Alert</vt:lpstr>
      <vt:lpstr>To do list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Panorámica</PresentationFormat>
  <Paragraphs>15</Paragraphs>
  <Slides>4</Slides>
  <Notes>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Atomización Ultrasónica. Parámetros y dinámica del fenómeno.</dc:title>
  <dc:creator>Josué D. Meneses Díaz</dc:creator>
  <cp:keywords/>
  <cp:lastModifiedBy>Ouillon, Mathieu</cp:lastModifiedBy>
  <cp:revision>785</cp:revision>
  <dcterms:created xsi:type="dcterms:W3CDTF">2019-12-03T01:04:10Z</dcterms:created>
  <dcterms:modified xsi:type="dcterms:W3CDTF">2026-06-09T19:19:21Z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..\bib\bibliografia.bib</vt:lpwstr>
  </property>
  <property fmtid="{D5CDD505-2E9C-101B-9397-08002B2CF9AE}" pid="3" name="date">
    <vt:lpwstr>26-11-2019</vt:lpwstr>
  </property>
</Properties>
</file>