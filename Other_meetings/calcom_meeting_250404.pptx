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Nunito"/>
      <p:regular r:id="rId13"/>
      <p:bold r:id="rId14"/>
      <p:italic r:id="rId15"/>
      <p:boldItalic r:id="rId16"/>
    </p:embeddedFont>
    <p:embeddedFont>
      <p:font typeface="Nunito Medium"/>
      <p:regular r:id="rId17"/>
      <p:bold r:id="rId18"/>
      <p:italic r:id="rId19"/>
      <p:boldItalic r:id="rId20"/>
    </p:embeddedFont>
    <p:embeddedFont>
      <p:font typeface="Roboto Mon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Medium-boldItalic.fntdata"/><Relationship Id="rId11" Type="http://schemas.openxmlformats.org/officeDocument/2006/relationships/slide" Target="slides/slide6.xml"/><Relationship Id="rId22" Type="http://schemas.openxmlformats.org/officeDocument/2006/relationships/font" Target="fonts/RobotoMono-bold.fntdata"/><Relationship Id="rId10" Type="http://schemas.openxmlformats.org/officeDocument/2006/relationships/slide" Target="slides/slide5.xml"/><Relationship Id="rId21" Type="http://schemas.openxmlformats.org/officeDocument/2006/relationships/font" Target="fonts/RobotoMono-regular.fntdata"/><Relationship Id="rId13" Type="http://schemas.openxmlformats.org/officeDocument/2006/relationships/font" Target="fonts/Nunito-regular.fntdata"/><Relationship Id="rId24" Type="http://schemas.openxmlformats.org/officeDocument/2006/relationships/font" Target="fonts/RobotoMono-boldItalic.fntdata"/><Relationship Id="rId12" Type="http://schemas.openxmlformats.org/officeDocument/2006/relationships/slide" Target="slides/slide7.xml"/><Relationship Id="rId23" Type="http://schemas.openxmlformats.org/officeDocument/2006/relationships/font" Target="fonts/RobotoMon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Nunito-italic.fntdata"/><Relationship Id="rId14" Type="http://schemas.openxmlformats.org/officeDocument/2006/relationships/font" Target="fonts/Nunito-bold.fntdata"/><Relationship Id="rId17" Type="http://schemas.openxmlformats.org/officeDocument/2006/relationships/font" Target="fonts/NunitoMedium-regular.fntdata"/><Relationship Id="rId16" Type="http://schemas.openxmlformats.org/officeDocument/2006/relationships/font" Target="fonts/Nunito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NunitoMedium-italic.fntdata"/><Relationship Id="rId6" Type="http://schemas.openxmlformats.org/officeDocument/2006/relationships/slide" Target="slides/slide1.xml"/><Relationship Id="rId18" Type="http://schemas.openxmlformats.org/officeDocument/2006/relationships/font" Target="fonts/NunitoMedium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4824efc005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4824efc005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4824efc005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4824efc005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4824efc005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4824efc005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4824efc005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4824efc005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4824efc005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4824efc005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4824efc005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4824efc005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1700" y="2077800"/>
            <a:ext cx="6412200" cy="6474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B6D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703475"/>
            <a:ext cx="8520600" cy="126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077800"/>
            <a:ext cx="6412200" cy="64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/>
          <p:nvPr/>
        </p:nvSpPr>
        <p:spPr>
          <a:xfrm>
            <a:off x="0" y="0"/>
            <a:ext cx="9144000" cy="6474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B6D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" name="Google Shape;19;p4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Nunito Medium"/>
              <a:buNone/>
              <a:defRPr sz="25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800"/>
              <a:buFont typeface="Nunito Medium"/>
              <a:buChar char="●"/>
              <a:defRPr>
                <a:solidFill>
                  <a:srgbClr val="434343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400"/>
              <a:buFont typeface="Nunito Medium"/>
              <a:buChar char="○"/>
              <a:defRPr>
                <a:solidFill>
                  <a:srgbClr val="434343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400"/>
              <a:buFont typeface="Nunito Medium"/>
              <a:buChar char="■"/>
              <a:defRPr>
                <a:solidFill>
                  <a:srgbClr val="434343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400"/>
              <a:buFont typeface="Nunito Medium"/>
              <a:buChar char="●"/>
              <a:defRPr>
                <a:solidFill>
                  <a:srgbClr val="434343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Nunito Medium"/>
              <a:buChar char="○"/>
              <a:defRPr>
                <a:solidFill>
                  <a:srgbClr val="434343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Nunito Medium"/>
              <a:buChar char="■"/>
              <a:defRPr>
                <a:solidFill>
                  <a:srgbClr val="434343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Nunito Medium"/>
              <a:buChar char="●"/>
              <a:defRPr>
                <a:solidFill>
                  <a:srgbClr val="434343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Nunito Medium"/>
              <a:buChar char="○"/>
              <a:defRPr>
                <a:solidFill>
                  <a:srgbClr val="434343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Nunito Medium"/>
              <a:buChar char="■"/>
              <a:defRPr>
                <a:solidFill>
                  <a:srgbClr val="434343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9pPr>
          </a:lstStyle>
          <a:p/>
        </p:txBody>
      </p:sp>
      <p:sp>
        <p:nvSpPr>
          <p:cNvPr id="21" name="Google Shape;21;p4"/>
          <p:cNvSpPr/>
          <p:nvPr/>
        </p:nvSpPr>
        <p:spPr>
          <a:xfrm rot="-5400000">
            <a:off x="8447400" y="-49200"/>
            <a:ext cx="647400" cy="7458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6AA84F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cxnSp>
        <p:nvCxnSpPr>
          <p:cNvPr id="23" name="Google Shape;23;p4"/>
          <p:cNvCxnSpPr/>
          <p:nvPr/>
        </p:nvCxnSpPr>
        <p:spPr>
          <a:xfrm>
            <a:off x="155650" y="4743825"/>
            <a:ext cx="8889900" cy="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" name="Google Shape;24;p4"/>
          <p:cNvSpPr txBox="1"/>
          <p:nvPr/>
        </p:nvSpPr>
        <p:spPr>
          <a:xfrm>
            <a:off x="5005450" y="4787400"/>
            <a:ext cx="40092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CalCom Meeting</a:t>
            </a:r>
            <a:r>
              <a:rPr lang="fr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(4 April, 2025)</a:t>
            </a:r>
            <a:endParaRPr sz="11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/>
          <p:nvPr/>
        </p:nvSpPr>
        <p:spPr>
          <a:xfrm>
            <a:off x="0" y="0"/>
            <a:ext cx="9144000" cy="6474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B6D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Nunito Medium"/>
              <a:buNone/>
              <a:defRPr sz="25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800"/>
              <a:buFont typeface="Nunito Medium"/>
              <a:buChar char="●"/>
              <a:defRPr>
                <a:solidFill>
                  <a:srgbClr val="434343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400"/>
              <a:buFont typeface="Nunito Medium"/>
              <a:buChar char="○"/>
              <a:defRPr>
                <a:solidFill>
                  <a:srgbClr val="434343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400"/>
              <a:buFont typeface="Nunito Medium"/>
              <a:buChar char="■"/>
              <a:defRPr>
                <a:solidFill>
                  <a:srgbClr val="434343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400"/>
              <a:buFont typeface="Nunito Medium"/>
              <a:buChar char="●"/>
              <a:defRPr>
                <a:solidFill>
                  <a:srgbClr val="434343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Nunito Medium"/>
              <a:buChar char="○"/>
              <a:defRPr>
                <a:solidFill>
                  <a:srgbClr val="434343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Nunito Medium"/>
              <a:buChar char="■"/>
              <a:defRPr>
                <a:solidFill>
                  <a:srgbClr val="434343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Nunito Medium"/>
              <a:buChar char="●"/>
              <a:defRPr>
                <a:solidFill>
                  <a:srgbClr val="434343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Nunito Medium"/>
              <a:buChar char="○"/>
              <a:defRPr>
                <a:solidFill>
                  <a:srgbClr val="434343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Nunito Medium"/>
              <a:buChar char="■"/>
              <a:defRPr>
                <a:solidFill>
                  <a:srgbClr val="434343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9pPr>
          </a:lstStyle>
          <a:p/>
        </p:txBody>
      </p:sp>
      <p:sp>
        <p:nvSpPr>
          <p:cNvPr id="29" name="Google Shape;29;p5"/>
          <p:cNvSpPr/>
          <p:nvPr/>
        </p:nvSpPr>
        <p:spPr>
          <a:xfrm rot="-5400000">
            <a:off x="8447400" y="-49200"/>
            <a:ext cx="647400" cy="7458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6AA84F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1" name="Google Shape;41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4" name="Google Shape;5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7" name="Google Shape;57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github.com/JeffersonLab/coatjava/blob/development/bin/trigger-filter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gitlab.in2p3.fr/dupre/sidis_mc/" TargetMode="External"/><Relationship Id="rId4" Type="http://schemas.openxmlformats.org/officeDocument/2006/relationships/hyperlink" Target="https://github.com/JeffersonLab/coatjava/blob/development/bin/bg-merger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ctrTitle"/>
          </p:nvPr>
        </p:nvSpPr>
        <p:spPr>
          <a:xfrm>
            <a:off x="311700" y="156575"/>
            <a:ext cx="8520600" cy="169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fr" sz="4000">
                <a:solidFill>
                  <a:srgbClr val="434343"/>
                </a:solidFill>
              </a:rPr>
              <a:t>RG-D Background Merging and Efficiency Studies</a:t>
            </a:r>
            <a:endParaRPr sz="4000">
              <a:solidFill>
                <a:srgbClr val="434343"/>
              </a:solidFill>
            </a:endParaRPr>
          </a:p>
        </p:txBody>
      </p:sp>
      <p:sp>
        <p:nvSpPr>
          <p:cNvPr id="66" name="Google Shape;66;p14"/>
          <p:cNvSpPr txBox="1"/>
          <p:nvPr>
            <p:ph idx="1" type="subTitle"/>
          </p:nvPr>
        </p:nvSpPr>
        <p:spPr>
          <a:xfrm>
            <a:off x="311700" y="2077800"/>
            <a:ext cx="64122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fr" sz="198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Mathieu Ouillon (Mississippi State University)</a:t>
            </a:r>
            <a:endParaRPr sz="198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1166750" y="2843275"/>
            <a:ext cx="41325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20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CalColm Meeting </a:t>
            </a:r>
            <a:endParaRPr sz="20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20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4 April</a:t>
            </a:r>
            <a:r>
              <a:rPr lang="fr" sz="20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, 2025</a:t>
            </a:r>
            <a:endParaRPr sz="20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68" name="Google Shape;6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475" y="4245800"/>
            <a:ext cx="3863174" cy="74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3000">
                <a:solidFill>
                  <a:srgbClr val="404040"/>
                </a:solidFill>
                <a:latin typeface="Nunito"/>
                <a:ea typeface="Nunito"/>
                <a:cs typeface="Nunito"/>
                <a:sym typeface="Nunito"/>
              </a:rPr>
              <a:t>Background Merging</a:t>
            </a:r>
            <a:r>
              <a:rPr lang="fr" sz="3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endParaRPr sz="3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4" name="Google Shape;74;p15"/>
          <p:cNvSpPr txBox="1"/>
          <p:nvPr>
            <p:ph idx="1" type="body"/>
          </p:nvPr>
        </p:nvSpPr>
        <p:spPr>
          <a:xfrm>
            <a:off x="250" y="647400"/>
            <a:ext cx="9144000" cy="40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683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Nunito"/>
              <a:buChar char="-"/>
            </a:pPr>
            <a:r>
              <a:rPr lang="fr" sz="2200">
                <a:solidFill>
                  <a:srgbClr val="404040"/>
                </a:solidFill>
                <a:latin typeface="Nunito"/>
                <a:ea typeface="Nunito"/>
                <a:cs typeface="Nunito"/>
                <a:sym typeface="Nunito"/>
              </a:rPr>
              <a:t>Goal: Study DC efficiency vs. current for simulation and data </a:t>
            </a:r>
            <a:r>
              <a:rPr lang="fr" sz="2200">
                <a:solidFill>
                  <a:srgbClr val="404040"/>
                </a:solidFill>
                <a:latin typeface="Nunito"/>
                <a:ea typeface="Nunito"/>
                <a:cs typeface="Nunito"/>
                <a:sym typeface="Nunito"/>
              </a:rPr>
              <a:t>using</a:t>
            </a:r>
            <a:r>
              <a:rPr lang="fr" sz="2200">
                <a:solidFill>
                  <a:srgbClr val="404040"/>
                </a:solidFill>
                <a:latin typeface="Nunito"/>
                <a:ea typeface="Nunito"/>
                <a:cs typeface="Nunito"/>
                <a:sym typeface="Nunito"/>
              </a:rPr>
              <a:t> AI-assisted and conventional tracking (CV)</a:t>
            </a:r>
            <a:endParaRPr sz="2200">
              <a:solidFill>
                <a:srgbClr val="40404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683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Nunito"/>
              <a:buChar char="-"/>
            </a:pPr>
            <a:r>
              <a:rPr lang="fr" sz="2200">
                <a:solidFill>
                  <a:srgbClr val="404040"/>
                </a:solidFill>
                <a:latin typeface="Nunito"/>
                <a:ea typeface="Nunito"/>
                <a:cs typeface="Nunito"/>
                <a:sym typeface="Nunito"/>
              </a:rPr>
              <a:t>RG-D have </a:t>
            </a:r>
            <a:r>
              <a:rPr lang="fr" sz="2200">
                <a:solidFill>
                  <a:srgbClr val="404040"/>
                </a:solidFill>
                <a:latin typeface="Nunito"/>
                <a:ea typeface="Nunito"/>
                <a:cs typeface="Nunito"/>
                <a:sym typeface="Nunito"/>
              </a:rPr>
              <a:t>three</a:t>
            </a:r>
            <a:r>
              <a:rPr lang="fr" sz="2200">
                <a:solidFill>
                  <a:srgbClr val="404040"/>
                </a:solidFill>
                <a:latin typeface="Nunito"/>
                <a:ea typeface="Nunito"/>
                <a:cs typeface="Nunito"/>
                <a:sym typeface="Nunito"/>
              </a:rPr>
              <a:t> target configurations: LD2, CxC and CuSn              -&gt; Focus on LD2 first</a:t>
            </a:r>
            <a:endParaRPr sz="2200">
              <a:solidFill>
                <a:srgbClr val="40404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40404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683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Nunito"/>
              <a:buChar char="-"/>
            </a:pPr>
            <a:r>
              <a:rPr lang="fr" sz="2200">
                <a:solidFill>
                  <a:srgbClr val="404040"/>
                </a:solidFill>
                <a:latin typeface="Nunito"/>
                <a:ea typeface="Nunito"/>
                <a:cs typeface="Nunito"/>
                <a:sym typeface="Nunito"/>
              </a:rPr>
              <a:t>First step: extract background events</a:t>
            </a:r>
            <a:endParaRPr sz="2200">
              <a:solidFill>
                <a:srgbClr val="40404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-"/>
            </a:pPr>
            <a:r>
              <a:rPr lang="fr" sz="2000">
                <a:solidFill>
                  <a:srgbClr val="404040"/>
                </a:solidFill>
                <a:latin typeface="Nunito"/>
                <a:ea typeface="Nunito"/>
                <a:cs typeface="Nunito"/>
                <a:sym typeface="Nunito"/>
              </a:rPr>
              <a:t>Two current settings: 50 and 60 nA</a:t>
            </a:r>
            <a:endParaRPr sz="2000">
              <a:solidFill>
                <a:srgbClr val="40404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-"/>
            </a:pPr>
            <a:r>
              <a:rPr lang="fr" sz="2000">
                <a:solidFill>
                  <a:srgbClr val="404040"/>
                </a:solidFill>
                <a:latin typeface="Nunito"/>
                <a:ea typeface="Nunito"/>
                <a:cs typeface="Nunito"/>
                <a:sym typeface="Nunito"/>
              </a:rPr>
              <a:t>Use </a:t>
            </a:r>
            <a:r>
              <a:rPr lang="fr" sz="1800" u="sng">
                <a:solidFill>
                  <a:schemeClr val="hlink"/>
                </a:solidFill>
                <a:latin typeface="Roboto Mono"/>
                <a:ea typeface="Roboto Mono"/>
                <a:cs typeface="Roboto Mono"/>
                <a:sym typeface="Roboto Mono"/>
                <a:hlinkClick r:id="rId3"/>
              </a:rPr>
              <a:t>trigger-filter</a:t>
            </a:r>
            <a:r>
              <a:rPr lang="fr" sz="2000">
                <a:solidFill>
                  <a:srgbClr val="404040"/>
                </a:solidFill>
                <a:latin typeface="Nunito"/>
                <a:ea typeface="Nunito"/>
                <a:cs typeface="Nunito"/>
                <a:sym typeface="Nunito"/>
              </a:rPr>
              <a:t> to extract background events based on the trigger</a:t>
            </a:r>
            <a:endParaRPr sz="2000">
              <a:solidFill>
                <a:srgbClr val="40404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1371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fr" sz="2000">
                <a:solidFill>
                  <a:srgbClr val="404040"/>
                </a:solidFill>
                <a:latin typeface="Nunito"/>
                <a:ea typeface="Nunito"/>
                <a:cs typeface="Nunito"/>
                <a:sym typeface="Nunito"/>
              </a:rPr>
              <a:t>-&gt; trigger bit mask: 0x0000008000000000</a:t>
            </a:r>
            <a:endParaRPr sz="2000">
              <a:solidFill>
                <a:srgbClr val="40404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1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Nunito"/>
              <a:buChar char="-"/>
            </a:pPr>
            <a:r>
              <a:rPr lang="fr" sz="2000">
                <a:solidFill>
                  <a:srgbClr val="404040"/>
                </a:solidFill>
                <a:latin typeface="Nunito"/>
                <a:ea typeface="Nunito"/>
                <a:cs typeface="Nunito"/>
                <a:sym typeface="Nunito"/>
              </a:rPr>
              <a:t>Take 20 random files for each current, get 5k background events per file ⇒ end with </a:t>
            </a:r>
            <a:r>
              <a:rPr lang="fr" sz="2000">
                <a:solidFill>
                  <a:srgbClr val="404040"/>
                </a:solidFill>
                <a:latin typeface="Nunito"/>
                <a:ea typeface="Nunito"/>
                <a:cs typeface="Nunito"/>
                <a:sym typeface="Nunito"/>
              </a:rPr>
              <a:t>100k background events </a:t>
            </a:r>
            <a:r>
              <a:rPr lang="fr" sz="2000">
                <a:solidFill>
                  <a:srgbClr val="404040"/>
                </a:solidFill>
                <a:latin typeface="Nunito"/>
                <a:ea typeface="Nunito"/>
                <a:cs typeface="Nunito"/>
                <a:sym typeface="Nunito"/>
              </a:rPr>
              <a:t>per current</a:t>
            </a:r>
            <a:endParaRPr sz="2000">
              <a:solidFill>
                <a:srgbClr val="40404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5" name="Google Shape;75;p15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3000">
                <a:solidFill>
                  <a:srgbClr val="434343"/>
                </a:solidFill>
              </a:rPr>
              <a:t>Simulation vs. Data</a:t>
            </a:r>
            <a:endParaRPr sz="3000">
              <a:solidFill>
                <a:srgbClr val="434343"/>
              </a:solidFill>
            </a:endParaRPr>
          </a:p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0" y="647400"/>
            <a:ext cx="9087600" cy="406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fr" sz="2200"/>
              <a:t>Simulate SIDIS events with this </a:t>
            </a:r>
            <a:r>
              <a:rPr lang="fr" sz="2200" u="sng">
                <a:solidFill>
                  <a:schemeClr val="hlink"/>
                </a:solidFill>
                <a:hlinkClick r:id="rId3"/>
              </a:rPr>
              <a:t>event generator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fr" sz="2200"/>
              <a:t>GEMC 5.11: inbending configuration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fr" sz="2200"/>
              <a:t>COATJAVA: 11.1.0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fr" sz="2200"/>
              <a:t>AI-assisted reconstruction using the trained network by the end of data taking back in December 2023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-368300" lvl="0" marL="457200" rtl="0" algn="l">
              <a:spcBef>
                <a:spcPts val="1200"/>
              </a:spcBef>
              <a:spcAft>
                <a:spcPts val="0"/>
              </a:spcAft>
              <a:buSzPts val="2200"/>
              <a:buChar char="-"/>
            </a:pPr>
            <a:r>
              <a:rPr lang="fr" sz="2200"/>
              <a:t>Merge background and simulation events with </a:t>
            </a:r>
            <a:r>
              <a:rPr lang="fr" sz="2000" u="sng">
                <a:solidFill>
                  <a:schemeClr val="hlink"/>
                </a:solidFill>
                <a:latin typeface="Roboto Mono"/>
                <a:ea typeface="Roboto Mono"/>
                <a:cs typeface="Roboto Mono"/>
                <a:sym typeface="Roboto Mono"/>
                <a:hlinkClick r:id="rId4"/>
              </a:rPr>
              <a:t>bg-merger</a:t>
            </a:r>
            <a:endParaRPr sz="22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-368300" lvl="0" marL="457200" rtl="0" algn="l">
              <a:spcBef>
                <a:spcPts val="1200"/>
              </a:spcBef>
              <a:spcAft>
                <a:spcPts val="0"/>
              </a:spcAft>
              <a:buSzPts val="2200"/>
              <a:buChar char="-"/>
            </a:pPr>
            <a:r>
              <a:rPr lang="fr" sz="2200"/>
              <a:t>Use </a:t>
            </a:r>
            <a:r>
              <a:rPr lang="fr" sz="2200"/>
              <a:t>Luminosity scan runs with current: 5, 20, 35, 50, 75 &amp; 100 nA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fr" sz="2200"/>
              <a:t>Cooked data with COATJAVA 11.1.0</a:t>
            </a:r>
            <a:endParaRPr sz="20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82" name="Google Shape;82;p16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0" y="0"/>
            <a:ext cx="83982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fr" sz="3000">
                <a:solidFill>
                  <a:srgbClr val="404040"/>
                </a:solidFill>
                <a:latin typeface="Nunito"/>
                <a:ea typeface="Nunito"/>
                <a:cs typeface="Nunito"/>
                <a:sym typeface="Nunito"/>
              </a:rPr>
              <a:t>E</a:t>
            </a:r>
            <a:r>
              <a:rPr lang="fr" sz="3000">
                <a:solidFill>
                  <a:srgbClr val="404040"/>
                </a:solidFill>
                <a:latin typeface="Nunito"/>
                <a:ea typeface="Nunito"/>
                <a:cs typeface="Nunito"/>
                <a:sym typeface="Nunito"/>
              </a:rPr>
              <a:t>fficiency Results for Simulation and Data</a:t>
            </a:r>
            <a:endParaRPr sz="3000">
              <a:solidFill>
                <a:srgbClr val="434343"/>
              </a:solidFill>
            </a:endParaRPr>
          </a:p>
        </p:txBody>
      </p:sp>
      <p:sp>
        <p:nvSpPr>
          <p:cNvPr id="88" name="Google Shape;88;p17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89" name="Google Shape;8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47400"/>
            <a:ext cx="9115576" cy="4041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fr" sz="3000">
                <a:solidFill>
                  <a:srgbClr val="404040"/>
                </a:solidFill>
                <a:latin typeface="Nunito"/>
                <a:ea typeface="Nunito"/>
                <a:cs typeface="Nunito"/>
                <a:sym typeface="Nunito"/>
              </a:rPr>
              <a:t>Efficiency Results for Simulation and Data</a:t>
            </a:r>
            <a:endParaRPr sz="3000">
              <a:solidFill>
                <a:srgbClr val="40404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14700" y="2974000"/>
            <a:ext cx="9114600" cy="191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-347345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Nunito"/>
              <a:buChar char="-"/>
            </a:pPr>
            <a:r>
              <a:rPr lang="fr" sz="2200">
                <a:latin typeface="Nunito"/>
                <a:ea typeface="Nunito"/>
                <a:cs typeface="Nunito"/>
                <a:sym typeface="Nunito"/>
              </a:rPr>
              <a:t>Difference between simulation and data: ~30%</a:t>
            </a:r>
            <a:endParaRPr sz="2200">
              <a:latin typeface="Nunito"/>
              <a:ea typeface="Nunito"/>
              <a:cs typeface="Nunito"/>
              <a:sym typeface="Nunito"/>
            </a:endParaRPr>
          </a:p>
          <a:p>
            <a:pPr indent="-347345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Nunito"/>
              <a:buChar char="-"/>
            </a:pPr>
            <a:r>
              <a:rPr lang="fr" sz="2200">
                <a:latin typeface="Nunito"/>
                <a:ea typeface="Nunito"/>
                <a:cs typeface="Nunito"/>
                <a:sym typeface="Nunito"/>
              </a:rPr>
              <a:t>Slope of the simulation is lower than the data, as expected!</a:t>
            </a:r>
            <a:endParaRPr sz="2200">
              <a:latin typeface="Nunito"/>
              <a:ea typeface="Nunito"/>
              <a:cs typeface="Nunito"/>
              <a:sym typeface="Nunito"/>
            </a:endParaRPr>
          </a:p>
          <a:p>
            <a:pPr indent="-347345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Nunito"/>
              <a:buChar char="-"/>
            </a:pPr>
            <a:r>
              <a:rPr lang="fr" sz="2200">
                <a:latin typeface="Nunito"/>
                <a:ea typeface="Nunito"/>
                <a:cs typeface="Nunito"/>
                <a:sym typeface="Nunito"/>
              </a:rPr>
              <a:t>Difference could be due to the old trained network online before the offline alignment and calibrations!? </a:t>
            </a:r>
            <a:endParaRPr sz="2200">
              <a:latin typeface="Nunito"/>
              <a:ea typeface="Nunito"/>
              <a:cs typeface="Nunito"/>
              <a:sym typeface="Nunito"/>
            </a:endParaRPr>
          </a:p>
          <a:p>
            <a:pPr indent="-347345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Nunito"/>
              <a:buChar char="-"/>
            </a:pPr>
            <a:r>
              <a:rPr lang="fr" sz="2200">
                <a:latin typeface="Nunito"/>
                <a:ea typeface="Nunito"/>
                <a:cs typeface="Nunito"/>
                <a:sym typeface="Nunito"/>
              </a:rPr>
              <a:t>Next step: redo it with the new AI network &amp; try other nuclear target, carbon</a:t>
            </a:r>
            <a:endParaRPr/>
          </a:p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97" name="Google Shape;97;p18"/>
          <p:cNvSpPr txBox="1"/>
          <p:nvPr/>
        </p:nvSpPr>
        <p:spPr>
          <a:xfrm>
            <a:off x="562475" y="887750"/>
            <a:ext cx="17076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Positive</a:t>
            </a:r>
            <a:endParaRPr sz="18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8" name="Google Shape;98;p18"/>
          <p:cNvSpPr txBox="1"/>
          <p:nvPr/>
        </p:nvSpPr>
        <p:spPr>
          <a:xfrm>
            <a:off x="2782050" y="887750"/>
            <a:ext cx="17076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Negative</a:t>
            </a:r>
            <a:endParaRPr sz="18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99" name="Google Shape;9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249" y="1192850"/>
            <a:ext cx="2015275" cy="1817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13050" y="1192850"/>
            <a:ext cx="1975300" cy="1776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4600" u="sng">
                <a:solidFill>
                  <a:srgbClr val="434343"/>
                </a:solidFill>
                <a:latin typeface="Nunito Medium"/>
                <a:ea typeface="Nunito Medium"/>
                <a:cs typeface="Nunito Medium"/>
                <a:sym typeface="Nunito Medium"/>
              </a:rPr>
              <a:t>Backup</a:t>
            </a:r>
            <a:endParaRPr sz="4600" u="sng">
              <a:solidFill>
                <a:srgbClr val="434343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06" name="Google Shape;10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fr"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Kinematics of Generated Events</a:t>
            </a:r>
            <a:endParaRPr/>
          </a:p>
        </p:txBody>
      </p:sp>
      <p:sp>
        <p:nvSpPr>
          <p:cNvPr id="112" name="Google Shape;112;p20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13" name="Google Shape;11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3038" y="647400"/>
            <a:ext cx="7937930" cy="4496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