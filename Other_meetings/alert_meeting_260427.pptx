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259"/>
            <p14:sldId id="260"/>
            <p14:sldId id="257"/>
            <p14:sldId id="258"/>
            <p14:sldId id="261"/>
            <p14:sldId id="262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5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328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27-04-26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27-04-26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04/27/26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ALERT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7444740" cy="2234317"/>
          </a:xfrm>
        </p:spPr>
        <p:txBody>
          <a:bodyPr>
            <a:normAutofit fontScale="90000"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Graph Neural Network for ALERT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04/27/26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9437-8030-11D2-4E9D-095E90D8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Inference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7F0F-FCD2-DED3-BCBB-886872260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4" y="4718783"/>
            <a:ext cx="11922474" cy="1933477"/>
          </a:xfrm>
        </p:spPr>
        <p:txBody>
          <a:bodyPr>
            <a:normAutofit/>
          </a:bodyPr>
          <a:lstStyle/>
          <a:p>
            <a:r>
              <a:rPr lang="en-US" dirty="0"/>
              <a:t>MLP is faster on small event, but GNN is still fast. </a:t>
            </a:r>
          </a:p>
          <a:p>
            <a:r>
              <a:rPr lang="en-US" dirty="0"/>
              <a:t>A full event take around ~500ms so GNN is 0.16%</a:t>
            </a:r>
          </a:p>
          <a:p>
            <a:r>
              <a:rPr lang="en-US" dirty="0"/>
              <a:t>Most of the time for the GNN is the model inference. I try smaller models but the efficiency on simulation was lower.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C7CAC-AF17-5B09-7913-19ECA5E9B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7BB60-11F7-4C45-E30A-B5C54044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ADC6F-E0F3-DB0C-2E28-B487EB2C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51177-B09A-9956-4719-02DCE1B69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82" y="1839378"/>
            <a:ext cx="4902200" cy="227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4EE72-881D-6E0E-64F8-B2FC1702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62" y="1746758"/>
            <a:ext cx="5669756" cy="284608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776E19-CFED-3A25-CE2C-14BB7865D1FD}"/>
              </a:ext>
            </a:extLst>
          </p:cNvPr>
          <p:cNvSpPr txBox="1">
            <a:spLocks/>
          </p:cNvSpPr>
          <p:nvPr/>
        </p:nvSpPr>
        <p:spPr>
          <a:xfrm>
            <a:off x="262382" y="975360"/>
            <a:ext cx="11922474" cy="8640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Compare the inference speed of GNN vs MLP in COATJAVA:</a:t>
            </a:r>
          </a:p>
          <a:p>
            <a:r>
              <a:rPr lang="en-US" dirty="0"/>
              <a:t>Tested on clas_021903.evio.00000 with 10k events. (325 </a:t>
            </a:r>
            <a:r>
              <a:rPr lang="en-US" dirty="0" err="1"/>
              <a:t>nA</a:t>
            </a:r>
            <a:r>
              <a:rPr lang="en-US" dirty="0"/>
              <a:t> 10676.6 4He )</a:t>
            </a:r>
          </a:p>
        </p:txBody>
      </p:sp>
    </p:spTree>
    <p:extLst>
      <p:ext uri="{BB962C8B-B14F-4D97-AF65-F5344CB8AC3E}">
        <p14:creationId xmlns:p14="http://schemas.microsoft.com/office/powerpoint/2010/main" val="304346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A933-830C-C6C4-F212-5092FE37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simulation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6038-B039-1284-0DA0-90545EA0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3048C-A4D9-6B6E-A612-4E44854D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55DBC-A6B6-0154-4B1A-683F5798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65BCE-614C-BFA8-9E1B-F71E0BAC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77" y="1183394"/>
            <a:ext cx="8208780" cy="2986042"/>
          </a:xfrm>
          <a:prstGeom prst="rect">
            <a:avLst/>
          </a:prstGeom>
        </p:spPr>
      </p:pic>
      <p:sp>
        <p:nvSpPr>
          <p:cNvPr id="8" name="Definition Box">
            <a:extLst>
              <a:ext uri="{FF2B5EF4-FFF2-40B4-BE49-F238E27FC236}">
                <a16:creationId xmlns:a16="http://schemas.microsoft.com/office/drawing/2014/main" id="{A93B94CE-0BB0-09AF-85CB-A20ED287053B}"/>
              </a:ext>
            </a:extLst>
          </p:cNvPr>
          <p:cNvSpPr/>
          <p:nvPr/>
        </p:nvSpPr>
        <p:spPr>
          <a:xfrm>
            <a:off x="862146" y="4362138"/>
            <a:ext cx="10514514" cy="1086787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N</a:t>
            </a:r>
            <a:r>
              <a:rPr lang="en-US" sz="2000" baseline="-25000" dirty="0" err="1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events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 = 2823,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N</a:t>
            </a:r>
            <a:r>
              <a:rPr lang="en-US" sz="2000" baseline="-25000" dirty="0" err="1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true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 = 5704 true tracks. 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GNN threshold = 0.1, MLP threshold = 0.2.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ira Sans Light" panose="020B0403050000020004" pitchFamily="34" charset="0"/>
                <a:ea typeface="Fira Sans Light" panose="020B0403050000020004" pitchFamily="34" charset="0"/>
              </a:rPr>
              <a:t>The GNN finds nearly every true track while producing fewer fake candidates than the MLP.</a:t>
            </a:r>
          </a:p>
        </p:txBody>
      </p:sp>
    </p:spTree>
    <p:extLst>
      <p:ext uri="{BB962C8B-B14F-4D97-AF65-F5344CB8AC3E}">
        <p14:creationId xmlns:p14="http://schemas.microsoft.com/office/powerpoint/2010/main" val="3895955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D105-F2E4-95B8-B7FF-D1157D87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elastic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E7CC-3F1C-5E33-12A4-BA223A474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1040159"/>
          </a:xfrm>
        </p:spPr>
        <p:txBody>
          <a:bodyPr/>
          <a:lstStyle/>
          <a:p>
            <a:r>
              <a:rPr lang="en-US" dirty="0"/>
              <a:t>The goal is to test GNN and MLP on elastic data: use D2 data (full run) at 2.23 GeV</a:t>
            </a:r>
          </a:p>
          <a:p>
            <a:r>
              <a:rPr lang="en-US" dirty="0"/>
              <a:t>Select elastic electron with cut on </a:t>
            </a:r>
            <a:r>
              <a:rPr lang="en-US" dirty="0" err="1"/>
              <a:t>Vz</a:t>
            </a:r>
            <a:r>
              <a:rPr lang="en-US" dirty="0"/>
              <a:t> and W: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879B5-5E21-14AB-566F-48A6E967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7D52-4CE0-727A-1175-402C6626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176BE-684F-D43D-9ADC-722F140A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3F2DFB-8CCE-5916-9BF6-F3885F806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935479"/>
            <a:ext cx="10325100" cy="430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9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9279-2894-6E09-98B9-D991FB29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elastic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A17E-88E4-5490-3075-8D66C4378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587240" cy="51320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the kinematics of the track found by MLP and GNN:</a:t>
            </a:r>
          </a:p>
          <a:p>
            <a:pPr marL="0" indent="0">
              <a:buNone/>
            </a:pPr>
            <a:r>
              <a:rPr lang="en-US" dirty="0"/>
              <a:t>- A track is match when both angular residuals are inside the matching windows</a:t>
            </a:r>
          </a:p>
          <a:p>
            <a:pPr marL="0" indent="0">
              <a:buNone/>
            </a:pPr>
            <a:r>
              <a:rPr lang="en-US" dirty="0"/>
              <a:t>- GNN found more tracks that pass the Helix fitter than MLP</a:t>
            </a:r>
          </a:p>
          <a:p>
            <a:pPr marL="0" indent="0">
              <a:buNone/>
            </a:pPr>
            <a:r>
              <a:rPr lang="en-US" dirty="0"/>
              <a:t>- With no specific phase space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4F35-E940-070F-B0B6-9DADD0C3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49B1-7F5F-265A-E94E-12A3C942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BAD2A-A228-01B5-1770-3549121C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4C8B1-17C0-40EA-1888-010FE7B6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670560"/>
            <a:ext cx="7494777" cy="613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5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2DAA-4073-75C0-7DB8-4A4BCA2E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elastic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7C69-AC2A-43E9-CF9D-17F700E98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055618" cy="51473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Can compute the efficiency: - Tight track-finding efficiency (</a:t>
            </a:r>
            <a:r>
              <a:rPr lang="en-US" dirty="0" err="1"/>
              <a:t>denom</a:t>
            </a:r>
            <a:r>
              <a:rPr lang="en-US" dirty="0"/>
              <a:t>: elastic &amp; in fiducial &amp; 7 hits in 7 layers within ±30° of predicted)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A2EED-FF24-7B79-AD3B-9D9854C6B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4D9D4-9602-9ED8-083E-A2167C2A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96B85-2411-50DE-9458-645979BB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3179A-6336-FE22-DB17-AADC3043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340" y="785740"/>
            <a:ext cx="7772400" cy="584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797F-9128-37C4-6569-AC01FD71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DFA5-3362-D92F-FEEA-DD76AACB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elastic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07E1-E838-404C-6052-696B9291E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949698" cy="51473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Can compute the efficiency: </a:t>
            </a:r>
          </a:p>
          <a:p>
            <a:pPr marL="0" indent="0">
              <a:buNone/>
            </a:pPr>
            <a:r>
              <a:rPr lang="en-US" dirty="0"/>
              <a:t>- Tight track-finding efficiency (</a:t>
            </a:r>
            <a:r>
              <a:rPr lang="en-US" dirty="0" err="1"/>
              <a:t>denom</a:t>
            </a:r>
            <a:r>
              <a:rPr lang="en-US" dirty="0"/>
              <a:t>: elastic &amp; in fiducial &amp; 7 hits in 7 layers within ±30° of predicted 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0572A-45AC-963B-59F1-702C82A2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36A4-C64D-AE72-089E-04802C53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76D3-33A2-8B31-5C1F-8BEBA1C1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A8074D-5BC1-B3F4-97A5-209FEE6D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41" y="1127759"/>
            <a:ext cx="6502318" cy="446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F879-7C40-D49D-61B3-E87844D3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083C-5B4A-8210-58E7-3EDC24B7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Performance on elastic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414F-C0B6-AF9D-856C-E652CE16B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3981958" cy="51473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disagreement plot:</a:t>
            </a:r>
          </a:p>
          <a:p>
            <a:pPr>
              <a:buFontTx/>
              <a:buChar char="-"/>
            </a:pPr>
            <a:r>
              <a:rPr lang="en-US" dirty="0"/>
              <a:t>Most of the tracks are found by both</a:t>
            </a:r>
          </a:p>
          <a:p>
            <a:pPr>
              <a:buFontTx/>
              <a:buChar char="-"/>
            </a:pPr>
            <a:r>
              <a:rPr lang="en-US" dirty="0"/>
              <a:t>No kinematics dependence</a:t>
            </a:r>
          </a:p>
          <a:p>
            <a:pPr>
              <a:buFontTx/>
              <a:buChar char="-"/>
            </a:pPr>
            <a:r>
              <a:rPr lang="en-US" dirty="0"/>
              <a:t>In the neither, it is probably mostly detector efficiency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FD965-B0B1-339B-7B9F-DE82784F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06C0E-093B-9FFF-4D49-799DF6D0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92363-5FA3-6E1C-A900-76B0DE06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E15FF-2BD7-B717-9EFE-5B00A6B2E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20" y="914400"/>
            <a:ext cx="8106086" cy="467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4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D84F-4609-883B-E6FC-A8E22B9C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984B-A98B-0CAF-3475-A389A208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preliminary work: </a:t>
            </a:r>
          </a:p>
          <a:p>
            <a:pPr lvl="1"/>
            <a:r>
              <a:rPr lang="en-US" dirty="0"/>
              <a:t>Efficiency: track finding efficiency ⨉ detector efficiency ⨉ helix fitter efficiency</a:t>
            </a:r>
          </a:p>
          <a:p>
            <a:r>
              <a:rPr lang="en-US" dirty="0"/>
              <a:t>GNN find more tracks </a:t>
            </a:r>
          </a:p>
          <a:p>
            <a:r>
              <a:rPr lang="en-US" dirty="0"/>
              <a:t>GNN is a bit slower, but no significantly (0.16% of a standard reconstruction time)</a:t>
            </a:r>
          </a:p>
          <a:p>
            <a:r>
              <a:rPr lang="en-US" dirty="0"/>
              <a:t>GNN have advantages: </a:t>
            </a:r>
          </a:p>
          <a:p>
            <a:pPr lvl="1"/>
            <a:r>
              <a:rPr lang="en-US" dirty="0"/>
              <a:t>Work at the hit level, so no clustering </a:t>
            </a:r>
          </a:p>
          <a:p>
            <a:pPr lvl="1"/>
            <a:r>
              <a:rPr lang="en-US" dirty="0"/>
              <a:t>Find tracks compose of AHDC and ATOF hits </a:t>
            </a:r>
          </a:p>
          <a:p>
            <a:pPr lvl="1"/>
            <a:r>
              <a:rPr lang="en-US" dirty="0"/>
              <a:t>Find more tracks (the difference in efficiency is probably higher in event with higher multiplicity, see simulation)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C21E-F259-F2DD-C36A-9764D633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04/27/26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8844A-5144-820B-4B1E-607642AE2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4093D-57B6-2351-BC5B-715A99F9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7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16157</TotalTime>
  <Words>455</Words>
  <Application>Microsoft Macintosh PowerPoint</Application>
  <PresentationFormat>Widescreen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Fira Sans</vt:lpstr>
      <vt:lpstr>Fira Sans Light</vt:lpstr>
      <vt:lpstr>Office Theme</vt:lpstr>
      <vt:lpstr>Graph Neural Network for ALERT</vt:lpstr>
      <vt:lpstr>GNN vs MLP: Inference speed</vt:lpstr>
      <vt:lpstr>GNN vs MLP: Performance on simulation</vt:lpstr>
      <vt:lpstr>GNN vs MLP: Performance on elastic data</vt:lpstr>
      <vt:lpstr>GNN vs MLP: Performance on elastic data</vt:lpstr>
      <vt:lpstr>GNN vs MLP: Performance on elastic data</vt:lpstr>
      <vt:lpstr>GNN vs MLP: Performance on elastic data</vt:lpstr>
      <vt:lpstr>GNN vs MLP: Performance on elastic data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546</cp:revision>
  <dcterms:created xsi:type="dcterms:W3CDTF">2019-12-03T01:04:10Z</dcterms:created>
  <dcterms:modified xsi:type="dcterms:W3CDTF">2026-04-27T13:45:51Z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