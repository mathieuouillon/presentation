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1" r:id="rId3"/>
    <p:sldId id="263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5F"/>
    <a:srgbClr val="262626"/>
    <a:srgbClr val="FAFAFA"/>
    <a:srgbClr val="23373B"/>
    <a:srgbClr val="FFFFFF"/>
    <a:srgbClr val="243643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30" autoAdjust="0"/>
    <p:restoredTop sz="94637" autoAdjust="0"/>
  </p:normalViewPr>
  <p:slideViewPr>
    <p:cSldViewPr snapToGrid="0" snapToObjects="1">
      <p:cViewPr varScale="1">
        <p:scale>
          <a:sx n="166" d="100"/>
          <a:sy n="166" d="100"/>
        </p:scale>
        <p:origin x="200" y="2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16-02-26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16-02-26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/>
          <p:cNvSpPr txBox="1">
            <a:spLocks/>
          </p:cNvSpPr>
          <p:nvPr userDrawn="1"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02/16/26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02/16/26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221896" cy="2234317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Track</a:t>
            </a:r>
            <a:r>
              <a:rPr lang="es-ES" sz="6000" dirty="0"/>
              <a:t> </a:t>
            </a:r>
            <a:r>
              <a:rPr lang="es-ES" sz="6000" dirty="0" err="1"/>
              <a:t>matching</a:t>
            </a:r>
            <a:r>
              <a:rPr lang="es-ES" sz="6000" dirty="0"/>
              <a:t> </a:t>
            </a:r>
            <a:r>
              <a:rPr lang="es-ES" sz="6000" dirty="0" err="1"/>
              <a:t>with</a:t>
            </a:r>
            <a:r>
              <a:rPr lang="es-ES" sz="6000" dirty="0"/>
              <a:t> AI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B238-E9B8-9CA4-3B84-1021586B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matching: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985A0-A607-23F4-27C3-D0C0809B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Inputs: 5 of 2-D points (</a:t>
            </a:r>
            <a:r>
              <a:rPr lang="en-US" dirty="0" err="1"/>
              <a:t>intercluster</a:t>
            </a:r>
            <a:r>
              <a:rPr lang="en-US" dirty="0"/>
              <a:t>: x, y) (in total 10 numbers)</a:t>
            </a:r>
          </a:p>
          <a:p>
            <a:r>
              <a:rPr lang="en-US" dirty="0"/>
              <a:t>Output: sector, layer, wedge</a:t>
            </a:r>
          </a:p>
          <a:p>
            <a:r>
              <a:rPr lang="en-US" dirty="0"/>
              <a:t>For the training, 5M  events, and select them with a good track (pred &gt; 0.2), and only one bar and wedge hit.</a:t>
            </a:r>
          </a:p>
          <a:p>
            <a:r>
              <a:rPr lang="en-US" dirty="0"/>
              <a:t>Network architecture: </a:t>
            </a:r>
          </a:p>
          <a:p>
            <a:pPr lvl="1"/>
            <a:r>
              <a:rPr lang="en-US" dirty="0"/>
              <a:t>Input: 10 numbers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Initial layers</a:t>
            </a:r>
          </a:p>
          <a:p>
            <a:pPr lvl="1"/>
            <a:r>
              <a:rPr lang="en-US" dirty="0">
                <a:solidFill>
                  <a:srgbClr val="5BB2AF"/>
                </a:solidFill>
              </a:rPr>
              <a:t>Feature extraction: 2 blocks of 2*256 neurons = total numbers of neurons = 2*2*256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3 specific heads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5E735-4024-77EE-DFAC-6ACA4E118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40F77-E1BC-BC0C-B547-3808F3AB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DCC78-740D-B7CB-E2BF-EF8CF64B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78A8C5-4AC4-AC8C-FE75-39F07FFA1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4869301"/>
            <a:ext cx="8661237" cy="9547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5DBF34-043E-6A51-21D6-383C514A9E6E}"/>
              </a:ext>
            </a:extLst>
          </p:cNvPr>
          <p:cNvSpPr/>
          <p:nvPr/>
        </p:nvSpPr>
        <p:spPr>
          <a:xfrm>
            <a:off x="2510949" y="5110770"/>
            <a:ext cx="2394284" cy="4872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51E83F-B01E-88CF-4F7E-D24D5F424CC7}"/>
              </a:ext>
            </a:extLst>
          </p:cNvPr>
          <p:cNvSpPr/>
          <p:nvPr/>
        </p:nvSpPr>
        <p:spPr>
          <a:xfrm>
            <a:off x="4905233" y="5069377"/>
            <a:ext cx="2394284" cy="487279"/>
          </a:xfrm>
          <a:prstGeom prst="rect">
            <a:avLst/>
          </a:prstGeom>
          <a:noFill/>
          <a:ln>
            <a:solidFill>
              <a:srgbClr val="5BB2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BB2A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B4C8F9-3D9D-7941-C663-8604C60171DC}"/>
              </a:ext>
            </a:extLst>
          </p:cNvPr>
          <p:cNvSpPr/>
          <p:nvPr/>
        </p:nvSpPr>
        <p:spPr>
          <a:xfrm>
            <a:off x="7341628" y="4869301"/>
            <a:ext cx="3465094" cy="90922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D2335F-20A2-3B0C-7B64-9CFE5FE50A9D}"/>
              </a:ext>
            </a:extLst>
          </p:cNvPr>
          <p:cNvSpPr/>
          <p:nvPr/>
        </p:nvSpPr>
        <p:spPr>
          <a:xfrm>
            <a:off x="2085975" y="5164912"/>
            <a:ext cx="424974" cy="391744"/>
          </a:xfrm>
          <a:prstGeom prst="rect">
            <a:avLst/>
          </a:prstGeom>
          <a:noFill/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0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9F4EA-F0C5-BE19-5991-DAA3D7CC8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7D66-E90A-8B7A-5319-C97E60CD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matching: efficiency on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EE832-F11F-0B40-DEA5-379580C0D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194515" cy="4546686"/>
          </a:xfrm>
        </p:spPr>
        <p:txBody>
          <a:bodyPr/>
          <a:lstStyle/>
          <a:p>
            <a:r>
              <a:rPr lang="en-US" dirty="0">
                <a:solidFill>
                  <a:srgbClr val="00315F"/>
                </a:solidFill>
              </a:rPr>
              <a:t>Efficiency on simulation: 92% of finding the good layer, sector and by off by one for the wedge.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6945C-D9F3-417D-3DC6-9FE571C3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9C1C0-512C-B8FA-A26C-7874D637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BC081-62F9-C10F-05F2-22A88347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F0FFB0-7B73-F4AC-C328-EE40267833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40"/>
          <a:stretch>
            <a:fillRect/>
          </a:stretch>
        </p:blipFill>
        <p:spPr>
          <a:xfrm>
            <a:off x="6096000" y="923665"/>
            <a:ext cx="5920353" cy="515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85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7376-9DB4-B518-EA85-3D28E6ABD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 with AI: test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5ED89-641A-CD05-3C4D-AF2E5E5CB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the AI track matching on real data: elastic electron-proton (23012)</a:t>
            </a:r>
          </a:p>
          <a:p>
            <a:r>
              <a:rPr lang="en-US" dirty="0"/>
              <a:t>Select the elastic electron with </a:t>
            </a:r>
            <a:r>
              <a:rPr lang="en-US" dirty="0" err="1"/>
              <a:t>Vz</a:t>
            </a:r>
            <a:r>
              <a:rPr lang="en-US" dirty="0"/>
              <a:t> and W cut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90007-FE0B-3830-4AA4-5306E194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B2F49-7F0E-F8BB-46A6-DAFA990E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92D3C-E76F-9F85-2DD4-E0902D0B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72F63F-493E-E9DA-D2B7-6451DA694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24" y="2092624"/>
            <a:ext cx="9831552" cy="414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2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8982-1350-B23C-5527-5CFDBCC5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C358-1A74-579A-0FD6-6F47D1E6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 with AI: test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903B-757D-75CE-3238-824C5AAB4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ATOF cut to select good hits: ±3σ (cut given by </a:t>
            </a:r>
            <a:r>
              <a:rPr lang="en-US" dirty="0" err="1"/>
              <a:t>Zhiwan</a:t>
            </a:r>
            <a:r>
              <a:rPr lang="en-US" dirty="0"/>
              <a:t>/Noémie)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3D6BF-9673-A36D-5993-04884098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4A9A0-F84A-F3A2-94F5-02A77DCE4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84C1F-C745-4593-C2D5-78D18C45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D40B74-04F8-9E6E-5D5D-F8C4C1C46C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490"/>
          <a:stretch>
            <a:fillRect/>
          </a:stretch>
        </p:blipFill>
        <p:spPr>
          <a:xfrm>
            <a:off x="735679" y="1658578"/>
            <a:ext cx="5223420" cy="4451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4B43B5-8765-E468-F46E-5D984CD09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181" y="1795124"/>
            <a:ext cx="4969137" cy="417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2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B26A9-1FA8-E77C-D809-5AB5E70E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801F-7D87-54BE-2E9B-B7F925A6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 with AI: test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FE198-CF69-7963-CDA7-612F2F3C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49680"/>
            <a:ext cx="11462017" cy="4860000"/>
          </a:xfrm>
        </p:spPr>
        <p:txBody>
          <a:bodyPr>
            <a:normAutofit/>
          </a:bodyPr>
          <a:lstStyle/>
          <a:p>
            <a:r>
              <a:rPr lang="en-US" b="1" dirty="0"/>
              <a:t>Tracks matched to electron (by </a:t>
            </a:r>
            <a:r>
              <a:rPr lang="en-US" b="1" dirty="0" err="1"/>
              <a:t>ɸ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AHDC tracks with </a:t>
            </a:r>
            <a:r>
              <a:rPr lang="en-US" dirty="0" err="1"/>
              <a:t>Δɸ</a:t>
            </a:r>
            <a:r>
              <a:rPr lang="en-US" dirty="0"/>
              <a:t> between 150-200° from the elastic electron</a:t>
            </a:r>
          </a:p>
          <a:p>
            <a:r>
              <a:rPr lang="en-US" b="1" dirty="0"/>
              <a:t>Good ATOF hits match to electron (by </a:t>
            </a:r>
            <a:r>
              <a:rPr lang="en-US" b="1" dirty="0" err="1"/>
              <a:t>ɸ</a:t>
            </a:r>
            <a:r>
              <a:rPr lang="en-US" b="1" dirty="0"/>
              <a:t>):</a:t>
            </a:r>
          </a:p>
          <a:p>
            <a:pPr lvl="1"/>
            <a:r>
              <a:rPr lang="en-US" dirty="0"/>
              <a:t>ATOF hits that pass the cut given by </a:t>
            </a:r>
            <a:r>
              <a:rPr lang="en-US" dirty="0" err="1"/>
              <a:t>Zhiwan</a:t>
            </a:r>
            <a:r>
              <a:rPr lang="en-US" dirty="0"/>
              <a:t>/Noémie (</a:t>
            </a:r>
            <a:r>
              <a:rPr lang="en-US" dirty="0" err="1"/>
              <a:t>Δɸ</a:t>
            </a:r>
            <a:r>
              <a:rPr lang="en-US" dirty="0"/>
              <a:t> between 150-200°)</a:t>
            </a:r>
            <a:endParaRPr lang="en-US" b="1" dirty="0"/>
          </a:p>
          <a:p>
            <a:r>
              <a:rPr lang="en-US" b="1" dirty="0"/>
              <a:t>Efficiencies for the proton: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Fix an off by one error in my code, need to check the track matching code in CJ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4D350-C7EA-8075-1522-8807D94F9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BC066-5FFB-D059-320C-8200BAE2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D5C2E-F7E5-A8F0-AE9A-4A9CBEDC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AB671-DCD9-F5F4-2447-B29492A3C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-1770"/>
          <a:stretch>
            <a:fillRect/>
          </a:stretch>
        </p:blipFill>
        <p:spPr>
          <a:xfrm>
            <a:off x="755596" y="3338375"/>
            <a:ext cx="7689156" cy="214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7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8086-BD91-EC4B-D8B4-93F03EA5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94EB-8F21-5671-D7AD-C4E766B0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 with AI: test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F4BF1-6CC8-13A8-918F-DBA7FE094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Efficiencies for the deuterium: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05850-A93A-E779-48BA-3AF998F76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31109-EFAC-9521-4DB7-A1662B99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7759A-0499-968D-B1D0-E1A1A406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53EC6-C22C-1747-8CE3-AD6255394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48" y="1711179"/>
            <a:ext cx="7615688" cy="211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93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7435</TotalTime>
  <Words>296</Words>
  <Application>Microsoft Macintosh PowerPoint</Application>
  <PresentationFormat>Widescreen</PresentationFormat>
  <Paragraphs>60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Fira Sans Book</vt:lpstr>
      <vt:lpstr>Fira Sans Light</vt:lpstr>
      <vt:lpstr>Office Theme</vt:lpstr>
      <vt:lpstr>Track matching with AI</vt:lpstr>
      <vt:lpstr>Track matching: model</vt:lpstr>
      <vt:lpstr>Track matching: efficiency on simulation</vt:lpstr>
      <vt:lpstr>Track matching with AI: test on data</vt:lpstr>
      <vt:lpstr>Track matching with AI: test on data</vt:lpstr>
      <vt:lpstr>Track matching with AI: test on data</vt:lpstr>
      <vt:lpstr>Track matching with AI: test on data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284</cp:revision>
  <dcterms:created xsi:type="dcterms:W3CDTF">2019-12-03T01:04:10Z</dcterms:created>
  <dcterms:modified xsi:type="dcterms:W3CDTF">2026-02-16T15:03:05Z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