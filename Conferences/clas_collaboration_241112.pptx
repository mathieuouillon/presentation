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Nunito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regular.fntdata"/><Relationship Id="rId11" Type="http://schemas.openxmlformats.org/officeDocument/2006/relationships/slide" Target="slides/slide6.xml"/><Relationship Id="rId22" Type="http://schemas.openxmlformats.org/officeDocument/2006/relationships/font" Target="fonts/NunitoMedium-italic.fntdata"/><Relationship Id="rId10" Type="http://schemas.openxmlformats.org/officeDocument/2006/relationships/slide" Target="slides/slide5.xml"/><Relationship Id="rId21" Type="http://schemas.openxmlformats.org/officeDocument/2006/relationships/font" Target="fonts/Nunito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3a1f1b24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3a1f1b24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3a1f1b240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3a1f1b240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3a1f1b240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3a1f1b240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3a1f1b240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3a1f1b240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3a1f1b240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3a1f1b240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3a1f1b240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3a1f1b240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3a1f1b240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3a1f1b240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3a1f1b240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3a1f1b240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3a1f1b240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3a1f1b240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3445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unito Medium"/>
              <a:buNone/>
              <a:defRPr sz="2600"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20" name="Google Shape;20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4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(November 12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266700" y="860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A(I)LERT Track Finding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619500" y="3480050"/>
            <a:ext cx="552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CLAS Collaboration (November 12</a:t>
            </a:r>
            <a:r>
              <a:rPr baseline="30000" lang="fr" sz="19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9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9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550" y="4088450"/>
            <a:ext cx="3098799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050" y="4020000"/>
            <a:ext cx="1808951" cy="9683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266700" y="2245350"/>
            <a:ext cx="6412200" cy="477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8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The ALERT Detector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75375" y="728500"/>
            <a:ext cx="5225100" cy="39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183554" lvl="0" marL="208799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ALERT comprises two sub-detectors: A Hyperbolic Drift Chamber (AHDC) and A Time of Flight (ATOF).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3554" lvl="0" marL="208799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Focus on the AHDC used for track finding and fitting.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3554" lvl="0" marL="208799" rtl="0" algn="l">
              <a:spcBef>
                <a:spcPts val="120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 AHDC is composed of: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5 superlayers with 2 layers each except for the first and last one.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Each layer has a given number of cells.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 cell is 6 field wires and 1 signal wire.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3554" lvl="0" marL="208799" rtl="0" algn="l">
              <a:spcBef>
                <a:spcPts val="120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 stereo angle of 20° between each superlayer.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3554" lvl="0" marL="208799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AHDC is composed of 576 signal wires distributed: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47, 56, 57, 72, 87, 99 for each superlayer.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Layer in each superlayer has the same amount of signal wires.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750" y="1084675"/>
            <a:ext cx="3870325" cy="3484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4"/>
          <p:cNvCxnSpPr>
            <a:stCxn id="73" idx="2"/>
          </p:cNvCxnSpPr>
          <p:nvPr/>
        </p:nvCxnSpPr>
        <p:spPr>
          <a:xfrm>
            <a:off x="6264450" y="1055075"/>
            <a:ext cx="637500" cy="11682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4"/>
          <p:cNvSpPr txBox="1"/>
          <p:nvPr/>
        </p:nvSpPr>
        <p:spPr>
          <a:xfrm>
            <a:off x="5903400" y="791075"/>
            <a:ext cx="722100" cy="264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SL1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" name="Google Shape;74;p14"/>
          <p:cNvCxnSpPr>
            <a:stCxn id="75" idx="2"/>
          </p:cNvCxnSpPr>
          <p:nvPr/>
        </p:nvCxnSpPr>
        <p:spPr>
          <a:xfrm flipH="1">
            <a:off x="7649425" y="1055075"/>
            <a:ext cx="136500" cy="948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4"/>
          <p:cNvSpPr txBox="1"/>
          <p:nvPr/>
        </p:nvSpPr>
        <p:spPr>
          <a:xfrm>
            <a:off x="7424875" y="791075"/>
            <a:ext cx="722100" cy="264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SL2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6" name="Google Shape;76;p14"/>
          <p:cNvCxnSpPr>
            <a:stCxn id="77" idx="3"/>
          </p:cNvCxnSpPr>
          <p:nvPr/>
        </p:nvCxnSpPr>
        <p:spPr>
          <a:xfrm>
            <a:off x="5397925" y="2135375"/>
            <a:ext cx="800700" cy="4899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 txBox="1"/>
          <p:nvPr/>
        </p:nvSpPr>
        <p:spPr>
          <a:xfrm>
            <a:off x="4675825" y="2003375"/>
            <a:ext cx="722100" cy="264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SL3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8" name="Google Shape;78;p14"/>
          <p:cNvCxnSpPr>
            <a:stCxn id="79" idx="3"/>
          </p:cNvCxnSpPr>
          <p:nvPr/>
        </p:nvCxnSpPr>
        <p:spPr>
          <a:xfrm>
            <a:off x="5397925" y="2972325"/>
            <a:ext cx="781800" cy="381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4"/>
          <p:cNvSpPr txBox="1"/>
          <p:nvPr/>
        </p:nvSpPr>
        <p:spPr>
          <a:xfrm>
            <a:off x="4675825" y="2840325"/>
            <a:ext cx="722100" cy="264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SL4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0" name="Google Shape;80;p14"/>
          <p:cNvCxnSpPr>
            <a:stCxn id="81" idx="0"/>
          </p:cNvCxnSpPr>
          <p:nvPr/>
        </p:nvCxnSpPr>
        <p:spPr>
          <a:xfrm flipH="1" rot="10800000">
            <a:off x="5957125" y="3812200"/>
            <a:ext cx="511800" cy="5901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4"/>
          <p:cNvSpPr txBox="1"/>
          <p:nvPr/>
        </p:nvSpPr>
        <p:spPr>
          <a:xfrm>
            <a:off x="5596075" y="4402300"/>
            <a:ext cx="722100" cy="2640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SL5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Clustering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119325" y="753625"/>
            <a:ext cx="47037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 first step before the model is clustering. Goal: reduce the combinatorics to find track.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Test differents clustering: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Raw hits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in blue.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hits that on the same layer and 1 wire away together into </a:t>
            </a:r>
            <a:r>
              <a:rPr lang="fr">
                <a:solidFill>
                  <a:srgbClr val="E69138"/>
                </a:solidFill>
                <a:latin typeface="Nunito"/>
                <a:ea typeface="Nunito"/>
                <a:cs typeface="Nunito"/>
                <a:sym typeface="Nunito"/>
              </a:rPr>
              <a:t>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(orange circle).​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Merge precluster that are on the same superlayer and 8mm away into </a:t>
            </a:r>
            <a:r>
              <a:rPr lang="fr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super-precluster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(green circle)​.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End up with 5 super-preclusters.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Look for a track with 5 super-clusters.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Test the AI model with preclusters and super-preclusters.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425" y="799800"/>
            <a:ext cx="4016177" cy="34455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7950750" y="4063300"/>
            <a:ext cx="634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x [mm]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 rot="-5400000">
            <a:off x="4823025" y="1075600"/>
            <a:ext cx="634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y</a:t>
            </a: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[mm]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Model: MLP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12650" y="681475"/>
            <a:ext cx="90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The input for the model is 5 combinations for x and y which represent the super-preclusters.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Good tracks are generated by GEMC: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62599" lvl="1" marL="4140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○"/>
            </a:pPr>
            <a:r>
              <a:rPr lang="fr" sz="1200">
                <a:latin typeface="Nunito"/>
                <a:ea typeface="Nunito"/>
                <a:cs typeface="Nunito"/>
                <a:sym typeface="Nunito"/>
              </a:rPr>
              <a:t>proton with p ∈ [60, 250] MeV/c, φ ∈ [0, 360]°, θ ∈ [60, 120]° and vz ∈ [-15, 15] cm.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False tracks: interchanging randomly up to two super-precluster, with a adjacent event.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Model: MLP 10 inputs, 3/5 hidden layer (20/100), 1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output.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Output of the model: Probability 1-good track or 0-bad track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875" y="2037950"/>
            <a:ext cx="2669075" cy="263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425" y="2461875"/>
            <a:ext cx="2561700" cy="225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414" y="2461875"/>
            <a:ext cx="2461110" cy="221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967150" y="4063300"/>
            <a:ext cx="1299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Good track</a:t>
            </a:r>
            <a:endParaRPr sz="18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694450" y="4063300"/>
            <a:ext cx="1299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Bad</a:t>
            </a:r>
            <a:r>
              <a:rPr lang="fr" sz="18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track</a:t>
            </a:r>
            <a:endParaRPr sz="18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Efficiency and purity as a function of occupancy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0" y="642650"/>
            <a:ext cx="9187800" cy="9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507" lvl="0" marL="208799" rtl="0" algn="l">
              <a:spcBef>
                <a:spcPts val="0"/>
              </a:spcBef>
              <a:spcAft>
                <a:spcPts val="0"/>
              </a:spcAft>
              <a:buSzPts val="1545"/>
              <a:buFont typeface="Nunito"/>
              <a:buChar char="●"/>
            </a:pPr>
            <a:r>
              <a:rPr lang="fr" sz="1545"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1545">
                <a:latin typeface="Nunito"/>
                <a:ea typeface="Nunito"/>
                <a:cs typeface="Nunito"/>
                <a:sym typeface="Nunito"/>
              </a:rPr>
              <a:t>fficiency: Number of </a:t>
            </a:r>
            <a:r>
              <a:rPr lang="fr" sz="1545">
                <a:latin typeface="Nunito"/>
                <a:ea typeface="Nunito"/>
                <a:cs typeface="Nunito"/>
                <a:sym typeface="Nunito"/>
              </a:rPr>
              <a:t>good tracks classified as good / number of event.</a:t>
            </a:r>
            <a:endParaRPr sz="1545">
              <a:latin typeface="Nunito"/>
              <a:ea typeface="Nunito"/>
              <a:cs typeface="Nunito"/>
              <a:sym typeface="Nunito"/>
            </a:endParaRPr>
          </a:p>
          <a:p>
            <a:pPr indent="-184507" lvl="0" marL="208799" rtl="0" algn="l">
              <a:spcBef>
                <a:spcPts val="0"/>
              </a:spcBef>
              <a:spcAft>
                <a:spcPts val="0"/>
              </a:spcAft>
              <a:buSzPts val="1545"/>
              <a:buFont typeface="Nunito"/>
              <a:buChar char="●"/>
            </a:pPr>
            <a:r>
              <a:rPr lang="fr" sz="1545">
                <a:latin typeface="Nunito"/>
                <a:ea typeface="Nunito"/>
                <a:cs typeface="Nunito"/>
                <a:sym typeface="Nunito"/>
              </a:rPr>
              <a:t>Purity: Number of good tracks classified as good / number of tracks (good or bad) classified as good.</a:t>
            </a:r>
            <a:endParaRPr sz="1545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9300" y="1257763"/>
            <a:ext cx="4250275" cy="33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0" y="1282300"/>
            <a:ext cx="4779300" cy="33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1649" lvl="0" marL="208799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To compute the efficiency/purity: Add some random hits in the drift chamber and generate all possible tracks per event.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181649" lvl="0" marL="208799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Expect around 15 random hits per events (5% occupancy).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12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Blue line/dot: model with 20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Red line/dot: model with 100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Orange line/dot: model with 20 neurons in the 5 hidden layers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Efficiency and purity as function of momentum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54200" y="694025"/>
            <a:ext cx="89169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7999" lvl="0" marL="208799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Can also compute the efficiency as function of the momentum of the proton: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Using event with 1 track + 15 random hits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proton with p ∈ [60, 250] MeV/c, φ ∈ [0, 360]°, θ ∈ [60, 120]° and vz ∈ [-15, 15] cm</a:t>
            </a:r>
            <a:endParaRPr/>
          </a:p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1651700"/>
            <a:ext cx="4399000" cy="3039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54200" y="1752125"/>
            <a:ext cx="4725000" cy="29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Efficiency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 and purity almost constant for the range of momentum.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12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Blue line/dot: model with 20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Red line/dot: model with 100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Orange line/dot: model with 20 neurons in the 5 hidden layers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Efficiency and purity as function of threshold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7900" y="676650"/>
            <a:ext cx="89124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Can look at the efficiency as 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function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 of the threshold.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Threshold: value above what the we consider the output of the model 1 and below 0.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525" y="1394825"/>
            <a:ext cx="4721050" cy="32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7900" y="1551150"/>
            <a:ext cx="4298100" cy="29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Want high efficiency and purity, but not possible.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Prefer high efficiency to high purity.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12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Blue line/dot: model with 20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Red line/dot: model with 100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Orange line/dot: model with 20 neurons in the 5 hidden layers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Efficiency and purity as function of species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7900" y="679788"/>
            <a:ext cx="87381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Can look at the efficiency as function of the particle. </a:t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875" y="1359600"/>
            <a:ext cx="4703899" cy="32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7900" y="1161775"/>
            <a:ext cx="4442400" cy="3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Train the model with tracks from proton, deuterium, 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tritium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, helium 3 and helium 4.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Constant for all species. Purity of the deeper model is lower.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12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Blue line/dot: model with 20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Red line/dot: model with 100 neurons in the 3 hidden layers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Orange line/dot: model with 20 neurons in the 5 hidden layers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Inference time and number of possible tracks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0" y="647400"/>
            <a:ext cx="90039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For the normal model, the inference time is around 15µs ↦ 60KHz.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49" lvl="0" marL="208799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For a typical event, with 1 proton track and 15 random hits: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68951" lvl="1" marL="4500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lang="fr" sz="1300">
                <a:latin typeface="Nunito"/>
                <a:ea typeface="Nunito"/>
                <a:cs typeface="Nunito"/>
                <a:sym typeface="Nunito"/>
              </a:rPr>
              <a:t>ean of 16 possible tracks but</a:t>
            </a:r>
            <a:r>
              <a:rPr lang="fr" sz="1300">
                <a:latin typeface="Nunito"/>
                <a:ea typeface="Nunito"/>
                <a:cs typeface="Nunito"/>
                <a:sym typeface="Nunito"/>
              </a:rPr>
              <a:t> can have up to 300 possible tracks for some events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For a busy event with 3 proton tracks and 15 random hits: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68949" lvl="1" marL="4140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Mean of 100 possible tracks but can have up to 1500 possible tracks for some events (need a threshold)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700" y="2026725"/>
            <a:ext cx="3334799" cy="26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975" y="2026700"/>
            <a:ext cx="3334799" cy="2656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2003400" y="2417875"/>
            <a:ext cx="138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1 proton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5716675" y="2421000"/>
            <a:ext cx="138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 proton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Summary and Outlook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129575" y="731700"/>
            <a:ext cx="8882700" cy="3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06841" lvl="0" marL="208799" rtl="0" algn="l">
              <a:spcBef>
                <a:spcPts val="0"/>
              </a:spcBef>
              <a:spcAft>
                <a:spcPts val="0"/>
              </a:spcAft>
              <a:buSzPts val="1897"/>
              <a:buFont typeface="Nunito"/>
              <a:buChar char="●"/>
            </a:pPr>
            <a:r>
              <a:rPr lang="fr" sz="1897">
                <a:latin typeface="Nunito"/>
                <a:ea typeface="Nunito"/>
                <a:cs typeface="Nunito"/>
                <a:sym typeface="Nunito"/>
              </a:rPr>
              <a:t>Develop an MLP for track finding for ALERT</a:t>
            </a:r>
            <a:endParaRPr sz="18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New clustering to reduce the number of possible tracks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Evaluated the model's efficiency and purity as a function of a number of random hits added.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Evaluated the model's efficiency and purity as a function of momentum / threshold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Evaluated the model's efficiency and purity for differents particles</a:t>
            </a:r>
            <a:endParaRPr sz="1897">
              <a:latin typeface="Nunito"/>
              <a:ea typeface="Nunito"/>
              <a:cs typeface="Nunito"/>
              <a:sym typeface="Nunito"/>
            </a:endParaRPr>
          </a:p>
          <a:p>
            <a:pPr indent="-206841" lvl="0" marL="208799" rtl="0" algn="l">
              <a:spcBef>
                <a:spcPts val="0"/>
              </a:spcBef>
              <a:spcAft>
                <a:spcPts val="0"/>
              </a:spcAft>
              <a:buSzPts val="1897"/>
              <a:buFont typeface="Nunito"/>
              <a:buChar char="●"/>
            </a:pPr>
            <a:r>
              <a:rPr lang="fr" sz="1897">
                <a:latin typeface="Nunito"/>
                <a:ea typeface="Nunito"/>
                <a:cs typeface="Nunito"/>
                <a:sym typeface="Nunito"/>
              </a:rPr>
              <a:t>Remaining tasks:</a:t>
            </a:r>
            <a:endParaRPr sz="18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Compare AI to conventional track finding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Use luminosity simulation to have a more realistic occupancy.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Implementation in COATJAVA using Deep Java Library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2" lvl="2" marL="5796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■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Already started, can load the pytorch model in Java and predict output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2" lvl="2" marL="5796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■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Same prediction between pytorch and DJL 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-181441" lvl="1" marL="414000" rtl="0" algn="l">
              <a:spcBef>
                <a:spcPts val="0"/>
              </a:spcBef>
              <a:spcAft>
                <a:spcPts val="0"/>
              </a:spcAft>
              <a:buSzPts val="1497"/>
              <a:buFont typeface="Nunito"/>
              <a:buChar char="○"/>
            </a:pPr>
            <a:r>
              <a:rPr lang="fr" sz="1497">
                <a:latin typeface="Nunito"/>
                <a:ea typeface="Nunito"/>
                <a:cs typeface="Nunito"/>
                <a:sym typeface="Nunito"/>
              </a:rPr>
              <a:t>Develop an AI for PID using MLP and a classifier with 5 classes.</a:t>
            </a:r>
            <a:endParaRPr sz="1497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Work done by Uditha Weerasinghe and me.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