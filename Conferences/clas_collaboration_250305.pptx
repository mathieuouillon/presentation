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Nunito"/>
      <p:regular r:id="rId38"/>
      <p:bold r:id="rId39"/>
      <p:italic r:id="rId40"/>
      <p:boldItalic r:id="rId41"/>
    </p:embeddedFont>
    <p:embeddedFont>
      <p:font typeface="Nunito Medium"/>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Lamiaa El Fass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italic.fntdata"/><Relationship Id="rId20" Type="http://schemas.openxmlformats.org/officeDocument/2006/relationships/slide" Target="slides/slide14.xml"/><Relationship Id="rId42" Type="http://schemas.openxmlformats.org/officeDocument/2006/relationships/font" Target="fonts/NunitoMedium-regular.fntdata"/><Relationship Id="rId41" Type="http://schemas.openxmlformats.org/officeDocument/2006/relationships/font" Target="fonts/Nunito-boldItalic.fntdata"/><Relationship Id="rId22" Type="http://schemas.openxmlformats.org/officeDocument/2006/relationships/slide" Target="slides/slide16.xml"/><Relationship Id="rId44" Type="http://schemas.openxmlformats.org/officeDocument/2006/relationships/font" Target="fonts/NunitoMedium-italic.fntdata"/><Relationship Id="rId21" Type="http://schemas.openxmlformats.org/officeDocument/2006/relationships/slide" Target="slides/slide15.xml"/><Relationship Id="rId43" Type="http://schemas.openxmlformats.org/officeDocument/2006/relationships/font" Target="fonts/NunitoMedium-bold.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NunitoMedium-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Nunito-bold.fntdata"/><Relationship Id="rId16" Type="http://schemas.openxmlformats.org/officeDocument/2006/relationships/slide" Target="slides/slide10.xml"/><Relationship Id="rId38" Type="http://schemas.openxmlformats.org/officeDocument/2006/relationships/font" Target="fonts/Nunito-regular.fntdata"/><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3-01T22:57:37.316">
    <p:pos x="0" y="399"/>
    <p:text>the random change of font size between a slide to another is very annoying. Why you can't control that and stick on one font size for main bullets, subbullets, etc throughout your presentation</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3-01T22:30:23.558">
    <p:pos x="3220" y="439"/>
    <p:text>the way you say it here doesn't mean you are using two double guassians to say later that you are using only one double gaussian; fix that</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5-03-01T22:55:23.979">
    <p:pos x="34" y="449"/>
    <p:text>this slide should be removed, we don't need to write obvious info on slides while it can be said verbally! When introducing nTMDs add there see D. M talk and once we converge on Suman's slides, you can simply insert them and state what you have written here....</p:text>
  </p:cm>
  <p:cm authorId="0" idx="4" dt="2025-03-01T22:55:23.979">
    <p:pos x="34" y="449"/>
    <p:text>I modified the statement about the goal of Suman's work</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117aaf66a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117aaf66a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117aaf66a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117aaf66a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117aaf66a9_7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117aaf66a9_7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117aaf66a9_7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117aaf66a9_7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13e077b3b8_4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13e077b3b8_4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117aaf66a9_7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117aaf66a9_7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44c92d2c9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144c92d2c9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144c92d2c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144c92d2c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39ca4e346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39ca4e346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39ca4e346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39ca4e346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3b9d3d2af2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3b9d3d2af2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3b9d3d2af2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3b9d3d2af2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39ca4e346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39ca4e346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39ca4e3466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39ca4e3466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39ca4e346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39ca4e346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39ca4e346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39ca4e346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39ca4e3466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39ca4e3466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39ca4e3466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39ca4e3466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39ca4e3466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39ca4e3466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3b9d3d2af2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3b9d3d2af2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39ca4e3466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39ca4e3466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39ca4e3466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39ca4e3466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39ca4e3466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39ca4e3466_0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39ca4e3466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39ca4e3466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1338de0b2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1338de0b2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144c92d2c9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144c92d2c9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144c92d2c9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144c92d2c9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3b9d3d2af2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3b9d3d2af2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3b9d3d2af2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3b9d3d2af2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39ca4e3466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339ca4e3466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703475"/>
            <a:ext cx="8520600" cy="1265400"/>
          </a:xfrm>
          <a:prstGeom prst="rect">
            <a:avLst/>
          </a:prstGeom>
        </p:spPr>
        <p:txBody>
          <a:bodyPr anchorCtr="0" anchor="b" bIns="91425" lIns="91425" spcFirstLastPara="1" rIns="91425" wrap="square" tIns="91425">
            <a:normAutofit/>
          </a:bodyPr>
          <a:lstStyle>
            <a:lvl1pPr lvl="0">
              <a:spcBef>
                <a:spcPts val="0"/>
              </a:spcBef>
              <a:spcAft>
                <a:spcPts val="0"/>
              </a:spcAft>
              <a:buClr>
                <a:schemeClr val="dk2"/>
              </a:buClr>
              <a:buSzPts val="5200"/>
              <a:buFont typeface="Nunito"/>
              <a:buNone/>
              <a:defRPr sz="5200">
                <a:solidFill>
                  <a:schemeClr val="dk2"/>
                </a:solidFill>
                <a:latin typeface="Nunito"/>
                <a:ea typeface="Nunito"/>
                <a:cs typeface="Nunito"/>
                <a:sym typeface="Nunito"/>
              </a:defRPr>
            </a:lvl1pPr>
            <a:lvl2pPr lvl="1">
              <a:spcBef>
                <a:spcPts val="0"/>
              </a:spcBef>
              <a:spcAft>
                <a:spcPts val="0"/>
              </a:spcAft>
              <a:buClr>
                <a:schemeClr val="dk2"/>
              </a:buClr>
              <a:buSzPts val="5200"/>
              <a:buFont typeface="Nunito"/>
              <a:buNone/>
              <a:defRPr sz="5200">
                <a:solidFill>
                  <a:schemeClr val="dk2"/>
                </a:solidFill>
                <a:latin typeface="Nunito"/>
                <a:ea typeface="Nunito"/>
                <a:cs typeface="Nunito"/>
                <a:sym typeface="Nunito"/>
              </a:defRPr>
            </a:lvl2pPr>
            <a:lvl3pPr lvl="2">
              <a:spcBef>
                <a:spcPts val="0"/>
              </a:spcBef>
              <a:spcAft>
                <a:spcPts val="0"/>
              </a:spcAft>
              <a:buClr>
                <a:schemeClr val="dk2"/>
              </a:buClr>
              <a:buSzPts val="5200"/>
              <a:buFont typeface="Nunito"/>
              <a:buNone/>
              <a:defRPr sz="5200">
                <a:solidFill>
                  <a:schemeClr val="dk2"/>
                </a:solidFill>
                <a:latin typeface="Nunito"/>
                <a:ea typeface="Nunito"/>
                <a:cs typeface="Nunito"/>
                <a:sym typeface="Nunito"/>
              </a:defRPr>
            </a:lvl3pPr>
            <a:lvl4pPr lvl="3">
              <a:spcBef>
                <a:spcPts val="0"/>
              </a:spcBef>
              <a:spcAft>
                <a:spcPts val="0"/>
              </a:spcAft>
              <a:buClr>
                <a:schemeClr val="dk2"/>
              </a:buClr>
              <a:buSzPts val="5200"/>
              <a:buFont typeface="Nunito"/>
              <a:buNone/>
              <a:defRPr sz="5200">
                <a:solidFill>
                  <a:schemeClr val="dk2"/>
                </a:solidFill>
                <a:latin typeface="Nunito"/>
                <a:ea typeface="Nunito"/>
                <a:cs typeface="Nunito"/>
                <a:sym typeface="Nunito"/>
              </a:defRPr>
            </a:lvl4pPr>
            <a:lvl5pPr lvl="4">
              <a:spcBef>
                <a:spcPts val="0"/>
              </a:spcBef>
              <a:spcAft>
                <a:spcPts val="0"/>
              </a:spcAft>
              <a:buClr>
                <a:schemeClr val="dk2"/>
              </a:buClr>
              <a:buSzPts val="5200"/>
              <a:buFont typeface="Nunito"/>
              <a:buNone/>
              <a:defRPr sz="5200">
                <a:solidFill>
                  <a:schemeClr val="dk2"/>
                </a:solidFill>
                <a:latin typeface="Nunito"/>
                <a:ea typeface="Nunito"/>
                <a:cs typeface="Nunito"/>
                <a:sym typeface="Nunito"/>
              </a:defRPr>
            </a:lvl5pPr>
            <a:lvl6pPr lvl="5">
              <a:spcBef>
                <a:spcPts val="0"/>
              </a:spcBef>
              <a:spcAft>
                <a:spcPts val="0"/>
              </a:spcAft>
              <a:buClr>
                <a:schemeClr val="dk2"/>
              </a:buClr>
              <a:buSzPts val="5200"/>
              <a:buFont typeface="Nunito"/>
              <a:buNone/>
              <a:defRPr sz="5200">
                <a:solidFill>
                  <a:schemeClr val="dk2"/>
                </a:solidFill>
                <a:latin typeface="Nunito"/>
                <a:ea typeface="Nunito"/>
                <a:cs typeface="Nunito"/>
                <a:sym typeface="Nunito"/>
              </a:defRPr>
            </a:lvl6pPr>
            <a:lvl7pPr lvl="6">
              <a:spcBef>
                <a:spcPts val="0"/>
              </a:spcBef>
              <a:spcAft>
                <a:spcPts val="0"/>
              </a:spcAft>
              <a:buClr>
                <a:schemeClr val="dk2"/>
              </a:buClr>
              <a:buSzPts val="5200"/>
              <a:buFont typeface="Nunito"/>
              <a:buNone/>
              <a:defRPr sz="5200">
                <a:solidFill>
                  <a:schemeClr val="dk2"/>
                </a:solidFill>
                <a:latin typeface="Nunito"/>
                <a:ea typeface="Nunito"/>
                <a:cs typeface="Nunito"/>
                <a:sym typeface="Nunito"/>
              </a:defRPr>
            </a:lvl7pPr>
            <a:lvl8pPr lvl="7">
              <a:spcBef>
                <a:spcPts val="0"/>
              </a:spcBef>
              <a:spcAft>
                <a:spcPts val="0"/>
              </a:spcAft>
              <a:buClr>
                <a:schemeClr val="dk2"/>
              </a:buClr>
              <a:buSzPts val="5200"/>
              <a:buFont typeface="Nunito"/>
              <a:buNone/>
              <a:defRPr sz="5200">
                <a:solidFill>
                  <a:schemeClr val="dk2"/>
                </a:solidFill>
                <a:latin typeface="Nunito"/>
                <a:ea typeface="Nunito"/>
                <a:cs typeface="Nunito"/>
                <a:sym typeface="Nunito"/>
              </a:defRPr>
            </a:lvl8pPr>
            <a:lvl9pPr lvl="8">
              <a:spcBef>
                <a:spcPts val="0"/>
              </a:spcBef>
              <a:spcAft>
                <a:spcPts val="0"/>
              </a:spcAft>
              <a:buClr>
                <a:schemeClr val="dk2"/>
              </a:buClr>
              <a:buSzPts val="5200"/>
              <a:buFont typeface="Nunito"/>
              <a:buNone/>
              <a:defRPr sz="5200">
                <a:solidFill>
                  <a:schemeClr val="dk2"/>
                </a:solidFill>
                <a:latin typeface="Nunito"/>
                <a:ea typeface="Nunito"/>
                <a:cs typeface="Nunito"/>
                <a:sym typeface="Nunito"/>
              </a:defRPr>
            </a:lvl9pPr>
          </a:lstStyle>
          <a:p/>
        </p:txBody>
      </p:sp>
      <p:sp>
        <p:nvSpPr>
          <p:cNvPr id="11" name="Google Shape;11;p2"/>
          <p:cNvSpPr txBox="1"/>
          <p:nvPr>
            <p:ph idx="1" type="subTitle"/>
          </p:nvPr>
        </p:nvSpPr>
        <p:spPr>
          <a:xfrm>
            <a:off x="311700" y="2344500"/>
            <a:ext cx="6412200" cy="647400"/>
          </a:xfrm>
          <a:prstGeom prst="rect">
            <a:avLst/>
          </a:prstGeom>
          <a:solidFill>
            <a:srgbClr val="B6D7A8"/>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lvl1pPr lvl="0" algn="ctr">
              <a:lnSpc>
                <a:spcPct val="100000"/>
              </a:lnSpc>
              <a:spcBef>
                <a:spcPts val="0"/>
              </a:spcBef>
              <a:spcAft>
                <a:spcPts val="0"/>
              </a:spcAft>
              <a:buSzPts val="2600"/>
              <a:buFont typeface="Nunito Medium"/>
              <a:buNone/>
              <a:defRPr sz="2600">
                <a:latin typeface="Nunito Medium"/>
                <a:ea typeface="Nunito Medium"/>
                <a:cs typeface="Nunito Medium"/>
                <a:sym typeface="Nunito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p:nvPr/>
        </p:nvSpPr>
        <p:spPr>
          <a:xfrm>
            <a:off x="0" y="0"/>
            <a:ext cx="9144000" cy="6474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18" name="Google Shape;18;p4"/>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lvl1pPr lvl="0">
              <a:spcBef>
                <a:spcPts val="0"/>
              </a:spcBef>
              <a:spcAft>
                <a:spcPts val="0"/>
              </a:spcAft>
              <a:buClr>
                <a:schemeClr val="dk2"/>
              </a:buClr>
              <a:buSzPts val="2500"/>
              <a:buFont typeface="Nunito"/>
              <a:buNone/>
              <a:defRPr sz="2500">
                <a:solidFill>
                  <a:schemeClr val="dk2"/>
                </a:solidFill>
                <a:latin typeface="Nunito"/>
                <a:ea typeface="Nunito"/>
                <a:cs typeface="Nunito"/>
                <a:sym typeface="Nuni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93C47D"/>
              </a:buClr>
              <a:buSzPts val="1800"/>
              <a:buFont typeface="Nunito Medium"/>
              <a:buChar char="●"/>
              <a:defRPr>
                <a:latin typeface="Nunito Medium"/>
                <a:ea typeface="Nunito Medium"/>
                <a:cs typeface="Nunito Medium"/>
                <a:sym typeface="Nunito Medium"/>
              </a:defRPr>
            </a:lvl1pPr>
            <a:lvl2pPr indent="-317500" lvl="1" marL="914400">
              <a:spcBef>
                <a:spcPts val="0"/>
              </a:spcBef>
              <a:spcAft>
                <a:spcPts val="0"/>
              </a:spcAft>
              <a:buClr>
                <a:srgbClr val="93C47D"/>
              </a:buClr>
              <a:buSzPts val="1400"/>
              <a:buFont typeface="Nunito Medium"/>
              <a:buChar char="○"/>
              <a:defRPr>
                <a:latin typeface="Nunito Medium"/>
                <a:ea typeface="Nunito Medium"/>
                <a:cs typeface="Nunito Medium"/>
                <a:sym typeface="Nunito Medium"/>
              </a:defRPr>
            </a:lvl2pPr>
            <a:lvl3pPr indent="-317500" lvl="2" marL="1371600">
              <a:spcBef>
                <a:spcPts val="0"/>
              </a:spcBef>
              <a:spcAft>
                <a:spcPts val="0"/>
              </a:spcAft>
              <a:buClr>
                <a:srgbClr val="93C47D"/>
              </a:buClr>
              <a:buSzPts val="1400"/>
              <a:buFont typeface="Nunito Medium"/>
              <a:buChar char="■"/>
              <a:defRPr>
                <a:latin typeface="Nunito Medium"/>
                <a:ea typeface="Nunito Medium"/>
                <a:cs typeface="Nunito Medium"/>
                <a:sym typeface="Nunito Medium"/>
              </a:defRPr>
            </a:lvl3pPr>
            <a:lvl4pPr indent="-317500" lvl="3" marL="1828800">
              <a:spcBef>
                <a:spcPts val="0"/>
              </a:spcBef>
              <a:spcAft>
                <a:spcPts val="0"/>
              </a:spcAft>
              <a:buClr>
                <a:srgbClr val="93C47D"/>
              </a:buClr>
              <a:buSzPts val="1400"/>
              <a:buFont typeface="Nunito Medium"/>
              <a:buChar char="●"/>
              <a:defRPr>
                <a:latin typeface="Nunito Medium"/>
                <a:ea typeface="Nunito Medium"/>
                <a:cs typeface="Nunito Medium"/>
                <a:sym typeface="Nunito Medium"/>
              </a:defRPr>
            </a:lvl4pPr>
            <a:lvl5pPr indent="-317500" lvl="4" marL="2286000">
              <a:spcBef>
                <a:spcPts val="0"/>
              </a:spcBef>
              <a:spcAft>
                <a:spcPts val="0"/>
              </a:spcAft>
              <a:buClr>
                <a:srgbClr val="93C47D"/>
              </a:buClr>
              <a:buSzPts val="1400"/>
              <a:buFont typeface="Nunito Medium"/>
              <a:buChar char="○"/>
              <a:defRPr>
                <a:latin typeface="Nunito Medium"/>
                <a:ea typeface="Nunito Medium"/>
                <a:cs typeface="Nunito Medium"/>
                <a:sym typeface="Nunito Medium"/>
              </a:defRPr>
            </a:lvl5pPr>
            <a:lvl6pPr indent="-317500" lvl="5" marL="2743200">
              <a:spcBef>
                <a:spcPts val="0"/>
              </a:spcBef>
              <a:spcAft>
                <a:spcPts val="0"/>
              </a:spcAft>
              <a:buSzPts val="1400"/>
              <a:buFont typeface="Nunito Medium"/>
              <a:buChar char="■"/>
              <a:defRPr>
                <a:latin typeface="Nunito Medium"/>
                <a:ea typeface="Nunito Medium"/>
                <a:cs typeface="Nunito Medium"/>
                <a:sym typeface="Nunito Medium"/>
              </a:defRPr>
            </a:lvl6pPr>
            <a:lvl7pPr indent="-317500" lvl="6" marL="3200400">
              <a:spcBef>
                <a:spcPts val="0"/>
              </a:spcBef>
              <a:spcAft>
                <a:spcPts val="0"/>
              </a:spcAft>
              <a:buSzPts val="1400"/>
              <a:buFont typeface="Nunito Medium"/>
              <a:buChar char="●"/>
              <a:defRPr>
                <a:latin typeface="Nunito Medium"/>
                <a:ea typeface="Nunito Medium"/>
                <a:cs typeface="Nunito Medium"/>
                <a:sym typeface="Nunito Medium"/>
              </a:defRPr>
            </a:lvl7pPr>
            <a:lvl8pPr indent="-317500" lvl="7" marL="3657600">
              <a:spcBef>
                <a:spcPts val="0"/>
              </a:spcBef>
              <a:spcAft>
                <a:spcPts val="0"/>
              </a:spcAft>
              <a:buSzPts val="1400"/>
              <a:buFont typeface="Nunito Medium"/>
              <a:buChar char="○"/>
              <a:defRPr>
                <a:latin typeface="Nunito Medium"/>
                <a:ea typeface="Nunito Medium"/>
                <a:cs typeface="Nunito Medium"/>
                <a:sym typeface="Nunito Medium"/>
              </a:defRPr>
            </a:lvl8pPr>
            <a:lvl9pPr indent="-317500" lvl="8" marL="4114800">
              <a:spcBef>
                <a:spcPts val="0"/>
              </a:spcBef>
              <a:spcAft>
                <a:spcPts val="0"/>
              </a:spcAft>
              <a:buSzPts val="1400"/>
              <a:buFont typeface="Nunito Medium"/>
              <a:buChar char="■"/>
              <a:defRPr>
                <a:latin typeface="Nunito Medium"/>
                <a:ea typeface="Nunito Medium"/>
                <a:cs typeface="Nunito Medium"/>
                <a:sym typeface="Nunito Medium"/>
              </a:defRPr>
            </a:lvl9pPr>
          </a:lstStyle>
          <a:p/>
        </p:txBody>
      </p:sp>
      <p:cxnSp>
        <p:nvCxnSpPr>
          <p:cNvPr id="20" name="Google Shape;20;p4"/>
          <p:cNvCxnSpPr/>
          <p:nvPr/>
        </p:nvCxnSpPr>
        <p:spPr>
          <a:xfrm>
            <a:off x="155650" y="4743825"/>
            <a:ext cx="8889900" cy="0"/>
          </a:xfrm>
          <a:prstGeom prst="straightConnector1">
            <a:avLst/>
          </a:prstGeom>
          <a:noFill/>
          <a:ln cap="flat" cmpd="sng" w="9525">
            <a:solidFill>
              <a:srgbClr val="6AA84F"/>
            </a:solidFill>
            <a:prstDash val="solid"/>
            <a:round/>
            <a:headEnd len="med" w="med" type="none"/>
            <a:tailEnd len="med" w="med" type="none"/>
          </a:ln>
        </p:spPr>
      </p:cxnSp>
      <p:sp>
        <p:nvSpPr>
          <p:cNvPr id="21" name="Google Shape;21;p4"/>
          <p:cNvSpPr/>
          <p:nvPr/>
        </p:nvSpPr>
        <p:spPr>
          <a:xfrm rot="10800000">
            <a:off x="8547000" y="3000"/>
            <a:ext cx="597000" cy="641400"/>
          </a:xfrm>
          <a:prstGeom prst="round1Rect">
            <a:avLst>
              <a:gd fmla="val 16667" name="adj"/>
            </a:avLst>
          </a:prstGeom>
          <a:solidFill>
            <a:srgbClr val="6AA84F"/>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 name="Google Shape;22;p4"/>
          <p:cNvSpPr txBox="1"/>
          <p:nvPr/>
        </p:nvSpPr>
        <p:spPr>
          <a:xfrm>
            <a:off x="5216950" y="4787400"/>
            <a:ext cx="3797700" cy="3237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fr">
                <a:solidFill>
                  <a:schemeClr val="dk2"/>
                </a:solidFill>
                <a:latin typeface="Nunito"/>
                <a:ea typeface="Nunito"/>
                <a:cs typeface="Nunito"/>
                <a:sym typeface="Nunito"/>
              </a:rPr>
              <a:t>CLAS Collaboration (5 March, 2025)</a:t>
            </a:r>
            <a:endParaRPr sz="800">
              <a:solidFill>
                <a:schemeClr val="dk2"/>
              </a:solidFill>
              <a:latin typeface="Nunito"/>
              <a:ea typeface="Nunito"/>
              <a:cs typeface="Nunito"/>
              <a:sym typeface="Nunito"/>
            </a:endParaRPr>
          </a:p>
        </p:txBody>
      </p:sp>
      <p:sp>
        <p:nvSpPr>
          <p:cNvPr id="23" name="Google Shape;23;p4"/>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lvl1pPr lvl="0">
              <a:buNone/>
              <a:defRPr b="1" sz="2100">
                <a:solidFill>
                  <a:schemeClr val="lt2"/>
                </a:solidFill>
                <a:latin typeface="Nunito"/>
                <a:ea typeface="Nunito"/>
                <a:cs typeface="Nunito"/>
                <a:sym typeface="Nunito"/>
              </a:defRPr>
            </a:lvl1pPr>
            <a:lvl2pPr lvl="1">
              <a:buNone/>
              <a:defRPr b="1" sz="2100">
                <a:solidFill>
                  <a:schemeClr val="lt2"/>
                </a:solidFill>
                <a:latin typeface="Nunito"/>
                <a:ea typeface="Nunito"/>
                <a:cs typeface="Nunito"/>
                <a:sym typeface="Nunito"/>
              </a:defRPr>
            </a:lvl2pPr>
            <a:lvl3pPr lvl="2">
              <a:buNone/>
              <a:defRPr b="1" sz="2100">
                <a:solidFill>
                  <a:schemeClr val="lt2"/>
                </a:solidFill>
                <a:latin typeface="Nunito"/>
                <a:ea typeface="Nunito"/>
                <a:cs typeface="Nunito"/>
                <a:sym typeface="Nunito"/>
              </a:defRPr>
            </a:lvl3pPr>
            <a:lvl4pPr lvl="3">
              <a:buNone/>
              <a:defRPr b="1" sz="2100">
                <a:solidFill>
                  <a:schemeClr val="lt2"/>
                </a:solidFill>
                <a:latin typeface="Nunito"/>
                <a:ea typeface="Nunito"/>
                <a:cs typeface="Nunito"/>
                <a:sym typeface="Nunito"/>
              </a:defRPr>
            </a:lvl4pPr>
            <a:lvl5pPr lvl="4">
              <a:buNone/>
              <a:defRPr b="1" sz="2100">
                <a:solidFill>
                  <a:schemeClr val="lt2"/>
                </a:solidFill>
                <a:latin typeface="Nunito"/>
                <a:ea typeface="Nunito"/>
                <a:cs typeface="Nunito"/>
                <a:sym typeface="Nunito"/>
              </a:defRPr>
            </a:lvl5pPr>
            <a:lvl6pPr lvl="5">
              <a:buNone/>
              <a:defRPr b="1" sz="2100">
                <a:solidFill>
                  <a:schemeClr val="lt2"/>
                </a:solidFill>
                <a:latin typeface="Nunito"/>
                <a:ea typeface="Nunito"/>
                <a:cs typeface="Nunito"/>
                <a:sym typeface="Nunito"/>
              </a:defRPr>
            </a:lvl6pPr>
            <a:lvl7pPr lvl="6">
              <a:buNone/>
              <a:defRPr b="1" sz="2100">
                <a:solidFill>
                  <a:schemeClr val="lt2"/>
                </a:solidFill>
                <a:latin typeface="Nunito"/>
                <a:ea typeface="Nunito"/>
                <a:cs typeface="Nunito"/>
                <a:sym typeface="Nunito"/>
              </a:defRPr>
            </a:lvl7pPr>
            <a:lvl8pPr lvl="7">
              <a:buNone/>
              <a:defRPr b="1" sz="2100">
                <a:solidFill>
                  <a:schemeClr val="lt2"/>
                </a:solidFill>
                <a:latin typeface="Nunito"/>
                <a:ea typeface="Nunito"/>
                <a:cs typeface="Nunito"/>
                <a:sym typeface="Nunito"/>
              </a:defRPr>
            </a:lvl8pPr>
            <a:lvl9pPr lvl="8">
              <a:buNone/>
              <a:defRPr b="1" sz="2100">
                <a:solidFill>
                  <a:schemeClr val="lt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
              <a:t>‹#›</a:t>
            </a:fld>
            <a:endParaRPr b="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4" name="Shape 24"/>
        <p:cNvGrpSpPr/>
        <p:nvPr/>
      </p:nvGrpSpPr>
      <p:grpSpPr>
        <a:xfrm>
          <a:off x="0" y="0"/>
          <a:ext cx="0" cy="0"/>
          <a:chOff x="0" y="0"/>
          <a:chExt cx="0" cy="0"/>
        </a:xfrm>
      </p:grpSpPr>
      <p:sp>
        <p:nvSpPr>
          <p:cNvPr id="25" name="Google Shape;25;p5"/>
          <p:cNvSpPr/>
          <p:nvPr/>
        </p:nvSpPr>
        <p:spPr>
          <a:xfrm>
            <a:off x="0" y="0"/>
            <a:ext cx="9144000" cy="647400"/>
          </a:xfrm>
          <a:prstGeom prst="rect">
            <a:avLst/>
          </a:prstGeom>
          <a:solidFill>
            <a:srgbClr val="B6D7A8"/>
          </a:solidFill>
          <a:ln cap="flat" cmpd="sng" w="9525">
            <a:solidFill>
              <a:srgbClr val="B6D7A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
        <p:nvSpPr>
          <p:cNvPr id="26" name="Google Shape;26;p5"/>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lvl1pPr lvl="0">
              <a:spcBef>
                <a:spcPts val="0"/>
              </a:spcBef>
              <a:spcAft>
                <a:spcPts val="0"/>
              </a:spcAft>
              <a:buClr>
                <a:schemeClr val="dk2"/>
              </a:buClr>
              <a:buSzPts val="2500"/>
              <a:buFont typeface="Nunito"/>
              <a:buNone/>
              <a:defRPr sz="2500">
                <a:solidFill>
                  <a:schemeClr val="dk2"/>
                </a:solidFill>
                <a:latin typeface="Nunito"/>
                <a:ea typeface="Nunito"/>
                <a:cs typeface="Nunito"/>
                <a:sym typeface="Nunito"/>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93C47D"/>
              </a:buClr>
              <a:buSzPts val="1800"/>
              <a:buFont typeface="Nunito Medium"/>
              <a:buChar char="●"/>
              <a:defRPr>
                <a:latin typeface="Nunito Medium"/>
                <a:ea typeface="Nunito Medium"/>
                <a:cs typeface="Nunito Medium"/>
                <a:sym typeface="Nunito Medium"/>
              </a:defRPr>
            </a:lvl1pPr>
            <a:lvl2pPr indent="-317500" lvl="1" marL="914400">
              <a:spcBef>
                <a:spcPts val="0"/>
              </a:spcBef>
              <a:spcAft>
                <a:spcPts val="0"/>
              </a:spcAft>
              <a:buClr>
                <a:srgbClr val="93C47D"/>
              </a:buClr>
              <a:buSzPts val="1400"/>
              <a:buFont typeface="Nunito Medium"/>
              <a:buChar char="○"/>
              <a:defRPr>
                <a:latin typeface="Nunito Medium"/>
                <a:ea typeface="Nunito Medium"/>
                <a:cs typeface="Nunito Medium"/>
                <a:sym typeface="Nunito Medium"/>
              </a:defRPr>
            </a:lvl2pPr>
            <a:lvl3pPr indent="-317500" lvl="2" marL="1371600">
              <a:spcBef>
                <a:spcPts val="0"/>
              </a:spcBef>
              <a:spcAft>
                <a:spcPts val="0"/>
              </a:spcAft>
              <a:buClr>
                <a:srgbClr val="93C47D"/>
              </a:buClr>
              <a:buSzPts val="1400"/>
              <a:buFont typeface="Nunito Medium"/>
              <a:buChar char="■"/>
              <a:defRPr>
                <a:latin typeface="Nunito Medium"/>
                <a:ea typeface="Nunito Medium"/>
                <a:cs typeface="Nunito Medium"/>
                <a:sym typeface="Nunito Medium"/>
              </a:defRPr>
            </a:lvl3pPr>
            <a:lvl4pPr indent="-317500" lvl="3" marL="1828800">
              <a:spcBef>
                <a:spcPts val="0"/>
              </a:spcBef>
              <a:spcAft>
                <a:spcPts val="0"/>
              </a:spcAft>
              <a:buClr>
                <a:srgbClr val="93C47D"/>
              </a:buClr>
              <a:buSzPts val="1400"/>
              <a:buFont typeface="Nunito Medium"/>
              <a:buChar char="●"/>
              <a:defRPr>
                <a:latin typeface="Nunito Medium"/>
                <a:ea typeface="Nunito Medium"/>
                <a:cs typeface="Nunito Medium"/>
                <a:sym typeface="Nunito Medium"/>
              </a:defRPr>
            </a:lvl4pPr>
            <a:lvl5pPr indent="-317500" lvl="4" marL="2286000">
              <a:spcBef>
                <a:spcPts val="0"/>
              </a:spcBef>
              <a:spcAft>
                <a:spcPts val="0"/>
              </a:spcAft>
              <a:buClr>
                <a:srgbClr val="93C47D"/>
              </a:buClr>
              <a:buSzPts val="1400"/>
              <a:buFont typeface="Nunito Medium"/>
              <a:buChar char="○"/>
              <a:defRPr>
                <a:latin typeface="Nunito Medium"/>
                <a:ea typeface="Nunito Medium"/>
                <a:cs typeface="Nunito Medium"/>
                <a:sym typeface="Nunito Medium"/>
              </a:defRPr>
            </a:lvl5pPr>
            <a:lvl6pPr indent="-317500" lvl="5" marL="2743200">
              <a:spcBef>
                <a:spcPts val="0"/>
              </a:spcBef>
              <a:spcAft>
                <a:spcPts val="0"/>
              </a:spcAft>
              <a:buSzPts val="1400"/>
              <a:buFont typeface="Nunito Medium"/>
              <a:buChar char="■"/>
              <a:defRPr>
                <a:latin typeface="Nunito Medium"/>
                <a:ea typeface="Nunito Medium"/>
                <a:cs typeface="Nunito Medium"/>
                <a:sym typeface="Nunito Medium"/>
              </a:defRPr>
            </a:lvl6pPr>
            <a:lvl7pPr indent="-317500" lvl="6" marL="3200400">
              <a:spcBef>
                <a:spcPts val="0"/>
              </a:spcBef>
              <a:spcAft>
                <a:spcPts val="0"/>
              </a:spcAft>
              <a:buSzPts val="1400"/>
              <a:buFont typeface="Nunito Medium"/>
              <a:buChar char="●"/>
              <a:defRPr>
                <a:latin typeface="Nunito Medium"/>
                <a:ea typeface="Nunito Medium"/>
                <a:cs typeface="Nunito Medium"/>
                <a:sym typeface="Nunito Medium"/>
              </a:defRPr>
            </a:lvl7pPr>
            <a:lvl8pPr indent="-317500" lvl="7" marL="3657600">
              <a:spcBef>
                <a:spcPts val="0"/>
              </a:spcBef>
              <a:spcAft>
                <a:spcPts val="0"/>
              </a:spcAft>
              <a:buSzPts val="1400"/>
              <a:buFont typeface="Nunito Medium"/>
              <a:buChar char="○"/>
              <a:defRPr>
                <a:latin typeface="Nunito Medium"/>
                <a:ea typeface="Nunito Medium"/>
                <a:cs typeface="Nunito Medium"/>
                <a:sym typeface="Nunito Medium"/>
              </a:defRPr>
            </a:lvl8pPr>
            <a:lvl9pPr indent="-317500" lvl="8" marL="4114800">
              <a:spcBef>
                <a:spcPts val="0"/>
              </a:spcBef>
              <a:spcAft>
                <a:spcPts val="0"/>
              </a:spcAft>
              <a:buSzPts val="1400"/>
              <a:buFont typeface="Nunito Medium"/>
              <a:buChar char="■"/>
              <a:defRPr>
                <a:latin typeface="Nunito Medium"/>
                <a:ea typeface="Nunito Medium"/>
                <a:cs typeface="Nunito Medium"/>
                <a:sym typeface="Nunito Medium"/>
              </a:defRPr>
            </a:lvl9pPr>
          </a:lstStyle>
          <a:p/>
        </p:txBody>
      </p:sp>
      <p:sp>
        <p:nvSpPr>
          <p:cNvPr id="28" name="Google Shape;28;p5"/>
          <p:cNvSpPr/>
          <p:nvPr/>
        </p:nvSpPr>
        <p:spPr>
          <a:xfrm rot="10800000">
            <a:off x="8547000" y="3000"/>
            <a:ext cx="597000" cy="641400"/>
          </a:xfrm>
          <a:prstGeom prst="round1Rect">
            <a:avLst>
              <a:gd fmla="val 16667" name="adj"/>
            </a:avLst>
          </a:prstGeom>
          <a:solidFill>
            <a:srgbClr val="6AA84F"/>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 name="Google Shape;29;p5"/>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lvl1pPr lvl="0">
              <a:buNone/>
              <a:defRPr b="1" sz="2100">
                <a:solidFill>
                  <a:schemeClr val="lt2"/>
                </a:solidFill>
                <a:latin typeface="Nunito"/>
                <a:ea typeface="Nunito"/>
                <a:cs typeface="Nunito"/>
                <a:sym typeface="Nunito"/>
              </a:defRPr>
            </a:lvl1pPr>
            <a:lvl2pPr lvl="1">
              <a:buNone/>
              <a:defRPr b="1" sz="2100">
                <a:solidFill>
                  <a:schemeClr val="lt2"/>
                </a:solidFill>
                <a:latin typeface="Nunito"/>
                <a:ea typeface="Nunito"/>
                <a:cs typeface="Nunito"/>
                <a:sym typeface="Nunito"/>
              </a:defRPr>
            </a:lvl2pPr>
            <a:lvl3pPr lvl="2">
              <a:buNone/>
              <a:defRPr b="1" sz="2100">
                <a:solidFill>
                  <a:schemeClr val="lt2"/>
                </a:solidFill>
                <a:latin typeface="Nunito"/>
                <a:ea typeface="Nunito"/>
                <a:cs typeface="Nunito"/>
                <a:sym typeface="Nunito"/>
              </a:defRPr>
            </a:lvl3pPr>
            <a:lvl4pPr lvl="3">
              <a:buNone/>
              <a:defRPr b="1" sz="2100">
                <a:solidFill>
                  <a:schemeClr val="lt2"/>
                </a:solidFill>
                <a:latin typeface="Nunito"/>
                <a:ea typeface="Nunito"/>
                <a:cs typeface="Nunito"/>
                <a:sym typeface="Nunito"/>
              </a:defRPr>
            </a:lvl4pPr>
            <a:lvl5pPr lvl="4">
              <a:buNone/>
              <a:defRPr b="1" sz="2100">
                <a:solidFill>
                  <a:schemeClr val="lt2"/>
                </a:solidFill>
                <a:latin typeface="Nunito"/>
                <a:ea typeface="Nunito"/>
                <a:cs typeface="Nunito"/>
                <a:sym typeface="Nunito"/>
              </a:defRPr>
            </a:lvl5pPr>
            <a:lvl6pPr lvl="5">
              <a:buNone/>
              <a:defRPr b="1" sz="2100">
                <a:solidFill>
                  <a:schemeClr val="lt2"/>
                </a:solidFill>
                <a:latin typeface="Nunito"/>
                <a:ea typeface="Nunito"/>
                <a:cs typeface="Nunito"/>
                <a:sym typeface="Nunito"/>
              </a:defRPr>
            </a:lvl6pPr>
            <a:lvl7pPr lvl="6">
              <a:buNone/>
              <a:defRPr b="1" sz="2100">
                <a:solidFill>
                  <a:schemeClr val="lt2"/>
                </a:solidFill>
                <a:latin typeface="Nunito"/>
                <a:ea typeface="Nunito"/>
                <a:cs typeface="Nunito"/>
                <a:sym typeface="Nunito"/>
              </a:defRPr>
            </a:lvl7pPr>
            <a:lvl8pPr lvl="7">
              <a:buNone/>
              <a:defRPr b="1" sz="2100">
                <a:solidFill>
                  <a:schemeClr val="lt2"/>
                </a:solidFill>
                <a:latin typeface="Nunito"/>
                <a:ea typeface="Nunito"/>
                <a:cs typeface="Nunito"/>
                <a:sym typeface="Nunito"/>
              </a:defRPr>
            </a:lvl8pPr>
            <a:lvl9pPr lvl="8">
              <a:buNone/>
              <a:defRPr b="1" sz="2100">
                <a:solidFill>
                  <a:schemeClr val="lt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fr"/>
              <a:t>‹#›</a:t>
            </a:fld>
            <a:endParaRPr b="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8" name="Google Shape;48;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 name="Google Shape;49;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3" name="Google Shape;53;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 name="Shape 54"/>
        <p:cNvGrpSpPr/>
        <p:nvPr/>
      </p:nvGrpSpPr>
      <p:grpSpPr>
        <a:xfrm>
          <a:off x="0" y="0"/>
          <a:ext cx="0" cy="0"/>
          <a:chOff x="0" y="0"/>
          <a:chExt cx="0" cy="0"/>
        </a:xfrm>
      </p:grpSpPr>
      <p:sp>
        <p:nvSpPr>
          <p:cNvPr id="55" name="Google Shape;55;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6" name="Google Shape;56;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misportal.jlab.org/mis/physics/experiments/viewProposal.cfm?paperId=685" TargetMode="External"/><Relationship Id="rId4" Type="http://schemas.openxmlformats.org/officeDocument/2006/relationships/hyperlink" Target="https://www.jlab.org/exp_prog/proposals/20/E12-06-106A_Proposal.pd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4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clas12mon.jlab.org/rgd/pass0v7/tlsummary/" TargetMode="External"/><Relationship Id="rId4" Type="http://schemas.openxmlformats.org/officeDocument/2006/relationships/hyperlink" Target="https://clasweb.jlab.org/wiki/index.php/Run_Group_D" TargetMode="External"/><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clas12mon.jlab.org/rgd/pass0v8/tlsummary/" TargetMode="Externa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clas12mon.jlab.org/rgd/pass0v9/tlsummary/" TargetMode="Externa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clas12mon.jlab.org/rgd/pass0v9_dc/tlsummary/" TargetMode="Externa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clas12mon.jlab.org/rgd/pass0v9_dc/tlsummary/" TargetMode="Externa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hyperlink" Target="https://clas12mon.jlab.org/rgd/pass0v9_dc/tlsummary/"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5.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0.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17.xml.rels><?xml version="1.0" encoding="UTF-8" standalone="yes"?><Relationships xmlns="http://schemas.openxmlformats.org/package/2006/relationships"><Relationship Id="rId10" Type="http://schemas.openxmlformats.org/officeDocument/2006/relationships/image" Target="../media/image24.png"/><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 Id="rId4" Type="http://schemas.openxmlformats.org/officeDocument/2006/relationships/image" Target="../media/image18.png"/><Relationship Id="rId9" Type="http://schemas.openxmlformats.org/officeDocument/2006/relationships/image" Target="../media/image17.png"/><Relationship Id="rId5" Type="http://schemas.openxmlformats.org/officeDocument/2006/relationships/image" Target="../media/image14.png"/><Relationship Id="rId6" Type="http://schemas.openxmlformats.org/officeDocument/2006/relationships/image" Target="../media/image21.png"/><Relationship Id="rId7" Type="http://schemas.openxmlformats.org/officeDocument/2006/relationships/image" Target="../media/image29.png"/><Relationship Id="rId8"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9.png"/><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8.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comments" Target="../comments/comment1.xml"/><Relationship Id="rId4" Type="http://schemas.openxmlformats.org/officeDocument/2006/relationships/image" Target="../media/image3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3.png"/><Relationship Id="rId4" Type="http://schemas.openxmlformats.org/officeDocument/2006/relationships/hyperlink" Target="https://clas12mon.jlab.org/rgd/pass0v9_dc/tlsummary/" TargetMode="External"/><Relationship Id="rId5" Type="http://schemas.openxmlformats.org/officeDocument/2006/relationships/hyperlink" Target="https://clasweb.jlab.org/wiki/index.php/Run_Group_D"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comments" Target="../comments/comment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comments" Target="../comments/comment3.xml"/><Relationship Id="rId4" Type="http://schemas.openxmlformats.org/officeDocument/2006/relationships/hyperlink" Target="https://indico.jlab.org/event/928/#20-update-on-rg-d-tmds-analysi" TargetMode="External"/><Relationship Id="rId5" Type="http://schemas.openxmlformats.org/officeDocument/2006/relationships/hyperlink" Target="https://indico.jlab.org/event/928/#20-update-on-rg-d-tmds-analysi"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ctrTitle"/>
          </p:nvPr>
        </p:nvSpPr>
        <p:spPr>
          <a:xfrm>
            <a:off x="266700" y="979950"/>
            <a:ext cx="8565600" cy="1265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990"/>
              <a:buFont typeface="Arial"/>
              <a:buNone/>
            </a:pPr>
            <a:r>
              <a:rPr lang="fr" sz="3880"/>
              <a:t>Update on RG-D Experiments:</a:t>
            </a:r>
            <a:endParaRPr sz="3880"/>
          </a:p>
          <a:p>
            <a:pPr indent="0" lvl="0" marL="0" rtl="0" algn="l">
              <a:spcBef>
                <a:spcPts val="0"/>
              </a:spcBef>
              <a:spcAft>
                <a:spcPts val="0"/>
              </a:spcAft>
              <a:buSzPts val="990"/>
              <a:buNone/>
            </a:pPr>
            <a:r>
              <a:rPr lang="fr" sz="3880"/>
              <a:t>Calibration and Analysis Status</a:t>
            </a:r>
            <a:endParaRPr sz="3880"/>
          </a:p>
        </p:txBody>
      </p:sp>
      <p:sp>
        <p:nvSpPr>
          <p:cNvPr id="65" name="Google Shape;65;p14"/>
          <p:cNvSpPr txBox="1"/>
          <p:nvPr>
            <p:ph idx="1" type="subTitle"/>
          </p:nvPr>
        </p:nvSpPr>
        <p:spPr>
          <a:xfrm>
            <a:off x="266700" y="2245350"/>
            <a:ext cx="6412200" cy="477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35"/>
              <a:buNone/>
            </a:pPr>
            <a:r>
              <a:rPr lang="fr" sz="1980">
                <a:latin typeface="Nunito"/>
                <a:ea typeface="Nunito"/>
                <a:cs typeface="Nunito"/>
                <a:sym typeface="Nunito"/>
              </a:rPr>
              <a:t>Mathieu Ouillon (Mississippi State University)</a:t>
            </a:r>
            <a:endParaRPr sz="1980">
              <a:latin typeface="Nunito"/>
              <a:ea typeface="Nunito"/>
              <a:cs typeface="Nunito"/>
              <a:sym typeface="Nunito"/>
            </a:endParaRPr>
          </a:p>
        </p:txBody>
      </p:sp>
      <p:sp>
        <p:nvSpPr>
          <p:cNvPr id="66" name="Google Shape;66;p14"/>
          <p:cNvSpPr txBox="1"/>
          <p:nvPr/>
        </p:nvSpPr>
        <p:spPr>
          <a:xfrm>
            <a:off x="3619500" y="3480050"/>
            <a:ext cx="5524500" cy="4770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fr" sz="1900">
                <a:solidFill>
                  <a:schemeClr val="dk2"/>
                </a:solidFill>
                <a:latin typeface="Nunito"/>
                <a:ea typeface="Nunito"/>
                <a:cs typeface="Nunito"/>
                <a:sym typeface="Nunito"/>
              </a:rPr>
              <a:t>CLAS Collaboration (5 March, 2025)</a:t>
            </a:r>
            <a:endParaRPr sz="1900">
              <a:solidFill>
                <a:schemeClr val="dk2"/>
              </a:solidFill>
              <a:latin typeface="Nunito"/>
              <a:ea typeface="Nunito"/>
              <a:cs typeface="Nunito"/>
              <a:sym typeface="Nunito"/>
            </a:endParaRPr>
          </a:p>
        </p:txBody>
      </p:sp>
      <p:pic>
        <p:nvPicPr>
          <p:cNvPr id="67" name="Google Shape;67;p14"/>
          <p:cNvPicPr preferRelativeResize="0"/>
          <p:nvPr/>
        </p:nvPicPr>
        <p:blipFill>
          <a:blip r:embed="rId3">
            <a:alphaModFix/>
          </a:blip>
          <a:stretch>
            <a:fillRect/>
          </a:stretch>
        </p:blipFill>
        <p:spPr>
          <a:xfrm>
            <a:off x="0" y="4245800"/>
            <a:ext cx="3863174" cy="742575"/>
          </a:xfrm>
          <a:prstGeom prst="rect">
            <a:avLst/>
          </a:prstGeom>
          <a:noFill/>
          <a:ln>
            <a:noFill/>
          </a:ln>
        </p:spPr>
      </p:pic>
      <p:pic>
        <p:nvPicPr>
          <p:cNvPr id="68" name="Google Shape;68;p14"/>
          <p:cNvPicPr preferRelativeResize="0"/>
          <p:nvPr/>
        </p:nvPicPr>
        <p:blipFill>
          <a:blip r:embed="rId4">
            <a:alphaModFix/>
          </a:blip>
          <a:stretch>
            <a:fillRect/>
          </a:stretch>
        </p:blipFill>
        <p:spPr>
          <a:xfrm>
            <a:off x="5895550" y="4088450"/>
            <a:ext cx="3098799" cy="968375"/>
          </a:xfrm>
          <a:prstGeom prst="rect">
            <a:avLst/>
          </a:prstGeom>
          <a:noFill/>
          <a:ln>
            <a:noFill/>
          </a:ln>
        </p:spPr>
      </p:pic>
      <p:pic>
        <p:nvPicPr>
          <p:cNvPr id="69" name="Google Shape;69;p14"/>
          <p:cNvPicPr preferRelativeResize="0"/>
          <p:nvPr/>
        </p:nvPicPr>
        <p:blipFill>
          <a:blip r:embed="rId5">
            <a:alphaModFix/>
          </a:blip>
          <a:stretch>
            <a:fillRect/>
          </a:stretch>
        </p:blipFill>
        <p:spPr>
          <a:xfrm>
            <a:off x="4024050" y="4020000"/>
            <a:ext cx="1808951" cy="9683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Run Group D​</a:t>
            </a:r>
            <a:endParaRPr/>
          </a:p>
        </p:txBody>
      </p:sp>
      <p:sp>
        <p:nvSpPr>
          <p:cNvPr id="75" name="Google Shape;75;p15"/>
          <p:cNvSpPr txBox="1"/>
          <p:nvPr>
            <p:ph idx="1" type="body"/>
          </p:nvPr>
        </p:nvSpPr>
        <p:spPr>
          <a:xfrm>
            <a:off x="47375" y="702600"/>
            <a:ext cx="9096600" cy="393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sz="2100"/>
              <a:t>RG-D is c</a:t>
            </a:r>
            <a:r>
              <a:rPr lang="fr" sz="2100"/>
              <a:t>omposed of two experiments:</a:t>
            </a:r>
            <a:endParaRPr sz="2100"/>
          </a:p>
          <a:p>
            <a:pPr indent="-171050" lvl="0" marL="280800" rtl="0" algn="l">
              <a:spcBef>
                <a:spcPts val="1200"/>
              </a:spcBef>
              <a:spcAft>
                <a:spcPts val="0"/>
              </a:spcAft>
              <a:buSzPts val="1900"/>
              <a:buChar char="●"/>
            </a:pPr>
            <a:r>
              <a:rPr lang="fr" sz="1900"/>
              <a:t>Study of Color Transparency (CT) in Exclusive Vector Meson Electroproduction </a:t>
            </a:r>
            <a:r>
              <a:rPr lang="fr" sz="1900"/>
              <a:t>off</a:t>
            </a:r>
            <a:r>
              <a:rPr lang="fr" sz="1900"/>
              <a:t> Nuclei (</a:t>
            </a:r>
            <a:r>
              <a:rPr lang="fr" sz="1900" u="sng">
                <a:solidFill>
                  <a:schemeClr val="hlink"/>
                </a:solidFill>
                <a:hlinkClick r:id="rId3"/>
              </a:rPr>
              <a:t>E12-06-106</a:t>
            </a:r>
            <a:r>
              <a:rPr lang="fr" sz="1900"/>
              <a:t>)​:</a:t>
            </a:r>
            <a:endParaRPr sz="1900"/>
          </a:p>
          <a:p>
            <a:pPr indent="-145650" lvl="1" marL="486000" rtl="0" algn="l">
              <a:spcBef>
                <a:spcPts val="0"/>
              </a:spcBef>
              <a:spcAft>
                <a:spcPts val="0"/>
              </a:spcAft>
              <a:buSzPts val="1500"/>
              <a:buChar char="○"/>
            </a:pPr>
            <a:r>
              <a:rPr lang="fr" sz="1500"/>
              <a:t>Spokespeople: W. Armstrong</a:t>
            </a:r>
            <a:r>
              <a:rPr baseline="30000" lang="fr" sz="1500"/>
              <a:t>1</a:t>
            </a:r>
            <a:r>
              <a:rPr lang="fr" sz="1500"/>
              <a:t> , L. El Fassi</a:t>
            </a:r>
            <a:r>
              <a:rPr baseline="30000" lang="fr" sz="1500"/>
              <a:t>3</a:t>
            </a:r>
            <a:r>
              <a:rPr lang="fr" sz="1500"/>
              <a:t> , K. Hafidi</a:t>
            </a:r>
            <a:r>
              <a:rPr baseline="30000" lang="fr" sz="1500"/>
              <a:t>1</a:t>
            </a:r>
            <a:r>
              <a:rPr lang="fr" sz="1500"/>
              <a:t> , M. Holtrop</a:t>
            </a:r>
            <a:r>
              <a:rPr baseline="30000" lang="fr" sz="1500"/>
              <a:t>4</a:t>
            </a:r>
            <a:r>
              <a:rPr lang="fr" sz="1500"/>
              <a:t>, and B. Mustapha</a:t>
            </a:r>
            <a:r>
              <a:rPr baseline="30000" lang="fr" sz="1500"/>
              <a:t>1​</a:t>
            </a:r>
            <a:endParaRPr baseline="30000" sz="1500"/>
          </a:p>
          <a:p>
            <a:pPr indent="-171050" lvl="0" marL="280800" rtl="0" algn="l">
              <a:spcBef>
                <a:spcPts val="1000"/>
              </a:spcBef>
              <a:spcAft>
                <a:spcPts val="0"/>
              </a:spcAft>
              <a:buSzPts val="1900"/>
              <a:buChar char="●"/>
            </a:pPr>
            <a:r>
              <a:rPr lang="fr" sz="1900"/>
              <a:t>Nuclear Transverse Momentum Distributions (nTMDs) in CLAS12 (</a:t>
            </a:r>
            <a:r>
              <a:rPr lang="fr" sz="1900" u="sng">
                <a:solidFill>
                  <a:schemeClr val="hlink"/>
                </a:solidFill>
                <a:hlinkClick r:id="rId4"/>
              </a:rPr>
              <a:t>E12-06-106A</a:t>
            </a:r>
            <a:r>
              <a:rPr lang="fr" sz="1900"/>
              <a:t>)​:</a:t>
            </a:r>
            <a:endParaRPr sz="1900"/>
          </a:p>
          <a:p>
            <a:pPr indent="-145650" lvl="1" marL="522000" rtl="0" algn="l">
              <a:spcBef>
                <a:spcPts val="0"/>
              </a:spcBef>
              <a:spcAft>
                <a:spcPts val="0"/>
              </a:spcAft>
              <a:buSzPts val="1500"/>
              <a:buChar char="○"/>
            </a:pPr>
            <a:r>
              <a:rPr lang="fr" sz="1500"/>
              <a:t>Spokespeople: R. Dupré</a:t>
            </a:r>
            <a:r>
              <a:rPr baseline="30000" lang="fr" sz="1500"/>
              <a:t>2</a:t>
            </a:r>
            <a:r>
              <a:rPr lang="fr" sz="1500"/>
              <a:t> , L. El Fassi</a:t>
            </a:r>
            <a:r>
              <a:rPr baseline="30000" lang="fr" sz="1500"/>
              <a:t>3</a:t>
            </a:r>
            <a:r>
              <a:rPr lang="fr" sz="1500"/>
              <a:t> , Zein-Eddine Meziani</a:t>
            </a:r>
            <a:r>
              <a:rPr baseline="30000" lang="fr" sz="1500"/>
              <a:t>1</a:t>
            </a:r>
            <a:r>
              <a:rPr lang="fr" sz="1500"/>
              <a:t> , and Holly Szumila-Vance​</a:t>
            </a:r>
            <a:r>
              <a:rPr baseline="30000" lang="fr" sz="1500"/>
              <a:t>5</a:t>
            </a:r>
            <a:endParaRPr baseline="30000" sz="1500"/>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rPr baseline="30000" lang="fr"/>
              <a:t>1</a:t>
            </a:r>
            <a:r>
              <a:rPr lang="fr"/>
              <a:t>: Argonne National Lab, </a:t>
            </a:r>
            <a:r>
              <a:rPr baseline="30000" lang="fr"/>
              <a:t>2</a:t>
            </a:r>
            <a:r>
              <a:rPr lang="fr"/>
              <a:t>: IJCLAB, Orsay, France </a:t>
            </a:r>
            <a:r>
              <a:rPr baseline="30000" lang="fr"/>
              <a:t>3</a:t>
            </a:r>
            <a:r>
              <a:rPr lang="fr"/>
              <a:t>: Mississippi State U., </a:t>
            </a:r>
            <a:r>
              <a:rPr baseline="30000" lang="fr"/>
              <a:t>4</a:t>
            </a:r>
            <a:r>
              <a:rPr lang="fr"/>
              <a:t>: University of                        New-Hampshire, </a:t>
            </a:r>
            <a:r>
              <a:rPr baseline="30000" lang="fr"/>
              <a:t>5</a:t>
            </a:r>
            <a:r>
              <a:rPr lang="fr"/>
              <a:t>: Jefferson Lab</a:t>
            </a:r>
            <a:endParaRPr/>
          </a:p>
        </p:txBody>
      </p:sp>
      <p:sp>
        <p:nvSpPr>
          <p:cNvPr id="76" name="Google Shape;76;p15"/>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0" y="-7620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CT Experiment​</a:t>
            </a:r>
            <a:endParaRPr/>
          </a:p>
        </p:txBody>
      </p:sp>
      <p:sp>
        <p:nvSpPr>
          <p:cNvPr id="82" name="Google Shape;82;p16"/>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
        <p:nvSpPr>
          <p:cNvPr id="83" name="Google Shape;83;p16"/>
          <p:cNvSpPr txBox="1"/>
          <p:nvPr>
            <p:ph idx="1" type="body"/>
          </p:nvPr>
        </p:nvSpPr>
        <p:spPr>
          <a:xfrm>
            <a:off x="85875" y="719550"/>
            <a:ext cx="4756200" cy="1899300"/>
          </a:xfrm>
          <a:prstGeom prst="rect">
            <a:avLst/>
          </a:prstGeom>
        </p:spPr>
        <p:txBody>
          <a:bodyPr anchorCtr="0" anchor="t" bIns="91425" lIns="0" spcFirstLastPara="1" rIns="91425" wrap="square" tIns="91425">
            <a:noAutofit/>
          </a:bodyPr>
          <a:lstStyle/>
          <a:p>
            <a:pPr indent="-152000" lvl="0" marL="280800" rtl="0" algn="l">
              <a:spcBef>
                <a:spcPts val="0"/>
              </a:spcBef>
              <a:spcAft>
                <a:spcPts val="0"/>
              </a:spcAft>
              <a:buSzPts val="1600"/>
              <a:buFont typeface="Nunito"/>
              <a:buChar char="●"/>
            </a:pPr>
            <a:r>
              <a:rPr lang="fr" sz="1600">
                <a:latin typeface="Nunito"/>
                <a:ea typeface="Nunito"/>
                <a:cs typeface="Nunito"/>
                <a:sym typeface="Nunito"/>
              </a:rPr>
              <a:t>E12-06-106, CT - the experimental signature of CT is the rise of the nuclear transparency, </a:t>
            </a:r>
            <a:r>
              <a:rPr i="1" lang="fr" sz="1600">
                <a:latin typeface="Nunito"/>
                <a:ea typeface="Nunito"/>
                <a:cs typeface="Nunito"/>
                <a:sym typeface="Nunito"/>
              </a:rPr>
              <a:t>T</a:t>
            </a:r>
            <a:r>
              <a:rPr baseline="-25000" lang="fr" sz="1600">
                <a:latin typeface="Nunito"/>
                <a:ea typeface="Nunito"/>
                <a:cs typeface="Nunito"/>
                <a:sym typeface="Nunito"/>
              </a:rPr>
              <a:t>A</a:t>
            </a:r>
            <a:r>
              <a:rPr lang="fr" sz="1600">
                <a:latin typeface="Nunito"/>
                <a:ea typeface="Nunito"/>
                <a:cs typeface="Nunito"/>
                <a:sym typeface="Nunito"/>
              </a:rPr>
              <a:t> as a function of Q</a:t>
            </a:r>
            <a:r>
              <a:rPr baseline="30000" lang="fr" sz="1600">
                <a:latin typeface="Nunito"/>
                <a:ea typeface="Nunito"/>
                <a:cs typeface="Nunito"/>
                <a:sym typeface="Nunito"/>
              </a:rPr>
              <a:t>2</a:t>
            </a:r>
            <a:r>
              <a:rPr lang="fr" sz="1600">
                <a:latin typeface="Nunito"/>
                <a:ea typeface="Nunito"/>
                <a:cs typeface="Nunito"/>
                <a:sym typeface="Nunito"/>
              </a:rPr>
              <a:t>: ​</a:t>
            </a:r>
            <a:endParaRPr sz="1600">
              <a:latin typeface="Nunito"/>
              <a:ea typeface="Nunito"/>
              <a:cs typeface="Nunito"/>
              <a:sym typeface="Nunito"/>
            </a:endParaRPr>
          </a:p>
          <a:p>
            <a:pPr indent="-152000" lvl="1" marL="486000" rtl="0" algn="l">
              <a:spcBef>
                <a:spcPts val="0"/>
              </a:spcBef>
              <a:spcAft>
                <a:spcPts val="0"/>
              </a:spcAft>
              <a:buSzPts val="1600"/>
              <a:buFont typeface="Nunito"/>
              <a:buChar char="○"/>
            </a:pPr>
            <a:r>
              <a:rPr i="1" lang="fr" sz="1600">
                <a:latin typeface="Nunito"/>
                <a:ea typeface="Nunito"/>
                <a:cs typeface="Nunito"/>
                <a:sym typeface="Nunito"/>
              </a:rPr>
              <a:t>T</a:t>
            </a:r>
            <a:r>
              <a:rPr baseline="-25000" lang="fr" sz="1600">
                <a:latin typeface="Nunito"/>
                <a:ea typeface="Nunito"/>
                <a:cs typeface="Nunito"/>
                <a:sym typeface="Nunito"/>
              </a:rPr>
              <a:t>A</a:t>
            </a:r>
            <a:r>
              <a:rPr lang="fr" sz="1600">
                <a:latin typeface="Nunito"/>
                <a:ea typeface="Nunito"/>
                <a:cs typeface="Nunito"/>
                <a:sym typeface="Nunito"/>
              </a:rPr>
              <a:t> is defined as the ratio of the cross section per nucleon on a bound nucleon to that on a free nucleon</a:t>
            </a:r>
            <a:endParaRPr sz="2200">
              <a:latin typeface="Nunito"/>
              <a:ea typeface="Nunito"/>
              <a:cs typeface="Nunito"/>
              <a:sym typeface="Nunito"/>
            </a:endParaRPr>
          </a:p>
        </p:txBody>
      </p:sp>
      <p:pic>
        <p:nvPicPr>
          <p:cNvPr id="84" name="Google Shape;84;p16"/>
          <p:cNvPicPr preferRelativeResize="0"/>
          <p:nvPr/>
        </p:nvPicPr>
        <p:blipFill rotWithShape="1">
          <a:blip r:embed="rId3">
            <a:alphaModFix/>
          </a:blip>
          <a:srcRect b="0" l="0" r="0" t="0"/>
          <a:stretch/>
        </p:blipFill>
        <p:spPr>
          <a:xfrm>
            <a:off x="5325624" y="723600"/>
            <a:ext cx="3548399" cy="1841575"/>
          </a:xfrm>
          <a:prstGeom prst="rect">
            <a:avLst/>
          </a:prstGeom>
          <a:noFill/>
          <a:ln>
            <a:noFill/>
          </a:ln>
        </p:spPr>
      </p:pic>
      <p:sp>
        <p:nvSpPr>
          <p:cNvPr id="85" name="Google Shape;85;p16"/>
          <p:cNvSpPr/>
          <p:nvPr/>
        </p:nvSpPr>
        <p:spPr>
          <a:xfrm>
            <a:off x="2543500" y="2320625"/>
            <a:ext cx="339300" cy="2103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6" name="Google Shape;86;p16" title="[89,89,89,&quot;https://www.codecogs.com/eqnedit.php?latex=T_A%20%3D%20%5Cfrac%7B%5Csigma_A%7D%7BA%5Csigma_N%7D#0&quot;]"/>
          <p:cNvPicPr preferRelativeResize="0"/>
          <p:nvPr/>
        </p:nvPicPr>
        <p:blipFill>
          <a:blip r:embed="rId4">
            <a:alphaModFix/>
          </a:blip>
          <a:stretch>
            <a:fillRect/>
          </a:stretch>
        </p:blipFill>
        <p:spPr>
          <a:xfrm>
            <a:off x="609199" y="2868050"/>
            <a:ext cx="1267076" cy="545975"/>
          </a:xfrm>
          <a:prstGeom prst="rect">
            <a:avLst/>
          </a:prstGeom>
          <a:noFill/>
          <a:ln>
            <a:noFill/>
          </a:ln>
        </p:spPr>
      </p:pic>
      <p:sp>
        <p:nvSpPr>
          <p:cNvPr id="87" name="Google Shape;87;p16"/>
          <p:cNvSpPr txBox="1"/>
          <p:nvPr/>
        </p:nvSpPr>
        <p:spPr>
          <a:xfrm>
            <a:off x="2105550" y="2829025"/>
            <a:ext cx="2608800" cy="58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2"/>
                </a:solidFill>
                <a:latin typeface="Nunito"/>
                <a:ea typeface="Nunito"/>
                <a:cs typeface="Nunito"/>
                <a:sym typeface="Nunito"/>
              </a:rPr>
              <a:t>σ</a:t>
            </a:r>
            <a:r>
              <a:rPr baseline="-25000" lang="fr" sz="1300">
                <a:solidFill>
                  <a:schemeClr val="dk2"/>
                </a:solidFill>
                <a:latin typeface="Nunito"/>
                <a:ea typeface="Nunito"/>
                <a:cs typeface="Nunito"/>
                <a:sym typeface="Nunito"/>
              </a:rPr>
              <a:t>A</a:t>
            </a:r>
            <a:r>
              <a:rPr lang="fr" sz="1300">
                <a:solidFill>
                  <a:schemeClr val="dk2"/>
                </a:solidFill>
                <a:latin typeface="Nunito"/>
                <a:ea typeface="Nunito"/>
                <a:cs typeface="Nunito"/>
                <a:sym typeface="Nunito"/>
              </a:rPr>
              <a:t> − nuclei cross section</a:t>
            </a:r>
            <a:endParaRPr sz="1300">
              <a:solidFill>
                <a:schemeClr val="dk2"/>
              </a:solidFill>
              <a:latin typeface="Nunito"/>
              <a:ea typeface="Nunito"/>
              <a:cs typeface="Nunito"/>
              <a:sym typeface="Nunito"/>
            </a:endParaRPr>
          </a:p>
          <a:p>
            <a:pPr indent="0" lvl="0" marL="0" rtl="0" algn="l">
              <a:spcBef>
                <a:spcPts val="0"/>
              </a:spcBef>
              <a:spcAft>
                <a:spcPts val="0"/>
              </a:spcAft>
              <a:buNone/>
            </a:pPr>
            <a:r>
              <a:rPr lang="fr" sz="1300">
                <a:solidFill>
                  <a:schemeClr val="dk2"/>
                </a:solidFill>
                <a:latin typeface="Nunito"/>
                <a:ea typeface="Nunito"/>
                <a:cs typeface="Nunito"/>
                <a:sym typeface="Nunito"/>
              </a:rPr>
              <a:t>σ</a:t>
            </a:r>
            <a:r>
              <a:rPr baseline="-25000" lang="fr" sz="1300">
                <a:solidFill>
                  <a:schemeClr val="dk2"/>
                </a:solidFill>
                <a:latin typeface="Nunito"/>
                <a:ea typeface="Nunito"/>
                <a:cs typeface="Nunito"/>
                <a:sym typeface="Nunito"/>
              </a:rPr>
              <a:t>N</a:t>
            </a:r>
            <a:r>
              <a:rPr lang="fr" sz="1300">
                <a:solidFill>
                  <a:schemeClr val="dk2"/>
                </a:solidFill>
                <a:latin typeface="Nunito"/>
                <a:ea typeface="Nunito"/>
                <a:cs typeface="Nunito"/>
                <a:sym typeface="Nunito"/>
              </a:rPr>
              <a:t> − free nucleon cross section</a:t>
            </a:r>
            <a:endParaRPr sz="1300">
              <a:solidFill>
                <a:schemeClr val="dk2"/>
              </a:solidFill>
              <a:latin typeface="Nunito"/>
              <a:ea typeface="Nunito"/>
              <a:cs typeface="Nunito"/>
              <a:sym typeface="Nunito"/>
            </a:endParaRPr>
          </a:p>
        </p:txBody>
      </p:sp>
      <p:sp>
        <p:nvSpPr>
          <p:cNvPr id="88" name="Google Shape;88;p16"/>
          <p:cNvSpPr txBox="1"/>
          <p:nvPr/>
        </p:nvSpPr>
        <p:spPr>
          <a:xfrm>
            <a:off x="117275" y="3912600"/>
            <a:ext cx="4561500" cy="8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chemeClr val="dk2"/>
                </a:solidFill>
                <a:latin typeface="Nunito"/>
                <a:ea typeface="Nunito"/>
                <a:cs typeface="Nunito"/>
                <a:sym typeface="Nunito"/>
              </a:rPr>
              <a:t>C</a:t>
            </a:r>
            <a:r>
              <a:rPr lang="fr">
                <a:solidFill>
                  <a:schemeClr val="dk2"/>
                </a:solidFill>
                <a:latin typeface="Nunito"/>
                <a:ea typeface="Nunito"/>
                <a:cs typeface="Nunito"/>
                <a:sym typeface="Nunito"/>
              </a:rPr>
              <a:t>oherence length, </a:t>
            </a:r>
            <a:r>
              <a:rPr lang="fr">
                <a:solidFill>
                  <a:schemeClr val="dk2"/>
                </a:solidFill>
                <a:latin typeface="Nunito"/>
                <a:ea typeface="Nunito"/>
                <a:cs typeface="Nunito"/>
                <a:sym typeface="Nunito"/>
              </a:rPr>
              <a:t>l</a:t>
            </a:r>
            <a:r>
              <a:rPr baseline="-25000" lang="fr">
                <a:solidFill>
                  <a:schemeClr val="dk2"/>
                </a:solidFill>
                <a:latin typeface="Nunito"/>
                <a:ea typeface="Nunito"/>
                <a:cs typeface="Nunito"/>
                <a:sym typeface="Nunito"/>
              </a:rPr>
              <a:t>c</a:t>
            </a:r>
            <a:r>
              <a:rPr lang="fr">
                <a:solidFill>
                  <a:schemeClr val="dk2"/>
                </a:solidFill>
                <a:latin typeface="Nunito"/>
                <a:ea typeface="Nunito"/>
                <a:cs typeface="Nunito"/>
                <a:sym typeface="Nunito"/>
              </a:rPr>
              <a:t>:</a:t>
            </a:r>
            <a:r>
              <a:rPr lang="fr">
                <a:solidFill>
                  <a:schemeClr val="dk2"/>
                </a:solidFill>
                <a:latin typeface="Nunito"/>
                <a:ea typeface="Nunito"/>
                <a:cs typeface="Nunito"/>
                <a:sym typeface="Nunito"/>
              </a:rPr>
              <a:t> the lifetime of the qq-bar pair</a:t>
            </a:r>
            <a:endParaRPr>
              <a:solidFill>
                <a:schemeClr val="dk2"/>
              </a:solidFill>
              <a:latin typeface="Nunito"/>
              <a:ea typeface="Nunito"/>
              <a:cs typeface="Nunito"/>
              <a:sym typeface="Nunito"/>
            </a:endParaRPr>
          </a:p>
          <a:p>
            <a:pPr indent="0" lvl="0" marL="0" rtl="0" algn="l">
              <a:spcBef>
                <a:spcPts val="0"/>
              </a:spcBef>
              <a:spcAft>
                <a:spcPts val="0"/>
              </a:spcAft>
              <a:buNone/>
            </a:pPr>
            <a:r>
              <a:rPr lang="fr">
                <a:solidFill>
                  <a:schemeClr val="dk2"/>
                </a:solidFill>
                <a:latin typeface="Nunito"/>
                <a:ea typeface="Nunito"/>
                <a:cs typeface="Nunito"/>
                <a:sym typeface="Nunito"/>
              </a:rPr>
              <a:t>F</a:t>
            </a:r>
            <a:r>
              <a:rPr lang="fr">
                <a:solidFill>
                  <a:schemeClr val="dk2"/>
                </a:solidFill>
                <a:latin typeface="Nunito"/>
                <a:ea typeface="Nunito"/>
                <a:cs typeface="Nunito"/>
                <a:sym typeface="Nunito"/>
              </a:rPr>
              <a:t>ormation time, </a:t>
            </a:r>
            <a:r>
              <a:rPr lang="fr">
                <a:solidFill>
                  <a:schemeClr val="dk2"/>
                </a:solidFill>
                <a:latin typeface="Nunito"/>
                <a:ea typeface="Nunito"/>
                <a:cs typeface="Nunito"/>
                <a:sym typeface="Nunito"/>
              </a:rPr>
              <a:t>l</a:t>
            </a:r>
            <a:r>
              <a:rPr baseline="-25000" lang="fr">
                <a:solidFill>
                  <a:schemeClr val="dk2"/>
                </a:solidFill>
                <a:latin typeface="Nunito"/>
                <a:ea typeface="Nunito"/>
                <a:cs typeface="Nunito"/>
                <a:sym typeface="Nunito"/>
              </a:rPr>
              <a:t>f</a:t>
            </a:r>
            <a:r>
              <a:rPr lang="fr">
                <a:solidFill>
                  <a:schemeClr val="dk2"/>
                </a:solidFill>
                <a:latin typeface="Nunito"/>
                <a:ea typeface="Nunito"/>
                <a:cs typeface="Nunito"/>
                <a:sym typeface="Nunito"/>
              </a:rPr>
              <a:t>:</a:t>
            </a:r>
            <a:r>
              <a:rPr lang="fr">
                <a:solidFill>
                  <a:schemeClr val="dk2"/>
                </a:solidFill>
                <a:latin typeface="Nunito"/>
                <a:ea typeface="Nunito"/>
                <a:cs typeface="Nunito"/>
                <a:sym typeface="Nunito"/>
              </a:rPr>
              <a:t> the time evolution of small size configurations (SSC) to an on-shell ρ</a:t>
            </a:r>
            <a:r>
              <a:rPr baseline="30000" lang="fr">
                <a:solidFill>
                  <a:schemeClr val="dk2"/>
                </a:solidFill>
                <a:latin typeface="Nunito"/>
                <a:ea typeface="Nunito"/>
                <a:cs typeface="Nunito"/>
                <a:sym typeface="Nunito"/>
              </a:rPr>
              <a:t>0</a:t>
            </a:r>
            <a:r>
              <a:rPr lang="fr">
                <a:solidFill>
                  <a:schemeClr val="dk2"/>
                </a:solidFill>
                <a:latin typeface="Nunito"/>
                <a:ea typeface="Nunito"/>
                <a:cs typeface="Nunito"/>
                <a:sym typeface="Nunito"/>
              </a:rPr>
              <a:t> meson​​</a:t>
            </a:r>
            <a:endParaRPr>
              <a:solidFill>
                <a:schemeClr val="dk2"/>
              </a:solidFill>
              <a:latin typeface="Nunito"/>
              <a:ea typeface="Nunito"/>
              <a:cs typeface="Nunito"/>
              <a:sym typeface="Nunito"/>
            </a:endParaRPr>
          </a:p>
        </p:txBody>
      </p:sp>
      <p:cxnSp>
        <p:nvCxnSpPr>
          <p:cNvPr id="89" name="Google Shape;89;p16"/>
          <p:cNvCxnSpPr>
            <a:endCxn id="90" idx="0"/>
          </p:cNvCxnSpPr>
          <p:nvPr/>
        </p:nvCxnSpPr>
        <p:spPr>
          <a:xfrm flipH="1">
            <a:off x="5733175" y="3720076"/>
            <a:ext cx="146400" cy="342900"/>
          </a:xfrm>
          <a:prstGeom prst="straightConnector1">
            <a:avLst/>
          </a:prstGeom>
          <a:noFill/>
          <a:ln cap="flat" cmpd="sng" w="9525">
            <a:solidFill>
              <a:schemeClr val="lt1"/>
            </a:solidFill>
            <a:prstDash val="solid"/>
            <a:round/>
            <a:headEnd len="med" w="med" type="none"/>
            <a:tailEnd len="med" w="med" type="triangle"/>
          </a:ln>
        </p:spPr>
      </p:cxnSp>
      <p:sp>
        <p:nvSpPr>
          <p:cNvPr id="90" name="Google Shape;90;p16"/>
          <p:cNvSpPr txBox="1"/>
          <p:nvPr/>
        </p:nvSpPr>
        <p:spPr>
          <a:xfrm>
            <a:off x="5325625" y="4062976"/>
            <a:ext cx="815100" cy="1911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fr" sz="800">
                <a:solidFill>
                  <a:schemeClr val="lt1"/>
                </a:solidFill>
                <a:latin typeface="Nunito"/>
                <a:ea typeface="Nunito"/>
                <a:cs typeface="Nunito"/>
                <a:sym typeface="Nunito"/>
              </a:rPr>
              <a:t>Virtual photon</a:t>
            </a:r>
            <a:endParaRPr sz="800">
              <a:solidFill>
                <a:schemeClr val="lt1"/>
              </a:solidFill>
              <a:latin typeface="Nunito"/>
              <a:ea typeface="Nunito"/>
              <a:cs typeface="Nunito"/>
              <a:sym typeface="Nunito"/>
            </a:endParaRPr>
          </a:p>
        </p:txBody>
      </p:sp>
      <p:cxnSp>
        <p:nvCxnSpPr>
          <p:cNvPr id="91" name="Google Shape;91;p16"/>
          <p:cNvCxnSpPr>
            <a:endCxn id="92" idx="0"/>
          </p:cNvCxnSpPr>
          <p:nvPr/>
        </p:nvCxnSpPr>
        <p:spPr>
          <a:xfrm>
            <a:off x="6821508" y="3720300"/>
            <a:ext cx="180300" cy="391200"/>
          </a:xfrm>
          <a:prstGeom prst="straightConnector1">
            <a:avLst/>
          </a:prstGeom>
          <a:noFill/>
          <a:ln cap="flat" cmpd="sng" w="9525">
            <a:solidFill>
              <a:schemeClr val="lt1"/>
            </a:solidFill>
            <a:prstDash val="solid"/>
            <a:round/>
            <a:headEnd len="med" w="med" type="none"/>
            <a:tailEnd len="med" w="med" type="triangle"/>
          </a:ln>
        </p:spPr>
      </p:cxnSp>
      <p:cxnSp>
        <p:nvCxnSpPr>
          <p:cNvPr id="93" name="Google Shape;93;p16"/>
          <p:cNvCxnSpPr>
            <a:endCxn id="92" idx="0"/>
          </p:cNvCxnSpPr>
          <p:nvPr/>
        </p:nvCxnSpPr>
        <p:spPr>
          <a:xfrm flipH="1">
            <a:off x="7001808" y="3720300"/>
            <a:ext cx="235200" cy="391200"/>
          </a:xfrm>
          <a:prstGeom prst="straightConnector1">
            <a:avLst/>
          </a:prstGeom>
          <a:noFill/>
          <a:ln cap="flat" cmpd="sng" w="9525">
            <a:solidFill>
              <a:schemeClr val="lt1"/>
            </a:solidFill>
            <a:prstDash val="solid"/>
            <a:round/>
            <a:headEnd len="med" w="med" type="none"/>
            <a:tailEnd len="med" w="med" type="triangle"/>
          </a:ln>
        </p:spPr>
      </p:cxnSp>
      <p:sp>
        <p:nvSpPr>
          <p:cNvPr id="92" name="Google Shape;92;p16"/>
          <p:cNvSpPr txBox="1"/>
          <p:nvPr/>
        </p:nvSpPr>
        <p:spPr>
          <a:xfrm>
            <a:off x="6318258" y="4111500"/>
            <a:ext cx="1367100" cy="4626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fr" sz="800">
                <a:solidFill>
                  <a:schemeClr val="lt1"/>
                </a:solidFill>
                <a:latin typeface="Nunito"/>
                <a:ea typeface="Nunito"/>
                <a:cs typeface="Nunito"/>
                <a:sym typeface="Nunito"/>
              </a:rPr>
              <a:t>Small size configuration (SSC),​ ρ</a:t>
            </a:r>
            <a:r>
              <a:rPr baseline="30000" lang="fr" sz="800">
                <a:solidFill>
                  <a:schemeClr val="lt1"/>
                </a:solidFill>
                <a:latin typeface="Nunito"/>
                <a:ea typeface="Nunito"/>
                <a:cs typeface="Nunito"/>
                <a:sym typeface="Nunito"/>
              </a:rPr>
              <a:t>0</a:t>
            </a:r>
            <a:r>
              <a:rPr lang="fr" sz="800">
                <a:solidFill>
                  <a:schemeClr val="lt1"/>
                </a:solidFill>
                <a:latin typeface="Nunito"/>
                <a:ea typeface="Nunito"/>
                <a:cs typeface="Nunito"/>
                <a:sym typeface="Nunito"/>
              </a:rPr>
              <a:t>, is the nuclear cross section​ escapes interactions with the nucleus​</a:t>
            </a:r>
            <a:endParaRPr sz="800">
              <a:solidFill>
                <a:schemeClr val="lt1"/>
              </a:solidFill>
              <a:latin typeface="Nunito"/>
              <a:ea typeface="Nunito"/>
              <a:cs typeface="Nunito"/>
              <a:sym typeface="Nunito"/>
            </a:endParaRPr>
          </a:p>
        </p:txBody>
      </p:sp>
      <p:sp>
        <p:nvSpPr>
          <p:cNvPr id="94" name="Google Shape;94;p16"/>
          <p:cNvSpPr/>
          <p:nvPr/>
        </p:nvSpPr>
        <p:spPr>
          <a:xfrm>
            <a:off x="7195450" y="656550"/>
            <a:ext cx="953400" cy="191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5" name="Google Shape;95;p16"/>
          <p:cNvPicPr preferRelativeResize="0"/>
          <p:nvPr/>
        </p:nvPicPr>
        <p:blipFill>
          <a:blip r:embed="rId5">
            <a:alphaModFix/>
          </a:blip>
          <a:stretch>
            <a:fillRect/>
          </a:stretch>
        </p:blipFill>
        <p:spPr>
          <a:xfrm>
            <a:off x="5292175" y="2565175"/>
            <a:ext cx="3697850" cy="2197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Nuclear TMDs</a:t>
            </a:r>
            <a:endParaRPr/>
          </a:p>
        </p:txBody>
      </p:sp>
      <p:sp>
        <p:nvSpPr>
          <p:cNvPr id="101" name="Google Shape;101;p17"/>
          <p:cNvSpPr txBox="1"/>
          <p:nvPr>
            <p:ph idx="1" type="body"/>
          </p:nvPr>
        </p:nvSpPr>
        <p:spPr>
          <a:xfrm>
            <a:off x="81650" y="763125"/>
            <a:ext cx="5815500" cy="3871800"/>
          </a:xfrm>
          <a:prstGeom prst="rect">
            <a:avLst/>
          </a:prstGeom>
        </p:spPr>
        <p:txBody>
          <a:bodyPr anchorCtr="0" anchor="t" bIns="91425" lIns="91425" spcFirstLastPara="1" rIns="91425" wrap="square" tIns="91425">
            <a:noAutofit/>
          </a:bodyPr>
          <a:lstStyle/>
          <a:p>
            <a:pPr indent="-164700" lvl="0" marL="172800" rtl="0" algn="l">
              <a:spcBef>
                <a:spcPts val="0"/>
              </a:spcBef>
              <a:spcAft>
                <a:spcPts val="0"/>
              </a:spcAft>
              <a:buSzPts val="1800"/>
              <a:buFont typeface="Nunito"/>
              <a:buChar char="●"/>
            </a:pPr>
            <a:r>
              <a:rPr lang="fr">
                <a:latin typeface="Nunito"/>
                <a:ea typeface="Nunito"/>
                <a:cs typeface="Nunito"/>
                <a:sym typeface="Nunito"/>
              </a:rPr>
              <a:t>E12-06-106A: nTMDs study uses the same CT running conditions except the beam polarization, and aims to explore​:</a:t>
            </a:r>
            <a:endParaRPr>
              <a:latin typeface="Nunito"/>
              <a:ea typeface="Nunito"/>
              <a:cs typeface="Nunito"/>
              <a:sym typeface="Nunito"/>
            </a:endParaRPr>
          </a:p>
          <a:p>
            <a:pPr indent="-152000" lvl="1" marL="486000" rtl="0" algn="l">
              <a:spcBef>
                <a:spcPts val="0"/>
              </a:spcBef>
              <a:spcAft>
                <a:spcPts val="0"/>
              </a:spcAft>
              <a:buSzPts val="1600"/>
              <a:buFont typeface="Nunito"/>
              <a:buChar char="○"/>
            </a:pPr>
            <a:r>
              <a:rPr lang="fr" sz="1600">
                <a:latin typeface="Nunito"/>
                <a:ea typeface="Nunito"/>
                <a:cs typeface="Nunito"/>
                <a:sym typeface="Nunito"/>
              </a:rPr>
              <a:t>Fragmentation functions in nuclei​</a:t>
            </a:r>
            <a:endParaRPr sz="1600">
              <a:latin typeface="Nunito"/>
              <a:ea typeface="Nunito"/>
              <a:cs typeface="Nunito"/>
              <a:sym typeface="Nunito"/>
            </a:endParaRPr>
          </a:p>
          <a:p>
            <a:pPr indent="-152000" lvl="1" marL="486000" rtl="0" algn="l">
              <a:spcBef>
                <a:spcPts val="0"/>
              </a:spcBef>
              <a:spcAft>
                <a:spcPts val="0"/>
              </a:spcAft>
              <a:buSzPts val="1600"/>
              <a:buFont typeface="Nunito"/>
              <a:buChar char="○"/>
            </a:pPr>
            <a:r>
              <a:rPr lang="fr" sz="1600">
                <a:latin typeface="Nunito"/>
                <a:ea typeface="Nunito"/>
                <a:cs typeface="Nunito"/>
                <a:sym typeface="Nunito"/>
              </a:rPr>
              <a:t>Nuclear asymmetries at the partonic level​</a:t>
            </a:r>
            <a:endParaRPr sz="1600">
              <a:latin typeface="Nunito"/>
              <a:ea typeface="Nunito"/>
              <a:cs typeface="Nunito"/>
              <a:sym typeface="Nunito"/>
            </a:endParaRPr>
          </a:p>
          <a:p>
            <a:pPr indent="-152000" lvl="1" marL="486000" rtl="0" algn="l">
              <a:spcBef>
                <a:spcPts val="0"/>
              </a:spcBef>
              <a:spcAft>
                <a:spcPts val="0"/>
              </a:spcAft>
              <a:buSzPts val="1600"/>
              <a:buFont typeface="Nunito"/>
              <a:buChar char="○"/>
            </a:pPr>
            <a:r>
              <a:rPr lang="fr" sz="1600">
                <a:latin typeface="Nunito"/>
                <a:ea typeface="Nunito"/>
                <a:cs typeface="Nunito"/>
                <a:sym typeface="Nunito"/>
              </a:rPr>
              <a:t>Missing part of nuclear effects description​</a:t>
            </a:r>
            <a:endParaRPr sz="1600">
              <a:latin typeface="Nunito"/>
              <a:ea typeface="Nunito"/>
              <a:cs typeface="Nunito"/>
              <a:sym typeface="Nunito"/>
            </a:endParaRPr>
          </a:p>
          <a:p>
            <a:pPr indent="-164700" lvl="0" marL="172800" rtl="0" algn="l">
              <a:spcBef>
                <a:spcPts val="1000"/>
              </a:spcBef>
              <a:spcAft>
                <a:spcPts val="0"/>
              </a:spcAft>
              <a:buSzPts val="1800"/>
              <a:buFont typeface="Nunito"/>
              <a:buChar char="●"/>
            </a:pPr>
            <a:r>
              <a:rPr lang="fr">
                <a:latin typeface="Nunito"/>
                <a:ea typeface="Nunito"/>
                <a:cs typeface="Nunito"/>
                <a:sym typeface="Nunito"/>
              </a:rPr>
              <a:t>Goal:</a:t>
            </a:r>
            <a:endParaRPr>
              <a:latin typeface="Nunito"/>
              <a:ea typeface="Nunito"/>
              <a:cs typeface="Nunito"/>
              <a:sym typeface="Nunito"/>
            </a:endParaRPr>
          </a:p>
          <a:p>
            <a:pPr indent="-152000" lvl="1" marL="486000" rtl="0" algn="l">
              <a:spcBef>
                <a:spcPts val="0"/>
              </a:spcBef>
              <a:spcAft>
                <a:spcPts val="0"/>
              </a:spcAft>
              <a:buSzPts val="1600"/>
              <a:buFont typeface="Nunito"/>
              <a:buChar char="○"/>
            </a:pPr>
            <a:r>
              <a:rPr lang="fr" sz="1600">
                <a:latin typeface="Nunito"/>
                <a:ea typeface="Nunito"/>
                <a:cs typeface="Nunito"/>
                <a:sym typeface="Nunito"/>
              </a:rPr>
              <a:t>Measure the cos and sin modulations for p</a:t>
            </a:r>
            <a:r>
              <a:rPr baseline="30000" lang="fr" sz="1600">
                <a:latin typeface="Nunito"/>
                <a:ea typeface="Nunito"/>
                <a:cs typeface="Nunito"/>
                <a:sym typeface="Nunito"/>
              </a:rPr>
              <a:t>2</a:t>
            </a:r>
            <a:r>
              <a:rPr baseline="-25000" lang="fr" sz="1600">
                <a:latin typeface="Nunito"/>
                <a:ea typeface="Nunito"/>
                <a:cs typeface="Nunito"/>
                <a:sym typeface="Nunito"/>
              </a:rPr>
              <a:t>T</a:t>
            </a:r>
            <a:endParaRPr baseline="-25000" sz="1600">
              <a:latin typeface="Nunito"/>
              <a:ea typeface="Nunito"/>
              <a:cs typeface="Nunito"/>
              <a:sym typeface="Nunito"/>
            </a:endParaRPr>
          </a:p>
          <a:p>
            <a:pPr indent="-152000" lvl="1" marL="486000" rtl="0" algn="l">
              <a:spcBef>
                <a:spcPts val="0"/>
              </a:spcBef>
              <a:spcAft>
                <a:spcPts val="0"/>
              </a:spcAft>
              <a:buSzPts val="1600"/>
              <a:buFont typeface="Nunito"/>
              <a:buChar char="○"/>
            </a:pPr>
            <a:r>
              <a:rPr lang="fr" sz="1600">
                <a:latin typeface="Nunito"/>
                <a:ea typeface="Nunito"/>
                <a:cs typeface="Nunito"/>
                <a:sym typeface="Nunito"/>
              </a:rPr>
              <a:t>Mesure multiplicity ratios</a:t>
            </a:r>
            <a:endParaRPr sz="1600">
              <a:latin typeface="Nunito"/>
              <a:ea typeface="Nunito"/>
              <a:cs typeface="Nunito"/>
              <a:sym typeface="Nunito"/>
            </a:endParaRPr>
          </a:p>
          <a:p>
            <a:pPr indent="-152000" lvl="1" marL="486000" rtl="0" algn="l">
              <a:spcBef>
                <a:spcPts val="0"/>
              </a:spcBef>
              <a:spcAft>
                <a:spcPts val="0"/>
              </a:spcAft>
              <a:buSzPts val="1600"/>
              <a:buFont typeface="Nunito"/>
              <a:buChar char="○"/>
            </a:pPr>
            <a:r>
              <a:rPr lang="fr" sz="1600">
                <a:latin typeface="Nunito"/>
                <a:ea typeface="Nunito"/>
                <a:cs typeface="Nunito"/>
                <a:sym typeface="Nunito"/>
              </a:rPr>
              <a:t>For both charged pions and kaons</a:t>
            </a:r>
            <a:endParaRPr sz="1600">
              <a:latin typeface="Nunito"/>
              <a:ea typeface="Nunito"/>
              <a:cs typeface="Nunito"/>
              <a:sym typeface="Nunito"/>
            </a:endParaRPr>
          </a:p>
          <a:p>
            <a:pPr indent="-152000" lvl="1" marL="486000" rtl="0" algn="l">
              <a:spcBef>
                <a:spcPts val="0"/>
              </a:spcBef>
              <a:spcAft>
                <a:spcPts val="0"/>
              </a:spcAft>
              <a:buSzPts val="1600"/>
              <a:buFont typeface="Nunito"/>
              <a:buChar char="○"/>
            </a:pPr>
            <a:r>
              <a:rPr lang="fr" sz="1600">
                <a:latin typeface="Nunito"/>
                <a:ea typeface="Nunito"/>
                <a:cs typeface="Nunito"/>
                <a:sym typeface="Nunito"/>
              </a:rPr>
              <a:t>Accesses transport coefficient at parton level</a:t>
            </a:r>
            <a:endParaRPr sz="1600">
              <a:latin typeface="Nunito"/>
              <a:ea typeface="Nunito"/>
              <a:cs typeface="Nunito"/>
              <a:sym typeface="Nunito"/>
            </a:endParaRPr>
          </a:p>
        </p:txBody>
      </p:sp>
      <p:sp>
        <p:nvSpPr>
          <p:cNvPr id="102" name="Google Shape;102;p17"/>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pic>
        <p:nvPicPr>
          <p:cNvPr id="103" name="Google Shape;103;p17"/>
          <p:cNvPicPr preferRelativeResize="0"/>
          <p:nvPr/>
        </p:nvPicPr>
        <p:blipFill>
          <a:blip r:embed="rId3">
            <a:alphaModFix/>
          </a:blip>
          <a:stretch>
            <a:fillRect/>
          </a:stretch>
        </p:blipFill>
        <p:spPr>
          <a:xfrm>
            <a:off x="6050725" y="647400"/>
            <a:ext cx="2705209" cy="1957425"/>
          </a:xfrm>
          <a:prstGeom prst="rect">
            <a:avLst/>
          </a:prstGeom>
          <a:noFill/>
          <a:ln>
            <a:noFill/>
          </a:ln>
        </p:spPr>
      </p:pic>
      <p:pic>
        <p:nvPicPr>
          <p:cNvPr id="104" name="Google Shape;104;p17"/>
          <p:cNvPicPr preferRelativeResize="0"/>
          <p:nvPr/>
        </p:nvPicPr>
        <p:blipFill>
          <a:blip r:embed="rId4">
            <a:alphaModFix/>
          </a:blip>
          <a:stretch>
            <a:fillRect/>
          </a:stretch>
        </p:blipFill>
        <p:spPr>
          <a:xfrm>
            <a:off x="5124650" y="2479225"/>
            <a:ext cx="2110800" cy="2238975"/>
          </a:xfrm>
          <a:prstGeom prst="rect">
            <a:avLst/>
          </a:prstGeom>
          <a:noFill/>
          <a:ln>
            <a:noFill/>
          </a:ln>
        </p:spPr>
      </p:pic>
      <p:sp>
        <p:nvSpPr>
          <p:cNvPr id="105" name="Google Shape;105;p17"/>
          <p:cNvSpPr txBox="1"/>
          <p:nvPr/>
        </p:nvSpPr>
        <p:spPr>
          <a:xfrm>
            <a:off x="7311550" y="4272600"/>
            <a:ext cx="1782000" cy="312000"/>
          </a:xfrm>
          <a:prstGeom prst="rect">
            <a:avLst/>
          </a:prstGeom>
          <a:noFill/>
          <a:ln cap="flat" cmpd="sng" w="9525">
            <a:solidFill>
              <a:srgbClr val="6AA84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fr" sz="1000">
                <a:solidFill>
                  <a:schemeClr val="dk2"/>
                </a:solidFill>
                <a:latin typeface="Nunito"/>
                <a:ea typeface="Nunito"/>
                <a:cs typeface="Nunito"/>
                <a:sym typeface="Nunito"/>
              </a:rPr>
              <a:t>Projected statistical error bars for sin and cos moments</a:t>
            </a:r>
            <a:endParaRPr sz="1000">
              <a:solidFill>
                <a:schemeClr val="dk2"/>
              </a:solidFill>
              <a:latin typeface="Nunito"/>
              <a:ea typeface="Nunito"/>
              <a:cs typeface="Nunito"/>
              <a:sym typeface="Nunito"/>
            </a:endParaRPr>
          </a:p>
        </p:txBody>
      </p:sp>
      <p:sp>
        <p:nvSpPr>
          <p:cNvPr id="106" name="Google Shape;106;p17"/>
          <p:cNvSpPr txBox="1"/>
          <p:nvPr/>
        </p:nvSpPr>
        <p:spPr>
          <a:xfrm>
            <a:off x="7601400" y="2629950"/>
            <a:ext cx="1492200" cy="277200"/>
          </a:xfrm>
          <a:prstGeom prst="rect">
            <a:avLst/>
          </a:prstGeom>
          <a:noFill/>
          <a:ln cap="flat" cmpd="sng" w="9525">
            <a:solidFill>
              <a:srgbClr val="6AA84F"/>
            </a:solidFill>
            <a:prstDash val="solid"/>
            <a:round/>
            <a:headEnd len="sm" w="sm" type="none"/>
            <a:tailEnd len="sm" w="sm" type="none"/>
          </a:ln>
        </p:spPr>
        <p:txBody>
          <a:bodyPr anchorCtr="0" anchor="t" bIns="0" lIns="0" spcFirstLastPara="1" rIns="0" wrap="square" tIns="0">
            <a:spAutoFit/>
          </a:bodyPr>
          <a:lstStyle/>
          <a:p>
            <a:pPr indent="0" lvl="0" marL="0" rtl="0" algn="ctr">
              <a:spcBef>
                <a:spcPts val="0"/>
              </a:spcBef>
              <a:spcAft>
                <a:spcPts val="0"/>
              </a:spcAft>
              <a:buNone/>
            </a:pPr>
            <a:r>
              <a:rPr lang="fr" sz="900">
                <a:solidFill>
                  <a:schemeClr val="dk2"/>
                </a:solidFill>
                <a:latin typeface="Nunito"/>
                <a:ea typeface="Nunito"/>
                <a:cs typeface="Nunito"/>
                <a:sym typeface="Nunito"/>
              </a:rPr>
              <a:t>Ratio of sin asymmetries  nuclei to nucleon</a:t>
            </a:r>
            <a:endParaRPr sz="900">
              <a:solidFill>
                <a:schemeClr val="dk2"/>
              </a:solidFill>
              <a:latin typeface="Nunito"/>
              <a:ea typeface="Nunito"/>
              <a:cs typeface="Nunito"/>
              <a:sym typeface="Nunito"/>
            </a:endParaRPr>
          </a:p>
        </p:txBody>
      </p:sp>
      <p:cxnSp>
        <p:nvCxnSpPr>
          <p:cNvPr id="107" name="Google Shape;107;p17"/>
          <p:cNvCxnSpPr>
            <a:stCxn id="105" idx="0"/>
          </p:cNvCxnSpPr>
          <p:nvPr/>
        </p:nvCxnSpPr>
        <p:spPr>
          <a:xfrm rot="10800000">
            <a:off x="6978550" y="3960600"/>
            <a:ext cx="1224000" cy="312000"/>
          </a:xfrm>
          <a:prstGeom prst="straightConnector1">
            <a:avLst/>
          </a:prstGeom>
          <a:noFill/>
          <a:ln cap="flat" cmpd="sng" w="9525">
            <a:solidFill>
              <a:srgbClr val="6AA84F"/>
            </a:solidFill>
            <a:prstDash val="solid"/>
            <a:round/>
            <a:headEnd len="med" w="med" type="none"/>
            <a:tailEnd len="med" w="med" type="triangle"/>
          </a:ln>
        </p:spPr>
      </p:cxnSp>
      <p:cxnSp>
        <p:nvCxnSpPr>
          <p:cNvPr id="108" name="Google Shape;108;p17"/>
          <p:cNvCxnSpPr>
            <a:stCxn id="106" idx="0"/>
          </p:cNvCxnSpPr>
          <p:nvPr/>
        </p:nvCxnSpPr>
        <p:spPr>
          <a:xfrm rot="10800000">
            <a:off x="7311300" y="2210550"/>
            <a:ext cx="1036200" cy="419400"/>
          </a:xfrm>
          <a:prstGeom prst="straightConnector1">
            <a:avLst/>
          </a:prstGeom>
          <a:noFill/>
          <a:ln cap="flat" cmpd="sng" w="9525">
            <a:solidFill>
              <a:srgbClr val="6AA84F"/>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18"/>
          <p:cNvPicPr preferRelativeResize="0"/>
          <p:nvPr/>
        </p:nvPicPr>
        <p:blipFill>
          <a:blip r:embed="rId3">
            <a:alphaModFix/>
          </a:blip>
          <a:stretch>
            <a:fillRect/>
          </a:stretch>
        </p:blipFill>
        <p:spPr>
          <a:xfrm>
            <a:off x="5146950" y="1913925"/>
            <a:ext cx="3701873" cy="2882301"/>
          </a:xfrm>
          <a:prstGeom prst="rect">
            <a:avLst/>
          </a:prstGeom>
          <a:noFill/>
          <a:ln>
            <a:noFill/>
          </a:ln>
        </p:spPr>
      </p:pic>
      <p:sp>
        <p:nvSpPr>
          <p:cNvPr id="114" name="Google Shape;114;p18"/>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Run Configuration</a:t>
            </a:r>
            <a:endParaRPr/>
          </a:p>
        </p:txBody>
      </p:sp>
      <p:sp>
        <p:nvSpPr>
          <p:cNvPr id="115" name="Google Shape;115;p18"/>
          <p:cNvSpPr txBox="1"/>
          <p:nvPr>
            <p:ph idx="1" type="body"/>
          </p:nvPr>
        </p:nvSpPr>
        <p:spPr>
          <a:xfrm>
            <a:off x="13250" y="647400"/>
            <a:ext cx="9144000" cy="2230800"/>
          </a:xfrm>
          <a:prstGeom prst="rect">
            <a:avLst/>
          </a:prstGeom>
        </p:spPr>
        <p:txBody>
          <a:bodyPr anchorCtr="0" anchor="t" bIns="91425" lIns="0" spcFirstLastPara="1" rIns="91425" wrap="square" tIns="0">
            <a:noAutofit/>
          </a:bodyPr>
          <a:lstStyle/>
          <a:p>
            <a:pPr indent="-164700" lvl="0" marL="280800" rtl="0" algn="l">
              <a:lnSpc>
                <a:spcPct val="100000"/>
              </a:lnSpc>
              <a:spcBef>
                <a:spcPts val="0"/>
              </a:spcBef>
              <a:spcAft>
                <a:spcPts val="0"/>
              </a:spcAft>
              <a:buSzPts val="1800"/>
              <a:buFont typeface="Nunito"/>
              <a:buChar char="●"/>
            </a:pPr>
            <a:r>
              <a:rPr lang="fr">
                <a:latin typeface="Nunito"/>
                <a:ea typeface="Nunito"/>
                <a:cs typeface="Nunito"/>
                <a:sym typeface="Nunito"/>
              </a:rPr>
              <a:t>RG-D experiments </a:t>
            </a:r>
            <a:r>
              <a:rPr lang="fr">
                <a:latin typeface="Nunito"/>
                <a:ea typeface="Nunito"/>
                <a:cs typeface="Nunito"/>
                <a:sym typeface="Nunito"/>
              </a:rPr>
              <a:t>collected</a:t>
            </a:r>
            <a:r>
              <a:rPr lang="fr">
                <a:latin typeface="Nunito"/>
                <a:ea typeface="Nunito"/>
                <a:cs typeface="Nunito"/>
                <a:sym typeface="Nunito"/>
              </a:rPr>
              <a:t> data in the fall of 2023 with</a:t>
            </a:r>
            <a:endParaRPr>
              <a:latin typeface="Nunito"/>
              <a:ea typeface="Nunito"/>
              <a:cs typeface="Nunito"/>
              <a:sym typeface="Nunito"/>
            </a:endParaRPr>
          </a:p>
          <a:p>
            <a:pPr indent="-139300" lvl="1" marL="486000" rtl="0" algn="l">
              <a:lnSpc>
                <a:spcPct val="115000"/>
              </a:lnSpc>
              <a:spcBef>
                <a:spcPts val="0"/>
              </a:spcBef>
              <a:spcAft>
                <a:spcPts val="0"/>
              </a:spcAft>
              <a:buSzPts val="1400"/>
              <a:buFont typeface="Nunito"/>
              <a:buChar char="○"/>
            </a:pPr>
            <a:r>
              <a:rPr lang="fr">
                <a:latin typeface="Nunito"/>
                <a:ea typeface="Nunito"/>
                <a:cs typeface="Nunito"/>
                <a:sym typeface="Nunito"/>
              </a:rPr>
              <a:t>10.54 GeV polarized beam energy and </a:t>
            </a:r>
            <a:r>
              <a:rPr i="1" lang="fr">
                <a:latin typeface="Courier New"/>
                <a:ea typeface="Courier New"/>
                <a:cs typeface="Courier New"/>
                <a:sym typeface="Courier New"/>
              </a:rPr>
              <a:t>I</a:t>
            </a:r>
            <a:r>
              <a:rPr lang="fr">
                <a:latin typeface="Courier New"/>
                <a:ea typeface="Courier New"/>
                <a:cs typeface="Courier New"/>
                <a:sym typeface="Courier New"/>
              </a:rPr>
              <a:t>= 5–175 nA</a:t>
            </a:r>
            <a:r>
              <a:rPr lang="fr">
                <a:latin typeface="Nunito"/>
                <a:ea typeface="Nunito"/>
                <a:cs typeface="Nunito"/>
                <a:sym typeface="Nunito"/>
              </a:rPr>
              <a:t> for luminosity scans and production</a:t>
            </a:r>
            <a:endParaRPr>
              <a:latin typeface="Nunito"/>
              <a:ea typeface="Nunito"/>
              <a:cs typeface="Nunito"/>
              <a:sym typeface="Nunito"/>
            </a:endParaRPr>
          </a:p>
          <a:p>
            <a:pPr indent="-139300" lvl="1" marL="486000" rtl="0" algn="l">
              <a:lnSpc>
                <a:spcPct val="115000"/>
              </a:lnSpc>
              <a:spcBef>
                <a:spcPts val="0"/>
              </a:spcBef>
              <a:spcAft>
                <a:spcPts val="0"/>
              </a:spcAft>
              <a:buSzPts val="1400"/>
              <a:buFont typeface="Nunito"/>
              <a:buChar char="○"/>
            </a:pPr>
            <a:r>
              <a:rPr lang="fr">
                <a:latin typeface="Nunito"/>
                <a:ea typeface="Nunito"/>
                <a:cs typeface="Nunito"/>
                <a:sym typeface="Nunito"/>
              </a:rPr>
              <a:t>Standard CLAS12 configuration with FT-OFF and three layers of FMT</a:t>
            </a:r>
            <a:endParaRPr>
              <a:latin typeface="Nunito"/>
              <a:ea typeface="Nunito"/>
              <a:cs typeface="Nunito"/>
              <a:sym typeface="Nunito"/>
            </a:endParaRPr>
          </a:p>
          <a:p>
            <a:pPr indent="-139300" lvl="1" marL="486000" rtl="0" algn="l">
              <a:lnSpc>
                <a:spcPct val="115000"/>
              </a:lnSpc>
              <a:spcBef>
                <a:spcPts val="0"/>
              </a:spcBef>
              <a:spcAft>
                <a:spcPts val="0"/>
              </a:spcAft>
              <a:buSzPts val="1400"/>
              <a:buFont typeface="Nunito"/>
              <a:buChar char="○"/>
            </a:pPr>
            <a:r>
              <a:rPr lang="fr">
                <a:latin typeface="Nunito"/>
                <a:ea typeface="Nunito"/>
                <a:cs typeface="Nunito"/>
                <a:sym typeface="Nunito"/>
              </a:rPr>
              <a:t>Three target configurations, LD2, CxC, and CuSn, deployed with InBending and OutBending torus polarity</a:t>
            </a:r>
            <a:endParaRPr>
              <a:latin typeface="Nunito"/>
              <a:ea typeface="Nunito"/>
              <a:cs typeface="Nunito"/>
              <a:sym typeface="Nunito"/>
            </a:endParaRPr>
          </a:p>
          <a:p>
            <a:pPr indent="-139300" lvl="1" marL="486000" rtl="0" algn="l">
              <a:lnSpc>
                <a:spcPct val="115000"/>
              </a:lnSpc>
              <a:spcBef>
                <a:spcPts val="0"/>
              </a:spcBef>
              <a:spcAft>
                <a:spcPts val="0"/>
              </a:spcAft>
              <a:buSzPts val="1400"/>
              <a:buFont typeface="Nunito"/>
              <a:buChar char="○"/>
            </a:pPr>
            <a:r>
              <a:rPr lang="fr">
                <a:latin typeface="Nunito"/>
                <a:ea typeface="Nunito"/>
                <a:cs typeface="Nunito"/>
                <a:sym typeface="Nunito"/>
              </a:rPr>
              <a:t>New cryogenic LD2 and the nuclear-foil flag assembly centered at -5 cm for each configuration</a:t>
            </a:r>
            <a:endParaRPr>
              <a:latin typeface="Nunito"/>
              <a:ea typeface="Nunito"/>
              <a:cs typeface="Nunito"/>
              <a:sym typeface="Nunito"/>
            </a:endParaRPr>
          </a:p>
          <a:p>
            <a:pPr indent="-164700" lvl="0" marL="280800" rtl="0" algn="l">
              <a:lnSpc>
                <a:spcPct val="115000"/>
              </a:lnSpc>
              <a:spcBef>
                <a:spcPts val="1000"/>
              </a:spcBef>
              <a:spcAft>
                <a:spcPts val="0"/>
              </a:spcAft>
              <a:buSzPts val="1800"/>
              <a:buFont typeface="Nunito"/>
              <a:buChar char="●"/>
            </a:pPr>
            <a:r>
              <a:rPr lang="fr">
                <a:latin typeface="Nunito"/>
                <a:ea typeface="Nunito"/>
                <a:cs typeface="Nunito"/>
                <a:sym typeface="Nunito"/>
              </a:rPr>
              <a:t>Main run hiccups:</a:t>
            </a:r>
            <a:endParaRPr>
              <a:latin typeface="Nunito"/>
              <a:ea typeface="Nunito"/>
              <a:cs typeface="Nunito"/>
              <a:sym typeface="Nunito"/>
            </a:endParaRPr>
          </a:p>
          <a:p>
            <a:pPr indent="-139300" lvl="1" marL="486000" rtl="0" algn="l">
              <a:lnSpc>
                <a:spcPct val="100000"/>
              </a:lnSpc>
              <a:spcBef>
                <a:spcPts val="0"/>
              </a:spcBef>
              <a:spcAft>
                <a:spcPts val="0"/>
              </a:spcAft>
              <a:buSzPts val="1400"/>
              <a:buFont typeface="Nunito"/>
              <a:buChar char="○"/>
            </a:pPr>
            <a:r>
              <a:rPr lang="fr">
                <a:latin typeface="Nunito"/>
                <a:ea typeface="Nunito"/>
                <a:cs typeface="Nunito"/>
                <a:sym typeface="Nunito"/>
              </a:rPr>
              <a:t>Faraday Cup vacuum contamination</a:t>
            </a:r>
            <a:endParaRPr>
              <a:latin typeface="Nunito"/>
              <a:ea typeface="Nunito"/>
              <a:cs typeface="Nunito"/>
              <a:sym typeface="Nunito"/>
            </a:endParaRPr>
          </a:p>
          <a:p>
            <a:pPr indent="-139300" lvl="1" marL="486000" rtl="0" algn="l">
              <a:lnSpc>
                <a:spcPct val="100000"/>
              </a:lnSpc>
              <a:spcBef>
                <a:spcPts val="0"/>
              </a:spcBef>
              <a:spcAft>
                <a:spcPts val="0"/>
              </a:spcAft>
              <a:buSzPts val="1400"/>
              <a:buFont typeface="Nunito"/>
              <a:buChar char="○"/>
            </a:pPr>
            <a:r>
              <a:rPr lang="fr">
                <a:latin typeface="Nunito"/>
                <a:ea typeface="Nunito"/>
                <a:cs typeface="Nunito"/>
                <a:sym typeface="Nunito"/>
              </a:rPr>
              <a:t>Moller cone sagging</a:t>
            </a:r>
            <a:endParaRPr>
              <a:latin typeface="Nunito"/>
              <a:ea typeface="Nunito"/>
              <a:cs typeface="Nunito"/>
              <a:sym typeface="Nunito"/>
            </a:endParaRPr>
          </a:p>
        </p:txBody>
      </p:sp>
      <p:sp>
        <p:nvSpPr>
          <p:cNvPr id="116" name="Google Shape;116;p18"/>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cxnSp>
        <p:nvCxnSpPr>
          <p:cNvPr id="117" name="Google Shape;117;p18"/>
          <p:cNvCxnSpPr>
            <a:stCxn id="118" idx="2"/>
          </p:cNvCxnSpPr>
          <p:nvPr/>
        </p:nvCxnSpPr>
        <p:spPr>
          <a:xfrm>
            <a:off x="5890950" y="3758850"/>
            <a:ext cx="238800" cy="414600"/>
          </a:xfrm>
          <a:prstGeom prst="straightConnector1">
            <a:avLst/>
          </a:prstGeom>
          <a:noFill/>
          <a:ln cap="flat" cmpd="sng" w="9525">
            <a:solidFill>
              <a:srgbClr val="6AA84F"/>
            </a:solidFill>
            <a:prstDash val="solid"/>
            <a:round/>
            <a:headEnd len="med" w="med" type="none"/>
            <a:tailEnd len="med" w="med" type="triangle"/>
          </a:ln>
        </p:spPr>
      </p:cxnSp>
      <p:sp>
        <p:nvSpPr>
          <p:cNvPr id="118" name="Google Shape;118;p18"/>
          <p:cNvSpPr txBox="1"/>
          <p:nvPr/>
        </p:nvSpPr>
        <p:spPr>
          <a:xfrm>
            <a:off x="5564400" y="3419850"/>
            <a:ext cx="653100" cy="339000"/>
          </a:xfrm>
          <a:prstGeom prst="rect">
            <a:avLst/>
          </a:prstGeom>
          <a:noFill/>
          <a:ln cap="flat" cmpd="sng" w="9525">
            <a:solidFill>
              <a:srgbClr val="6AA84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fr" sz="800">
                <a:solidFill>
                  <a:schemeClr val="dk2"/>
                </a:solidFill>
                <a:latin typeface="Nunito"/>
                <a:ea typeface="Nunito"/>
                <a:cs typeface="Nunito"/>
                <a:sym typeface="Nunito"/>
              </a:rPr>
              <a:t>LD2 entrance window</a:t>
            </a:r>
            <a:endParaRPr sz="800">
              <a:solidFill>
                <a:schemeClr val="dk2"/>
              </a:solidFill>
              <a:latin typeface="Nunito"/>
              <a:ea typeface="Nunito"/>
              <a:cs typeface="Nunito"/>
              <a:sym typeface="Nunito"/>
            </a:endParaRPr>
          </a:p>
        </p:txBody>
      </p:sp>
      <p:cxnSp>
        <p:nvCxnSpPr>
          <p:cNvPr id="119" name="Google Shape;119;p18"/>
          <p:cNvCxnSpPr>
            <a:stCxn id="120" idx="2"/>
          </p:cNvCxnSpPr>
          <p:nvPr/>
        </p:nvCxnSpPr>
        <p:spPr>
          <a:xfrm>
            <a:off x="6335125" y="3313063"/>
            <a:ext cx="133500" cy="718800"/>
          </a:xfrm>
          <a:prstGeom prst="straightConnector1">
            <a:avLst/>
          </a:prstGeom>
          <a:noFill/>
          <a:ln cap="flat" cmpd="sng" w="9525">
            <a:solidFill>
              <a:srgbClr val="6AA84F"/>
            </a:solidFill>
            <a:prstDash val="solid"/>
            <a:round/>
            <a:headEnd len="med" w="med" type="none"/>
            <a:tailEnd len="med" w="med" type="triangle"/>
          </a:ln>
        </p:spPr>
      </p:cxnSp>
      <p:sp>
        <p:nvSpPr>
          <p:cNvPr id="120" name="Google Shape;120;p18"/>
          <p:cNvSpPr txBox="1"/>
          <p:nvPr/>
        </p:nvSpPr>
        <p:spPr>
          <a:xfrm>
            <a:off x="6025075" y="3061663"/>
            <a:ext cx="620100" cy="251400"/>
          </a:xfrm>
          <a:prstGeom prst="rect">
            <a:avLst/>
          </a:prstGeom>
          <a:noFill/>
          <a:ln cap="flat" cmpd="sng" w="9525">
            <a:solidFill>
              <a:srgbClr val="6AA84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fr" sz="800">
                <a:solidFill>
                  <a:schemeClr val="dk2"/>
                </a:solidFill>
                <a:latin typeface="Nunito"/>
                <a:ea typeface="Nunito"/>
                <a:cs typeface="Nunito"/>
                <a:sym typeface="Nunito"/>
              </a:rPr>
              <a:t>LD2 exit window</a:t>
            </a:r>
            <a:endParaRPr sz="800">
              <a:solidFill>
                <a:schemeClr val="dk2"/>
              </a:solidFill>
              <a:latin typeface="Nunito"/>
              <a:ea typeface="Nunito"/>
              <a:cs typeface="Nunito"/>
              <a:sym typeface="Nunito"/>
            </a:endParaRPr>
          </a:p>
        </p:txBody>
      </p:sp>
      <p:cxnSp>
        <p:nvCxnSpPr>
          <p:cNvPr id="121" name="Google Shape;121;p18"/>
          <p:cNvCxnSpPr>
            <a:stCxn id="122" idx="3"/>
          </p:cNvCxnSpPr>
          <p:nvPr/>
        </p:nvCxnSpPr>
        <p:spPr>
          <a:xfrm>
            <a:off x="6532600" y="2697450"/>
            <a:ext cx="262800" cy="471000"/>
          </a:xfrm>
          <a:prstGeom prst="straightConnector1">
            <a:avLst/>
          </a:prstGeom>
          <a:noFill/>
          <a:ln cap="flat" cmpd="sng" w="9525">
            <a:solidFill>
              <a:srgbClr val="6AA84F"/>
            </a:solidFill>
            <a:prstDash val="solid"/>
            <a:round/>
            <a:headEnd len="med" w="med" type="none"/>
            <a:tailEnd len="med" w="med" type="triangle"/>
          </a:ln>
        </p:spPr>
      </p:cxnSp>
      <p:sp>
        <p:nvSpPr>
          <p:cNvPr id="122" name="Google Shape;122;p18"/>
          <p:cNvSpPr txBox="1"/>
          <p:nvPr/>
        </p:nvSpPr>
        <p:spPr>
          <a:xfrm>
            <a:off x="5912500" y="2571750"/>
            <a:ext cx="620100" cy="251400"/>
          </a:xfrm>
          <a:prstGeom prst="rect">
            <a:avLst/>
          </a:prstGeom>
          <a:noFill/>
          <a:ln cap="flat" cmpd="sng" w="9525">
            <a:solidFill>
              <a:srgbClr val="6AA84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fr" sz="800">
                <a:solidFill>
                  <a:schemeClr val="dk2"/>
                </a:solidFill>
                <a:latin typeface="Nunito"/>
                <a:ea typeface="Nunito"/>
                <a:cs typeface="Nunito"/>
                <a:sym typeface="Nunito"/>
              </a:rPr>
              <a:t>Cu target</a:t>
            </a:r>
            <a:endParaRPr sz="800">
              <a:solidFill>
                <a:schemeClr val="dk2"/>
              </a:solidFill>
              <a:latin typeface="Nunito"/>
              <a:ea typeface="Nunito"/>
              <a:cs typeface="Nunito"/>
              <a:sym typeface="Nunito"/>
            </a:endParaRPr>
          </a:p>
        </p:txBody>
      </p:sp>
      <p:cxnSp>
        <p:nvCxnSpPr>
          <p:cNvPr id="123" name="Google Shape;123;p18"/>
          <p:cNvCxnSpPr>
            <a:stCxn id="124" idx="1"/>
          </p:cNvCxnSpPr>
          <p:nvPr/>
        </p:nvCxnSpPr>
        <p:spPr>
          <a:xfrm flipH="1">
            <a:off x="7144000" y="2496550"/>
            <a:ext cx="186600" cy="606000"/>
          </a:xfrm>
          <a:prstGeom prst="straightConnector1">
            <a:avLst/>
          </a:prstGeom>
          <a:noFill/>
          <a:ln cap="flat" cmpd="sng" w="9525">
            <a:solidFill>
              <a:srgbClr val="6AA84F"/>
            </a:solidFill>
            <a:prstDash val="solid"/>
            <a:round/>
            <a:headEnd len="med" w="med" type="none"/>
            <a:tailEnd len="med" w="med" type="triangle"/>
          </a:ln>
        </p:spPr>
      </p:cxnSp>
      <p:sp>
        <p:nvSpPr>
          <p:cNvPr id="124" name="Google Shape;124;p18"/>
          <p:cNvSpPr txBox="1"/>
          <p:nvPr/>
        </p:nvSpPr>
        <p:spPr>
          <a:xfrm>
            <a:off x="7330600" y="2370850"/>
            <a:ext cx="620100" cy="251400"/>
          </a:xfrm>
          <a:prstGeom prst="rect">
            <a:avLst/>
          </a:prstGeom>
          <a:noFill/>
          <a:ln cap="flat" cmpd="sng" w="9525">
            <a:solidFill>
              <a:srgbClr val="6AA84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fr" sz="800">
                <a:solidFill>
                  <a:schemeClr val="dk2"/>
                </a:solidFill>
                <a:latin typeface="Nunito"/>
                <a:ea typeface="Nunito"/>
                <a:cs typeface="Nunito"/>
                <a:sym typeface="Nunito"/>
              </a:rPr>
              <a:t>Sn</a:t>
            </a:r>
            <a:r>
              <a:rPr lang="fr" sz="800">
                <a:solidFill>
                  <a:schemeClr val="dk2"/>
                </a:solidFill>
                <a:latin typeface="Nunito"/>
                <a:ea typeface="Nunito"/>
                <a:cs typeface="Nunito"/>
                <a:sym typeface="Nunito"/>
              </a:rPr>
              <a:t> target</a:t>
            </a:r>
            <a:endParaRPr sz="800">
              <a:solidFill>
                <a:schemeClr val="dk2"/>
              </a:solidFill>
              <a:latin typeface="Nunito"/>
              <a:ea typeface="Nunito"/>
              <a:cs typeface="Nunito"/>
              <a:sym typeface="Nunito"/>
            </a:endParaRPr>
          </a:p>
        </p:txBody>
      </p:sp>
      <p:cxnSp>
        <p:nvCxnSpPr>
          <p:cNvPr id="125" name="Google Shape;125;p18"/>
          <p:cNvCxnSpPr/>
          <p:nvPr/>
        </p:nvCxnSpPr>
        <p:spPr>
          <a:xfrm flipH="1">
            <a:off x="8119950" y="3564475"/>
            <a:ext cx="12600" cy="590400"/>
          </a:xfrm>
          <a:prstGeom prst="straightConnector1">
            <a:avLst/>
          </a:prstGeom>
          <a:noFill/>
          <a:ln cap="flat" cmpd="sng" w="9525">
            <a:solidFill>
              <a:srgbClr val="6AA84F"/>
            </a:solidFill>
            <a:prstDash val="solid"/>
            <a:round/>
            <a:headEnd len="med" w="med" type="none"/>
            <a:tailEnd len="med" w="med" type="triangle"/>
          </a:ln>
        </p:spPr>
      </p:cxnSp>
      <p:sp>
        <p:nvSpPr>
          <p:cNvPr id="126" name="Google Shape;126;p18"/>
          <p:cNvSpPr txBox="1"/>
          <p:nvPr/>
        </p:nvSpPr>
        <p:spPr>
          <a:xfrm>
            <a:off x="7528350" y="3313075"/>
            <a:ext cx="1056000" cy="251400"/>
          </a:xfrm>
          <a:prstGeom prst="rect">
            <a:avLst/>
          </a:prstGeom>
          <a:noFill/>
          <a:ln cap="flat" cmpd="sng" w="9525">
            <a:solidFill>
              <a:srgbClr val="6AA84F"/>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fr" sz="800">
                <a:solidFill>
                  <a:schemeClr val="dk2"/>
                </a:solidFill>
                <a:latin typeface="Nunito"/>
                <a:ea typeface="Nunito"/>
                <a:cs typeface="Nunito"/>
                <a:sym typeface="Nunito"/>
              </a:rPr>
              <a:t>Scattering Chamber exit window</a:t>
            </a:r>
            <a:endParaRPr sz="800">
              <a:solidFill>
                <a:schemeClr val="dk2"/>
              </a:solidFill>
              <a:latin typeface="Nunito"/>
              <a:ea typeface="Nunito"/>
              <a:cs typeface="Nunito"/>
              <a:sym typeface="Nunito"/>
            </a:endParaRPr>
          </a:p>
        </p:txBody>
      </p:sp>
      <p:pic>
        <p:nvPicPr>
          <p:cNvPr id="127" name="Google Shape;127;p18"/>
          <p:cNvPicPr preferRelativeResize="0"/>
          <p:nvPr/>
        </p:nvPicPr>
        <p:blipFill>
          <a:blip r:embed="rId4">
            <a:alphaModFix/>
          </a:blip>
          <a:stretch>
            <a:fillRect/>
          </a:stretch>
        </p:blipFill>
        <p:spPr>
          <a:xfrm>
            <a:off x="104900" y="2808225"/>
            <a:ext cx="4807901" cy="1960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9"/>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Status: Calibration Summary</a:t>
            </a:r>
            <a:endParaRPr/>
          </a:p>
        </p:txBody>
      </p:sp>
      <p:sp>
        <p:nvSpPr>
          <p:cNvPr id="133" name="Google Shape;133;p19"/>
          <p:cNvSpPr txBox="1"/>
          <p:nvPr>
            <p:ph idx="1" type="body"/>
          </p:nvPr>
        </p:nvSpPr>
        <p:spPr>
          <a:xfrm>
            <a:off x="0" y="647400"/>
            <a:ext cx="9144000" cy="4496100"/>
          </a:xfrm>
          <a:prstGeom prst="rect">
            <a:avLst/>
          </a:prstGeom>
        </p:spPr>
        <p:txBody>
          <a:bodyPr anchorCtr="0" anchor="t" bIns="0" lIns="0" spcFirstLastPara="1" rIns="0" wrap="square" tIns="0">
            <a:noAutofit/>
          </a:bodyPr>
          <a:lstStyle/>
          <a:p>
            <a:pPr indent="-120650" lvl="0" marL="230400" rtl="0" algn="l">
              <a:lnSpc>
                <a:spcPct val="115000"/>
              </a:lnSpc>
              <a:spcBef>
                <a:spcPts val="0"/>
              </a:spcBef>
              <a:spcAft>
                <a:spcPts val="0"/>
              </a:spcAft>
              <a:buSzPts val="1900"/>
              <a:buFont typeface="Nunito"/>
              <a:buChar char="●"/>
            </a:pPr>
            <a:r>
              <a:rPr lang="fr" sz="1900">
                <a:latin typeface="Nunito"/>
                <a:ea typeface="Nunito"/>
                <a:cs typeface="Nunito"/>
                <a:sym typeface="Nunito"/>
              </a:rPr>
              <a:t> The calibration of most subsystems </a:t>
            </a:r>
            <a:r>
              <a:rPr lang="fr" sz="1900">
                <a:latin typeface="Nunito"/>
                <a:ea typeface="Nunito"/>
                <a:cs typeface="Nunito"/>
                <a:sym typeface="Nunito"/>
              </a:rPr>
              <a:t>LTCC, FTOF, ECal, HTCC, RICH, and CND is done</a:t>
            </a:r>
            <a:endParaRPr sz="1900">
              <a:latin typeface="Nunito"/>
              <a:ea typeface="Nunito"/>
              <a:cs typeface="Nunito"/>
              <a:sym typeface="Nunito"/>
            </a:endParaRPr>
          </a:p>
          <a:p>
            <a:pPr indent="-236700" lvl="1" marL="486000" rtl="0" algn="l">
              <a:lnSpc>
                <a:spcPct val="115000"/>
              </a:lnSpc>
              <a:spcBef>
                <a:spcPts val="0"/>
              </a:spcBef>
              <a:spcAft>
                <a:spcPts val="0"/>
              </a:spcAft>
              <a:buSzPts val="1800"/>
              <a:buFont typeface="Nunito"/>
              <a:buChar char="○"/>
            </a:pPr>
            <a:r>
              <a:rPr lang="fr" sz="1800">
                <a:latin typeface="Nunito"/>
                <a:ea typeface="Nunito"/>
                <a:cs typeface="Nunito"/>
                <a:sym typeface="Nunito"/>
              </a:rPr>
              <a:t>DC: T0 and T2D calibrations are in an advanced stage and expected to converge soon, depending on the to-be-produced timelines after the latest iteration</a:t>
            </a:r>
            <a:endParaRPr sz="1800">
              <a:latin typeface="Nunito"/>
              <a:ea typeface="Nunito"/>
              <a:cs typeface="Nunito"/>
              <a:sym typeface="Nunito"/>
            </a:endParaRPr>
          </a:p>
          <a:p>
            <a:pPr indent="-127000" lvl="0" marL="230400" rtl="0" algn="l">
              <a:lnSpc>
                <a:spcPct val="115000"/>
              </a:lnSpc>
              <a:spcBef>
                <a:spcPts val="1000"/>
              </a:spcBef>
              <a:spcAft>
                <a:spcPts val="0"/>
              </a:spcAft>
              <a:buSzPts val="2000"/>
              <a:buFont typeface="Nunito"/>
              <a:buChar char="●"/>
            </a:pPr>
            <a:r>
              <a:rPr lang="fr" sz="2000">
                <a:latin typeface="Nunito"/>
                <a:ea typeface="Nunito"/>
                <a:cs typeface="Nunito"/>
                <a:sym typeface="Nunito"/>
              </a:rPr>
              <a:t> Minor fine-tuning occurred since November’s report for </a:t>
            </a:r>
            <a:endParaRPr sz="2000">
              <a:latin typeface="Nunito"/>
              <a:ea typeface="Nunito"/>
              <a:cs typeface="Nunito"/>
              <a:sym typeface="Nunito"/>
            </a:endParaRPr>
          </a:p>
          <a:p>
            <a:pPr indent="-236700" lvl="1" marL="486000" rtl="0" algn="l">
              <a:lnSpc>
                <a:spcPct val="115000"/>
              </a:lnSpc>
              <a:spcBef>
                <a:spcPts val="0"/>
              </a:spcBef>
              <a:spcAft>
                <a:spcPts val="0"/>
              </a:spcAft>
              <a:buSzPts val="1800"/>
              <a:buFont typeface="Nunito"/>
              <a:buChar char="○"/>
            </a:pPr>
            <a:r>
              <a:rPr lang="fr" sz="1800">
                <a:latin typeface="Nunito"/>
                <a:ea typeface="Nunito"/>
                <a:cs typeface="Nunito"/>
                <a:sym typeface="Nunito"/>
              </a:rPr>
              <a:t>CTOF: Some parameters such as attenuation length, effective velocity, gain balance, and time offsets were re-calibrated for unstable run ranges</a:t>
            </a:r>
            <a:endParaRPr sz="1800">
              <a:latin typeface="Nunito"/>
              <a:ea typeface="Nunito"/>
              <a:cs typeface="Nunito"/>
              <a:sym typeface="Nunito"/>
            </a:endParaRPr>
          </a:p>
          <a:p>
            <a:pPr indent="-262100" lvl="1" marL="486000" rtl="0" algn="l">
              <a:lnSpc>
                <a:spcPct val="115000"/>
              </a:lnSpc>
              <a:spcBef>
                <a:spcPts val="0"/>
              </a:spcBef>
              <a:spcAft>
                <a:spcPts val="0"/>
              </a:spcAft>
              <a:buSzPts val="2200"/>
              <a:buFont typeface="Nunito"/>
              <a:buChar char="○"/>
            </a:pPr>
            <a:r>
              <a:rPr lang="fr" sz="1800">
                <a:latin typeface="Nunito"/>
                <a:ea typeface="Nunito"/>
                <a:cs typeface="Nunito"/>
                <a:sym typeface="Nunito"/>
              </a:rPr>
              <a:t>HTCC: Performed a 4 ns time </a:t>
            </a:r>
            <a:r>
              <a:rPr lang="fr" sz="1800">
                <a:latin typeface="Nunito"/>
                <a:ea typeface="Nunito"/>
                <a:cs typeface="Nunito"/>
                <a:sym typeface="Nunito"/>
              </a:rPr>
              <a:t>adjustment for a few unstable runs and sectors</a:t>
            </a:r>
            <a:endParaRPr sz="1800">
              <a:latin typeface="Nunito"/>
              <a:ea typeface="Nunito"/>
              <a:cs typeface="Nunito"/>
              <a:sym typeface="Nunito"/>
            </a:endParaRPr>
          </a:p>
          <a:p>
            <a:pPr indent="-262100" lvl="1" marL="486000" rtl="0" algn="l">
              <a:lnSpc>
                <a:spcPct val="115000"/>
              </a:lnSpc>
              <a:spcBef>
                <a:spcPts val="0"/>
              </a:spcBef>
              <a:spcAft>
                <a:spcPts val="0"/>
              </a:spcAft>
              <a:buSzPts val="2200"/>
              <a:buFont typeface="Nunito"/>
              <a:buChar char="○"/>
            </a:pPr>
            <a:r>
              <a:rPr lang="fr" sz="1800">
                <a:latin typeface="Nunito"/>
                <a:ea typeface="Nunito"/>
                <a:cs typeface="Nunito"/>
                <a:sym typeface="Nunito"/>
              </a:rPr>
              <a:t>ECal: Performed a second iteration for the </a:t>
            </a:r>
            <a:r>
              <a:rPr lang="fr" sz="1800">
                <a:latin typeface="Nunito"/>
                <a:ea typeface="Nunito"/>
                <a:cs typeface="Nunito"/>
                <a:sym typeface="Nunito"/>
              </a:rPr>
              <a:t>time resolution and</a:t>
            </a:r>
            <a:r>
              <a:rPr lang="fr" sz="1800">
                <a:latin typeface="Nunito"/>
                <a:ea typeface="Nunito"/>
                <a:cs typeface="Nunito"/>
                <a:sym typeface="Nunito"/>
              </a:rPr>
              <a:t> time-walk correction to reduce the observed gain offsets for IB and OB datasets</a:t>
            </a:r>
            <a:endParaRPr sz="1800">
              <a:latin typeface="Nunito"/>
              <a:ea typeface="Nunito"/>
              <a:cs typeface="Nunito"/>
              <a:sym typeface="Nunito"/>
            </a:endParaRPr>
          </a:p>
          <a:p>
            <a:pPr indent="0" lvl="0" marL="0" rtl="0" algn="r">
              <a:lnSpc>
                <a:spcPct val="115000"/>
              </a:lnSpc>
              <a:spcBef>
                <a:spcPts val="1000"/>
              </a:spcBef>
              <a:spcAft>
                <a:spcPts val="0"/>
              </a:spcAft>
              <a:buNone/>
            </a:pPr>
            <a:r>
              <a:t/>
            </a:r>
            <a:endParaRPr sz="2008">
              <a:latin typeface="Nunito"/>
              <a:ea typeface="Nunito"/>
              <a:cs typeface="Nunito"/>
              <a:sym typeface="Nunito"/>
            </a:endParaRPr>
          </a:p>
          <a:p>
            <a:pPr indent="0" lvl="0" marL="0" rtl="0" algn="ctr">
              <a:lnSpc>
                <a:spcPct val="115000"/>
              </a:lnSpc>
              <a:spcBef>
                <a:spcPts val="1200"/>
              </a:spcBef>
              <a:spcAft>
                <a:spcPts val="1200"/>
              </a:spcAft>
              <a:buNone/>
            </a:pPr>
            <a:r>
              <a:rPr lang="fr" sz="2008">
                <a:latin typeface="Nunito"/>
                <a:ea typeface="Nunito"/>
                <a:cs typeface="Nunito"/>
                <a:sym typeface="Nunito"/>
              </a:rPr>
              <a:t>                                                          Thanks to CalCom Experts for their support </a:t>
            </a:r>
            <a:endParaRPr sz="2008">
              <a:latin typeface="Nunito"/>
              <a:ea typeface="Nunito"/>
              <a:cs typeface="Nunito"/>
              <a:sym typeface="Nunito"/>
            </a:endParaRPr>
          </a:p>
        </p:txBody>
      </p:sp>
      <p:sp>
        <p:nvSpPr>
          <p:cNvPr id="134" name="Google Shape;134;p19"/>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Data Processing Summary</a:t>
            </a:r>
            <a:endParaRPr/>
          </a:p>
        </p:txBody>
      </p:sp>
      <p:sp>
        <p:nvSpPr>
          <p:cNvPr id="140" name="Google Shape;140;p20"/>
          <p:cNvSpPr txBox="1"/>
          <p:nvPr>
            <p:ph idx="1" type="body"/>
          </p:nvPr>
        </p:nvSpPr>
        <p:spPr>
          <a:xfrm>
            <a:off x="0" y="647400"/>
            <a:ext cx="9144000" cy="3908100"/>
          </a:xfrm>
          <a:prstGeom prst="rect">
            <a:avLst/>
          </a:prstGeom>
        </p:spPr>
        <p:txBody>
          <a:bodyPr anchorCtr="0" anchor="t" bIns="0" lIns="0" spcFirstLastPara="1" rIns="0" wrap="square" tIns="0">
            <a:noAutofit/>
          </a:bodyPr>
          <a:lstStyle/>
          <a:p>
            <a:pPr indent="-164700" lvl="0" marL="280800" rtl="0" algn="l">
              <a:spcBef>
                <a:spcPts val="0"/>
              </a:spcBef>
              <a:spcAft>
                <a:spcPts val="0"/>
              </a:spcAft>
              <a:buSzPts val="1800"/>
              <a:buFont typeface="Nunito"/>
              <a:buChar char="●"/>
            </a:pPr>
            <a:r>
              <a:rPr lang="fr">
                <a:latin typeface="Nunito"/>
                <a:ea typeface="Nunito"/>
                <a:cs typeface="Nunito"/>
                <a:sym typeface="Nunito"/>
              </a:rPr>
              <a:t>Timelines monitoring</a:t>
            </a:r>
            <a:r>
              <a:rPr lang="fr">
                <a:latin typeface="Nunito"/>
                <a:ea typeface="Nunito"/>
                <a:cs typeface="Nunito"/>
                <a:sym typeface="Nunito"/>
              </a:rPr>
              <a:t>: </a:t>
            </a:r>
            <a:endParaRPr sz="1600">
              <a:latin typeface="Nunito"/>
              <a:ea typeface="Nunito"/>
              <a:cs typeface="Nunito"/>
              <a:sym typeface="Nunito"/>
            </a:endParaRPr>
          </a:p>
          <a:p>
            <a:pPr indent="-224000" lvl="1" marL="486000" rtl="0" algn="l">
              <a:spcBef>
                <a:spcPts val="0"/>
              </a:spcBef>
              <a:spcAft>
                <a:spcPts val="0"/>
              </a:spcAft>
              <a:buSzPts val="1600"/>
              <a:buFont typeface="Nunito"/>
              <a:buChar char="○"/>
            </a:pPr>
            <a:r>
              <a:rPr lang="fr" sz="1600">
                <a:latin typeface="Nunito"/>
                <a:ea typeface="Nunito"/>
                <a:cs typeface="Nunito"/>
                <a:sym typeface="Nunito"/>
              </a:rPr>
              <a:t>November</a:t>
            </a:r>
            <a:r>
              <a:rPr lang="fr" sz="1600">
                <a:latin typeface="Nunito"/>
                <a:ea typeface="Nunito"/>
                <a:cs typeface="Nunito"/>
                <a:sym typeface="Nunito"/>
              </a:rPr>
              <a:t> 18</a:t>
            </a:r>
            <a:r>
              <a:rPr baseline="30000" lang="fr" sz="1600">
                <a:latin typeface="Nunito"/>
                <a:ea typeface="Nunito"/>
                <a:cs typeface="Nunito"/>
                <a:sym typeface="Nunito"/>
              </a:rPr>
              <a:t>th</a:t>
            </a:r>
            <a:r>
              <a:rPr lang="fr" sz="1600">
                <a:latin typeface="Nunito"/>
                <a:ea typeface="Nunito"/>
                <a:cs typeface="Nunito"/>
                <a:sym typeface="Nunito"/>
              </a:rPr>
              <a:t>, 2024:</a:t>
            </a:r>
            <a:r>
              <a:rPr lang="fr" sz="1600">
                <a:latin typeface="Nunito"/>
                <a:ea typeface="Nunito"/>
                <a:cs typeface="Nunito"/>
                <a:sym typeface="Nunito"/>
              </a:rPr>
              <a:t> Pass0v7 was processed after a new iteration of RF, FTOF, ECal, LTCC, CTOF, CND, and HTCC calibration</a:t>
            </a:r>
            <a:endParaRPr sz="1600">
              <a:latin typeface="Nunito"/>
              <a:ea typeface="Nunito"/>
              <a:cs typeface="Nunito"/>
              <a:sym typeface="Nunito"/>
            </a:endParaRPr>
          </a:p>
          <a:p>
            <a:pPr indent="-224000" lvl="2" marL="795600" rtl="0" algn="l">
              <a:spcBef>
                <a:spcPts val="0"/>
              </a:spcBef>
              <a:spcAft>
                <a:spcPts val="0"/>
              </a:spcAft>
              <a:buSzPts val="1600"/>
              <a:buFont typeface="Nunito"/>
              <a:buChar char="■"/>
            </a:pPr>
            <a:r>
              <a:rPr lang="fr" sz="1600">
                <a:latin typeface="Nunito"/>
                <a:ea typeface="Nunito"/>
                <a:cs typeface="Nunito"/>
                <a:sym typeface="Nunito"/>
              </a:rPr>
              <a:t>Timelines are available </a:t>
            </a:r>
            <a:r>
              <a:rPr lang="fr" sz="1600" u="sng">
                <a:solidFill>
                  <a:schemeClr val="hlink"/>
                </a:solidFill>
                <a:latin typeface="Nunito"/>
                <a:ea typeface="Nunito"/>
                <a:cs typeface="Nunito"/>
                <a:sym typeface="Nunito"/>
                <a:hlinkClick r:id="rId3"/>
              </a:rPr>
              <a:t>here</a:t>
            </a:r>
            <a:endParaRPr sz="1600">
              <a:latin typeface="Nunito"/>
              <a:ea typeface="Nunito"/>
              <a:cs typeface="Nunito"/>
              <a:sym typeface="Nunito"/>
            </a:endParaRPr>
          </a:p>
          <a:p>
            <a:pPr indent="0" lvl="0" marL="457200" rtl="0" algn="l">
              <a:spcBef>
                <a:spcPts val="1000"/>
              </a:spcBef>
              <a:spcAft>
                <a:spcPts val="0"/>
              </a:spcAft>
              <a:buNone/>
            </a:pPr>
            <a:r>
              <a:t/>
            </a:r>
            <a:endParaRPr sz="1500">
              <a:latin typeface="Nunito"/>
              <a:ea typeface="Nunito"/>
              <a:cs typeface="Nunito"/>
              <a:sym typeface="Nunito"/>
            </a:endParaRPr>
          </a:p>
          <a:p>
            <a:pPr indent="0" lvl="0" marL="457200" rtl="0" algn="l">
              <a:spcBef>
                <a:spcPts val="1200"/>
              </a:spcBef>
              <a:spcAft>
                <a:spcPts val="0"/>
              </a:spcAft>
              <a:buNone/>
            </a:pPr>
            <a:r>
              <a:t/>
            </a:r>
            <a:endParaRPr sz="1500">
              <a:latin typeface="Nunito"/>
              <a:ea typeface="Nunito"/>
              <a:cs typeface="Nunito"/>
              <a:sym typeface="Nunito"/>
            </a:endParaRPr>
          </a:p>
          <a:p>
            <a:pPr indent="0" lvl="0" marL="457200" rtl="0" algn="l">
              <a:spcBef>
                <a:spcPts val="1200"/>
              </a:spcBef>
              <a:spcAft>
                <a:spcPts val="1200"/>
              </a:spcAft>
              <a:buNone/>
            </a:pPr>
            <a:r>
              <a:t/>
            </a:r>
            <a:endParaRPr sz="1700">
              <a:latin typeface="Nunito"/>
              <a:ea typeface="Nunito"/>
              <a:cs typeface="Nunito"/>
              <a:sym typeface="Nunito"/>
            </a:endParaRPr>
          </a:p>
        </p:txBody>
      </p:sp>
      <p:sp>
        <p:nvSpPr>
          <p:cNvPr id="141" name="Google Shape;141;p20"/>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
        <p:nvSpPr>
          <p:cNvPr id="142" name="Google Shape;142;p20"/>
          <p:cNvSpPr txBox="1"/>
          <p:nvPr/>
        </p:nvSpPr>
        <p:spPr>
          <a:xfrm>
            <a:off x="-101775" y="4363325"/>
            <a:ext cx="8051100" cy="461700"/>
          </a:xfrm>
          <a:prstGeom prst="rect">
            <a:avLst/>
          </a:prstGeom>
          <a:noFill/>
          <a:ln>
            <a:noFill/>
          </a:ln>
        </p:spPr>
        <p:txBody>
          <a:bodyPr anchorCtr="0" anchor="t" bIns="91425" lIns="91425" spcFirstLastPara="1" rIns="91425" wrap="square" tIns="91425">
            <a:spAutoFit/>
          </a:bodyPr>
          <a:lstStyle/>
          <a:p>
            <a:pPr indent="-164700" lvl="0" marL="280800" rtl="0" algn="l">
              <a:lnSpc>
                <a:spcPct val="115000"/>
              </a:lnSpc>
              <a:spcBef>
                <a:spcPts val="0"/>
              </a:spcBef>
              <a:spcAft>
                <a:spcPts val="0"/>
              </a:spcAft>
              <a:buClr>
                <a:srgbClr val="93C47D"/>
              </a:buClr>
              <a:buSzPts val="1800"/>
              <a:buFont typeface="Nunito"/>
              <a:buChar char="●"/>
            </a:pPr>
            <a:r>
              <a:rPr lang="fr" sz="1800">
                <a:solidFill>
                  <a:schemeClr val="dk2"/>
                </a:solidFill>
                <a:latin typeface="Nunito"/>
                <a:ea typeface="Nunito"/>
                <a:cs typeface="Nunito"/>
                <a:sym typeface="Nunito"/>
              </a:rPr>
              <a:t>For more details, please visit the RG-D analysis </a:t>
            </a:r>
            <a:r>
              <a:rPr lang="fr" sz="1800" u="sng">
                <a:solidFill>
                  <a:schemeClr val="accent5"/>
                </a:solidFill>
                <a:latin typeface="Nunito"/>
                <a:ea typeface="Nunito"/>
                <a:cs typeface="Nunito"/>
                <a:sym typeface="Nunito"/>
                <a:hlinkClick r:id="rId4">
                  <a:extLst>
                    <a:ext uri="{A12FA001-AC4F-418D-AE19-62706E023703}">
                      <ahyp:hlinkClr val="tx"/>
                    </a:ext>
                  </a:extLst>
                </a:hlinkClick>
              </a:rPr>
              <a:t>wikipage</a:t>
            </a:r>
            <a:endParaRPr sz="1500"/>
          </a:p>
        </p:txBody>
      </p:sp>
      <p:pic>
        <p:nvPicPr>
          <p:cNvPr id="143" name="Google Shape;143;p20"/>
          <p:cNvPicPr preferRelativeResize="0"/>
          <p:nvPr/>
        </p:nvPicPr>
        <p:blipFill>
          <a:blip r:embed="rId5">
            <a:alphaModFix/>
          </a:blip>
          <a:stretch>
            <a:fillRect/>
          </a:stretch>
        </p:blipFill>
        <p:spPr>
          <a:xfrm>
            <a:off x="123075" y="1750450"/>
            <a:ext cx="8773376" cy="2605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Data Processing Summary</a:t>
            </a:r>
            <a:endParaRPr/>
          </a:p>
        </p:txBody>
      </p:sp>
      <p:sp>
        <p:nvSpPr>
          <p:cNvPr id="149" name="Google Shape;149;p21"/>
          <p:cNvSpPr txBox="1"/>
          <p:nvPr>
            <p:ph idx="1" type="body"/>
          </p:nvPr>
        </p:nvSpPr>
        <p:spPr>
          <a:xfrm>
            <a:off x="0" y="647400"/>
            <a:ext cx="9144000" cy="3908100"/>
          </a:xfrm>
          <a:prstGeom prst="rect">
            <a:avLst/>
          </a:prstGeom>
        </p:spPr>
        <p:txBody>
          <a:bodyPr anchorCtr="0" anchor="t" bIns="0" lIns="0" spcFirstLastPara="1" rIns="0" wrap="square" tIns="0">
            <a:noAutofit/>
          </a:bodyPr>
          <a:lstStyle/>
          <a:p>
            <a:pPr indent="-164700" lvl="0" marL="280800" rtl="0" algn="l">
              <a:spcBef>
                <a:spcPts val="0"/>
              </a:spcBef>
              <a:spcAft>
                <a:spcPts val="0"/>
              </a:spcAft>
              <a:buSzPts val="1800"/>
              <a:buFont typeface="Nunito"/>
              <a:buChar char="●"/>
            </a:pPr>
            <a:r>
              <a:rPr lang="fr">
                <a:latin typeface="Nunito"/>
                <a:ea typeface="Nunito"/>
                <a:cs typeface="Nunito"/>
                <a:sym typeface="Nunito"/>
              </a:rPr>
              <a:t>Timelines monitoring: </a:t>
            </a:r>
            <a:endParaRPr sz="1600">
              <a:latin typeface="Nunito"/>
              <a:ea typeface="Nunito"/>
              <a:cs typeface="Nunito"/>
              <a:sym typeface="Nunito"/>
            </a:endParaRPr>
          </a:p>
          <a:p>
            <a:pPr indent="-224000" lvl="1" marL="486000" rtl="0" algn="l">
              <a:spcBef>
                <a:spcPts val="0"/>
              </a:spcBef>
              <a:spcAft>
                <a:spcPts val="0"/>
              </a:spcAft>
              <a:buSzPts val="1600"/>
              <a:buChar char="○"/>
            </a:pPr>
            <a:r>
              <a:rPr lang="fr" sz="1600">
                <a:latin typeface="Nunito"/>
                <a:ea typeface="Nunito"/>
                <a:cs typeface="Nunito"/>
                <a:sym typeface="Nunito"/>
              </a:rPr>
              <a:t>January 24</a:t>
            </a:r>
            <a:r>
              <a:rPr baseline="30000" lang="fr" sz="1600">
                <a:latin typeface="Nunito"/>
                <a:ea typeface="Nunito"/>
                <a:cs typeface="Nunito"/>
                <a:sym typeface="Nunito"/>
              </a:rPr>
              <a:t>th</a:t>
            </a:r>
            <a:r>
              <a:rPr lang="fr" sz="1600">
                <a:latin typeface="Nunito"/>
                <a:ea typeface="Nunito"/>
                <a:cs typeface="Nunito"/>
                <a:sym typeface="Nunito"/>
              </a:rPr>
              <a:t>, </a:t>
            </a:r>
            <a:r>
              <a:rPr lang="fr" sz="1600">
                <a:latin typeface="Nunito"/>
                <a:ea typeface="Nunito"/>
                <a:cs typeface="Nunito"/>
                <a:sym typeface="Nunito"/>
              </a:rPr>
              <a:t>2025; Pass0v8: Processed with same Pass0v7 conditions + cross-check of reconstructed </a:t>
            </a:r>
            <a:r>
              <a:rPr lang="fr" sz="1600">
                <a:latin typeface="Nunito"/>
                <a:ea typeface="Nunito"/>
                <a:cs typeface="Nunito"/>
                <a:sym typeface="Nunito"/>
              </a:rPr>
              <a:t>CND and CVT vertex difference (zdiff), second iteration of the ECal time resolution and time walk correction, fine-tuning of CTOF </a:t>
            </a:r>
            <a:r>
              <a:rPr lang="fr" sz="1600">
                <a:latin typeface="Nunito"/>
                <a:ea typeface="Nunito"/>
                <a:cs typeface="Nunito"/>
                <a:sym typeface="Nunito"/>
              </a:rPr>
              <a:t>parameters</a:t>
            </a:r>
            <a:r>
              <a:rPr lang="fr" sz="1600">
                <a:latin typeface="Nunito"/>
                <a:ea typeface="Nunito"/>
                <a:cs typeface="Nunito"/>
                <a:sym typeface="Nunito"/>
              </a:rPr>
              <a:t> along with HTCC 4 ns time adjustment for some unstable runs.</a:t>
            </a:r>
            <a:endParaRPr sz="1600">
              <a:latin typeface="Nunito"/>
              <a:ea typeface="Nunito"/>
              <a:cs typeface="Nunito"/>
              <a:sym typeface="Nunito"/>
            </a:endParaRPr>
          </a:p>
          <a:p>
            <a:pPr indent="-217650" lvl="2" marL="795600" rtl="0" algn="l">
              <a:spcBef>
                <a:spcPts val="0"/>
              </a:spcBef>
              <a:spcAft>
                <a:spcPts val="0"/>
              </a:spcAft>
              <a:buSzPts val="1500"/>
              <a:buChar char="■"/>
            </a:pPr>
            <a:r>
              <a:rPr lang="fr" sz="1600">
                <a:latin typeface="Nunito"/>
                <a:ea typeface="Nunito"/>
                <a:cs typeface="Nunito"/>
                <a:sym typeface="Nunito"/>
              </a:rPr>
              <a:t>Timelines are available </a:t>
            </a:r>
            <a:r>
              <a:rPr lang="fr" sz="1600" u="sng">
                <a:solidFill>
                  <a:schemeClr val="hlink"/>
                </a:solidFill>
                <a:latin typeface="Nunito"/>
                <a:ea typeface="Nunito"/>
                <a:cs typeface="Nunito"/>
                <a:sym typeface="Nunito"/>
                <a:hlinkClick r:id="rId3"/>
              </a:rPr>
              <a:t>here</a:t>
            </a:r>
            <a:endParaRPr sz="1600">
              <a:latin typeface="Nunito"/>
              <a:ea typeface="Nunito"/>
              <a:cs typeface="Nunito"/>
              <a:sym typeface="Nunito"/>
            </a:endParaRPr>
          </a:p>
          <a:p>
            <a:pPr indent="0" lvl="0" marL="457200" rtl="0" algn="l">
              <a:spcBef>
                <a:spcPts val="0"/>
              </a:spcBef>
              <a:spcAft>
                <a:spcPts val="0"/>
              </a:spcAft>
              <a:buNone/>
            </a:pPr>
            <a:r>
              <a:t/>
            </a:r>
            <a:endParaRPr sz="1500">
              <a:latin typeface="Nunito"/>
              <a:ea typeface="Nunito"/>
              <a:cs typeface="Nunito"/>
              <a:sym typeface="Nunito"/>
            </a:endParaRPr>
          </a:p>
          <a:p>
            <a:pPr indent="0" lvl="0" marL="0" rtl="0" algn="l">
              <a:spcBef>
                <a:spcPts val="1200"/>
              </a:spcBef>
              <a:spcAft>
                <a:spcPts val="1200"/>
              </a:spcAft>
              <a:buNone/>
            </a:pPr>
            <a:r>
              <a:t/>
            </a:r>
            <a:endParaRPr sz="1700">
              <a:latin typeface="Nunito"/>
              <a:ea typeface="Nunito"/>
              <a:cs typeface="Nunito"/>
              <a:sym typeface="Nunito"/>
            </a:endParaRPr>
          </a:p>
        </p:txBody>
      </p:sp>
      <p:sp>
        <p:nvSpPr>
          <p:cNvPr id="150" name="Google Shape;150;p21"/>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pic>
        <p:nvPicPr>
          <p:cNvPr id="151" name="Google Shape;151;p21"/>
          <p:cNvPicPr preferRelativeResize="0"/>
          <p:nvPr/>
        </p:nvPicPr>
        <p:blipFill>
          <a:blip r:embed="rId4">
            <a:alphaModFix/>
          </a:blip>
          <a:stretch>
            <a:fillRect/>
          </a:stretch>
        </p:blipFill>
        <p:spPr>
          <a:xfrm>
            <a:off x="49700" y="2422225"/>
            <a:ext cx="9005701" cy="2707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2"/>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Data Processing Summary</a:t>
            </a:r>
            <a:endParaRPr/>
          </a:p>
        </p:txBody>
      </p:sp>
      <p:sp>
        <p:nvSpPr>
          <p:cNvPr id="157" name="Google Shape;157;p22"/>
          <p:cNvSpPr txBox="1"/>
          <p:nvPr>
            <p:ph idx="1" type="body"/>
          </p:nvPr>
        </p:nvSpPr>
        <p:spPr>
          <a:xfrm>
            <a:off x="0" y="647400"/>
            <a:ext cx="9144000" cy="3908100"/>
          </a:xfrm>
          <a:prstGeom prst="rect">
            <a:avLst/>
          </a:prstGeom>
        </p:spPr>
        <p:txBody>
          <a:bodyPr anchorCtr="0" anchor="t" bIns="0" lIns="0" spcFirstLastPara="1" rIns="0" wrap="square" tIns="0">
            <a:noAutofit/>
          </a:bodyPr>
          <a:lstStyle/>
          <a:p>
            <a:pPr indent="-164700" lvl="0" marL="280800" rtl="0" algn="l">
              <a:spcBef>
                <a:spcPts val="0"/>
              </a:spcBef>
              <a:spcAft>
                <a:spcPts val="0"/>
              </a:spcAft>
              <a:buSzPts val="1800"/>
              <a:buFont typeface="Nunito"/>
              <a:buChar char="●"/>
            </a:pPr>
            <a:r>
              <a:rPr lang="fr">
                <a:latin typeface="Nunito"/>
                <a:ea typeface="Nunito"/>
                <a:cs typeface="Nunito"/>
                <a:sym typeface="Nunito"/>
              </a:rPr>
              <a:t>Timelines monitoring: </a:t>
            </a:r>
            <a:endParaRPr sz="1500">
              <a:latin typeface="Nunito"/>
              <a:ea typeface="Nunito"/>
              <a:cs typeface="Nunito"/>
              <a:sym typeface="Nunito"/>
            </a:endParaRPr>
          </a:p>
          <a:p>
            <a:pPr indent="-224000" lvl="1" marL="486000" rtl="0" algn="l">
              <a:spcBef>
                <a:spcPts val="0"/>
              </a:spcBef>
              <a:spcAft>
                <a:spcPts val="0"/>
              </a:spcAft>
              <a:buSzPts val="1600"/>
              <a:buChar char="○"/>
            </a:pPr>
            <a:r>
              <a:rPr lang="fr" sz="1600">
                <a:latin typeface="Nunito"/>
                <a:ea typeface="Nunito"/>
                <a:cs typeface="Nunito"/>
                <a:sym typeface="Nunito"/>
              </a:rPr>
              <a:t>February</a:t>
            </a:r>
            <a:r>
              <a:rPr lang="fr" sz="1600">
                <a:latin typeface="Nunito"/>
                <a:ea typeface="Nunito"/>
                <a:cs typeface="Nunito"/>
                <a:sym typeface="Nunito"/>
              </a:rPr>
              <a:t> 01</a:t>
            </a:r>
            <a:r>
              <a:rPr baseline="30000" lang="fr" sz="1600">
                <a:latin typeface="Nunito"/>
                <a:ea typeface="Nunito"/>
                <a:cs typeface="Nunito"/>
                <a:sym typeface="Nunito"/>
              </a:rPr>
              <a:t>st</a:t>
            </a:r>
            <a:r>
              <a:rPr lang="fr" sz="1600">
                <a:latin typeface="Nunito"/>
                <a:ea typeface="Nunito"/>
                <a:cs typeface="Nunito"/>
                <a:sym typeface="Nunito"/>
              </a:rPr>
              <a:t>, 2025</a:t>
            </a:r>
            <a:r>
              <a:rPr lang="fr" sz="1600">
                <a:latin typeface="Nunito"/>
                <a:ea typeface="Nunito"/>
                <a:cs typeface="Nunito"/>
                <a:sym typeface="Nunito"/>
              </a:rPr>
              <a:t>;</a:t>
            </a:r>
            <a:r>
              <a:rPr lang="fr" sz="1600">
                <a:latin typeface="Nunito"/>
                <a:ea typeface="Nunito"/>
                <a:cs typeface="Nunito"/>
                <a:sym typeface="Nunito"/>
              </a:rPr>
              <a:t> Pass0v9: </a:t>
            </a:r>
            <a:r>
              <a:rPr lang="fr" sz="1600">
                <a:latin typeface="Nunito"/>
                <a:ea typeface="Nunito"/>
                <a:cs typeface="Nunito"/>
                <a:sym typeface="Nunito"/>
              </a:rPr>
              <a:t>Processed with same </a:t>
            </a:r>
            <a:r>
              <a:rPr lang="fr" sz="1600">
                <a:latin typeface="Nunito"/>
                <a:ea typeface="Nunito"/>
                <a:cs typeface="Nunito"/>
                <a:sym typeface="Nunito"/>
              </a:rPr>
              <a:t>Pass0v8 conditions +</a:t>
            </a:r>
            <a:r>
              <a:rPr lang="fr" sz="1600">
                <a:latin typeface="Nunito"/>
                <a:ea typeface="Nunito"/>
                <a:cs typeface="Nunito"/>
                <a:sym typeface="Nunito"/>
              </a:rPr>
              <a:t> CD vertex cut to restore the selection zone of good tracks that was affected after updating the CCDB with the actual RG-D solid target material/geometry (</a:t>
            </a:r>
            <a:r>
              <a:rPr i="1" lang="fr" sz="1500">
                <a:latin typeface="Nunito"/>
                <a:ea typeface="Nunito"/>
                <a:cs typeface="Nunito"/>
                <a:sym typeface="Nunito"/>
              </a:rPr>
              <a:t>ongoing </a:t>
            </a:r>
            <a:r>
              <a:rPr i="1" lang="fr" sz="1500">
                <a:latin typeface="Nunito"/>
                <a:ea typeface="Nunito"/>
                <a:cs typeface="Nunito"/>
                <a:sym typeface="Nunito"/>
              </a:rPr>
              <a:t>work</a:t>
            </a:r>
            <a:r>
              <a:rPr i="1" lang="fr" sz="1500">
                <a:latin typeface="Nunito"/>
                <a:ea typeface="Nunito"/>
                <a:cs typeface="Nunito"/>
                <a:sym typeface="Nunito"/>
              </a:rPr>
              <a:t> to find a robust solution for this issue</a:t>
            </a:r>
            <a:r>
              <a:rPr lang="fr" sz="1600">
                <a:latin typeface="Nunito"/>
                <a:ea typeface="Nunito"/>
                <a:cs typeface="Nunito"/>
                <a:sym typeface="Nunito"/>
              </a:rPr>
              <a:t>)</a:t>
            </a:r>
            <a:endParaRPr sz="1600">
              <a:latin typeface="Nunito"/>
              <a:ea typeface="Nunito"/>
              <a:cs typeface="Nunito"/>
              <a:sym typeface="Nunito"/>
            </a:endParaRPr>
          </a:p>
          <a:p>
            <a:pPr indent="-224000" lvl="2" marL="795600" rtl="0" algn="l">
              <a:spcBef>
                <a:spcPts val="0"/>
              </a:spcBef>
              <a:spcAft>
                <a:spcPts val="0"/>
              </a:spcAft>
              <a:buSzPts val="1600"/>
              <a:buChar char="■"/>
            </a:pPr>
            <a:r>
              <a:rPr lang="fr" sz="1600">
                <a:latin typeface="Nunito"/>
                <a:ea typeface="Nunito"/>
                <a:cs typeface="Nunito"/>
                <a:sym typeface="Nunito"/>
              </a:rPr>
              <a:t>Timelines are available </a:t>
            </a:r>
            <a:r>
              <a:rPr lang="fr" sz="1600" u="sng">
                <a:solidFill>
                  <a:schemeClr val="hlink"/>
                </a:solidFill>
                <a:latin typeface="Nunito"/>
                <a:ea typeface="Nunito"/>
                <a:cs typeface="Nunito"/>
                <a:sym typeface="Nunito"/>
                <a:hlinkClick r:id="rId3"/>
              </a:rPr>
              <a:t>here</a:t>
            </a:r>
            <a:endParaRPr sz="1600">
              <a:latin typeface="Nunito"/>
              <a:ea typeface="Nunito"/>
              <a:cs typeface="Nunito"/>
              <a:sym typeface="Nunito"/>
            </a:endParaRPr>
          </a:p>
          <a:p>
            <a:pPr indent="0" lvl="0" marL="457200" rtl="0" algn="l">
              <a:spcBef>
                <a:spcPts val="1200"/>
              </a:spcBef>
              <a:spcAft>
                <a:spcPts val="0"/>
              </a:spcAft>
              <a:buNone/>
            </a:pPr>
            <a:r>
              <a:t/>
            </a:r>
            <a:endParaRPr>
              <a:latin typeface="Nunito"/>
              <a:ea typeface="Nunito"/>
              <a:cs typeface="Nunito"/>
              <a:sym typeface="Nunito"/>
            </a:endParaRPr>
          </a:p>
          <a:p>
            <a:pPr indent="0" lvl="0" marL="457200" rtl="0" algn="l">
              <a:spcBef>
                <a:spcPts val="1200"/>
              </a:spcBef>
              <a:spcAft>
                <a:spcPts val="0"/>
              </a:spcAft>
              <a:buNone/>
            </a:pPr>
            <a:r>
              <a:t/>
            </a:r>
            <a:endParaRPr>
              <a:latin typeface="Nunito"/>
              <a:ea typeface="Nunito"/>
              <a:cs typeface="Nunito"/>
              <a:sym typeface="Nunito"/>
            </a:endParaRPr>
          </a:p>
          <a:p>
            <a:pPr indent="0" lvl="0" marL="0" rtl="0" algn="l">
              <a:spcBef>
                <a:spcPts val="1200"/>
              </a:spcBef>
              <a:spcAft>
                <a:spcPts val="1200"/>
              </a:spcAft>
              <a:buNone/>
            </a:pPr>
            <a:r>
              <a:t/>
            </a:r>
            <a:endParaRPr sz="1700">
              <a:latin typeface="Nunito"/>
              <a:ea typeface="Nunito"/>
              <a:cs typeface="Nunito"/>
              <a:sym typeface="Nunito"/>
            </a:endParaRPr>
          </a:p>
        </p:txBody>
      </p:sp>
      <p:sp>
        <p:nvSpPr>
          <p:cNvPr id="158" name="Google Shape;158;p22"/>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pic>
        <p:nvPicPr>
          <p:cNvPr id="159" name="Google Shape;159;p22"/>
          <p:cNvPicPr preferRelativeResize="0"/>
          <p:nvPr/>
        </p:nvPicPr>
        <p:blipFill>
          <a:blip r:embed="rId4">
            <a:alphaModFix/>
          </a:blip>
          <a:stretch>
            <a:fillRect/>
          </a:stretch>
        </p:blipFill>
        <p:spPr>
          <a:xfrm>
            <a:off x="0" y="2100750"/>
            <a:ext cx="9062876" cy="2597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Data Processing Summary</a:t>
            </a:r>
            <a:endParaRPr/>
          </a:p>
        </p:txBody>
      </p:sp>
      <p:sp>
        <p:nvSpPr>
          <p:cNvPr id="165" name="Google Shape;165;p23"/>
          <p:cNvSpPr txBox="1"/>
          <p:nvPr>
            <p:ph idx="1" type="body"/>
          </p:nvPr>
        </p:nvSpPr>
        <p:spPr>
          <a:xfrm>
            <a:off x="1600" y="647400"/>
            <a:ext cx="9005700" cy="3908100"/>
          </a:xfrm>
          <a:prstGeom prst="rect">
            <a:avLst/>
          </a:prstGeom>
        </p:spPr>
        <p:txBody>
          <a:bodyPr anchorCtr="0" anchor="t" bIns="0" lIns="0" spcFirstLastPara="1" rIns="0" wrap="square" tIns="0">
            <a:noAutofit/>
          </a:bodyPr>
          <a:lstStyle/>
          <a:p>
            <a:pPr indent="-164700" lvl="0" marL="280800" rtl="0" algn="l">
              <a:spcBef>
                <a:spcPts val="0"/>
              </a:spcBef>
              <a:spcAft>
                <a:spcPts val="0"/>
              </a:spcAft>
              <a:buSzPts val="1800"/>
              <a:buFont typeface="Nunito"/>
              <a:buChar char="●"/>
            </a:pPr>
            <a:r>
              <a:rPr lang="fr">
                <a:latin typeface="Nunito"/>
                <a:ea typeface="Nunito"/>
                <a:cs typeface="Nunito"/>
                <a:sym typeface="Nunito"/>
              </a:rPr>
              <a:t>Timelines monitoring: </a:t>
            </a:r>
            <a:endParaRPr sz="1500">
              <a:latin typeface="Nunito"/>
              <a:ea typeface="Nunito"/>
              <a:cs typeface="Nunito"/>
              <a:sym typeface="Nunito"/>
            </a:endParaRPr>
          </a:p>
          <a:p>
            <a:pPr indent="-224000" lvl="1" marL="486000" rtl="0" algn="l">
              <a:spcBef>
                <a:spcPts val="0"/>
              </a:spcBef>
              <a:spcAft>
                <a:spcPts val="0"/>
              </a:spcAft>
              <a:buSzPts val="1600"/>
              <a:buChar char="○"/>
            </a:pPr>
            <a:r>
              <a:rPr lang="fr" sz="1600">
                <a:latin typeface="Nunito"/>
                <a:ea typeface="Nunito"/>
                <a:cs typeface="Nunito"/>
                <a:sym typeface="Nunito"/>
              </a:rPr>
              <a:t>February 14</a:t>
            </a:r>
            <a:r>
              <a:rPr baseline="30000" lang="fr" sz="1600">
                <a:latin typeface="Nunito"/>
                <a:ea typeface="Nunito"/>
                <a:cs typeface="Nunito"/>
                <a:sym typeface="Nunito"/>
              </a:rPr>
              <a:t>th</a:t>
            </a:r>
            <a:r>
              <a:rPr lang="fr" sz="1600">
                <a:latin typeface="Nunito"/>
                <a:ea typeface="Nunito"/>
                <a:cs typeface="Nunito"/>
                <a:sym typeface="Nunito"/>
              </a:rPr>
              <a:t>, 2025; Pass0v9_dc: DC mini-timelines produced with same Pass0v9 conditions to check the quality of the newly extracted T2D and pressure calibration constants </a:t>
            </a:r>
            <a:endParaRPr sz="1600">
              <a:latin typeface="Nunito"/>
              <a:ea typeface="Nunito"/>
              <a:cs typeface="Nunito"/>
              <a:sym typeface="Nunito"/>
            </a:endParaRPr>
          </a:p>
          <a:p>
            <a:pPr indent="-224000" lvl="2" marL="795600" rtl="0" algn="l">
              <a:spcBef>
                <a:spcPts val="0"/>
              </a:spcBef>
              <a:spcAft>
                <a:spcPts val="0"/>
              </a:spcAft>
              <a:buSzPts val="1600"/>
              <a:buFont typeface="Nunito"/>
              <a:buChar char="■"/>
            </a:pPr>
            <a:r>
              <a:rPr lang="fr" sz="1600">
                <a:latin typeface="Nunito"/>
                <a:ea typeface="Nunito"/>
                <a:cs typeface="Nunito"/>
                <a:sym typeface="Nunito"/>
              </a:rPr>
              <a:t>Timelines are available </a:t>
            </a:r>
            <a:r>
              <a:rPr lang="fr" sz="1600" u="sng">
                <a:solidFill>
                  <a:schemeClr val="hlink"/>
                </a:solidFill>
                <a:latin typeface="Nunito"/>
                <a:ea typeface="Nunito"/>
                <a:cs typeface="Nunito"/>
                <a:sym typeface="Nunito"/>
                <a:hlinkClick r:id="rId3"/>
              </a:rPr>
              <a:t>here</a:t>
            </a:r>
            <a:endParaRPr sz="1600">
              <a:latin typeface="Nunito"/>
              <a:ea typeface="Nunito"/>
              <a:cs typeface="Nunito"/>
              <a:sym typeface="Nunito"/>
            </a:endParaRPr>
          </a:p>
          <a:p>
            <a:pPr indent="0" lvl="0" marL="457200" rtl="0" algn="l">
              <a:spcBef>
                <a:spcPts val="1200"/>
              </a:spcBef>
              <a:spcAft>
                <a:spcPts val="0"/>
              </a:spcAft>
              <a:buNone/>
            </a:pPr>
            <a:r>
              <a:t/>
            </a:r>
            <a:endParaRPr>
              <a:latin typeface="Nunito"/>
              <a:ea typeface="Nunito"/>
              <a:cs typeface="Nunito"/>
              <a:sym typeface="Nunito"/>
            </a:endParaRPr>
          </a:p>
          <a:p>
            <a:pPr indent="0" lvl="0" marL="457200" rtl="0" algn="l">
              <a:spcBef>
                <a:spcPts val="1200"/>
              </a:spcBef>
              <a:spcAft>
                <a:spcPts val="0"/>
              </a:spcAft>
              <a:buNone/>
            </a:pPr>
            <a:r>
              <a:t/>
            </a:r>
            <a:endParaRPr>
              <a:latin typeface="Nunito"/>
              <a:ea typeface="Nunito"/>
              <a:cs typeface="Nunito"/>
              <a:sym typeface="Nunito"/>
            </a:endParaRPr>
          </a:p>
          <a:p>
            <a:pPr indent="0" lvl="0" marL="0" rtl="0" algn="l">
              <a:spcBef>
                <a:spcPts val="1200"/>
              </a:spcBef>
              <a:spcAft>
                <a:spcPts val="1200"/>
              </a:spcAft>
              <a:buNone/>
            </a:pPr>
            <a:r>
              <a:t/>
            </a:r>
            <a:endParaRPr sz="1700">
              <a:latin typeface="Nunito"/>
              <a:ea typeface="Nunito"/>
              <a:cs typeface="Nunito"/>
              <a:sym typeface="Nunito"/>
            </a:endParaRPr>
          </a:p>
        </p:txBody>
      </p:sp>
      <p:sp>
        <p:nvSpPr>
          <p:cNvPr id="166" name="Google Shape;166;p23"/>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pic>
        <p:nvPicPr>
          <p:cNvPr id="167" name="Google Shape;167;p23"/>
          <p:cNvPicPr preferRelativeResize="0"/>
          <p:nvPr/>
        </p:nvPicPr>
        <p:blipFill>
          <a:blip r:embed="rId4">
            <a:alphaModFix/>
          </a:blip>
          <a:stretch>
            <a:fillRect/>
          </a:stretch>
        </p:blipFill>
        <p:spPr>
          <a:xfrm>
            <a:off x="1600" y="1977206"/>
            <a:ext cx="9144003" cy="2643188"/>
          </a:xfrm>
          <a:prstGeom prst="rect">
            <a:avLst/>
          </a:prstGeom>
          <a:noFill/>
          <a:ln>
            <a:noFill/>
          </a:ln>
        </p:spPr>
      </p:pic>
      <p:sp>
        <p:nvSpPr>
          <p:cNvPr id="168" name="Google Shape;168;p23"/>
          <p:cNvSpPr txBox="1"/>
          <p:nvPr/>
        </p:nvSpPr>
        <p:spPr>
          <a:xfrm>
            <a:off x="6293400" y="2037850"/>
            <a:ext cx="13080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600">
                <a:solidFill>
                  <a:schemeClr val="dk2"/>
                </a:solidFill>
                <a:latin typeface="Nunito"/>
                <a:ea typeface="Nunito"/>
                <a:cs typeface="Nunito"/>
                <a:sym typeface="Nunito"/>
              </a:rPr>
              <a:t>M</a:t>
            </a:r>
            <a:r>
              <a:rPr lang="fr" sz="1600">
                <a:solidFill>
                  <a:schemeClr val="dk2"/>
                </a:solidFill>
                <a:latin typeface="Nunito"/>
                <a:ea typeface="Nunito"/>
                <a:cs typeface="Nunito"/>
                <a:sym typeface="Nunito"/>
              </a:rPr>
              <a:t>ean</a:t>
            </a:r>
            <a:endParaRPr sz="1600">
              <a:solidFill>
                <a:schemeClr val="dk2"/>
              </a:solidFill>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Data Processing Summary</a:t>
            </a:r>
            <a:endParaRPr/>
          </a:p>
        </p:txBody>
      </p:sp>
      <p:sp>
        <p:nvSpPr>
          <p:cNvPr id="174" name="Google Shape;174;p24"/>
          <p:cNvSpPr txBox="1"/>
          <p:nvPr>
            <p:ph idx="1" type="body"/>
          </p:nvPr>
        </p:nvSpPr>
        <p:spPr>
          <a:xfrm>
            <a:off x="0" y="647400"/>
            <a:ext cx="9005700" cy="3908100"/>
          </a:xfrm>
          <a:prstGeom prst="rect">
            <a:avLst/>
          </a:prstGeom>
        </p:spPr>
        <p:txBody>
          <a:bodyPr anchorCtr="0" anchor="t" bIns="0" lIns="0" spcFirstLastPara="1" rIns="0" wrap="square" tIns="0">
            <a:noAutofit/>
          </a:bodyPr>
          <a:lstStyle/>
          <a:p>
            <a:pPr indent="-164700" lvl="0" marL="280800" rtl="0" algn="l">
              <a:spcBef>
                <a:spcPts val="0"/>
              </a:spcBef>
              <a:spcAft>
                <a:spcPts val="0"/>
              </a:spcAft>
              <a:buSzPts val="1800"/>
              <a:buFont typeface="Nunito"/>
              <a:buChar char="●"/>
            </a:pPr>
            <a:r>
              <a:rPr lang="fr">
                <a:latin typeface="Nunito"/>
                <a:ea typeface="Nunito"/>
                <a:cs typeface="Nunito"/>
                <a:sym typeface="Nunito"/>
              </a:rPr>
              <a:t>Timelines monitoring: </a:t>
            </a:r>
            <a:endParaRPr sz="1500">
              <a:latin typeface="Nunito"/>
              <a:ea typeface="Nunito"/>
              <a:cs typeface="Nunito"/>
              <a:sym typeface="Nunito"/>
            </a:endParaRPr>
          </a:p>
          <a:p>
            <a:pPr indent="-224000" lvl="1" marL="486000" rtl="0" algn="l">
              <a:spcBef>
                <a:spcPts val="0"/>
              </a:spcBef>
              <a:spcAft>
                <a:spcPts val="0"/>
              </a:spcAft>
              <a:buSzPts val="1600"/>
              <a:buChar char="○"/>
            </a:pPr>
            <a:r>
              <a:rPr lang="fr" sz="1600">
                <a:latin typeface="Nunito"/>
                <a:ea typeface="Nunito"/>
                <a:cs typeface="Nunito"/>
                <a:sym typeface="Nunito"/>
              </a:rPr>
              <a:t>February 14</a:t>
            </a:r>
            <a:r>
              <a:rPr baseline="30000" lang="fr" sz="1600">
                <a:latin typeface="Nunito"/>
                <a:ea typeface="Nunito"/>
                <a:cs typeface="Nunito"/>
                <a:sym typeface="Nunito"/>
              </a:rPr>
              <a:t>th</a:t>
            </a:r>
            <a:r>
              <a:rPr lang="fr" sz="1600">
                <a:latin typeface="Nunito"/>
                <a:ea typeface="Nunito"/>
                <a:cs typeface="Nunito"/>
                <a:sym typeface="Nunito"/>
              </a:rPr>
              <a:t>, 2025; Pass0v9_dc: DC mini-timelines produced with same Pass0v9 conditions to check the quality of the extracted T2D and pressure calibration constants</a:t>
            </a:r>
            <a:endParaRPr sz="1600">
              <a:latin typeface="Nunito"/>
              <a:ea typeface="Nunito"/>
              <a:cs typeface="Nunito"/>
              <a:sym typeface="Nunito"/>
            </a:endParaRPr>
          </a:p>
          <a:p>
            <a:pPr indent="-224000" lvl="2" marL="795600" rtl="0" algn="l">
              <a:spcBef>
                <a:spcPts val="0"/>
              </a:spcBef>
              <a:spcAft>
                <a:spcPts val="0"/>
              </a:spcAft>
              <a:buSzPts val="1600"/>
              <a:buFont typeface="Nunito"/>
              <a:buChar char="■"/>
            </a:pPr>
            <a:r>
              <a:rPr lang="fr" sz="1600">
                <a:latin typeface="Nunito"/>
                <a:ea typeface="Nunito"/>
                <a:cs typeface="Nunito"/>
                <a:sym typeface="Nunito"/>
              </a:rPr>
              <a:t>Timelines are available </a:t>
            </a:r>
            <a:r>
              <a:rPr lang="fr" sz="1600" u="sng">
                <a:solidFill>
                  <a:schemeClr val="hlink"/>
                </a:solidFill>
                <a:latin typeface="Nunito"/>
                <a:ea typeface="Nunito"/>
                <a:cs typeface="Nunito"/>
                <a:sym typeface="Nunito"/>
                <a:hlinkClick r:id="rId3"/>
              </a:rPr>
              <a:t>here</a:t>
            </a:r>
            <a:endParaRPr sz="1600">
              <a:latin typeface="Nunito"/>
              <a:ea typeface="Nunito"/>
              <a:cs typeface="Nunito"/>
              <a:sym typeface="Nunito"/>
            </a:endParaRPr>
          </a:p>
          <a:p>
            <a:pPr indent="0" lvl="0" marL="457200" rtl="0" algn="l">
              <a:spcBef>
                <a:spcPts val="1200"/>
              </a:spcBef>
              <a:spcAft>
                <a:spcPts val="0"/>
              </a:spcAft>
              <a:buNone/>
            </a:pPr>
            <a:r>
              <a:t/>
            </a:r>
            <a:endParaRPr>
              <a:latin typeface="Nunito"/>
              <a:ea typeface="Nunito"/>
              <a:cs typeface="Nunito"/>
              <a:sym typeface="Nunito"/>
            </a:endParaRPr>
          </a:p>
          <a:p>
            <a:pPr indent="0" lvl="0" marL="457200" rtl="0" algn="l">
              <a:spcBef>
                <a:spcPts val="1200"/>
              </a:spcBef>
              <a:spcAft>
                <a:spcPts val="0"/>
              </a:spcAft>
              <a:buNone/>
            </a:pPr>
            <a:r>
              <a:t/>
            </a:r>
            <a:endParaRPr>
              <a:latin typeface="Nunito"/>
              <a:ea typeface="Nunito"/>
              <a:cs typeface="Nunito"/>
              <a:sym typeface="Nunito"/>
            </a:endParaRPr>
          </a:p>
          <a:p>
            <a:pPr indent="0" lvl="0" marL="0" rtl="0" algn="l">
              <a:spcBef>
                <a:spcPts val="1200"/>
              </a:spcBef>
              <a:spcAft>
                <a:spcPts val="1200"/>
              </a:spcAft>
              <a:buNone/>
            </a:pPr>
            <a:r>
              <a:t/>
            </a:r>
            <a:endParaRPr sz="1700">
              <a:latin typeface="Nunito"/>
              <a:ea typeface="Nunito"/>
              <a:cs typeface="Nunito"/>
              <a:sym typeface="Nunito"/>
            </a:endParaRPr>
          </a:p>
        </p:txBody>
      </p:sp>
      <p:sp>
        <p:nvSpPr>
          <p:cNvPr id="175" name="Google Shape;175;p24"/>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pic>
        <p:nvPicPr>
          <p:cNvPr id="176" name="Google Shape;176;p24"/>
          <p:cNvPicPr preferRelativeResize="0"/>
          <p:nvPr/>
        </p:nvPicPr>
        <p:blipFill>
          <a:blip r:embed="rId4">
            <a:alphaModFix/>
          </a:blip>
          <a:stretch>
            <a:fillRect/>
          </a:stretch>
        </p:blipFill>
        <p:spPr>
          <a:xfrm>
            <a:off x="74550" y="1975450"/>
            <a:ext cx="9005701" cy="2703775"/>
          </a:xfrm>
          <a:prstGeom prst="rect">
            <a:avLst/>
          </a:prstGeom>
          <a:noFill/>
          <a:ln>
            <a:noFill/>
          </a:ln>
        </p:spPr>
      </p:pic>
      <p:sp>
        <p:nvSpPr>
          <p:cNvPr id="177" name="Google Shape;177;p24"/>
          <p:cNvSpPr txBox="1"/>
          <p:nvPr/>
        </p:nvSpPr>
        <p:spPr>
          <a:xfrm>
            <a:off x="6279025" y="1900900"/>
            <a:ext cx="13080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600">
                <a:solidFill>
                  <a:schemeClr val="dk2"/>
                </a:solidFill>
                <a:latin typeface="Nunito"/>
                <a:ea typeface="Nunito"/>
                <a:cs typeface="Nunito"/>
                <a:sym typeface="Nunito"/>
              </a:rPr>
              <a:t>Sigma</a:t>
            </a:r>
            <a:endParaRPr sz="1600">
              <a:solidFill>
                <a:schemeClr val="dk2"/>
              </a:solidFill>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5"/>
          <p:cNvPicPr preferRelativeResize="0"/>
          <p:nvPr/>
        </p:nvPicPr>
        <p:blipFill>
          <a:blip r:embed="rId3">
            <a:alphaModFix/>
          </a:blip>
          <a:stretch>
            <a:fillRect/>
          </a:stretch>
        </p:blipFill>
        <p:spPr>
          <a:xfrm>
            <a:off x="0" y="1979409"/>
            <a:ext cx="9144003" cy="2656583"/>
          </a:xfrm>
          <a:prstGeom prst="rect">
            <a:avLst/>
          </a:prstGeom>
          <a:noFill/>
          <a:ln>
            <a:noFill/>
          </a:ln>
        </p:spPr>
      </p:pic>
      <p:sp>
        <p:nvSpPr>
          <p:cNvPr id="183" name="Google Shape;183;p25"/>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Data Processing Summary</a:t>
            </a:r>
            <a:endParaRPr/>
          </a:p>
        </p:txBody>
      </p:sp>
      <p:sp>
        <p:nvSpPr>
          <p:cNvPr id="184" name="Google Shape;184;p25"/>
          <p:cNvSpPr txBox="1"/>
          <p:nvPr>
            <p:ph idx="1" type="body"/>
          </p:nvPr>
        </p:nvSpPr>
        <p:spPr>
          <a:xfrm>
            <a:off x="0" y="647400"/>
            <a:ext cx="9005700" cy="3908100"/>
          </a:xfrm>
          <a:prstGeom prst="rect">
            <a:avLst/>
          </a:prstGeom>
        </p:spPr>
        <p:txBody>
          <a:bodyPr anchorCtr="0" anchor="t" bIns="0" lIns="0" spcFirstLastPara="1" rIns="0" wrap="square" tIns="0">
            <a:noAutofit/>
          </a:bodyPr>
          <a:lstStyle/>
          <a:p>
            <a:pPr indent="-164700" lvl="0" marL="280800" rtl="0" algn="l">
              <a:spcBef>
                <a:spcPts val="0"/>
              </a:spcBef>
              <a:spcAft>
                <a:spcPts val="0"/>
              </a:spcAft>
              <a:buSzPts val="1800"/>
              <a:buFont typeface="Nunito"/>
              <a:buChar char="●"/>
            </a:pPr>
            <a:r>
              <a:rPr lang="fr">
                <a:latin typeface="Nunito"/>
                <a:ea typeface="Nunito"/>
                <a:cs typeface="Nunito"/>
                <a:sym typeface="Nunito"/>
              </a:rPr>
              <a:t>Timelines monitoring: </a:t>
            </a:r>
            <a:endParaRPr sz="1500">
              <a:latin typeface="Nunito"/>
              <a:ea typeface="Nunito"/>
              <a:cs typeface="Nunito"/>
              <a:sym typeface="Nunito"/>
            </a:endParaRPr>
          </a:p>
          <a:p>
            <a:pPr indent="-224000" lvl="1" marL="486000" rtl="0" algn="l">
              <a:spcBef>
                <a:spcPts val="0"/>
              </a:spcBef>
              <a:spcAft>
                <a:spcPts val="0"/>
              </a:spcAft>
              <a:buSzPts val="1600"/>
              <a:buChar char="○"/>
            </a:pPr>
            <a:r>
              <a:rPr lang="fr" sz="1600">
                <a:latin typeface="Nunito"/>
                <a:ea typeface="Nunito"/>
                <a:cs typeface="Nunito"/>
                <a:sym typeface="Nunito"/>
              </a:rPr>
              <a:t>February 25</a:t>
            </a:r>
            <a:r>
              <a:rPr baseline="30000" lang="fr" sz="1600">
                <a:latin typeface="Nunito"/>
                <a:ea typeface="Nunito"/>
                <a:cs typeface="Nunito"/>
                <a:sym typeface="Nunito"/>
              </a:rPr>
              <a:t>th</a:t>
            </a:r>
            <a:r>
              <a:rPr lang="fr" sz="1600">
                <a:latin typeface="Nunito"/>
                <a:ea typeface="Nunito"/>
                <a:cs typeface="Nunito"/>
                <a:sym typeface="Nunito"/>
              </a:rPr>
              <a:t>, 2025; Pass0v9_dcv2: DC mini-timelines produced with same Pass0v9 conditions to check the quality of </a:t>
            </a:r>
            <a:r>
              <a:rPr lang="fr" sz="1600">
                <a:latin typeface="Nunito"/>
                <a:ea typeface="Nunito"/>
                <a:cs typeface="Nunito"/>
                <a:sym typeface="Nunito"/>
              </a:rPr>
              <a:t>the T0/T00 correction adjustment</a:t>
            </a:r>
            <a:endParaRPr sz="1600">
              <a:latin typeface="Nunito"/>
              <a:ea typeface="Nunito"/>
              <a:cs typeface="Nunito"/>
              <a:sym typeface="Nunito"/>
            </a:endParaRPr>
          </a:p>
          <a:p>
            <a:pPr indent="-224000" lvl="2" marL="795600" rtl="0" algn="l">
              <a:spcBef>
                <a:spcPts val="0"/>
              </a:spcBef>
              <a:spcAft>
                <a:spcPts val="0"/>
              </a:spcAft>
              <a:buSzPts val="1600"/>
              <a:buFont typeface="Nunito"/>
              <a:buChar char="■"/>
            </a:pPr>
            <a:r>
              <a:rPr lang="fr" sz="1600">
                <a:latin typeface="Nunito"/>
                <a:ea typeface="Nunito"/>
                <a:cs typeface="Nunito"/>
                <a:sym typeface="Nunito"/>
              </a:rPr>
              <a:t>Timelines are available </a:t>
            </a:r>
            <a:r>
              <a:rPr lang="fr" sz="1600" u="sng">
                <a:solidFill>
                  <a:schemeClr val="hlink"/>
                </a:solidFill>
                <a:latin typeface="Nunito"/>
                <a:ea typeface="Nunito"/>
                <a:cs typeface="Nunito"/>
                <a:sym typeface="Nunito"/>
                <a:hlinkClick r:id="rId4"/>
              </a:rPr>
              <a:t>here</a:t>
            </a:r>
            <a:endParaRPr sz="1600">
              <a:latin typeface="Nunito"/>
              <a:ea typeface="Nunito"/>
              <a:cs typeface="Nunito"/>
              <a:sym typeface="Nunito"/>
            </a:endParaRPr>
          </a:p>
          <a:p>
            <a:pPr indent="0" lvl="0" marL="457200" rtl="0" algn="l">
              <a:spcBef>
                <a:spcPts val="1200"/>
              </a:spcBef>
              <a:spcAft>
                <a:spcPts val="0"/>
              </a:spcAft>
              <a:buNone/>
            </a:pPr>
            <a:r>
              <a:t/>
            </a:r>
            <a:endParaRPr>
              <a:latin typeface="Nunito"/>
              <a:ea typeface="Nunito"/>
              <a:cs typeface="Nunito"/>
              <a:sym typeface="Nunito"/>
            </a:endParaRPr>
          </a:p>
          <a:p>
            <a:pPr indent="0" lvl="0" marL="457200" rtl="0" algn="l">
              <a:spcBef>
                <a:spcPts val="1200"/>
              </a:spcBef>
              <a:spcAft>
                <a:spcPts val="0"/>
              </a:spcAft>
              <a:buNone/>
            </a:pPr>
            <a:r>
              <a:t/>
            </a:r>
            <a:endParaRPr>
              <a:latin typeface="Nunito"/>
              <a:ea typeface="Nunito"/>
              <a:cs typeface="Nunito"/>
              <a:sym typeface="Nunito"/>
            </a:endParaRPr>
          </a:p>
          <a:p>
            <a:pPr indent="0" lvl="0" marL="0" rtl="0" algn="l">
              <a:spcBef>
                <a:spcPts val="1200"/>
              </a:spcBef>
              <a:spcAft>
                <a:spcPts val="1200"/>
              </a:spcAft>
              <a:buNone/>
            </a:pPr>
            <a:r>
              <a:t/>
            </a:r>
            <a:endParaRPr sz="1700">
              <a:latin typeface="Nunito"/>
              <a:ea typeface="Nunito"/>
              <a:cs typeface="Nunito"/>
              <a:sym typeface="Nunito"/>
            </a:endParaRPr>
          </a:p>
        </p:txBody>
      </p:sp>
      <p:sp>
        <p:nvSpPr>
          <p:cNvPr id="185" name="Google Shape;185;p25"/>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
        <p:nvSpPr>
          <p:cNvPr id="186" name="Google Shape;186;p25"/>
          <p:cNvSpPr txBox="1"/>
          <p:nvPr/>
        </p:nvSpPr>
        <p:spPr>
          <a:xfrm>
            <a:off x="6217200" y="1961650"/>
            <a:ext cx="13080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600">
                <a:solidFill>
                  <a:schemeClr val="dk2"/>
                </a:solidFill>
                <a:latin typeface="Nunito"/>
                <a:ea typeface="Nunito"/>
                <a:cs typeface="Nunito"/>
                <a:sym typeface="Nunito"/>
              </a:rPr>
              <a:t>M</a:t>
            </a:r>
            <a:r>
              <a:rPr lang="fr" sz="1600">
                <a:solidFill>
                  <a:schemeClr val="dk2"/>
                </a:solidFill>
                <a:latin typeface="Nunito"/>
                <a:ea typeface="Nunito"/>
                <a:cs typeface="Nunito"/>
                <a:sym typeface="Nunito"/>
              </a:rPr>
              <a:t>ean</a:t>
            </a:r>
            <a:endParaRPr sz="1600">
              <a:solidFill>
                <a:schemeClr val="dk2"/>
              </a:solidFill>
              <a:latin typeface="Nunito"/>
              <a:ea typeface="Nunito"/>
              <a:cs typeface="Nunito"/>
              <a:sym typeface="Nuni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6"/>
          <p:cNvSpPr txBox="1"/>
          <p:nvPr>
            <p:ph type="title"/>
          </p:nvPr>
        </p:nvSpPr>
        <p:spPr>
          <a:xfrm>
            <a:off x="0" y="0"/>
            <a:ext cx="83982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Data Processing Summary</a:t>
            </a:r>
            <a:endParaRPr/>
          </a:p>
        </p:txBody>
      </p:sp>
      <p:sp>
        <p:nvSpPr>
          <p:cNvPr id="192" name="Google Shape;192;p26"/>
          <p:cNvSpPr txBox="1"/>
          <p:nvPr>
            <p:ph idx="1" type="body"/>
          </p:nvPr>
        </p:nvSpPr>
        <p:spPr>
          <a:xfrm>
            <a:off x="0" y="628600"/>
            <a:ext cx="9144000" cy="3416400"/>
          </a:xfrm>
          <a:prstGeom prst="rect">
            <a:avLst/>
          </a:prstGeom>
        </p:spPr>
        <p:txBody>
          <a:bodyPr anchorCtr="0" anchor="t" bIns="91425" lIns="91425" spcFirstLastPara="1" rIns="91425" wrap="square" tIns="91425">
            <a:noAutofit/>
          </a:bodyPr>
          <a:lstStyle/>
          <a:p>
            <a:pPr indent="-224000" lvl="0" marL="244800" rtl="0" algn="l">
              <a:spcBef>
                <a:spcPts val="0"/>
              </a:spcBef>
              <a:spcAft>
                <a:spcPts val="0"/>
              </a:spcAft>
              <a:buSzPts val="1600"/>
              <a:buChar char="●"/>
            </a:pPr>
            <a:r>
              <a:rPr lang="fr" sz="1600"/>
              <a:t>Ongoing cross-check of the high-level physics </a:t>
            </a:r>
            <a:r>
              <a:rPr lang="fr" sz="1600"/>
              <a:t>QA </a:t>
            </a:r>
            <a:r>
              <a:rPr lang="fr" sz="1600"/>
              <a:t>timeline</a:t>
            </a:r>
            <a:endParaRPr sz="1600"/>
          </a:p>
          <a:p>
            <a:pPr indent="-224000" lvl="1" marL="486000" rtl="0" algn="l">
              <a:spcBef>
                <a:spcPts val="0"/>
              </a:spcBef>
              <a:spcAft>
                <a:spcPts val="0"/>
              </a:spcAft>
              <a:buSzPts val="1600"/>
              <a:buChar char="○"/>
            </a:pPr>
            <a:r>
              <a:rPr lang="fr" sz="1600"/>
              <a:t>More changes are needed to accommodate RG-D data suffering from the FCup vacuum contamination issue</a:t>
            </a:r>
            <a:endParaRPr sz="1600"/>
          </a:p>
        </p:txBody>
      </p:sp>
      <p:sp>
        <p:nvSpPr>
          <p:cNvPr id="193" name="Google Shape;193;p26"/>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pic>
        <p:nvPicPr>
          <p:cNvPr id="194" name="Google Shape;194;p26"/>
          <p:cNvPicPr preferRelativeResize="0"/>
          <p:nvPr/>
        </p:nvPicPr>
        <p:blipFill>
          <a:blip r:embed="rId3">
            <a:alphaModFix/>
          </a:blip>
          <a:stretch>
            <a:fillRect/>
          </a:stretch>
        </p:blipFill>
        <p:spPr>
          <a:xfrm>
            <a:off x="116925" y="1607350"/>
            <a:ext cx="8902723" cy="2619725"/>
          </a:xfrm>
          <a:prstGeom prst="rect">
            <a:avLst/>
          </a:prstGeom>
          <a:noFill/>
          <a:ln>
            <a:noFill/>
          </a:ln>
        </p:spPr>
      </p:pic>
      <p:sp>
        <p:nvSpPr>
          <p:cNvPr id="195" name="Google Shape;195;p26"/>
          <p:cNvSpPr txBox="1"/>
          <p:nvPr>
            <p:ph idx="1" type="body"/>
          </p:nvPr>
        </p:nvSpPr>
        <p:spPr>
          <a:xfrm>
            <a:off x="0" y="4201925"/>
            <a:ext cx="9144000" cy="5760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770"/>
              <a:buNone/>
            </a:pPr>
            <a:r>
              <a:rPr i="1" lang="fr" sz="1560"/>
              <a:t>Outliers are expected to diminish once full runs are processed since the normalization is done with the accumulated gated per-run beam-charge (current timelines has only 20 files per run)</a:t>
            </a:r>
            <a:endParaRPr i="1" sz="156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27"/>
          <p:cNvPicPr preferRelativeResize="0"/>
          <p:nvPr/>
        </p:nvPicPr>
        <p:blipFill>
          <a:blip r:embed="rId3">
            <a:alphaModFix/>
          </a:blip>
          <a:stretch>
            <a:fillRect/>
          </a:stretch>
        </p:blipFill>
        <p:spPr>
          <a:xfrm>
            <a:off x="5031725" y="2133775"/>
            <a:ext cx="3898101" cy="2941680"/>
          </a:xfrm>
          <a:prstGeom prst="rect">
            <a:avLst/>
          </a:prstGeom>
          <a:noFill/>
          <a:ln>
            <a:noFill/>
          </a:ln>
        </p:spPr>
      </p:pic>
      <p:sp>
        <p:nvSpPr>
          <p:cNvPr id="201" name="Google Shape;201;p27"/>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Vertex Studies </a:t>
            </a:r>
            <a:endParaRPr/>
          </a:p>
        </p:txBody>
      </p:sp>
      <p:sp>
        <p:nvSpPr>
          <p:cNvPr id="202" name="Google Shape;202;p27"/>
          <p:cNvSpPr txBox="1"/>
          <p:nvPr>
            <p:ph idx="1" type="body"/>
          </p:nvPr>
        </p:nvSpPr>
        <p:spPr>
          <a:xfrm>
            <a:off x="0" y="548750"/>
            <a:ext cx="9182700" cy="1541400"/>
          </a:xfrm>
          <a:prstGeom prst="rect">
            <a:avLst/>
          </a:prstGeom>
        </p:spPr>
        <p:txBody>
          <a:bodyPr anchorCtr="0" anchor="t" bIns="91425" lIns="91425" spcFirstLastPara="1" rIns="91425" wrap="square" tIns="91425">
            <a:noAutofit/>
          </a:bodyPr>
          <a:lstStyle/>
          <a:p>
            <a:pPr indent="-164700" lvl="0" marL="172800" rtl="0" algn="l">
              <a:spcBef>
                <a:spcPts val="0"/>
              </a:spcBef>
              <a:spcAft>
                <a:spcPts val="0"/>
              </a:spcAft>
              <a:buSzPts val="1800"/>
              <a:buFont typeface="Nunito"/>
              <a:buChar char="●"/>
            </a:pPr>
            <a:r>
              <a:rPr lang="fr">
                <a:latin typeface="Nunito"/>
                <a:ea typeface="Nunito"/>
                <a:cs typeface="Nunito"/>
                <a:sym typeface="Nunito"/>
              </a:rPr>
              <a:t>The study aimed to </a:t>
            </a:r>
            <a:endParaRPr>
              <a:latin typeface="Nunito"/>
              <a:ea typeface="Nunito"/>
              <a:cs typeface="Nunito"/>
              <a:sym typeface="Nunito"/>
            </a:endParaRPr>
          </a:p>
          <a:p>
            <a:pPr indent="-224000" lvl="1" marL="486000" rtl="0" algn="l">
              <a:spcBef>
                <a:spcPts val="0"/>
              </a:spcBef>
              <a:spcAft>
                <a:spcPts val="0"/>
              </a:spcAft>
              <a:buSzPts val="1600"/>
              <a:buFont typeface="Nunito"/>
              <a:buChar char="○"/>
            </a:pPr>
            <a:r>
              <a:rPr lang="fr" sz="1600">
                <a:latin typeface="Nunito"/>
                <a:ea typeface="Nunito"/>
                <a:cs typeface="Nunito"/>
                <a:sym typeface="Nunito"/>
              </a:rPr>
              <a:t>Separate solid-foil peaks from</a:t>
            </a:r>
            <a:r>
              <a:rPr lang="fr" sz="1600">
                <a:latin typeface="Nunito"/>
                <a:ea typeface="Nunito"/>
                <a:cs typeface="Nunito"/>
                <a:sym typeface="Nunito"/>
              </a:rPr>
              <a:t> the empty LD2 </a:t>
            </a:r>
            <a:r>
              <a:rPr lang="fr" sz="1600">
                <a:latin typeface="Nunito"/>
                <a:ea typeface="Nunito"/>
                <a:cs typeface="Nunito"/>
                <a:sym typeface="Nunito"/>
              </a:rPr>
              <a:t>cell and scattering chamber exit windows </a:t>
            </a:r>
            <a:endParaRPr sz="1600">
              <a:latin typeface="Nunito"/>
              <a:ea typeface="Nunito"/>
              <a:cs typeface="Nunito"/>
              <a:sym typeface="Nunito"/>
            </a:endParaRPr>
          </a:p>
          <a:p>
            <a:pPr indent="-224000" lvl="1" marL="486000" rtl="0" algn="l">
              <a:spcBef>
                <a:spcPts val="0"/>
              </a:spcBef>
              <a:spcAft>
                <a:spcPts val="0"/>
              </a:spcAft>
              <a:buSzPts val="1600"/>
              <a:buFont typeface="Nunito"/>
              <a:buChar char="○"/>
            </a:pPr>
            <a:r>
              <a:rPr lang="fr" sz="1600">
                <a:latin typeface="Nunito"/>
                <a:ea typeface="Nunito"/>
                <a:cs typeface="Nunito"/>
                <a:sym typeface="Nunito"/>
              </a:rPr>
              <a:t>Reduce the contamination for the target configuration with two different foils, Cu and Sn</a:t>
            </a:r>
            <a:endParaRPr sz="1600">
              <a:latin typeface="Nunito"/>
              <a:ea typeface="Nunito"/>
              <a:cs typeface="Nunito"/>
              <a:sym typeface="Nunito"/>
            </a:endParaRPr>
          </a:p>
          <a:p>
            <a:pPr indent="-224000" lvl="1" marL="486000" rtl="0" algn="l">
              <a:spcBef>
                <a:spcPts val="0"/>
              </a:spcBef>
              <a:spcAft>
                <a:spcPts val="0"/>
              </a:spcAft>
              <a:buSzPts val="1600"/>
              <a:buFont typeface="Nunito"/>
              <a:buChar char="○"/>
            </a:pPr>
            <a:r>
              <a:rPr lang="fr" sz="1600">
                <a:latin typeface="Nunito"/>
                <a:ea typeface="Nunito"/>
                <a:cs typeface="Nunito"/>
                <a:sym typeface="Nunito"/>
              </a:rPr>
              <a:t>Check the effect of Vx and Vy cuts on Vz distributions: </a:t>
            </a:r>
            <a:endParaRPr sz="1600">
              <a:latin typeface="Nunito"/>
              <a:ea typeface="Nunito"/>
              <a:cs typeface="Nunito"/>
              <a:sym typeface="Nunito"/>
            </a:endParaRPr>
          </a:p>
          <a:p>
            <a:pPr indent="-217650" lvl="2" marL="795600" rtl="0" algn="l">
              <a:spcBef>
                <a:spcPts val="0"/>
              </a:spcBef>
              <a:spcAft>
                <a:spcPts val="0"/>
              </a:spcAft>
              <a:buClr>
                <a:srgbClr val="93C47D"/>
              </a:buClr>
              <a:buSzPts val="1500"/>
              <a:buFont typeface="Nunito"/>
              <a:buChar char="■"/>
            </a:pPr>
            <a:r>
              <a:rPr lang="fr" sz="1500">
                <a:latin typeface="Nunito"/>
                <a:ea typeface="Nunito"/>
                <a:cs typeface="Nunito"/>
                <a:sym typeface="Nunito"/>
              </a:rPr>
              <a:t>Fit sector-independent Vx and Vy with a Gaussian and a 4</a:t>
            </a:r>
            <a:r>
              <a:rPr baseline="30000" lang="fr" sz="1500">
                <a:latin typeface="Nunito"/>
                <a:ea typeface="Nunito"/>
                <a:cs typeface="Nunito"/>
                <a:sym typeface="Nunito"/>
              </a:rPr>
              <a:t>th</a:t>
            </a:r>
            <a:r>
              <a:rPr lang="fr" sz="1500">
                <a:latin typeface="Nunito"/>
                <a:ea typeface="Nunito"/>
                <a:cs typeface="Nunito"/>
                <a:sym typeface="Nunito"/>
              </a:rPr>
              <a:t>-order polynomial function</a:t>
            </a:r>
            <a:endParaRPr sz="1500">
              <a:latin typeface="Nunito"/>
              <a:ea typeface="Nunito"/>
              <a:cs typeface="Nunito"/>
              <a:sym typeface="Nunito"/>
            </a:endParaRPr>
          </a:p>
        </p:txBody>
      </p:sp>
      <p:sp>
        <p:nvSpPr>
          <p:cNvPr id="203" name="Google Shape;203;p27"/>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pic>
        <p:nvPicPr>
          <p:cNvPr id="204" name="Google Shape;204;p27"/>
          <p:cNvPicPr preferRelativeResize="0"/>
          <p:nvPr/>
        </p:nvPicPr>
        <p:blipFill>
          <a:blip r:embed="rId4">
            <a:alphaModFix/>
          </a:blip>
          <a:stretch>
            <a:fillRect/>
          </a:stretch>
        </p:blipFill>
        <p:spPr>
          <a:xfrm>
            <a:off x="292225" y="2057525"/>
            <a:ext cx="3898099" cy="2941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8"/>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Vertex Studies</a:t>
            </a:r>
            <a:endParaRPr/>
          </a:p>
        </p:txBody>
      </p:sp>
      <p:sp>
        <p:nvSpPr>
          <p:cNvPr id="210" name="Google Shape;210;p28"/>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pic>
        <p:nvPicPr>
          <p:cNvPr id="211" name="Google Shape;211;p28"/>
          <p:cNvPicPr preferRelativeResize="0"/>
          <p:nvPr/>
        </p:nvPicPr>
        <p:blipFill>
          <a:blip r:embed="rId3">
            <a:alphaModFix/>
          </a:blip>
          <a:stretch>
            <a:fillRect/>
          </a:stretch>
        </p:blipFill>
        <p:spPr>
          <a:xfrm>
            <a:off x="4586950" y="2085500"/>
            <a:ext cx="4340076" cy="2983251"/>
          </a:xfrm>
          <a:prstGeom prst="rect">
            <a:avLst/>
          </a:prstGeom>
          <a:noFill/>
          <a:ln>
            <a:noFill/>
          </a:ln>
        </p:spPr>
      </p:pic>
      <p:sp>
        <p:nvSpPr>
          <p:cNvPr id="212" name="Google Shape;212;p28"/>
          <p:cNvSpPr txBox="1"/>
          <p:nvPr/>
        </p:nvSpPr>
        <p:spPr>
          <a:xfrm>
            <a:off x="5056407" y="4813051"/>
            <a:ext cx="2824800" cy="4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rgbClr val="595959"/>
                </a:solidFill>
                <a:latin typeface="Nunito"/>
                <a:ea typeface="Nunito"/>
                <a:cs typeface="Nunito"/>
                <a:sym typeface="Nunito"/>
              </a:rPr>
              <a:t>W</a:t>
            </a:r>
            <a:r>
              <a:rPr lang="fr">
                <a:solidFill>
                  <a:srgbClr val="595959"/>
                </a:solidFill>
                <a:latin typeface="Nunito"/>
                <a:ea typeface="Nunito"/>
                <a:cs typeface="Nunito"/>
                <a:sym typeface="Nunito"/>
              </a:rPr>
              <a:t>ith Vx and Vy cuts</a:t>
            </a:r>
            <a:endParaRPr>
              <a:solidFill>
                <a:srgbClr val="595959"/>
              </a:solidFill>
              <a:latin typeface="Nunito"/>
              <a:ea typeface="Nunito"/>
              <a:cs typeface="Nunito"/>
              <a:sym typeface="Nunito"/>
            </a:endParaRPr>
          </a:p>
        </p:txBody>
      </p:sp>
      <p:pic>
        <p:nvPicPr>
          <p:cNvPr id="213" name="Google Shape;213;p28"/>
          <p:cNvPicPr preferRelativeResize="0"/>
          <p:nvPr/>
        </p:nvPicPr>
        <p:blipFill>
          <a:blip r:embed="rId4">
            <a:alphaModFix/>
          </a:blip>
          <a:stretch>
            <a:fillRect/>
          </a:stretch>
        </p:blipFill>
        <p:spPr>
          <a:xfrm>
            <a:off x="70425" y="2132162"/>
            <a:ext cx="4340074" cy="2893532"/>
          </a:xfrm>
          <a:prstGeom prst="rect">
            <a:avLst/>
          </a:prstGeom>
          <a:noFill/>
          <a:ln>
            <a:noFill/>
          </a:ln>
        </p:spPr>
      </p:pic>
      <p:sp>
        <p:nvSpPr>
          <p:cNvPr id="214" name="Google Shape;214;p28"/>
          <p:cNvSpPr txBox="1"/>
          <p:nvPr/>
        </p:nvSpPr>
        <p:spPr>
          <a:xfrm>
            <a:off x="596895" y="4736844"/>
            <a:ext cx="2824800" cy="45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rgbClr val="595959"/>
                </a:solidFill>
                <a:latin typeface="Nunito Medium"/>
                <a:ea typeface="Nunito Medium"/>
                <a:cs typeface="Nunito Medium"/>
                <a:sym typeface="Nunito Medium"/>
              </a:rPr>
              <a:t>W</a:t>
            </a:r>
            <a:r>
              <a:rPr lang="fr">
                <a:solidFill>
                  <a:srgbClr val="595959"/>
                </a:solidFill>
                <a:latin typeface="Nunito Medium"/>
                <a:ea typeface="Nunito Medium"/>
                <a:cs typeface="Nunito Medium"/>
                <a:sym typeface="Nunito Medium"/>
              </a:rPr>
              <a:t>ithout Vx and Vy cuts</a:t>
            </a:r>
            <a:endParaRPr>
              <a:solidFill>
                <a:srgbClr val="595959"/>
              </a:solidFill>
              <a:latin typeface="Nunito Medium"/>
              <a:ea typeface="Nunito Medium"/>
              <a:cs typeface="Nunito Medium"/>
              <a:sym typeface="Nunito Medium"/>
            </a:endParaRPr>
          </a:p>
        </p:txBody>
      </p:sp>
      <p:sp>
        <p:nvSpPr>
          <p:cNvPr id="215" name="Google Shape;215;p28"/>
          <p:cNvSpPr txBox="1"/>
          <p:nvPr/>
        </p:nvSpPr>
        <p:spPr>
          <a:xfrm>
            <a:off x="460575" y="2355775"/>
            <a:ext cx="1192200" cy="144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rgbClr val="595959"/>
                </a:solidFill>
                <a:latin typeface="Nunito"/>
                <a:ea typeface="Nunito"/>
                <a:cs typeface="Nunito"/>
                <a:sym typeface="Nunito"/>
              </a:rPr>
              <a:t>μ</a:t>
            </a:r>
            <a:r>
              <a:rPr baseline="-25000" lang="fr">
                <a:solidFill>
                  <a:srgbClr val="595959"/>
                </a:solidFill>
                <a:latin typeface="Nunito"/>
                <a:ea typeface="Nunito"/>
                <a:cs typeface="Nunito"/>
                <a:sym typeface="Nunito"/>
              </a:rPr>
              <a:t>1</a:t>
            </a:r>
            <a:r>
              <a:rPr lang="fr">
                <a:solidFill>
                  <a:srgbClr val="595959"/>
                </a:solidFill>
                <a:latin typeface="Nunito"/>
                <a:ea typeface="Nunito"/>
                <a:cs typeface="Nunito"/>
                <a:sym typeface="Nunito"/>
              </a:rPr>
              <a:t>:-8.44 cm μ</a:t>
            </a:r>
            <a:r>
              <a:rPr baseline="-25000" lang="fr">
                <a:solidFill>
                  <a:srgbClr val="595959"/>
                </a:solidFill>
                <a:latin typeface="Nunito"/>
                <a:ea typeface="Nunito"/>
                <a:cs typeface="Nunito"/>
                <a:sym typeface="Nunito"/>
              </a:rPr>
              <a:t>2</a:t>
            </a:r>
            <a:r>
              <a:rPr lang="fr">
                <a:solidFill>
                  <a:srgbClr val="595959"/>
                </a:solidFill>
                <a:latin typeface="Nunito"/>
                <a:ea typeface="Nunito"/>
                <a:cs typeface="Nunito"/>
                <a:sym typeface="Nunito"/>
              </a:rPr>
              <a:t>:-3.57 cm</a:t>
            </a:r>
            <a:endParaRPr>
              <a:solidFill>
                <a:srgbClr val="595959"/>
              </a:solidFill>
              <a:latin typeface="Nunito"/>
              <a:ea typeface="Nunito"/>
              <a:cs typeface="Nunito"/>
              <a:sym typeface="Nunito"/>
            </a:endParaRPr>
          </a:p>
          <a:p>
            <a:pPr indent="0" lvl="0" marL="0" rtl="0" algn="l">
              <a:spcBef>
                <a:spcPts val="0"/>
              </a:spcBef>
              <a:spcAft>
                <a:spcPts val="0"/>
              </a:spcAft>
              <a:buNone/>
            </a:pPr>
            <a:r>
              <a:rPr lang="fr">
                <a:solidFill>
                  <a:srgbClr val="595959"/>
                </a:solidFill>
                <a:latin typeface="Nunito"/>
                <a:ea typeface="Nunito"/>
                <a:cs typeface="Nunito"/>
                <a:sym typeface="Nunito"/>
              </a:rPr>
              <a:t>𝜎</a:t>
            </a:r>
            <a:r>
              <a:rPr baseline="-25000" lang="fr">
                <a:solidFill>
                  <a:srgbClr val="595959"/>
                </a:solidFill>
                <a:latin typeface="Nunito"/>
                <a:ea typeface="Nunito"/>
                <a:cs typeface="Nunito"/>
                <a:sym typeface="Nunito"/>
              </a:rPr>
              <a:t>1</a:t>
            </a:r>
            <a:r>
              <a:rPr lang="fr">
                <a:solidFill>
                  <a:srgbClr val="595959"/>
                </a:solidFill>
                <a:latin typeface="Nunito"/>
                <a:ea typeface="Nunito"/>
                <a:cs typeface="Nunito"/>
                <a:sym typeface="Nunito"/>
              </a:rPr>
              <a:t>:0.66 cm 𝜎</a:t>
            </a:r>
            <a:r>
              <a:rPr baseline="-25000" lang="fr">
                <a:solidFill>
                  <a:srgbClr val="595959"/>
                </a:solidFill>
                <a:latin typeface="Nunito"/>
                <a:ea typeface="Nunito"/>
                <a:cs typeface="Nunito"/>
                <a:sym typeface="Nunito"/>
              </a:rPr>
              <a:t>2</a:t>
            </a:r>
            <a:r>
              <a:rPr lang="fr">
                <a:solidFill>
                  <a:srgbClr val="595959"/>
                </a:solidFill>
                <a:latin typeface="Nunito"/>
                <a:ea typeface="Nunito"/>
                <a:cs typeface="Nunito"/>
                <a:sym typeface="Nunito"/>
              </a:rPr>
              <a:t>:0.78 cm</a:t>
            </a:r>
            <a:endParaRPr>
              <a:solidFill>
                <a:srgbClr val="595959"/>
              </a:solidFill>
              <a:latin typeface="Nunito"/>
              <a:ea typeface="Nunito"/>
              <a:cs typeface="Nunito"/>
              <a:sym typeface="Nunito"/>
            </a:endParaRPr>
          </a:p>
        </p:txBody>
      </p:sp>
      <p:sp>
        <p:nvSpPr>
          <p:cNvPr id="216" name="Google Shape;216;p28"/>
          <p:cNvSpPr txBox="1"/>
          <p:nvPr/>
        </p:nvSpPr>
        <p:spPr>
          <a:xfrm>
            <a:off x="4965925" y="2333375"/>
            <a:ext cx="1192200" cy="134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rgbClr val="595959"/>
                </a:solidFill>
                <a:latin typeface="Nunito"/>
                <a:ea typeface="Nunito"/>
                <a:cs typeface="Nunito"/>
                <a:sym typeface="Nunito"/>
              </a:rPr>
              <a:t>μ</a:t>
            </a:r>
            <a:r>
              <a:rPr baseline="-25000" lang="fr">
                <a:solidFill>
                  <a:srgbClr val="595959"/>
                </a:solidFill>
                <a:latin typeface="Nunito"/>
                <a:ea typeface="Nunito"/>
                <a:cs typeface="Nunito"/>
                <a:sym typeface="Nunito"/>
              </a:rPr>
              <a:t>1</a:t>
            </a:r>
            <a:r>
              <a:rPr lang="fr">
                <a:solidFill>
                  <a:srgbClr val="595959"/>
                </a:solidFill>
                <a:latin typeface="Nunito"/>
                <a:ea typeface="Nunito"/>
                <a:cs typeface="Nunito"/>
                <a:sym typeface="Nunito"/>
              </a:rPr>
              <a:t>:-8.44 cm μ</a:t>
            </a:r>
            <a:r>
              <a:rPr baseline="-25000" lang="fr">
                <a:solidFill>
                  <a:srgbClr val="595959"/>
                </a:solidFill>
                <a:latin typeface="Nunito"/>
                <a:ea typeface="Nunito"/>
                <a:cs typeface="Nunito"/>
                <a:sym typeface="Nunito"/>
              </a:rPr>
              <a:t>2</a:t>
            </a:r>
            <a:r>
              <a:rPr lang="fr">
                <a:solidFill>
                  <a:srgbClr val="595959"/>
                </a:solidFill>
                <a:latin typeface="Nunito"/>
                <a:ea typeface="Nunito"/>
                <a:cs typeface="Nunito"/>
                <a:sym typeface="Nunito"/>
              </a:rPr>
              <a:t>:-3.57 cm</a:t>
            </a:r>
            <a:endParaRPr>
              <a:solidFill>
                <a:srgbClr val="595959"/>
              </a:solidFill>
              <a:latin typeface="Nunito"/>
              <a:ea typeface="Nunito"/>
              <a:cs typeface="Nunito"/>
              <a:sym typeface="Nunito"/>
            </a:endParaRPr>
          </a:p>
          <a:p>
            <a:pPr indent="0" lvl="0" marL="0" rtl="0" algn="l">
              <a:spcBef>
                <a:spcPts val="0"/>
              </a:spcBef>
              <a:spcAft>
                <a:spcPts val="0"/>
              </a:spcAft>
              <a:buNone/>
            </a:pPr>
            <a:r>
              <a:rPr lang="fr">
                <a:solidFill>
                  <a:srgbClr val="595959"/>
                </a:solidFill>
                <a:latin typeface="Nunito"/>
                <a:ea typeface="Nunito"/>
                <a:cs typeface="Nunito"/>
                <a:sym typeface="Nunito"/>
              </a:rPr>
              <a:t>𝜎</a:t>
            </a:r>
            <a:r>
              <a:rPr baseline="-25000" lang="fr">
                <a:solidFill>
                  <a:srgbClr val="595959"/>
                </a:solidFill>
                <a:latin typeface="Nunito"/>
                <a:ea typeface="Nunito"/>
                <a:cs typeface="Nunito"/>
                <a:sym typeface="Nunito"/>
              </a:rPr>
              <a:t>1</a:t>
            </a:r>
            <a:r>
              <a:rPr lang="fr">
                <a:solidFill>
                  <a:srgbClr val="595959"/>
                </a:solidFill>
                <a:latin typeface="Nunito"/>
                <a:ea typeface="Nunito"/>
                <a:cs typeface="Nunito"/>
                <a:sym typeface="Nunito"/>
              </a:rPr>
              <a:t>:0.66 cm 𝜎</a:t>
            </a:r>
            <a:r>
              <a:rPr baseline="-25000" lang="fr">
                <a:solidFill>
                  <a:srgbClr val="595959"/>
                </a:solidFill>
                <a:latin typeface="Nunito"/>
                <a:ea typeface="Nunito"/>
                <a:cs typeface="Nunito"/>
                <a:sym typeface="Nunito"/>
              </a:rPr>
              <a:t>2</a:t>
            </a:r>
            <a:r>
              <a:rPr lang="fr">
                <a:solidFill>
                  <a:srgbClr val="595959"/>
                </a:solidFill>
                <a:latin typeface="Nunito"/>
                <a:ea typeface="Nunito"/>
                <a:cs typeface="Nunito"/>
                <a:sym typeface="Nunito"/>
              </a:rPr>
              <a:t>:0.79 cm</a:t>
            </a:r>
            <a:endParaRPr>
              <a:solidFill>
                <a:srgbClr val="595959"/>
              </a:solidFill>
              <a:latin typeface="Nunito"/>
              <a:ea typeface="Nunito"/>
              <a:cs typeface="Nunito"/>
              <a:sym typeface="Nunito"/>
            </a:endParaRPr>
          </a:p>
        </p:txBody>
      </p:sp>
      <p:cxnSp>
        <p:nvCxnSpPr>
          <p:cNvPr id="217" name="Google Shape;217;p28"/>
          <p:cNvCxnSpPr/>
          <p:nvPr/>
        </p:nvCxnSpPr>
        <p:spPr>
          <a:xfrm>
            <a:off x="1396250" y="2734175"/>
            <a:ext cx="948600" cy="925200"/>
          </a:xfrm>
          <a:prstGeom prst="straightConnector1">
            <a:avLst/>
          </a:prstGeom>
          <a:noFill/>
          <a:ln cap="flat" cmpd="sng" w="9525">
            <a:solidFill>
              <a:schemeClr val="dk2"/>
            </a:solidFill>
            <a:prstDash val="solid"/>
            <a:round/>
            <a:headEnd len="med" w="med" type="none"/>
            <a:tailEnd len="med" w="med" type="triangle"/>
          </a:ln>
        </p:spPr>
      </p:cxnSp>
      <p:cxnSp>
        <p:nvCxnSpPr>
          <p:cNvPr id="218" name="Google Shape;218;p28"/>
          <p:cNvCxnSpPr/>
          <p:nvPr/>
        </p:nvCxnSpPr>
        <p:spPr>
          <a:xfrm>
            <a:off x="1497650" y="2265025"/>
            <a:ext cx="481200" cy="867300"/>
          </a:xfrm>
          <a:prstGeom prst="straightConnector1">
            <a:avLst/>
          </a:prstGeom>
          <a:noFill/>
          <a:ln cap="flat" cmpd="sng" w="9525">
            <a:solidFill>
              <a:schemeClr val="dk2"/>
            </a:solidFill>
            <a:prstDash val="solid"/>
            <a:round/>
            <a:headEnd len="med" w="med" type="none"/>
            <a:tailEnd len="med" w="med" type="triangle"/>
          </a:ln>
        </p:spPr>
      </p:cxnSp>
      <p:sp>
        <p:nvSpPr>
          <p:cNvPr id="219" name="Google Shape;219;p28"/>
          <p:cNvSpPr txBox="1"/>
          <p:nvPr>
            <p:ph idx="1" type="body"/>
          </p:nvPr>
        </p:nvSpPr>
        <p:spPr>
          <a:xfrm>
            <a:off x="-135100" y="552525"/>
            <a:ext cx="9298800" cy="1712400"/>
          </a:xfrm>
          <a:prstGeom prst="rect">
            <a:avLst/>
          </a:prstGeom>
        </p:spPr>
        <p:txBody>
          <a:bodyPr anchorCtr="0" anchor="t" bIns="91425" lIns="91425" spcFirstLastPara="1" rIns="91425" wrap="square" tIns="91425">
            <a:normAutofit fontScale="85000"/>
          </a:bodyPr>
          <a:lstStyle/>
          <a:p>
            <a:pPr indent="-339407" lvl="0" marL="457200" rtl="0" algn="l">
              <a:spcBef>
                <a:spcPts val="0"/>
              </a:spcBef>
              <a:spcAft>
                <a:spcPts val="0"/>
              </a:spcAft>
              <a:buSzPct val="95355"/>
              <a:buFont typeface="Nunito"/>
              <a:buChar char="●"/>
            </a:pPr>
            <a:r>
              <a:rPr lang="fr" sz="2153">
                <a:latin typeface="Nunito"/>
                <a:ea typeface="Nunito"/>
                <a:cs typeface="Nunito"/>
                <a:sym typeface="Nunito"/>
              </a:rPr>
              <a:t>The study aimed to </a:t>
            </a:r>
            <a:endParaRPr sz="2153">
              <a:latin typeface="Nunito"/>
              <a:ea typeface="Nunito"/>
              <a:cs typeface="Nunito"/>
              <a:sym typeface="Nunito"/>
            </a:endParaRPr>
          </a:p>
          <a:p>
            <a:pPr indent="-332105" lvl="1" marL="914400" rtl="0" algn="l">
              <a:spcBef>
                <a:spcPts val="0"/>
              </a:spcBef>
              <a:spcAft>
                <a:spcPts val="0"/>
              </a:spcAft>
              <a:buSzPct val="100000"/>
              <a:buFont typeface="Nunito"/>
              <a:buChar char="○"/>
            </a:pPr>
            <a:r>
              <a:rPr lang="fr" sz="1918">
                <a:latin typeface="Nunito"/>
                <a:ea typeface="Nunito"/>
                <a:cs typeface="Nunito"/>
                <a:sym typeface="Nunito"/>
              </a:rPr>
              <a:t>Separate solid-foil peaks from the empty LD2 cell and scattering chamber exit windows </a:t>
            </a:r>
            <a:endParaRPr sz="1918">
              <a:latin typeface="Nunito"/>
              <a:ea typeface="Nunito"/>
              <a:cs typeface="Nunito"/>
              <a:sym typeface="Nunito"/>
            </a:endParaRPr>
          </a:p>
          <a:p>
            <a:pPr indent="-332105" lvl="1" marL="914400" rtl="0" algn="l">
              <a:spcBef>
                <a:spcPts val="0"/>
              </a:spcBef>
              <a:spcAft>
                <a:spcPts val="0"/>
              </a:spcAft>
              <a:buSzPct val="100000"/>
              <a:buFont typeface="Nunito"/>
              <a:buChar char="○"/>
            </a:pPr>
            <a:r>
              <a:rPr lang="fr" sz="1918">
                <a:latin typeface="Nunito"/>
                <a:ea typeface="Nunito"/>
                <a:cs typeface="Nunito"/>
                <a:sym typeface="Nunito"/>
              </a:rPr>
              <a:t>Reduce the contamination for the target configuration with two different foils, Cu and Sn</a:t>
            </a:r>
            <a:endParaRPr sz="1918">
              <a:latin typeface="Nunito"/>
              <a:ea typeface="Nunito"/>
              <a:cs typeface="Nunito"/>
              <a:sym typeface="Nunito"/>
            </a:endParaRPr>
          </a:p>
          <a:p>
            <a:pPr indent="-314960" lvl="1" marL="914400" rtl="0" algn="l">
              <a:spcBef>
                <a:spcPts val="0"/>
              </a:spcBef>
              <a:spcAft>
                <a:spcPts val="0"/>
              </a:spcAft>
              <a:buSzPct val="83435"/>
              <a:buFont typeface="Nunito"/>
              <a:buChar char="○"/>
            </a:pPr>
            <a:r>
              <a:rPr lang="fr" sz="1918">
                <a:latin typeface="Nunito"/>
                <a:ea typeface="Nunito"/>
                <a:cs typeface="Nunito"/>
                <a:sym typeface="Nunito"/>
              </a:rPr>
              <a:t>Check the effect of Vx and Vy cuts on Vz distributions:</a:t>
            </a:r>
            <a:r>
              <a:rPr lang="fr" sz="1600">
                <a:latin typeface="Nunito"/>
                <a:ea typeface="Nunito"/>
                <a:cs typeface="Nunito"/>
                <a:sym typeface="Nunito"/>
              </a:rPr>
              <a:t> </a:t>
            </a:r>
            <a:endParaRPr sz="1700">
              <a:latin typeface="Nunito"/>
              <a:ea typeface="Nunito"/>
              <a:cs typeface="Nunito"/>
              <a:sym typeface="Nunito"/>
            </a:endParaRPr>
          </a:p>
          <a:p>
            <a:pPr indent="-338455" lvl="2" marL="1371600" rtl="0" algn="l">
              <a:spcBef>
                <a:spcPts val="0"/>
              </a:spcBef>
              <a:spcAft>
                <a:spcPts val="0"/>
              </a:spcAft>
              <a:buSzPct val="110897"/>
              <a:buFont typeface="Nunito"/>
              <a:buChar char="■"/>
            </a:pPr>
            <a:r>
              <a:rPr lang="fr" sz="1835">
                <a:latin typeface="Nunito"/>
                <a:ea typeface="Nunito"/>
                <a:cs typeface="Nunito"/>
                <a:sym typeface="Nunito"/>
              </a:rPr>
              <a:t>No noticeable effects of Vx and Vy cuts on Vz fit parameters; thus, eliminated!</a:t>
            </a:r>
            <a:endParaRPr sz="1835">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9"/>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Vertex Studies</a:t>
            </a:r>
            <a:endParaRPr/>
          </a:p>
        </p:txBody>
      </p:sp>
      <p:sp>
        <p:nvSpPr>
          <p:cNvPr id="225" name="Google Shape;225;p29"/>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pic>
        <p:nvPicPr>
          <p:cNvPr id="226" name="Google Shape;226;p29"/>
          <p:cNvPicPr preferRelativeResize="0"/>
          <p:nvPr/>
        </p:nvPicPr>
        <p:blipFill>
          <a:blip r:embed="rId3">
            <a:alphaModFix/>
          </a:blip>
          <a:stretch>
            <a:fillRect/>
          </a:stretch>
        </p:blipFill>
        <p:spPr>
          <a:xfrm>
            <a:off x="1258575" y="647400"/>
            <a:ext cx="5827626" cy="4085126"/>
          </a:xfrm>
          <a:prstGeom prst="rect">
            <a:avLst/>
          </a:prstGeom>
          <a:noFill/>
          <a:ln>
            <a:noFill/>
          </a:ln>
        </p:spPr>
      </p:pic>
      <p:cxnSp>
        <p:nvCxnSpPr>
          <p:cNvPr id="227" name="Google Shape;227;p29"/>
          <p:cNvCxnSpPr/>
          <p:nvPr/>
        </p:nvCxnSpPr>
        <p:spPr>
          <a:xfrm>
            <a:off x="2458021" y="4476889"/>
            <a:ext cx="1127700" cy="0"/>
          </a:xfrm>
          <a:prstGeom prst="straightConnector1">
            <a:avLst/>
          </a:prstGeom>
          <a:noFill/>
          <a:ln cap="flat" cmpd="sng" w="28575">
            <a:solidFill>
              <a:srgbClr val="CC0000"/>
            </a:solidFill>
            <a:prstDash val="solid"/>
            <a:round/>
            <a:headEnd len="med" w="med" type="none"/>
            <a:tailEnd len="med" w="med" type="none"/>
          </a:ln>
        </p:spPr>
      </p:cxnSp>
      <p:cxnSp>
        <p:nvCxnSpPr>
          <p:cNvPr id="228" name="Google Shape;228;p29"/>
          <p:cNvCxnSpPr/>
          <p:nvPr/>
        </p:nvCxnSpPr>
        <p:spPr>
          <a:xfrm>
            <a:off x="3628761" y="4476889"/>
            <a:ext cx="1021800" cy="0"/>
          </a:xfrm>
          <a:prstGeom prst="straightConnector1">
            <a:avLst/>
          </a:prstGeom>
          <a:noFill/>
          <a:ln cap="flat" cmpd="sng" w="28575">
            <a:solidFill>
              <a:srgbClr val="6AA84F"/>
            </a:solidFill>
            <a:prstDash val="solid"/>
            <a:round/>
            <a:headEnd len="med" w="med" type="none"/>
            <a:tailEnd len="med" w="med" type="none"/>
          </a:ln>
        </p:spPr>
      </p:cxnSp>
      <p:sp>
        <p:nvSpPr>
          <p:cNvPr id="229" name="Google Shape;229;p29"/>
          <p:cNvSpPr txBox="1"/>
          <p:nvPr/>
        </p:nvSpPr>
        <p:spPr>
          <a:xfrm>
            <a:off x="2202355" y="4550961"/>
            <a:ext cx="1371600" cy="1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fr" sz="1300">
                <a:solidFill>
                  <a:srgbClr val="CC0000"/>
                </a:solidFill>
                <a:latin typeface="Nunito"/>
                <a:ea typeface="Nunito"/>
                <a:cs typeface="Nunito"/>
                <a:sym typeface="Nunito"/>
              </a:rPr>
              <a:t>Empty LD2 cell</a:t>
            </a:r>
            <a:endParaRPr sz="1300">
              <a:solidFill>
                <a:srgbClr val="CC0000"/>
              </a:solidFill>
              <a:latin typeface="Nunito"/>
              <a:ea typeface="Nunito"/>
              <a:cs typeface="Nunito"/>
              <a:sym typeface="Nunito"/>
            </a:endParaRPr>
          </a:p>
        </p:txBody>
      </p:sp>
      <p:sp>
        <p:nvSpPr>
          <p:cNvPr id="230" name="Google Shape;230;p29"/>
          <p:cNvSpPr txBox="1"/>
          <p:nvPr/>
        </p:nvSpPr>
        <p:spPr>
          <a:xfrm>
            <a:off x="3604573" y="4550961"/>
            <a:ext cx="1949100" cy="18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fr" sz="1300">
                <a:solidFill>
                  <a:srgbClr val="6AA84F"/>
                </a:solidFill>
                <a:latin typeface="Nunito"/>
                <a:ea typeface="Nunito"/>
                <a:cs typeface="Nunito"/>
                <a:sym typeface="Nunito"/>
              </a:rPr>
              <a:t>Nuclear-foil</a:t>
            </a:r>
            <a:endParaRPr sz="1300">
              <a:solidFill>
                <a:srgbClr val="6AA84F"/>
              </a:solidFill>
              <a:latin typeface="Nunito"/>
              <a:ea typeface="Nunito"/>
              <a:cs typeface="Nunito"/>
              <a:sym typeface="Nuni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Vertex Studies</a:t>
            </a:r>
            <a:endParaRPr/>
          </a:p>
        </p:txBody>
      </p:sp>
      <p:sp>
        <p:nvSpPr>
          <p:cNvPr id="236" name="Google Shape;236;p30"/>
          <p:cNvSpPr txBox="1"/>
          <p:nvPr>
            <p:ph idx="1" type="body"/>
          </p:nvPr>
        </p:nvSpPr>
        <p:spPr>
          <a:xfrm>
            <a:off x="0" y="647400"/>
            <a:ext cx="9144000" cy="511500"/>
          </a:xfrm>
          <a:prstGeom prst="rect">
            <a:avLst/>
          </a:prstGeom>
        </p:spPr>
        <p:txBody>
          <a:bodyPr anchorCtr="0" anchor="t" bIns="91425" lIns="91425" spcFirstLastPara="1" rIns="91425" wrap="square" tIns="91425">
            <a:normAutofit/>
          </a:bodyPr>
          <a:lstStyle/>
          <a:p>
            <a:pPr indent="-236700" lvl="0" marL="244800" rtl="0" algn="l">
              <a:spcBef>
                <a:spcPts val="0"/>
              </a:spcBef>
              <a:spcAft>
                <a:spcPts val="0"/>
              </a:spcAft>
              <a:buSzPts val="1800"/>
              <a:buChar char="●"/>
            </a:pPr>
            <a:r>
              <a:rPr lang="fr"/>
              <a:t>Established </a:t>
            </a:r>
            <a:r>
              <a:rPr lang="fr"/>
              <a:t>Vz cuts for </a:t>
            </a:r>
            <a:r>
              <a:rPr lang="fr"/>
              <a:t>electrons and charged pions and various</a:t>
            </a:r>
            <a:r>
              <a:rPr lang="fr"/>
              <a:t> solid foils</a:t>
            </a:r>
            <a:endParaRPr/>
          </a:p>
        </p:txBody>
      </p:sp>
      <p:sp>
        <p:nvSpPr>
          <p:cNvPr id="237" name="Google Shape;237;p30"/>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pic>
        <p:nvPicPr>
          <p:cNvPr id="238" name="Google Shape;238;p30"/>
          <p:cNvPicPr preferRelativeResize="0"/>
          <p:nvPr/>
        </p:nvPicPr>
        <p:blipFill rotWithShape="1">
          <a:blip r:embed="rId3">
            <a:alphaModFix/>
          </a:blip>
          <a:srcRect b="5186" l="0" r="0" t="58774"/>
          <a:stretch/>
        </p:blipFill>
        <p:spPr>
          <a:xfrm>
            <a:off x="98175" y="1490851"/>
            <a:ext cx="4526775" cy="1267250"/>
          </a:xfrm>
          <a:prstGeom prst="rect">
            <a:avLst/>
          </a:prstGeom>
          <a:noFill/>
          <a:ln>
            <a:noFill/>
          </a:ln>
        </p:spPr>
      </p:pic>
      <p:sp>
        <p:nvSpPr>
          <p:cNvPr id="239" name="Google Shape;239;p30"/>
          <p:cNvSpPr txBox="1"/>
          <p:nvPr/>
        </p:nvSpPr>
        <p:spPr>
          <a:xfrm>
            <a:off x="137350" y="1104600"/>
            <a:ext cx="4526700" cy="38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1600">
                <a:solidFill>
                  <a:schemeClr val="dk2"/>
                </a:solidFill>
                <a:latin typeface="Nunito"/>
                <a:ea typeface="Nunito"/>
                <a:cs typeface="Nunito"/>
                <a:sym typeface="Nunito"/>
              </a:rPr>
              <a:t>Upstream (Cu) and Downstream (Sn) foils</a:t>
            </a:r>
            <a:endParaRPr sz="1600">
              <a:solidFill>
                <a:schemeClr val="dk2"/>
              </a:solidFill>
              <a:latin typeface="Nunito"/>
              <a:ea typeface="Nunito"/>
              <a:cs typeface="Nunito"/>
              <a:sym typeface="Nunito"/>
            </a:endParaRPr>
          </a:p>
        </p:txBody>
      </p:sp>
      <p:pic>
        <p:nvPicPr>
          <p:cNvPr id="240" name="Google Shape;240;p30"/>
          <p:cNvPicPr preferRelativeResize="0"/>
          <p:nvPr/>
        </p:nvPicPr>
        <p:blipFill rotWithShape="1">
          <a:blip r:embed="rId4">
            <a:alphaModFix/>
          </a:blip>
          <a:srcRect b="0" l="18629" r="18710" t="68865"/>
          <a:stretch/>
        </p:blipFill>
        <p:spPr>
          <a:xfrm>
            <a:off x="298175" y="2800474"/>
            <a:ext cx="2201425" cy="765181"/>
          </a:xfrm>
          <a:prstGeom prst="rect">
            <a:avLst/>
          </a:prstGeom>
          <a:noFill/>
          <a:ln>
            <a:noFill/>
          </a:ln>
        </p:spPr>
      </p:pic>
      <p:pic>
        <p:nvPicPr>
          <p:cNvPr id="241" name="Google Shape;241;p30"/>
          <p:cNvPicPr preferRelativeResize="0"/>
          <p:nvPr/>
        </p:nvPicPr>
        <p:blipFill rotWithShape="1">
          <a:blip r:embed="rId5">
            <a:alphaModFix/>
          </a:blip>
          <a:srcRect b="0" l="19311" r="20021" t="66476"/>
          <a:stretch/>
        </p:blipFill>
        <p:spPr>
          <a:xfrm>
            <a:off x="298175" y="3660224"/>
            <a:ext cx="2201426" cy="823833"/>
          </a:xfrm>
          <a:prstGeom prst="rect">
            <a:avLst/>
          </a:prstGeom>
          <a:noFill/>
          <a:ln>
            <a:noFill/>
          </a:ln>
        </p:spPr>
      </p:pic>
      <p:pic>
        <p:nvPicPr>
          <p:cNvPr id="242" name="Google Shape;242;p30"/>
          <p:cNvPicPr preferRelativeResize="0"/>
          <p:nvPr/>
        </p:nvPicPr>
        <p:blipFill>
          <a:blip r:embed="rId6">
            <a:alphaModFix/>
          </a:blip>
          <a:stretch>
            <a:fillRect/>
          </a:stretch>
        </p:blipFill>
        <p:spPr>
          <a:xfrm>
            <a:off x="2499600" y="2806750"/>
            <a:ext cx="2201425" cy="752626"/>
          </a:xfrm>
          <a:prstGeom prst="rect">
            <a:avLst/>
          </a:prstGeom>
          <a:noFill/>
          <a:ln>
            <a:noFill/>
          </a:ln>
        </p:spPr>
      </p:pic>
      <p:pic>
        <p:nvPicPr>
          <p:cNvPr id="243" name="Google Shape;243;p30"/>
          <p:cNvPicPr preferRelativeResize="0"/>
          <p:nvPr/>
        </p:nvPicPr>
        <p:blipFill>
          <a:blip r:embed="rId7">
            <a:alphaModFix/>
          </a:blip>
          <a:stretch>
            <a:fillRect/>
          </a:stretch>
        </p:blipFill>
        <p:spPr>
          <a:xfrm>
            <a:off x="2499600" y="3700689"/>
            <a:ext cx="2201426" cy="717960"/>
          </a:xfrm>
          <a:prstGeom prst="rect">
            <a:avLst/>
          </a:prstGeom>
          <a:noFill/>
          <a:ln>
            <a:noFill/>
          </a:ln>
        </p:spPr>
      </p:pic>
      <p:sp>
        <p:nvSpPr>
          <p:cNvPr id="244" name="Google Shape;244;p30"/>
          <p:cNvSpPr txBox="1"/>
          <p:nvPr/>
        </p:nvSpPr>
        <p:spPr>
          <a:xfrm>
            <a:off x="5777075" y="1158900"/>
            <a:ext cx="2331300" cy="386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1800">
                <a:solidFill>
                  <a:schemeClr val="dk2"/>
                </a:solidFill>
                <a:latin typeface="Nunito"/>
                <a:ea typeface="Nunito"/>
                <a:cs typeface="Nunito"/>
                <a:sym typeface="Nunito"/>
              </a:rPr>
              <a:t>Carbon</a:t>
            </a:r>
            <a:endParaRPr sz="1800">
              <a:solidFill>
                <a:schemeClr val="dk2"/>
              </a:solidFill>
              <a:latin typeface="Nunito"/>
              <a:ea typeface="Nunito"/>
              <a:cs typeface="Nunito"/>
              <a:sym typeface="Nunito"/>
            </a:endParaRPr>
          </a:p>
        </p:txBody>
      </p:sp>
      <p:pic>
        <p:nvPicPr>
          <p:cNvPr id="245" name="Google Shape;245;p30"/>
          <p:cNvPicPr preferRelativeResize="0"/>
          <p:nvPr/>
        </p:nvPicPr>
        <p:blipFill>
          <a:blip r:embed="rId8">
            <a:alphaModFix/>
          </a:blip>
          <a:stretch>
            <a:fillRect/>
          </a:stretch>
        </p:blipFill>
        <p:spPr>
          <a:xfrm>
            <a:off x="5020822" y="1491001"/>
            <a:ext cx="4053453" cy="1267250"/>
          </a:xfrm>
          <a:prstGeom prst="rect">
            <a:avLst/>
          </a:prstGeom>
          <a:noFill/>
          <a:ln>
            <a:noFill/>
          </a:ln>
        </p:spPr>
      </p:pic>
      <p:pic>
        <p:nvPicPr>
          <p:cNvPr id="246" name="Google Shape;246;p30"/>
          <p:cNvPicPr preferRelativeResize="0"/>
          <p:nvPr/>
        </p:nvPicPr>
        <p:blipFill>
          <a:blip r:embed="rId9">
            <a:alphaModFix/>
          </a:blip>
          <a:stretch>
            <a:fillRect/>
          </a:stretch>
        </p:blipFill>
        <p:spPr>
          <a:xfrm>
            <a:off x="5721475" y="2706913"/>
            <a:ext cx="2652175" cy="952289"/>
          </a:xfrm>
          <a:prstGeom prst="rect">
            <a:avLst/>
          </a:prstGeom>
          <a:noFill/>
          <a:ln>
            <a:noFill/>
          </a:ln>
        </p:spPr>
      </p:pic>
      <p:pic>
        <p:nvPicPr>
          <p:cNvPr id="247" name="Google Shape;247;p30"/>
          <p:cNvPicPr preferRelativeResize="0"/>
          <p:nvPr/>
        </p:nvPicPr>
        <p:blipFill>
          <a:blip r:embed="rId10">
            <a:alphaModFix/>
          </a:blip>
          <a:stretch>
            <a:fillRect/>
          </a:stretch>
        </p:blipFill>
        <p:spPr>
          <a:xfrm>
            <a:off x="5721464" y="3601850"/>
            <a:ext cx="2652174" cy="9021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31"/>
          <p:cNvPicPr preferRelativeResize="0"/>
          <p:nvPr/>
        </p:nvPicPr>
        <p:blipFill rotWithShape="1">
          <a:blip r:embed="rId3">
            <a:alphaModFix/>
          </a:blip>
          <a:srcRect b="0" l="0" r="0" t="9305"/>
          <a:stretch/>
        </p:blipFill>
        <p:spPr>
          <a:xfrm>
            <a:off x="677675" y="1202200"/>
            <a:ext cx="7792824" cy="3507025"/>
          </a:xfrm>
          <a:prstGeom prst="rect">
            <a:avLst/>
          </a:prstGeom>
          <a:noFill/>
          <a:ln>
            <a:noFill/>
          </a:ln>
        </p:spPr>
      </p:pic>
      <p:sp>
        <p:nvSpPr>
          <p:cNvPr id="253" name="Google Shape;253;p31"/>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Vertex Studies</a:t>
            </a:r>
            <a:endParaRPr/>
          </a:p>
        </p:txBody>
      </p:sp>
      <p:sp>
        <p:nvSpPr>
          <p:cNvPr id="254" name="Google Shape;254;p31"/>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
        <p:nvSpPr>
          <p:cNvPr id="255" name="Google Shape;255;p31"/>
          <p:cNvSpPr txBox="1"/>
          <p:nvPr>
            <p:ph idx="1" type="body"/>
          </p:nvPr>
        </p:nvSpPr>
        <p:spPr>
          <a:xfrm>
            <a:off x="-11850" y="647400"/>
            <a:ext cx="9144000" cy="883800"/>
          </a:xfrm>
          <a:prstGeom prst="rect">
            <a:avLst/>
          </a:prstGeom>
        </p:spPr>
        <p:txBody>
          <a:bodyPr anchorCtr="0" anchor="t" bIns="91425" lIns="91425" spcFirstLastPara="1" rIns="91425" wrap="square" tIns="91425">
            <a:normAutofit/>
          </a:bodyPr>
          <a:lstStyle/>
          <a:p>
            <a:pPr indent="-224000" lvl="0" marL="244800" rtl="0" algn="l">
              <a:spcBef>
                <a:spcPts val="0"/>
              </a:spcBef>
              <a:spcAft>
                <a:spcPts val="0"/>
              </a:spcAft>
              <a:buSzPts val="1600"/>
              <a:buChar char="●"/>
            </a:pPr>
            <a:r>
              <a:rPr lang="fr" sz="1600"/>
              <a:t>Extracted Vz timeline in which a global 1 cm shift is observed between IB</a:t>
            </a:r>
            <a:r>
              <a:rPr lang="fr" sz="1600"/>
              <a:t> and OB datasets!?</a:t>
            </a:r>
            <a:endParaRPr sz="1600"/>
          </a:p>
        </p:txBody>
      </p:sp>
      <p:sp>
        <p:nvSpPr>
          <p:cNvPr id="256" name="Google Shape;256;p31"/>
          <p:cNvSpPr txBox="1"/>
          <p:nvPr/>
        </p:nvSpPr>
        <p:spPr>
          <a:xfrm>
            <a:off x="137425" y="4816300"/>
            <a:ext cx="3592500" cy="248700"/>
          </a:xfrm>
          <a:prstGeom prst="rect">
            <a:avLst/>
          </a:prstGeom>
          <a:noFill/>
          <a:ln>
            <a:noFill/>
          </a:ln>
        </p:spPr>
        <p:txBody>
          <a:bodyPr anchorCtr="0" anchor="t" bIns="91425" lIns="91425" spcFirstLastPara="1" rIns="91425" wrap="square" tIns="0">
            <a:noAutofit/>
          </a:bodyPr>
          <a:lstStyle/>
          <a:p>
            <a:pPr indent="0" lvl="0" marL="0" rtl="0" algn="l">
              <a:spcBef>
                <a:spcPts val="0"/>
              </a:spcBef>
              <a:spcAft>
                <a:spcPts val="0"/>
              </a:spcAft>
              <a:buNone/>
            </a:pPr>
            <a:r>
              <a:rPr lang="fr">
                <a:solidFill>
                  <a:schemeClr val="dk2"/>
                </a:solidFill>
                <a:latin typeface="Nunito"/>
                <a:ea typeface="Nunito"/>
                <a:cs typeface="Nunito"/>
                <a:sym typeface="Nunito"/>
              </a:rPr>
              <a:t>Plot credit of M. </a:t>
            </a:r>
            <a:r>
              <a:rPr lang="fr">
                <a:solidFill>
                  <a:schemeClr val="dk2"/>
                </a:solidFill>
                <a:latin typeface="Nunito"/>
                <a:ea typeface="Nunito"/>
                <a:cs typeface="Nunito"/>
                <a:sym typeface="Nunito"/>
              </a:rPr>
              <a:t>Maynes</a:t>
            </a:r>
            <a:endParaRPr>
              <a:solidFill>
                <a:schemeClr val="dk2"/>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2"/>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Analysis Study: Particle IDentification</a:t>
            </a:r>
            <a:endParaRPr/>
          </a:p>
        </p:txBody>
      </p:sp>
      <p:sp>
        <p:nvSpPr>
          <p:cNvPr id="262" name="Google Shape;262;p32"/>
          <p:cNvSpPr txBox="1"/>
          <p:nvPr>
            <p:ph idx="1" type="body"/>
          </p:nvPr>
        </p:nvSpPr>
        <p:spPr>
          <a:xfrm>
            <a:off x="445000" y="563125"/>
            <a:ext cx="3246000" cy="1497600"/>
          </a:xfrm>
          <a:prstGeom prst="rect">
            <a:avLst/>
          </a:prstGeom>
        </p:spPr>
        <p:txBody>
          <a:bodyPr anchorCtr="0" anchor="t" bIns="91425" lIns="91425" spcFirstLastPara="1" rIns="91425" wrap="square" tIns="91425">
            <a:normAutofit/>
          </a:bodyPr>
          <a:lstStyle/>
          <a:p>
            <a:pPr indent="-213399" lvl="0" marL="208799" rtl="0" algn="l">
              <a:spcBef>
                <a:spcPts val="0"/>
              </a:spcBef>
              <a:spcAft>
                <a:spcPts val="0"/>
              </a:spcAft>
              <a:buSzPts val="2000"/>
              <a:buFont typeface="Nunito"/>
              <a:buChar char="●"/>
            </a:pPr>
            <a:r>
              <a:rPr lang="fr" sz="1600">
                <a:latin typeface="Nunito"/>
                <a:ea typeface="Nunito"/>
                <a:cs typeface="Nunito"/>
                <a:sym typeface="Nunito"/>
              </a:rPr>
              <a:t>Electron:</a:t>
            </a:r>
            <a:endParaRPr sz="1600">
              <a:latin typeface="Nunito"/>
              <a:ea typeface="Nunito"/>
              <a:cs typeface="Nunito"/>
              <a:sym typeface="Nunito"/>
            </a:endParaRPr>
          </a:p>
          <a:p>
            <a:pPr indent="-139300" lvl="1" marL="342000" rtl="0" algn="l">
              <a:spcBef>
                <a:spcPts val="0"/>
              </a:spcBef>
              <a:spcAft>
                <a:spcPts val="0"/>
              </a:spcAft>
              <a:buSzPts val="1400"/>
              <a:buFont typeface="Nunito"/>
              <a:buChar char="○"/>
            </a:pPr>
            <a:r>
              <a:rPr lang="fr">
                <a:latin typeface="Nunito"/>
                <a:ea typeface="Nunito"/>
                <a:cs typeface="Nunito"/>
                <a:sym typeface="Nunito"/>
              </a:rPr>
              <a:t>PID = 11 </a:t>
            </a:r>
            <a:endParaRPr>
              <a:latin typeface="Nunito"/>
              <a:ea typeface="Nunito"/>
              <a:cs typeface="Nunito"/>
              <a:sym typeface="Nunito"/>
            </a:endParaRPr>
          </a:p>
          <a:p>
            <a:pPr indent="-139300" lvl="1" marL="342000" rtl="0" algn="l">
              <a:spcBef>
                <a:spcPts val="0"/>
              </a:spcBef>
              <a:spcAft>
                <a:spcPts val="0"/>
              </a:spcAft>
              <a:buSzPts val="1400"/>
              <a:buFont typeface="Nunito"/>
              <a:buChar char="○"/>
            </a:pPr>
            <a:r>
              <a:rPr lang="fr">
                <a:latin typeface="Nunito"/>
                <a:ea typeface="Nunito"/>
                <a:cs typeface="Nunito"/>
                <a:sym typeface="Nunito"/>
              </a:rPr>
              <a:t>Status &lt; 0</a:t>
            </a:r>
            <a:endParaRPr>
              <a:latin typeface="Nunito"/>
              <a:ea typeface="Nunito"/>
              <a:cs typeface="Nunito"/>
              <a:sym typeface="Nunito"/>
            </a:endParaRPr>
          </a:p>
          <a:p>
            <a:pPr indent="-139300" lvl="1" marL="342000" rtl="0" algn="l">
              <a:spcBef>
                <a:spcPts val="0"/>
              </a:spcBef>
              <a:spcAft>
                <a:spcPts val="0"/>
              </a:spcAft>
              <a:buSzPts val="1400"/>
              <a:buFont typeface="Nunito"/>
              <a:buChar char="○"/>
            </a:pPr>
            <a:r>
              <a:rPr lang="fr">
                <a:latin typeface="Nunito"/>
                <a:ea typeface="Nunito"/>
                <a:cs typeface="Nunito"/>
                <a:sym typeface="Nunito"/>
              </a:rPr>
              <a:t>-5 &lt; chi2pid &lt; 5</a:t>
            </a:r>
            <a:endParaRPr>
              <a:latin typeface="Nunito"/>
              <a:ea typeface="Nunito"/>
              <a:cs typeface="Nunito"/>
              <a:sym typeface="Nunito"/>
            </a:endParaRPr>
          </a:p>
          <a:p>
            <a:pPr indent="-139300" lvl="1" marL="342000" rtl="0" algn="l">
              <a:spcBef>
                <a:spcPts val="0"/>
              </a:spcBef>
              <a:spcAft>
                <a:spcPts val="0"/>
              </a:spcAft>
              <a:buSzPts val="1400"/>
              <a:buFont typeface="Nunito"/>
              <a:buChar char="○"/>
            </a:pPr>
            <a:r>
              <a:rPr lang="fr">
                <a:latin typeface="Nunito"/>
                <a:ea typeface="Nunito"/>
                <a:cs typeface="Nunito"/>
                <a:sym typeface="Nunito"/>
              </a:rPr>
              <a:t>Vz cuts depending on the target</a:t>
            </a:r>
            <a:endParaRPr>
              <a:latin typeface="Nunito"/>
              <a:ea typeface="Nunito"/>
              <a:cs typeface="Nunito"/>
              <a:sym typeface="Nunito"/>
            </a:endParaRPr>
          </a:p>
        </p:txBody>
      </p:sp>
      <p:sp>
        <p:nvSpPr>
          <p:cNvPr id="263" name="Google Shape;263;p32"/>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
        <p:nvSpPr>
          <p:cNvPr id="264" name="Google Shape;264;p32"/>
          <p:cNvSpPr txBox="1"/>
          <p:nvPr/>
        </p:nvSpPr>
        <p:spPr>
          <a:xfrm>
            <a:off x="4788425" y="643850"/>
            <a:ext cx="3801900" cy="1249800"/>
          </a:xfrm>
          <a:prstGeom prst="rect">
            <a:avLst/>
          </a:prstGeom>
          <a:noFill/>
          <a:ln>
            <a:noFill/>
          </a:ln>
        </p:spPr>
        <p:txBody>
          <a:bodyPr anchorCtr="0" anchor="t" bIns="91425" lIns="91425" spcFirstLastPara="1" rIns="91425" wrap="square" tIns="91425">
            <a:spAutoFit/>
          </a:bodyPr>
          <a:lstStyle/>
          <a:p>
            <a:pPr indent="-249400" lvl="0" marL="244800" rtl="0" algn="l">
              <a:lnSpc>
                <a:spcPct val="115000"/>
              </a:lnSpc>
              <a:spcBef>
                <a:spcPts val="1000"/>
              </a:spcBef>
              <a:spcAft>
                <a:spcPts val="0"/>
              </a:spcAft>
              <a:buClr>
                <a:srgbClr val="93C47D"/>
              </a:buClr>
              <a:buSzPts val="2000"/>
              <a:buFont typeface="Nunito"/>
              <a:buChar char="●"/>
            </a:pPr>
            <a:r>
              <a:rPr lang="fr" sz="1600">
                <a:solidFill>
                  <a:schemeClr val="dk2"/>
                </a:solidFill>
                <a:latin typeface="Nunito"/>
                <a:ea typeface="Nunito"/>
                <a:cs typeface="Nunito"/>
                <a:sym typeface="Nunito"/>
              </a:rPr>
              <a:t>Charged pions, π</a:t>
            </a:r>
            <a:r>
              <a:rPr baseline="30000" lang="fr" sz="1600">
                <a:solidFill>
                  <a:schemeClr val="dk2"/>
                </a:solidFill>
                <a:latin typeface="Nunito"/>
                <a:ea typeface="Nunito"/>
                <a:cs typeface="Nunito"/>
                <a:sym typeface="Nunito"/>
              </a:rPr>
              <a:t>±</a:t>
            </a:r>
            <a:r>
              <a:rPr lang="fr" sz="1600">
                <a:solidFill>
                  <a:schemeClr val="dk2"/>
                </a:solidFill>
                <a:latin typeface="Nunito"/>
                <a:ea typeface="Nunito"/>
                <a:cs typeface="Nunito"/>
                <a:sym typeface="Nunito"/>
              </a:rPr>
              <a:t>:</a:t>
            </a:r>
            <a:endParaRPr sz="1600">
              <a:solidFill>
                <a:schemeClr val="dk2"/>
              </a:solidFill>
              <a:latin typeface="Nunito"/>
              <a:ea typeface="Nunito"/>
              <a:cs typeface="Nunito"/>
              <a:sym typeface="Nunito"/>
            </a:endParaRPr>
          </a:p>
          <a:p>
            <a:pPr indent="-211300" lvl="1" marL="414000" rtl="0" algn="l">
              <a:lnSpc>
                <a:spcPct val="115000"/>
              </a:lnSpc>
              <a:spcBef>
                <a:spcPts val="0"/>
              </a:spcBef>
              <a:spcAft>
                <a:spcPts val="0"/>
              </a:spcAft>
              <a:buClr>
                <a:srgbClr val="93C47D"/>
              </a:buClr>
              <a:buSzPts val="1400"/>
              <a:buFont typeface="Nunito"/>
              <a:buChar char="○"/>
            </a:pPr>
            <a:r>
              <a:rPr lang="fr">
                <a:solidFill>
                  <a:schemeClr val="dk2"/>
                </a:solidFill>
                <a:latin typeface="Nunito"/>
                <a:ea typeface="Nunito"/>
                <a:cs typeface="Nunito"/>
                <a:sym typeface="Nunito"/>
              </a:rPr>
              <a:t>PID (+/-) = (+/-) 211</a:t>
            </a:r>
            <a:endParaRPr>
              <a:solidFill>
                <a:schemeClr val="dk2"/>
              </a:solidFill>
              <a:latin typeface="Nunito"/>
              <a:ea typeface="Nunito"/>
              <a:cs typeface="Nunito"/>
              <a:sym typeface="Nunito"/>
            </a:endParaRPr>
          </a:p>
          <a:p>
            <a:pPr indent="-211300" lvl="1" marL="414000" rtl="0" algn="l">
              <a:lnSpc>
                <a:spcPct val="115000"/>
              </a:lnSpc>
              <a:spcBef>
                <a:spcPts val="0"/>
              </a:spcBef>
              <a:spcAft>
                <a:spcPts val="0"/>
              </a:spcAft>
              <a:buClr>
                <a:srgbClr val="93C47D"/>
              </a:buClr>
              <a:buSzPts val="1400"/>
              <a:buFont typeface="Nunito"/>
              <a:buChar char="○"/>
            </a:pPr>
            <a:r>
              <a:rPr lang="fr">
                <a:solidFill>
                  <a:schemeClr val="dk2"/>
                </a:solidFill>
                <a:latin typeface="Nunito"/>
                <a:ea typeface="Nunito"/>
                <a:cs typeface="Nunito"/>
                <a:sym typeface="Nunito"/>
              </a:rPr>
              <a:t>-10 &lt; chi2pid &lt; 10</a:t>
            </a:r>
            <a:endParaRPr>
              <a:solidFill>
                <a:schemeClr val="dk2"/>
              </a:solidFill>
              <a:latin typeface="Nunito"/>
              <a:ea typeface="Nunito"/>
              <a:cs typeface="Nunito"/>
              <a:sym typeface="Nunito"/>
            </a:endParaRPr>
          </a:p>
          <a:p>
            <a:pPr indent="-211300" lvl="1" marL="414000" rtl="0" algn="l">
              <a:lnSpc>
                <a:spcPct val="115000"/>
              </a:lnSpc>
              <a:spcBef>
                <a:spcPts val="0"/>
              </a:spcBef>
              <a:spcAft>
                <a:spcPts val="0"/>
              </a:spcAft>
              <a:buClr>
                <a:srgbClr val="93C47D"/>
              </a:buClr>
              <a:buSzPts val="1400"/>
              <a:buFont typeface="Nunito"/>
              <a:buChar char="○"/>
            </a:pPr>
            <a:r>
              <a:rPr lang="fr">
                <a:solidFill>
                  <a:schemeClr val="dk2"/>
                </a:solidFill>
                <a:latin typeface="Nunito"/>
                <a:ea typeface="Nunito"/>
                <a:cs typeface="Nunito"/>
                <a:sym typeface="Nunito"/>
              </a:rPr>
              <a:t>Vz cuts depending on the target</a:t>
            </a:r>
            <a:endParaRPr/>
          </a:p>
        </p:txBody>
      </p:sp>
      <p:pic>
        <p:nvPicPr>
          <p:cNvPr id="265" name="Google Shape;265;p32"/>
          <p:cNvPicPr preferRelativeResize="0"/>
          <p:nvPr/>
        </p:nvPicPr>
        <p:blipFill>
          <a:blip r:embed="rId3">
            <a:alphaModFix/>
          </a:blip>
          <a:stretch>
            <a:fillRect/>
          </a:stretch>
        </p:blipFill>
        <p:spPr>
          <a:xfrm>
            <a:off x="137650" y="1991725"/>
            <a:ext cx="4311727" cy="2854176"/>
          </a:xfrm>
          <a:prstGeom prst="rect">
            <a:avLst/>
          </a:prstGeom>
          <a:noFill/>
          <a:ln>
            <a:noFill/>
          </a:ln>
        </p:spPr>
      </p:pic>
      <p:pic>
        <p:nvPicPr>
          <p:cNvPr id="266" name="Google Shape;266;p32"/>
          <p:cNvPicPr preferRelativeResize="0"/>
          <p:nvPr/>
        </p:nvPicPr>
        <p:blipFill>
          <a:blip r:embed="rId4">
            <a:alphaModFix/>
          </a:blip>
          <a:stretch>
            <a:fillRect/>
          </a:stretch>
        </p:blipFill>
        <p:spPr>
          <a:xfrm>
            <a:off x="4572002" y="1969837"/>
            <a:ext cx="4389822" cy="2897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3"/>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RG-D CT Study: Kinematical Cuts</a:t>
            </a:r>
            <a:endParaRPr/>
          </a:p>
        </p:txBody>
      </p:sp>
      <p:sp>
        <p:nvSpPr>
          <p:cNvPr id="272" name="Google Shape;272;p33"/>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
        <p:nvSpPr>
          <p:cNvPr id="273" name="Google Shape;273;p33"/>
          <p:cNvSpPr txBox="1"/>
          <p:nvPr/>
        </p:nvSpPr>
        <p:spPr>
          <a:xfrm>
            <a:off x="122400" y="694000"/>
            <a:ext cx="8899200" cy="3410700"/>
          </a:xfrm>
          <a:prstGeom prst="rect">
            <a:avLst/>
          </a:prstGeom>
          <a:noFill/>
          <a:ln>
            <a:noFill/>
          </a:ln>
        </p:spPr>
        <p:txBody>
          <a:bodyPr anchorCtr="0" anchor="t" bIns="0" lIns="0" spcFirstLastPara="1" rIns="0" wrap="square" tIns="0">
            <a:spAutoFit/>
          </a:bodyPr>
          <a:lstStyle/>
          <a:p>
            <a:pPr indent="-194349" lvl="0" marL="208799" rtl="0" algn="l">
              <a:lnSpc>
                <a:spcPct val="115000"/>
              </a:lnSpc>
              <a:spcBef>
                <a:spcPts val="0"/>
              </a:spcBef>
              <a:spcAft>
                <a:spcPts val="0"/>
              </a:spcAft>
              <a:buClr>
                <a:srgbClr val="93C47D"/>
              </a:buClr>
              <a:buSzPts val="1700"/>
              <a:buFont typeface="Nunito"/>
              <a:buChar char="●"/>
            </a:pPr>
            <a:r>
              <a:rPr lang="fr" sz="1700">
                <a:solidFill>
                  <a:schemeClr val="dk2"/>
                </a:solidFill>
                <a:latin typeface="Courier New"/>
                <a:ea typeface="Courier New"/>
                <a:cs typeface="Courier New"/>
                <a:sym typeface="Courier New"/>
              </a:rPr>
              <a:t>ν</a:t>
            </a:r>
            <a:r>
              <a:rPr lang="fr" sz="1700">
                <a:solidFill>
                  <a:schemeClr val="dk2"/>
                </a:solidFill>
                <a:latin typeface="Nunito"/>
                <a:ea typeface="Nunito"/>
                <a:cs typeface="Nunito"/>
                <a:sym typeface="Nunito"/>
              </a:rPr>
              <a:t>= E - E’: virtual photon(γ*) energy in the Lab frame,</a:t>
            </a:r>
            <a:endParaRPr sz="1700">
              <a:solidFill>
                <a:schemeClr val="dk2"/>
              </a:solidFill>
              <a:latin typeface="Nunito"/>
              <a:ea typeface="Nunito"/>
              <a:cs typeface="Nunito"/>
              <a:sym typeface="Nunito"/>
            </a:endParaRPr>
          </a:p>
          <a:p>
            <a:pPr indent="-194349" lvl="0" marL="208799" rtl="0" algn="l">
              <a:lnSpc>
                <a:spcPct val="115000"/>
              </a:lnSpc>
              <a:spcBef>
                <a:spcPts val="0"/>
              </a:spcBef>
              <a:spcAft>
                <a:spcPts val="0"/>
              </a:spcAft>
              <a:buClr>
                <a:srgbClr val="93C47D"/>
              </a:buClr>
              <a:buSzPts val="1700"/>
              <a:buFont typeface="Nunito"/>
              <a:buChar char="●"/>
            </a:pPr>
            <a:r>
              <a:rPr lang="fr" sz="1700">
                <a:solidFill>
                  <a:schemeClr val="dk2"/>
                </a:solidFill>
                <a:latin typeface="Nunito"/>
                <a:ea typeface="Nunito"/>
                <a:cs typeface="Nunito"/>
                <a:sym typeface="Nunito"/>
              </a:rPr>
              <a:t>Q</a:t>
            </a:r>
            <a:r>
              <a:rPr baseline="30000" lang="fr" sz="1700">
                <a:solidFill>
                  <a:schemeClr val="dk2"/>
                </a:solidFill>
                <a:latin typeface="Nunito"/>
                <a:ea typeface="Nunito"/>
                <a:cs typeface="Nunito"/>
                <a:sym typeface="Nunito"/>
              </a:rPr>
              <a:t>2</a:t>
            </a:r>
            <a:r>
              <a:rPr lang="fr" sz="1700">
                <a:solidFill>
                  <a:schemeClr val="dk2"/>
                </a:solidFill>
                <a:latin typeface="Nunito"/>
                <a:ea typeface="Nunito"/>
                <a:cs typeface="Nunito"/>
                <a:sym typeface="Nunito"/>
              </a:rPr>
              <a:t>= -(P</a:t>
            </a:r>
            <a:r>
              <a:rPr baseline="-25000" lang="fr" sz="1700">
                <a:solidFill>
                  <a:schemeClr val="dk2"/>
                </a:solidFill>
                <a:latin typeface="Nunito"/>
                <a:ea typeface="Nunito"/>
                <a:cs typeface="Nunito"/>
                <a:sym typeface="Nunito"/>
              </a:rPr>
              <a:t>e</a:t>
            </a:r>
            <a:r>
              <a:rPr lang="fr" sz="1700">
                <a:solidFill>
                  <a:schemeClr val="dk2"/>
                </a:solidFill>
                <a:latin typeface="Nunito"/>
                <a:ea typeface="Nunito"/>
                <a:cs typeface="Nunito"/>
                <a:sym typeface="Nunito"/>
              </a:rPr>
              <a:t>- P</a:t>
            </a:r>
            <a:r>
              <a:rPr baseline="-25000" lang="fr" sz="1700">
                <a:solidFill>
                  <a:schemeClr val="dk2"/>
                </a:solidFill>
                <a:latin typeface="Nunito"/>
                <a:ea typeface="Nunito"/>
                <a:cs typeface="Nunito"/>
                <a:sym typeface="Nunito"/>
              </a:rPr>
              <a:t>e’</a:t>
            </a:r>
            <a:r>
              <a:rPr lang="fr" sz="1700">
                <a:solidFill>
                  <a:schemeClr val="dk2"/>
                </a:solidFill>
                <a:latin typeface="Nunito"/>
                <a:ea typeface="Nunito"/>
                <a:cs typeface="Nunito"/>
                <a:sym typeface="Nunito"/>
              </a:rPr>
              <a:t>)</a:t>
            </a:r>
            <a:r>
              <a:rPr baseline="30000" lang="fr" sz="1700">
                <a:solidFill>
                  <a:schemeClr val="dk2"/>
                </a:solidFill>
                <a:latin typeface="Nunito"/>
                <a:ea typeface="Nunito"/>
                <a:cs typeface="Nunito"/>
                <a:sym typeface="Nunito"/>
              </a:rPr>
              <a:t>2</a:t>
            </a:r>
            <a:r>
              <a:rPr lang="fr" sz="1700">
                <a:solidFill>
                  <a:schemeClr val="dk2"/>
                </a:solidFill>
                <a:latin typeface="Nunito"/>
                <a:ea typeface="Nunito"/>
                <a:cs typeface="Nunito"/>
                <a:sym typeface="Nunito"/>
              </a:rPr>
              <a:t>= 4EE’sin</a:t>
            </a:r>
            <a:r>
              <a:rPr baseline="30000" lang="fr" sz="1700">
                <a:solidFill>
                  <a:schemeClr val="dk2"/>
                </a:solidFill>
                <a:latin typeface="Nunito"/>
                <a:ea typeface="Nunito"/>
                <a:cs typeface="Nunito"/>
                <a:sym typeface="Nunito"/>
              </a:rPr>
              <a:t>2</a:t>
            </a:r>
            <a:r>
              <a:rPr lang="fr" sz="1700">
                <a:solidFill>
                  <a:schemeClr val="dk2"/>
                </a:solidFill>
                <a:latin typeface="Nunito"/>
                <a:ea typeface="Nunito"/>
                <a:cs typeface="Nunito"/>
                <a:sym typeface="Nunito"/>
              </a:rPr>
              <a:t>(θ/2): photon virtuality,</a:t>
            </a:r>
            <a:endParaRPr sz="1700">
              <a:solidFill>
                <a:schemeClr val="dk2"/>
              </a:solidFill>
              <a:latin typeface="Nunito"/>
              <a:ea typeface="Nunito"/>
              <a:cs typeface="Nunito"/>
              <a:sym typeface="Nunito"/>
            </a:endParaRPr>
          </a:p>
          <a:p>
            <a:pPr indent="-194349" lvl="0" marL="208799" rtl="0" algn="l">
              <a:lnSpc>
                <a:spcPct val="115000"/>
              </a:lnSpc>
              <a:spcBef>
                <a:spcPts val="0"/>
              </a:spcBef>
              <a:spcAft>
                <a:spcPts val="0"/>
              </a:spcAft>
              <a:buClr>
                <a:srgbClr val="93C47D"/>
              </a:buClr>
              <a:buSzPts val="1700"/>
              <a:buFont typeface="Nunito"/>
              <a:buChar char="●"/>
            </a:pPr>
            <a:r>
              <a:rPr lang="fr" sz="1700">
                <a:solidFill>
                  <a:schemeClr val="dk2"/>
                </a:solidFill>
                <a:latin typeface="Nunito"/>
                <a:ea typeface="Nunito"/>
                <a:cs typeface="Nunito"/>
                <a:sym typeface="Nunito"/>
              </a:rPr>
              <a:t>t= (P</a:t>
            </a:r>
            <a:r>
              <a:rPr baseline="-25000" lang="fr" sz="1700">
                <a:solidFill>
                  <a:schemeClr val="dk2"/>
                </a:solidFill>
                <a:latin typeface="Nunito"/>
                <a:ea typeface="Nunito"/>
                <a:cs typeface="Nunito"/>
                <a:sym typeface="Nunito"/>
              </a:rPr>
              <a:t>γ* </a:t>
            </a:r>
            <a:r>
              <a:rPr lang="fr" sz="1700">
                <a:solidFill>
                  <a:schemeClr val="dk2"/>
                </a:solidFill>
                <a:latin typeface="Nunito"/>
                <a:ea typeface="Nunito"/>
                <a:cs typeface="Nunito"/>
                <a:sym typeface="Nunito"/>
              </a:rPr>
              <a:t>- P</a:t>
            </a:r>
            <a:r>
              <a:rPr baseline="-25000" lang="fr" sz="1700">
                <a:solidFill>
                  <a:schemeClr val="dk2"/>
                </a:solidFill>
                <a:latin typeface="Nunito"/>
                <a:ea typeface="Nunito"/>
                <a:cs typeface="Nunito"/>
                <a:sym typeface="Nunito"/>
              </a:rPr>
              <a:t>γ</a:t>
            </a:r>
            <a:r>
              <a:rPr lang="fr" sz="1700">
                <a:solidFill>
                  <a:schemeClr val="dk2"/>
                </a:solidFill>
                <a:latin typeface="Nunito"/>
                <a:ea typeface="Nunito"/>
                <a:cs typeface="Nunito"/>
                <a:sym typeface="Nunito"/>
              </a:rPr>
              <a:t>)</a:t>
            </a:r>
            <a:r>
              <a:rPr baseline="30000" lang="fr" sz="1700">
                <a:solidFill>
                  <a:schemeClr val="dk2"/>
                </a:solidFill>
                <a:latin typeface="Nunito"/>
                <a:ea typeface="Nunito"/>
                <a:cs typeface="Nunito"/>
                <a:sym typeface="Nunito"/>
              </a:rPr>
              <a:t>2</a:t>
            </a:r>
            <a:r>
              <a:rPr lang="fr" sz="1700">
                <a:solidFill>
                  <a:schemeClr val="dk2"/>
                </a:solidFill>
                <a:latin typeface="Nunito"/>
                <a:ea typeface="Nunito"/>
                <a:cs typeface="Nunito"/>
                <a:sym typeface="Nunito"/>
              </a:rPr>
              <a:t>: momentum transfer square,</a:t>
            </a:r>
            <a:endParaRPr sz="1700">
              <a:solidFill>
                <a:schemeClr val="dk2"/>
              </a:solidFill>
              <a:latin typeface="Nunito"/>
              <a:ea typeface="Nunito"/>
              <a:cs typeface="Nunito"/>
              <a:sym typeface="Nunito"/>
            </a:endParaRPr>
          </a:p>
          <a:p>
            <a:pPr indent="-194349" lvl="0" marL="208799" rtl="0" algn="l">
              <a:lnSpc>
                <a:spcPct val="200000"/>
              </a:lnSpc>
              <a:spcBef>
                <a:spcPts val="0"/>
              </a:spcBef>
              <a:spcAft>
                <a:spcPts val="0"/>
              </a:spcAft>
              <a:buClr>
                <a:srgbClr val="93C47D"/>
              </a:buClr>
              <a:buSzPts val="1700"/>
              <a:buFont typeface="Nunito"/>
              <a:buChar char="●"/>
            </a:pPr>
            <a:r>
              <a:rPr lang="fr" sz="1700">
                <a:solidFill>
                  <a:schemeClr val="dk2"/>
                </a:solidFill>
                <a:latin typeface="Nunito"/>
                <a:ea typeface="Nunito"/>
                <a:cs typeface="Nunito"/>
                <a:sym typeface="Nunito"/>
              </a:rPr>
              <a:t>W</a:t>
            </a:r>
            <a:r>
              <a:rPr baseline="30000" lang="fr" sz="1700">
                <a:solidFill>
                  <a:schemeClr val="dk2"/>
                </a:solidFill>
                <a:latin typeface="Nunito"/>
                <a:ea typeface="Nunito"/>
                <a:cs typeface="Nunito"/>
                <a:sym typeface="Nunito"/>
              </a:rPr>
              <a:t>2</a:t>
            </a:r>
            <a:r>
              <a:rPr lang="fr" sz="1700">
                <a:solidFill>
                  <a:schemeClr val="dk2"/>
                </a:solidFill>
                <a:latin typeface="Nunito"/>
                <a:ea typeface="Nunito"/>
                <a:cs typeface="Nunito"/>
                <a:sym typeface="Nunito"/>
              </a:rPr>
              <a:t>= (P</a:t>
            </a:r>
            <a:r>
              <a:rPr baseline="-25000" lang="fr" sz="1700">
                <a:solidFill>
                  <a:schemeClr val="dk2"/>
                </a:solidFill>
                <a:latin typeface="Nunito"/>
                <a:ea typeface="Nunito"/>
                <a:cs typeface="Nunito"/>
                <a:sym typeface="Nunito"/>
              </a:rPr>
              <a:t>in</a:t>
            </a:r>
            <a:r>
              <a:rPr lang="fr" sz="1700">
                <a:solidFill>
                  <a:schemeClr val="dk2"/>
                </a:solidFill>
                <a:latin typeface="Nunito"/>
                <a:ea typeface="Nunito"/>
                <a:cs typeface="Nunito"/>
                <a:sym typeface="Nunito"/>
              </a:rPr>
              <a:t> + P</a:t>
            </a:r>
            <a:r>
              <a:rPr baseline="-25000" lang="fr" sz="1700">
                <a:solidFill>
                  <a:schemeClr val="dk2"/>
                </a:solidFill>
                <a:latin typeface="Nunito"/>
                <a:ea typeface="Nunito"/>
                <a:cs typeface="Nunito"/>
                <a:sym typeface="Nunito"/>
              </a:rPr>
              <a:t>γ*</a:t>
            </a:r>
            <a:r>
              <a:rPr lang="fr" sz="1700">
                <a:solidFill>
                  <a:schemeClr val="dk2"/>
                </a:solidFill>
                <a:latin typeface="Nunito"/>
                <a:ea typeface="Nunito"/>
                <a:cs typeface="Nunito"/>
                <a:sym typeface="Nunito"/>
              </a:rPr>
              <a:t>)</a:t>
            </a:r>
            <a:r>
              <a:rPr baseline="30000" lang="fr" sz="1700">
                <a:solidFill>
                  <a:schemeClr val="dk2"/>
                </a:solidFill>
                <a:latin typeface="Nunito"/>
                <a:ea typeface="Nunito"/>
                <a:cs typeface="Nunito"/>
                <a:sym typeface="Nunito"/>
              </a:rPr>
              <a:t>2</a:t>
            </a:r>
            <a:r>
              <a:rPr lang="fr" sz="1700">
                <a:solidFill>
                  <a:schemeClr val="dk2"/>
                </a:solidFill>
                <a:latin typeface="Nunito"/>
                <a:ea typeface="Nunito"/>
                <a:cs typeface="Nunito"/>
                <a:sym typeface="Nunito"/>
              </a:rPr>
              <a:t>= -Q</a:t>
            </a:r>
            <a:r>
              <a:rPr baseline="30000" lang="fr" sz="1700">
                <a:solidFill>
                  <a:schemeClr val="dk2"/>
                </a:solidFill>
                <a:latin typeface="Nunito"/>
                <a:ea typeface="Nunito"/>
                <a:cs typeface="Nunito"/>
                <a:sym typeface="Nunito"/>
              </a:rPr>
              <a:t>2</a:t>
            </a:r>
            <a:r>
              <a:rPr lang="fr" sz="1700">
                <a:solidFill>
                  <a:schemeClr val="dk2"/>
                </a:solidFill>
                <a:latin typeface="Nunito"/>
                <a:ea typeface="Nunito"/>
                <a:cs typeface="Nunito"/>
                <a:sym typeface="Nunito"/>
              </a:rPr>
              <a:t> + M</a:t>
            </a:r>
            <a:r>
              <a:rPr baseline="-25000" lang="fr" sz="1700">
                <a:solidFill>
                  <a:schemeClr val="dk2"/>
                </a:solidFill>
                <a:latin typeface="Nunito"/>
                <a:ea typeface="Nunito"/>
                <a:cs typeface="Nunito"/>
                <a:sym typeface="Nunito"/>
              </a:rPr>
              <a:t>p</a:t>
            </a:r>
            <a:r>
              <a:rPr baseline="30000" lang="fr" sz="1700">
                <a:solidFill>
                  <a:schemeClr val="dk2"/>
                </a:solidFill>
                <a:latin typeface="Nunito"/>
                <a:ea typeface="Nunito"/>
                <a:cs typeface="Nunito"/>
                <a:sym typeface="Nunito"/>
              </a:rPr>
              <a:t>2</a:t>
            </a:r>
            <a:r>
              <a:rPr lang="fr" sz="1700">
                <a:solidFill>
                  <a:schemeClr val="dk2"/>
                </a:solidFill>
                <a:latin typeface="Nunito"/>
                <a:ea typeface="Nunito"/>
                <a:cs typeface="Nunito"/>
                <a:sym typeface="Nunito"/>
              </a:rPr>
              <a:t> + 2M</a:t>
            </a:r>
            <a:r>
              <a:rPr baseline="-25000" lang="fr" sz="1700">
                <a:solidFill>
                  <a:schemeClr val="dk2"/>
                </a:solidFill>
                <a:latin typeface="Nunito"/>
                <a:ea typeface="Nunito"/>
                <a:cs typeface="Nunito"/>
                <a:sym typeface="Nunito"/>
              </a:rPr>
              <a:t>p</a:t>
            </a:r>
            <a:r>
              <a:rPr lang="fr" sz="1700">
                <a:solidFill>
                  <a:schemeClr val="dk2"/>
                </a:solidFill>
                <a:latin typeface="Courier New"/>
                <a:ea typeface="Courier New"/>
                <a:cs typeface="Courier New"/>
                <a:sym typeface="Courier New"/>
              </a:rPr>
              <a:t>ν</a:t>
            </a:r>
            <a:r>
              <a:rPr lang="fr" sz="1700">
                <a:solidFill>
                  <a:schemeClr val="dk2"/>
                </a:solidFill>
                <a:latin typeface="Nunito"/>
                <a:ea typeface="Nunito"/>
                <a:cs typeface="Nunito"/>
                <a:sym typeface="Nunito"/>
              </a:rPr>
              <a:t>: invariant mass squared in (γ*, p) center of mass (CM)</a:t>
            </a:r>
            <a:endParaRPr sz="1700">
              <a:solidFill>
                <a:schemeClr val="dk2"/>
              </a:solidFill>
              <a:latin typeface="Nunito"/>
              <a:ea typeface="Nunito"/>
              <a:cs typeface="Nunito"/>
              <a:sym typeface="Nunito"/>
            </a:endParaRPr>
          </a:p>
          <a:p>
            <a:pPr indent="-164700" lvl="0" marL="172800" rtl="0" algn="l">
              <a:lnSpc>
                <a:spcPct val="115000"/>
              </a:lnSpc>
              <a:spcBef>
                <a:spcPts val="1000"/>
              </a:spcBef>
              <a:spcAft>
                <a:spcPts val="0"/>
              </a:spcAft>
              <a:buClr>
                <a:srgbClr val="93C47D"/>
              </a:buClr>
              <a:buSzPts val="1800"/>
              <a:buFont typeface="Nunito"/>
              <a:buChar char="●"/>
            </a:pPr>
            <a:r>
              <a:rPr lang="fr" sz="1800">
                <a:solidFill>
                  <a:schemeClr val="dk2"/>
                </a:solidFill>
                <a:latin typeface="Nunito"/>
                <a:ea typeface="Nunito"/>
                <a:cs typeface="Nunito"/>
                <a:sym typeface="Nunito"/>
              </a:rPr>
              <a:t>Kinematical cuts:</a:t>
            </a:r>
            <a:endParaRPr sz="1800">
              <a:solidFill>
                <a:schemeClr val="dk2"/>
              </a:solidFill>
              <a:latin typeface="Nunito"/>
              <a:ea typeface="Nunito"/>
              <a:cs typeface="Nunito"/>
              <a:sym typeface="Nunito"/>
            </a:endParaRPr>
          </a:p>
          <a:p>
            <a:pPr indent="-188001" lvl="1" marL="378000" rtl="0" algn="l">
              <a:lnSpc>
                <a:spcPct val="115000"/>
              </a:lnSpc>
              <a:spcBef>
                <a:spcPts val="0"/>
              </a:spcBef>
              <a:spcAft>
                <a:spcPts val="0"/>
              </a:spcAft>
              <a:buClr>
                <a:srgbClr val="93C47D"/>
              </a:buClr>
              <a:buSzPts val="1600"/>
              <a:buFont typeface="Nunito"/>
              <a:buChar char="○"/>
            </a:pPr>
            <a:r>
              <a:rPr lang="fr" sz="1600">
                <a:solidFill>
                  <a:schemeClr val="dk2"/>
                </a:solidFill>
                <a:latin typeface="Nunito"/>
                <a:ea typeface="Nunito"/>
                <a:cs typeface="Nunito"/>
                <a:sym typeface="Nunito"/>
              </a:rPr>
              <a:t>W&gt; 2 GeV ↦ avoid resonance region</a:t>
            </a:r>
            <a:endParaRPr sz="1600">
              <a:solidFill>
                <a:schemeClr val="dk2"/>
              </a:solidFill>
              <a:latin typeface="Nunito"/>
              <a:ea typeface="Nunito"/>
              <a:cs typeface="Nunito"/>
              <a:sym typeface="Nunito"/>
            </a:endParaRPr>
          </a:p>
          <a:p>
            <a:pPr indent="-175301" lvl="1" marL="378000" rtl="0" algn="l">
              <a:lnSpc>
                <a:spcPct val="115000"/>
              </a:lnSpc>
              <a:spcBef>
                <a:spcPts val="0"/>
              </a:spcBef>
              <a:spcAft>
                <a:spcPts val="0"/>
              </a:spcAft>
              <a:buClr>
                <a:srgbClr val="93C47D"/>
              </a:buClr>
              <a:buSzPts val="1400"/>
              <a:buFont typeface="Nunito"/>
              <a:buChar char="○"/>
            </a:pPr>
            <a:r>
              <a:rPr lang="fr" sz="1600">
                <a:solidFill>
                  <a:schemeClr val="dk2"/>
                </a:solidFill>
                <a:latin typeface="Nunito"/>
                <a:ea typeface="Nunito"/>
                <a:cs typeface="Nunito"/>
                <a:sym typeface="Nunito"/>
              </a:rPr>
              <a:t>z</a:t>
            </a:r>
            <a:r>
              <a:rPr baseline="-25000" lang="fr" sz="1600">
                <a:solidFill>
                  <a:schemeClr val="dk2"/>
                </a:solidFill>
                <a:latin typeface="Nunito"/>
                <a:ea typeface="Nunito"/>
                <a:cs typeface="Nunito"/>
                <a:sym typeface="Nunito"/>
              </a:rPr>
              <a:t>h</a:t>
            </a:r>
            <a:r>
              <a:rPr lang="fr" sz="1800">
                <a:solidFill>
                  <a:schemeClr val="dk2"/>
                </a:solidFill>
                <a:latin typeface="Nunito"/>
                <a:ea typeface="Nunito"/>
                <a:cs typeface="Nunito"/>
                <a:sym typeface="Nunito"/>
              </a:rPr>
              <a:t>= E</a:t>
            </a:r>
            <a:r>
              <a:rPr baseline="-25000" lang="fr" sz="1800">
                <a:solidFill>
                  <a:schemeClr val="dk2"/>
                </a:solidFill>
                <a:latin typeface="Nunito"/>
                <a:ea typeface="Nunito"/>
                <a:cs typeface="Nunito"/>
                <a:sym typeface="Nunito"/>
              </a:rPr>
              <a:t>h</a:t>
            </a:r>
            <a:r>
              <a:rPr lang="fr" sz="1800">
                <a:solidFill>
                  <a:schemeClr val="dk2"/>
                </a:solidFill>
                <a:latin typeface="Nunito"/>
                <a:ea typeface="Nunito"/>
                <a:cs typeface="Nunito"/>
                <a:sym typeface="Nunito"/>
              </a:rPr>
              <a:t>/</a:t>
            </a:r>
            <a:r>
              <a:rPr lang="fr" sz="1800">
                <a:solidFill>
                  <a:schemeClr val="dk2"/>
                </a:solidFill>
                <a:latin typeface="Courier New"/>
                <a:ea typeface="Courier New"/>
                <a:cs typeface="Courier New"/>
                <a:sym typeface="Courier New"/>
              </a:rPr>
              <a:t>ν </a:t>
            </a:r>
            <a:r>
              <a:rPr lang="fr" sz="1600">
                <a:solidFill>
                  <a:schemeClr val="dk2"/>
                </a:solidFill>
                <a:latin typeface="Nunito"/>
                <a:ea typeface="Nunito"/>
                <a:cs typeface="Nunito"/>
                <a:sym typeface="Nunito"/>
              </a:rPr>
              <a:t>&gt; 0.9 ↦ select elastic channel</a:t>
            </a:r>
            <a:endParaRPr sz="1600">
              <a:solidFill>
                <a:schemeClr val="dk2"/>
              </a:solidFill>
              <a:latin typeface="Nunito"/>
              <a:ea typeface="Nunito"/>
              <a:cs typeface="Nunito"/>
              <a:sym typeface="Nunito"/>
            </a:endParaRPr>
          </a:p>
          <a:p>
            <a:pPr indent="-188001" lvl="1" marL="378000" rtl="0" algn="l">
              <a:lnSpc>
                <a:spcPct val="115000"/>
              </a:lnSpc>
              <a:spcBef>
                <a:spcPts val="0"/>
              </a:spcBef>
              <a:spcAft>
                <a:spcPts val="0"/>
              </a:spcAft>
              <a:buClr>
                <a:srgbClr val="93C47D"/>
              </a:buClr>
              <a:buSzPts val="1600"/>
              <a:buFont typeface="Nunito"/>
              <a:buChar char="○"/>
            </a:pPr>
            <a:r>
              <a:rPr lang="fr" sz="1600">
                <a:solidFill>
                  <a:schemeClr val="dk2"/>
                </a:solidFill>
                <a:latin typeface="Nunito"/>
                <a:ea typeface="Nunito"/>
                <a:cs typeface="Nunito"/>
                <a:sym typeface="Nunito"/>
              </a:rPr>
              <a:t>-t &gt; 0.1 GeV</a:t>
            </a:r>
            <a:r>
              <a:rPr baseline="30000" lang="fr" sz="1600">
                <a:solidFill>
                  <a:schemeClr val="dk2"/>
                </a:solidFill>
                <a:latin typeface="Nunito"/>
                <a:ea typeface="Nunito"/>
                <a:cs typeface="Nunito"/>
                <a:sym typeface="Nunito"/>
              </a:rPr>
              <a:t>2 </a:t>
            </a:r>
            <a:r>
              <a:rPr lang="fr" sz="1600">
                <a:solidFill>
                  <a:schemeClr val="dk2"/>
                </a:solidFill>
                <a:latin typeface="Nunito"/>
                <a:ea typeface="Nunito"/>
                <a:cs typeface="Nunito"/>
                <a:sym typeface="Nunito"/>
              </a:rPr>
              <a:t>↦ exclude coherent production</a:t>
            </a:r>
            <a:endParaRPr sz="1600">
              <a:solidFill>
                <a:schemeClr val="dk2"/>
              </a:solidFill>
              <a:latin typeface="Nunito"/>
              <a:ea typeface="Nunito"/>
              <a:cs typeface="Nunito"/>
              <a:sym typeface="Nunito"/>
            </a:endParaRPr>
          </a:p>
          <a:p>
            <a:pPr indent="-188001" lvl="1" marL="378000" rtl="0" algn="l">
              <a:lnSpc>
                <a:spcPct val="115000"/>
              </a:lnSpc>
              <a:spcBef>
                <a:spcPts val="0"/>
              </a:spcBef>
              <a:spcAft>
                <a:spcPts val="0"/>
              </a:spcAft>
              <a:buClr>
                <a:srgbClr val="93C47D"/>
              </a:buClr>
              <a:buSzPts val="1600"/>
              <a:buFont typeface="Nunito"/>
              <a:buChar char="○"/>
            </a:pPr>
            <a:r>
              <a:rPr lang="fr" sz="1600">
                <a:solidFill>
                  <a:schemeClr val="dk2"/>
                </a:solidFill>
                <a:latin typeface="Nunito"/>
                <a:ea typeface="Nunito"/>
                <a:cs typeface="Nunito"/>
                <a:sym typeface="Nunito"/>
              </a:rPr>
              <a:t>-t &lt; 0.5 GeV</a:t>
            </a:r>
            <a:r>
              <a:rPr baseline="30000" lang="fr" sz="1600">
                <a:solidFill>
                  <a:schemeClr val="dk2"/>
                </a:solidFill>
                <a:latin typeface="Nunito"/>
                <a:ea typeface="Nunito"/>
                <a:cs typeface="Nunito"/>
                <a:sym typeface="Nunito"/>
              </a:rPr>
              <a:t>2 </a:t>
            </a:r>
            <a:r>
              <a:rPr lang="fr" sz="1600">
                <a:solidFill>
                  <a:schemeClr val="dk2"/>
                </a:solidFill>
                <a:latin typeface="Nunito"/>
                <a:ea typeface="Nunito"/>
                <a:cs typeface="Nunito"/>
                <a:sym typeface="Nunito"/>
              </a:rPr>
              <a:t>↦ select diffractive process</a:t>
            </a:r>
            <a:endParaRPr sz="1600">
              <a:solidFill>
                <a:schemeClr val="dk2"/>
              </a:solidFill>
              <a:latin typeface="Nunito"/>
              <a:ea typeface="Nunito"/>
              <a:cs typeface="Nunito"/>
              <a:sym typeface="Nunito"/>
            </a:endParaRPr>
          </a:p>
          <a:p>
            <a:pPr indent="0" lvl="0" marL="0" rtl="0" algn="l">
              <a:lnSpc>
                <a:spcPct val="115000"/>
              </a:lnSpc>
              <a:spcBef>
                <a:spcPts val="1200"/>
              </a:spcBef>
              <a:spcAft>
                <a:spcPts val="1200"/>
              </a:spcAft>
              <a:buNone/>
            </a:pPr>
            <a:r>
              <a:t/>
            </a:r>
            <a:endParaRPr>
              <a:solidFill>
                <a:schemeClr val="dk2"/>
              </a:solidFill>
              <a:latin typeface="Nunito"/>
              <a:ea typeface="Nunito"/>
              <a:cs typeface="Nunito"/>
              <a:sym typeface="Nunito"/>
            </a:endParaRPr>
          </a:p>
        </p:txBody>
      </p:sp>
      <p:pic>
        <p:nvPicPr>
          <p:cNvPr id="274" name="Google Shape;274;p33"/>
          <p:cNvPicPr preferRelativeResize="0"/>
          <p:nvPr/>
        </p:nvPicPr>
        <p:blipFill>
          <a:blip r:embed="rId3">
            <a:alphaModFix/>
          </a:blip>
          <a:stretch>
            <a:fillRect/>
          </a:stretch>
        </p:blipFill>
        <p:spPr>
          <a:xfrm>
            <a:off x="5190976" y="1871500"/>
            <a:ext cx="3522025" cy="2719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4"/>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CT Study: Two-pion Invariant Mass</a:t>
            </a:r>
            <a:endParaRPr/>
          </a:p>
        </p:txBody>
      </p:sp>
      <p:sp>
        <p:nvSpPr>
          <p:cNvPr id="280" name="Google Shape;280;p34"/>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pic>
        <p:nvPicPr>
          <p:cNvPr id="281" name="Google Shape;281;p34"/>
          <p:cNvPicPr preferRelativeResize="0"/>
          <p:nvPr/>
        </p:nvPicPr>
        <p:blipFill>
          <a:blip r:embed="rId3">
            <a:alphaModFix/>
          </a:blip>
          <a:stretch>
            <a:fillRect/>
          </a:stretch>
        </p:blipFill>
        <p:spPr>
          <a:xfrm>
            <a:off x="712225" y="647400"/>
            <a:ext cx="7823598" cy="40658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35"/>
          <p:cNvPicPr preferRelativeResize="0"/>
          <p:nvPr/>
        </p:nvPicPr>
        <p:blipFill>
          <a:blip r:embed="rId3">
            <a:alphaModFix/>
          </a:blip>
          <a:stretch>
            <a:fillRect/>
          </a:stretch>
        </p:blipFill>
        <p:spPr>
          <a:xfrm>
            <a:off x="4670625" y="1537777"/>
            <a:ext cx="4322875" cy="3261024"/>
          </a:xfrm>
          <a:prstGeom prst="rect">
            <a:avLst/>
          </a:prstGeom>
          <a:noFill/>
          <a:ln>
            <a:noFill/>
          </a:ln>
        </p:spPr>
      </p:pic>
      <p:pic>
        <p:nvPicPr>
          <p:cNvPr id="287" name="Google Shape;287;p35"/>
          <p:cNvPicPr preferRelativeResize="0"/>
          <p:nvPr/>
        </p:nvPicPr>
        <p:blipFill>
          <a:blip r:embed="rId4">
            <a:alphaModFix/>
          </a:blip>
          <a:stretch>
            <a:fillRect/>
          </a:stretch>
        </p:blipFill>
        <p:spPr>
          <a:xfrm>
            <a:off x="81175" y="1571350"/>
            <a:ext cx="4322875" cy="3262249"/>
          </a:xfrm>
          <a:prstGeom prst="rect">
            <a:avLst/>
          </a:prstGeom>
          <a:noFill/>
          <a:ln>
            <a:noFill/>
          </a:ln>
        </p:spPr>
      </p:pic>
      <p:sp>
        <p:nvSpPr>
          <p:cNvPr id="288" name="Google Shape;288;p35"/>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CT Study: Yield Extraction</a:t>
            </a:r>
            <a:endParaRPr/>
          </a:p>
        </p:txBody>
      </p:sp>
      <p:sp>
        <p:nvSpPr>
          <p:cNvPr id="289" name="Google Shape;289;p35"/>
          <p:cNvSpPr txBox="1"/>
          <p:nvPr>
            <p:ph idx="1" type="body"/>
          </p:nvPr>
        </p:nvSpPr>
        <p:spPr>
          <a:xfrm>
            <a:off x="76200" y="723600"/>
            <a:ext cx="9038400" cy="966600"/>
          </a:xfrm>
          <a:prstGeom prst="rect">
            <a:avLst/>
          </a:prstGeom>
        </p:spPr>
        <p:txBody>
          <a:bodyPr anchorCtr="0" anchor="t" bIns="0" lIns="0" spcFirstLastPara="1" rIns="0" wrap="square" tIns="0">
            <a:noAutofit/>
          </a:bodyPr>
          <a:lstStyle/>
          <a:p>
            <a:pPr indent="-187999" lvl="0" marL="208799" rtl="0" algn="l">
              <a:lnSpc>
                <a:spcPct val="100000"/>
              </a:lnSpc>
              <a:spcBef>
                <a:spcPts val="0"/>
              </a:spcBef>
              <a:spcAft>
                <a:spcPts val="0"/>
              </a:spcAft>
              <a:buSzPts val="1600"/>
              <a:buFont typeface="Nunito"/>
              <a:buChar char="●"/>
            </a:pPr>
            <a:r>
              <a:rPr lang="fr" sz="1600">
                <a:latin typeface="Nunito"/>
                <a:ea typeface="Nunito"/>
                <a:cs typeface="Nunito"/>
                <a:sym typeface="Nunito"/>
              </a:rPr>
              <a:t>Fit </a:t>
            </a:r>
            <a:r>
              <a:rPr lang="fr" sz="1600">
                <a:latin typeface="Nunito"/>
                <a:ea typeface="Nunito"/>
                <a:cs typeface="Nunito"/>
                <a:sym typeface="Nunito"/>
              </a:rPr>
              <a:t>oppositely charged pions</a:t>
            </a:r>
            <a:r>
              <a:rPr lang="fr" sz="1600">
                <a:latin typeface="Nunito"/>
                <a:ea typeface="Nunito"/>
                <a:cs typeface="Nunito"/>
                <a:sym typeface="Nunito"/>
              </a:rPr>
              <a:t> invariant mass with a Breit-Wigner and 3</a:t>
            </a:r>
            <a:r>
              <a:rPr baseline="30000" lang="fr" sz="1600">
                <a:latin typeface="Nunito"/>
                <a:ea typeface="Nunito"/>
                <a:cs typeface="Nunito"/>
                <a:sym typeface="Nunito"/>
              </a:rPr>
              <a:t>rd</a:t>
            </a:r>
            <a:r>
              <a:rPr lang="fr" sz="1600">
                <a:latin typeface="Nunito"/>
                <a:ea typeface="Nunito"/>
                <a:cs typeface="Nunito"/>
                <a:sym typeface="Nunito"/>
              </a:rPr>
              <a:t>-order polynomial function (</a:t>
            </a:r>
            <a:r>
              <a:rPr i="1" lang="fr" sz="1600">
                <a:latin typeface="Nunito"/>
                <a:ea typeface="Nunito"/>
                <a:cs typeface="Nunito"/>
                <a:sym typeface="Nunito"/>
              </a:rPr>
              <a:t>the latter will be replaced with the simulated background shape</a:t>
            </a:r>
            <a:r>
              <a:rPr lang="fr" sz="1600">
                <a:latin typeface="Nunito"/>
                <a:ea typeface="Nunito"/>
                <a:cs typeface="Nunito"/>
                <a:sym typeface="Nunito"/>
              </a:rPr>
              <a:t>)</a:t>
            </a:r>
            <a:endParaRPr sz="1600">
              <a:latin typeface="Nunito"/>
              <a:ea typeface="Nunito"/>
              <a:cs typeface="Nunito"/>
              <a:sym typeface="Nunito"/>
            </a:endParaRPr>
          </a:p>
          <a:p>
            <a:pPr indent="-187999" lvl="0" marL="208799" rtl="0" algn="l">
              <a:lnSpc>
                <a:spcPct val="100000"/>
              </a:lnSpc>
              <a:spcBef>
                <a:spcPts val="0"/>
              </a:spcBef>
              <a:spcAft>
                <a:spcPts val="0"/>
              </a:spcAft>
              <a:buSzPts val="1600"/>
              <a:buFont typeface="Nunito"/>
              <a:buChar char="●"/>
            </a:pPr>
            <a:r>
              <a:rPr lang="fr" sz="1600">
                <a:latin typeface="Nunito"/>
                <a:ea typeface="Nunito"/>
                <a:cs typeface="Nunito"/>
                <a:sym typeface="Nunito"/>
              </a:rPr>
              <a:t>Extract ρ</a:t>
            </a:r>
            <a:r>
              <a:rPr baseline="30000" lang="fr" sz="1600">
                <a:latin typeface="Nunito"/>
                <a:ea typeface="Nunito"/>
                <a:cs typeface="Nunito"/>
                <a:sym typeface="Nunito"/>
              </a:rPr>
              <a:t>0</a:t>
            </a:r>
            <a:r>
              <a:rPr lang="fr" sz="1600">
                <a:latin typeface="Nunito"/>
                <a:ea typeface="Nunito"/>
                <a:cs typeface="Nunito"/>
                <a:sym typeface="Nunito"/>
              </a:rPr>
              <a:t> yield by integrating the background-subtracted BW within a 3σ range</a:t>
            </a:r>
            <a:endParaRPr sz="1600">
              <a:latin typeface="Nunito"/>
              <a:ea typeface="Nunito"/>
              <a:cs typeface="Nunito"/>
              <a:sym typeface="Nunito"/>
            </a:endParaRPr>
          </a:p>
        </p:txBody>
      </p:sp>
      <p:sp>
        <p:nvSpPr>
          <p:cNvPr id="290" name="Google Shape;290;p35"/>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
        <p:nvSpPr>
          <p:cNvPr id="291" name="Google Shape;291;p35"/>
          <p:cNvSpPr txBox="1"/>
          <p:nvPr/>
        </p:nvSpPr>
        <p:spPr>
          <a:xfrm>
            <a:off x="293075" y="4630200"/>
            <a:ext cx="1859100" cy="24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fr" sz="1600">
                <a:solidFill>
                  <a:srgbClr val="38761D"/>
                </a:solidFill>
                <a:latin typeface="Nunito"/>
                <a:ea typeface="Nunito"/>
                <a:cs typeface="Nunito"/>
                <a:sym typeface="Nunito"/>
              </a:rPr>
              <a:t>Solid target: </a:t>
            </a:r>
            <a:r>
              <a:rPr lang="fr" sz="1600">
                <a:solidFill>
                  <a:srgbClr val="38761D"/>
                </a:solidFill>
                <a:latin typeface="Nunito"/>
                <a:ea typeface="Nunito"/>
                <a:cs typeface="Nunito"/>
                <a:sym typeface="Nunito"/>
              </a:rPr>
              <a:t>Carbon</a:t>
            </a:r>
            <a:endParaRPr sz="1600">
              <a:solidFill>
                <a:srgbClr val="38761D"/>
              </a:solidFill>
              <a:latin typeface="Nunito"/>
              <a:ea typeface="Nunito"/>
              <a:cs typeface="Nunito"/>
              <a:sym typeface="Nunito"/>
            </a:endParaRPr>
          </a:p>
        </p:txBody>
      </p:sp>
      <p:sp>
        <p:nvSpPr>
          <p:cNvPr id="292" name="Google Shape;292;p35"/>
          <p:cNvSpPr txBox="1"/>
          <p:nvPr/>
        </p:nvSpPr>
        <p:spPr>
          <a:xfrm>
            <a:off x="4674600" y="4630200"/>
            <a:ext cx="1859100" cy="244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fr" sz="1600">
                <a:solidFill>
                  <a:srgbClr val="38761D"/>
                </a:solidFill>
                <a:latin typeface="Nunito"/>
                <a:ea typeface="Nunito"/>
                <a:cs typeface="Nunito"/>
                <a:sym typeface="Nunito"/>
              </a:rPr>
              <a:t>Liquid target: LD2</a:t>
            </a:r>
            <a:endParaRPr sz="1600">
              <a:solidFill>
                <a:srgbClr val="38761D"/>
              </a:solidFill>
              <a:latin typeface="Nunito"/>
              <a:ea typeface="Nunito"/>
              <a:cs typeface="Nunito"/>
              <a:sym typeface="Nuni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36"/>
          <p:cNvPicPr preferRelativeResize="0"/>
          <p:nvPr/>
        </p:nvPicPr>
        <p:blipFill>
          <a:blip r:embed="rId3">
            <a:alphaModFix/>
          </a:blip>
          <a:stretch>
            <a:fillRect/>
          </a:stretch>
        </p:blipFill>
        <p:spPr>
          <a:xfrm>
            <a:off x="774300" y="1121000"/>
            <a:ext cx="2485075" cy="831000"/>
          </a:xfrm>
          <a:prstGeom prst="rect">
            <a:avLst/>
          </a:prstGeom>
          <a:noFill/>
          <a:ln>
            <a:noFill/>
          </a:ln>
        </p:spPr>
      </p:pic>
      <p:sp>
        <p:nvSpPr>
          <p:cNvPr id="298" name="Google Shape;298;p36"/>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CT Study: Very Preliminary Nuclear Transparency</a:t>
            </a:r>
            <a:endParaRPr/>
          </a:p>
        </p:txBody>
      </p:sp>
      <p:sp>
        <p:nvSpPr>
          <p:cNvPr id="299" name="Google Shape;299;p36"/>
          <p:cNvSpPr txBox="1"/>
          <p:nvPr>
            <p:ph idx="1" type="body"/>
          </p:nvPr>
        </p:nvSpPr>
        <p:spPr>
          <a:xfrm>
            <a:off x="62638" y="996475"/>
            <a:ext cx="3908400" cy="4420800"/>
          </a:xfrm>
          <a:prstGeom prst="rect">
            <a:avLst/>
          </a:prstGeom>
        </p:spPr>
        <p:txBody>
          <a:bodyPr anchorCtr="0" anchor="t" bIns="0" lIns="0" spcFirstLastPara="1" rIns="0" wrap="square" tIns="0">
            <a:normAutofit lnSpcReduction="20000"/>
          </a:bodyPr>
          <a:lstStyle/>
          <a:p>
            <a:pPr indent="-200699" lvl="0" marL="208799" rtl="0" algn="l">
              <a:spcBef>
                <a:spcPts val="0"/>
              </a:spcBef>
              <a:spcAft>
                <a:spcPts val="0"/>
              </a:spcAft>
              <a:buSzPts val="1800"/>
              <a:buFont typeface="Nunito"/>
              <a:buChar char="●"/>
            </a:pPr>
            <a:r>
              <a:rPr lang="fr">
                <a:latin typeface="Nunito"/>
                <a:ea typeface="Nunito"/>
                <a:cs typeface="Nunito"/>
                <a:sym typeface="Nunito"/>
              </a:rPr>
              <a:t>Extract (raw) nuclear transparency as</a:t>
            </a:r>
            <a:endParaRPr>
              <a:latin typeface="Nunito"/>
              <a:ea typeface="Nunito"/>
              <a:cs typeface="Nunito"/>
              <a:sym typeface="Nunito"/>
            </a:endParaRPr>
          </a:p>
          <a:p>
            <a:pPr indent="0" lvl="0" marL="457200" rtl="0" algn="l">
              <a:lnSpc>
                <a:spcPct val="100000"/>
              </a:lnSpc>
              <a:spcBef>
                <a:spcPts val="1200"/>
              </a:spcBef>
              <a:spcAft>
                <a:spcPts val="0"/>
              </a:spcAft>
              <a:buNone/>
            </a:pPr>
            <a:r>
              <a:t/>
            </a:r>
            <a:endParaRPr>
              <a:latin typeface="Nunito"/>
              <a:ea typeface="Nunito"/>
              <a:cs typeface="Nunito"/>
              <a:sym typeface="Nunito"/>
            </a:endParaRPr>
          </a:p>
          <a:p>
            <a:pPr indent="0" lvl="0" marL="0" rtl="0" algn="l">
              <a:lnSpc>
                <a:spcPct val="100000"/>
              </a:lnSpc>
              <a:spcBef>
                <a:spcPts val="1200"/>
              </a:spcBef>
              <a:spcAft>
                <a:spcPts val="0"/>
              </a:spcAft>
              <a:buNone/>
            </a:pPr>
            <a:r>
              <a:t/>
            </a:r>
            <a:endParaRPr sz="1959">
              <a:latin typeface="Nunito"/>
              <a:ea typeface="Nunito"/>
              <a:cs typeface="Nunito"/>
              <a:sym typeface="Nunito"/>
            </a:endParaRPr>
          </a:p>
          <a:p>
            <a:pPr indent="-330200" lvl="1" marL="914400" rtl="0" algn="l">
              <a:lnSpc>
                <a:spcPct val="115000"/>
              </a:lnSpc>
              <a:spcBef>
                <a:spcPts val="1200"/>
              </a:spcBef>
              <a:spcAft>
                <a:spcPts val="0"/>
              </a:spcAft>
              <a:buSzPts val="1600"/>
              <a:buFont typeface="Nunito"/>
              <a:buChar char="○"/>
            </a:pPr>
            <a:r>
              <a:rPr lang="fr" sz="1600">
                <a:latin typeface="Nunito"/>
                <a:ea typeface="Nunito"/>
                <a:cs typeface="Nunito"/>
                <a:sym typeface="Nunito"/>
              </a:rPr>
              <a:t>r</a:t>
            </a:r>
            <a:r>
              <a:rPr baseline="-25000" lang="fr" sz="1600">
                <a:latin typeface="Nunito"/>
                <a:ea typeface="Nunito"/>
                <a:cs typeface="Nunito"/>
                <a:sym typeface="Nunito"/>
              </a:rPr>
              <a:t>LD2</a:t>
            </a:r>
            <a:r>
              <a:rPr lang="fr" sz="1600">
                <a:latin typeface="Nunito"/>
                <a:ea typeface="Nunito"/>
                <a:cs typeface="Nunito"/>
                <a:sym typeface="Nunito"/>
              </a:rPr>
              <a:t>= 5 cm: LD2 thickness</a:t>
            </a:r>
            <a:endParaRPr sz="1600">
              <a:latin typeface="Nunito"/>
              <a:ea typeface="Nunito"/>
              <a:cs typeface="Nunito"/>
              <a:sym typeface="Nunito"/>
            </a:endParaRPr>
          </a:p>
          <a:p>
            <a:pPr indent="-330200" lvl="1" marL="914400" rtl="0" algn="l">
              <a:lnSpc>
                <a:spcPct val="150000"/>
              </a:lnSpc>
              <a:spcBef>
                <a:spcPts val="0"/>
              </a:spcBef>
              <a:spcAft>
                <a:spcPts val="0"/>
              </a:spcAft>
              <a:buSzPts val="1600"/>
              <a:buFont typeface="Nunito"/>
              <a:buChar char="○"/>
            </a:pPr>
            <a:r>
              <a:rPr lang="fr" sz="1600">
                <a:latin typeface="Nunito"/>
                <a:ea typeface="Nunito"/>
                <a:cs typeface="Nunito"/>
                <a:sym typeface="Nunito"/>
              </a:rPr>
              <a:t>r</a:t>
            </a:r>
            <a:r>
              <a:rPr baseline="-25000" lang="fr" sz="1600">
                <a:latin typeface="Nunito"/>
                <a:ea typeface="Nunito"/>
                <a:cs typeface="Nunito"/>
                <a:sym typeface="Nunito"/>
              </a:rPr>
              <a:t>CxC</a:t>
            </a:r>
            <a:r>
              <a:rPr lang="fr" sz="1600">
                <a:latin typeface="Nunito"/>
                <a:ea typeface="Nunito"/>
                <a:cs typeface="Nunito"/>
                <a:sym typeface="Nunito"/>
              </a:rPr>
              <a:t> = 0.4 cm: CxC thickness</a:t>
            </a:r>
            <a:endParaRPr sz="1600">
              <a:latin typeface="Nunito"/>
              <a:ea typeface="Nunito"/>
              <a:cs typeface="Nunito"/>
              <a:sym typeface="Nunito"/>
            </a:endParaRPr>
          </a:p>
          <a:p>
            <a:pPr indent="-330200" lvl="1" marL="914400" rtl="0" algn="l">
              <a:lnSpc>
                <a:spcPct val="150000"/>
              </a:lnSpc>
              <a:spcBef>
                <a:spcPts val="0"/>
              </a:spcBef>
              <a:spcAft>
                <a:spcPts val="0"/>
              </a:spcAft>
              <a:buSzPts val="1600"/>
              <a:buFont typeface="Nunito"/>
              <a:buChar char="○"/>
            </a:pPr>
            <a:r>
              <a:rPr lang="fr" sz="1600">
                <a:latin typeface="Nunito"/>
                <a:ea typeface="Nunito"/>
                <a:cs typeface="Nunito"/>
                <a:sym typeface="Nunito"/>
              </a:rPr>
              <a:t>r</a:t>
            </a:r>
            <a:r>
              <a:rPr baseline="-25000" lang="fr" sz="1600">
                <a:latin typeface="Nunito"/>
                <a:ea typeface="Nunito"/>
                <a:cs typeface="Nunito"/>
                <a:sym typeface="Nunito"/>
              </a:rPr>
              <a:t>Cu</a:t>
            </a:r>
            <a:r>
              <a:rPr lang="fr" sz="1600">
                <a:latin typeface="Nunito"/>
                <a:ea typeface="Nunito"/>
                <a:cs typeface="Nunito"/>
                <a:sym typeface="Nunito"/>
              </a:rPr>
              <a:t>= 93 μm: Copper thickness</a:t>
            </a:r>
            <a:endParaRPr sz="1600">
              <a:latin typeface="Nunito"/>
              <a:ea typeface="Nunito"/>
              <a:cs typeface="Nunito"/>
              <a:sym typeface="Nunito"/>
            </a:endParaRPr>
          </a:p>
          <a:p>
            <a:pPr indent="-330200" lvl="1" marL="914400" rtl="0" algn="l">
              <a:lnSpc>
                <a:spcPct val="150000"/>
              </a:lnSpc>
              <a:spcBef>
                <a:spcPts val="0"/>
              </a:spcBef>
              <a:spcAft>
                <a:spcPts val="0"/>
              </a:spcAft>
              <a:buSzPts val="1600"/>
              <a:buFont typeface="Nunito"/>
              <a:buChar char="○"/>
            </a:pPr>
            <a:r>
              <a:rPr lang="fr" sz="1600">
                <a:latin typeface="Nunito"/>
                <a:ea typeface="Nunito"/>
                <a:cs typeface="Nunito"/>
                <a:sym typeface="Nunito"/>
              </a:rPr>
              <a:t>r</a:t>
            </a:r>
            <a:r>
              <a:rPr baseline="-25000" lang="fr" sz="1600">
                <a:latin typeface="Nunito"/>
                <a:ea typeface="Nunito"/>
                <a:cs typeface="Nunito"/>
                <a:sym typeface="Nunito"/>
              </a:rPr>
              <a:t>Sn</a:t>
            </a:r>
            <a:r>
              <a:rPr lang="fr" sz="1600">
                <a:latin typeface="Nunito"/>
                <a:ea typeface="Nunito"/>
                <a:cs typeface="Nunito"/>
                <a:sym typeface="Nunito"/>
              </a:rPr>
              <a:t> = 171 μm: Tin thickness</a:t>
            </a:r>
            <a:endParaRPr sz="1600">
              <a:latin typeface="Nunito"/>
              <a:ea typeface="Nunito"/>
              <a:cs typeface="Nunito"/>
              <a:sym typeface="Nunito"/>
            </a:endParaRPr>
          </a:p>
          <a:p>
            <a:pPr indent="-330200" lvl="1" marL="914400" rtl="0" algn="l">
              <a:lnSpc>
                <a:spcPct val="150000"/>
              </a:lnSpc>
              <a:spcBef>
                <a:spcPts val="0"/>
              </a:spcBef>
              <a:spcAft>
                <a:spcPts val="0"/>
              </a:spcAft>
              <a:buSzPts val="1600"/>
              <a:buFont typeface="Nunito"/>
              <a:buChar char="○"/>
            </a:pPr>
            <a:r>
              <a:rPr lang="fr" sz="1600">
                <a:latin typeface="Nunito"/>
                <a:ea typeface="Nunito"/>
                <a:cs typeface="Nunito"/>
                <a:sym typeface="Nunito"/>
              </a:rPr>
              <a:t>ρ</a:t>
            </a:r>
            <a:r>
              <a:rPr baseline="-25000" lang="fr" sz="1600">
                <a:latin typeface="Nunito"/>
                <a:ea typeface="Nunito"/>
                <a:cs typeface="Nunito"/>
                <a:sym typeface="Nunito"/>
              </a:rPr>
              <a:t>LD2</a:t>
            </a:r>
            <a:r>
              <a:rPr lang="fr" sz="1600">
                <a:latin typeface="Nunito"/>
                <a:ea typeface="Nunito"/>
                <a:cs typeface="Nunito"/>
                <a:sym typeface="Nunito"/>
              </a:rPr>
              <a:t>= 0.164 g/cm</a:t>
            </a:r>
            <a:r>
              <a:rPr baseline="30000" lang="fr" sz="1600">
                <a:latin typeface="Nunito"/>
                <a:ea typeface="Nunito"/>
                <a:cs typeface="Nunito"/>
                <a:sym typeface="Nunito"/>
              </a:rPr>
              <a:t>3</a:t>
            </a:r>
            <a:r>
              <a:rPr lang="fr" sz="1600">
                <a:latin typeface="Nunito"/>
                <a:ea typeface="Nunito"/>
                <a:cs typeface="Nunito"/>
                <a:sym typeface="Nunito"/>
              </a:rPr>
              <a:t>: LD2 density </a:t>
            </a:r>
            <a:endParaRPr sz="1600">
              <a:latin typeface="Nunito"/>
              <a:ea typeface="Nunito"/>
              <a:cs typeface="Nunito"/>
              <a:sym typeface="Nunito"/>
            </a:endParaRPr>
          </a:p>
          <a:p>
            <a:pPr indent="-330200" lvl="1" marL="914400" rtl="0" algn="l">
              <a:lnSpc>
                <a:spcPct val="150000"/>
              </a:lnSpc>
              <a:spcBef>
                <a:spcPts val="0"/>
              </a:spcBef>
              <a:spcAft>
                <a:spcPts val="0"/>
              </a:spcAft>
              <a:buSzPts val="1600"/>
              <a:buFont typeface="Nunito"/>
              <a:buChar char="○"/>
            </a:pPr>
            <a:r>
              <a:rPr lang="fr" sz="1600">
                <a:latin typeface="Nunito"/>
                <a:ea typeface="Nunito"/>
                <a:cs typeface="Nunito"/>
                <a:sym typeface="Nunito"/>
              </a:rPr>
              <a:t>ρ</a:t>
            </a:r>
            <a:r>
              <a:rPr baseline="-25000" lang="fr" sz="1600">
                <a:latin typeface="Nunito"/>
                <a:ea typeface="Nunito"/>
                <a:cs typeface="Nunito"/>
                <a:sym typeface="Nunito"/>
              </a:rPr>
              <a:t>C</a:t>
            </a:r>
            <a:r>
              <a:rPr lang="fr" sz="1600">
                <a:latin typeface="Nunito"/>
                <a:ea typeface="Nunito"/>
                <a:cs typeface="Nunito"/>
                <a:sym typeface="Nunito"/>
              </a:rPr>
              <a:t>= 2.2g/cm</a:t>
            </a:r>
            <a:r>
              <a:rPr baseline="30000" lang="fr" sz="1600">
                <a:latin typeface="Nunito"/>
                <a:ea typeface="Nunito"/>
                <a:cs typeface="Nunito"/>
                <a:sym typeface="Nunito"/>
              </a:rPr>
              <a:t>3 </a:t>
            </a:r>
            <a:r>
              <a:rPr lang="fr" sz="1600">
                <a:latin typeface="Nunito"/>
                <a:ea typeface="Nunito"/>
                <a:cs typeface="Nunito"/>
                <a:sym typeface="Nunito"/>
              </a:rPr>
              <a:t>: Carbon density</a:t>
            </a:r>
            <a:endParaRPr sz="1600">
              <a:latin typeface="Nunito"/>
              <a:ea typeface="Nunito"/>
              <a:cs typeface="Nunito"/>
              <a:sym typeface="Nunito"/>
            </a:endParaRPr>
          </a:p>
          <a:p>
            <a:pPr indent="-330200" lvl="1" marL="914400" rtl="0" algn="l">
              <a:lnSpc>
                <a:spcPct val="150000"/>
              </a:lnSpc>
              <a:spcBef>
                <a:spcPts val="0"/>
              </a:spcBef>
              <a:spcAft>
                <a:spcPts val="0"/>
              </a:spcAft>
              <a:buSzPts val="1600"/>
              <a:buFont typeface="Nunito"/>
              <a:buChar char="○"/>
            </a:pPr>
            <a:r>
              <a:rPr lang="fr" sz="1600">
                <a:latin typeface="Nunito"/>
                <a:ea typeface="Nunito"/>
                <a:cs typeface="Nunito"/>
                <a:sym typeface="Nunito"/>
              </a:rPr>
              <a:t>ρ</a:t>
            </a:r>
            <a:r>
              <a:rPr baseline="-25000" lang="fr" sz="1600">
                <a:latin typeface="Nunito"/>
                <a:ea typeface="Nunito"/>
                <a:cs typeface="Nunito"/>
                <a:sym typeface="Nunito"/>
              </a:rPr>
              <a:t>Cu</a:t>
            </a:r>
            <a:r>
              <a:rPr lang="fr" sz="1600">
                <a:latin typeface="Nunito"/>
                <a:ea typeface="Nunito"/>
                <a:cs typeface="Nunito"/>
                <a:sym typeface="Nunito"/>
              </a:rPr>
              <a:t>= 8.96 g/cm</a:t>
            </a:r>
            <a:r>
              <a:rPr baseline="30000" lang="fr" sz="1600">
                <a:latin typeface="Nunito"/>
                <a:ea typeface="Nunito"/>
                <a:cs typeface="Nunito"/>
                <a:sym typeface="Nunito"/>
              </a:rPr>
              <a:t>3</a:t>
            </a:r>
            <a:r>
              <a:rPr lang="fr" sz="1600">
                <a:latin typeface="Nunito"/>
                <a:ea typeface="Nunito"/>
                <a:cs typeface="Nunito"/>
                <a:sym typeface="Nunito"/>
              </a:rPr>
              <a:t>: Copper density </a:t>
            </a:r>
            <a:endParaRPr sz="1600">
              <a:latin typeface="Nunito"/>
              <a:ea typeface="Nunito"/>
              <a:cs typeface="Nunito"/>
              <a:sym typeface="Nunito"/>
            </a:endParaRPr>
          </a:p>
          <a:p>
            <a:pPr indent="-330200" lvl="1" marL="914400" rtl="0" algn="l">
              <a:lnSpc>
                <a:spcPct val="150000"/>
              </a:lnSpc>
              <a:spcBef>
                <a:spcPts val="0"/>
              </a:spcBef>
              <a:spcAft>
                <a:spcPts val="0"/>
              </a:spcAft>
              <a:buSzPts val="1600"/>
              <a:buFont typeface="Nunito"/>
              <a:buChar char="○"/>
            </a:pPr>
            <a:r>
              <a:rPr lang="fr" sz="1600">
                <a:latin typeface="Nunito"/>
                <a:ea typeface="Nunito"/>
                <a:cs typeface="Nunito"/>
                <a:sym typeface="Nunito"/>
              </a:rPr>
              <a:t>ρ</a:t>
            </a:r>
            <a:r>
              <a:rPr baseline="-25000" lang="fr" sz="1600">
                <a:latin typeface="Nunito"/>
                <a:ea typeface="Nunito"/>
                <a:cs typeface="Nunito"/>
                <a:sym typeface="Nunito"/>
              </a:rPr>
              <a:t>Sn</a:t>
            </a:r>
            <a:r>
              <a:rPr lang="fr" sz="1600">
                <a:latin typeface="Nunito"/>
                <a:ea typeface="Nunito"/>
                <a:cs typeface="Nunito"/>
                <a:sym typeface="Nunito"/>
              </a:rPr>
              <a:t>= 7.31g/cm</a:t>
            </a:r>
            <a:r>
              <a:rPr baseline="30000" lang="fr" sz="1600">
                <a:latin typeface="Nunito"/>
                <a:ea typeface="Nunito"/>
                <a:cs typeface="Nunito"/>
                <a:sym typeface="Nunito"/>
              </a:rPr>
              <a:t>3 </a:t>
            </a:r>
            <a:r>
              <a:rPr lang="fr" sz="1600">
                <a:latin typeface="Nunito"/>
                <a:ea typeface="Nunito"/>
                <a:cs typeface="Nunito"/>
                <a:sym typeface="Nunito"/>
              </a:rPr>
              <a:t>: Tin density</a:t>
            </a:r>
            <a:endParaRPr sz="1600">
              <a:latin typeface="Nunito"/>
              <a:ea typeface="Nunito"/>
              <a:cs typeface="Nunito"/>
              <a:sym typeface="Nunito"/>
            </a:endParaRPr>
          </a:p>
          <a:p>
            <a:pPr indent="0" lvl="0" marL="0" rtl="0" algn="l">
              <a:lnSpc>
                <a:spcPct val="150000"/>
              </a:lnSpc>
              <a:spcBef>
                <a:spcPts val="1200"/>
              </a:spcBef>
              <a:spcAft>
                <a:spcPts val="1200"/>
              </a:spcAft>
              <a:buNone/>
            </a:pPr>
            <a:r>
              <a:rPr lang="fr">
                <a:latin typeface="Nunito"/>
                <a:ea typeface="Nunito"/>
                <a:cs typeface="Nunito"/>
                <a:sym typeface="Nunito"/>
              </a:rPr>
              <a:t>Ongoing analysis by M. Maynes </a:t>
            </a:r>
            <a:endParaRPr>
              <a:latin typeface="Nunito"/>
              <a:ea typeface="Nunito"/>
              <a:cs typeface="Nunito"/>
              <a:sym typeface="Nunito"/>
            </a:endParaRPr>
          </a:p>
        </p:txBody>
      </p:sp>
      <p:sp>
        <p:nvSpPr>
          <p:cNvPr id="300" name="Google Shape;300;p36"/>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pic>
        <p:nvPicPr>
          <p:cNvPr id="301" name="Google Shape;301;p36"/>
          <p:cNvPicPr preferRelativeResize="0"/>
          <p:nvPr/>
        </p:nvPicPr>
        <p:blipFill>
          <a:blip r:embed="rId4">
            <a:alphaModFix/>
          </a:blip>
          <a:stretch>
            <a:fillRect/>
          </a:stretch>
        </p:blipFill>
        <p:spPr>
          <a:xfrm>
            <a:off x="3932400" y="799800"/>
            <a:ext cx="5059197" cy="390316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37"/>
          <p:cNvPicPr preferRelativeResize="0"/>
          <p:nvPr/>
        </p:nvPicPr>
        <p:blipFill>
          <a:blip r:embed="rId4">
            <a:alphaModFix/>
          </a:blip>
          <a:stretch>
            <a:fillRect/>
          </a:stretch>
        </p:blipFill>
        <p:spPr>
          <a:xfrm>
            <a:off x="4283500" y="932476"/>
            <a:ext cx="4885425" cy="3373399"/>
          </a:xfrm>
          <a:prstGeom prst="rect">
            <a:avLst/>
          </a:prstGeom>
          <a:noFill/>
          <a:ln>
            <a:noFill/>
          </a:ln>
        </p:spPr>
      </p:pic>
      <p:sp>
        <p:nvSpPr>
          <p:cNvPr id="307" name="Google Shape;307;p37"/>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nTMDs Studies: π</a:t>
            </a:r>
            <a:r>
              <a:rPr baseline="30000" lang="fr"/>
              <a:t>0</a:t>
            </a:r>
            <a:r>
              <a:rPr lang="fr"/>
              <a:t> analysis</a:t>
            </a:r>
            <a:endParaRPr/>
          </a:p>
        </p:txBody>
      </p:sp>
      <p:sp>
        <p:nvSpPr>
          <p:cNvPr id="308" name="Google Shape;308;p37"/>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
        <p:nvSpPr>
          <p:cNvPr id="309" name="Google Shape;309;p37"/>
          <p:cNvSpPr txBox="1"/>
          <p:nvPr/>
        </p:nvSpPr>
        <p:spPr>
          <a:xfrm>
            <a:off x="0" y="634350"/>
            <a:ext cx="4479300" cy="4095900"/>
          </a:xfrm>
          <a:prstGeom prst="rect">
            <a:avLst/>
          </a:prstGeom>
          <a:noFill/>
          <a:ln>
            <a:noFill/>
          </a:ln>
        </p:spPr>
        <p:txBody>
          <a:bodyPr anchorCtr="0" anchor="t" bIns="91425" lIns="91425" spcFirstLastPara="1" rIns="91425" wrap="square" tIns="91425">
            <a:noAutofit/>
          </a:bodyPr>
          <a:lstStyle/>
          <a:p>
            <a:pPr indent="-187999" lvl="0" marL="208799" rtl="0" algn="l">
              <a:lnSpc>
                <a:spcPct val="115000"/>
              </a:lnSpc>
              <a:spcBef>
                <a:spcPts val="0"/>
              </a:spcBef>
              <a:spcAft>
                <a:spcPts val="0"/>
              </a:spcAft>
              <a:buClr>
                <a:srgbClr val="93C47D"/>
              </a:buClr>
              <a:buSzPts val="1600"/>
              <a:buFont typeface="Nunito"/>
              <a:buChar char="●"/>
            </a:pPr>
            <a:r>
              <a:rPr lang="fr" sz="1600">
                <a:solidFill>
                  <a:srgbClr val="595959"/>
                </a:solidFill>
                <a:latin typeface="Nunito"/>
                <a:ea typeface="Nunito"/>
                <a:cs typeface="Nunito"/>
                <a:sym typeface="Nunito"/>
              </a:rPr>
              <a:t>First look at the </a:t>
            </a:r>
            <a:r>
              <a:rPr lang="fr" sz="1600">
                <a:solidFill>
                  <a:srgbClr val="595959"/>
                </a:solidFill>
                <a:latin typeface="Nunito"/>
                <a:ea typeface="Nunito"/>
                <a:cs typeface="Nunito"/>
                <a:sym typeface="Nunito"/>
              </a:rPr>
              <a:t>π</a:t>
            </a:r>
            <a:r>
              <a:rPr baseline="30000" lang="fr" sz="1600">
                <a:solidFill>
                  <a:srgbClr val="595959"/>
                </a:solidFill>
                <a:latin typeface="Nunito"/>
                <a:ea typeface="Nunito"/>
                <a:cs typeface="Nunito"/>
                <a:sym typeface="Nunito"/>
              </a:rPr>
              <a:t>0</a:t>
            </a:r>
            <a:r>
              <a:rPr lang="fr" sz="1600">
                <a:solidFill>
                  <a:srgbClr val="595959"/>
                </a:solidFill>
                <a:latin typeface="Nunito"/>
                <a:ea typeface="Nunito"/>
                <a:cs typeface="Nunito"/>
                <a:sym typeface="Nunito"/>
              </a:rPr>
              <a:t> channel to extract multiplicity ratios and azimuthal asymmetries:</a:t>
            </a:r>
            <a:endParaRPr sz="1600">
              <a:solidFill>
                <a:srgbClr val="595959"/>
              </a:solidFill>
              <a:latin typeface="Nunito"/>
              <a:ea typeface="Nunito"/>
              <a:cs typeface="Nunito"/>
              <a:sym typeface="Nunito"/>
            </a:endParaRPr>
          </a:p>
          <a:p>
            <a:pPr indent="-175299" lvl="1" marL="414000" rtl="0" algn="l">
              <a:lnSpc>
                <a:spcPct val="115000"/>
              </a:lnSpc>
              <a:spcBef>
                <a:spcPts val="0"/>
              </a:spcBef>
              <a:spcAft>
                <a:spcPts val="0"/>
              </a:spcAft>
              <a:buClr>
                <a:srgbClr val="93C47D"/>
              </a:buClr>
              <a:buSzPts val="1400"/>
              <a:buFont typeface="Nunito"/>
              <a:buChar char="○"/>
            </a:pPr>
            <a:r>
              <a:rPr lang="fr">
                <a:solidFill>
                  <a:srgbClr val="595959"/>
                </a:solidFill>
                <a:latin typeface="Nunito"/>
                <a:ea typeface="Nunito"/>
                <a:cs typeface="Nunito"/>
                <a:sym typeface="Nunito"/>
              </a:rPr>
              <a:t>In-progress efforts to employ the event mixing technique to subtract the background  underneath the two photon mass peak</a:t>
            </a:r>
            <a:endParaRPr sz="1600">
              <a:solidFill>
                <a:srgbClr val="595959"/>
              </a:solidFill>
              <a:latin typeface="Nunito"/>
              <a:ea typeface="Nunito"/>
              <a:cs typeface="Nunito"/>
              <a:sym typeface="Nunito"/>
            </a:endParaRPr>
          </a:p>
          <a:p>
            <a:pPr indent="-224000" lvl="0" marL="244800" rtl="0" algn="l">
              <a:lnSpc>
                <a:spcPct val="115000"/>
              </a:lnSpc>
              <a:spcBef>
                <a:spcPts val="1000"/>
              </a:spcBef>
              <a:spcAft>
                <a:spcPts val="0"/>
              </a:spcAft>
              <a:buClr>
                <a:srgbClr val="93C47D"/>
              </a:buClr>
              <a:buSzPts val="1600"/>
              <a:buFont typeface="Nunito"/>
              <a:buChar char="●"/>
            </a:pPr>
            <a:r>
              <a:rPr lang="fr" sz="1600">
                <a:solidFill>
                  <a:schemeClr val="dk2"/>
                </a:solidFill>
                <a:latin typeface="Nunito"/>
                <a:ea typeface="Nunito"/>
                <a:cs typeface="Nunito"/>
                <a:sym typeface="Nunito"/>
              </a:rPr>
              <a:t>Electron</a:t>
            </a:r>
            <a:r>
              <a:rPr lang="fr" sz="1600">
                <a:solidFill>
                  <a:schemeClr val="dk2"/>
                </a:solidFill>
                <a:latin typeface="Nunito"/>
                <a:ea typeface="Nunito"/>
                <a:cs typeface="Nunito"/>
                <a:sym typeface="Nunito"/>
              </a:rPr>
              <a:t> cuts:</a:t>
            </a:r>
            <a:endParaRPr sz="1600">
              <a:solidFill>
                <a:schemeClr val="dk2"/>
              </a:solidFill>
              <a:latin typeface="Nunito"/>
              <a:ea typeface="Nunito"/>
              <a:cs typeface="Nunito"/>
              <a:sym typeface="Nunito"/>
            </a:endParaRPr>
          </a:p>
          <a:p>
            <a:pPr indent="-211300" lvl="1" marL="414000" rtl="0" algn="l">
              <a:lnSpc>
                <a:spcPct val="115000"/>
              </a:lnSpc>
              <a:spcBef>
                <a:spcPts val="0"/>
              </a:spcBef>
              <a:spcAft>
                <a:spcPts val="0"/>
              </a:spcAft>
              <a:buClr>
                <a:srgbClr val="93C47D"/>
              </a:buClr>
              <a:buSzPts val="1400"/>
              <a:buFont typeface="Nunito"/>
              <a:buChar char="○"/>
            </a:pPr>
            <a:r>
              <a:rPr lang="fr">
                <a:solidFill>
                  <a:schemeClr val="dk2"/>
                </a:solidFill>
                <a:latin typeface="Nunito"/>
                <a:ea typeface="Nunito"/>
                <a:cs typeface="Nunito"/>
                <a:sym typeface="Nunito"/>
              </a:rPr>
              <a:t>pid = 11</a:t>
            </a:r>
            <a:endParaRPr>
              <a:solidFill>
                <a:schemeClr val="dk2"/>
              </a:solidFill>
              <a:latin typeface="Nunito"/>
              <a:ea typeface="Nunito"/>
              <a:cs typeface="Nunito"/>
              <a:sym typeface="Nunito"/>
            </a:endParaRPr>
          </a:p>
          <a:p>
            <a:pPr indent="-211300" lvl="1" marL="414000" rtl="0" algn="l">
              <a:lnSpc>
                <a:spcPct val="115000"/>
              </a:lnSpc>
              <a:spcBef>
                <a:spcPts val="0"/>
              </a:spcBef>
              <a:spcAft>
                <a:spcPts val="0"/>
              </a:spcAft>
              <a:buClr>
                <a:srgbClr val="93C47D"/>
              </a:buClr>
              <a:buSzPts val="1400"/>
              <a:buFont typeface="Nunito"/>
              <a:buChar char="○"/>
            </a:pPr>
            <a:r>
              <a:rPr lang="fr">
                <a:solidFill>
                  <a:schemeClr val="dk2"/>
                </a:solidFill>
                <a:latin typeface="Nunito"/>
                <a:ea typeface="Nunito"/>
                <a:cs typeface="Nunito"/>
                <a:sym typeface="Nunito"/>
              </a:rPr>
              <a:t>status &lt; 0</a:t>
            </a:r>
            <a:endParaRPr>
              <a:solidFill>
                <a:schemeClr val="dk2"/>
              </a:solidFill>
              <a:latin typeface="Nunito"/>
              <a:ea typeface="Nunito"/>
              <a:cs typeface="Nunito"/>
              <a:sym typeface="Nunito"/>
            </a:endParaRPr>
          </a:p>
          <a:p>
            <a:pPr indent="-211300" lvl="1" marL="414000" rtl="0" algn="l">
              <a:lnSpc>
                <a:spcPct val="115000"/>
              </a:lnSpc>
              <a:spcBef>
                <a:spcPts val="0"/>
              </a:spcBef>
              <a:spcAft>
                <a:spcPts val="0"/>
              </a:spcAft>
              <a:buClr>
                <a:srgbClr val="93C47D"/>
              </a:buClr>
              <a:buSzPts val="1400"/>
              <a:buFont typeface="Nunito"/>
              <a:buChar char="○"/>
            </a:pPr>
            <a:r>
              <a:rPr lang="fr">
                <a:solidFill>
                  <a:schemeClr val="dk2"/>
                </a:solidFill>
                <a:latin typeface="Nunito"/>
                <a:ea typeface="Nunito"/>
                <a:cs typeface="Nunito"/>
                <a:sym typeface="Nunito"/>
              </a:rPr>
              <a:t>-11 &lt; Vz &lt; 5 cm (for LD2)</a:t>
            </a:r>
            <a:endParaRPr>
              <a:solidFill>
                <a:srgbClr val="595959"/>
              </a:solidFill>
              <a:latin typeface="Nunito"/>
              <a:ea typeface="Nunito"/>
              <a:cs typeface="Nunito"/>
              <a:sym typeface="Nunito"/>
            </a:endParaRPr>
          </a:p>
          <a:p>
            <a:pPr indent="-224000" lvl="0" marL="244800" rtl="0" algn="l">
              <a:lnSpc>
                <a:spcPct val="115000"/>
              </a:lnSpc>
              <a:spcBef>
                <a:spcPts val="1000"/>
              </a:spcBef>
              <a:spcAft>
                <a:spcPts val="0"/>
              </a:spcAft>
              <a:buClr>
                <a:srgbClr val="93C47D"/>
              </a:buClr>
              <a:buSzPts val="1600"/>
              <a:buFont typeface="Nunito"/>
              <a:buChar char="●"/>
            </a:pPr>
            <a:r>
              <a:rPr lang="fr" sz="1600">
                <a:solidFill>
                  <a:schemeClr val="dk2"/>
                </a:solidFill>
                <a:latin typeface="Nunito"/>
                <a:ea typeface="Nunito"/>
                <a:cs typeface="Nunito"/>
                <a:sym typeface="Nunito"/>
              </a:rPr>
              <a:t>Photon cuts:</a:t>
            </a:r>
            <a:endParaRPr sz="1600">
              <a:solidFill>
                <a:schemeClr val="dk2"/>
              </a:solidFill>
              <a:latin typeface="Nunito"/>
              <a:ea typeface="Nunito"/>
              <a:cs typeface="Nunito"/>
              <a:sym typeface="Nunito"/>
            </a:endParaRPr>
          </a:p>
          <a:p>
            <a:pPr indent="-211300" lvl="1" marL="414000" rtl="0" algn="l">
              <a:lnSpc>
                <a:spcPct val="115000"/>
              </a:lnSpc>
              <a:spcBef>
                <a:spcPts val="0"/>
              </a:spcBef>
              <a:spcAft>
                <a:spcPts val="0"/>
              </a:spcAft>
              <a:buClr>
                <a:srgbClr val="93C47D"/>
              </a:buClr>
              <a:buSzPts val="1400"/>
              <a:buFont typeface="Nunito"/>
              <a:buChar char="○"/>
            </a:pPr>
            <a:r>
              <a:rPr lang="fr">
                <a:solidFill>
                  <a:schemeClr val="dk2"/>
                </a:solidFill>
                <a:latin typeface="Nunito"/>
                <a:ea typeface="Nunito"/>
                <a:cs typeface="Nunito"/>
                <a:sym typeface="Nunito"/>
              </a:rPr>
              <a:t>pid = 22</a:t>
            </a:r>
            <a:endParaRPr>
              <a:solidFill>
                <a:schemeClr val="dk2"/>
              </a:solidFill>
              <a:latin typeface="Nunito"/>
              <a:ea typeface="Nunito"/>
              <a:cs typeface="Nunito"/>
              <a:sym typeface="Nunito"/>
            </a:endParaRPr>
          </a:p>
          <a:p>
            <a:pPr indent="-211300" lvl="1" marL="414000" rtl="0" algn="l">
              <a:lnSpc>
                <a:spcPct val="115000"/>
              </a:lnSpc>
              <a:spcBef>
                <a:spcPts val="0"/>
              </a:spcBef>
              <a:spcAft>
                <a:spcPts val="0"/>
              </a:spcAft>
              <a:buClr>
                <a:srgbClr val="93C47D"/>
              </a:buClr>
              <a:buSzPts val="1400"/>
              <a:buFont typeface="Nunito"/>
              <a:buChar char="○"/>
            </a:pPr>
            <a:r>
              <a:rPr lang="fr">
                <a:solidFill>
                  <a:schemeClr val="dk2"/>
                </a:solidFill>
                <a:latin typeface="Nunito"/>
                <a:ea typeface="Nunito"/>
                <a:cs typeface="Nunito"/>
                <a:sym typeface="Nunito"/>
              </a:rPr>
              <a:t>E &gt; 0.2 GeV </a:t>
            </a:r>
            <a:endParaRPr>
              <a:solidFill>
                <a:schemeClr val="dk2"/>
              </a:solidFill>
              <a:latin typeface="Nunito"/>
              <a:ea typeface="Nunito"/>
              <a:cs typeface="Nunito"/>
              <a:sym typeface="Nunito"/>
            </a:endParaRPr>
          </a:p>
          <a:p>
            <a:pPr indent="-211300" lvl="1" marL="414000" rtl="0" algn="l">
              <a:lnSpc>
                <a:spcPct val="115000"/>
              </a:lnSpc>
              <a:spcBef>
                <a:spcPts val="0"/>
              </a:spcBef>
              <a:spcAft>
                <a:spcPts val="0"/>
              </a:spcAft>
              <a:buClr>
                <a:srgbClr val="93C47D"/>
              </a:buClr>
              <a:buSzPts val="1400"/>
              <a:buFont typeface="Nunito"/>
              <a:buChar char="○"/>
            </a:pPr>
            <a:r>
              <a:rPr lang="fr">
                <a:solidFill>
                  <a:schemeClr val="dk2"/>
                </a:solidFill>
                <a:latin typeface="Nunito"/>
                <a:ea typeface="Nunito"/>
                <a:cs typeface="Nunito"/>
                <a:sym typeface="Nunito"/>
              </a:rPr>
              <a:t>-1.67 &lt; Δt = (t</a:t>
            </a:r>
            <a:r>
              <a:rPr baseline="-25000" lang="fr">
                <a:solidFill>
                  <a:schemeClr val="dk2"/>
                </a:solidFill>
                <a:latin typeface="Nunito"/>
                <a:ea typeface="Nunito"/>
                <a:cs typeface="Nunito"/>
                <a:sym typeface="Nunito"/>
              </a:rPr>
              <a:t>EC</a:t>
            </a:r>
            <a:r>
              <a:rPr lang="fr">
                <a:solidFill>
                  <a:schemeClr val="dk2"/>
                </a:solidFill>
                <a:latin typeface="Nunito"/>
                <a:ea typeface="Nunito"/>
                <a:cs typeface="Nunito"/>
                <a:sym typeface="Nunito"/>
              </a:rPr>
              <a:t> − t</a:t>
            </a:r>
            <a:r>
              <a:rPr baseline="-25000" lang="fr">
                <a:solidFill>
                  <a:schemeClr val="dk2"/>
                </a:solidFill>
                <a:latin typeface="Nunito"/>
                <a:ea typeface="Nunito"/>
                <a:cs typeface="Nunito"/>
                <a:sym typeface="Nunito"/>
              </a:rPr>
              <a:t>start</a:t>
            </a:r>
            <a:r>
              <a:rPr lang="fr">
                <a:solidFill>
                  <a:schemeClr val="dk2"/>
                </a:solidFill>
                <a:latin typeface="Nunito"/>
                <a:ea typeface="Nunito"/>
                <a:cs typeface="Nunito"/>
                <a:sym typeface="Nunito"/>
              </a:rPr>
              <a:t> − l</a:t>
            </a:r>
            <a:r>
              <a:rPr baseline="-25000" lang="fr">
                <a:solidFill>
                  <a:schemeClr val="dk2"/>
                </a:solidFill>
                <a:latin typeface="Nunito"/>
                <a:ea typeface="Nunito"/>
                <a:cs typeface="Nunito"/>
                <a:sym typeface="Nunito"/>
              </a:rPr>
              <a:t>EC</a:t>
            </a:r>
            <a:r>
              <a:rPr lang="fr">
                <a:solidFill>
                  <a:schemeClr val="dk2"/>
                </a:solidFill>
                <a:latin typeface="Nunito"/>
                <a:ea typeface="Nunito"/>
                <a:cs typeface="Nunito"/>
                <a:sym typeface="Nunito"/>
              </a:rPr>
              <a:t> /30) &lt; 1.55 ns</a:t>
            </a:r>
            <a:endParaRPr>
              <a:solidFill>
                <a:schemeClr val="dk2"/>
              </a:solidFill>
              <a:latin typeface="Nunito"/>
              <a:ea typeface="Nunito"/>
              <a:cs typeface="Nunito"/>
              <a:sym typeface="Nunito"/>
            </a:endParaRPr>
          </a:p>
          <a:p>
            <a:pPr indent="-211300" lvl="1" marL="414000" rtl="0" algn="l">
              <a:lnSpc>
                <a:spcPct val="115000"/>
              </a:lnSpc>
              <a:spcBef>
                <a:spcPts val="0"/>
              </a:spcBef>
              <a:spcAft>
                <a:spcPts val="1000"/>
              </a:spcAft>
              <a:buClr>
                <a:srgbClr val="93C47D"/>
              </a:buClr>
              <a:buSzPts val="1400"/>
              <a:buFont typeface="Nunito"/>
              <a:buChar char="○"/>
            </a:pPr>
            <a:r>
              <a:rPr lang="fr">
                <a:solidFill>
                  <a:schemeClr val="dk2"/>
                </a:solidFill>
                <a:latin typeface="Nunito"/>
                <a:ea typeface="Nunito"/>
                <a:cs typeface="Nunito"/>
                <a:sym typeface="Nunito"/>
              </a:rPr>
              <a:t>θ</a:t>
            </a:r>
            <a:r>
              <a:rPr baseline="-25000" lang="fr">
                <a:solidFill>
                  <a:schemeClr val="dk2"/>
                </a:solidFill>
                <a:latin typeface="Nunito"/>
                <a:ea typeface="Nunito"/>
                <a:cs typeface="Nunito"/>
                <a:sym typeface="Nunito"/>
              </a:rPr>
              <a:t>eɣ</a:t>
            </a:r>
            <a:r>
              <a:rPr lang="fr">
                <a:solidFill>
                  <a:schemeClr val="dk2"/>
                </a:solidFill>
                <a:latin typeface="Nunito"/>
                <a:ea typeface="Nunito"/>
                <a:cs typeface="Nunito"/>
                <a:sym typeface="Nunito"/>
              </a:rPr>
              <a:t>&gt; 8 deg </a:t>
            </a:r>
            <a:r>
              <a:rPr lang="fr">
                <a:solidFill>
                  <a:schemeClr val="dk2"/>
                </a:solidFill>
                <a:latin typeface="Nunito"/>
                <a:ea typeface="Nunito"/>
                <a:cs typeface="Nunito"/>
                <a:sym typeface="Nunito"/>
              </a:rPr>
              <a:t>→  reduce radiative photon</a:t>
            </a:r>
            <a:endParaRPr>
              <a:solidFill>
                <a:schemeClr val="dk2"/>
              </a:solidFill>
              <a:latin typeface="Nunito"/>
              <a:ea typeface="Nunito"/>
              <a:cs typeface="Nunito"/>
              <a:sym typeface="Nuni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8"/>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RG-D nTMDs Studies: π</a:t>
            </a:r>
            <a:r>
              <a:rPr baseline="30000" lang="fr"/>
              <a:t>0</a:t>
            </a:r>
            <a:r>
              <a:rPr lang="fr"/>
              <a:t> analysis</a:t>
            </a:r>
            <a:endParaRPr/>
          </a:p>
        </p:txBody>
      </p:sp>
      <p:sp>
        <p:nvSpPr>
          <p:cNvPr id="315" name="Google Shape;315;p38"/>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
        <p:nvSpPr>
          <p:cNvPr id="316" name="Google Shape;316;p38"/>
          <p:cNvSpPr txBox="1"/>
          <p:nvPr/>
        </p:nvSpPr>
        <p:spPr>
          <a:xfrm>
            <a:off x="0" y="686700"/>
            <a:ext cx="4240500" cy="4095900"/>
          </a:xfrm>
          <a:prstGeom prst="rect">
            <a:avLst/>
          </a:prstGeom>
          <a:noFill/>
          <a:ln>
            <a:noFill/>
          </a:ln>
        </p:spPr>
        <p:txBody>
          <a:bodyPr anchorCtr="0" anchor="t" bIns="91425" lIns="91425" spcFirstLastPara="1" rIns="91425" wrap="square" tIns="91425">
            <a:noAutofit/>
          </a:bodyPr>
          <a:lstStyle/>
          <a:p>
            <a:pPr indent="-187999" lvl="0" marL="208799" rtl="0" algn="l">
              <a:lnSpc>
                <a:spcPct val="105000"/>
              </a:lnSpc>
              <a:spcBef>
                <a:spcPts val="0"/>
              </a:spcBef>
              <a:spcAft>
                <a:spcPts val="0"/>
              </a:spcAft>
              <a:buClr>
                <a:srgbClr val="93C47D"/>
              </a:buClr>
              <a:buSzPts val="1600"/>
              <a:buFont typeface="Nunito"/>
              <a:buChar char="●"/>
            </a:pPr>
            <a:r>
              <a:rPr lang="fr" sz="1600">
                <a:solidFill>
                  <a:srgbClr val="595959"/>
                </a:solidFill>
                <a:latin typeface="Nunito"/>
                <a:ea typeface="Nunito"/>
                <a:cs typeface="Nunito"/>
                <a:sym typeface="Nunito"/>
              </a:rPr>
              <a:t>First look at the π</a:t>
            </a:r>
            <a:r>
              <a:rPr baseline="30000" lang="fr" sz="1600">
                <a:solidFill>
                  <a:srgbClr val="595959"/>
                </a:solidFill>
                <a:latin typeface="Nunito"/>
                <a:ea typeface="Nunito"/>
                <a:cs typeface="Nunito"/>
                <a:sym typeface="Nunito"/>
              </a:rPr>
              <a:t>0</a:t>
            </a:r>
            <a:r>
              <a:rPr lang="fr" sz="1600">
                <a:solidFill>
                  <a:srgbClr val="595959"/>
                </a:solidFill>
                <a:latin typeface="Nunito"/>
                <a:ea typeface="Nunito"/>
                <a:cs typeface="Nunito"/>
                <a:sym typeface="Nunito"/>
              </a:rPr>
              <a:t> channel to extract multiplicity ratios and azimuthal asymmetries:</a:t>
            </a:r>
            <a:endParaRPr sz="1600">
              <a:solidFill>
                <a:srgbClr val="595959"/>
              </a:solidFill>
              <a:latin typeface="Nunito"/>
              <a:ea typeface="Nunito"/>
              <a:cs typeface="Nunito"/>
              <a:sym typeface="Nunito"/>
            </a:endParaRPr>
          </a:p>
          <a:p>
            <a:pPr indent="-175814" lvl="1" marL="414000" rtl="0" algn="l">
              <a:lnSpc>
                <a:spcPct val="115000"/>
              </a:lnSpc>
              <a:spcBef>
                <a:spcPts val="0"/>
              </a:spcBef>
              <a:spcAft>
                <a:spcPts val="0"/>
              </a:spcAft>
              <a:buClr>
                <a:srgbClr val="93C47D"/>
              </a:buClr>
              <a:buSzPts val="1408"/>
              <a:buFont typeface="Nunito"/>
              <a:buChar char="○"/>
            </a:pPr>
            <a:r>
              <a:rPr lang="fr" sz="1408">
                <a:solidFill>
                  <a:schemeClr val="dk2"/>
                </a:solidFill>
                <a:latin typeface="Nunito"/>
                <a:ea typeface="Nunito"/>
                <a:cs typeface="Nunito"/>
                <a:sym typeface="Nunito"/>
              </a:rPr>
              <a:t>In-progress efforts to employ the event mixing technique to subtract the background underneath the two photon mass peak</a:t>
            </a:r>
            <a:endParaRPr sz="1408">
              <a:solidFill>
                <a:schemeClr val="dk2"/>
              </a:solidFill>
              <a:latin typeface="Nunito"/>
              <a:ea typeface="Nunito"/>
              <a:cs typeface="Nunito"/>
              <a:sym typeface="Nunito"/>
            </a:endParaRPr>
          </a:p>
          <a:p>
            <a:pPr indent="0" lvl="0" marL="0" rtl="0" algn="l">
              <a:lnSpc>
                <a:spcPct val="105000"/>
              </a:lnSpc>
              <a:spcBef>
                <a:spcPts val="1200"/>
              </a:spcBef>
              <a:spcAft>
                <a:spcPts val="0"/>
              </a:spcAft>
              <a:buNone/>
            </a:pPr>
            <a:r>
              <a:t/>
            </a:r>
            <a:endParaRPr sz="1600">
              <a:solidFill>
                <a:srgbClr val="595959"/>
              </a:solidFill>
              <a:latin typeface="Nunito"/>
              <a:ea typeface="Nunito"/>
              <a:cs typeface="Nunito"/>
              <a:sym typeface="Nunito"/>
            </a:endParaRPr>
          </a:p>
          <a:p>
            <a:pPr indent="0" lvl="0" marL="0" rtl="0" algn="l">
              <a:lnSpc>
                <a:spcPct val="105000"/>
              </a:lnSpc>
              <a:spcBef>
                <a:spcPts val="1000"/>
              </a:spcBef>
              <a:spcAft>
                <a:spcPts val="0"/>
              </a:spcAft>
              <a:buNone/>
            </a:pPr>
            <a:r>
              <a:t/>
            </a:r>
            <a:endParaRPr sz="1600">
              <a:solidFill>
                <a:srgbClr val="595959"/>
              </a:solidFill>
              <a:latin typeface="Nunito"/>
              <a:ea typeface="Nunito"/>
              <a:cs typeface="Nunito"/>
              <a:sym typeface="Nunito"/>
            </a:endParaRPr>
          </a:p>
          <a:p>
            <a:pPr indent="-187999" lvl="0" marL="208799" rtl="0" algn="l">
              <a:lnSpc>
                <a:spcPct val="105000"/>
              </a:lnSpc>
              <a:spcBef>
                <a:spcPts val="1000"/>
              </a:spcBef>
              <a:spcAft>
                <a:spcPts val="0"/>
              </a:spcAft>
              <a:buClr>
                <a:srgbClr val="93C47D"/>
              </a:buClr>
              <a:buSzPts val="1600"/>
              <a:buFont typeface="Nunito"/>
              <a:buChar char="●"/>
            </a:pPr>
            <a:r>
              <a:rPr lang="fr" sz="1600">
                <a:solidFill>
                  <a:srgbClr val="595959"/>
                </a:solidFill>
                <a:latin typeface="Nunito"/>
                <a:ea typeface="Nunito"/>
                <a:cs typeface="Nunito"/>
                <a:sym typeface="Nunito"/>
              </a:rPr>
              <a:t>Kinematical cuts:</a:t>
            </a:r>
            <a:endParaRPr sz="1600">
              <a:solidFill>
                <a:srgbClr val="595959"/>
              </a:solidFill>
              <a:latin typeface="Nunito"/>
              <a:ea typeface="Nunito"/>
              <a:cs typeface="Nunito"/>
              <a:sym typeface="Nunito"/>
            </a:endParaRPr>
          </a:p>
          <a:p>
            <a:pPr indent="-175299" lvl="1" marL="414000" rtl="0" algn="l">
              <a:lnSpc>
                <a:spcPct val="105000"/>
              </a:lnSpc>
              <a:spcBef>
                <a:spcPts val="1000"/>
              </a:spcBef>
              <a:spcAft>
                <a:spcPts val="0"/>
              </a:spcAft>
              <a:buClr>
                <a:srgbClr val="93C47D"/>
              </a:buClr>
              <a:buSzPts val="1400"/>
              <a:buFont typeface="Nunito"/>
              <a:buChar char="○"/>
            </a:pPr>
            <a:r>
              <a:rPr lang="fr">
                <a:solidFill>
                  <a:srgbClr val="595959"/>
                </a:solidFill>
                <a:latin typeface="Nunito"/>
                <a:ea typeface="Nunito"/>
                <a:cs typeface="Nunito"/>
                <a:sym typeface="Nunito"/>
              </a:rPr>
              <a:t>W &gt; 2 GeV </a:t>
            </a:r>
            <a:r>
              <a:rPr lang="fr">
                <a:solidFill>
                  <a:schemeClr val="dk2"/>
                </a:solidFill>
                <a:latin typeface="Nunito"/>
                <a:ea typeface="Nunito"/>
                <a:cs typeface="Nunito"/>
                <a:sym typeface="Nunito"/>
              </a:rPr>
              <a:t>↦ avoid resonance region</a:t>
            </a:r>
            <a:endParaRPr baseline="30000">
              <a:solidFill>
                <a:srgbClr val="595959"/>
              </a:solidFill>
              <a:latin typeface="Nunito"/>
              <a:ea typeface="Nunito"/>
              <a:cs typeface="Nunito"/>
              <a:sym typeface="Nunito"/>
            </a:endParaRPr>
          </a:p>
          <a:p>
            <a:pPr indent="-175299" lvl="1" marL="414000" rtl="0" algn="l">
              <a:lnSpc>
                <a:spcPct val="115000"/>
              </a:lnSpc>
              <a:spcBef>
                <a:spcPts val="0"/>
              </a:spcBef>
              <a:spcAft>
                <a:spcPts val="0"/>
              </a:spcAft>
              <a:buClr>
                <a:srgbClr val="93C47D"/>
              </a:buClr>
              <a:buSzPts val="1400"/>
              <a:buFont typeface="Nunito"/>
              <a:buChar char="○"/>
            </a:pPr>
            <a:r>
              <a:rPr lang="fr">
                <a:solidFill>
                  <a:schemeClr val="dk2"/>
                </a:solidFill>
                <a:latin typeface="Nunito"/>
                <a:ea typeface="Nunito"/>
                <a:cs typeface="Nunito"/>
                <a:sym typeface="Nunito"/>
              </a:rPr>
              <a:t>Q</a:t>
            </a:r>
            <a:r>
              <a:rPr baseline="30000" lang="fr">
                <a:solidFill>
                  <a:schemeClr val="dk2"/>
                </a:solidFill>
                <a:latin typeface="Nunito"/>
                <a:ea typeface="Nunito"/>
                <a:cs typeface="Nunito"/>
                <a:sym typeface="Nunito"/>
              </a:rPr>
              <a:t>2 </a:t>
            </a:r>
            <a:r>
              <a:rPr lang="fr">
                <a:solidFill>
                  <a:schemeClr val="dk2"/>
                </a:solidFill>
                <a:latin typeface="Nunito"/>
                <a:ea typeface="Nunito"/>
                <a:cs typeface="Nunito"/>
                <a:sym typeface="Nunito"/>
              </a:rPr>
              <a:t>&gt;1 GeV</a:t>
            </a:r>
            <a:r>
              <a:rPr baseline="30000" lang="fr">
                <a:solidFill>
                  <a:schemeClr val="dk2"/>
                </a:solidFill>
                <a:latin typeface="Nunito"/>
                <a:ea typeface="Nunito"/>
                <a:cs typeface="Nunito"/>
                <a:sym typeface="Nunito"/>
              </a:rPr>
              <a:t>2 </a:t>
            </a:r>
            <a:r>
              <a:rPr lang="fr">
                <a:solidFill>
                  <a:schemeClr val="dk2"/>
                </a:solidFill>
                <a:latin typeface="Nunito"/>
                <a:ea typeface="Nunito"/>
                <a:cs typeface="Nunito"/>
                <a:sym typeface="Nunito"/>
              </a:rPr>
              <a:t>and </a:t>
            </a:r>
            <a:r>
              <a:rPr lang="fr">
                <a:solidFill>
                  <a:srgbClr val="595959"/>
                </a:solidFill>
                <a:latin typeface="Nunito"/>
                <a:ea typeface="Nunito"/>
                <a:cs typeface="Nunito"/>
                <a:sym typeface="Nunito"/>
              </a:rPr>
              <a:t>0.3&lt; </a:t>
            </a:r>
            <a:r>
              <a:rPr lang="fr">
                <a:solidFill>
                  <a:srgbClr val="595959"/>
                </a:solidFill>
                <a:latin typeface="Nunito"/>
                <a:ea typeface="Nunito"/>
                <a:cs typeface="Nunito"/>
                <a:sym typeface="Nunito"/>
              </a:rPr>
              <a:t>z</a:t>
            </a:r>
            <a:r>
              <a:rPr baseline="-25000" lang="fr">
                <a:solidFill>
                  <a:srgbClr val="595959"/>
                </a:solidFill>
                <a:latin typeface="Nunito"/>
                <a:ea typeface="Nunito"/>
                <a:cs typeface="Nunito"/>
                <a:sym typeface="Nunito"/>
              </a:rPr>
              <a:t>h</a:t>
            </a:r>
            <a:r>
              <a:rPr lang="fr">
                <a:solidFill>
                  <a:srgbClr val="595959"/>
                </a:solidFill>
                <a:latin typeface="Nunito"/>
                <a:ea typeface="Nunito"/>
                <a:cs typeface="Nunito"/>
                <a:sym typeface="Nunito"/>
              </a:rPr>
              <a:t>&lt; 0.7 </a:t>
            </a:r>
            <a:r>
              <a:rPr lang="fr">
                <a:solidFill>
                  <a:schemeClr val="dk2"/>
                </a:solidFill>
                <a:latin typeface="Nunito"/>
                <a:ea typeface="Nunito"/>
                <a:cs typeface="Nunito"/>
                <a:sym typeface="Nunito"/>
              </a:rPr>
              <a:t>↦ region in which the TMDs factorization holds</a:t>
            </a:r>
            <a:endParaRPr>
              <a:solidFill>
                <a:srgbClr val="595959"/>
              </a:solidFill>
              <a:latin typeface="Nunito"/>
              <a:ea typeface="Nunito"/>
              <a:cs typeface="Nunito"/>
              <a:sym typeface="Nunito"/>
            </a:endParaRPr>
          </a:p>
        </p:txBody>
      </p:sp>
      <p:pic>
        <p:nvPicPr>
          <p:cNvPr id="317" name="Google Shape;317;p38"/>
          <p:cNvPicPr preferRelativeResize="0"/>
          <p:nvPr/>
        </p:nvPicPr>
        <p:blipFill>
          <a:blip r:embed="rId3">
            <a:alphaModFix/>
          </a:blip>
          <a:stretch>
            <a:fillRect/>
          </a:stretch>
        </p:blipFill>
        <p:spPr>
          <a:xfrm>
            <a:off x="4090575" y="686700"/>
            <a:ext cx="5048453" cy="38729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9"/>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Summary and Outlook</a:t>
            </a:r>
            <a:endParaRPr/>
          </a:p>
        </p:txBody>
      </p:sp>
      <p:sp>
        <p:nvSpPr>
          <p:cNvPr id="323" name="Google Shape;323;p39"/>
          <p:cNvSpPr txBox="1"/>
          <p:nvPr>
            <p:ph idx="1" type="body"/>
          </p:nvPr>
        </p:nvSpPr>
        <p:spPr>
          <a:xfrm>
            <a:off x="275" y="597300"/>
            <a:ext cx="9144000" cy="4299900"/>
          </a:xfrm>
          <a:prstGeom prst="rect">
            <a:avLst/>
          </a:prstGeom>
        </p:spPr>
        <p:txBody>
          <a:bodyPr anchorCtr="0" anchor="t" bIns="91425" lIns="91425" spcFirstLastPara="1" rIns="91425" wrap="square" tIns="91425">
            <a:noAutofit/>
          </a:bodyPr>
          <a:lstStyle/>
          <a:p>
            <a:pPr indent="-213399" lvl="0" marL="208799" rtl="0" algn="l">
              <a:spcBef>
                <a:spcPts val="0"/>
              </a:spcBef>
              <a:spcAft>
                <a:spcPts val="0"/>
              </a:spcAft>
              <a:buSzPts val="2000"/>
              <a:buFont typeface="Nunito"/>
              <a:buChar char="●"/>
            </a:pPr>
            <a:r>
              <a:rPr lang="fr" sz="2000">
                <a:latin typeface="Nunito"/>
                <a:ea typeface="Nunito"/>
                <a:cs typeface="Nunito"/>
                <a:sym typeface="Nunito"/>
              </a:rPr>
              <a:t>RG-D preparation for the Pass1 cooking review entails</a:t>
            </a:r>
            <a:r>
              <a:rPr lang="fr" sz="2000">
                <a:latin typeface="Nunito"/>
                <a:ea typeface="Nunito"/>
                <a:cs typeface="Nunito"/>
                <a:sym typeface="Nunito"/>
              </a:rPr>
              <a:t> </a:t>
            </a:r>
            <a:endParaRPr sz="2000">
              <a:latin typeface="Nunito"/>
              <a:ea typeface="Nunito"/>
              <a:cs typeface="Nunito"/>
              <a:sym typeface="Nunito"/>
            </a:endParaRPr>
          </a:p>
          <a:p>
            <a:pPr indent="-187999" lvl="1" marL="342000" rtl="0" algn="l">
              <a:spcBef>
                <a:spcPts val="0"/>
              </a:spcBef>
              <a:spcAft>
                <a:spcPts val="0"/>
              </a:spcAft>
              <a:buSzPts val="1600"/>
              <a:buFont typeface="Nunito"/>
              <a:buChar char="○"/>
            </a:pPr>
            <a:r>
              <a:rPr lang="fr" sz="1600">
                <a:latin typeface="Nunito"/>
                <a:ea typeface="Nunito"/>
                <a:cs typeface="Nunito"/>
                <a:sym typeface="Nunito"/>
              </a:rPr>
              <a:t>Finalizing the DC calibration and checking its quality with Pass0 timelines, while all other subsystems calibration is done</a:t>
            </a:r>
            <a:endParaRPr sz="1600">
              <a:latin typeface="Nunito"/>
              <a:ea typeface="Nunito"/>
              <a:cs typeface="Nunito"/>
              <a:sym typeface="Nunito"/>
            </a:endParaRPr>
          </a:p>
          <a:p>
            <a:pPr indent="-187999" lvl="1" marL="342000" rtl="0" algn="l">
              <a:spcBef>
                <a:spcPts val="0"/>
              </a:spcBef>
              <a:spcAft>
                <a:spcPts val="0"/>
              </a:spcAft>
              <a:buSzPts val="1600"/>
              <a:buFont typeface="Nunito"/>
              <a:buChar char="○"/>
            </a:pPr>
            <a:r>
              <a:rPr lang="fr" sz="1600">
                <a:latin typeface="Nunito"/>
                <a:ea typeface="Nunito"/>
                <a:cs typeface="Nunito"/>
                <a:sym typeface="Nunito"/>
              </a:rPr>
              <a:t>Retrain the RG-D AI network after completing the DC calibration</a:t>
            </a:r>
            <a:endParaRPr sz="1600">
              <a:latin typeface="Nunito"/>
              <a:ea typeface="Nunito"/>
              <a:cs typeface="Nunito"/>
              <a:sym typeface="Nunito"/>
            </a:endParaRPr>
          </a:p>
          <a:p>
            <a:pPr indent="-187999" lvl="1" marL="342000" rtl="0" algn="l">
              <a:spcBef>
                <a:spcPts val="0"/>
              </a:spcBef>
              <a:spcAft>
                <a:spcPts val="0"/>
              </a:spcAft>
              <a:buSzPts val="1600"/>
              <a:buFont typeface="Nunito"/>
              <a:buChar char="○"/>
            </a:pPr>
            <a:r>
              <a:rPr lang="fr" sz="1600">
                <a:latin typeface="Nunito"/>
                <a:ea typeface="Nunito"/>
                <a:cs typeface="Nunito"/>
                <a:sym typeface="Nunito"/>
              </a:rPr>
              <a:t>Complete adapting the high-level physics QA timeline to RG-D run conditions</a:t>
            </a:r>
            <a:endParaRPr sz="1600">
              <a:latin typeface="Nunito"/>
              <a:ea typeface="Nunito"/>
              <a:cs typeface="Nunito"/>
              <a:sym typeface="Nunito"/>
            </a:endParaRPr>
          </a:p>
          <a:p>
            <a:pPr indent="-187999" lvl="1" marL="342000" rtl="0" algn="l">
              <a:spcBef>
                <a:spcPts val="0"/>
              </a:spcBef>
              <a:spcAft>
                <a:spcPts val="0"/>
              </a:spcAft>
              <a:buSzPts val="1600"/>
              <a:buFont typeface="Nunito"/>
              <a:buChar char="○"/>
            </a:pPr>
            <a:r>
              <a:rPr lang="fr" sz="1600">
                <a:latin typeface="Nunito"/>
                <a:ea typeface="Nunito"/>
                <a:cs typeface="Nunito"/>
                <a:sym typeface="Nunito"/>
              </a:rPr>
              <a:t>Perform background merging for data and Monte-Carlo tracking efficiency comparison</a:t>
            </a:r>
            <a:endParaRPr sz="1600">
              <a:latin typeface="Nunito"/>
              <a:ea typeface="Nunito"/>
              <a:cs typeface="Nunito"/>
              <a:sym typeface="Nunito"/>
            </a:endParaRPr>
          </a:p>
          <a:p>
            <a:pPr indent="-213399" lvl="0" marL="208799" rtl="0" algn="l">
              <a:spcBef>
                <a:spcPts val="0"/>
              </a:spcBef>
              <a:spcAft>
                <a:spcPts val="0"/>
              </a:spcAft>
              <a:buSzPts val="2000"/>
              <a:buFont typeface="Nunito"/>
              <a:buChar char="●"/>
            </a:pPr>
            <a:r>
              <a:rPr lang="fr" sz="2000">
                <a:latin typeface="Nunito"/>
                <a:ea typeface="Nunito"/>
                <a:cs typeface="Nunito"/>
                <a:sym typeface="Nunito"/>
              </a:rPr>
              <a:t>Optimizing</a:t>
            </a:r>
            <a:r>
              <a:rPr lang="fr" sz="2000">
                <a:latin typeface="Nunito"/>
                <a:ea typeface="Nunito"/>
                <a:cs typeface="Nunito"/>
                <a:sym typeface="Nunito"/>
              </a:rPr>
              <a:t> analysis tools for CT and nTMDs studies to</a:t>
            </a:r>
            <a:endParaRPr sz="2000">
              <a:latin typeface="Nunito"/>
              <a:ea typeface="Nunito"/>
              <a:cs typeface="Nunito"/>
              <a:sym typeface="Nunito"/>
            </a:endParaRPr>
          </a:p>
          <a:p>
            <a:pPr indent="-181649" lvl="1" marL="342000" rtl="0" algn="l">
              <a:spcBef>
                <a:spcPts val="0"/>
              </a:spcBef>
              <a:spcAft>
                <a:spcPts val="0"/>
              </a:spcAft>
              <a:buSzPts val="1500"/>
              <a:buFont typeface="Nunito"/>
              <a:buChar char="○"/>
            </a:pPr>
            <a:r>
              <a:rPr lang="fr" sz="1500">
                <a:latin typeface="Nunito"/>
                <a:ea typeface="Nunito"/>
                <a:cs typeface="Nunito"/>
                <a:sym typeface="Nunito"/>
              </a:rPr>
              <a:t>Improve Particle IDentification for all final-state particles</a:t>
            </a:r>
            <a:endParaRPr sz="1500">
              <a:latin typeface="Nunito"/>
              <a:ea typeface="Nunito"/>
              <a:cs typeface="Nunito"/>
              <a:sym typeface="Nunito"/>
            </a:endParaRPr>
          </a:p>
          <a:p>
            <a:pPr indent="-181649" lvl="1" marL="342000" rtl="0" algn="l">
              <a:spcBef>
                <a:spcPts val="0"/>
              </a:spcBef>
              <a:spcAft>
                <a:spcPts val="0"/>
              </a:spcAft>
              <a:buSzPts val="1500"/>
              <a:buFont typeface="Nunito"/>
              <a:buChar char="○"/>
            </a:pPr>
            <a:r>
              <a:rPr lang="fr" sz="1500">
                <a:latin typeface="Nunito"/>
                <a:ea typeface="Nunito"/>
                <a:cs typeface="Nunito"/>
                <a:sym typeface="Nunito"/>
              </a:rPr>
              <a:t>Fine-tune the vertex cuts and corrections once the full calibration is completed</a:t>
            </a:r>
            <a:endParaRPr sz="1500">
              <a:latin typeface="Nunito"/>
              <a:ea typeface="Nunito"/>
              <a:cs typeface="Nunito"/>
              <a:sym typeface="Nunito"/>
            </a:endParaRPr>
          </a:p>
          <a:p>
            <a:pPr indent="-181649" lvl="1" marL="342000" rtl="0" algn="l">
              <a:spcBef>
                <a:spcPts val="0"/>
              </a:spcBef>
              <a:spcAft>
                <a:spcPts val="0"/>
              </a:spcAft>
              <a:buSzPts val="1500"/>
              <a:buFont typeface="Nunito"/>
              <a:buChar char="○"/>
            </a:pPr>
            <a:r>
              <a:rPr lang="fr" sz="1500">
                <a:latin typeface="Nunito"/>
                <a:ea typeface="Nunito"/>
                <a:cs typeface="Nunito"/>
                <a:sym typeface="Nunito"/>
              </a:rPr>
              <a:t>Implement fiducial cuts</a:t>
            </a:r>
            <a:endParaRPr sz="1500">
              <a:latin typeface="Nunito"/>
              <a:ea typeface="Nunito"/>
              <a:cs typeface="Nunito"/>
              <a:sym typeface="Nunito"/>
            </a:endParaRPr>
          </a:p>
          <a:p>
            <a:pPr indent="-181649" lvl="1" marL="342000" rtl="0" algn="l">
              <a:spcBef>
                <a:spcPts val="0"/>
              </a:spcBef>
              <a:spcAft>
                <a:spcPts val="0"/>
              </a:spcAft>
              <a:buSzPts val="1500"/>
              <a:buFont typeface="Nunito"/>
              <a:buChar char="○"/>
            </a:pPr>
            <a:r>
              <a:rPr lang="fr" sz="1500">
                <a:latin typeface="Nunito"/>
                <a:ea typeface="Nunito"/>
                <a:cs typeface="Nunito"/>
                <a:sym typeface="Nunito"/>
              </a:rPr>
              <a:t>Deploy the ρ</a:t>
            </a:r>
            <a:r>
              <a:rPr baseline="30000" lang="fr" sz="1500">
                <a:latin typeface="Nunito"/>
                <a:ea typeface="Nunito"/>
                <a:cs typeface="Nunito"/>
                <a:sym typeface="Nunito"/>
              </a:rPr>
              <a:t>0</a:t>
            </a:r>
            <a:r>
              <a:rPr lang="fr" sz="1500">
                <a:latin typeface="Nunito"/>
                <a:ea typeface="Nunito"/>
                <a:cs typeface="Nunito"/>
                <a:sym typeface="Nunito"/>
              </a:rPr>
              <a:t> event generator for its two-pion invariant mass background subtraction and apply necessary corrections for the extraction of the preliminary CT results</a:t>
            </a:r>
            <a:endParaRPr sz="1500">
              <a:latin typeface="Nunito"/>
              <a:ea typeface="Nunito"/>
              <a:cs typeface="Nunito"/>
              <a:sym typeface="Nunito"/>
            </a:endParaRPr>
          </a:p>
          <a:p>
            <a:pPr indent="-181649" lvl="1" marL="342000" rtl="0" algn="l">
              <a:spcBef>
                <a:spcPts val="0"/>
              </a:spcBef>
              <a:spcAft>
                <a:spcPts val="0"/>
              </a:spcAft>
              <a:buSzPts val="1500"/>
              <a:buFont typeface="Nunito"/>
              <a:buChar char="○"/>
            </a:pPr>
            <a:r>
              <a:rPr lang="fr" sz="1500">
                <a:latin typeface="Nunito"/>
                <a:ea typeface="Nunito"/>
                <a:cs typeface="Nunito"/>
                <a:sym typeface="Nunito"/>
              </a:rPr>
              <a:t>Finalize the π</a:t>
            </a:r>
            <a:r>
              <a:rPr baseline="30000" lang="fr" sz="1500">
                <a:latin typeface="Nunito"/>
                <a:ea typeface="Nunito"/>
                <a:cs typeface="Nunito"/>
                <a:sym typeface="Nunito"/>
              </a:rPr>
              <a:t>0</a:t>
            </a:r>
            <a:r>
              <a:rPr lang="fr" sz="1500">
                <a:latin typeface="Nunito"/>
                <a:ea typeface="Nunito"/>
                <a:cs typeface="Nunito"/>
                <a:sym typeface="Nunito"/>
              </a:rPr>
              <a:t> event mixing background-subtraction and extract its preliminary asymmetry results</a:t>
            </a:r>
            <a:endParaRPr sz="1500">
              <a:latin typeface="Nunito"/>
              <a:ea typeface="Nunito"/>
              <a:cs typeface="Nunito"/>
              <a:sym typeface="Nunito"/>
            </a:endParaRPr>
          </a:p>
          <a:p>
            <a:pPr indent="-181649" lvl="1" marL="342000" rtl="0" algn="l">
              <a:spcBef>
                <a:spcPts val="0"/>
              </a:spcBef>
              <a:spcAft>
                <a:spcPts val="0"/>
              </a:spcAft>
              <a:buSzPts val="1500"/>
              <a:buFont typeface="Nunito"/>
              <a:buChar char="○"/>
            </a:pPr>
            <a:r>
              <a:rPr lang="fr" sz="1500">
                <a:latin typeface="Nunito"/>
                <a:ea typeface="Nunito"/>
                <a:cs typeface="Nunito"/>
                <a:sym typeface="Nunito"/>
              </a:rPr>
              <a:t>Obtain the preliminary asymmetry results for charged pions nTMDs studies</a:t>
            </a:r>
            <a:endParaRPr sz="1500">
              <a:latin typeface="Nunito"/>
              <a:ea typeface="Nunito"/>
              <a:cs typeface="Nunito"/>
              <a:sym typeface="Nunito"/>
            </a:endParaRPr>
          </a:p>
        </p:txBody>
      </p:sp>
      <p:sp>
        <p:nvSpPr>
          <p:cNvPr id="324" name="Google Shape;324;p39"/>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0"/>
          <p:cNvSpPr txBox="1"/>
          <p:nvPr>
            <p:ph type="title"/>
          </p:nvPr>
        </p:nvSpPr>
        <p:spPr>
          <a:xfrm>
            <a:off x="311700" y="2150850"/>
            <a:ext cx="8520600" cy="841800"/>
          </a:xfrm>
          <a:prstGeom prst="rect">
            <a:avLst/>
          </a:prstGeom>
          <a:solidFill>
            <a:srgbClr val="B6D7A8"/>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rmAutofit/>
          </a:bodyPr>
          <a:lstStyle/>
          <a:p>
            <a:pPr indent="0" lvl="0" marL="0" rtl="0" algn="ctr">
              <a:spcBef>
                <a:spcPts val="0"/>
              </a:spcBef>
              <a:spcAft>
                <a:spcPts val="0"/>
              </a:spcAft>
              <a:buNone/>
            </a:pPr>
            <a:r>
              <a:rPr lang="fr">
                <a:solidFill>
                  <a:schemeClr val="dk2"/>
                </a:solidFill>
                <a:latin typeface="Nunito"/>
                <a:ea typeface="Nunito"/>
                <a:cs typeface="Nunito"/>
                <a:sym typeface="Nunito"/>
              </a:rPr>
              <a:t>Backup</a:t>
            </a:r>
            <a:endParaRPr>
              <a:solidFill>
                <a:schemeClr val="dk2"/>
              </a:solidFill>
              <a:latin typeface="Nunito"/>
              <a:ea typeface="Nunito"/>
              <a:cs typeface="Nunito"/>
              <a:sym typeface="Nunito"/>
            </a:endParaRPr>
          </a:p>
        </p:txBody>
      </p:sp>
      <p:sp>
        <p:nvSpPr>
          <p:cNvPr id="330" name="Google Shape;330;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0" lang="fr" sz="1000">
                <a:solidFill>
                  <a:schemeClr val="dk2"/>
                </a:solidFill>
                <a:latin typeface="Arial"/>
                <a:ea typeface="Arial"/>
                <a:cs typeface="Arial"/>
                <a:sym typeface="Arial"/>
              </a:rPr>
              <a:t>‹#›</a:t>
            </a:fld>
            <a:endParaRPr b="0" sz="1000">
              <a:solidFill>
                <a:schemeClr val="dk2"/>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1"/>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CT Study: </a:t>
            </a:r>
            <a:r>
              <a:rPr lang="fr"/>
              <a:t>Two-pion Invariant Mass</a:t>
            </a:r>
            <a:endParaRPr/>
          </a:p>
        </p:txBody>
      </p:sp>
      <p:sp>
        <p:nvSpPr>
          <p:cNvPr id="336" name="Google Shape;336;p41"/>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b="1" lang="fr" sz="2100">
                <a:solidFill>
                  <a:schemeClr val="lt2"/>
                </a:solidFill>
                <a:latin typeface="Nunito"/>
                <a:ea typeface="Nunito"/>
                <a:cs typeface="Nunito"/>
                <a:sym typeface="Nunito"/>
              </a:rPr>
              <a:t>‹#›</a:t>
            </a:fld>
            <a:endParaRPr sz="2100">
              <a:solidFill>
                <a:schemeClr val="lt2"/>
              </a:solidFill>
              <a:latin typeface="Nunito"/>
              <a:ea typeface="Nunito"/>
              <a:cs typeface="Nunito"/>
              <a:sym typeface="Nunito"/>
            </a:endParaRPr>
          </a:p>
        </p:txBody>
      </p:sp>
      <p:pic>
        <p:nvPicPr>
          <p:cNvPr id="337" name="Google Shape;337;p41"/>
          <p:cNvPicPr preferRelativeResize="0"/>
          <p:nvPr/>
        </p:nvPicPr>
        <p:blipFill>
          <a:blip r:embed="rId3">
            <a:alphaModFix/>
          </a:blip>
          <a:stretch>
            <a:fillRect/>
          </a:stretch>
        </p:blipFill>
        <p:spPr>
          <a:xfrm>
            <a:off x="1632850" y="1212075"/>
            <a:ext cx="6713023" cy="3523250"/>
          </a:xfrm>
          <a:prstGeom prst="rect">
            <a:avLst/>
          </a:prstGeom>
          <a:noFill/>
          <a:ln>
            <a:noFill/>
          </a:ln>
        </p:spPr>
      </p:pic>
      <p:sp>
        <p:nvSpPr>
          <p:cNvPr id="338" name="Google Shape;338;p41"/>
          <p:cNvSpPr/>
          <p:nvPr/>
        </p:nvSpPr>
        <p:spPr>
          <a:xfrm>
            <a:off x="7768625" y="4408725"/>
            <a:ext cx="389400" cy="295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39" name="Google Shape;339;p41"/>
          <p:cNvSpPr txBox="1"/>
          <p:nvPr>
            <p:ph idx="1" type="body"/>
          </p:nvPr>
        </p:nvSpPr>
        <p:spPr>
          <a:xfrm>
            <a:off x="76200" y="647400"/>
            <a:ext cx="9181800" cy="647400"/>
          </a:xfrm>
          <a:prstGeom prst="rect">
            <a:avLst/>
          </a:prstGeom>
        </p:spPr>
        <p:txBody>
          <a:bodyPr anchorCtr="0" anchor="t" bIns="0" lIns="0" spcFirstLastPara="1" rIns="0" wrap="square" tIns="0">
            <a:noAutofit/>
          </a:bodyPr>
          <a:lstStyle/>
          <a:p>
            <a:pPr indent="-219749" lvl="0" marL="208799" rtl="0" algn="l">
              <a:lnSpc>
                <a:spcPct val="100000"/>
              </a:lnSpc>
              <a:spcBef>
                <a:spcPts val="0"/>
              </a:spcBef>
              <a:spcAft>
                <a:spcPts val="0"/>
              </a:spcAft>
              <a:buSzPts val="2100"/>
              <a:buFont typeface="Nunito"/>
              <a:buChar char="●"/>
            </a:pPr>
            <a:r>
              <a:rPr lang="fr" sz="1600">
                <a:latin typeface="Nunito"/>
                <a:ea typeface="Nunito"/>
                <a:cs typeface="Nunito"/>
                <a:sym typeface="Nunito"/>
              </a:rPr>
              <a:t>Our event generator incorporates the measured cross sections by Cassel et </a:t>
            </a:r>
            <a:r>
              <a:rPr i="1" lang="fr" sz="1600">
                <a:latin typeface="Nunito"/>
                <a:ea typeface="Nunito"/>
                <a:cs typeface="Nunito"/>
                <a:sym typeface="Nunito"/>
              </a:rPr>
              <a:t>al</a:t>
            </a:r>
            <a:r>
              <a:rPr lang="fr" sz="1600">
                <a:latin typeface="Nunito"/>
                <a:ea typeface="Nunito"/>
                <a:cs typeface="Nunito"/>
                <a:sym typeface="Nunito"/>
              </a:rPr>
              <a:t>. for the electroproduction of ρ</a:t>
            </a:r>
            <a:r>
              <a:rPr baseline="30000" lang="fr" sz="1600">
                <a:latin typeface="Nunito"/>
                <a:ea typeface="Nunito"/>
                <a:cs typeface="Nunito"/>
                <a:sym typeface="Nunito"/>
              </a:rPr>
              <a:t>0</a:t>
            </a:r>
            <a:r>
              <a:rPr lang="fr" sz="1600">
                <a:latin typeface="Nunito"/>
                <a:ea typeface="Nunito"/>
                <a:cs typeface="Nunito"/>
                <a:sym typeface="Nunito"/>
              </a:rPr>
              <a:t> and the three main background processes </a:t>
            </a:r>
            <a:endParaRPr sz="2100">
              <a:latin typeface="Nunito"/>
              <a:ea typeface="Nunito"/>
              <a:cs typeface="Nunito"/>
              <a:sym typeface="Nunito"/>
            </a:endParaRPr>
          </a:p>
        </p:txBody>
      </p:sp>
      <p:sp>
        <p:nvSpPr>
          <p:cNvPr id="340" name="Google Shape;340;p41"/>
          <p:cNvSpPr/>
          <p:nvPr/>
        </p:nvSpPr>
        <p:spPr>
          <a:xfrm>
            <a:off x="8100650" y="4471525"/>
            <a:ext cx="369900" cy="263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4" name="Shape 344"/>
        <p:cNvGrpSpPr/>
        <p:nvPr/>
      </p:nvGrpSpPr>
      <p:grpSpPr>
        <a:xfrm>
          <a:off x="0" y="0"/>
          <a:ext cx="0" cy="0"/>
          <a:chOff x="0" y="0"/>
          <a:chExt cx="0" cy="0"/>
        </a:xfrm>
      </p:grpSpPr>
      <p:pic>
        <p:nvPicPr>
          <p:cNvPr id="345" name="Google Shape;345;p42"/>
          <p:cNvPicPr preferRelativeResize="0"/>
          <p:nvPr/>
        </p:nvPicPr>
        <p:blipFill>
          <a:blip r:embed="rId3">
            <a:alphaModFix/>
          </a:blip>
          <a:stretch>
            <a:fillRect/>
          </a:stretch>
        </p:blipFill>
        <p:spPr>
          <a:xfrm>
            <a:off x="33925" y="1802014"/>
            <a:ext cx="9144003" cy="2638723"/>
          </a:xfrm>
          <a:prstGeom prst="rect">
            <a:avLst/>
          </a:prstGeom>
          <a:noFill/>
          <a:ln>
            <a:noFill/>
          </a:ln>
        </p:spPr>
      </p:pic>
      <p:sp>
        <p:nvSpPr>
          <p:cNvPr id="346" name="Google Shape;346;p42"/>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Data Processing Summary</a:t>
            </a:r>
            <a:endParaRPr/>
          </a:p>
        </p:txBody>
      </p:sp>
      <p:sp>
        <p:nvSpPr>
          <p:cNvPr id="347" name="Google Shape;347;p42"/>
          <p:cNvSpPr txBox="1"/>
          <p:nvPr>
            <p:ph idx="1" type="body"/>
          </p:nvPr>
        </p:nvSpPr>
        <p:spPr>
          <a:xfrm>
            <a:off x="0" y="647400"/>
            <a:ext cx="9005700" cy="3908100"/>
          </a:xfrm>
          <a:prstGeom prst="rect">
            <a:avLst/>
          </a:prstGeom>
        </p:spPr>
        <p:txBody>
          <a:bodyPr anchorCtr="0" anchor="t" bIns="0" lIns="0" spcFirstLastPara="1" rIns="0" wrap="square" tIns="0">
            <a:normAutofit/>
          </a:bodyPr>
          <a:lstStyle/>
          <a:p>
            <a:pPr indent="-164700" lvl="0" marL="280800" rtl="0" algn="l">
              <a:spcBef>
                <a:spcPts val="0"/>
              </a:spcBef>
              <a:spcAft>
                <a:spcPts val="0"/>
              </a:spcAft>
              <a:buSzPts val="1800"/>
              <a:buFont typeface="Nunito"/>
              <a:buChar char="●"/>
            </a:pPr>
            <a:r>
              <a:rPr lang="fr">
                <a:latin typeface="Nunito"/>
                <a:ea typeface="Nunito"/>
                <a:cs typeface="Nunito"/>
                <a:sym typeface="Nunito"/>
              </a:rPr>
              <a:t>Timelines monitoring: </a:t>
            </a:r>
            <a:endParaRPr sz="1500">
              <a:latin typeface="Nunito"/>
              <a:ea typeface="Nunito"/>
              <a:cs typeface="Nunito"/>
              <a:sym typeface="Nunito"/>
            </a:endParaRPr>
          </a:p>
          <a:p>
            <a:pPr indent="-152000" lvl="1" marL="486000" rtl="0" algn="l">
              <a:spcBef>
                <a:spcPts val="0"/>
              </a:spcBef>
              <a:spcAft>
                <a:spcPts val="0"/>
              </a:spcAft>
              <a:buSzPts val="1600"/>
              <a:buChar char="○"/>
            </a:pPr>
            <a:r>
              <a:rPr lang="fr" sz="1600">
                <a:latin typeface="Nunito"/>
                <a:ea typeface="Nunito"/>
                <a:cs typeface="Nunito"/>
                <a:sym typeface="Nunito"/>
              </a:rPr>
              <a:t>February 25</a:t>
            </a:r>
            <a:r>
              <a:rPr baseline="30000" lang="fr" sz="1600">
                <a:latin typeface="Nunito"/>
                <a:ea typeface="Nunito"/>
                <a:cs typeface="Nunito"/>
                <a:sym typeface="Nunito"/>
              </a:rPr>
              <a:t>th</a:t>
            </a:r>
            <a:r>
              <a:rPr lang="fr" sz="1600">
                <a:latin typeface="Nunito"/>
                <a:ea typeface="Nunito"/>
                <a:cs typeface="Nunito"/>
                <a:sym typeface="Nunito"/>
              </a:rPr>
              <a:t>, 2025: Pass0v9_dcv2: DC mini-timelines produced with same Pass0v9 conditions to check the quality of the </a:t>
            </a:r>
            <a:r>
              <a:rPr lang="fr" sz="1600">
                <a:latin typeface="Nunito"/>
                <a:ea typeface="Nunito"/>
                <a:cs typeface="Nunito"/>
                <a:sym typeface="Nunito"/>
              </a:rPr>
              <a:t>T0 correction</a:t>
            </a:r>
            <a:endParaRPr sz="1600">
              <a:latin typeface="Nunito"/>
              <a:ea typeface="Nunito"/>
              <a:cs typeface="Nunito"/>
              <a:sym typeface="Nunito"/>
            </a:endParaRPr>
          </a:p>
          <a:p>
            <a:pPr indent="-187999" lvl="2" marL="903600" rtl="0" algn="l">
              <a:spcBef>
                <a:spcPts val="0"/>
              </a:spcBef>
              <a:spcAft>
                <a:spcPts val="0"/>
              </a:spcAft>
              <a:buSzPts val="1600"/>
              <a:buFont typeface="Nunito"/>
              <a:buChar char="■"/>
            </a:pPr>
            <a:r>
              <a:rPr lang="fr" sz="1600">
                <a:latin typeface="Nunito"/>
                <a:ea typeface="Nunito"/>
                <a:cs typeface="Nunito"/>
                <a:sym typeface="Nunito"/>
              </a:rPr>
              <a:t>Timelines are available </a:t>
            </a:r>
            <a:r>
              <a:rPr lang="fr" sz="1600" u="sng">
                <a:solidFill>
                  <a:schemeClr val="hlink"/>
                </a:solidFill>
                <a:latin typeface="Nunito"/>
                <a:ea typeface="Nunito"/>
                <a:cs typeface="Nunito"/>
                <a:sym typeface="Nunito"/>
                <a:hlinkClick r:id="rId4"/>
              </a:rPr>
              <a:t>here</a:t>
            </a:r>
            <a:endParaRPr sz="1600">
              <a:latin typeface="Nunito"/>
              <a:ea typeface="Nunito"/>
              <a:cs typeface="Nunito"/>
              <a:sym typeface="Nunito"/>
            </a:endParaRPr>
          </a:p>
          <a:p>
            <a:pPr indent="0" lvl="0" marL="457200" rtl="0" algn="l">
              <a:spcBef>
                <a:spcPts val="1200"/>
              </a:spcBef>
              <a:spcAft>
                <a:spcPts val="0"/>
              </a:spcAft>
              <a:buNone/>
            </a:pPr>
            <a:r>
              <a:t/>
            </a:r>
            <a:endParaRPr>
              <a:latin typeface="Nunito"/>
              <a:ea typeface="Nunito"/>
              <a:cs typeface="Nunito"/>
              <a:sym typeface="Nunito"/>
            </a:endParaRPr>
          </a:p>
          <a:p>
            <a:pPr indent="0" lvl="0" marL="457200" rtl="0" algn="l">
              <a:spcBef>
                <a:spcPts val="1200"/>
              </a:spcBef>
              <a:spcAft>
                <a:spcPts val="0"/>
              </a:spcAft>
              <a:buNone/>
            </a:pPr>
            <a:r>
              <a:t/>
            </a:r>
            <a:endParaRPr>
              <a:latin typeface="Nunito"/>
              <a:ea typeface="Nunito"/>
              <a:cs typeface="Nunito"/>
              <a:sym typeface="Nunito"/>
            </a:endParaRPr>
          </a:p>
          <a:p>
            <a:pPr indent="0" lvl="0" marL="0" rtl="0" algn="l">
              <a:spcBef>
                <a:spcPts val="1200"/>
              </a:spcBef>
              <a:spcAft>
                <a:spcPts val="1200"/>
              </a:spcAft>
              <a:buNone/>
            </a:pPr>
            <a:r>
              <a:t/>
            </a:r>
            <a:endParaRPr sz="1700">
              <a:latin typeface="Nunito"/>
              <a:ea typeface="Nunito"/>
              <a:cs typeface="Nunito"/>
              <a:sym typeface="Nunito"/>
            </a:endParaRPr>
          </a:p>
        </p:txBody>
      </p:sp>
      <p:sp>
        <p:nvSpPr>
          <p:cNvPr id="348" name="Google Shape;348;p42"/>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
        <p:nvSpPr>
          <p:cNvPr id="349" name="Google Shape;349;p42"/>
          <p:cNvSpPr txBox="1"/>
          <p:nvPr/>
        </p:nvSpPr>
        <p:spPr>
          <a:xfrm>
            <a:off x="-152400" y="4348050"/>
            <a:ext cx="8051100" cy="446400"/>
          </a:xfrm>
          <a:prstGeom prst="rect">
            <a:avLst/>
          </a:prstGeom>
          <a:noFill/>
          <a:ln>
            <a:noFill/>
          </a:ln>
        </p:spPr>
        <p:txBody>
          <a:bodyPr anchorCtr="0" anchor="t" bIns="91425" lIns="91425" spcFirstLastPara="1" rIns="91425" wrap="square" tIns="91425">
            <a:spAutoFit/>
          </a:bodyPr>
          <a:lstStyle/>
          <a:p>
            <a:pPr indent="-158350" lvl="0" marL="280800" rtl="0" algn="l">
              <a:lnSpc>
                <a:spcPct val="115000"/>
              </a:lnSpc>
              <a:spcBef>
                <a:spcPts val="0"/>
              </a:spcBef>
              <a:spcAft>
                <a:spcPts val="0"/>
              </a:spcAft>
              <a:buClr>
                <a:srgbClr val="93C47D"/>
              </a:buClr>
              <a:buSzPts val="1700"/>
              <a:buFont typeface="Nunito"/>
              <a:buChar char="●"/>
            </a:pPr>
            <a:r>
              <a:rPr lang="fr" sz="1700">
                <a:solidFill>
                  <a:schemeClr val="dk2"/>
                </a:solidFill>
                <a:latin typeface="Nunito"/>
                <a:ea typeface="Nunito"/>
                <a:cs typeface="Nunito"/>
                <a:sym typeface="Nunito"/>
              </a:rPr>
              <a:t>For more details, please visit the RG-D analysis </a:t>
            </a:r>
            <a:r>
              <a:rPr lang="fr" sz="1700" u="sng">
                <a:solidFill>
                  <a:schemeClr val="accent5"/>
                </a:solidFill>
                <a:latin typeface="Nunito"/>
                <a:ea typeface="Nunito"/>
                <a:cs typeface="Nunito"/>
                <a:sym typeface="Nunito"/>
                <a:hlinkClick r:id="rId5">
                  <a:extLst>
                    <a:ext uri="{A12FA001-AC4F-418D-AE19-62706E023703}">
                      <ahyp:hlinkClr val="tx"/>
                    </a:ext>
                  </a:extLst>
                </a:hlinkClick>
              </a:rPr>
              <a:t>wikipage</a:t>
            </a:r>
            <a:endParaRPr/>
          </a:p>
        </p:txBody>
      </p:sp>
      <p:sp>
        <p:nvSpPr>
          <p:cNvPr id="350" name="Google Shape;350;p42"/>
          <p:cNvSpPr txBox="1"/>
          <p:nvPr/>
        </p:nvSpPr>
        <p:spPr>
          <a:xfrm>
            <a:off x="5593225" y="1900900"/>
            <a:ext cx="13080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600">
                <a:solidFill>
                  <a:schemeClr val="dk2"/>
                </a:solidFill>
                <a:latin typeface="Nunito"/>
                <a:ea typeface="Nunito"/>
                <a:cs typeface="Nunito"/>
                <a:sym typeface="Nunito"/>
              </a:rPr>
              <a:t>sigma</a:t>
            </a:r>
            <a:endParaRPr sz="1600">
              <a:solidFill>
                <a:schemeClr val="dk2"/>
              </a:solidFill>
              <a:latin typeface="Nunito"/>
              <a:ea typeface="Nunito"/>
              <a:cs typeface="Nunito"/>
              <a:sym typeface="Nuni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4" name="Shape 354"/>
        <p:cNvGrpSpPr/>
        <p:nvPr/>
      </p:nvGrpSpPr>
      <p:grpSpPr>
        <a:xfrm>
          <a:off x="0" y="0"/>
          <a:ext cx="0" cy="0"/>
          <a:chOff x="0" y="0"/>
          <a:chExt cx="0" cy="0"/>
        </a:xfrm>
      </p:grpSpPr>
      <p:sp>
        <p:nvSpPr>
          <p:cNvPr id="355" name="Google Shape;355;p43"/>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Vertex Studies</a:t>
            </a:r>
            <a:endParaRPr/>
          </a:p>
        </p:txBody>
      </p:sp>
      <p:sp>
        <p:nvSpPr>
          <p:cNvPr id="356" name="Google Shape;356;p43"/>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
        <p:nvSpPr>
          <p:cNvPr id="357" name="Google Shape;357;p43"/>
          <p:cNvSpPr txBox="1"/>
          <p:nvPr/>
        </p:nvSpPr>
        <p:spPr>
          <a:xfrm>
            <a:off x="5112775" y="697050"/>
            <a:ext cx="4107600" cy="3901800"/>
          </a:xfrm>
          <a:prstGeom prst="rect">
            <a:avLst/>
          </a:prstGeom>
          <a:noFill/>
          <a:ln>
            <a:noFill/>
          </a:ln>
        </p:spPr>
        <p:txBody>
          <a:bodyPr anchorCtr="0" anchor="t" bIns="0" lIns="0" spcFirstLastPara="1" rIns="0" wrap="square" tIns="0">
            <a:normAutofit/>
          </a:bodyPr>
          <a:lstStyle/>
          <a:p>
            <a:pPr indent="-194349" lvl="0" marL="208799" rtl="0" algn="l">
              <a:lnSpc>
                <a:spcPct val="100000"/>
              </a:lnSpc>
              <a:spcBef>
                <a:spcPts val="0"/>
              </a:spcBef>
              <a:spcAft>
                <a:spcPts val="0"/>
              </a:spcAft>
              <a:buClr>
                <a:srgbClr val="93C47D"/>
              </a:buClr>
              <a:buSzPts val="1700"/>
              <a:buFont typeface="Nunito"/>
              <a:buChar char="●"/>
            </a:pPr>
            <a:r>
              <a:rPr lang="fr" sz="1800">
                <a:solidFill>
                  <a:srgbClr val="595959"/>
                </a:solidFill>
                <a:latin typeface="Nunito"/>
                <a:ea typeface="Nunito"/>
                <a:cs typeface="Nunito"/>
                <a:sym typeface="Nunito"/>
              </a:rPr>
              <a:t>Fits: </a:t>
            </a:r>
            <a:endParaRPr sz="1800">
              <a:solidFill>
                <a:srgbClr val="595959"/>
              </a:solidFill>
              <a:latin typeface="Nunito"/>
              <a:ea typeface="Nunito"/>
              <a:cs typeface="Nunito"/>
              <a:sym typeface="Nunito"/>
            </a:endParaRPr>
          </a:p>
          <a:p>
            <a:pPr indent="-187999" lvl="1" marL="414000" rtl="0" algn="l">
              <a:spcBef>
                <a:spcPts val="1000"/>
              </a:spcBef>
              <a:spcAft>
                <a:spcPts val="0"/>
              </a:spcAft>
              <a:buClr>
                <a:srgbClr val="93C47D"/>
              </a:buClr>
              <a:buSzPts val="1600"/>
              <a:buFont typeface="Nunito"/>
              <a:buChar char="○"/>
            </a:pPr>
            <a:r>
              <a:rPr lang="fr" sz="1600">
                <a:solidFill>
                  <a:srgbClr val="595959"/>
                </a:solidFill>
                <a:latin typeface="Nunito"/>
                <a:ea typeface="Nunito"/>
                <a:cs typeface="Nunito"/>
                <a:sym typeface="Nunito"/>
              </a:rPr>
              <a:t>Fit the empty LD2 cell and solid-foil regions, CxC and CuSn. Use</a:t>
            </a:r>
            <a:r>
              <a:rPr lang="fr" sz="1600">
                <a:solidFill>
                  <a:srgbClr val="595959"/>
                </a:solidFill>
                <a:latin typeface="Nunito"/>
                <a:ea typeface="Nunito"/>
                <a:cs typeface="Nunito"/>
                <a:sym typeface="Nunito"/>
              </a:rPr>
              <a:t> double gaussians</a:t>
            </a:r>
            <a:r>
              <a:rPr lang="fr" sz="1600">
                <a:solidFill>
                  <a:srgbClr val="595959"/>
                </a:solidFill>
                <a:latin typeface="Nunito"/>
                <a:ea typeface="Nunito"/>
                <a:cs typeface="Nunito"/>
                <a:sym typeface="Nunito"/>
              </a:rPr>
              <a:t> and first-order polynomial function for both LD2 cell and solid   foils</a:t>
            </a:r>
            <a:endParaRPr sz="1600">
              <a:solidFill>
                <a:srgbClr val="595959"/>
              </a:solidFill>
              <a:latin typeface="Nunito"/>
              <a:ea typeface="Nunito"/>
              <a:cs typeface="Nunito"/>
              <a:sym typeface="Nunito"/>
            </a:endParaRPr>
          </a:p>
          <a:p>
            <a:pPr indent="-187999" lvl="1" marL="414000" rtl="0" algn="l">
              <a:spcBef>
                <a:spcPts val="1000"/>
              </a:spcBef>
              <a:spcAft>
                <a:spcPts val="0"/>
              </a:spcAft>
              <a:buClr>
                <a:srgbClr val="93C47D"/>
              </a:buClr>
              <a:buSzPts val="1600"/>
              <a:buFont typeface="Nunito"/>
              <a:buChar char="○"/>
            </a:pPr>
            <a:r>
              <a:rPr lang="fr" sz="1600">
                <a:solidFill>
                  <a:srgbClr val="595959"/>
                </a:solidFill>
                <a:latin typeface="Nunito"/>
                <a:ea typeface="Nunito"/>
                <a:cs typeface="Nunito"/>
                <a:sym typeface="Nunito"/>
              </a:rPr>
              <a:t>Separate the two different foils Cu and Sn peaks from each other</a:t>
            </a:r>
            <a:endParaRPr sz="1600">
              <a:solidFill>
                <a:srgbClr val="595959"/>
              </a:solidFill>
              <a:latin typeface="Nunito"/>
              <a:ea typeface="Nunito"/>
              <a:cs typeface="Nunito"/>
              <a:sym typeface="Nunito"/>
            </a:endParaRPr>
          </a:p>
          <a:p>
            <a:pPr indent="-187999" lvl="1" marL="414000" rtl="0" algn="l">
              <a:spcBef>
                <a:spcPts val="1000"/>
              </a:spcBef>
              <a:spcAft>
                <a:spcPts val="0"/>
              </a:spcAft>
              <a:buClr>
                <a:srgbClr val="93C47D"/>
              </a:buClr>
              <a:buSzPts val="1600"/>
              <a:buFont typeface="Nunito"/>
              <a:buChar char="○"/>
            </a:pPr>
            <a:r>
              <a:rPr lang="fr" sz="1600">
                <a:solidFill>
                  <a:schemeClr val="dk2"/>
                </a:solidFill>
                <a:latin typeface="Nunito"/>
                <a:ea typeface="Nunito"/>
                <a:cs typeface="Nunito"/>
                <a:sym typeface="Nunito"/>
              </a:rPr>
              <a:t>Same study is performed</a:t>
            </a:r>
            <a:r>
              <a:rPr lang="fr" sz="1600">
                <a:solidFill>
                  <a:srgbClr val="595959"/>
                </a:solidFill>
                <a:latin typeface="Nunito"/>
                <a:ea typeface="Nunito"/>
                <a:cs typeface="Nunito"/>
                <a:sym typeface="Nunito"/>
              </a:rPr>
              <a:t> for hadrons, but the fit is performed with only one double gaussians and first order polynomial function since the empty LD2 cell had been already removed  with the electron vertex cut</a:t>
            </a:r>
            <a:endParaRPr sz="1600">
              <a:solidFill>
                <a:srgbClr val="595959"/>
              </a:solidFill>
              <a:latin typeface="Nunito"/>
              <a:ea typeface="Nunito"/>
              <a:cs typeface="Nunito"/>
              <a:sym typeface="Nunito"/>
            </a:endParaRPr>
          </a:p>
        </p:txBody>
      </p:sp>
      <p:pic>
        <p:nvPicPr>
          <p:cNvPr id="358" name="Google Shape;358;p43"/>
          <p:cNvPicPr preferRelativeResize="0"/>
          <p:nvPr/>
        </p:nvPicPr>
        <p:blipFill>
          <a:blip r:embed="rId4">
            <a:alphaModFix/>
          </a:blip>
          <a:stretch>
            <a:fillRect/>
          </a:stretch>
        </p:blipFill>
        <p:spPr>
          <a:xfrm>
            <a:off x="0" y="858750"/>
            <a:ext cx="5095576" cy="3813676"/>
          </a:xfrm>
          <a:prstGeom prst="rect">
            <a:avLst/>
          </a:prstGeom>
          <a:noFill/>
          <a:ln>
            <a:noFill/>
          </a:ln>
        </p:spPr>
      </p:pic>
      <p:cxnSp>
        <p:nvCxnSpPr>
          <p:cNvPr id="359" name="Google Shape;359;p43"/>
          <p:cNvCxnSpPr/>
          <p:nvPr/>
        </p:nvCxnSpPr>
        <p:spPr>
          <a:xfrm>
            <a:off x="1048775" y="4433775"/>
            <a:ext cx="986100" cy="0"/>
          </a:xfrm>
          <a:prstGeom prst="straightConnector1">
            <a:avLst/>
          </a:prstGeom>
          <a:noFill/>
          <a:ln cap="flat" cmpd="sng" w="28575">
            <a:solidFill>
              <a:srgbClr val="CC0000"/>
            </a:solidFill>
            <a:prstDash val="solid"/>
            <a:round/>
            <a:headEnd len="med" w="med" type="none"/>
            <a:tailEnd len="med" w="med" type="none"/>
          </a:ln>
        </p:spPr>
      </p:cxnSp>
      <p:cxnSp>
        <p:nvCxnSpPr>
          <p:cNvPr id="360" name="Google Shape;360;p43"/>
          <p:cNvCxnSpPr/>
          <p:nvPr/>
        </p:nvCxnSpPr>
        <p:spPr>
          <a:xfrm>
            <a:off x="2072450" y="4433775"/>
            <a:ext cx="893400" cy="0"/>
          </a:xfrm>
          <a:prstGeom prst="straightConnector1">
            <a:avLst/>
          </a:prstGeom>
          <a:noFill/>
          <a:ln cap="flat" cmpd="sng" w="28575">
            <a:solidFill>
              <a:srgbClr val="6AA84F"/>
            </a:solidFill>
            <a:prstDash val="solid"/>
            <a:round/>
            <a:headEnd len="med" w="med" type="none"/>
            <a:tailEnd len="med" w="med" type="none"/>
          </a:ln>
        </p:spPr>
      </p:cxnSp>
      <p:sp>
        <p:nvSpPr>
          <p:cNvPr id="361" name="Google Shape;361;p43"/>
          <p:cNvSpPr txBox="1"/>
          <p:nvPr/>
        </p:nvSpPr>
        <p:spPr>
          <a:xfrm>
            <a:off x="825225" y="4502925"/>
            <a:ext cx="1199400" cy="16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fr" sz="1300">
                <a:solidFill>
                  <a:srgbClr val="CC0000"/>
                </a:solidFill>
                <a:latin typeface="Nunito"/>
                <a:ea typeface="Nunito"/>
                <a:cs typeface="Nunito"/>
                <a:sym typeface="Nunito"/>
              </a:rPr>
              <a:t>Empty LD2 cell</a:t>
            </a:r>
            <a:endParaRPr sz="1300">
              <a:solidFill>
                <a:srgbClr val="CC0000"/>
              </a:solidFill>
              <a:latin typeface="Nunito"/>
              <a:ea typeface="Nunito"/>
              <a:cs typeface="Nunito"/>
              <a:sym typeface="Nunito"/>
            </a:endParaRPr>
          </a:p>
        </p:txBody>
      </p:sp>
      <p:sp>
        <p:nvSpPr>
          <p:cNvPr id="362" name="Google Shape;362;p43"/>
          <p:cNvSpPr txBox="1"/>
          <p:nvPr/>
        </p:nvSpPr>
        <p:spPr>
          <a:xfrm>
            <a:off x="2051300" y="4502925"/>
            <a:ext cx="1704300" cy="169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fr" sz="1300">
                <a:solidFill>
                  <a:srgbClr val="6AA84F"/>
                </a:solidFill>
                <a:latin typeface="Nunito"/>
                <a:ea typeface="Nunito"/>
                <a:cs typeface="Nunito"/>
                <a:sym typeface="Nunito"/>
              </a:rPr>
              <a:t>Nuclear-foil</a:t>
            </a:r>
            <a:endParaRPr sz="1300">
              <a:solidFill>
                <a:srgbClr val="6AA84F"/>
              </a:solidFill>
              <a:latin typeface="Nunito"/>
              <a:ea typeface="Nunito"/>
              <a:cs typeface="Nunito"/>
              <a:sym typeface="Nuni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6" name="Shape 366"/>
        <p:cNvGrpSpPr/>
        <p:nvPr/>
      </p:nvGrpSpPr>
      <p:grpSpPr>
        <a:xfrm>
          <a:off x="0" y="0"/>
          <a:ext cx="0" cy="0"/>
          <a:chOff x="0" y="0"/>
          <a:chExt cx="0" cy="0"/>
        </a:xfrm>
      </p:grpSpPr>
      <p:sp>
        <p:nvSpPr>
          <p:cNvPr id="367" name="Google Shape;367;p44"/>
          <p:cNvSpPr txBox="1"/>
          <p:nvPr>
            <p:ph type="title"/>
          </p:nvPr>
        </p:nvSpPr>
        <p:spPr>
          <a:xfrm>
            <a:off x="0" y="0"/>
            <a:ext cx="7601400" cy="647400"/>
          </a:xfrm>
          <a:prstGeom prst="rect">
            <a:avLst/>
          </a:prstGeom>
        </p:spPr>
        <p:txBody>
          <a:bodyPr anchorCtr="0" anchor="ctr" bIns="90000" lIns="91425" spcFirstLastPara="1" rIns="91425" wrap="square" tIns="91425">
            <a:normAutofit/>
          </a:bodyPr>
          <a:lstStyle/>
          <a:p>
            <a:pPr indent="0" lvl="0" marL="0" rtl="0" algn="l">
              <a:spcBef>
                <a:spcPts val="0"/>
              </a:spcBef>
              <a:spcAft>
                <a:spcPts val="0"/>
              </a:spcAft>
              <a:buNone/>
            </a:pPr>
            <a:r>
              <a:rPr lang="fr"/>
              <a:t>RG-D nTMDs Studies: Charged Pions</a:t>
            </a:r>
            <a:endParaRPr/>
          </a:p>
        </p:txBody>
      </p:sp>
      <p:sp>
        <p:nvSpPr>
          <p:cNvPr id="368" name="Google Shape;368;p44"/>
          <p:cNvSpPr txBox="1"/>
          <p:nvPr>
            <p:ph idx="12" type="sldNum"/>
          </p:nvPr>
        </p:nvSpPr>
        <p:spPr>
          <a:xfrm>
            <a:off x="8546700" y="0"/>
            <a:ext cx="597600" cy="6474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b="0"/>
          </a:p>
        </p:txBody>
      </p:sp>
      <p:sp>
        <p:nvSpPr>
          <p:cNvPr id="369" name="Google Shape;369;p44"/>
          <p:cNvSpPr txBox="1"/>
          <p:nvPr>
            <p:ph idx="1" type="body"/>
          </p:nvPr>
        </p:nvSpPr>
        <p:spPr>
          <a:xfrm>
            <a:off x="54725" y="713275"/>
            <a:ext cx="9089700" cy="1675200"/>
          </a:xfrm>
          <a:prstGeom prst="rect">
            <a:avLst/>
          </a:prstGeom>
        </p:spPr>
        <p:txBody>
          <a:bodyPr anchorCtr="0" anchor="t" bIns="0" lIns="0" spcFirstLastPara="1" rIns="0" wrap="square" tIns="0">
            <a:normAutofit/>
          </a:bodyPr>
          <a:lstStyle/>
          <a:p>
            <a:pPr indent="-236700" lvl="0" marL="244800" rtl="0" algn="l">
              <a:lnSpc>
                <a:spcPct val="150000"/>
              </a:lnSpc>
              <a:spcBef>
                <a:spcPts val="0"/>
              </a:spcBef>
              <a:spcAft>
                <a:spcPts val="0"/>
              </a:spcAft>
              <a:buSzPts val="1800"/>
              <a:buFont typeface="Nunito"/>
              <a:buChar char="●"/>
            </a:pPr>
            <a:r>
              <a:rPr lang="fr">
                <a:latin typeface="Nunito"/>
                <a:ea typeface="Nunito"/>
                <a:cs typeface="Nunito"/>
                <a:sym typeface="Nunito"/>
              </a:rPr>
              <a:t>Two parallel </a:t>
            </a:r>
            <a:r>
              <a:rPr lang="fr">
                <a:latin typeface="Nunito"/>
                <a:ea typeface="Nunito"/>
                <a:cs typeface="Nunito"/>
                <a:sym typeface="Nunito"/>
              </a:rPr>
              <a:t>nTMDs a</a:t>
            </a:r>
            <a:r>
              <a:rPr lang="fr">
                <a:latin typeface="Nunito"/>
                <a:ea typeface="Nunito"/>
                <a:cs typeface="Nunito"/>
                <a:sym typeface="Nunito"/>
              </a:rPr>
              <a:t>nalysis for charged pions by </a:t>
            </a:r>
            <a:r>
              <a:rPr lang="fr" u="sng">
                <a:solidFill>
                  <a:schemeClr val="hlink"/>
                </a:solidFill>
                <a:latin typeface="Nunito"/>
                <a:ea typeface="Nunito"/>
                <a:cs typeface="Nunito"/>
                <a:sym typeface="Nunito"/>
                <a:hlinkClick r:id="rId4"/>
              </a:rPr>
              <a:t>D. </a:t>
            </a:r>
            <a:r>
              <a:rPr lang="fr" u="sng">
                <a:solidFill>
                  <a:schemeClr val="hlink"/>
                </a:solidFill>
                <a:latin typeface="Nunito"/>
                <a:ea typeface="Nunito"/>
                <a:cs typeface="Nunito"/>
                <a:sym typeface="Nunito"/>
                <a:hlinkClick r:id="rId5"/>
              </a:rPr>
              <a:t>Matamoros</a:t>
            </a:r>
            <a:r>
              <a:rPr lang="fr">
                <a:latin typeface="Nunito"/>
                <a:ea typeface="Nunito"/>
                <a:cs typeface="Nunito"/>
                <a:sym typeface="Nunito"/>
              </a:rPr>
              <a:t> and S. Shresth</a:t>
            </a:r>
            <a:r>
              <a:rPr lang="fr">
                <a:latin typeface="Nunito"/>
                <a:ea typeface="Nunito"/>
                <a:cs typeface="Nunito"/>
                <a:sym typeface="Nunito"/>
              </a:rPr>
              <a:t>a</a:t>
            </a:r>
            <a:endParaRPr>
              <a:latin typeface="Nunito"/>
              <a:ea typeface="Nunito"/>
              <a:cs typeface="Nunito"/>
              <a:sym typeface="Nunito"/>
            </a:endParaRPr>
          </a:p>
          <a:p>
            <a:pPr indent="-224000" lvl="1" marL="522000" rtl="0" algn="l">
              <a:lnSpc>
                <a:spcPct val="150000"/>
              </a:lnSpc>
              <a:spcBef>
                <a:spcPts val="0"/>
              </a:spcBef>
              <a:spcAft>
                <a:spcPts val="0"/>
              </a:spcAft>
              <a:buSzPts val="1600"/>
              <a:buFont typeface="Nunito"/>
              <a:buChar char="○"/>
            </a:pPr>
            <a:r>
              <a:rPr lang="fr" sz="1600">
                <a:latin typeface="Nunito"/>
                <a:ea typeface="Nunito"/>
                <a:cs typeface="Nunito"/>
                <a:sym typeface="Nunito"/>
              </a:rPr>
              <a:t>D. Matamoros will give a talk about his analysis about nTMDs on positively charged pion</a:t>
            </a:r>
            <a:endParaRPr sz="1600">
              <a:latin typeface="Nunito"/>
              <a:ea typeface="Nunito"/>
              <a:cs typeface="Nunito"/>
              <a:sym typeface="Nunito"/>
            </a:endParaRPr>
          </a:p>
          <a:p>
            <a:pPr indent="-224000" lvl="1" marL="522000" rtl="0" algn="l">
              <a:lnSpc>
                <a:spcPct val="150000"/>
              </a:lnSpc>
              <a:spcBef>
                <a:spcPts val="0"/>
              </a:spcBef>
              <a:spcAft>
                <a:spcPts val="0"/>
              </a:spcAft>
              <a:buSzPts val="1600"/>
              <a:buFont typeface="Nunito"/>
              <a:buChar char="○"/>
            </a:pPr>
            <a:r>
              <a:rPr lang="fr" sz="1600">
                <a:latin typeface="Nunito"/>
                <a:ea typeface="Nunito"/>
                <a:cs typeface="Nunito"/>
                <a:sym typeface="Nunito"/>
              </a:rPr>
              <a:t>S. Shrestha is currently working to understand the EB PID and compare it to offline PIDs based on \delta_T cuts</a:t>
            </a:r>
            <a:endParaRPr sz="1600">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