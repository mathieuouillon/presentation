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9" r:id="rId3"/>
    <p:sldId id="324" r:id="rId4"/>
    <p:sldId id="325" r:id="rId5"/>
    <p:sldId id="326" r:id="rId6"/>
    <p:sldId id="327" r:id="rId7"/>
    <p:sldId id="328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2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62626"/>
    <a:srgbClr val="00315F"/>
    <a:srgbClr val="FAFAFA"/>
    <a:srgbClr val="23373B"/>
    <a:srgbClr val="FFFFFF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22" autoAdjust="0"/>
    <p:restoredTop sz="94637" autoAdjust="0"/>
  </p:normalViewPr>
  <p:slideViewPr>
    <p:cSldViewPr snapToGrid="0" snapToObjects="1">
      <p:cViewPr varScale="1">
        <p:scale>
          <a:sx n="168" d="100"/>
          <a:sy n="168" d="100"/>
        </p:scale>
        <p:origin x="312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17-02-26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17-02-26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02/17/26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71725"/>
            <a:ext cx="7029450" cy="1317329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Group</a:t>
            </a:r>
            <a:r>
              <a:rPr lang="es-ES" sz="6000" dirty="0"/>
              <a:t> meeting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9F9F00-EFEC-9E33-BF3B-9C2D4A022795}"/>
              </a:ext>
            </a:extLst>
          </p:cNvPr>
          <p:cNvSpPr txBox="1">
            <a:spLocks/>
          </p:cNvSpPr>
          <p:nvPr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02/17/26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627B-4553-2F59-665A-AE94D2E96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7AAE-4E75-446A-736E-D8D02798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ABFA-6854-8C78-0ECF-9F113207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CA134-1D20-C60F-4F76-F9729CB5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72D941-1E03-9370-CF2A-15172788A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12565"/>
            <a:ext cx="10195560" cy="2433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8EAD6E-F5FD-AA28-3815-969868528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86994"/>
            <a:ext cx="7772400" cy="275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9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E660-3BE6-D9AF-B919-08710A7D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Background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A6C0A-D302-06DF-50C5-1E1459124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The Problem:</a:t>
            </a:r>
          </a:p>
          <a:p>
            <a:pPr lvl="1"/>
            <a:r>
              <a:rPr lang="en-US" dirty="0"/>
              <a:t>Pure Monte Carlo simulations (generated events → GEMC → reconstruction) produce clean events that don't reflect the real experimental environment. </a:t>
            </a:r>
          </a:p>
          <a:p>
            <a:pPr lvl="1"/>
            <a:r>
              <a:rPr lang="en-US" dirty="0"/>
              <a:t>In practice, the CLAS12 detector sees significant backgrounds from beam-target electromagnetic interactions, Møller scattering, accidental hits, and general detector noise. </a:t>
            </a:r>
          </a:p>
          <a:p>
            <a:pPr lvl="1"/>
            <a:r>
              <a:rPr lang="en-US" dirty="0"/>
              <a:t>These affect detector occupancy, tracking efficiency, and particle identification.</a:t>
            </a:r>
          </a:p>
          <a:p>
            <a:pPr lvl="1"/>
            <a:r>
              <a:rPr lang="en-US" dirty="0"/>
              <a:t>In the latest version of </a:t>
            </a:r>
            <a:r>
              <a:rPr lang="en-US" dirty="0" err="1"/>
              <a:t>CoatJava</a:t>
            </a:r>
            <a:r>
              <a:rPr lang="en-US" dirty="0"/>
              <a:t> used for pass1 processing of the RG-A, RG-B, and RG-K data, the drop of the charged particle reconstruction efficiency was ∼0.3% per </a:t>
            </a:r>
            <a:r>
              <a:rPr lang="en-US" dirty="0" err="1"/>
              <a:t>nA.</a:t>
            </a:r>
            <a:r>
              <a:rPr lang="en-US" dirty="0"/>
              <a:t> </a:t>
            </a:r>
          </a:p>
          <a:p>
            <a:r>
              <a:rPr lang="en-US" b="1" dirty="0"/>
              <a:t>The workflow is roughly:</a:t>
            </a:r>
          </a:p>
          <a:p>
            <a:pPr lvl="1"/>
            <a:r>
              <a:rPr lang="en-US" dirty="0"/>
              <a:t>Random-trigger data collection: During actual beam operations, events are recorded on a random (clock) trigger, capturing a snapshot of the real detector background at that moment — with no physics-event bias.</a:t>
            </a:r>
          </a:p>
          <a:p>
            <a:pPr lvl="1"/>
            <a:r>
              <a:rPr lang="en-US" dirty="0"/>
              <a:t>The simulated hit banks are merged with the hits from randomly selected real background events. This is typically done at the raw/digitized hit level.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0D89B-0560-5825-4BF0-442A5AD01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64F32-1E14-3207-D09C-A857E23C0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940B-5CE6-83D4-3629-5CFC74433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5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F3C56-5109-E1EC-BFC1-5EFEC713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2877-D853-4405-77D0-C231F7C8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Background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4F71-5FA0-DC9A-8A87-0ADE7E9B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1272540"/>
          </a:xfrm>
        </p:spPr>
        <p:txBody>
          <a:bodyPr/>
          <a:lstStyle/>
          <a:p>
            <a:r>
              <a:rPr lang="en-US" dirty="0"/>
              <a:t>We want a bit more than 2M events each configuration split in 100 files:</a:t>
            </a:r>
          </a:p>
          <a:p>
            <a:pPr lvl="1"/>
            <a:r>
              <a:rPr lang="en-US" dirty="0"/>
              <a:t>From 1 runs with 72M events → 1M background events</a:t>
            </a:r>
          </a:p>
          <a:p>
            <a:pPr lvl="1"/>
            <a:r>
              <a:rPr lang="en-US" dirty="0"/>
              <a:t>18354 (302 decoded and merged files): 1000301 background events (around 1.4%)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4FFBE-F319-DF64-6D08-95C7752B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8454A-7A60-0C93-AEA0-C4277C7B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FBDA3-EAFB-6A83-3FEF-2120CFA0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037A1F40-E386-978F-F089-53885AA43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843615"/>
              </p:ext>
            </p:extLst>
          </p:nvPr>
        </p:nvGraphicFramePr>
        <p:xfrm>
          <a:off x="2130901" y="2504441"/>
          <a:ext cx="7930198" cy="3662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92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7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Target</a:t>
                      </a:r>
                      <a:endParaRPr lang="en-US" sz="12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Torus</a:t>
                      </a:r>
                      <a:endParaRPr lang="en-US" sz="12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Beam Current (nA)</a:t>
                      </a:r>
                      <a:endParaRPr lang="en-US" sz="12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Event Count</a:t>
                      </a:r>
                      <a:endParaRPr lang="en-US" sz="12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rowSpan="7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 err="1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CuSn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−1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130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158,973,653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−1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150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294,294,862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+1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100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3,733,072,722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+1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86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100,062,529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+1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90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2,586,697,573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+1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95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7,807,749,486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+1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90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181,383,559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 err="1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CxC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−1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50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198,427,732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+1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50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7,728,760,584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 rowSpan="6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LD2</a:t>
                      </a:r>
                    </a:p>
                  </a:txBody>
                  <a:tcPr marL="76200" marR="762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−1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35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145,554,024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−1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50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200,238,342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+1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35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153,366,607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+1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45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167,660,546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+1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50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2,318,123,816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+1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60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43643"/>
                          </a:solidFill>
                          <a:latin typeface="Fira Sans" panose="020B0503050000020004" pitchFamily="34" charset="0"/>
                        </a:rPr>
                        <a:t>5,664,535,047</a:t>
                      </a:r>
                      <a:endParaRPr lang="en-US" sz="1100" b="0" dirty="0">
                        <a:solidFill>
                          <a:srgbClr val="243643"/>
                        </a:solidFill>
                        <a:latin typeface="Fira Sans" panose="020B0503050000020004" pitchFamily="34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6903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F4027-669E-130B-9D88-EC500A96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E621-974D-1999-AEE8-2A9CE045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Background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9A8BC-BCA3-EDE6-9709-8DC98BB22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922520"/>
          </a:xfrm>
        </p:spPr>
        <p:txBody>
          <a:bodyPr>
            <a:normAutofit/>
          </a:bodyPr>
          <a:lstStyle/>
          <a:p>
            <a:r>
              <a:rPr lang="en-US" dirty="0"/>
              <a:t>We want a bit more than 2M events each configuration split in 100 files:</a:t>
            </a:r>
          </a:p>
          <a:p>
            <a:pPr lvl="1"/>
            <a:r>
              <a:rPr lang="en-US" dirty="0"/>
              <a:t>From 1 runs with 72M events → 1M background events</a:t>
            </a:r>
          </a:p>
          <a:p>
            <a:pPr lvl="1"/>
            <a:r>
              <a:rPr lang="en-US" dirty="0"/>
              <a:t>18354 (302 decoded and merged files): 1000301 background events (around 1.4%)</a:t>
            </a:r>
          </a:p>
          <a:p>
            <a:pPr lvl="1"/>
            <a:endParaRPr lang="en-US" dirty="0"/>
          </a:p>
          <a:p>
            <a:r>
              <a:rPr lang="en-US" dirty="0"/>
              <a:t>Other possibility: consider only the target and torus for the configuration and extract background with a similar event ratio</a:t>
            </a:r>
          </a:p>
          <a:p>
            <a:pPr lvl="1"/>
            <a:r>
              <a:rPr lang="en-US" dirty="0"/>
              <a:t>work only if we use all the data (all the </a:t>
            </a:r>
            <a:r>
              <a:rPr lang="en-US" dirty="0" err="1"/>
              <a:t>outbending</a:t>
            </a:r>
            <a:r>
              <a:rPr lang="en-US" dirty="0"/>
              <a:t> or all </a:t>
            </a:r>
            <a:r>
              <a:rPr lang="en-US" dirty="0" err="1"/>
              <a:t>inbending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CuSn</a:t>
            </a:r>
            <a:r>
              <a:rPr lang="en-US" dirty="0"/>
              <a:t>: only -1 and +1 for the torus: </a:t>
            </a:r>
          </a:p>
          <a:p>
            <a:pPr lvl="2"/>
            <a:r>
              <a:rPr lang="en-US" dirty="0"/>
              <a:t>For torus -1: 2 currents: 130 and 150 with 35.07% and 64.93%</a:t>
            </a:r>
          </a:p>
          <a:p>
            <a:pPr lvl="3"/>
            <a:r>
              <a:rPr lang="en-US" dirty="0"/>
              <a:t>Extract: 0.7M and 1.3M background events</a:t>
            </a:r>
          </a:p>
          <a:p>
            <a:pPr lvl="2"/>
            <a:r>
              <a:rPr lang="en-US" dirty="0"/>
              <a:t>For torus +1: 4 currents: 86, 90, 95 and 100 with 0.7%, 18.18%, 54.88% and 26.24%</a:t>
            </a:r>
          </a:p>
          <a:p>
            <a:pPr lvl="3"/>
            <a:r>
              <a:rPr lang="en-US" dirty="0"/>
              <a:t>Extract: 0.14M, 0.36M, 1.08M and 0.52M background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59C98-DB51-3F00-997A-1B6E1413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9C721-F9F2-F162-676E-E82E8E0B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829A6-4B5F-3636-6951-58EB95932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57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FC5FE-E43F-AFB8-06B3-C2D03300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796C-90BF-EDF0-9F26-889908A1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Background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53F51-B2D9-30B5-A7E4-A0D1C9F8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922520"/>
          </a:xfrm>
        </p:spPr>
        <p:txBody>
          <a:bodyPr>
            <a:normAutofit/>
          </a:bodyPr>
          <a:lstStyle/>
          <a:p>
            <a:r>
              <a:rPr lang="en-US" dirty="0"/>
              <a:t>Example for RG-A: fall2018 torus: +1, solenoid: -1, current: 50nA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D3E92-DCF2-A6B9-38D3-6C05CD74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F665-3327-D740-F8DE-7197C87F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F843F-32AB-61A6-55FC-FEB6A0994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DFC49F-B010-3007-0AC7-434FBF18A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" y="1716058"/>
            <a:ext cx="11707978" cy="108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20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3DA9B-80BE-78E1-0D1E-9EA6536E8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2B37-3630-3477-7306-030669F4C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Compare the RICH and REC PID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797D6-BCE2-2149-29F1-ACBE10A69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9680"/>
            <a:ext cx="3619500" cy="4602480"/>
          </a:xfrm>
        </p:spPr>
        <p:txBody>
          <a:bodyPr>
            <a:normAutofit/>
          </a:bodyPr>
          <a:lstStyle/>
          <a:p>
            <a:r>
              <a:rPr lang="en-US" dirty="0"/>
              <a:t>Want to compare the PID of the RICH and the standard reconstruction (REC)</a:t>
            </a:r>
          </a:p>
          <a:p>
            <a:r>
              <a:rPr lang="en-US" dirty="0"/>
              <a:t>Use LD2 </a:t>
            </a:r>
            <a:r>
              <a:rPr lang="en-US" dirty="0" err="1"/>
              <a:t>outbending</a:t>
            </a:r>
            <a:r>
              <a:rPr lang="en-US" dirty="0"/>
              <a:t> data, sector 1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CF738-A2DF-1D17-93C3-7555071CD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DB96F-AC8F-E1F8-0790-4DD7CFBC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2C446-B4B1-DBBB-2F92-99ECCB6F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CD66E50-2718-6871-9AB9-673844C6E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805179"/>
            <a:ext cx="8793480" cy="528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49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76E0-912F-1978-C66F-52634056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0A42-D2C4-D6E1-FC09-C96069BA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Compare the RICH and REC PID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F67C7-1FA1-5778-54C4-95B6299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9680"/>
            <a:ext cx="3619500" cy="4602480"/>
          </a:xfrm>
        </p:spPr>
        <p:txBody>
          <a:bodyPr>
            <a:normAutofit/>
          </a:bodyPr>
          <a:lstStyle/>
          <a:p>
            <a:r>
              <a:rPr lang="en-US" dirty="0"/>
              <a:t>Want to compare the PID of the RICH and the standard reconstruction (REC)</a:t>
            </a:r>
          </a:p>
          <a:p>
            <a:r>
              <a:rPr lang="en-US" dirty="0"/>
              <a:t>Use LD2 </a:t>
            </a:r>
            <a:r>
              <a:rPr lang="en-US" dirty="0" err="1"/>
              <a:t>outbending</a:t>
            </a:r>
            <a:r>
              <a:rPr lang="en-US" dirty="0"/>
              <a:t> data, sector 1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6AD5A-442F-A070-4E0C-34CE591AA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927CB-6576-A269-31FF-6E58D5B6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184F5-588C-0B1D-160A-95300E47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ED08F1-F697-2961-A48C-1FBD1C607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790" y="783588"/>
            <a:ext cx="8755866" cy="525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2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A97A-EC47-B237-8F68-7F4FBCC6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Fiducial cuts for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EDA1B-396F-B2BC-64B8-6BDFBB828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346180" cy="4860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the fiducial cuts on </a:t>
            </a:r>
            <a:r>
              <a:rPr lang="en-US" dirty="0" err="1"/>
              <a:t>pions</a:t>
            </a:r>
            <a:r>
              <a:rPr lang="en-US" dirty="0"/>
              <a:t>, I was thinking of using the similar cuts as for the electrons</a:t>
            </a:r>
          </a:p>
          <a:p>
            <a:pPr lvl="1"/>
            <a:r>
              <a:rPr lang="en-US" dirty="0"/>
              <a:t>Cuts on the calorimeter: lv and </a:t>
            </a:r>
            <a:r>
              <a:rPr lang="en-US" dirty="0" err="1"/>
              <a:t>lw</a:t>
            </a:r>
            <a:endParaRPr lang="en-US" dirty="0"/>
          </a:p>
          <a:p>
            <a:pPr lvl="1"/>
            <a:r>
              <a:rPr lang="en-US" dirty="0"/>
              <a:t>And on the DC</a:t>
            </a:r>
          </a:p>
          <a:p>
            <a:r>
              <a:rPr lang="en-US" dirty="0"/>
              <a:t>But for the calorimeter, the lv and </a:t>
            </a:r>
            <a:r>
              <a:rPr lang="en-US" dirty="0" err="1"/>
              <a:t>lw</a:t>
            </a:r>
            <a:r>
              <a:rPr lang="en-US" dirty="0"/>
              <a:t> are not define for many </a:t>
            </a:r>
            <a:r>
              <a:rPr lang="en-US" dirty="0" err="1"/>
              <a:t>pions</a:t>
            </a:r>
            <a:r>
              <a:rPr lang="en-US" dirty="0"/>
              <a:t>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Raffaella told me that the calorimeter is not use for hadron PID, so no fiducial cuts on the calorimeter for hadron.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37BA8-B12E-EB27-D771-DDD68540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2C696-512B-A16B-57AF-42F83F4A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34C53-B3F8-8573-61D3-D3CAF386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353B0-416C-096D-D58E-688E7DF6B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3105461"/>
            <a:ext cx="4945380" cy="163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62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F8760-9D5F-BC92-69B9-60BCEFDB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CB45-2B1F-FD72-9C06-F39AF550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Fiducial cuts for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20FBC-8E66-9F89-0891-E4DEE7543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346180" cy="4860000"/>
          </a:xfrm>
        </p:spPr>
        <p:txBody>
          <a:bodyPr>
            <a:normAutofit/>
          </a:bodyPr>
          <a:lstStyle/>
          <a:p>
            <a:r>
              <a:rPr lang="en-US" dirty="0"/>
              <a:t>For the fiducial cuts on </a:t>
            </a:r>
            <a:r>
              <a:rPr lang="en-US" dirty="0" err="1"/>
              <a:t>pions</a:t>
            </a:r>
            <a:r>
              <a:rPr lang="en-US" dirty="0"/>
              <a:t>, I was thinking of using the similar cuts as for the electrons</a:t>
            </a:r>
          </a:p>
          <a:p>
            <a:pPr lvl="1"/>
            <a:r>
              <a:rPr lang="en-US" dirty="0"/>
              <a:t>Cuts on the calorimeter: lv and </a:t>
            </a:r>
            <a:r>
              <a:rPr lang="en-US" dirty="0" err="1"/>
              <a:t>lw</a:t>
            </a:r>
            <a:endParaRPr lang="en-US" dirty="0"/>
          </a:p>
          <a:p>
            <a:pPr lvl="1"/>
            <a:r>
              <a:rPr lang="en-US" dirty="0"/>
              <a:t>And on the DC</a:t>
            </a:r>
          </a:p>
          <a:p>
            <a:r>
              <a:rPr lang="en-US" dirty="0"/>
              <a:t>For the DC, use similar method as for the electron and end with these cuts: </a:t>
            </a:r>
          </a:p>
          <a:p>
            <a:pPr lvl="1"/>
            <a:r>
              <a:rPr lang="en-US" dirty="0"/>
              <a:t>For </a:t>
            </a:r>
            <a:r>
              <a:rPr lang="el-GR" dirty="0"/>
              <a:t>π−, </a:t>
            </a:r>
            <a:r>
              <a:rPr lang="en-US" dirty="0"/>
              <a:t>the cut positions are 2.125 cm, 3.625 cm, and 9.625 cm for regions 1, 2, and 3, respectively. </a:t>
            </a:r>
          </a:p>
          <a:p>
            <a:pPr lvl="1"/>
            <a:r>
              <a:rPr lang="en-US" dirty="0"/>
              <a:t>For </a:t>
            </a:r>
            <a:r>
              <a:rPr lang="el-GR" dirty="0"/>
              <a:t>π+,</a:t>
            </a:r>
            <a:r>
              <a:rPr lang="en-US" dirty="0"/>
              <a:t> the cut positions are 3.875 cm, 4.375 cm, and 2.625 cm for regions 1, 2, and 3, respectively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902DA-770A-6107-8BD6-976C8CE9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DBE95-6850-4B3C-C6DE-2DB6045C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EDFA9-CD72-85DF-01C2-0043BF58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4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531DA-87B3-D161-4417-B76C521D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Fiducial cuts for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313E9-7DCF-75A4-7583-645CF0AF9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Impact on the invariant mass plots (LD2, </a:t>
            </a:r>
            <a:r>
              <a:rPr lang="en-US" dirty="0" err="1"/>
              <a:t>outbending</a:t>
            </a:r>
            <a:r>
              <a:rPr lang="en-US" dirty="0"/>
              <a:t>, 10%):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3FCD4-781F-5218-DF0D-2E59A4C9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029AD-70BF-1AB4-859E-C13841CFF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3990B-0C5E-C92B-06FA-13C75B126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995F2D-F40A-3C30-59B6-788E813EF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0" y="1626027"/>
            <a:ext cx="10411460" cy="517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94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962D4-B4E6-E871-DF69-CDA5093E0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BAA2-732F-8349-1CA7-8EDED1D4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Central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2FDE-1C30-C171-3069-A8205B0EA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Wanted to look at the </a:t>
            </a:r>
            <a:r>
              <a:rPr lang="en-US" dirty="0" err="1"/>
              <a:t>pions</a:t>
            </a:r>
            <a:r>
              <a:rPr lang="en-US" dirty="0"/>
              <a:t> detected in the central detector: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Between a third and half of the statistic is in the central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267A5-64C5-144E-95EF-F2738F0D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2463B-B411-C8BB-FAB8-03059C58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54E06-C94E-AAC3-AB30-800AF87C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AF448-FA3B-7C12-01BD-6580FA6A6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210" y="1698038"/>
            <a:ext cx="5203190" cy="173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63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A3B5-4128-4330-5269-CF2022AE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055F-BB74-C4E7-F421-CA3CB91B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Central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9A181-9F69-B0F5-83B0-358FAB5E7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Wanted to look at the </a:t>
            </a:r>
            <a:r>
              <a:rPr lang="en-US" dirty="0" err="1"/>
              <a:t>pions</a:t>
            </a:r>
            <a:r>
              <a:rPr lang="en-US" dirty="0"/>
              <a:t> detected in the central detector: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Between a third and half of the statistic is in the central</a:t>
            </a:r>
          </a:p>
          <a:p>
            <a:r>
              <a:rPr lang="en-US" dirty="0"/>
              <a:t>For the ρ</a:t>
            </a:r>
            <a:r>
              <a:rPr lang="en-US" baseline="30000" dirty="0"/>
              <a:t>0</a:t>
            </a:r>
            <a:r>
              <a:rPr lang="en-US" dirty="0"/>
              <a:t>: can be forward-forward </a:t>
            </a:r>
            <a:r>
              <a:rPr lang="en-US" dirty="0" err="1"/>
              <a:t>pions</a:t>
            </a:r>
            <a:r>
              <a:rPr lang="en-US" dirty="0"/>
              <a:t>, mixed </a:t>
            </a:r>
            <a:r>
              <a:rPr lang="en-US" dirty="0" err="1"/>
              <a:t>pions</a:t>
            </a:r>
            <a:r>
              <a:rPr lang="en-US" dirty="0"/>
              <a:t>, or central-central </a:t>
            </a:r>
            <a:r>
              <a:rPr lang="en-US" dirty="0" err="1"/>
              <a:t>pions</a:t>
            </a:r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48036-3477-C278-AEB6-858CD28D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FBD1D-E6DC-4C6C-1F1A-41BEEE273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2C1A7-1DBE-816E-0FEF-C0488336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4DBBA9-BD4D-E3C3-FBB1-A3BCA7190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210" y="1698038"/>
            <a:ext cx="5203190" cy="17309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E1E8DA-737C-E227-82E6-0E1DDF960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0" y="4306770"/>
            <a:ext cx="43180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92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A5C59-464D-3EF5-F6EF-8BB13E57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1677-0AB1-9517-D93C-210CD49E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Central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2812A-FADC-9DAD-FBF8-2F58C58A9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Impact on the invariant mass: FD-FD vs CD-CD </a:t>
            </a:r>
            <a:r>
              <a:rPr lang="en-US" dirty="0" err="1"/>
              <a:t>pions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572B5-9859-ADFC-EBAC-3F6CF34C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9BFA5-57B4-8A8A-1A2A-08B9587C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4ADCF-7626-8876-916B-C0AB05C9B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019D67-8B3A-1CF7-8148-F1BE3B00F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49962"/>
            <a:ext cx="11064240" cy="458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83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D7E8-2837-D4C8-8CC5-4BA5DE4AA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F405-690A-A56A-5360-1DFB0637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Central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7EDC-9FD1-D1EA-6EDA-BB60172E1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533400"/>
          </a:xfrm>
        </p:spPr>
        <p:txBody>
          <a:bodyPr/>
          <a:lstStyle/>
          <a:p>
            <a:r>
              <a:rPr lang="en-US" dirty="0"/>
              <a:t>Impact on the invariant mass: FD-FD vs Mixed </a:t>
            </a:r>
            <a:r>
              <a:rPr lang="en-US" dirty="0" err="1"/>
              <a:t>pions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EFEAA-93C8-EF7F-CD0C-21589713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E5A80-9082-7F32-F80F-213ECF7B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C6380-7DEB-DC1E-4C35-F76FAE14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14E179-AFC6-5EE4-00A0-62068F806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1590311"/>
            <a:ext cx="10287000" cy="513116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1AFA52-711E-7739-4C1E-04DAA831E5DB}"/>
              </a:ext>
            </a:extLst>
          </p:cNvPr>
          <p:cNvSpPr txBox="1">
            <a:spLocks/>
          </p:cNvSpPr>
          <p:nvPr/>
        </p:nvSpPr>
        <p:spPr>
          <a:xfrm>
            <a:off x="4165600" y="4472940"/>
            <a:ext cx="7973060" cy="1760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So, using the forward </a:t>
            </a:r>
            <a:r>
              <a:rPr lang="en-US" dirty="0" err="1"/>
              <a:t>pions</a:t>
            </a:r>
            <a:r>
              <a:rPr lang="en-US" dirty="0"/>
              <a:t> will increase the statistic for the low Q</a:t>
            </a:r>
            <a:r>
              <a:rPr lang="en-US" baseline="30000" dirty="0"/>
              <a:t>2 </a:t>
            </a:r>
            <a:r>
              <a:rPr lang="en-US" dirty="0"/>
              <a:t>bins only</a:t>
            </a:r>
          </a:p>
          <a:p>
            <a:r>
              <a:rPr lang="en-US" dirty="0"/>
              <a:t>But need to develop </a:t>
            </a:r>
            <a:r>
              <a:rPr lang="en-US" dirty="0" err="1"/>
              <a:t>Δt</a:t>
            </a:r>
            <a:r>
              <a:rPr lang="en-US" dirty="0"/>
              <a:t> vs p cuts + fiducials (CVT)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55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A7837-AB36-6DDB-A7F3-D16861B2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AB322-C0BA-C4A0-796B-FE190851A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started to work on adding the </a:t>
            </a:r>
            <a:r>
              <a:rPr lang="en-US" dirty="0" err="1"/>
              <a:t>inbending</a:t>
            </a:r>
            <a:r>
              <a:rPr lang="en-US" dirty="0"/>
              <a:t> configuration to the OSG portal.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Work on the work report: new plots and rewrite part of the text + invariant mass plots.</a:t>
            </a:r>
          </a:p>
          <a:p>
            <a:r>
              <a:rPr lang="en-US" dirty="0"/>
              <a:t>For the CLAS Collaboration meeting: </a:t>
            </a:r>
          </a:p>
          <a:p>
            <a:pPr lvl="1"/>
            <a:r>
              <a:rPr lang="en-US" dirty="0"/>
              <a:t>I suppose I will give the RG-D update talk? </a:t>
            </a:r>
          </a:p>
          <a:p>
            <a:pPr lvl="1"/>
            <a:r>
              <a:rPr lang="en-US" dirty="0"/>
              <a:t>For ALERT, I can give a talk about the track matching, since I have result on simulation and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6721D-A97A-7584-E7B8-DC84F314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375AD-3C90-8287-CF01-84054F4E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2E362-C147-A7F3-0742-9B758F38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587EE8-5993-EECD-1B1F-8425BCA20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1746632"/>
            <a:ext cx="8246306" cy="201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39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1F3D-E282-D6A2-48D8-D1D58370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68363-419E-1C4D-8115-9AA355162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RG-D: </a:t>
            </a:r>
          </a:p>
          <a:p>
            <a:pPr lvl="1"/>
            <a:r>
              <a:rPr lang="en-US" dirty="0"/>
              <a:t>Retrain the AI-based PID using (time − </a:t>
            </a:r>
            <a:r>
              <a:rPr lang="en-US" dirty="0" err="1"/>
              <a:t>start_time</a:t>
            </a:r>
            <a:r>
              <a:rPr lang="en-US" dirty="0"/>
              <a:t>); aim to reduce the input feature set to only the most relevant variables.</a:t>
            </a:r>
          </a:p>
          <a:p>
            <a:pPr lvl="1"/>
            <a:r>
              <a:rPr lang="en-US" dirty="0"/>
              <a:t>Study the </a:t>
            </a:r>
            <a:r>
              <a:rPr lang="en-US" dirty="0" err="1"/>
              <a:t>CuSn</a:t>
            </a:r>
            <a:r>
              <a:rPr lang="en-US" dirty="0"/>
              <a:t> contamination using simulations.</a:t>
            </a:r>
          </a:p>
          <a:p>
            <a:pPr lvl="1"/>
            <a:r>
              <a:rPr lang="en-US" dirty="0"/>
              <a:t>Add the </a:t>
            </a:r>
            <a:r>
              <a:rPr lang="en-US" dirty="0" err="1"/>
              <a:t>inbending</a:t>
            </a:r>
            <a:r>
              <a:rPr lang="en-US" dirty="0"/>
              <a:t> configuration to the OSG portal.  </a:t>
            </a:r>
          </a:p>
          <a:p>
            <a:pPr lvl="1"/>
            <a:endParaRPr lang="en-US" dirty="0"/>
          </a:p>
          <a:p>
            <a:r>
              <a:rPr lang="en-US" dirty="0"/>
              <a:t>ALERT:</a:t>
            </a:r>
          </a:p>
          <a:p>
            <a:pPr lvl="1"/>
            <a:r>
              <a:rPr lang="en-US" dirty="0"/>
              <a:t>Retrain the track finding and track matching with the new geometry.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FE662-AE39-3FD3-7A2C-D3CC4CE64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24D3D-4F7C-BB4B-30FA-B46B5187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B04A9-B573-573C-52FB-A0D37D60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6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9927</TotalTime>
  <Words>1065</Words>
  <Application>Microsoft Macintosh PowerPoint</Application>
  <PresentationFormat>Widescreen</PresentationFormat>
  <Paragraphs>203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Fira Sans</vt:lpstr>
      <vt:lpstr>Fira Sans Book</vt:lpstr>
      <vt:lpstr>Fira Sans Light</vt:lpstr>
      <vt:lpstr>Office Theme</vt:lpstr>
      <vt:lpstr>Group meeting</vt:lpstr>
      <vt:lpstr>RG-D cooking</vt:lpstr>
      <vt:lpstr>RG-D: Background merging</vt:lpstr>
      <vt:lpstr>RG-D: Background merging</vt:lpstr>
      <vt:lpstr>RG-D: Background merging</vt:lpstr>
      <vt:lpstr>RG-D: Background merging</vt:lpstr>
      <vt:lpstr>RG-D: Compare the RICH and REC PID</vt:lpstr>
      <vt:lpstr>RG-D: Compare the RICH and REC PID</vt:lpstr>
      <vt:lpstr>RG-D: Fiducial cuts for pions</vt:lpstr>
      <vt:lpstr>RG-D: Fiducial cuts for pions</vt:lpstr>
      <vt:lpstr>RG-D: Fiducial cuts for pions</vt:lpstr>
      <vt:lpstr>RG-D: Central pions</vt:lpstr>
      <vt:lpstr>RG-D: Central pions</vt:lpstr>
      <vt:lpstr>RG-D: Central pions</vt:lpstr>
      <vt:lpstr>RG-D: Central pions</vt:lpstr>
      <vt:lpstr>Other things</vt:lpstr>
      <vt:lpstr>Work plan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381</cp:revision>
  <dcterms:created xsi:type="dcterms:W3CDTF">2019-12-03T01:04:10Z</dcterms:created>
  <dcterms:modified xsi:type="dcterms:W3CDTF">2026-02-17T20:35:34Z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