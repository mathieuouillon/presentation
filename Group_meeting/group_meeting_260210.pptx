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9" r:id="rId3"/>
    <p:sldId id="271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261" r:id="rId14"/>
    <p:sldId id="258" r:id="rId15"/>
    <p:sldId id="259" r:id="rId16"/>
    <p:sldId id="324" r:id="rId17"/>
    <p:sldId id="32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00315F"/>
    <a:srgbClr val="FAFAFA"/>
    <a:srgbClr val="23373B"/>
    <a:srgbClr val="FFFFFF"/>
    <a:srgbClr val="243643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30" autoAdjust="0"/>
    <p:restoredTop sz="94637" autoAdjust="0"/>
  </p:normalViewPr>
  <p:slideViewPr>
    <p:cSldViewPr snapToGrid="0" snapToObjects="1">
      <p:cViewPr varScale="1">
        <p:scale>
          <a:sx n="168" d="100"/>
          <a:sy n="168" d="100"/>
        </p:scale>
        <p:origin x="248" y="2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10-02-26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10-02-26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02/10/26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02/10/26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E18052-F715-995F-20AD-3D7BBADC45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85"/>
          <a:stretch>
            <a:fillRect/>
          </a:stretch>
        </p:blipFill>
        <p:spPr>
          <a:xfrm>
            <a:off x="762000" y="1003009"/>
            <a:ext cx="10774680" cy="2120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9354C3-D9CA-9BC5-6AB3-04F0C2CD1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23831"/>
            <a:ext cx="10774680" cy="346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9466-B968-652A-7C63-2ED705FD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FEF1-2FB4-1F17-42B6-6A0AE5E9F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4352-E9F5-C01E-483E-1596D7904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Goal</a:t>
            </a:r>
            <a:r>
              <a:rPr lang="en-US" dirty="0"/>
              <a:t>: Improve PID using machine-learning techniques. </a:t>
            </a:r>
          </a:p>
          <a:p>
            <a:r>
              <a:rPr lang="en-US" b="1" dirty="0"/>
              <a:t>Input features:</a:t>
            </a:r>
            <a:r>
              <a:rPr lang="en-US" dirty="0"/>
              <a:t> Exploit all available variables from the DST banks (REC::Particle, REC::Calorimeter, REC::Cherenkov, REC::Scintillator, REC::</a:t>
            </a:r>
            <a:r>
              <a:rPr lang="en-US" dirty="0" err="1"/>
              <a:t>ScintExtras</a:t>
            </a:r>
            <a:r>
              <a:rPr lang="en-US" dirty="0"/>
              <a:t>, and REC::</a:t>
            </a:r>
            <a:r>
              <a:rPr lang="en-US" dirty="0" err="1"/>
              <a:t>CaloExtras</a:t>
            </a:r>
            <a:r>
              <a:rPr lang="en-US" dirty="0"/>
              <a:t>) for a total of </a:t>
            </a:r>
            <a:r>
              <a:rPr lang="en-US" b="1" dirty="0"/>
              <a:t>96 features</a:t>
            </a:r>
            <a:r>
              <a:rPr lang="en-US" dirty="0"/>
              <a:t>.</a:t>
            </a:r>
          </a:p>
          <a:p>
            <a:r>
              <a:rPr lang="en-US" dirty="0"/>
              <a:t>Model: </a:t>
            </a:r>
            <a:r>
              <a:rPr lang="en-US" dirty="0" err="1"/>
              <a:t>CatBoost</a:t>
            </a:r>
            <a:r>
              <a:rPr lang="en-US" dirty="0"/>
              <a:t> (Categorical Boosting) architecture. </a:t>
            </a:r>
          </a:p>
          <a:p>
            <a:endParaRPr lang="en-US" dirty="0"/>
          </a:p>
          <a:p>
            <a:r>
              <a:rPr lang="en-US" dirty="0"/>
              <a:t>On simulation achieve an overall:</a:t>
            </a:r>
          </a:p>
          <a:p>
            <a:pPr lvl="1"/>
            <a:r>
              <a:rPr lang="en-US" dirty="0"/>
              <a:t>π</a:t>
            </a:r>
            <a:r>
              <a:rPr lang="en-US" baseline="30000" dirty="0"/>
              <a:t>-</a:t>
            </a:r>
            <a:r>
              <a:rPr lang="en-US" dirty="0"/>
              <a:t>:        efficiency=0.669, purity=0.554</a:t>
            </a:r>
          </a:p>
          <a:p>
            <a:pPr lvl="1"/>
            <a:r>
              <a:rPr lang="en-US" dirty="0"/>
              <a:t>π</a:t>
            </a:r>
            <a:r>
              <a:rPr lang="en-US" baseline="30000" dirty="0"/>
              <a:t>+</a:t>
            </a:r>
            <a:r>
              <a:rPr lang="en-US" dirty="0"/>
              <a:t>:        efficiency=0.619, purity=0.625</a:t>
            </a:r>
          </a:p>
          <a:p>
            <a:pPr lvl="1"/>
            <a:r>
              <a:rPr lang="en-US" dirty="0"/>
              <a:t>K</a:t>
            </a:r>
            <a:r>
              <a:rPr lang="en-US" baseline="30000" dirty="0"/>
              <a:t>-</a:t>
            </a:r>
            <a:r>
              <a:rPr lang="en-US" dirty="0"/>
              <a:t>:        efficiency=0.527, purity=0.684</a:t>
            </a:r>
          </a:p>
          <a:p>
            <a:pPr lvl="1"/>
            <a:r>
              <a:rPr lang="en-US" dirty="0"/>
              <a:t>K</a:t>
            </a:r>
            <a:r>
              <a:rPr lang="en-US" baseline="30000" dirty="0"/>
              <a:t>+</a:t>
            </a:r>
            <a:r>
              <a:rPr lang="en-US" dirty="0"/>
              <a:t>:        efficiency=0.513, purity=0.678</a:t>
            </a:r>
          </a:p>
          <a:p>
            <a:pPr lvl="1"/>
            <a:r>
              <a:rPr lang="en-US" dirty="0"/>
              <a:t>anti-p: efficiency=0.857, purity=0.771</a:t>
            </a:r>
          </a:p>
          <a:p>
            <a:pPr lvl="1"/>
            <a:r>
              <a:rPr lang="en-US" dirty="0"/>
              <a:t>p:         efficiency=0.790, purity=0.816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25A10-404E-F042-7028-C3967045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3A41B-4D04-F602-BC33-B3155F90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558A7-8D54-F7C7-021C-500786A86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98027-286E-A5E2-E7DC-2FBE2BAF648E}"/>
              </a:ext>
            </a:extLst>
          </p:cNvPr>
          <p:cNvSpPr txBox="1"/>
          <p:nvPr/>
        </p:nvSpPr>
        <p:spPr>
          <a:xfrm>
            <a:off x="5643562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38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1F3D-E282-D6A2-48D8-D1D58370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8363-419E-1C4D-8115-9AA355162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490960" cy="4860000"/>
          </a:xfrm>
        </p:spPr>
        <p:txBody>
          <a:bodyPr/>
          <a:lstStyle/>
          <a:p>
            <a:r>
              <a:rPr lang="en-US" dirty="0"/>
              <a:t>Wanted to test it on real data: </a:t>
            </a:r>
          </a:p>
          <a:p>
            <a:pPr lvl="1"/>
            <a:r>
              <a:rPr lang="en-US" dirty="0"/>
              <a:t>Use the RICH as the truth (like MC is the truth in the simulation)</a:t>
            </a:r>
          </a:p>
          <a:p>
            <a:pPr lvl="1"/>
            <a:r>
              <a:rPr lang="en-US" dirty="0"/>
              <a:t>Apply cut on the RICH variables to have a (as) pure (as possible) sample of pion and kaon:</a:t>
            </a:r>
          </a:p>
          <a:p>
            <a:pPr lvl="1"/>
            <a:r>
              <a:rPr lang="en-US" dirty="0"/>
              <a:t>RQ (goodness of hadron choice parameter (1=</a:t>
            </a:r>
            <a:r>
              <a:rPr lang="en-US" dirty="0" err="1"/>
              <a:t>anambiguos</a:t>
            </a:r>
            <a:r>
              <a:rPr lang="en-US" dirty="0"/>
              <a:t>, 0=random)) &gt; 0.1 and </a:t>
            </a:r>
            <a:r>
              <a:rPr lang="en-US" dirty="0" err="1"/>
              <a:t>ntot</a:t>
            </a:r>
            <a:r>
              <a:rPr lang="en-US" dirty="0"/>
              <a:t> (Number of photon used for likelihood)&gt; 2.5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FE662-AE39-3FD3-7A2C-D3CC4CE6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4D3D-4F7C-BB4B-30FA-B46B5187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04A9-B573-573C-52FB-A0D37D60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2EBF0-2FF6-F9E6-F076-AF7D936E2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88" y="3100889"/>
            <a:ext cx="9923624" cy="364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192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FE483-2CE6-156A-229F-D75474702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CEB3-11BA-AFF4-CA96-314FBBA8E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01F00-AAB0-5D0B-AA44-75E9D9BFD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490960" cy="4860000"/>
          </a:xfrm>
        </p:spPr>
        <p:txBody>
          <a:bodyPr/>
          <a:lstStyle/>
          <a:p>
            <a:r>
              <a:rPr lang="en-US" dirty="0"/>
              <a:t>Wanted to test it on real data: </a:t>
            </a:r>
          </a:p>
          <a:p>
            <a:pPr lvl="1"/>
            <a:r>
              <a:rPr lang="en-US" dirty="0"/>
              <a:t>Use the RICH as the truth (like MC is the truth in the simulation)</a:t>
            </a:r>
          </a:p>
          <a:p>
            <a:pPr lvl="1"/>
            <a:r>
              <a:rPr lang="en-US" dirty="0"/>
              <a:t>Apply cut on the RICH variables to have a (as) pure (as possible) sample of pion and kaon:</a:t>
            </a:r>
          </a:p>
          <a:p>
            <a:pPr lvl="1"/>
            <a:r>
              <a:rPr lang="en-US" dirty="0"/>
              <a:t>RQ (goodness of hadron choice parameter (1=</a:t>
            </a:r>
            <a:r>
              <a:rPr lang="en-US" dirty="0" err="1"/>
              <a:t>anambiguos</a:t>
            </a:r>
            <a:r>
              <a:rPr lang="en-US" dirty="0"/>
              <a:t>, 0=random)) &gt; 0.1 and </a:t>
            </a:r>
            <a:r>
              <a:rPr lang="en-US" dirty="0" err="1"/>
              <a:t>ntot</a:t>
            </a:r>
            <a:r>
              <a:rPr lang="en-US" dirty="0"/>
              <a:t> (Number of photon used for likelihood)&gt; 2.5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5DFC9-E21C-C379-9299-190ED7F05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3FB6B-E6F3-CC47-6A5E-820BEF2A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748A4-4BEA-0ACC-3CF8-8E1E2B59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9A531-BA60-2ED4-DCE0-9954C4A61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3109948"/>
            <a:ext cx="9845040" cy="361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46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DE2E-A283-9E96-B468-43D289FE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51CA0-DB6B-A56F-388B-A34D0C1AE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the cuts: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4815-5B91-81A7-0EC4-6B11823D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1F3B4-22DD-0E18-D400-A1ADAB3B3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A7466-3D36-3878-EE39-5E5244F0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CF154D-DE6C-FF11-4E5B-EB6D2F850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7501"/>
            <a:ext cx="6073942" cy="45185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F0C732-AE93-7D4A-52B3-BA2F345CD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7501"/>
            <a:ext cx="6073943" cy="451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1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439A-99F8-6E95-4C89-F198DA6C7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C3AA3-5D03-3C7D-510C-EE403AAEC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A8EBD-8276-C1A4-274F-52197EF93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have tested the AI on real data: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Very bad: low efficiency on the pion and low purity on the kaon: </a:t>
            </a:r>
          </a:p>
          <a:p>
            <a:pPr lvl="1"/>
            <a:r>
              <a:rPr lang="en-US" dirty="0"/>
              <a:t>Mean that the AI assign a kaon PID to all particles.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3CFD1-2C7D-22D9-F6AC-C6A371626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AF224-5D04-4435-C225-3DCAD621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0D2F-D0A7-E230-E93A-DA3DDB331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1189EA-1C20-9214-D33F-99FCCBABC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99750"/>
            <a:ext cx="74168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24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5DDD-653B-7C15-6010-86B02FA30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70EE6-52D2-4D1A-256D-FD3F0F5B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there is an issue with either the AI or the inputs. First look at the inputs variables, in simulation and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Some difference in the momentum and angles distribution but it should be fine, as long as the phase space is well cover.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8231C-933A-0102-A760-9F1F37AFE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7FB2D-EFE7-3EE6-86F9-426C0663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42F36-9DDB-97CF-2809-7156B7E8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EE5D1-55FA-2F4B-4F2D-6AF1C183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9" y="2088592"/>
            <a:ext cx="11793861" cy="23934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190877-C37F-AB85-121D-0E798D026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120" y="1668042"/>
            <a:ext cx="31877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4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C5EB-142B-18AD-83E1-D1B535B2F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BEF4-ADA1-BC2E-B9F0-67A4F44F5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8DA2F-35ED-85DA-AE5C-FF2B9C171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there is an issue with either the AI or the inputs. First look at the inputs variables, in simulation and data</a:t>
            </a:r>
          </a:p>
          <a:p>
            <a:pPr lvl="1"/>
            <a:r>
              <a:rPr lang="en-US" dirty="0"/>
              <a:t>Look to energy distribution in the calorimeter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6701-6FF2-2339-4E45-AA96D6CC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F21D2-FD20-D55F-2A19-840B2EB5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83460-862B-C405-7F78-3B697616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3908F3-F3DF-9E41-7B1A-8AE3CFAC0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20" y="1668042"/>
            <a:ext cx="3187700" cy="520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2323A4-CEF7-17F8-D00C-EE794FE4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01" y="2343973"/>
            <a:ext cx="10329727" cy="21310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2682ED-5597-F450-EA41-D2B2BE3FA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01" y="4496238"/>
            <a:ext cx="10339887" cy="22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5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A596E-6051-8235-6C28-56D5A0F8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B8356-67AE-873D-C7F1-0C37319E3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0BF2E-4641-CBED-9662-730C29D66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5257800"/>
          </a:xfrm>
        </p:spPr>
        <p:txBody>
          <a:bodyPr>
            <a:normAutofit/>
          </a:bodyPr>
          <a:lstStyle/>
          <a:p>
            <a:r>
              <a:rPr lang="en-US" dirty="0"/>
              <a:t>So, there is an issue with either the AI or the inputs. First look at the inputs variables, in simulation and data</a:t>
            </a:r>
          </a:p>
          <a:p>
            <a:pPr lvl="1"/>
            <a:r>
              <a:rPr lang="en-US" dirty="0"/>
              <a:t>Look into time distribution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 ~30 ns shift in most of the distribution, I asked Raffaella and she told me it is expected, it will be fix with the real run number simulation.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FB706-302A-E978-2FD2-BA0BD953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0F810-1305-0A46-E2E3-2327EF06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FA776-B1C4-E057-B8A2-6B5F6AA8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E6EF81-B84E-FE14-FFF5-5AE3B0741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20" y="1668042"/>
            <a:ext cx="3187700" cy="52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11739C-EE18-71B5-672C-8568757E0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3" y="2422050"/>
            <a:ext cx="2998356" cy="2638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B2CF89-1FEC-215A-C631-52BB61C30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641" y="2422051"/>
            <a:ext cx="2998356" cy="26206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9CD591-5208-DD18-1BC7-6D2FE2043A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5520" y="2422052"/>
            <a:ext cx="2836146" cy="25969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4FA5A58-2A47-8A4A-5F02-D6E6C79531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381" y="2422053"/>
            <a:ext cx="3116580" cy="268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51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010B-F663-DD3C-82C5-2483BEB6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C717-E6B8-0004-A7A7-F6CBAB5C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8EED1-C4CA-3A9B-7371-C1AEB1059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5257800"/>
          </a:xfrm>
        </p:spPr>
        <p:txBody>
          <a:bodyPr>
            <a:normAutofit/>
          </a:bodyPr>
          <a:lstStyle/>
          <a:p>
            <a:r>
              <a:rPr lang="en-US" dirty="0"/>
              <a:t>So, there is an issue with either the AI or the inputs. First look at the inputs variables, in simulation and data</a:t>
            </a:r>
          </a:p>
          <a:p>
            <a:pPr lvl="1"/>
            <a:r>
              <a:rPr lang="en-US" dirty="0"/>
              <a:t>Look into time distribution</a:t>
            </a:r>
          </a:p>
          <a:p>
            <a:r>
              <a:rPr lang="en-US" dirty="0"/>
              <a:t>A ~30 ns shift in most of the distribution, I asked Raffaella and she told me it is expected, it will be fix with the real run number simulation.</a:t>
            </a:r>
          </a:p>
          <a:p>
            <a:r>
              <a:rPr lang="en-US" dirty="0"/>
              <a:t>If all the particle are shifted by ~30ns all the </a:t>
            </a:r>
            <a:r>
              <a:rPr lang="en-US" dirty="0" err="1"/>
              <a:t>pions</a:t>
            </a:r>
            <a:r>
              <a:rPr lang="en-US" dirty="0"/>
              <a:t> will be identify as kaons.</a:t>
            </a:r>
          </a:p>
          <a:p>
            <a:endParaRPr lang="en-US" dirty="0"/>
          </a:p>
          <a:p>
            <a:r>
              <a:rPr lang="en-US" dirty="0"/>
              <a:t>Right now, I should always use time – </a:t>
            </a:r>
            <a:r>
              <a:rPr lang="en-US" dirty="0" err="1"/>
              <a:t>start_time</a:t>
            </a:r>
            <a:r>
              <a:rPr lang="en-US" dirty="0"/>
              <a:t> instead of just the time in the REC banks.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C003-D7FD-4AAD-66B3-0C33C03D6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0CB19-25F6-0F34-F280-029FE795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410C9-2D43-7EED-C4C5-136BA7B4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9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691C-A53D-46B4-17A9-CCCCDD39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213A-0851-0EA6-1594-197568D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Hadron identification with AI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4FF19-37FD-55DB-9323-B3D79FE99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49680"/>
                <a:ext cx="10972800" cy="5257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Also, I have discussed with Raffaella and Bhawani about the exclusive process to test the AI.</a:t>
                </a:r>
              </a:p>
              <a:p>
                <a:pPr lvl="1"/>
                <a:r>
                  <a:rPr lang="en-US" dirty="0"/>
                  <a:t>Should be possible to have another way to have a good sample of pion and kaon</a:t>
                </a:r>
              </a:p>
              <a:p>
                <a:pPr lvl="1"/>
                <a:r>
                  <a:rPr lang="en-US" dirty="0"/>
                  <a:t>Reaction would be: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14FF19-37FD-55DB-9323-B3D79FE99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49680"/>
                <a:ext cx="10972800" cy="5257800"/>
              </a:xfrm>
              <a:blipFill>
                <a:blip r:embed="rId2"/>
                <a:stretch>
                  <a:fillRect l="-809" t="-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87EA-6203-0328-CB3D-BAB5C5AC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C0F84-CAD0-3DAE-1DDE-0F1DD46A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1B80-DE53-81BD-3EF2-C2F4B7465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9C6DF-A86A-1D7F-5E11-8AF269A2A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2777335"/>
            <a:ext cx="9170358" cy="383714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F7F6702-D95C-1817-3B01-6CF5EED9F749}"/>
              </a:ext>
            </a:extLst>
          </p:cNvPr>
          <p:cNvSpPr txBox="1">
            <a:spLocks/>
          </p:cNvSpPr>
          <p:nvPr/>
        </p:nvSpPr>
        <p:spPr>
          <a:xfrm>
            <a:off x="9357360" y="2777334"/>
            <a:ext cx="2758440" cy="3882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Electron: standard RG-D cut + fiducials</a:t>
            </a:r>
          </a:p>
          <a:p>
            <a:pPr marL="0" indent="0">
              <a:buNone/>
            </a:pPr>
            <a:r>
              <a:rPr lang="en-US" sz="1800" dirty="0"/>
              <a:t>DIS cuts: Q</a:t>
            </a:r>
            <a:r>
              <a:rPr lang="en-US" sz="1800" baseline="30000" dirty="0"/>
              <a:t>2</a:t>
            </a:r>
            <a:r>
              <a:rPr lang="en-US" sz="1800" dirty="0"/>
              <a:t>&gt;1GeV</a:t>
            </a:r>
            <a:r>
              <a:rPr lang="en-US" sz="1800" baseline="30000" dirty="0"/>
              <a:t>2</a:t>
            </a:r>
            <a:r>
              <a:rPr lang="en-US" sz="1800" dirty="0"/>
              <a:t>, W&gt;2 GeV and y &lt; 0.85</a:t>
            </a:r>
          </a:p>
          <a:p>
            <a:pPr marL="0" indent="0">
              <a:buNone/>
            </a:pPr>
            <a:r>
              <a:rPr lang="en-US" sz="1800" dirty="0" err="1"/>
              <a:t>Pions</a:t>
            </a:r>
            <a:r>
              <a:rPr lang="en-US" sz="1800" dirty="0"/>
              <a:t> and kaon are selected with </a:t>
            </a:r>
            <a:r>
              <a:rPr lang="en-US" sz="1800" dirty="0" err="1"/>
              <a:t>pid</a:t>
            </a:r>
            <a:r>
              <a:rPr lang="en-US" sz="1800" dirty="0"/>
              <a:t> only.</a:t>
            </a:r>
          </a:p>
        </p:txBody>
      </p:sp>
    </p:spTree>
    <p:extLst>
      <p:ext uri="{BB962C8B-B14F-4D97-AF65-F5344CB8AC3E}">
        <p14:creationId xmlns:p14="http://schemas.microsoft.com/office/powerpoint/2010/main" val="2765095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B238-E9B8-9CA4-3B84-1021586BE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Track matching with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85A0-A607-23F4-27C3-D0C0809BE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711940" cy="4860000"/>
          </a:xfrm>
        </p:spPr>
        <p:txBody>
          <a:bodyPr/>
          <a:lstStyle/>
          <a:p>
            <a:r>
              <a:rPr lang="en-US" dirty="0"/>
              <a:t>Inputs: 5 of 2-D points (</a:t>
            </a:r>
            <a:r>
              <a:rPr lang="en-US" dirty="0" err="1"/>
              <a:t>intercluster</a:t>
            </a:r>
            <a:r>
              <a:rPr lang="en-US" dirty="0"/>
              <a:t>: x, y) (in total 10 numbers)</a:t>
            </a:r>
          </a:p>
          <a:p>
            <a:r>
              <a:rPr lang="en-US" dirty="0"/>
              <a:t>Output: sector, layer, wedge</a:t>
            </a:r>
          </a:p>
          <a:p>
            <a:r>
              <a:rPr lang="en-US" dirty="0"/>
              <a:t>Test it on real data (elastic proton/deuterium) selected with with </a:t>
            </a:r>
            <a:r>
              <a:rPr lang="en-US" dirty="0" err="1"/>
              <a:t>Vz</a:t>
            </a:r>
            <a:r>
              <a:rPr lang="en-US" dirty="0"/>
              <a:t> and W cut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5E735-4024-77EE-DFAC-6ACA4E11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0F77-E1BC-BC0C-B547-3808F3AB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CC78-740D-B7CB-E2BF-EF8CF64B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B72C8D-A346-7232-45F5-522971324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24" y="2600852"/>
            <a:ext cx="9831552" cy="414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305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18982-1350-B23C-5527-5CFDBCC5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C358-1A74-579A-0FD6-6F47D1E6F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Track matching with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903B-757D-75CE-3238-824C5AAB4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Tracks matched to electron (by </a:t>
            </a:r>
            <a:r>
              <a:rPr lang="en-US" b="1" dirty="0" err="1"/>
              <a:t>ɸ</a:t>
            </a:r>
            <a:r>
              <a:rPr lang="en-US" b="1" dirty="0"/>
              <a:t>):</a:t>
            </a:r>
            <a:endParaRPr lang="en-US" dirty="0"/>
          </a:p>
          <a:p>
            <a:pPr lvl="1"/>
            <a:r>
              <a:rPr lang="en-US" dirty="0"/>
              <a:t>AHDC tracks with </a:t>
            </a:r>
            <a:r>
              <a:rPr lang="en-US" dirty="0" err="1"/>
              <a:t>Δɸ</a:t>
            </a:r>
            <a:r>
              <a:rPr lang="en-US" dirty="0"/>
              <a:t> between 150-200° from the elastic electron</a:t>
            </a:r>
          </a:p>
          <a:p>
            <a:r>
              <a:rPr lang="en-US" b="1" dirty="0"/>
              <a:t>Good ATOF hits match to electron (by </a:t>
            </a:r>
            <a:r>
              <a:rPr lang="en-US" b="1" dirty="0" err="1"/>
              <a:t>ɸ</a:t>
            </a:r>
            <a:r>
              <a:rPr lang="en-US" b="1" dirty="0"/>
              <a:t>):</a:t>
            </a:r>
          </a:p>
          <a:p>
            <a:pPr lvl="1"/>
            <a:r>
              <a:rPr lang="en-US" dirty="0"/>
              <a:t>ATOF hits that pass the cut given by </a:t>
            </a:r>
            <a:r>
              <a:rPr lang="en-US" dirty="0" err="1"/>
              <a:t>Zhiwan</a:t>
            </a:r>
            <a:r>
              <a:rPr lang="en-US" dirty="0"/>
              <a:t>/Noémie (</a:t>
            </a:r>
            <a:r>
              <a:rPr lang="en-US" dirty="0" err="1"/>
              <a:t>Δɸ</a:t>
            </a:r>
            <a:r>
              <a:rPr lang="en-US" dirty="0"/>
              <a:t> between 150-200°)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3D6BF-9673-A36D-5993-04884098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4A9A0-F84A-F3A2-94F5-02A77DCE4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84C1F-C745-4593-C2D5-78D18C45F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D40B74-04F8-9E6E-5D5D-F8C4C1C46C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490"/>
          <a:stretch>
            <a:fillRect/>
          </a:stretch>
        </p:blipFill>
        <p:spPr>
          <a:xfrm>
            <a:off x="546870" y="2856600"/>
            <a:ext cx="4695690" cy="4001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B43B5-8765-E468-F46E-5D984CD0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067" y="2856600"/>
            <a:ext cx="4695690" cy="394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27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B26A9-1FA8-E77C-D809-5AB5E70E1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801F-7D87-54BE-2E9B-B7F925A6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Track matching with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E198-CF69-7963-CDA7-612F2F3CD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452860" cy="5608320"/>
          </a:xfrm>
        </p:spPr>
        <p:txBody>
          <a:bodyPr>
            <a:normAutofit/>
          </a:bodyPr>
          <a:lstStyle/>
          <a:p>
            <a:r>
              <a:rPr lang="en-US" b="1" dirty="0"/>
              <a:t>Efficiencies for the proton: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Efficiencies for the deuterium: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Efficiencies are too low compared to simulation </a:t>
            </a:r>
            <a:r>
              <a:rPr lang="en-US" sz="2000" b="1" dirty="0"/>
              <a:t>(92% for the Wedge (component +-1)). </a:t>
            </a:r>
            <a:endParaRPr lang="en-US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4D350-C7EA-8075-1522-8807D94F9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02/09/26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BC066-5FFB-D059-320C-8200BAE2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ALERT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D5C2E-F7E5-A8F0-AE9A-4A9CBEDC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0D1FF7-F8EC-C128-9507-9A914EEB71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42"/>
          <a:stretch>
            <a:fillRect/>
          </a:stretch>
        </p:blipFill>
        <p:spPr>
          <a:xfrm>
            <a:off x="548640" y="1712126"/>
            <a:ext cx="8378200" cy="1716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928A4E-8AE3-6EF1-8DED-93AAC0C3C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356"/>
          <a:stretch>
            <a:fillRect/>
          </a:stretch>
        </p:blipFill>
        <p:spPr>
          <a:xfrm>
            <a:off x="548640" y="3891446"/>
            <a:ext cx="8378200" cy="173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7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6C7E-1D30-543E-10FB-2091E7C28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ALERT: Track matching with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5AA5B-AF26-054D-4078-D006D8EB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Raphael say that the geometry have change, maybe I have use the new geometry for the real data but not for the simulation/training.</a:t>
            </a:r>
          </a:p>
          <a:p>
            <a:r>
              <a:rPr lang="en-US" dirty="0"/>
              <a:t>I think I also have an issue in the code to extract the efficiency on real data.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F632-A159-4FB1-308F-1C6C1028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02/10/26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CABF9-58B8-5A38-CE54-E2C9CFD9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E39D4-7987-145C-624A-D3EED027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640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1F3D-E282-D6A2-48D8-D1D58370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8363-419E-1C4D-8115-9AA355162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RG-D: </a:t>
            </a:r>
          </a:p>
          <a:p>
            <a:pPr lvl="1"/>
            <a:r>
              <a:rPr lang="en-US" dirty="0"/>
              <a:t>Study the </a:t>
            </a:r>
            <a:r>
              <a:rPr lang="en-US" dirty="0" err="1"/>
              <a:t>CuSn</a:t>
            </a:r>
            <a:r>
              <a:rPr lang="en-US" dirty="0"/>
              <a:t> contamination using simulations.</a:t>
            </a:r>
          </a:p>
          <a:p>
            <a:pPr lvl="1"/>
            <a:r>
              <a:rPr lang="en-US" dirty="0"/>
              <a:t> Retrain the AI-based PID using (time − </a:t>
            </a:r>
            <a:r>
              <a:rPr lang="en-US" dirty="0" err="1"/>
              <a:t>start_time</a:t>
            </a:r>
            <a:r>
              <a:rPr lang="en-US" dirty="0"/>
              <a:t>); aim to reduce the input feature set to only the most relevant variables.  </a:t>
            </a:r>
          </a:p>
          <a:p>
            <a:pPr lvl="1"/>
            <a:r>
              <a:rPr lang="en-US" dirty="0"/>
              <a:t>Add the </a:t>
            </a:r>
            <a:r>
              <a:rPr lang="en-US" dirty="0" err="1"/>
              <a:t>inbending</a:t>
            </a:r>
            <a:r>
              <a:rPr lang="en-US" dirty="0"/>
              <a:t> configuration to the OSG portal.  </a:t>
            </a:r>
          </a:p>
          <a:p>
            <a:pPr lvl="1"/>
            <a:r>
              <a:rPr lang="en-US" dirty="0"/>
              <a:t>For OSG, there is an option to merge background events. This requires extracting background from the decoded files. I know how to do this, and we now have enough files to extract a good background sample. Would you like me to proceed with extracting the background events?</a:t>
            </a:r>
          </a:p>
          <a:p>
            <a:r>
              <a:rPr lang="en-US" dirty="0"/>
              <a:t>ALERT: </a:t>
            </a:r>
          </a:p>
          <a:p>
            <a:pPr lvl="1"/>
            <a:r>
              <a:rPr lang="en-US" dirty="0"/>
              <a:t>work on the track matching using real data (retrain the model using the new geometry)</a:t>
            </a:r>
          </a:p>
          <a:p>
            <a:pPr lvl="1"/>
            <a:r>
              <a:rPr lang="en-US" dirty="0"/>
              <a:t>Fix the code if there is an issue (likely needed).</a:t>
            </a:r>
          </a:p>
          <a:p>
            <a:pPr lvl="1"/>
            <a:r>
              <a:rPr lang="en-US" dirty="0"/>
              <a:t>Extract correct efficiency</a:t>
            </a:r>
          </a:p>
          <a:p>
            <a:r>
              <a:rPr lang="en-US" dirty="0"/>
              <a:t>Shift PRad2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FE662-AE39-3FD3-7A2C-D3CC4CE6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4D3D-4F7C-BB4B-30FA-B46B5187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04A9-B573-573C-52FB-A0D37D60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9503</TotalTime>
  <Words>1099</Words>
  <Application>Microsoft Macintosh PowerPoint</Application>
  <PresentationFormat>Widescreen</PresentationFormat>
  <Paragraphs>174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Fira Sans Book</vt:lpstr>
      <vt:lpstr>Fira Sans Light</vt:lpstr>
      <vt:lpstr>Office Theme</vt:lpstr>
      <vt:lpstr>Group meeting</vt:lpstr>
      <vt:lpstr>RG-D cooking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RG-D: Hadron identification with AI </vt:lpstr>
      <vt:lpstr>ALERT: Track matching with AI</vt:lpstr>
      <vt:lpstr>ALERT: Track matching with AI</vt:lpstr>
      <vt:lpstr>ALERT: Track matching with AI</vt:lpstr>
      <vt:lpstr>ALERT: Track matching with AI</vt:lpstr>
      <vt:lpstr>Work plan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355</cp:revision>
  <dcterms:created xsi:type="dcterms:W3CDTF">2019-12-03T01:04:10Z</dcterms:created>
  <dcterms:modified xsi:type="dcterms:W3CDTF">2026-02-10T19:07:09Z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