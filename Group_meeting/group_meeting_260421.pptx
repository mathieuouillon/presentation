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99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3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299"/>
            <p14:sldId id="345"/>
            <p14:sldId id="346"/>
            <p14:sldId id="347"/>
            <p14:sldId id="348"/>
            <p14:sldId id="349"/>
            <p14:sldId id="350"/>
            <p14:sldId id="351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3B"/>
    <a:srgbClr val="304D59"/>
    <a:srgbClr val="243643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92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272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04/14/26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>
              <a:defRPr sz="2000" b="0" i="0">
                <a:latin typeface="Fira Sans" panose="020B0503050000020004" pitchFamily="34" charset="0"/>
                <a:ea typeface="Fira Sans" panose="020B0503050000020004" pitchFamily="34" charset="0"/>
              </a:defRPr>
            </a:lvl2pPr>
            <a:lvl3pPr>
              <a:defRPr sz="1800" b="0" i="0">
                <a:latin typeface="Fira Sans" panose="020B0503050000020004" pitchFamily="34" charset="0"/>
                <a:ea typeface="Fira Sans" panose="020B0503050000020004" pitchFamily="34" charset="0"/>
              </a:defRPr>
            </a:lvl3pPr>
            <a:lvl4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4pPr>
            <a:lvl5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 dirty="0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04/14/26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04/21/26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8670-351E-6B15-0847-0D3697CB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AA01-687F-321D-8FA8-B36D292C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51DB-FC12-4E27-491A-9AA62694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07243-D7B8-A610-342A-0CC10971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B6DD-8A96-0684-8915-E99EC327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D1512-D816-F929-75B4-79816BD7D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27" y="2312643"/>
            <a:ext cx="2799504" cy="3073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A94BEE-2D1A-5EC6-7539-62F08406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73" y="2312643"/>
            <a:ext cx="2611699" cy="3073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70E624-E486-A681-CDD1-AE0C34EC1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122" y="2312643"/>
            <a:ext cx="2540728" cy="307307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8F9A2D2-51F5-01A2-D9B3-C2F3846D2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1115296"/>
            <a:ext cx="11922474" cy="1093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All the files have been reconstructed, and all the trains have been produced.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 have copied all the files to their correct location in /cache and /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mss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E34E24-4203-F275-5A78-3B8E732AF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100" y="2312643"/>
            <a:ext cx="2845098" cy="164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2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1A10-2669-B634-6BB4-08FA746F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3B8D-6A49-15A5-32B3-E4FCAA58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01DA7-50F9-F10B-2211-CE3E69E7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54077-8218-791F-CEC1-39276726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D7187-DE94-7EFC-8C3A-DDE6A26A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A0F171-7CDC-8374-54FE-887BCB11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1"/>
            <a:ext cx="11988815" cy="5323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Reconstructed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peak positions drift and distributions deviate from Gaussian as a function of kinematics (p,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θ, φ).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Data: 10% of the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dataset, only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outbending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.  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Focus on electron with the standard cuts and fiducial cuts first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Select electron with p &gt; 2GeV,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&gt; 6 deg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Without correction: O(2 cm) shift, Non-Gaussian distribution, hard to estimate the contamination, and hard to compare with simulation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3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45A5-0ACA-DF57-B090-3D788E07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98EC-A4CF-D2AF-A3DB-1C6BF144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F0543-DBF7-88AA-3FBF-ED1436F5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75625-E579-9580-8B88-AA10356D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28942-D253-2E41-6B71-CAFA6F91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14F4566-C7F5-2518-EB70-2C5A307D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32482"/>
            <a:ext cx="4481316" cy="5179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Sector dependence: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Just for selected kinematics bin (p,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), Overlay: same (p,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 bin, 6 sectors.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Clear sector dependence, not large.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Peak positions drift by ~0.5–1 cm across sectors at low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Convergence toward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≈ 17– 27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Motivates a per-sector correction.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5F1743-9F77-2443-101E-D58CEFA39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27" y="643882"/>
            <a:ext cx="7389091" cy="621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1072C-CDC4-B64B-07DF-A82E9B3A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5027-C55E-860D-F62C-0E5D3C8C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5CE97-9691-9522-476B-3AC4F220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D5A5B-4B48-3C25-7C0F-BF53FA051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7C9C-48C8-F433-4D73-776F39DA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CC9E77-78DE-CF5F-724C-84A9FC5B7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2"/>
            <a:ext cx="3741583" cy="5179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Local-𝜙 dependence: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Within each sector,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peak shifts with local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(10° bins).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Shown for 2 &lt; p &lt; 4 GeV/c, 6° &lt;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&lt; 10° (largest effect).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Motivates a per-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-bin correction on top of the per-sector 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9B27DC-A76F-A773-CB5D-AB0965376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053" y="1230922"/>
            <a:ext cx="8719947" cy="439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9C58-EAA7-89DA-EB63-EA42C17E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D6FB-1B45-2D8C-B407-0438A43B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CB24-42AE-77A1-F1C4-C57BBE11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4BC8-C13C-5B8A-C07E-3DC65E07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132B9-8663-09B8-91DC-96CAC06E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F99B5-1546-8CBB-2654-20ECE9972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2"/>
            <a:ext cx="11943474" cy="5179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Binning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• p: 16 bins of 0.5 GeV/c in [2, 10]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•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 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: 24 bins of 1° in [6°, 30°]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• 6 sectors × 6 local-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bins (10°)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⇒ 13,824 (s, p,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 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 bins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Reference region for μ</a:t>
            </a:r>
            <a:r>
              <a:rPr lang="en-US" baseline="-25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σ</a:t>
            </a:r>
            <a:r>
              <a:rPr lang="en-US" baseline="-25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:</a:t>
            </a:r>
          </a:p>
          <a:p>
            <a:pPr marL="0" indent="0">
              <a:buNone/>
            </a:pP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≥ 20° and p ≥ 5 GeV/c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Where I consider the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 to be correct (simulation and data are very similar)</a:t>
            </a:r>
          </a:p>
        </p:txBody>
      </p:sp>
    </p:spTree>
    <p:extLst>
      <p:ext uri="{BB962C8B-B14F-4D97-AF65-F5344CB8AC3E}">
        <p14:creationId xmlns:p14="http://schemas.microsoft.com/office/powerpoint/2010/main" val="1086319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6514-F0B4-8CC7-3628-22785AB4B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0885-370E-208B-8922-A81D78C7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D8E78-356F-BF10-6331-C6A95A4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8BC5-0936-A78B-B4EF-7D5E0216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D119F-96D5-F913-34E9-78BD680B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A17D571-666C-74E0-D9BF-620EC568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2"/>
            <a:ext cx="11943474" cy="5179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Gaussian fit on the high-stats, clean region (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≥ 20°, p ≥ 5 GeV/c) fixes the targets everything is corrected to.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575B5-D6B7-4D8C-D1FF-F4307FA7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386" y="1967096"/>
            <a:ext cx="9599227" cy="213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AFE7-A0B9-EFC4-4EA5-852F03F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68B2-9982-48DB-816E-89F4904A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B2914-4720-EE47-3579-5C72DADA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BCB90-A3E0-EC45-2A68-C48C166A4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CE27A-FE09-0014-FD61-B4208AC8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486772-91E3-B760-7527-B9648E128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4983454" cy="5179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In every (s, p,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 cell: fit two Gaussians (Sn and Cu). 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Acceptance cuts: ≥ 200 events;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σ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∈ [0.3, 2.5] cm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Give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μ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(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σ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(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 with error bars for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both targets, per (s, p,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AA4974-25A5-9F82-4CD1-5B03015E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041" y="646126"/>
            <a:ext cx="6805407" cy="621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B9F9-BFD0-E53E-784F-561C6981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08CE-8A7D-43E1-7073-5EF98028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9BDA-7A3B-4D11-A138-C2B39210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062AC-B358-C031-8576-2F14DF5D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CB1DA-2A14-6552-4423-EF36AFC5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14729E-08C2-DDDD-B124-D9B936403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4055618" cy="5179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θ-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parametrization: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poly3 fit to the 24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-points of: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μ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(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σ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(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μ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(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σ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(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Stored (shape 6×16×6×4):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-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poly_mu_sn_th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-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poly_sig_sn_th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-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poly_mu_cu_th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-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poly_sig_cu_th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F37A92-E633-B088-9C52-9C084E79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921957"/>
            <a:ext cx="7932063" cy="504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0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3467-2C2C-F1C0-E249-F36B7F7B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E4A4-0641-F29D-92CD-1155B35F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correction: Correction formula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9D389-2724-BDFB-C1DE-4A556BA0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6D86-5621-0F79-9859-6EEB88E4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9E82B-6499-1801-B313-37BC5435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1C02BA1-0492-C61F-8F1C-3BF991270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2"/>
            <a:ext cx="11981259" cy="51793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 bit more complicated that last time but the only way I found to fix that weird second small peak: Two affine transforms (one per target) blended by a logistic in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mid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= (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μ</a:t>
            </a:r>
            <a:r>
              <a:rPr lang="en-US" baseline="30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Sn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+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μ</a:t>
            </a:r>
            <a:r>
              <a:rPr lang="en-US" baseline="30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)/2.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Each event shifts toward its nearest target; smooth handover near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mid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μ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σ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come from the poly3 evaluated at the event’s (s, p,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This correction can probably be simplified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8AF1E0-E588-2A0C-4B29-9861AEF8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174" y="1670416"/>
            <a:ext cx="9530345" cy="269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96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E95F-16E2-4453-0A8B-80CA64C7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7682-877B-D8A2-7D10-58A4DDBB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1814A-2FED-D53F-2003-19B85450B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5D09-4C2A-3D0D-17FE-8DEA2C21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FF24A-A162-A970-B40B-BA0023D1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5E8B89-93BB-BB55-5FDF-AE818F9C0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7" y="1072793"/>
            <a:ext cx="11979146" cy="471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1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98E0-1EFA-898B-5360-34A8FBAC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1935-DB55-3FE9-B775-C44B0BE5D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78574-EAEC-26E8-EF5C-1AE9501C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46B87-843B-7050-4567-39531101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974A8-12EA-0A16-CB31-FB1DE4F0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9F9EB5-B9B7-D2AF-19C4-3D662B9D1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50037" y="-82583"/>
            <a:ext cx="24832037" cy="680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6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49C3D-82F0-C404-0E80-6E1763F6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35FA-9357-E0BD-BE2A-D9E305D9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RG-D: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4D09D-EE04-86C8-CCD9-62D37D71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672D4-5837-55A7-2891-BD76F898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8D86-7D2A-4271-A85C-125E7BC8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CD356E-A932-CCB0-00AA-D632909D0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" y="1707888"/>
            <a:ext cx="12015433" cy="374666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3CBCFF9-371A-A65C-E4A7-F2FC1584B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2"/>
            <a:ext cx="11981259" cy="675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10 origin-buckets split pre-correction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. Colors track where each lands after.</a:t>
            </a:r>
          </a:p>
        </p:txBody>
      </p:sp>
    </p:spTree>
    <p:extLst>
      <p:ext uri="{BB962C8B-B14F-4D97-AF65-F5344CB8AC3E}">
        <p14:creationId xmlns:p14="http://schemas.microsoft.com/office/powerpoint/2010/main" val="2104278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2705-D5E8-D893-8E00-B56A19A2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707E-C259-A781-DD0F-8059EF508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RG-E: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03EE3-61A8-D476-11FC-C0BBAA39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9C19E-A13D-465B-0D6D-EDB7B3B3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A9C7F-6B61-EBBF-4ADC-EFEE7112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95DB901-EDF4-54DE-8BDF-D83F58B91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1"/>
            <a:ext cx="11981259" cy="4552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Wanted to test the same thing with FMT. 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FMT banks are not available in DST for RG-D (only 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calib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schema)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So, test on RG-E data (since they have FMT banks and I know where the data are. And they have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and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outbending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data)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Process 4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runs and plot the VZ distributions for different (p,</a:t>
            </a:r>
            <a:r>
              <a:rPr lang="el-GR" dirty="0">
                <a:latin typeface="Fira Sans Light" panose="020B0403050000020004" pitchFamily="34" charset="0"/>
                <a:ea typeface="Fira Sans Light" panose="020B0403050000020004" pitchFamily="34" charset="0"/>
              </a:rPr>
              <a:t> θ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bins).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Compare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from DC and from FMT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428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B4B3-A93D-2A56-D010-6C77CB08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A5B8-C822-D0C3-20E5-54E7131BB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RG-E: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C52DD-147A-34A5-5FD0-747C9CC8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06B6C-334D-DF45-FAD0-625D653B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7FED-AD3F-0E25-77EC-355F5645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70F47B-FEEF-FD95-BCFE-6D1B77A2D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21956"/>
            <a:ext cx="6129079" cy="5577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10C95-834E-F569-B905-FC1EA0BCD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077" y="921954"/>
            <a:ext cx="6104949" cy="557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5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3CF7A-AE12-91B5-9D9F-08C46D92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BAE1-32C1-06DB-90C4-C54F6B9FF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RG-E: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1339F-F677-9FD3-640B-8D365420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820E8-E153-DD6B-D6C9-A444C3D5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BB7BF-3F82-2095-433B-8AEF4E13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52CE82-FFD3-BA79-C08C-931D1E851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66" y="1343371"/>
            <a:ext cx="5672726" cy="4747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0CA14-A3D8-E94B-27A5-7B47134C0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560" y="1343371"/>
            <a:ext cx="5476240" cy="4747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E19DE9-7AA3-4AB1-DD36-455CA4F88871}"/>
              </a:ext>
            </a:extLst>
          </p:cNvPr>
          <p:cNvSpPr txBox="1"/>
          <p:nvPr/>
        </p:nvSpPr>
        <p:spPr>
          <a:xfrm>
            <a:off x="1624760" y="215646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7447A-3A49-9635-708E-063997AD0EA2}"/>
              </a:ext>
            </a:extLst>
          </p:cNvPr>
          <p:cNvSpPr txBox="1"/>
          <p:nvPr/>
        </p:nvSpPr>
        <p:spPr>
          <a:xfrm>
            <a:off x="7575636" y="2156460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FMT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F9FC9-A402-0DBE-09DB-AE1619490EE8}"/>
              </a:ext>
            </a:extLst>
          </p:cNvPr>
          <p:cNvSpPr txBox="1"/>
          <p:nvPr/>
        </p:nvSpPr>
        <p:spPr>
          <a:xfrm>
            <a:off x="285750" y="947998"/>
            <a:ext cx="6103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With the FMT the shift and distortion are smaller</a:t>
            </a:r>
          </a:p>
        </p:txBody>
      </p:sp>
    </p:spTree>
    <p:extLst>
      <p:ext uri="{BB962C8B-B14F-4D97-AF65-F5344CB8AC3E}">
        <p14:creationId xmlns:p14="http://schemas.microsoft.com/office/powerpoint/2010/main" val="1993497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8A47F-D9F6-140A-C11B-668C61B0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9FA5-FFDB-A5F5-AEE2-F7F39205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RG-E: </a:t>
            </a:r>
            <a:r>
              <a:rPr lang="en-US" sz="3600" cap="small" dirty="0" err="1"/>
              <a:t>Vz</a:t>
            </a:r>
            <a:r>
              <a:rPr lang="en-US" sz="3600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03F8E-E3D9-B5C3-54CA-BD4A48702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BC7A9-B511-6872-C8C0-30960D5F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F4912-5383-4613-6BC0-6F3E6B03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8FAC32-9627-BE5E-E3E7-3311579D2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66" y="1343371"/>
            <a:ext cx="5672726" cy="4747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598880-59C3-FB17-AFD6-BB3DE8900AC8}"/>
              </a:ext>
            </a:extLst>
          </p:cNvPr>
          <p:cNvSpPr txBox="1"/>
          <p:nvPr/>
        </p:nvSpPr>
        <p:spPr>
          <a:xfrm>
            <a:off x="1624760" y="215646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 IB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7907E1-1338-241B-3AC2-B75463F7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190" y="1343370"/>
            <a:ext cx="5672726" cy="46905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F9A77E-4D93-BE7B-D030-255EC87DDF8A}"/>
              </a:ext>
            </a:extLst>
          </p:cNvPr>
          <p:cNvSpPr txBox="1"/>
          <p:nvPr/>
        </p:nvSpPr>
        <p:spPr>
          <a:xfrm>
            <a:off x="6993704" y="215646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 OB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19A412DC-7E3C-E68F-0EAF-B347AF39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70" y="968911"/>
            <a:ext cx="11981259" cy="921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the shift and distortion are also smaller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12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858D-8393-4F15-086C-FE8CBA4FE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D5BE-05FF-2543-C6F8-743B8FEE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ALERT: GNN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E6FD8-E4D1-E0D6-A89C-31305C9F21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F001D-F2E9-728F-141C-275778C8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75531-9FB5-7420-5056-4AB20DC3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A260B3F4-9140-21FE-DFDF-E3834E777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70" y="968911"/>
            <a:ext cx="11981259" cy="4921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to implement my new model in COATJAVA: </a:t>
            </a:r>
          </a:p>
          <a:p>
            <a:pPr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First thing: save the model in a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PyTorch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script</a:t>
            </a:r>
          </a:p>
          <a:p>
            <a:pPr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Then we can work in COATJAVA</a:t>
            </a:r>
          </a:p>
          <a:p>
            <a:pPr>
              <a:buFontTx/>
              <a:buChar char="-"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First need to move the track finding and track fitting (helix fitter) to the ALERT Engine: </a:t>
            </a:r>
          </a:p>
          <a:p>
            <a:pPr lvl="1">
              <a:buFontTx/>
              <a:buChar char="-"/>
            </a:pP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AHDCEngine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should only read the hits and use CCDB to select and correct the hits</a:t>
            </a:r>
          </a:p>
          <a:p>
            <a:pPr lvl="1">
              <a:buFontTx/>
              <a:buChar char="-"/>
            </a:pP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ATOFEngine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only read the hits apply CCDB correction and do clustering (?)</a:t>
            </a:r>
          </a:p>
          <a:p>
            <a:pPr lvl="1">
              <a:buFontTx/>
              <a:buChar char="-"/>
            </a:pP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ALERTEngine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will do the track finding, helix fitter and Kalman filter</a:t>
            </a:r>
          </a:p>
          <a:p>
            <a:pPr lvl="1"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It is because I need both AHDC and ATOF hits for the new model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522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F206-3CB2-2F6A-367C-6422606D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F6F36-5165-04A4-6741-4393607D1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ALERT: GNN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3F29A-5E68-2EF4-BDF0-477D5BC5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8B218-B366-CDE7-BED9-BADB0EF8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610A8-535E-1E0C-7B9A-2177E733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DBF2CF8-C90E-6AFD-D81C-B8D16BFB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70" y="968912"/>
            <a:ext cx="11981259" cy="201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to implement my new model in COATJAVA: </a:t>
            </a:r>
          </a:p>
          <a:p>
            <a:pPr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Now, I can implement the new model (GNN):</a:t>
            </a:r>
          </a:p>
          <a:p>
            <a:pPr lvl="1"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First, I need to create the graph in CJ (in the same way it was done in Python)</a:t>
            </a:r>
          </a:p>
          <a:p>
            <a:pPr lvl="1"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Next, the model will do the inference (prediction) with Deep Java Library</a:t>
            </a:r>
          </a:p>
          <a:p>
            <a:pPr lvl="1"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Next, generate the tracks in CJ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EE00D-BF84-47FA-4040-EEB2A10C0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2990850"/>
            <a:ext cx="4800600" cy="2019300"/>
          </a:xfrm>
          <a:prstGeom prst="rect">
            <a:avLst/>
          </a:prstGeom>
        </p:spPr>
      </p:pic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7397FE11-C642-7168-3CD8-929914BA6844}"/>
              </a:ext>
            </a:extLst>
          </p:cNvPr>
          <p:cNvSpPr txBox="1">
            <a:spLocks/>
          </p:cNvSpPr>
          <p:nvPr/>
        </p:nvSpPr>
        <p:spPr>
          <a:xfrm>
            <a:off x="0" y="5128260"/>
            <a:ext cx="11981259" cy="11049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Tested on clas_021903.evio.00000 with 10k events. (325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nA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	10676.6 	4He )</a:t>
            </a:r>
          </a:p>
          <a:p>
            <a:pPr marL="0" indent="0">
              <a:buFont typeface="Arial"/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GNN is much slower, mainly because the model is much larger</a:t>
            </a:r>
          </a:p>
          <a:p>
            <a:pPr marL="0" indent="0">
              <a:buFont typeface="Arial"/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All the time spent is in the inference of the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9E85EE-506D-C0C3-5F1F-509B7E06B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668383"/>
            <a:ext cx="4657129" cy="239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20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37B6-B8BC-73B7-C376-BBA2198B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013BB-8F90-3775-46DD-45546634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760" y="0"/>
            <a:ext cx="9957640" cy="921957"/>
          </a:xfrm>
        </p:spPr>
        <p:txBody>
          <a:bodyPr anchor="ctr">
            <a:normAutofit/>
          </a:bodyPr>
          <a:lstStyle/>
          <a:p>
            <a:r>
              <a:rPr lang="en-US" sz="3600" cap="small" dirty="0"/>
              <a:t>ALERT: GNN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25527-845C-4E3F-93E6-C7DD982D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6A99-331F-A6BE-3E39-7CE1ED75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9C3DC-3D77-80B1-CA4F-68D74966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FF5BF32-F81D-1D9B-BBFF-423C7F76D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70" y="968912"/>
            <a:ext cx="11981259" cy="201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to implement my new model in COATJAVA: </a:t>
            </a:r>
          </a:p>
          <a:p>
            <a:pPr>
              <a:buFontTx/>
              <a:buChar char="-"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Try a smaller network: 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4FBE25F9-F4D4-3F79-635D-1B3ECB230A4F}"/>
              </a:ext>
            </a:extLst>
          </p:cNvPr>
          <p:cNvSpPr txBox="1">
            <a:spLocks/>
          </p:cNvSpPr>
          <p:nvPr/>
        </p:nvSpPr>
        <p:spPr>
          <a:xfrm>
            <a:off x="0" y="5128260"/>
            <a:ext cx="11981259" cy="11049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Tested on clas_021903.evio.00000 with 10k events. (325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nA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	10676.6 	4He )</a:t>
            </a:r>
          </a:p>
          <a:p>
            <a:pPr marL="0" indent="0">
              <a:buFont typeface="Arial"/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Smaller GNN is faster but the efficiency of the smaller is 97% (big model efficiency is 99.9%)</a:t>
            </a:r>
          </a:p>
          <a:p>
            <a:pPr marL="0" indent="0">
              <a:buFont typeface="Arial"/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Maybe with optimization, the efficiency of the smaller can be improve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89C9AF-2693-19AD-9FED-613AADCE5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925406"/>
            <a:ext cx="6527800" cy="30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	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to work on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contamination, develop a correction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</a:t>
            </a:r>
          </a:p>
          <a:p>
            <a:pPr lvl="2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Check the same things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</a:t>
            </a:r>
          </a:p>
          <a:p>
            <a:pPr lvl="2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Raffaella ideas: use phi from region 1 hits not from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px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py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at the vertex</a:t>
            </a:r>
          </a:p>
          <a:p>
            <a:pPr lvl="2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Develop correction of Carbon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Get the multiplicity ratio for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 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after the event mixing subtraction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broadening and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on the binning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ALERT: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Graph Neural Network: optimization and implementation 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coatjava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Try to develop a smaller/faster network with similar efficiency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EDA0-BAB5-9130-2D7E-F16A3E7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16076</TotalTime>
  <Words>1212</Words>
  <Application>Microsoft Macintosh PowerPoint</Application>
  <PresentationFormat>Widescreen</PresentationFormat>
  <Paragraphs>189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Fira Sans</vt:lpstr>
      <vt:lpstr>Fira Sans Light</vt:lpstr>
      <vt:lpstr>Office Theme</vt:lpstr>
      <vt:lpstr>Group meeting</vt:lpstr>
      <vt:lpstr>RG-D: cooking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correction: Correction formula</vt:lpstr>
      <vt:lpstr>RG-D: Vz correction</vt:lpstr>
      <vt:lpstr>RG-D: Vz correction</vt:lpstr>
      <vt:lpstr>RG-D: Vz correction</vt:lpstr>
      <vt:lpstr>RG-E: Vz correction</vt:lpstr>
      <vt:lpstr>RG-E: Vz correction</vt:lpstr>
      <vt:lpstr>RG-E: Vz correction</vt:lpstr>
      <vt:lpstr>RG-E: Vz correction</vt:lpstr>
      <vt:lpstr>ALERT: GNN Implementation</vt:lpstr>
      <vt:lpstr>ALERT: GNN Implementation</vt:lpstr>
      <vt:lpstr>ALERT: GNN Implementation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513</cp:revision>
  <dcterms:created xsi:type="dcterms:W3CDTF">2019-12-03T01:04:10Z</dcterms:created>
  <dcterms:modified xsi:type="dcterms:W3CDTF">2026-04-21T23:14:48Z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