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4"/>
    <p:sldMasterId id="214748367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5143500" cx="9144000"/>
  <p:notesSz cx="6858000" cy="9144000"/>
  <p:embeddedFontLst>
    <p:embeddedFont>
      <p:font typeface="Nunito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unito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21" Type="http://schemas.openxmlformats.org/officeDocument/2006/relationships/font" Target="fonts/Nunito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font" Target="fonts/Nunito-bold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Nunito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417ff67e14_2_8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g3417ff67e14_2_8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417ff67e14_2_9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g3417ff67e14_2_9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417ff67e14_2_10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g3417ff67e14_2_10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417ff67e14_2_1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g3417ff67e14_2_1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417ff67e14_2_1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0" name="Google Shape;190;g3417ff67e14_2_1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g3417ff67e14_2_1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417ff67e14_4_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g3417ff67e14_4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417ff67e14_2_16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g3417ff67e14_2_1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417ff67e14_2_17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g3417ff67e14_2_17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417ff67e14_2_18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g3417ff67e14_2_18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417ff67e14_2_19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g3417ff67e14_2_19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417ff67e14_2_20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4" name="Google Shape;264;g3417ff67e14_2_20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g3417ff67e14_2_20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4"/>
          <p:cNvSpPr txBox="1"/>
          <p:nvPr>
            <p:ph type="ctrTitle"/>
          </p:nvPr>
        </p:nvSpPr>
        <p:spPr>
          <a:xfrm>
            <a:off x="261257" y="51724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Font typeface="Arial"/>
              <a:buNone/>
              <a:defRPr b="0" i="0" sz="45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3" name="Google Shape;53;p14"/>
          <p:cNvSpPr txBox="1"/>
          <p:nvPr>
            <p:ph idx="1" type="subTitle"/>
          </p:nvPr>
        </p:nvSpPr>
        <p:spPr>
          <a:xfrm>
            <a:off x="261257" y="2474969"/>
            <a:ext cx="6858000" cy="476420"/>
          </a:xfrm>
          <a:prstGeom prst="rect">
            <a:avLst/>
          </a:prstGeom>
          <a:solidFill>
            <a:srgbClr val="A8D08C"/>
          </a:solidFill>
          <a:ln cap="flat" cmpd="sng" w="9525">
            <a:solidFill>
              <a:srgbClr val="5481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A8D08C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A8D08C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A8D08C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A8D08C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A8D08C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4"/>
          <p:cNvSpPr txBox="1"/>
          <p:nvPr>
            <p:ph idx="10" type="dt"/>
          </p:nvPr>
        </p:nvSpPr>
        <p:spPr>
          <a:xfrm>
            <a:off x="7396843" y="3315806"/>
            <a:ext cx="900113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4"/>
          <p:cNvSpPr txBox="1"/>
          <p:nvPr>
            <p:ph idx="11" type="ftr"/>
          </p:nvPr>
        </p:nvSpPr>
        <p:spPr>
          <a:xfrm>
            <a:off x="1218520" y="3315805"/>
            <a:ext cx="6178323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56" name="Google Shape;56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4261850"/>
            <a:ext cx="3791630" cy="7288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/>
        </p:nvSpPr>
        <p:spPr>
          <a:xfrm>
            <a:off x="0" y="0"/>
            <a:ext cx="9144000" cy="510778"/>
          </a:xfrm>
          <a:prstGeom prst="rect">
            <a:avLst/>
          </a:prstGeom>
          <a:solidFill>
            <a:srgbClr val="A8D08C"/>
          </a:solidFill>
          <a:ln cap="flat" cmpd="sng" w="12700">
            <a:solidFill>
              <a:srgbClr val="5481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0" y="1"/>
            <a:ext cx="7886700" cy="5107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685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3300"/>
              <a:buFont typeface="Arial"/>
              <a:buNone/>
              <a:defRPr b="0" i="0" sz="33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48986" y="588338"/>
            <a:ext cx="7886700" cy="326350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A8D08C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A8D08C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A8D08C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A8D08C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A8D08C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1" name="Google Shape;61;p15"/>
          <p:cNvSpPr txBox="1"/>
          <p:nvPr>
            <p:ph idx="10" type="dt"/>
          </p:nvPr>
        </p:nvSpPr>
        <p:spPr>
          <a:xfrm>
            <a:off x="0" y="4869656"/>
            <a:ext cx="93345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2" name="Google Shape;62;p15"/>
          <p:cNvSpPr txBox="1"/>
          <p:nvPr>
            <p:ph idx="11" type="ftr"/>
          </p:nvPr>
        </p:nvSpPr>
        <p:spPr>
          <a:xfrm>
            <a:off x="4038601" y="4876007"/>
            <a:ext cx="5106308" cy="26749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3" name="Google Shape;63;p15"/>
          <p:cNvSpPr/>
          <p:nvPr/>
        </p:nvSpPr>
        <p:spPr>
          <a:xfrm flipH="1" rot="-5400000">
            <a:off x="8504889" y="-128334"/>
            <a:ext cx="510777" cy="767443"/>
          </a:xfrm>
          <a:prstGeom prst="snipRoundRect">
            <a:avLst>
              <a:gd fmla="val 16667" name="adj1"/>
              <a:gd fmla="val 16667" name="adj2"/>
            </a:avLst>
          </a:prstGeom>
          <a:solidFill>
            <a:srgbClr val="548135"/>
          </a:solidFill>
          <a:ln cap="flat" cmpd="sng" w="12700">
            <a:solidFill>
              <a:srgbClr val="3856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15"/>
          <p:cNvSpPr txBox="1"/>
          <p:nvPr>
            <p:ph idx="12" type="sldNum"/>
          </p:nvPr>
        </p:nvSpPr>
        <p:spPr>
          <a:xfrm>
            <a:off x="8376557" y="0"/>
            <a:ext cx="767443" cy="520983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800" u="none" cap="none" strike="noStrik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65" name="Google Shape;65;p15"/>
          <p:cNvCxnSpPr/>
          <p:nvPr/>
        </p:nvCxnSpPr>
        <p:spPr>
          <a:xfrm rot="10800000">
            <a:off x="0" y="4869656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A8D08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6" name="Google Shape;66;p15"/>
          <p:cNvSpPr txBox="1"/>
          <p:nvPr/>
        </p:nvSpPr>
        <p:spPr>
          <a:xfrm>
            <a:off x="933449" y="4869656"/>
            <a:ext cx="3105151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5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Mathieu Ouillon</a:t>
            </a:r>
            <a:endParaRPr b="0" i="0" sz="15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>
  <p:cSld name="1_Title and Conten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6"/>
          <p:cNvSpPr/>
          <p:nvPr/>
        </p:nvSpPr>
        <p:spPr>
          <a:xfrm>
            <a:off x="0" y="0"/>
            <a:ext cx="9144000" cy="510778"/>
          </a:xfrm>
          <a:prstGeom prst="rect">
            <a:avLst/>
          </a:prstGeom>
          <a:solidFill>
            <a:srgbClr val="A8D08C"/>
          </a:solidFill>
          <a:ln cap="flat" cmpd="sng" w="12700">
            <a:solidFill>
              <a:srgbClr val="5481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16"/>
          <p:cNvSpPr txBox="1"/>
          <p:nvPr>
            <p:ph type="title"/>
          </p:nvPr>
        </p:nvSpPr>
        <p:spPr>
          <a:xfrm>
            <a:off x="0" y="1"/>
            <a:ext cx="7886700" cy="5107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685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3300"/>
              <a:buFont typeface="Arial"/>
              <a:buNone/>
              <a:defRPr b="0" i="0" sz="33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>
            <a:off x="48986" y="588338"/>
            <a:ext cx="7886700" cy="326350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A8D08C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A8D08C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A8D08C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A8D08C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A8D08C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1" name="Google Shape;71;p16"/>
          <p:cNvSpPr/>
          <p:nvPr/>
        </p:nvSpPr>
        <p:spPr>
          <a:xfrm flipH="1" rot="-5400000">
            <a:off x="8504889" y="-128334"/>
            <a:ext cx="510777" cy="767443"/>
          </a:xfrm>
          <a:prstGeom prst="snipRoundRect">
            <a:avLst>
              <a:gd fmla="val 16667" name="adj1"/>
              <a:gd fmla="val 16667" name="adj2"/>
            </a:avLst>
          </a:prstGeom>
          <a:solidFill>
            <a:srgbClr val="548135"/>
          </a:solidFill>
          <a:ln cap="flat" cmpd="sng" w="12700">
            <a:solidFill>
              <a:srgbClr val="3856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16"/>
          <p:cNvSpPr txBox="1"/>
          <p:nvPr>
            <p:ph idx="12" type="sldNum"/>
          </p:nvPr>
        </p:nvSpPr>
        <p:spPr>
          <a:xfrm>
            <a:off x="8376557" y="0"/>
            <a:ext cx="767443" cy="520983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80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sz="180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sz="180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sz="180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sz="180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sz="180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sz="180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sz="180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sz="180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73" name="Google Shape;73;p16"/>
          <p:cNvCxnSpPr/>
          <p:nvPr/>
        </p:nvCxnSpPr>
        <p:spPr>
          <a:xfrm rot="10800000">
            <a:off x="0" y="4869656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A8D08C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Font typeface="Arial"/>
              <a:buNone/>
              <a:defRPr b="0" i="0" sz="45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A8D08C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A8D08C"/>
              </a:buClr>
              <a:buSzPts val="1500"/>
              <a:buFont typeface="Arial"/>
              <a:buNone/>
              <a:defRPr b="0" i="0" sz="15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A8D08C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A8D08C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A8D08C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7" name="Google Shape;77;p17"/>
          <p:cNvSpPr txBox="1"/>
          <p:nvPr>
            <p:ph idx="10" type="dt"/>
          </p:nvPr>
        </p:nvSpPr>
        <p:spPr>
          <a:xfrm>
            <a:off x="8376557" y="4869656"/>
            <a:ext cx="765402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8" name="Google Shape;78;p17"/>
          <p:cNvSpPr txBox="1"/>
          <p:nvPr>
            <p:ph idx="11" type="ftr"/>
          </p:nvPr>
        </p:nvSpPr>
        <p:spPr>
          <a:xfrm>
            <a:off x="5290457" y="4869656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9" name="Google Shape;79;p17"/>
          <p:cNvSpPr txBox="1"/>
          <p:nvPr>
            <p:ph idx="12" type="sldNum"/>
          </p:nvPr>
        </p:nvSpPr>
        <p:spPr>
          <a:xfrm>
            <a:off x="8113260" y="0"/>
            <a:ext cx="1030740" cy="52098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8"/>
          <p:cNvSpPr txBox="1"/>
          <p:nvPr>
            <p:ph type="title"/>
          </p:nvPr>
        </p:nvSpPr>
        <p:spPr>
          <a:xfrm>
            <a:off x="0" y="1"/>
            <a:ext cx="7886700" cy="51077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82" name="Google Shape;82;p18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A8D08C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A8D08C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A8D08C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A8D08C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A8D08C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Google Shape;83;p18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A8D08C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A8D08C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A8D08C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A8D08C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A8D08C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4" name="Google Shape;84;p18"/>
          <p:cNvSpPr txBox="1"/>
          <p:nvPr>
            <p:ph idx="10" type="dt"/>
          </p:nvPr>
        </p:nvSpPr>
        <p:spPr>
          <a:xfrm>
            <a:off x="8376557" y="4869656"/>
            <a:ext cx="765402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5" name="Google Shape;85;p18"/>
          <p:cNvSpPr txBox="1"/>
          <p:nvPr>
            <p:ph idx="11" type="ftr"/>
          </p:nvPr>
        </p:nvSpPr>
        <p:spPr>
          <a:xfrm>
            <a:off x="5290457" y="4869656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6" name="Google Shape;86;p18"/>
          <p:cNvSpPr txBox="1"/>
          <p:nvPr>
            <p:ph idx="12" type="sldNum"/>
          </p:nvPr>
        </p:nvSpPr>
        <p:spPr>
          <a:xfrm>
            <a:off x="8113260" y="0"/>
            <a:ext cx="1030740" cy="52098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9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89" name="Google Shape;89;p19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A8D08C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A8D08C"/>
              </a:buClr>
              <a:buSzPts val="1500"/>
              <a:buFont typeface="Arial"/>
              <a:buNone/>
              <a:defRPr b="1" i="0" sz="15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A8D08C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A8D08C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A8D08C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0" name="Google Shape;90;p19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A8D08C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A8D08C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A8D08C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A8D08C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A8D08C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1" name="Google Shape;91;p19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A8D08C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A8D08C"/>
              </a:buClr>
              <a:buSzPts val="1500"/>
              <a:buFont typeface="Arial"/>
              <a:buNone/>
              <a:defRPr b="1" i="0" sz="15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A8D08C"/>
              </a:buClr>
              <a:buSzPts val="1400"/>
              <a:buFont typeface="Arial"/>
              <a:buNone/>
              <a:defRPr b="1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A8D08C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A8D08C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2" name="Google Shape;92;p1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A8D08C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A8D08C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A8D08C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A8D08C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A8D08C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3" name="Google Shape;93;p19"/>
          <p:cNvSpPr txBox="1"/>
          <p:nvPr>
            <p:ph idx="10" type="dt"/>
          </p:nvPr>
        </p:nvSpPr>
        <p:spPr>
          <a:xfrm>
            <a:off x="8376557" y="4869656"/>
            <a:ext cx="765402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4" name="Google Shape;94;p19"/>
          <p:cNvSpPr txBox="1"/>
          <p:nvPr>
            <p:ph idx="11" type="ftr"/>
          </p:nvPr>
        </p:nvSpPr>
        <p:spPr>
          <a:xfrm>
            <a:off x="5290457" y="4869656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5" name="Google Shape;95;p19"/>
          <p:cNvSpPr txBox="1"/>
          <p:nvPr>
            <p:ph idx="12" type="sldNum"/>
          </p:nvPr>
        </p:nvSpPr>
        <p:spPr>
          <a:xfrm>
            <a:off x="8113260" y="0"/>
            <a:ext cx="1030740" cy="52098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type="title"/>
          </p:nvPr>
        </p:nvSpPr>
        <p:spPr>
          <a:xfrm>
            <a:off x="0" y="1"/>
            <a:ext cx="7886700" cy="51077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98" name="Google Shape;98;p20"/>
          <p:cNvSpPr txBox="1"/>
          <p:nvPr>
            <p:ph idx="10" type="dt"/>
          </p:nvPr>
        </p:nvSpPr>
        <p:spPr>
          <a:xfrm>
            <a:off x="8376557" y="4869656"/>
            <a:ext cx="765402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9" name="Google Shape;99;p20"/>
          <p:cNvSpPr txBox="1"/>
          <p:nvPr>
            <p:ph idx="11" type="ftr"/>
          </p:nvPr>
        </p:nvSpPr>
        <p:spPr>
          <a:xfrm>
            <a:off x="5290457" y="4869656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0" name="Google Shape;100;p20"/>
          <p:cNvSpPr txBox="1"/>
          <p:nvPr>
            <p:ph idx="12" type="sldNum"/>
          </p:nvPr>
        </p:nvSpPr>
        <p:spPr>
          <a:xfrm>
            <a:off x="8113260" y="0"/>
            <a:ext cx="1030740" cy="52098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>
            <p:ph idx="10" type="dt"/>
          </p:nvPr>
        </p:nvSpPr>
        <p:spPr>
          <a:xfrm>
            <a:off x="8376557" y="4869656"/>
            <a:ext cx="765402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3" name="Google Shape;103;p21"/>
          <p:cNvSpPr txBox="1"/>
          <p:nvPr>
            <p:ph idx="11" type="ftr"/>
          </p:nvPr>
        </p:nvSpPr>
        <p:spPr>
          <a:xfrm>
            <a:off x="5290457" y="4869656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4" name="Google Shape;104;p21"/>
          <p:cNvSpPr txBox="1"/>
          <p:nvPr>
            <p:ph idx="12" type="sldNum"/>
          </p:nvPr>
        </p:nvSpPr>
        <p:spPr>
          <a:xfrm>
            <a:off x="8113260" y="0"/>
            <a:ext cx="1030740" cy="52098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2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107" name="Google Shape;107;p22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810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A8D08C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6195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A8D08C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A8D08C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2385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A8D08C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2385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A8D08C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2385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8" name="Google Shape;108;p22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A8D08C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A8D08C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A8D08C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A8D08C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A8D08C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9" name="Google Shape;109;p22"/>
          <p:cNvSpPr txBox="1"/>
          <p:nvPr>
            <p:ph idx="10" type="dt"/>
          </p:nvPr>
        </p:nvSpPr>
        <p:spPr>
          <a:xfrm>
            <a:off x="8376557" y="4869656"/>
            <a:ext cx="765402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0" name="Google Shape;110;p22"/>
          <p:cNvSpPr txBox="1"/>
          <p:nvPr>
            <p:ph idx="11" type="ftr"/>
          </p:nvPr>
        </p:nvSpPr>
        <p:spPr>
          <a:xfrm>
            <a:off x="5290457" y="4869656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1" name="Google Shape;111;p22"/>
          <p:cNvSpPr txBox="1"/>
          <p:nvPr>
            <p:ph idx="12" type="sldNum"/>
          </p:nvPr>
        </p:nvSpPr>
        <p:spPr>
          <a:xfrm>
            <a:off x="8113260" y="0"/>
            <a:ext cx="1030740" cy="52098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114" name="Google Shape;114;p23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A8D08C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A8D08C"/>
              </a:buClr>
              <a:buSzPts val="1100"/>
              <a:buFont typeface="Arial"/>
              <a:buNone/>
              <a:defRPr b="0" i="0" sz="1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A8D08C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A8D08C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A8D08C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8376557" y="4869656"/>
            <a:ext cx="765402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5290457" y="4869656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8113260" y="0"/>
            <a:ext cx="1030740" cy="52098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>
            <a:off x="0" y="1"/>
            <a:ext cx="7886700" cy="51077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2360584" y="-1723260"/>
            <a:ext cx="3263503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A8D08C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A8D08C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A8D08C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A8D08C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A8D08C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8376557" y="4869656"/>
            <a:ext cx="765402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5290457" y="4869656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8113260" y="0"/>
            <a:ext cx="1030740" cy="52098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127" name="Google Shape;127;p25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A8D08C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A8D08C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A8D08C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A8D08C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A8D08C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8" name="Google Shape;128;p25"/>
          <p:cNvSpPr txBox="1"/>
          <p:nvPr>
            <p:ph idx="10" type="dt"/>
          </p:nvPr>
        </p:nvSpPr>
        <p:spPr>
          <a:xfrm>
            <a:off x="8376557" y="4869656"/>
            <a:ext cx="765402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9" name="Google Shape;129;p25"/>
          <p:cNvSpPr txBox="1"/>
          <p:nvPr>
            <p:ph idx="11" type="ftr"/>
          </p:nvPr>
        </p:nvSpPr>
        <p:spPr>
          <a:xfrm>
            <a:off x="5290457" y="4869656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0" name="Google Shape;130;p25"/>
          <p:cNvSpPr txBox="1"/>
          <p:nvPr>
            <p:ph idx="12" type="sldNum"/>
          </p:nvPr>
        </p:nvSpPr>
        <p:spPr>
          <a:xfrm>
            <a:off x="8113260" y="0"/>
            <a:ext cx="1030740" cy="52098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1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png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Relationship Id="rId4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6"/>
          <p:cNvSpPr txBox="1"/>
          <p:nvPr>
            <p:ph type="ctrTitle"/>
          </p:nvPr>
        </p:nvSpPr>
        <p:spPr>
          <a:xfrm>
            <a:off x="261257" y="517242"/>
            <a:ext cx="7545698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100"/>
              <a:buFont typeface="Arial"/>
              <a:buNone/>
            </a:pPr>
            <a:r>
              <a:rPr b="1" lang="en" sz="41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AI-enhanced Track Finding for Recoil Ions with ALERT and CLAS12 at Jefferson Lab</a:t>
            </a:r>
            <a:endParaRPr/>
          </a:p>
        </p:txBody>
      </p:sp>
      <p:sp>
        <p:nvSpPr>
          <p:cNvPr id="136" name="Google Shape;136;p26"/>
          <p:cNvSpPr txBox="1"/>
          <p:nvPr>
            <p:ph idx="1" type="subTitle"/>
          </p:nvPr>
        </p:nvSpPr>
        <p:spPr>
          <a:xfrm>
            <a:off x="261257" y="3223688"/>
            <a:ext cx="5465774" cy="420622"/>
          </a:xfrm>
          <a:prstGeom prst="rect">
            <a:avLst/>
          </a:prstGeom>
          <a:solidFill>
            <a:srgbClr val="A8D08C"/>
          </a:solidFill>
          <a:ln cap="flat" cmpd="sng" w="9525">
            <a:solidFill>
              <a:srgbClr val="5481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>
                <a:solidFill>
                  <a:srgbClr val="595959"/>
                </a:solidFill>
              </a:rPr>
              <a:t>Mathieu Ouillon (Mississippi State University)</a:t>
            </a:r>
            <a:endParaRPr/>
          </a:p>
        </p:txBody>
      </p:sp>
      <p:sp>
        <p:nvSpPr>
          <p:cNvPr id="137" name="Google Shape;137;p26"/>
          <p:cNvSpPr txBox="1"/>
          <p:nvPr>
            <p:ph idx="11" type="ftr"/>
          </p:nvPr>
        </p:nvSpPr>
        <p:spPr>
          <a:xfrm>
            <a:off x="1985630" y="2334292"/>
            <a:ext cx="705352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APS Joint March Meeting and April Meeting Global Physics Summit</a:t>
            </a:r>
            <a:endParaRPr sz="180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8" name="Google Shape;138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34105" y="4080584"/>
            <a:ext cx="1692926" cy="9062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77835" y="4109039"/>
            <a:ext cx="2838014" cy="88687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6"/>
          <p:cNvSpPr txBox="1"/>
          <p:nvPr>
            <p:ph idx="10" type="dt"/>
          </p:nvPr>
        </p:nvSpPr>
        <p:spPr>
          <a:xfrm>
            <a:off x="7806955" y="2634485"/>
            <a:ext cx="1232195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3/19/25</a:t>
            </a:r>
            <a:endParaRPr sz="1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7"/>
          <p:cNvSpPr txBox="1"/>
          <p:nvPr>
            <p:ph type="title"/>
          </p:nvPr>
        </p:nvSpPr>
        <p:spPr>
          <a:xfrm>
            <a:off x="0" y="1"/>
            <a:ext cx="7886700" cy="5107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6857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ct val="100000"/>
              <a:buFont typeface="Arial"/>
              <a:buNone/>
            </a:pPr>
            <a:r>
              <a:rPr lang="en"/>
              <a:t>ALERT Physics Program </a:t>
            </a:r>
            <a:endParaRPr/>
          </a:p>
        </p:txBody>
      </p:sp>
      <p:sp>
        <p:nvSpPr>
          <p:cNvPr id="146" name="Google Shape;146;p27"/>
          <p:cNvSpPr txBox="1"/>
          <p:nvPr>
            <p:ph idx="1" type="body"/>
          </p:nvPr>
        </p:nvSpPr>
        <p:spPr>
          <a:xfrm>
            <a:off x="100667" y="532425"/>
            <a:ext cx="90843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25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"/>
              <a:t>Comprehensive studies QCD in nuclei and associated medium modifications</a:t>
            </a:r>
            <a:endParaRPr/>
          </a:p>
        </p:txBody>
      </p:sp>
      <p:sp>
        <p:nvSpPr>
          <p:cNvPr id="147" name="Google Shape;147;p27"/>
          <p:cNvSpPr txBox="1"/>
          <p:nvPr>
            <p:ph idx="11" type="ftr"/>
          </p:nvPr>
        </p:nvSpPr>
        <p:spPr>
          <a:xfrm>
            <a:off x="4038601" y="4876007"/>
            <a:ext cx="5106308" cy="26749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95959"/>
                </a:solidFill>
              </a:rPr>
              <a:t>APS Joint March Meeting and April Meeting Global Physics Summit</a:t>
            </a:r>
            <a:endParaRPr>
              <a:solidFill>
                <a:srgbClr val="595959"/>
              </a:solidFill>
            </a:endParaRPr>
          </a:p>
        </p:txBody>
      </p:sp>
      <p:sp>
        <p:nvSpPr>
          <p:cNvPr id="148" name="Google Shape;148;p27"/>
          <p:cNvSpPr txBox="1"/>
          <p:nvPr>
            <p:ph idx="12" type="sldNum"/>
          </p:nvPr>
        </p:nvSpPr>
        <p:spPr>
          <a:xfrm>
            <a:off x="8376557" y="0"/>
            <a:ext cx="767443" cy="520983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9" name="Google Shape;149;p27"/>
          <p:cNvSpPr txBox="1"/>
          <p:nvPr/>
        </p:nvSpPr>
        <p:spPr>
          <a:xfrm>
            <a:off x="182150" y="942850"/>
            <a:ext cx="2677500" cy="346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Coherent DVCS on </a:t>
            </a:r>
            <a:r>
              <a:rPr b="1" baseline="30000" i="0" lang="en" sz="180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b="1" i="0" lang="en" sz="180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He</a:t>
            </a:r>
            <a:endParaRPr sz="1100"/>
          </a:p>
        </p:txBody>
      </p:sp>
      <p:sp>
        <p:nvSpPr>
          <p:cNvPr id="150" name="Google Shape;150;p27"/>
          <p:cNvSpPr txBox="1"/>
          <p:nvPr/>
        </p:nvSpPr>
        <p:spPr>
          <a:xfrm>
            <a:off x="3225500" y="940975"/>
            <a:ext cx="2168700" cy="3462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DIS on </a:t>
            </a:r>
            <a:r>
              <a:rPr b="1" baseline="30000" lang="en" sz="18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b="1" lang="en" sz="18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He and </a:t>
            </a:r>
            <a:r>
              <a:rPr b="1" baseline="30000" lang="en" sz="18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1" lang="en" sz="18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endParaRPr sz="1100"/>
          </a:p>
        </p:txBody>
      </p:sp>
      <p:sp>
        <p:nvSpPr>
          <p:cNvPr id="151" name="Google Shape;151;p27"/>
          <p:cNvSpPr txBox="1"/>
          <p:nvPr/>
        </p:nvSpPr>
        <p:spPr>
          <a:xfrm>
            <a:off x="5857675" y="941225"/>
            <a:ext cx="3286200" cy="346200"/>
          </a:xfrm>
          <a:prstGeom prst="rect">
            <a:avLst/>
          </a:prstGeom>
          <a:solidFill>
            <a:srgbClr val="A8D08C"/>
          </a:solidFill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Incoherent DVCS on </a:t>
            </a:r>
            <a:r>
              <a:rPr b="1" baseline="30000" lang="en" sz="18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b="1" lang="en" sz="18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He (</a:t>
            </a:r>
            <a:r>
              <a:rPr b="1" baseline="30000" lang="en" sz="18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1" lang="en" sz="18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H)</a:t>
            </a:r>
            <a:endParaRPr sz="1100"/>
          </a:p>
        </p:txBody>
      </p:sp>
      <p:sp>
        <p:nvSpPr>
          <p:cNvPr id="152" name="Google Shape;152;p27"/>
          <p:cNvSpPr txBox="1"/>
          <p:nvPr/>
        </p:nvSpPr>
        <p:spPr>
          <a:xfrm>
            <a:off x="320507" y="4125137"/>
            <a:ext cx="2571367" cy="69249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Explore the partonic structure of </a:t>
            </a:r>
            <a:r>
              <a:rPr baseline="30000" lang="en" sz="14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lang="en" sz="14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He with Generalized Parton Distributions</a:t>
            </a:r>
            <a:endParaRPr sz="1100"/>
          </a:p>
        </p:txBody>
      </p:sp>
      <p:sp>
        <p:nvSpPr>
          <p:cNvPr id="153" name="Google Shape;153;p27"/>
          <p:cNvSpPr txBox="1"/>
          <p:nvPr/>
        </p:nvSpPr>
        <p:spPr>
          <a:xfrm>
            <a:off x="3286316" y="4125137"/>
            <a:ext cx="2571367" cy="48474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Test the Final State Interactions and rescaling model</a:t>
            </a:r>
            <a:endParaRPr sz="1100"/>
          </a:p>
        </p:txBody>
      </p:sp>
      <p:sp>
        <p:nvSpPr>
          <p:cNvPr id="154" name="Google Shape;154;p27"/>
          <p:cNvSpPr txBox="1"/>
          <p:nvPr/>
        </p:nvSpPr>
        <p:spPr>
          <a:xfrm>
            <a:off x="6077974" y="4125137"/>
            <a:ext cx="2969773" cy="69249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Explore the 3-D structure of modified nucleons in light ions </a:t>
            </a:r>
            <a:r>
              <a:rPr baseline="30000" lang="en" sz="14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" sz="14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H,</a:t>
            </a:r>
            <a:r>
              <a:rPr baseline="30000" lang="en" sz="14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" sz="14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H, and </a:t>
            </a:r>
            <a:r>
              <a:rPr baseline="30000" lang="en" sz="14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" sz="14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He (</a:t>
            </a:r>
            <a:r>
              <a:rPr baseline="30000" lang="en" sz="14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" sz="14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H or neutron) </a:t>
            </a:r>
            <a:endParaRPr sz="1100"/>
          </a:p>
        </p:txBody>
      </p:sp>
      <p:pic>
        <p:nvPicPr>
          <p:cNvPr id="155" name="Google Shape;155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3247" y="1343621"/>
            <a:ext cx="2222300" cy="27531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53823" y="1343620"/>
            <a:ext cx="2238921" cy="2699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087628" y="1510856"/>
            <a:ext cx="2619464" cy="1927807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7"/>
          <p:cNvSpPr txBox="1"/>
          <p:nvPr>
            <p:ph idx="10" type="dt"/>
          </p:nvPr>
        </p:nvSpPr>
        <p:spPr>
          <a:xfrm>
            <a:off x="0" y="4869656"/>
            <a:ext cx="93345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3/19/25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8"/>
          <p:cNvSpPr txBox="1"/>
          <p:nvPr>
            <p:ph type="title"/>
          </p:nvPr>
        </p:nvSpPr>
        <p:spPr>
          <a:xfrm>
            <a:off x="0" y="1"/>
            <a:ext cx="7886700" cy="5107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6857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ct val="100000"/>
              <a:buFont typeface="Arial"/>
              <a:buNone/>
            </a:pPr>
            <a:r>
              <a:rPr lang="en"/>
              <a:t>ALERT Physics Program </a:t>
            </a:r>
            <a:endParaRPr/>
          </a:p>
        </p:txBody>
      </p:sp>
      <p:sp>
        <p:nvSpPr>
          <p:cNvPr id="164" name="Google Shape;164;p28"/>
          <p:cNvSpPr txBox="1"/>
          <p:nvPr>
            <p:ph idx="11" type="ftr"/>
          </p:nvPr>
        </p:nvSpPr>
        <p:spPr>
          <a:xfrm>
            <a:off x="4038601" y="4876007"/>
            <a:ext cx="5106308" cy="26749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APS Joint March Meeting and April Meeting Global Physics Summit</a:t>
            </a:r>
            <a:endParaRPr sz="120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28"/>
          <p:cNvSpPr txBox="1"/>
          <p:nvPr>
            <p:ph idx="12" type="sldNum"/>
          </p:nvPr>
        </p:nvSpPr>
        <p:spPr>
          <a:xfrm>
            <a:off x="8376557" y="0"/>
            <a:ext cx="767443" cy="520983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66" name="Google Shape;166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06742" y="1616777"/>
            <a:ext cx="2780995" cy="2226255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8"/>
          <p:cNvSpPr txBox="1"/>
          <p:nvPr/>
        </p:nvSpPr>
        <p:spPr>
          <a:xfrm>
            <a:off x="3267501" y="3960098"/>
            <a:ext cx="2964527" cy="90024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Measure the F</a:t>
            </a:r>
            <a:r>
              <a:rPr b="0" baseline="-25000" i="0" lang="en" sz="14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" sz="14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structure function of a weakly bound nucleon in </a:t>
            </a:r>
            <a:r>
              <a:rPr b="0" baseline="30000" i="0" lang="en" sz="14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b="0" i="0" lang="en" sz="14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He and compare it to the </a:t>
            </a:r>
            <a:r>
              <a:rPr b="0" baseline="30000" i="0" lang="en" sz="14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" sz="14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H case. Control FSIs with tagged fragments</a:t>
            </a:r>
            <a:endParaRPr sz="140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28"/>
          <p:cNvSpPr txBox="1"/>
          <p:nvPr/>
        </p:nvSpPr>
        <p:spPr>
          <a:xfrm>
            <a:off x="6390489" y="3969409"/>
            <a:ext cx="2571367" cy="69249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Extract quarks GPDs for bound nucleons and thus understand the effect of FSIs</a:t>
            </a:r>
            <a:endParaRPr sz="140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28"/>
          <p:cNvSpPr txBox="1"/>
          <p:nvPr/>
        </p:nvSpPr>
        <p:spPr>
          <a:xfrm>
            <a:off x="182150" y="942850"/>
            <a:ext cx="3043500" cy="34620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Coherent Process on </a:t>
            </a:r>
            <a:r>
              <a:rPr b="1" baseline="30000" lang="en" sz="18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b="1" lang="en" sz="18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He</a:t>
            </a:r>
            <a:endParaRPr sz="1100"/>
          </a:p>
        </p:txBody>
      </p:sp>
      <p:sp>
        <p:nvSpPr>
          <p:cNvPr id="170" name="Google Shape;170;p28"/>
          <p:cNvSpPr txBox="1"/>
          <p:nvPr/>
        </p:nvSpPr>
        <p:spPr>
          <a:xfrm>
            <a:off x="3421986" y="928404"/>
            <a:ext cx="2343701" cy="62324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DIS on </a:t>
            </a:r>
            <a:r>
              <a:rPr b="1" baseline="30000" lang="en" sz="18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b="1" lang="en" sz="18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He and </a:t>
            </a:r>
            <a:r>
              <a:rPr b="1" baseline="30000" lang="en" sz="18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1" lang="en" sz="18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H: Tagged EMC effect</a:t>
            </a:r>
            <a:endParaRPr sz="1100"/>
          </a:p>
        </p:txBody>
      </p:sp>
      <p:sp>
        <p:nvSpPr>
          <p:cNvPr id="171" name="Google Shape;171;p28"/>
          <p:cNvSpPr txBox="1"/>
          <p:nvPr/>
        </p:nvSpPr>
        <p:spPr>
          <a:xfrm>
            <a:off x="6370003" y="924360"/>
            <a:ext cx="2571366" cy="623248"/>
          </a:xfrm>
          <a:prstGeom prst="rect">
            <a:avLst/>
          </a:prstGeom>
          <a:solidFill>
            <a:srgbClr val="A8D08C"/>
          </a:solidFill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Incoherent Process on </a:t>
            </a:r>
            <a:r>
              <a:rPr b="1" baseline="30000" lang="en" sz="18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b="1" lang="en" sz="18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He and </a:t>
            </a:r>
            <a:r>
              <a:rPr b="1" baseline="30000" lang="en" sz="18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1" lang="en" sz="18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endParaRPr sz="1100"/>
          </a:p>
        </p:txBody>
      </p:sp>
      <p:pic>
        <p:nvPicPr>
          <p:cNvPr id="172" name="Google Shape;172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843" y="1654493"/>
            <a:ext cx="2968141" cy="1834244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8"/>
          <p:cNvSpPr txBox="1"/>
          <p:nvPr/>
        </p:nvSpPr>
        <p:spPr>
          <a:xfrm>
            <a:off x="157216" y="3969409"/>
            <a:ext cx="2825768" cy="90024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Extract quark and gluon GPDs in a dense nucleus; in this</a:t>
            </a:r>
            <a:r>
              <a:rPr lang="en" sz="14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" sz="14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case, GPD H is obtained for both quarks and gluons in </a:t>
            </a:r>
            <a:r>
              <a:rPr b="0" baseline="30000" i="0" lang="en" sz="14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b="0" i="0" lang="en" sz="14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He</a:t>
            </a:r>
            <a:endParaRPr sz="140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4" name="Google Shape;174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955643" y="1610343"/>
            <a:ext cx="3276384" cy="2075832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8"/>
          <p:cNvSpPr txBox="1"/>
          <p:nvPr>
            <p:ph idx="10" type="dt"/>
          </p:nvPr>
        </p:nvSpPr>
        <p:spPr>
          <a:xfrm>
            <a:off x="0" y="4869656"/>
            <a:ext cx="93345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3/19/25</a:t>
            </a:r>
            <a:endParaRPr/>
          </a:p>
        </p:txBody>
      </p:sp>
      <p:sp>
        <p:nvSpPr>
          <p:cNvPr id="176" name="Google Shape;176;p28"/>
          <p:cNvSpPr txBox="1"/>
          <p:nvPr>
            <p:ph idx="1" type="body"/>
          </p:nvPr>
        </p:nvSpPr>
        <p:spPr>
          <a:xfrm>
            <a:off x="-975" y="556150"/>
            <a:ext cx="92172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</a:pPr>
            <a:r>
              <a:rPr lang="en"/>
              <a:t>Comprehensive studies QCD in nuclei and associated medium modifications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9"/>
          <p:cNvSpPr txBox="1"/>
          <p:nvPr>
            <p:ph type="title"/>
          </p:nvPr>
        </p:nvSpPr>
        <p:spPr>
          <a:xfrm>
            <a:off x="0" y="1"/>
            <a:ext cx="7886700" cy="5107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6857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ct val="100000"/>
              <a:buFont typeface="Arial"/>
              <a:buNone/>
            </a:pPr>
            <a:r>
              <a:rPr lang="en"/>
              <a:t>ALERT Experiment Setup</a:t>
            </a:r>
            <a:endParaRPr/>
          </a:p>
        </p:txBody>
      </p:sp>
      <p:sp>
        <p:nvSpPr>
          <p:cNvPr id="182" name="Google Shape;182;p29"/>
          <p:cNvSpPr txBox="1"/>
          <p:nvPr>
            <p:ph idx="1" type="body"/>
          </p:nvPr>
        </p:nvSpPr>
        <p:spPr>
          <a:xfrm>
            <a:off x="0" y="596815"/>
            <a:ext cx="8993498" cy="46442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77800" lvl="0" marL="2413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b="0" i="0" lang="en" sz="18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The ALERT experiment will take place in Hall B at Jefferson Lab</a:t>
            </a:r>
            <a:endParaRPr b="0" i="0" sz="1800" u="none" strike="noStrike">
              <a:solidFill>
                <a:srgbClr val="A8D08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/>
          </a:p>
        </p:txBody>
      </p:sp>
      <p:sp>
        <p:nvSpPr>
          <p:cNvPr id="183" name="Google Shape;183;p29"/>
          <p:cNvSpPr txBox="1"/>
          <p:nvPr>
            <p:ph idx="11" type="ftr"/>
          </p:nvPr>
        </p:nvSpPr>
        <p:spPr>
          <a:xfrm>
            <a:off x="4038601" y="4876007"/>
            <a:ext cx="5106308" cy="26749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95959"/>
                </a:solidFill>
              </a:rPr>
              <a:t>APS Joint March Meeting and April Meeting Global Physics Summit</a:t>
            </a:r>
            <a:endParaRPr>
              <a:solidFill>
                <a:srgbClr val="595959"/>
              </a:solidFill>
            </a:endParaRPr>
          </a:p>
        </p:txBody>
      </p:sp>
      <p:sp>
        <p:nvSpPr>
          <p:cNvPr id="184" name="Google Shape;184;p29"/>
          <p:cNvSpPr txBox="1"/>
          <p:nvPr>
            <p:ph idx="12" type="sldNum"/>
          </p:nvPr>
        </p:nvSpPr>
        <p:spPr>
          <a:xfrm>
            <a:off x="8376557" y="0"/>
            <a:ext cx="767443" cy="520983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85" name="Google Shape;185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29150" y="825901"/>
            <a:ext cx="4512809" cy="4317599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9"/>
          <p:cNvSpPr txBox="1"/>
          <p:nvPr/>
        </p:nvSpPr>
        <p:spPr>
          <a:xfrm>
            <a:off x="0" y="960109"/>
            <a:ext cx="4360177" cy="340477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177800" lvl="0" marL="241300" marR="0" rtl="0" algn="l">
              <a:spcBef>
                <a:spcPts val="0"/>
              </a:spcBef>
              <a:spcAft>
                <a:spcPts val="0"/>
              </a:spcAft>
              <a:buClr>
                <a:srgbClr val="A8D08C"/>
              </a:buClr>
              <a:buSzPts val="1800"/>
              <a:buFont typeface="Arial"/>
              <a:buChar char="•"/>
            </a:pPr>
            <a:r>
              <a:rPr lang="en" sz="18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CLAS12: detect scattered electrons and forward scattered hadrons</a:t>
            </a:r>
            <a:endParaRPr sz="1100"/>
          </a:p>
          <a:p>
            <a:pPr indent="-177800" lvl="0" marL="241300" marR="0" rtl="0" algn="l"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1800"/>
              <a:buFont typeface="Arial"/>
              <a:buChar char="•"/>
            </a:pPr>
            <a:r>
              <a:rPr lang="en" sz="18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ALERT: detect recoil spectators or coherently scattered nucleus</a:t>
            </a:r>
            <a:endParaRPr sz="1100"/>
          </a:p>
          <a:p>
            <a:pPr indent="-63500" lvl="0" marL="241300" marR="0" rtl="0" algn="l"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1800"/>
              <a:buFont typeface="Arial"/>
              <a:buNone/>
            </a:pPr>
            <a:r>
              <a:t/>
            </a:r>
            <a:endParaRPr b="0" i="0" sz="1800" u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241300" marR="0" rtl="0" algn="l">
              <a:spcBef>
                <a:spcPts val="0"/>
              </a:spcBef>
              <a:spcAft>
                <a:spcPts val="0"/>
              </a:spcAft>
              <a:buClr>
                <a:srgbClr val="A8D08C"/>
              </a:buClr>
              <a:buSzPts val="1800"/>
              <a:buFont typeface="Arial"/>
              <a:buChar char="•"/>
            </a:pPr>
            <a:r>
              <a:rPr b="0" i="0" lang="en" sz="18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ALERT Goals: </a:t>
            </a:r>
            <a:endParaRPr sz="1100"/>
          </a:p>
          <a:p>
            <a:pPr indent="-247650" lvl="1" marL="596900" marR="0" rtl="0" algn="l"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Aim to identify light ions: p, </a:t>
            </a:r>
            <a:r>
              <a:rPr b="0" baseline="30000" i="0" lang="en" sz="15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" sz="15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H, </a:t>
            </a:r>
            <a:r>
              <a:rPr b="0" baseline="30000" i="0" lang="en" sz="15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0" i="0" lang="en" sz="15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H, </a:t>
            </a:r>
            <a:r>
              <a:rPr b="0" baseline="30000" i="0" lang="en" sz="15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0" i="0" lang="en" sz="15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He, and </a:t>
            </a:r>
            <a:r>
              <a:rPr b="0" baseline="30000" i="0" lang="en" sz="15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b="0" i="0" lang="en" sz="15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He</a:t>
            </a:r>
            <a:endParaRPr sz="1100"/>
          </a:p>
          <a:p>
            <a:pPr indent="-247650" lvl="1" marL="596900" marR="0" rtl="0" algn="l"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Detect the lowest momentum possible, down to 70 MeV/c for proton</a:t>
            </a:r>
            <a:endParaRPr sz="1100"/>
          </a:p>
          <a:p>
            <a:pPr indent="-247650" lvl="1" marL="596900" marR="0" rtl="0" algn="l"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Handle high CLAS12 rates and luminosities (10</a:t>
            </a:r>
            <a:r>
              <a:rPr b="0" baseline="30000" i="0" lang="en" sz="15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35</a:t>
            </a:r>
            <a:r>
              <a:rPr b="0" baseline="-25000" i="0" lang="en" sz="15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" sz="15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cm</a:t>
            </a:r>
            <a:r>
              <a:rPr b="0" baseline="30000" i="0" lang="en" sz="15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" sz="15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="0" baseline="30000" i="0" lang="en" sz="15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-1</a:t>
            </a:r>
            <a:r>
              <a:rPr b="0" i="0" lang="en" sz="15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)  </a:t>
            </a:r>
            <a:r>
              <a:rPr b="0" i="0" lang="en" sz="15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      </a:t>
            </a:r>
            <a:endParaRPr b="0" i="0" sz="1500" u="none" cap="none" strike="noStrike">
              <a:solidFill>
                <a:srgbClr val="93C47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29"/>
          <p:cNvSpPr txBox="1"/>
          <p:nvPr>
            <p:ph idx="10" type="dt"/>
          </p:nvPr>
        </p:nvSpPr>
        <p:spPr>
          <a:xfrm>
            <a:off x="0" y="4869656"/>
            <a:ext cx="93345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3/19/25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0"/>
          <p:cNvSpPr txBox="1"/>
          <p:nvPr>
            <p:ph type="title"/>
          </p:nvPr>
        </p:nvSpPr>
        <p:spPr>
          <a:xfrm>
            <a:off x="0" y="1"/>
            <a:ext cx="7886700" cy="5107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6857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ct val="100000"/>
              <a:buFont typeface="Arial"/>
              <a:buNone/>
            </a:pPr>
            <a:r>
              <a:rPr lang="en"/>
              <a:t>ALERT Experiment Setup</a:t>
            </a:r>
            <a:endParaRPr/>
          </a:p>
        </p:txBody>
      </p:sp>
      <p:sp>
        <p:nvSpPr>
          <p:cNvPr id="194" name="Google Shape;194;p30"/>
          <p:cNvSpPr txBox="1"/>
          <p:nvPr>
            <p:ph idx="1" type="body"/>
          </p:nvPr>
        </p:nvSpPr>
        <p:spPr>
          <a:xfrm>
            <a:off x="48985" y="588338"/>
            <a:ext cx="9046031" cy="63996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7780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 sz="18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ALERT </a:t>
            </a:r>
            <a:r>
              <a:rPr lang="en" sz="1800">
                <a:solidFill>
                  <a:srgbClr val="3F3F3F"/>
                </a:solidFill>
              </a:rPr>
              <a:t>have </a:t>
            </a:r>
            <a:r>
              <a:rPr lang="en" sz="18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two sub-detectors: A Hyperbolic Drift Chamber (AHDC) and A Time of Flight (ATOF)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/>
          </a:p>
        </p:txBody>
      </p:sp>
      <p:sp>
        <p:nvSpPr>
          <p:cNvPr id="195" name="Google Shape;195;p30"/>
          <p:cNvSpPr txBox="1"/>
          <p:nvPr>
            <p:ph idx="11" type="ftr"/>
          </p:nvPr>
        </p:nvSpPr>
        <p:spPr>
          <a:xfrm>
            <a:off x="4038601" y="4876007"/>
            <a:ext cx="5106308" cy="26749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95959"/>
                </a:solidFill>
              </a:rPr>
              <a:t>APS Joint March Meeting and April Meeting Global Physics Summit</a:t>
            </a:r>
            <a:endParaRPr>
              <a:solidFill>
                <a:srgbClr val="595959"/>
              </a:solidFill>
            </a:endParaRPr>
          </a:p>
        </p:txBody>
      </p:sp>
      <p:sp>
        <p:nvSpPr>
          <p:cNvPr id="196" name="Google Shape;196;p30"/>
          <p:cNvSpPr txBox="1"/>
          <p:nvPr>
            <p:ph idx="12" type="sldNum"/>
          </p:nvPr>
        </p:nvSpPr>
        <p:spPr>
          <a:xfrm>
            <a:off x="8376557" y="0"/>
            <a:ext cx="767443" cy="520983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7" name="Google Shape;197;p30"/>
          <p:cNvSpPr txBox="1"/>
          <p:nvPr/>
        </p:nvSpPr>
        <p:spPr>
          <a:xfrm>
            <a:off x="1353707" y="1433125"/>
            <a:ext cx="1893491" cy="34624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ATOF</a:t>
            </a:r>
            <a:endParaRPr sz="1100"/>
          </a:p>
        </p:txBody>
      </p:sp>
      <p:sp>
        <p:nvSpPr>
          <p:cNvPr id="198" name="Google Shape;198;p30"/>
          <p:cNvSpPr txBox="1"/>
          <p:nvPr/>
        </p:nvSpPr>
        <p:spPr>
          <a:xfrm>
            <a:off x="256622" y="1871906"/>
            <a:ext cx="4315378" cy="145424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209550" lvl="0" marL="215900" marR="0" rtl="0" algn="l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500"/>
              <a:buFont typeface="Arial"/>
              <a:buChar char="•"/>
            </a:pPr>
            <a:r>
              <a:rPr lang="en" sz="15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Time of flight: used for Particle IDentification</a:t>
            </a:r>
            <a:endParaRPr sz="150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9550" lvl="0" marL="215900" marR="0" rtl="0" algn="l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500"/>
              <a:buFont typeface="Arial"/>
              <a:buChar char="•"/>
            </a:pPr>
            <a:r>
              <a:rPr lang="en" sz="15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Small barrel of segmented scintillators</a:t>
            </a:r>
            <a:endParaRPr sz="1100"/>
          </a:p>
          <a:p>
            <a:pPr indent="-209550" lvl="0" marL="215900" marR="0" rtl="0" algn="l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500"/>
              <a:buFont typeface="Arial"/>
              <a:buChar char="•"/>
            </a:pPr>
            <a:r>
              <a:rPr b="0" i="0" lang="en" sz="15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The TOF measurement is degenerate for </a:t>
            </a:r>
            <a:r>
              <a:rPr b="0" baseline="30000" i="0" lang="en" sz="15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" sz="15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H and </a:t>
            </a:r>
            <a:r>
              <a:rPr b="0" baseline="30000" i="0" lang="en" sz="15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b="0" i="0" lang="en" sz="15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He, but </a:t>
            </a:r>
            <a:r>
              <a:rPr b="0" i="1" lang="en" sz="15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dE/dx </a:t>
            </a:r>
            <a:r>
              <a:rPr b="0" i="0" lang="en" sz="15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can distinguish the two nuclei bands</a:t>
            </a:r>
            <a:endParaRPr sz="1100"/>
          </a:p>
          <a:p>
            <a:pPr indent="-114300" lvl="0" marL="215900" marR="0" rtl="0" algn="l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1500"/>
              <a:buFont typeface="Arial"/>
              <a:buNone/>
            </a:pPr>
            <a:r>
              <a:t/>
            </a:r>
            <a:endParaRPr sz="15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30"/>
          <p:cNvSpPr txBox="1"/>
          <p:nvPr/>
        </p:nvSpPr>
        <p:spPr>
          <a:xfrm>
            <a:off x="1353707" y="3234394"/>
            <a:ext cx="1890404" cy="346249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AHDC</a:t>
            </a:r>
            <a:endParaRPr sz="1100"/>
          </a:p>
        </p:txBody>
      </p:sp>
      <p:sp>
        <p:nvSpPr>
          <p:cNvPr id="200" name="Google Shape;200;p30"/>
          <p:cNvSpPr txBox="1"/>
          <p:nvPr/>
        </p:nvSpPr>
        <p:spPr>
          <a:xfrm>
            <a:off x="256621" y="3586305"/>
            <a:ext cx="4101440" cy="122341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209550" lvl="0" marL="215900" marR="0" rtl="0" algn="l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500"/>
              <a:buFont typeface="Arial"/>
              <a:buChar char="•"/>
            </a:pPr>
            <a:r>
              <a:rPr lang="en" sz="15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Aluminum wire: 2 mm apart</a:t>
            </a:r>
            <a:endParaRPr sz="1100"/>
          </a:p>
          <a:p>
            <a:pPr indent="-209550" lvl="0" marL="215900" marR="0" rtl="0" algn="l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500"/>
              <a:buFont typeface="Arial"/>
              <a:buChar char="•"/>
            </a:pPr>
            <a:r>
              <a:rPr lang="en" sz="15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20-degree stereo angle (hyperbolic shape)</a:t>
            </a:r>
            <a:endParaRPr sz="1100"/>
          </a:p>
          <a:p>
            <a:pPr indent="-209550" lvl="0" marL="215900" marR="0" rtl="0" algn="l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500"/>
              <a:buFont typeface="Arial"/>
              <a:buChar char="•"/>
            </a:pPr>
            <a:r>
              <a:rPr lang="en" sz="15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5 superlayers, each composed of 2 layers</a:t>
            </a:r>
            <a:endParaRPr sz="1100"/>
          </a:p>
          <a:p>
            <a:pPr indent="-209550" lvl="0" marL="215900" marR="0" rtl="0" algn="l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500"/>
              <a:buFont typeface="Arial"/>
              <a:buChar char="•"/>
            </a:pPr>
            <a:r>
              <a:rPr lang="en" sz="15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576 signal wires (6 ground wires of each signal)</a:t>
            </a:r>
            <a:endParaRPr sz="1100"/>
          </a:p>
        </p:txBody>
      </p:sp>
      <p:pic>
        <p:nvPicPr>
          <p:cNvPr id="201" name="Google Shape;201;p30"/>
          <p:cNvPicPr preferRelativeResize="0"/>
          <p:nvPr/>
        </p:nvPicPr>
        <p:blipFill rotWithShape="1">
          <a:blip r:embed="rId3">
            <a:alphaModFix/>
          </a:blip>
          <a:srcRect b="0" l="0" r="0" t="66102"/>
          <a:stretch/>
        </p:blipFill>
        <p:spPr>
          <a:xfrm>
            <a:off x="4358062" y="2991281"/>
            <a:ext cx="4735059" cy="1868169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30"/>
          <p:cNvSpPr txBox="1"/>
          <p:nvPr/>
        </p:nvSpPr>
        <p:spPr>
          <a:xfrm>
            <a:off x="860259" y="888624"/>
            <a:ext cx="5261696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14300" lvl="0" marL="177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8D08C"/>
              </a:buClr>
              <a:buSzPts val="1100"/>
              <a:buFont typeface="Arial"/>
              <a:buNone/>
            </a:pPr>
            <a:r>
              <a:t/>
            </a:r>
            <a:endParaRPr b="0" i="0" sz="1100" u="none" strike="noStrike">
              <a:solidFill>
                <a:srgbClr val="93C47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03" name="Google Shape;203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75637" y="872067"/>
            <a:ext cx="3010392" cy="2167968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30"/>
          <p:cNvSpPr txBox="1"/>
          <p:nvPr>
            <p:ph idx="10" type="dt"/>
          </p:nvPr>
        </p:nvSpPr>
        <p:spPr>
          <a:xfrm>
            <a:off x="0" y="4869656"/>
            <a:ext cx="93345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3/19/25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1"/>
          <p:cNvSpPr txBox="1"/>
          <p:nvPr>
            <p:ph type="title"/>
          </p:nvPr>
        </p:nvSpPr>
        <p:spPr>
          <a:xfrm>
            <a:off x="0" y="1"/>
            <a:ext cx="7886700" cy="5107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6857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ct val="99331"/>
              <a:buFont typeface="Arial"/>
              <a:buNone/>
            </a:pPr>
            <a:r>
              <a:rPr lang="en" sz="3322"/>
              <a:t>Track Finding</a:t>
            </a:r>
            <a:endParaRPr sz="3322"/>
          </a:p>
        </p:txBody>
      </p:sp>
      <p:sp>
        <p:nvSpPr>
          <p:cNvPr id="210" name="Google Shape;210;p31"/>
          <p:cNvSpPr txBox="1"/>
          <p:nvPr>
            <p:ph idx="1" type="body"/>
          </p:nvPr>
        </p:nvSpPr>
        <p:spPr>
          <a:xfrm>
            <a:off x="1" y="614242"/>
            <a:ext cx="4737683" cy="416578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7780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 sz="1800">
                <a:solidFill>
                  <a:srgbClr val="3F3F3F"/>
                </a:solidFill>
              </a:rPr>
              <a:t>Aim to reconstruct the momentum and trajectory of (charged) particles</a:t>
            </a:r>
            <a:endParaRPr sz="1100"/>
          </a:p>
          <a:p>
            <a:pPr indent="-635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>
              <a:solidFill>
                <a:srgbClr val="3F3F3F"/>
              </a:solidFill>
            </a:endParaRPr>
          </a:p>
          <a:p>
            <a:pPr indent="-1778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</a:pPr>
            <a:r>
              <a:rPr lang="en" sz="1800">
                <a:solidFill>
                  <a:srgbClr val="3F3F3F"/>
                </a:solidFill>
              </a:rPr>
              <a:t>Two stages of track reconstruction:</a:t>
            </a:r>
            <a:endParaRPr sz="1100"/>
          </a:p>
          <a:p>
            <a:pPr indent="-171450" lvl="1" marL="5207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Char char="•"/>
            </a:pPr>
            <a:r>
              <a:rPr lang="en" sz="1500">
                <a:solidFill>
                  <a:srgbClr val="3F3F3F"/>
                </a:solidFill>
              </a:rPr>
              <a:t>Track finding: Identifying which hits came from the same charged particle</a:t>
            </a:r>
            <a:endParaRPr sz="1100"/>
          </a:p>
          <a:p>
            <a:pPr indent="-171450" lvl="1" marL="5207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Char char="•"/>
            </a:pPr>
            <a:r>
              <a:rPr lang="en" sz="1500">
                <a:solidFill>
                  <a:srgbClr val="3F3F3F"/>
                </a:solidFill>
              </a:rPr>
              <a:t>Track fitting: Fitting hits to a single track to extract track parameters (momentum and position)</a:t>
            </a:r>
            <a:endParaRPr sz="1100"/>
          </a:p>
          <a:p>
            <a:pPr indent="0" lvl="1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 b="0" i="0" sz="1500" u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</a:pPr>
            <a:r>
              <a:rPr lang="en" sz="1800">
                <a:solidFill>
                  <a:srgbClr val="3F3F3F"/>
                </a:solidFill>
              </a:rPr>
              <a:t>Different algorithms:</a:t>
            </a:r>
            <a:endParaRPr sz="1500">
              <a:solidFill>
                <a:srgbClr val="3F3F3F"/>
              </a:solidFill>
            </a:endParaRPr>
          </a:p>
          <a:p>
            <a:pPr indent="-171450" lvl="1" marL="5207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Char char="•"/>
            </a:pPr>
            <a:r>
              <a:rPr b="0" i="0" lang="en" sz="15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Hough transform</a:t>
            </a:r>
            <a:endParaRPr sz="1100"/>
          </a:p>
          <a:p>
            <a:pPr indent="-171450" lvl="1" marL="5207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Char char="•"/>
            </a:pPr>
            <a:r>
              <a:rPr b="0" i="0" lang="en" sz="15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Combinatorial Kalman Filter</a:t>
            </a:r>
            <a:endParaRPr sz="1100"/>
          </a:p>
          <a:p>
            <a:pPr indent="-171450" lvl="1" marL="5207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Char char="•"/>
            </a:pPr>
            <a:r>
              <a:rPr lang="en" sz="1500">
                <a:solidFill>
                  <a:srgbClr val="3F3F3F"/>
                </a:solidFill>
              </a:rPr>
              <a:t>Artificial Intelligence models (MLP, GNN…)</a:t>
            </a:r>
            <a:endParaRPr b="0" i="0" sz="1500" u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</a:pPr>
            <a:r>
              <a:t/>
            </a:r>
            <a:endParaRPr sz="1100">
              <a:solidFill>
                <a:srgbClr val="3F3F3F"/>
              </a:solidFill>
            </a:endParaRPr>
          </a:p>
        </p:txBody>
      </p:sp>
      <p:sp>
        <p:nvSpPr>
          <p:cNvPr id="211" name="Google Shape;211;p31"/>
          <p:cNvSpPr txBox="1"/>
          <p:nvPr>
            <p:ph idx="11" type="ftr"/>
          </p:nvPr>
        </p:nvSpPr>
        <p:spPr>
          <a:xfrm>
            <a:off x="4038601" y="4876007"/>
            <a:ext cx="5106308" cy="26749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595959"/>
                </a:solidFill>
              </a:rPr>
              <a:t>APS Joint March Meeting and April Meeting Global Physics Summit</a:t>
            </a:r>
            <a:endParaRPr sz="1100">
              <a:solidFill>
                <a:srgbClr val="595959"/>
              </a:solidFill>
            </a:endParaRPr>
          </a:p>
        </p:txBody>
      </p:sp>
      <p:sp>
        <p:nvSpPr>
          <p:cNvPr id="212" name="Google Shape;212;p31"/>
          <p:cNvSpPr txBox="1"/>
          <p:nvPr>
            <p:ph idx="12" type="sldNum"/>
          </p:nvPr>
        </p:nvSpPr>
        <p:spPr>
          <a:xfrm>
            <a:off x="8376557" y="0"/>
            <a:ext cx="767443" cy="520983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100"/>
              <a:t>‹#›</a:t>
            </a:fld>
            <a:endParaRPr sz="1100"/>
          </a:p>
        </p:txBody>
      </p:sp>
      <p:pic>
        <p:nvPicPr>
          <p:cNvPr id="213" name="Google Shape;213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37683" y="536969"/>
            <a:ext cx="4285538" cy="4306494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31"/>
          <p:cNvSpPr txBox="1"/>
          <p:nvPr>
            <p:ph idx="10" type="dt"/>
          </p:nvPr>
        </p:nvSpPr>
        <p:spPr>
          <a:xfrm>
            <a:off x="0" y="4869656"/>
            <a:ext cx="93345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3/19/25</a:t>
            </a:r>
            <a:endParaRPr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2"/>
          <p:cNvSpPr txBox="1"/>
          <p:nvPr>
            <p:ph type="title"/>
          </p:nvPr>
        </p:nvSpPr>
        <p:spPr>
          <a:xfrm>
            <a:off x="0" y="1"/>
            <a:ext cx="7886700" cy="5107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6857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ct val="100000"/>
              <a:buFont typeface="Arial"/>
              <a:buNone/>
            </a:pPr>
            <a:r>
              <a:rPr lang="en"/>
              <a:t>AI-assisted Model and Training</a:t>
            </a:r>
            <a:endParaRPr/>
          </a:p>
        </p:txBody>
      </p:sp>
      <p:sp>
        <p:nvSpPr>
          <p:cNvPr id="220" name="Google Shape;220;p32"/>
          <p:cNvSpPr txBox="1"/>
          <p:nvPr>
            <p:ph idx="1" type="body"/>
          </p:nvPr>
        </p:nvSpPr>
        <p:spPr>
          <a:xfrm>
            <a:off x="-6621" y="588338"/>
            <a:ext cx="9014696" cy="122341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71450" lvl="0" marL="2413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Char char="•"/>
            </a:pPr>
            <a:r>
              <a:rPr b="0" i="0" lang="en" sz="15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Model: </a:t>
            </a:r>
            <a:r>
              <a:rPr lang="en" sz="1500">
                <a:solidFill>
                  <a:srgbClr val="3F3F3F"/>
                </a:solidFill>
              </a:rPr>
              <a:t>MultiLayer Perceptron, </a:t>
            </a:r>
            <a:r>
              <a:rPr b="0" i="0" lang="en" sz="15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10 inputs, 1/3/5 hidden layer (20/100 neurons), 1 output</a:t>
            </a:r>
            <a:endParaRPr/>
          </a:p>
          <a:p>
            <a:pPr indent="-171450" lvl="0" marL="2413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500"/>
              <a:buFont typeface="Arial"/>
              <a:buChar char="•"/>
            </a:pPr>
            <a:r>
              <a:rPr lang="en" sz="1500">
                <a:solidFill>
                  <a:srgbClr val="3F3F3F"/>
                </a:solidFill>
              </a:rPr>
              <a:t>I</a:t>
            </a:r>
            <a:r>
              <a:rPr b="0" i="0" lang="en" sz="15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nputs: </a:t>
            </a:r>
            <a:r>
              <a:rPr b="0" i="1" lang="en" sz="15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i="0" lang="en" sz="15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0" i="1" lang="en" sz="15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i="0" lang="en" sz="15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position of the five super-preclusters </a:t>
            </a:r>
            <a:endParaRPr/>
          </a:p>
          <a:p>
            <a:pPr indent="-171450" lvl="0" marL="2413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500"/>
              <a:buFont typeface="Arial"/>
              <a:buChar char="•"/>
            </a:pPr>
            <a:r>
              <a:rPr lang="en" sz="1500">
                <a:solidFill>
                  <a:srgbClr val="3F3F3F"/>
                </a:solidFill>
              </a:rPr>
              <a:t>Good and bad tracks for the training:</a:t>
            </a:r>
            <a:endParaRPr b="0" i="0" sz="1500" u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1" marL="5842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</a:pPr>
            <a:r>
              <a:rPr lang="en" sz="1400">
                <a:solidFill>
                  <a:srgbClr val="3F3F3F"/>
                </a:solidFill>
              </a:rPr>
              <a:t>G</a:t>
            </a:r>
            <a:r>
              <a:rPr b="0" i="0" lang="en" sz="14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ood tracks: GEANT4 simulation </a:t>
            </a:r>
            <a:r>
              <a:rPr b="0" i="0" lang="en" sz="12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(proton with p ∈ [70, 250] MeV/c, φ ∈ [0, 360]°, θ ∈ [60, 120]° and Vz ∈ [-15, 15] cm)</a:t>
            </a:r>
            <a:endParaRPr b="0" i="0" sz="1500" u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1" marL="5842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</a:pPr>
            <a:r>
              <a:rPr b="0" i="0" lang="en" sz="14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False tracks: Interchanging randomly up to two super-preclusters with another event</a:t>
            </a:r>
            <a:endParaRPr/>
          </a:p>
          <a:p>
            <a:pPr indent="-76200" lvl="0" marL="17780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1500"/>
              <a:buNone/>
            </a:pPr>
            <a:r>
              <a:t/>
            </a:r>
            <a:endParaRPr sz="1500">
              <a:solidFill>
                <a:srgbClr val="3F3F3F"/>
              </a:solidFill>
            </a:endParaRPr>
          </a:p>
        </p:txBody>
      </p:sp>
      <p:sp>
        <p:nvSpPr>
          <p:cNvPr id="221" name="Google Shape;221;p32"/>
          <p:cNvSpPr txBox="1"/>
          <p:nvPr>
            <p:ph idx="11" type="ftr"/>
          </p:nvPr>
        </p:nvSpPr>
        <p:spPr>
          <a:xfrm>
            <a:off x="4038601" y="4876007"/>
            <a:ext cx="5106308" cy="26749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95959"/>
                </a:solidFill>
              </a:rPr>
              <a:t>APS Joint March Meeting and April Meeting Global Physics Summit</a:t>
            </a:r>
            <a:endParaRPr>
              <a:solidFill>
                <a:srgbClr val="595959"/>
              </a:solidFill>
            </a:endParaRPr>
          </a:p>
        </p:txBody>
      </p:sp>
      <p:sp>
        <p:nvSpPr>
          <p:cNvPr id="222" name="Google Shape;222;p32"/>
          <p:cNvSpPr txBox="1"/>
          <p:nvPr>
            <p:ph idx="12" type="sldNum"/>
          </p:nvPr>
        </p:nvSpPr>
        <p:spPr>
          <a:xfrm>
            <a:off x="8376557" y="0"/>
            <a:ext cx="767443" cy="520983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3" name="Google Shape;223;p32"/>
          <p:cNvSpPr txBox="1"/>
          <p:nvPr/>
        </p:nvSpPr>
        <p:spPr>
          <a:xfrm>
            <a:off x="-6621" y="1784542"/>
            <a:ext cx="2292621" cy="99257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171450" lvl="0" marL="241300" marR="0" rtl="0" algn="l">
              <a:spcBef>
                <a:spcPts val="0"/>
              </a:spcBef>
              <a:spcAft>
                <a:spcPts val="0"/>
              </a:spcAft>
              <a:buClr>
                <a:srgbClr val="A8D08C"/>
              </a:buClr>
              <a:buSzPts val="1500"/>
              <a:buFont typeface="Arial"/>
              <a:buChar char="•"/>
            </a:pPr>
            <a:r>
              <a:rPr b="0" i="0" lang="en" sz="15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Output: Number between 0 and 1, with 0/1 means bad/good track</a:t>
            </a:r>
            <a:endParaRPr sz="1100"/>
          </a:p>
        </p:txBody>
      </p:sp>
      <p:pic>
        <p:nvPicPr>
          <p:cNvPr id="224" name="Google Shape;224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29939" y="1781317"/>
            <a:ext cx="3464530" cy="3043883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32"/>
          <p:cNvSpPr txBox="1"/>
          <p:nvPr/>
        </p:nvSpPr>
        <p:spPr>
          <a:xfrm>
            <a:off x="6031561" y="4207151"/>
            <a:ext cx="2261286" cy="30008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548135"/>
                </a:solidFill>
                <a:latin typeface="Arial"/>
                <a:ea typeface="Arial"/>
                <a:cs typeface="Arial"/>
                <a:sym typeface="Arial"/>
              </a:rPr>
              <a:t>Bad track</a:t>
            </a:r>
            <a:endParaRPr sz="1100"/>
          </a:p>
        </p:txBody>
      </p:sp>
      <p:pic>
        <p:nvPicPr>
          <p:cNvPr id="226" name="Google Shape;226;p32"/>
          <p:cNvPicPr preferRelativeResize="0"/>
          <p:nvPr/>
        </p:nvPicPr>
        <p:blipFill rotWithShape="1">
          <a:blip r:embed="rId4">
            <a:alphaModFix/>
          </a:blip>
          <a:srcRect b="10569" l="0" r="0" t="11875"/>
          <a:stretch/>
        </p:blipFill>
        <p:spPr>
          <a:xfrm>
            <a:off x="1662913" y="1879106"/>
            <a:ext cx="4005557" cy="2968399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32"/>
          <p:cNvSpPr txBox="1"/>
          <p:nvPr>
            <p:ph idx="10" type="dt"/>
          </p:nvPr>
        </p:nvSpPr>
        <p:spPr>
          <a:xfrm>
            <a:off x="0" y="4869656"/>
            <a:ext cx="93345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3/19/25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3"/>
          <p:cNvSpPr txBox="1"/>
          <p:nvPr>
            <p:ph type="title"/>
          </p:nvPr>
        </p:nvSpPr>
        <p:spPr>
          <a:xfrm>
            <a:off x="0" y="1"/>
            <a:ext cx="7886700" cy="5107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6857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ct val="100000"/>
              <a:buFont typeface="Arial"/>
              <a:buNone/>
            </a:pPr>
            <a:r>
              <a:rPr lang="en"/>
              <a:t>Efficiency and Purity vs. Threshold</a:t>
            </a:r>
            <a:endParaRPr/>
          </a:p>
        </p:txBody>
      </p:sp>
      <p:sp>
        <p:nvSpPr>
          <p:cNvPr id="233" name="Google Shape;233;p33"/>
          <p:cNvSpPr txBox="1"/>
          <p:nvPr>
            <p:ph idx="1" type="body"/>
          </p:nvPr>
        </p:nvSpPr>
        <p:spPr>
          <a:xfrm>
            <a:off x="0" y="520983"/>
            <a:ext cx="9127744" cy="326350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7780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 sz="18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Threshold: if output above/lower than the threshold </a:t>
            </a:r>
            <a:r>
              <a:rPr lang="en" sz="1800">
                <a:solidFill>
                  <a:srgbClr val="3F3F3F"/>
                </a:solidFill>
              </a:rPr>
              <a:t>⇒</a:t>
            </a:r>
            <a:r>
              <a:rPr lang="en" sz="18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good/bad tracks</a:t>
            </a:r>
            <a:endParaRPr/>
          </a:p>
          <a:p>
            <a:pPr indent="-1778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</a:pPr>
            <a:r>
              <a:rPr lang="en" sz="1800">
                <a:solidFill>
                  <a:srgbClr val="3F3F3F"/>
                </a:solidFill>
              </a:rPr>
              <a:t>To evaluate the model: </a:t>
            </a:r>
            <a:endParaRPr sz="1800">
              <a:solidFill>
                <a:srgbClr val="3F3F3F"/>
              </a:solidFill>
            </a:endParaRPr>
          </a:p>
          <a:p>
            <a:pPr indent="-171450" lvl="1" marL="5207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Char char="•"/>
            </a:pPr>
            <a:r>
              <a:rPr b="0" i="0" lang="en" sz="15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Efficiency: Number of good tracks classified as good normalized by number of events.</a:t>
            </a:r>
            <a:endParaRPr/>
          </a:p>
          <a:p>
            <a:pPr indent="-171450" lvl="1" marL="5207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Char char="•"/>
            </a:pPr>
            <a:r>
              <a:rPr b="0" i="0" lang="en" sz="15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Purity: Number of good tracks classified as good normalized by number of tracks (good or bad) classified as good.</a:t>
            </a:r>
            <a:endParaRPr/>
          </a:p>
        </p:txBody>
      </p:sp>
      <p:sp>
        <p:nvSpPr>
          <p:cNvPr id="234" name="Google Shape;234;p33"/>
          <p:cNvSpPr txBox="1"/>
          <p:nvPr>
            <p:ph idx="11" type="ftr"/>
          </p:nvPr>
        </p:nvSpPr>
        <p:spPr>
          <a:xfrm>
            <a:off x="4038601" y="4876007"/>
            <a:ext cx="5106308" cy="26749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95959"/>
                </a:solidFill>
              </a:rPr>
              <a:t>APS Joint March Meeting and April Meeting Global Physics Summit</a:t>
            </a:r>
            <a:endParaRPr>
              <a:solidFill>
                <a:srgbClr val="595959"/>
              </a:solidFill>
            </a:endParaRPr>
          </a:p>
        </p:txBody>
      </p:sp>
      <p:sp>
        <p:nvSpPr>
          <p:cNvPr id="235" name="Google Shape;235;p33"/>
          <p:cNvSpPr txBox="1"/>
          <p:nvPr>
            <p:ph idx="12" type="sldNum"/>
          </p:nvPr>
        </p:nvSpPr>
        <p:spPr>
          <a:xfrm>
            <a:off x="8376557" y="0"/>
            <a:ext cx="767443" cy="520983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36" name="Google Shape;236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8965" y="1666389"/>
            <a:ext cx="5070453" cy="3193061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33"/>
          <p:cNvSpPr txBox="1"/>
          <p:nvPr/>
        </p:nvSpPr>
        <p:spPr>
          <a:xfrm>
            <a:off x="16256" y="1885391"/>
            <a:ext cx="3903273" cy="99257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-17145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A8D08C"/>
              </a:buClr>
              <a:buSzPts val="1500"/>
              <a:buFont typeface="Arial"/>
              <a:buChar char="•"/>
            </a:pPr>
            <a:r>
              <a:rPr lang="en" sz="15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b="0" i="0" lang="en" sz="15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vents need to have at least one track candi</a:t>
            </a:r>
            <a:r>
              <a:rPr lang="en" sz="15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date.</a:t>
            </a:r>
            <a:endParaRPr b="0" i="0" sz="1500" u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A8D08C"/>
              </a:buClr>
              <a:buSzPts val="1500"/>
              <a:buFont typeface="Arial"/>
              <a:buChar char="•"/>
            </a:pPr>
            <a:r>
              <a:rPr lang="en" sz="15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="0" i="0" lang="en" sz="15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et the threshold to 0.2 to have a higher efficiency</a:t>
            </a:r>
            <a:endParaRPr sz="1100"/>
          </a:p>
        </p:txBody>
      </p:sp>
      <p:sp>
        <p:nvSpPr>
          <p:cNvPr id="238" name="Google Shape;238;p33"/>
          <p:cNvSpPr txBox="1"/>
          <p:nvPr>
            <p:ph idx="10" type="dt"/>
          </p:nvPr>
        </p:nvSpPr>
        <p:spPr>
          <a:xfrm>
            <a:off x="0" y="4869656"/>
            <a:ext cx="93345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3/19/25</a:t>
            </a:r>
            <a:endParaRPr/>
          </a:p>
        </p:txBody>
      </p:sp>
      <p:sp>
        <p:nvSpPr>
          <p:cNvPr id="239" name="Google Shape;239;p33"/>
          <p:cNvSpPr txBox="1"/>
          <p:nvPr/>
        </p:nvSpPr>
        <p:spPr>
          <a:xfrm>
            <a:off x="0" y="2711116"/>
            <a:ext cx="2935224" cy="214674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strike="noStrike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9550" lvl="0" marL="215900" marR="0" rtl="0" algn="l">
              <a:spcBef>
                <a:spcPts val="0"/>
              </a:spcBef>
              <a:spcAft>
                <a:spcPts val="0"/>
              </a:spcAft>
              <a:buClr>
                <a:srgbClr val="A8D08C"/>
              </a:buClr>
              <a:buSzPts val="1500"/>
              <a:buFont typeface="Arial"/>
              <a:buChar char="•"/>
            </a:pPr>
            <a:r>
              <a:rPr b="0" i="0" lang="en" sz="1500" u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Blue</a:t>
            </a:r>
            <a:r>
              <a:rPr b="0" i="0" lang="en" sz="15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: model with 20 neurons in 3 hidden layers</a:t>
            </a:r>
            <a:endParaRPr sz="1100"/>
          </a:p>
          <a:p>
            <a:pPr indent="-209550" lvl="0" marL="215900" marR="0" rtl="0" algn="l">
              <a:spcBef>
                <a:spcPts val="0"/>
              </a:spcBef>
              <a:spcAft>
                <a:spcPts val="0"/>
              </a:spcAft>
              <a:buClr>
                <a:srgbClr val="A8D08C"/>
              </a:buClr>
              <a:buSzPts val="1500"/>
              <a:buFont typeface="Arial"/>
              <a:buChar char="•"/>
            </a:pPr>
            <a:r>
              <a:rPr b="0" i="0" lang="en" sz="1500" u="none" strike="noStrik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Orange</a:t>
            </a:r>
            <a:r>
              <a:rPr b="0" i="0" lang="en" sz="15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: model with 100 neurons in 3 hidden layers</a:t>
            </a:r>
            <a:endParaRPr sz="1100"/>
          </a:p>
          <a:p>
            <a:pPr indent="-209550" lvl="0" marL="215900" marR="0" rtl="0" algn="l">
              <a:spcBef>
                <a:spcPts val="0"/>
              </a:spcBef>
              <a:spcAft>
                <a:spcPts val="0"/>
              </a:spcAft>
              <a:buClr>
                <a:srgbClr val="A8D08C"/>
              </a:buClr>
              <a:buSzPts val="1500"/>
              <a:buFont typeface="Arial"/>
              <a:buChar char="•"/>
            </a:pPr>
            <a:r>
              <a:rPr b="0" i="0" lang="en" sz="1500" u="none" strike="noStrike">
                <a:solidFill>
                  <a:srgbClr val="92D050"/>
                </a:solidFill>
                <a:latin typeface="Arial"/>
                <a:ea typeface="Arial"/>
                <a:cs typeface="Arial"/>
                <a:sym typeface="Arial"/>
              </a:rPr>
              <a:t>Green</a:t>
            </a:r>
            <a:r>
              <a:rPr b="0" i="0" lang="en" sz="15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: model with 20 neurons in 5 hidden layers</a:t>
            </a:r>
            <a:endParaRPr sz="1100"/>
          </a:p>
          <a:p>
            <a:pPr indent="-209550" lvl="0" marL="215900" marR="0" rtl="0" algn="l">
              <a:spcBef>
                <a:spcPts val="0"/>
              </a:spcBef>
              <a:spcAft>
                <a:spcPts val="0"/>
              </a:spcAft>
              <a:buClr>
                <a:srgbClr val="A8D08C"/>
              </a:buClr>
              <a:buSzPts val="1500"/>
              <a:buFont typeface="Arial"/>
              <a:buChar char="•"/>
            </a:pPr>
            <a:r>
              <a:rPr b="0" i="0" lang="en" sz="1500" u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Red</a:t>
            </a:r>
            <a:r>
              <a:rPr b="0" i="0" lang="en" sz="15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: model with 20 neurons in </a:t>
            </a:r>
            <a:r>
              <a:rPr lang="en" sz="15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" sz="15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hidden layer</a:t>
            </a:r>
            <a:endParaRPr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4"/>
          <p:cNvSpPr txBox="1"/>
          <p:nvPr>
            <p:ph type="title"/>
          </p:nvPr>
        </p:nvSpPr>
        <p:spPr>
          <a:xfrm>
            <a:off x="0" y="1"/>
            <a:ext cx="7886700" cy="5107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6857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ct val="100000"/>
              <a:buFont typeface="Arial"/>
              <a:buNone/>
            </a:pPr>
            <a:r>
              <a:rPr lang="en"/>
              <a:t>Efficiency and Purity vs. Current</a:t>
            </a:r>
            <a:endParaRPr/>
          </a:p>
        </p:txBody>
      </p:sp>
      <p:sp>
        <p:nvSpPr>
          <p:cNvPr id="245" name="Google Shape;245;p34"/>
          <p:cNvSpPr txBox="1"/>
          <p:nvPr>
            <p:ph idx="1" type="body"/>
          </p:nvPr>
        </p:nvSpPr>
        <p:spPr>
          <a:xfrm>
            <a:off x="48985" y="588338"/>
            <a:ext cx="9039409" cy="159880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7780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 sz="1800">
                <a:solidFill>
                  <a:srgbClr val="3F3F3F"/>
                </a:solidFill>
              </a:rPr>
              <a:t>E</a:t>
            </a:r>
            <a:r>
              <a:rPr lang="en" sz="18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fficiency is always higher than 90% and the purity is between 55% and 95%</a:t>
            </a:r>
            <a:endParaRPr b="0" i="0" sz="1800" u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35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/>
          </a:p>
        </p:txBody>
      </p:sp>
      <p:sp>
        <p:nvSpPr>
          <p:cNvPr id="246" name="Google Shape;246;p34"/>
          <p:cNvSpPr txBox="1"/>
          <p:nvPr>
            <p:ph idx="11" type="ftr"/>
          </p:nvPr>
        </p:nvSpPr>
        <p:spPr>
          <a:xfrm>
            <a:off x="4038601" y="4876007"/>
            <a:ext cx="5106308" cy="26749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95959"/>
                </a:solidFill>
              </a:rPr>
              <a:t>APS Joint March Meeting and April Meeting Global Physics Summit</a:t>
            </a:r>
            <a:endParaRPr>
              <a:solidFill>
                <a:srgbClr val="595959"/>
              </a:solidFill>
            </a:endParaRPr>
          </a:p>
        </p:txBody>
      </p:sp>
      <p:sp>
        <p:nvSpPr>
          <p:cNvPr id="247" name="Google Shape;247;p34"/>
          <p:cNvSpPr txBox="1"/>
          <p:nvPr>
            <p:ph idx="12" type="sldNum"/>
          </p:nvPr>
        </p:nvSpPr>
        <p:spPr>
          <a:xfrm>
            <a:off x="8376557" y="0"/>
            <a:ext cx="767443" cy="520983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48" name="Google Shape;248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35224" y="1260237"/>
            <a:ext cx="6162731" cy="3294925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34"/>
          <p:cNvSpPr txBox="1"/>
          <p:nvPr>
            <p:ph idx="10" type="dt"/>
          </p:nvPr>
        </p:nvSpPr>
        <p:spPr>
          <a:xfrm>
            <a:off x="0" y="4869656"/>
            <a:ext cx="93345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3/19/25</a:t>
            </a:r>
            <a:endParaRPr/>
          </a:p>
        </p:txBody>
      </p:sp>
      <p:sp>
        <p:nvSpPr>
          <p:cNvPr id="250" name="Google Shape;250;p34"/>
          <p:cNvSpPr txBox="1"/>
          <p:nvPr/>
        </p:nvSpPr>
        <p:spPr>
          <a:xfrm>
            <a:off x="0" y="2711116"/>
            <a:ext cx="2935224" cy="214674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strike="noStrike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9550" lvl="0" marL="215900" marR="0" rtl="0" algn="l">
              <a:spcBef>
                <a:spcPts val="0"/>
              </a:spcBef>
              <a:spcAft>
                <a:spcPts val="0"/>
              </a:spcAft>
              <a:buClr>
                <a:srgbClr val="A8D08C"/>
              </a:buClr>
              <a:buSzPts val="1500"/>
              <a:buFont typeface="Arial"/>
              <a:buChar char="•"/>
            </a:pPr>
            <a:r>
              <a:rPr b="0" i="0" lang="en" sz="1500" u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Blue</a:t>
            </a:r>
            <a:r>
              <a:rPr b="0" i="0" lang="en" sz="15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: model with 20 neurons in 3 hidden layers</a:t>
            </a:r>
            <a:endParaRPr sz="1100"/>
          </a:p>
          <a:p>
            <a:pPr indent="-209550" lvl="0" marL="215900" marR="0" rtl="0" algn="l">
              <a:spcBef>
                <a:spcPts val="0"/>
              </a:spcBef>
              <a:spcAft>
                <a:spcPts val="0"/>
              </a:spcAft>
              <a:buClr>
                <a:srgbClr val="A8D08C"/>
              </a:buClr>
              <a:buSzPts val="1500"/>
              <a:buFont typeface="Arial"/>
              <a:buChar char="•"/>
            </a:pPr>
            <a:r>
              <a:rPr b="0" i="0" lang="en" sz="1500" u="none" strike="noStrik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Orange</a:t>
            </a:r>
            <a:r>
              <a:rPr b="0" i="0" lang="en" sz="15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: model with 100 neurons in 3 hidden layers</a:t>
            </a:r>
            <a:endParaRPr sz="1100"/>
          </a:p>
          <a:p>
            <a:pPr indent="-209550" lvl="0" marL="215900" marR="0" rtl="0" algn="l">
              <a:spcBef>
                <a:spcPts val="0"/>
              </a:spcBef>
              <a:spcAft>
                <a:spcPts val="0"/>
              </a:spcAft>
              <a:buClr>
                <a:srgbClr val="A8D08C"/>
              </a:buClr>
              <a:buSzPts val="1500"/>
              <a:buFont typeface="Arial"/>
              <a:buChar char="•"/>
            </a:pPr>
            <a:r>
              <a:rPr b="0" i="0" lang="en" sz="1500" u="none" strike="noStrike">
                <a:solidFill>
                  <a:srgbClr val="92D050"/>
                </a:solidFill>
                <a:latin typeface="Arial"/>
                <a:ea typeface="Arial"/>
                <a:cs typeface="Arial"/>
                <a:sym typeface="Arial"/>
              </a:rPr>
              <a:t>Green</a:t>
            </a:r>
            <a:r>
              <a:rPr b="0" i="0" lang="en" sz="15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: model with 20 neurons in 5 hidden layers</a:t>
            </a:r>
            <a:endParaRPr sz="1100"/>
          </a:p>
          <a:p>
            <a:pPr indent="-209550" lvl="0" marL="215900" marR="0" rtl="0" algn="l">
              <a:spcBef>
                <a:spcPts val="0"/>
              </a:spcBef>
              <a:spcAft>
                <a:spcPts val="0"/>
              </a:spcAft>
              <a:buClr>
                <a:srgbClr val="A8D08C"/>
              </a:buClr>
              <a:buSzPts val="1500"/>
              <a:buFont typeface="Arial"/>
              <a:buChar char="•"/>
            </a:pPr>
            <a:r>
              <a:rPr b="0" i="0" lang="en" sz="1500" u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Red</a:t>
            </a:r>
            <a:r>
              <a:rPr b="0" i="0" lang="en" sz="15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: model with 20 neurons in </a:t>
            </a:r>
            <a:r>
              <a:rPr lang="en" sz="15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" sz="15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hidden layer</a:t>
            </a:r>
            <a:endParaRPr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5"/>
          <p:cNvSpPr txBox="1"/>
          <p:nvPr>
            <p:ph type="title"/>
          </p:nvPr>
        </p:nvSpPr>
        <p:spPr>
          <a:xfrm>
            <a:off x="0" y="1"/>
            <a:ext cx="7886700" cy="5107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6857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ct val="100000"/>
              <a:buFont typeface="Arial"/>
              <a:buNone/>
            </a:pPr>
            <a:r>
              <a:rPr lang="en"/>
              <a:t>Efficiency and Purity vs. Momentum</a:t>
            </a:r>
            <a:endParaRPr/>
          </a:p>
        </p:txBody>
      </p:sp>
      <p:sp>
        <p:nvSpPr>
          <p:cNvPr id="256" name="Google Shape;256;p35"/>
          <p:cNvSpPr txBox="1"/>
          <p:nvPr>
            <p:ph idx="1" type="body"/>
          </p:nvPr>
        </p:nvSpPr>
        <p:spPr>
          <a:xfrm>
            <a:off x="48986" y="588338"/>
            <a:ext cx="9027053" cy="73638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7780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 sz="1800">
                <a:solidFill>
                  <a:srgbClr val="3F3F3F"/>
                </a:solidFill>
              </a:rPr>
              <a:t>Background is generated with</a:t>
            </a:r>
            <a:r>
              <a:rPr i="1" lang="en" sz="1800">
                <a:solidFill>
                  <a:srgbClr val="3F3F3F"/>
                </a:solidFill>
              </a:rPr>
              <a:t> </a:t>
            </a:r>
            <a:r>
              <a:rPr lang="en" sz="1800">
                <a:solidFill>
                  <a:srgbClr val="3F3F3F"/>
                </a:solidFill>
              </a:rPr>
              <a:t>current </a:t>
            </a:r>
            <a:r>
              <a:rPr lang="en" sz="18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i="1" lang="en" sz="1800">
                <a:solidFill>
                  <a:srgbClr val="3F3F3F"/>
                </a:solidFill>
              </a:rPr>
              <a:t> </a:t>
            </a:r>
            <a:r>
              <a:rPr lang="en" sz="1800">
                <a:solidFill>
                  <a:srgbClr val="3F3F3F"/>
                </a:solidFill>
              </a:rPr>
              <a:t>= 487.5 nA</a:t>
            </a:r>
            <a:endParaRPr sz="1800">
              <a:solidFill>
                <a:srgbClr val="3F3F3F"/>
              </a:solidFill>
            </a:endParaRPr>
          </a:p>
          <a:p>
            <a:pPr indent="-1778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Char char="•"/>
            </a:pPr>
            <a:r>
              <a:rPr lang="en" sz="18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Constant e</a:t>
            </a:r>
            <a:r>
              <a:rPr b="0" i="0" lang="en" sz="18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fficiency and purit</a:t>
            </a:r>
            <a:r>
              <a:rPr lang="en" sz="18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y across the momentum range</a:t>
            </a:r>
            <a:endParaRPr b="0" i="0" sz="1800" u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6350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800">
              <a:solidFill>
                <a:srgbClr val="3F3F3F"/>
              </a:solidFill>
            </a:endParaRPr>
          </a:p>
        </p:txBody>
      </p:sp>
      <p:sp>
        <p:nvSpPr>
          <p:cNvPr id="257" name="Google Shape;257;p35"/>
          <p:cNvSpPr txBox="1"/>
          <p:nvPr>
            <p:ph idx="11" type="ftr"/>
          </p:nvPr>
        </p:nvSpPr>
        <p:spPr>
          <a:xfrm>
            <a:off x="4038601" y="4876007"/>
            <a:ext cx="5106308" cy="26749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95959"/>
                </a:solidFill>
              </a:rPr>
              <a:t>APS Joint March Meeting and April Meeting Global Physics Summit</a:t>
            </a:r>
            <a:endParaRPr>
              <a:solidFill>
                <a:srgbClr val="595959"/>
              </a:solidFill>
            </a:endParaRPr>
          </a:p>
        </p:txBody>
      </p:sp>
      <p:sp>
        <p:nvSpPr>
          <p:cNvPr id="258" name="Google Shape;258;p35"/>
          <p:cNvSpPr txBox="1"/>
          <p:nvPr>
            <p:ph idx="12" type="sldNum"/>
          </p:nvPr>
        </p:nvSpPr>
        <p:spPr>
          <a:xfrm>
            <a:off x="8376557" y="0"/>
            <a:ext cx="767443" cy="520983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15</a:t>
            </a:r>
            <a:endParaRPr/>
          </a:p>
        </p:txBody>
      </p:sp>
      <p:pic>
        <p:nvPicPr>
          <p:cNvPr id="259" name="Google Shape;259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0890" y="1242666"/>
            <a:ext cx="5274920" cy="3615191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35"/>
          <p:cNvSpPr txBox="1"/>
          <p:nvPr>
            <p:ph idx="10" type="dt"/>
          </p:nvPr>
        </p:nvSpPr>
        <p:spPr>
          <a:xfrm>
            <a:off x="0" y="4869656"/>
            <a:ext cx="93345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3/19/25</a:t>
            </a:r>
            <a:endParaRPr/>
          </a:p>
        </p:txBody>
      </p:sp>
      <p:sp>
        <p:nvSpPr>
          <p:cNvPr id="261" name="Google Shape;261;p35"/>
          <p:cNvSpPr txBox="1"/>
          <p:nvPr/>
        </p:nvSpPr>
        <p:spPr>
          <a:xfrm>
            <a:off x="0" y="2711116"/>
            <a:ext cx="2935224" cy="214674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strike="noStrike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9550" lvl="0" marL="215900" marR="0" rtl="0" algn="l">
              <a:spcBef>
                <a:spcPts val="0"/>
              </a:spcBef>
              <a:spcAft>
                <a:spcPts val="0"/>
              </a:spcAft>
              <a:buClr>
                <a:srgbClr val="A8D08C"/>
              </a:buClr>
              <a:buSzPts val="1500"/>
              <a:buFont typeface="Arial"/>
              <a:buChar char="•"/>
            </a:pPr>
            <a:r>
              <a:rPr b="0" i="0" lang="en" sz="1500" u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Blue</a:t>
            </a:r>
            <a:r>
              <a:rPr b="0" i="0" lang="en" sz="15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: model with 20 neurons in 3 hidden layers</a:t>
            </a:r>
            <a:endParaRPr sz="1100"/>
          </a:p>
          <a:p>
            <a:pPr indent="-209550" lvl="0" marL="215900" marR="0" rtl="0" algn="l">
              <a:spcBef>
                <a:spcPts val="0"/>
              </a:spcBef>
              <a:spcAft>
                <a:spcPts val="0"/>
              </a:spcAft>
              <a:buClr>
                <a:srgbClr val="A8D08C"/>
              </a:buClr>
              <a:buSzPts val="1500"/>
              <a:buFont typeface="Arial"/>
              <a:buChar char="•"/>
            </a:pPr>
            <a:r>
              <a:rPr b="0" i="0" lang="en" sz="1500" u="none" strike="noStrik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Orange</a:t>
            </a:r>
            <a:r>
              <a:rPr b="0" i="0" lang="en" sz="15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: model with 100 neurons in 3 hidden layers</a:t>
            </a:r>
            <a:endParaRPr sz="1100"/>
          </a:p>
          <a:p>
            <a:pPr indent="-209550" lvl="0" marL="215900" marR="0" rtl="0" algn="l">
              <a:spcBef>
                <a:spcPts val="0"/>
              </a:spcBef>
              <a:spcAft>
                <a:spcPts val="0"/>
              </a:spcAft>
              <a:buClr>
                <a:srgbClr val="A8D08C"/>
              </a:buClr>
              <a:buSzPts val="1500"/>
              <a:buFont typeface="Arial"/>
              <a:buChar char="•"/>
            </a:pPr>
            <a:r>
              <a:rPr b="0" i="0" lang="en" sz="1500" u="none" strike="noStrike">
                <a:solidFill>
                  <a:srgbClr val="92D050"/>
                </a:solidFill>
                <a:latin typeface="Arial"/>
                <a:ea typeface="Arial"/>
                <a:cs typeface="Arial"/>
                <a:sym typeface="Arial"/>
              </a:rPr>
              <a:t>Green</a:t>
            </a:r>
            <a:r>
              <a:rPr b="0" i="0" lang="en" sz="15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: model with 20 neurons in 5 hidden layers</a:t>
            </a:r>
            <a:endParaRPr sz="1100"/>
          </a:p>
          <a:p>
            <a:pPr indent="-209550" lvl="0" marL="215900" marR="0" rtl="0" algn="l">
              <a:spcBef>
                <a:spcPts val="0"/>
              </a:spcBef>
              <a:spcAft>
                <a:spcPts val="0"/>
              </a:spcAft>
              <a:buClr>
                <a:srgbClr val="A8D08C"/>
              </a:buClr>
              <a:buSzPts val="1500"/>
              <a:buFont typeface="Arial"/>
              <a:buChar char="•"/>
            </a:pPr>
            <a:r>
              <a:rPr b="0" i="0" lang="en" sz="1500" u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Red</a:t>
            </a:r>
            <a:r>
              <a:rPr b="0" i="0" lang="en" sz="15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: model with 20 neurons in </a:t>
            </a:r>
            <a:r>
              <a:rPr lang="en" sz="15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" sz="15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hidden layer</a:t>
            </a:r>
            <a:endParaRPr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6"/>
          <p:cNvSpPr txBox="1"/>
          <p:nvPr>
            <p:ph type="title"/>
          </p:nvPr>
        </p:nvSpPr>
        <p:spPr>
          <a:xfrm>
            <a:off x="0" y="1"/>
            <a:ext cx="7886700" cy="510777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6857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ct val="100000"/>
              <a:buFont typeface="Arial"/>
              <a:buNone/>
            </a:pPr>
            <a:r>
              <a:rPr lang="en"/>
              <a:t>Summary and Outlook</a:t>
            </a:r>
            <a:endParaRPr/>
          </a:p>
        </p:txBody>
      </p:sp>
      <p:sp>
        <p:nvSpPr>
          <p:cNvPr id="268" name="Google Shape;268;p36"/>
          <p:cNvSpPr txBox="1"/>
          <p:nvPr>
            <p:ph idx="12" type="sldNum"/>
          </p:nvPr>
        </p:nvSpPr>
        <p:spPr>
          <a:xfrm>
            <a:off x="8376557" y="0"/>
            <a:ext cx="767443" cy="520983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9" name="Google Shape;269;p36"/>
          <p:cNvSpPr txBox="1"/>
          <p:nvPr/>
        </p:nvSpPr>
        <p:spPr>
          <a:xfrm>
            <a:off x="1" y="583339"/>
            <a:ext cx="9143999" cy="424352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71450" lvl="0" marL="1778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8D08C"/>
              </a:buClr>
              <a:buSzPts val="2100"/>
              <a:buFont typeface="Arial"/>
              <a:buChar char="•"/>
            </a:pPr>
            <a:r>
              <a:rPr b="0" i="0" lang="en" sz="21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ALERT physics program will explore: </a:t>
            </a:r>
            <a:endParaRPr sz="1100"/>
          </a:p>
          <a:p>
            <a:pPr indent="-171450" lvl="1" marL="5207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A8D08C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Coherent processes on </a:t>
            </a:r>
            <a:r>
              <a:rPr b="0" baseline="30000" i="0" lang="en" sz="15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b="0" i="0" lang="en" sz="15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He ⇒ its partonic structure</a:t>
            </a:r>
            <a:endParaRPr sz="1100"/>
          </a:p>
          <a:p>
            <a:pPr indent="-171450" lvl="1" marL="5207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A8D08C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Tagged DIS on </a:t>
            </a:r>
            <a:r>
              <a:rPr b="0" baseline="30000" i="0" lang="en" sz="15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b="0" i="0" lang="en" sz="15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He and </a:t>
            </a:r>
            <a:r>
              <a:rPr b="0" baseline="30000" i="0" lang="en" sz="15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" sz="15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H ⇒ EMC effect in more detail with spectator information</a:t>
            </a:r>
            <a:endParaRPr sz="1100"/>
          </a:p>
          <a:p>
            <a:pPr indent="-171450" lvl="1" marL="5207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A8D08C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Tagged incoherent DVCS on </a:t>
            </a:r>
            <a:r>
              <a:rPr b="0" baseline="30000" i="0" lang="en" sz="15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b="0" i="0" lang="en" sz="15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He and </a:t>
            </a:r>
            <a:r>
              <a:rPr b="0" baseline="30000" i="0" lang="en" sz="15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" sz="15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H ⇒ structure of the bound nucleons.</a:t>
            </a:r>
            <a:endParaRPr sz="1100"/>
          </a:p>
          <a:p>
            <a:pPr indent="-63500" lvl="1" marL="5207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A8D08C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778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A8D08C"/>
              </a:buClr>
              <a:buSzPts val="2100"/>
              <a:buFont typeface="Arial"/>
              <a:buChar char="•"/>
            </a:pPr>
            <a:r>
              <a:rPr b="0" i="0" lang="en" sz="21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We have developed an AI-assisted MLP for track finding:</a:t>
            </a:r>
            <a:endParaRPr sz="1100"/>
          </a:p>
          <a:p>
            <a:pPr indent="-171450" lvl="1" marL="520700" marR="0" rtl="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A8D08C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Evaluated the model's efficiency and purity as a function of momentum, threshold, and current</a:t>
            </a:r>
            <a:endParaRPr sz="1100"/>
          </a:p>
          <a:p>
            <a:pPr indent="-171450" lvl="1" marL="520700" marR="0" rtl="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A8D08C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Compared efficiency of conventional and AI-assisted algorithms</a:t>
            </a:r>
            <a:endParaRPr sz="1100"/>
          </a:p>
          <a:p>
            <a:pPr indent="-171450" lvl="1" marL="520700" marR="0" rtl="0" algn="l">
              <a:lnSpc>
                <a:spcPct val="110000"/>
              </a:lnSpc>
              <a:spcBef>
                <a:spcPts val="400"/>
              </a:spcBef>
              <a:spcAft>
                <a:spcPts val="0"/>
              </a:spcAft>
              <a:buClr>
                <a:srgbClr val="A8D08C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Efficiency is always higher than 90%</a:t>
            </a:r>
            <a:endParaRPr b="0" i="0" sz="20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6200" lvl="0" marL="76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A8D08C"/>
              </a:buClr>
              <a:buSzPts val="2000"/>
              <a:buFont typeface="Arial"/>
              <a:buChar char="•"/>
            </a:pPr>
            <a:r>
              <a:rPr b="0" i="0" lang="en" sz="2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Future work:</a:t>
            </a:r>
            <a:endParaRPr sz="1100"/>
          </a:p>
          <a:p>
            <a:pPr indent="-171450" lvl="1" marL="5207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A8D08C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Check the efficiency and purity of real data using elastic scattering</a:t>
            </a:r>
            <a:endParaRPr sz="1100"/>
          </a:p>
          <a:p>
            <a:pPr indent="-171450" lvl="1" marL="5207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A8D08C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Improve the model with other information as input (energy deposited and angle between hits)</a:t>
            </a:r>
            <a:endParaRPr sz="1100"/>
          </a:p>
          <a:p>
            <a:pPr indent="0" lvl="1" marL="2413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A8D08C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rgbClr val="A8D08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36"/>
          <p:cNvSpPr txBox="1"/>
          <p:nvPr/>
        </p:nvSpPr>
        <p:spPr>
          <a:xfrm>
            <a:off x="0" y="4866500"/>
            <a:ext cx="91440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This work is supported in part by the U.S. DOE award #: DE-FG02-07ER41528</a:t>
            </a:r>
            <a:endParaRPr sz="140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36"/>
          <p:cNvSpPr txBox="1"/>
          <p:nvPr/>
        </p:nvSpPr>
        <p:spPr>
          <a:xfrm>
            <a:off x="1386374" y="4541954"/>
            <a:ext cx="6310563" cy="34624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8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Thanks</a:t>
            </a:r>
            <a:endParaRPr sz="180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2013 - 2022 Theme">
  <a:themeElements>
    <a:clrScheme name="Office 2013 - 2022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