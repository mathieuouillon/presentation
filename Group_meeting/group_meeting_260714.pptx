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35" r:id="rId3"/>
    <p:sldId id="368" r:id="rId4"/>
    <p:sldId id="369" r:id="rId5"/>
    <p:sldId id="370" r:id="rId6"/>
    <p:sldId id="371" r:id="rId7"/>
    <p:sldId id="257" r:id="rId8"/>
    <p:sldId id="258" r:id="rId9"/>
    <p:sldId id="259" r:id="rId10"/>
    <p:sldId id="260" r:id="rId11"/>
    <p:sldId id="261" r:id="rId12"/>
    <p:sldId id="373" r:id="rId13"/>
    <p:sldId id="263" r:id="rId14"/>
    <p:sldId id="264" r:id="rId15"/>
    <p:sldId id="374" r:id="rId16"/>
    <p:sldId id="268" r:id="rId17"/>
    <p:sldId id="269" r:id="rId18"/>
    <p:sldId id="375" r:id="rId19"/>
    <p:sldId id="270" r:id="rId20"/>
    <p:sldId id="33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368"/>
            <p14:sldId id="369"/>
            <p14:sldId id="370"/>
            <p14:sldId id="371"/>
            <p14:sldId id="257"/>
            <p14:sldId id="258"/>
            <p14:sldId id="259"/>
            <p14:sldId id="260"/>
            <p14:sldId id="261"/>
            <p14:sldId id="373"/>
            <p14:sldId id="263"/>
            <p14:sldId id="264"/>
            <p14:sldId id="374"/>
            <p14:sldId id="268"/>
            <p14:sldId id="269"/>
            <p14:sldId id="375"/>
            <p14:sldId id="270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3373B"/>
    <a:srgbClr val="304D59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60" autoAdjust="0"/>
    <p:restoredTop sz="94637" autoAdjust="0"/>
  </p:normalViewPr>
  <p:slideViewPr>
    <p:cSldViewPr snapToGrid="0" snapToObjects="1">
      <p:cViewPr varScale="1">
        <p:scale>
          <a:sx n="158" d="100"/>
          <a:sy n="158" d="100"/>
        </p:scale>
        <p:origin x="224" y="4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14-07-26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14-07-26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 cap="small" baseline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 w="12700"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07/14/26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07/14/26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1DEE-22C9-7031-D658-E0B76465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0E175-4471-897D-0352-0615CEECD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33888"/>
                <a:ext cx="4309618" cy="5263122"/>
              </a:xfrm>
            </p:spPr>
            <p:txBody>
              <a:bodyPr>
                <a:normAutofit/>
              </a:bodyPr>
              <a:lstStyle/>
              <a:p>
                <a:pPr marL="57150" indent="0">
                  <a:buNone/>
                </a:pPr>
                <a:r>
                  <a:rPr lang="en-US" sz="2000" dirty="0"/>
                  <a:t>Work on a simpler </a:t>
                </a:r>
                <a:r>
                  <a:rPr lang="en-US" sz="2000" dirty="0" err="1"/>
                  <a:t>Vz</a:t>
                </a:r>
                <a:r>
                  <a:rPr lang="en-US" sz="2000" dirty="0"/>
                  <a:t> correction: </a:t>
                </a:r>
              </a:p>
              <a:p>
                <a:pPr marL="57150" indent="0">
                  <a:buNone/>
                </a:pPr>
                <a:r>
                  <a:rPr lang="en-US" sz="2000" dirty="0"/>
                  <a:t>Define a as the slope of the downstream-peak </a:t>
                </a:r>
                <a:r>
                  <a:rPr lang="en-US" sz="2000" dirty="0" err="1"/>
                  <a:t>vz</a:t>
                </a:r>
                <a:r>
                  <a:rPr lang="en-US" sz="2000" dirty="0"/>
                  <a:t> vs cot </a:t>
                </a:r>
                <a:r>
                  <a:rPr lang="el-GR" sz="2000" dirty="0"/>
                  <a:t>θ</a:t>
                </a:r>
                <a:endParaRPr lang="en-US" sz="2000" dirty="0"/>
              </a:p>
              <a:p>
                <a:pPr marL="57150" indent="0">
                  <a:buNone/>
                </a:pPr>
                <a:r>
                  <a:rPr lang="en-US" sz="2000" dirty="0"/>
                  <a:t>How each blue point is obtained (per p bin):</a:t>
                </a:r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 every (p, </a:t>
                </a:r>
                <a:r>
                  <a:rPr lang="el-GR" sz="2000" dirty="0"/>
                  <a:t>θ) </a:t>
                </a:r>
                <a:r>
                  <a:rPr lang="en-US" sz="2000" dirty="0"/>
                  <a:t>cell, fit the downstream peak with a Gaussian→ its mean </a:t>
                </a:r>
                <a:r>
                  <a:rPr lang="el-GR" sz="2000" dirty="0"/>
                  <a:t>μ(</a:t>
                </a:r>
                <a:r>
                  <a:rPr lang="en-US" sz="2000" dirty="0"/>
                  <a:t>p, </a:t>
                </a:r>
                <a:r>
                  <a:rPr lang="el-GR" sz="2000" dirty="0"/>
                  <a:t>θ</a:t>
                </a:r>
                <a:r>
                  <a:rPr lang="en-US" sz="2000" dirty="0"/>
                  <a:t>).</a:t>
                </a:r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Convert each </a:t>
                </a:r>
                <a:r>
                  <a:rPr lang="el-GR" sz="2000" dirty="0"/>
                  <a:t>θ-</a:t>
                </a:r>
                <a:r>
                  <a:rPr lang="en-US" sz="2000" dirty="0"/>
                  <a:t>bin center to cot </a:t>
                </a:r>
                <a:r>
                  <a:rPr lang="el-GR" sz="2000" dirty="0"/>
                  <a:t>θ = 1/</a:t>
                </a:r>
                <a:r>
                  <a:rPr lang="en-US" sz="2000" dirty="0"/>
                  <a:t>tan </a:t>
                </a:r>
                <a:r>
                  <a:rPr lang="el-GR" sz="2000" dirty="0"/>
                  <a:t>θ.</a:t>
                </a:r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Do a straight-line fit of </a:t>
                </a:r>
                <a:r>
                  <a:rPr lang="el-GR" sz="2000" dirty="0"/>
                  <a:t>μ </a:t>
                </a:r>
                <a:r>
                  <a:rPr lang="en-US" sz="2000" dirty="0"/>
                  <a:t>vs cot </a:t>
                </a:r>
                <a:r>
                  <a:rPr lang="el-GR" sz="2000" dirty="0"/>
                  <a:t>θ </a:t>
                </a:r>
                <a:r>
                  <a:rPr lang="en-US" sz="2000" dirty="0"/>
                  <a:t>across the </a:t>
                </a:r>
                <a:r>
                  <a:rPr lang="el-GR" sz="2000" dirty="0"/>
                  <a:t>θ </a:t>
                </a:r>
                <a:r>
                  <a:rPr lang="en-US" sz="2000" dirty="0"/>
                  <a:t>bins: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base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 The slope is a(p) → one blue point.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0E175-4471-897D-0352-0615CEECD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33888"/>
                <a:ext cx="4309618" cy="5263122"/>
              </a:xfrm>
              <a:blipFill>
                <a:blip r:embed="rId2"/>
                <a:stretch>
                  <a:fillRect l="-294" t="-723" r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6DE40-634B-6437-8CC3-0FD061C7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E86C5-59DE-A182-C626-DDC5A883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2E877-994F-075F-5795-58873E76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CB977-A010-BD27-A46B-071D986F1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618" y="716973"/>
            <a:ext cx="7772400" cy="54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6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4659-BF2E-1B45-0E8A-4353940D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F4F1-57D0-8C5B-ED06-2B6CA0A4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4178C4-81D6-C3AB-8051-1AEA55F4A7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33888"/>
                <a:ext cx="4309618" cy="5263122"/>
              </a:xfrm>
            </p:spPr>
            <p:txBody>
              <a:bodyPr>
                <a:normAutofit/>
              </a:bodyPr>
              <a:lstStyle/>
              <a:p>
                <a:pPr marL="57150" indent="0">
                  <a:buNone/>
                </a:pPr>
                <a:r>
                  <a:rPr lang="en-US" sz="2000" dirty="0"/>
                  <a:t>Work on a simpler </a:t>
                </a:r>
                <a:r>
                  <a:rPr lang="en-US" sz="2000" dirty="0" err="1"/>
                  <a:t>Vz</a:t>
                </a:r>
                <a:r>
                  <a:rPr lang="en-US" sz="2000" dirty="0"/>
                  <a:t> correction: </a:t>
                </a:r>
              </a:p>
              <a:p>
                <a:pPr marL="57150" indent="0">
                  <a:buNone/>
                </a:pPr>
                <a:r>
                  <a:rPr lang="en-US" sz="2000" dirty="0"/>
                  <a:t>Define a as the slope of the downstream-peak </a:t>
                </a:r>
                <a:r>
                  <a:rPr lang="en-US" sz="2000" dirty="0" err="1"/>
                  <a:t>vz</a:t>
                </a:r>
                <a:r>
                  <a:rPr lang="en-US" sz="2000" dirty="0"/>
                  <a:t> vs cot </a:t>
                </a:r>
                <a:r>
                  <a:rPr lang="el-GR" sz="2000" dirty="0"/>
                  <a:t>θ</a:t>
                </a:r>
                <a:endParaRPr lang="en-US" sz="2000" dirty="0"/>
              </a:p>
              <a:p>
                <a:pPr marL="57150" indent="0">
                  <a:buNone/>
                </a:pPr>
                <a:r>
                  <a:rPr lang="en-US" sz="2000" dirty="0"/>
                  <a:t>How each blue point is obtained (per p bin):</a:t>
                </a:r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 every (p, </a:t>
                </a:r>
                <a:r>
                  <a:rPr lang="el-GR" sz="2000" dirty="0"/>
                  <a:t>θ) </a:t>
                </a:r>
                <a:r>
                  <a:rPr lang="en-US" sz="2000" dirty="0"/>
                  <a:t>cell, fit the downstream peak with a Gaussian→ its mean </a:t>
                </a:r>
                <a:r>
                  <a:rPr lang="el-GR" sz="2000" dirty="0"/>
                  <a:t>μ(</a:t>
                </a:r>
                <a:r>
                  <a:rPr lang="en-US" sz="2000" dirty="0"/>
                  <a:t>p, </a:t>
                </a:r>
                <a:r>
                  <a:rPr lang="el-GR" sz="2000" dirty="0"/>
                  <a:t>θ</a:t>
                </a:r>
                <a:r>
                  <a:rPr lang="en-US" sz="2000" dirty="0"/>
                  <a:t>).</a:t>
                </a:r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Convert each </a:t>
                </a:r>
                <a:r>
                  <a:rPr lang="el-GR" sz="2000" dirty="0"/>
                  <a:t>θ-</a:t>
                </a:r>
                <a:r>
                  <a:rPr lang="en-US" sz="2000" dirty="0"/>
                  <a:t>bin center to cot </a:t>
                </a:r>
                <a:r>
                  <a:rPr lang="el-GR" sz="2000" dirty="0"/>
                  <a:t>θ = 1/</a:t>
                </a:r>
                <a:r>
                  <a:rPr lang="en-US" sz="2000" dirty="0"/>
                  <a:t>tan </a:t>
                </a:r>
                <a:r>
                  <a:rPr lang="el-GR" sz="2000" dirty="0"/>
                  <a:t>θ.</a:t>
                </a:r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Do a straight-line fit of </a:t>
                </a:r>
                <a:r>
                  <a:rPr lang="el-GR" sz="2000" dirty="0"/>
                  <a:t>μ </a:t>
                </a:r>
                <a:r>
                  <a:rPr lang="en-US" sz="2000" dirty="0"/>
                  <a:t>vs cot </a:t>
                </a:r>
                <a:r>
                  <a:rPr lang="el-GR" sz="2000" dirty="0"/>
                  <a:t>θ </a:t>
                </a:r>
                <a:r>
                  <a:rPr lang="en-US" sz="2000" dirty="0"/>
                  <a:t>across the </a:t>
                </a:r>
                <a:r>
                  <a:rPr lang="el-GR" sz="2000" dirty="0"/>
                  <a:t>θ </a:t>
                </a:r>
                <a:r>
                  <a:rPr lang="en-US" sz="2000" dirty="0"/>
                  <a:t>bins: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base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marL="4000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 The slope is a(p) → one blue point.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4178C4-81D6-C3AB-8051-1AEA55F4A7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33888"/>
                <a:ext cx="4309618" cy="5263122"/>
              </a:xfrm>
              <a:blipFill>
                <a:blip r:embed="rId2"/>
                <a:stretch>
                  <a:fillRect l="-294" t="-723" r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D207E-469B-9B93-A2E9-746A1111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8C1E3-EACB-0B2D-D187-F442912E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95C58-5985-126E-156E-157BB5F9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10E09-8417-53BD-48D8-EBBE719AD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418" y="669605"/>
            <a:ext cx="7958582" cy="618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3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A713-B06D-FE46-344F-F95572C7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6BBD-BB0D-F7F3-7A6A-9C7FD187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A8BF4-D99A-FD80-58FC-78257F42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3335D-AD10-2E2B-CCE7-96032039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0DE45-2EB2-431B-E792-565F40E6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CCF641-1338-49E8-9EE5-6AA531B1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8493"/>
            <a:ext cx="12128922" cy="489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8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70AA-B93A-F288-F64E-E8C343EC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FAC4-AB1B-B8CA-34F2-B70E4443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B2E7C-5938-BE47-1446-A90B8E2D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14A4-07F9-AE9D-D0CA-FB0334CD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37BF8-CF96-C8CE-37AB-5AD5DB21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3D0F9-C42C-5C5A-DB72-06A8136DA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9" y="987607"/>
            <a:ext cx="11829881" cy="539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20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B2FE-DA02-824F-C287-4D52E173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2DB2-1773-55F2-77F5-F296909B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Pi0 Binning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8B4B-E2D4-33EB-DC72-1528459C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8619F-BE4D-0D61-31A2-8BB27C57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0D676-1DDD-217D-85C5-B05BF546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67016-38EA-B311-631F-2111CB604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58" y="1122630"/>
            <a:ext cx="11876884" cy="39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36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C324-E4ED-AF57-386C-51EEB9E6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030D-4486-E06D-C1C7-3D2748EB7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4640043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First on elastic D2 run: 22990 </a:t>
            </a:r>
          </a:p>
          <a:p>
            <a:r>
              <a:rPr lang="en-US" dirty="0"/>
              <a:t>It is simpler, almost no noise/bad hits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FA8C6-9F4A-1AF4-F884-2FA51D26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5998-064A-03DC-4AE7-1F28BC29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0D569-5FC8-56FC-01B5-DE953F0B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D471AD-70A6-5EFA-A0F9-46A4DD9F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648" y="809204"/>
            <a:ext cx="7670352" cy="582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6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79BF-60DD-C628-81A2-2EA57B82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A051-77F7-41EA-323C-554FACFB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09BDA-9841-8033-F2A7-64C077A37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5056269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First on elastic D2 run: 22990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B9FF2-4EF6-F8A0-CF54-1972880B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0B080-D9AC-9981-3FD3-3D6547D25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105D-A9D2-09CF-655A-703D4572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916DB-A9F6-10DE-0CCB-E54F4C5A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596" y="653746"/>
            <a:ext cx="7045422" cy="618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2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BD9C-0555-7543-ABCD-A0C19EF2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7F6B-D3D2-CDBF-8524-3427A02E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D74E-B1EE-0269-2832-E16C44421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3" y="1032481"/>
            <a:ext cx="4534846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Then on </a:t>
            </a:r>
            <a:r>
              <a:rPr lang="en-US" baseline="30000" dirty="0"/>
              <a:t>4</a:t>
            </a:r>
            <a:r>
              <a:rPr lang="en-US" dirty="0"/>
              <a:t>He 10.6 GeV run (22083)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4C1D3-BD3A-B5A1-7939-80716353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1E182-35D5-9F10-00D6-1D600049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33A8-5B7A-4C12-2B18-C58427CC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0AA67C-F251-ED4B-69EE-09B3CA45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829" y="145743"/>
            <a:ext cx="7547171" cy="671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17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8C2D-3D1E-F879-6C5B-68CBA3DF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86B1-14B9-632A-0C91-2A79D9D2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14CCD-E577-D740-B703-3199144C2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3" y="1032481"/>
            <a:ext cx="4728718" cy="5087667"/>
          </a:xfrm>
        </p:spPr>
        <p:txBody>
          <a:bodyPr/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Then on D2 10.6 GeV run (22598)</a:t>
            </a:r>
          </a:p>
          <a:p>
            <a:r>
              <a:rPr lang="en-US" dirty="0"/>
              <a:t>Need to select hits on track:</a:t>
            </a:r>
          </a:p>
          <a:p>
            <a:pPr lvl="1"/>
            <a:r>
              <a:rPr lang="en-US" dirty="0"/>
              <a:t>At least one hits per layer/superlayer</a:t>
            </a:r>
          </a:p>
          <a:p>
            <a:pPr lvl="1"/>
            <a:r>
              <a:rPr lang="en-US" dirty="0"/>
              <a:t>p &gt; 50MeV</a:t>
            </a:r>
          </a:p>
          <a:p>
            <a:pPr lvl="1"/>
            <a:r>
              <a:rPr lang="en-US" dirty="0"/>
              <a:t>ADC &gt; 500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48B7B-F704-A95F-9FB9-BA2C3147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A869D-817A-A711-96BF-C47A344A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ADEF5-A712-14A8-7A31-E498A1D6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4A750B-6B47-C013-332D-75691AC4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237" y="218485"/>
            <a:ext cx="7618763" cy="663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42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C369F-AF76-17B2-7379-3A14B5FC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42CC-2488-7200-B91F-70248893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7D44B-9412-937A-D84B-B29324199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To find T0:</a:t>
            </a:r>
          </a:p>
          <a:p>
            <a:r>
              <a:rPr lang="en-US" dirty="0"/>
              <a:t>Find the peak (5-bin method):</a:t>
            </a:r>
          </a:p>
          <a:p>
            <a:pPr lvl="1"/>
            <a:r>
              <a:rPr lang="en-US" dirty="0"/>
              <a:t>Smooth the spectrum with a 5-bin moving sum (each bin replaced by the sum of itself ±2 </a:t>
            </a:r>
            <a:r>
              <a:rPr lang="en-US" dirty="0" err="1"/>
              <a:t>neighbours</a:t>
            </a:r>
            <a:r>
              <a:rPr lang="en-US" dirty="0"/>
              <a:t>) to suppress bin-to-bin noise.</a:t>
            </a:r>
          </a:p>
          <a:p>
            <a:pPr lvl="1"/>
            <a:r>
              <a:rPr lang="en-US" dirty="0"/>
              <a:t>Take the max bin of the smoothed spectrum as the coarse peak.</a:t>
            </a:r>
          </a:p>
          <a:p>
            <a:r>
              <a:rPr lang="en-US" dirty="0"/>
              <a:t>Define t0: t0 = peak − 100 ns. </a:t>
            </a:r>
          </a:p>
          <a:p>
            <a:r>
              <a:rPr lang="en-US" dirty="0"/>
              <a:t>Fill every wire (all 576 from geometry):</a:t>
            </a:r>
          </a:p>
          <a:p>
            <a:pPr lvl="1"/>
            <a:r>
              <a:rPr lang="en-US" dirty="0"/>
              <a:t>a wire with a good peak → its measured peak − 100.</a:t>
            </a:r>
          </a:p>
          <a:p>
            <a:pPr lvl="1"/>
            <a:r>
              <a:rPr lang="en-US" dirty="0"/>
              <a:t>a wire with too few counts / no usable peak → the per-(</a:t>
            </a:r>
            <a:r>
              <a:rPr lang="en-US" dirty="0" err="1"/>
              <a:t>SL,layer</a:t>
            </a:r>
            <a:r>
              <a:rPr lang="en-US" dirty="0"/>
              <a:t>) median t0 as a fallback (no wire left blank).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A915A-FF95-23D8-08B3-1698D98F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5FBF8-85A9-D645-A824-0E4AE060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FF875-5BC7-09FC-1A1C-EA795486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7CDD-4531-52F6-94E4-2B86800C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1402-908D-3E5D-92E2-564599BBE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T0 Calibration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83218E-664C-5AE0-0E37-5A3E81AD4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14"/>
          <a:stretch>
            <a:fillRect/>
          </a:stretch>
        </p:blipFill>
        <p:spPr>
          <a:xfrm>
            <a:off x="2532733" y="784547"/>
            <a:ext cx="6141929" cy="54567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2C274-A400-4E67-D102-CA160FE9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67A97-CA6F-5EDB-758E-6AD273E0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914FA-6F5C-DE84-F54C-83825807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68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E375-5A10-4EC6-E1C9-0860EDEC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0CD2-F0DD-3468-C61C-E445D193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956A-5FD8-3172-EC3A-218CE828B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All T0s for 1 run (22083):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F092-1B03-4621-3A61-F9E29B47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0E69F-E6BC-F38A-384F-F4C277F8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810DD-898C-5402-275C-110E81E9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CA7026-8B8F-F814-E13A-40D7483C3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52574"/>
            <a:ext cx="12143337" cy="38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0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AA68-7495-22A5-4E65-5B2EFD9B6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81E4-7175-30DC-B50F-1C6368F4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C350-9D9B-5228-15DE-B1239D4A5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9618" cy="5087667"/>
          </a:xfrm>
        </p:spPr>
        <p:txBody>
          <a:bodyPr>
            <a:normAutofit/>
          </a:bodyPr>
          <a:lstStyle/>
          <a:p>
            <a:r>
              <a:rPr lang="en-US" dirty="0"/>
              <a:t>Compare T0s for different runs: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96FD7-6A83-584F-08A3-EA90F961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88994-898B-D447-E17C-0BB71C29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4506-21A0-7BEB-FEE2-E28E4C0B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91B8AB-7562-F702-8ACF-4545E736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7503"/>
            <a:ext cx="12139598" cy="419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99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1AD51-04F2-C8A5-2493-BA435D4A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A82F-8177-6FB0-61C3-A749BFF8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T0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8CB2-123A-912A-376D-873C4A38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481"/>
            <a:ext cx="4369699" cy="5087667"/>
          </a:xfrm>
        </p:spPr>
        <p:txBody>
          <a:bodyPr>
            <a:normAutofit/>
          </a:bodyPr>
          <a:lstStyle/>
          <a:p>
            <a:r>
              <a:rPr lang="en-US" dirty="0"/>
              <a:t>Extraction of T0 for the AHDC</a:t>
            </a:r>
          </a:p>
          <a:p>
            <a:r>
              <a:rPr lang="en-US" dirty="0"/>
              <a:t>On 4He 10.6 GeV run (22083)</a:t>
            </a:r>
          </a:p>
          <a:p>
            <a:r>
              <a:rPr lang="en-US" dirty="0"/>
              <a:t>For all hits coming from random trigger</a:t>
            </a:r>
          </a:p>
          <a:p>
            <a:r>
              <a:rPr lang="en-US" dirty="0"/>
              <a:t>Can be use to subtract the background below the peak</a:t>
            </a:r>
          </a:p>
          <a:p>
            <a:endParaRPr lang="en-US" dirty="0"/>
          </a:p>
          <a:p>
            <a:r>
              <a:rPr lang="en-US" dirty="0"/>
              <a:t>Purple is after the background </a:t>
            </a:r>
            <a:r>
              <a:rPr lang="en-US" dirty="0" err="1"/>
              <a:t>substraction</a:t>
            </a: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C5006-F9F0-EB03-9248-CAA66AB90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CCFEA-54BF-5E1E-2D9F-3FEE664C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9700-92DF-1ABE-98A4-5E43163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830D9F-6286-00C7-76CD-01E58D60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219" y="436970"/>
            <a:ext cx="7321781" cy="6392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04D7EE-F2D1-1304-94ED-F6720B84D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62" y="28886"/>
            <a:ext cx="11887038" cy="39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1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F3DD-0CA4-5FFC-E807-0305D9CC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</a:t>
            </a:r>
            <a:r>
              <a:rPr lang="en-US" dirty="0" err="1"/>
              <a:t>Beamspot</a:t>
            </a:r>
            <a:r>
              <a:rPr lang="en-US" dirty="0"/>
              <a:t>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0EEFE-A0A7-638A-1209-2B197003B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700411"/>
            <a:ext cx="11922474" cy="4419737"/>
          </a:xfrm>
        </p:spPr>
        <p:txBody>
          <a:bodyPr/>
          <a:lstStyle/>
          <a:p>
            <a:r>
              <a:rPr lang="en-US" dirty="0"/>
              <a:t>Measure the transverse (𝑥, 𝑦) offset between the ALERT recoil detector and the forward- CLAS / beamline frame using coherent elastic 𝑒 + 𝑑 → 𝑒′ + 𝑑′ events. </a:t>
            </a:r>
          </a:p>
          <a:p>
            <a:r>
              <a:rPr lang="en-US" dirty="0"/>
              <a:t>The electron is reconstructed in forward CLAS (defining the CLAS frame); the recoil deuteron is seen in ALERT/AHDC.</a:t>
            </a:r>
          </a:p>
          <a:p>
            <a:r>
              <a:rPr lang="en-US" dirty="0"/>
              <a:t>For elastic kinematic: the two are coplanar, so a transverse misalignment appears as a sinusoidal modulation of the azimuthal coplanarity </a:t>
            </a:r>
            <a:r>
              <a:rPr lang="el-GR" dirty="0"/>
              <a:t>Δ𝜑 </a:t>
            </a:r>
            <a:r>
              <a:rPr lang="en-US" dirty="0"/>
              <a:t>versus the electron azimuth 𝜑𝑒.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6B60-4EF2-3936-4BD0-08F65A8A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9E67A-519B-6695-0838-18C2EA30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D23E9-B770-F507-F60B-DBEE9AB6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2D65B-A5A6-D55F-218C-1B386E176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61" y="4577984"/>
            <a:ext cx="7772400" cy="6665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0D174B-3BB5-54FF-56C4-AE42F0B644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7"/>
          <a:stretch>
            <a:fillRect/>
          </a:stretch>
        </p:blipFill>
        <p:spPr>
          <a:xfrm>
            <a:off x="1225061" y="5342444"/>
            <a:ext cx="365252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007241-1741-BDE3-13A7-007962B6A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666" y="16635"/>
            <a:ext cx="3983334" cy="168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8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A9BB-979F-5B4A-E22F-FE9DF671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F72D-09B8-F829-D2B0-0ECD4198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</a:t>
            </a:r>
            <a:r>
              <a:rPr lang="en-US" dirty="0" err="1"/>
              <a:t>Beamspot</a:t>
            </a:r>
            <a:r>
              <a:rPr lang="en-US" dirty="0"/>
              <a:t>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CAE7-252B-3BFC-E746-1DBC10969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test it on simulation: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36C6-8CB9-7F1E-2097-C5AF939A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2EE88-814F-A148-BADD-4B1C504F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04F7-7ECE-0F7C-B015-CFC122BD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BA3AD5-864B-8F06-5019-C01C58EC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0" y="1448577"/>
            <a:ext cx="8676640" cy="484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95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C68D-4E5C-ACD7-0227-DADCA962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3A60-D3FC-4877-B2D0-68981F14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</a:t>
            </a:r>
            <a:r>
              <a:rPr lang="en-US" dirty="0" err="1"/>
              <a:t>Beamspot</a:t>
            </a:r>
            <a:r>
              <a:rPr lang="en-US" dirty="0"/>
              <a:t>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F8831-1B0B-793E-EAC4-D707993B3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on real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A885B-D781-B889-EB6A-8234C9E2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687FE-467D-4657-2D51-5A68AA61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56420-F45F-5937-CA66-B11A49D1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B7636-A452-81D8-C833-9266B73DF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673"/>
          <a:stretch>
            <a:fillRect/>
          </a:stretch>
        </p:blipFill>
        <p:spPr>
          <a:xfrm>
            <a:off x="15526" y="1654588"/>
            <a:ext cx="5080015" cy="3882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4ABD18-758D-9327-8A64-C0986326B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541" y="1536507"/>
            <a:ext cx="7080933" cy="388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17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589E-40D7-EAC8-6196-C1BB82C2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2F2E-E1B3-8FD8-8E61-77985547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</a:t>
            </a:r>
            <a:r>
              <a:rPr lang="en-US" dirty="0" err="1"/>
              <a:t>Beamspot</a:t>
            </a:r>
            <a:r>
              <a:rPr lang="en-US" dirty="0"/>
              <a:t>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72BC-276C-17EF-A1F5-2B0E59BFD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on data found:</a:t>
            </a:r>
          </a:p>
          <a:p>
            <a:endParaRPr lang="en-US" dirty="0"/>
          </a:p>
          <a:p>
            <a:r>
              <a:rPr lang="en-US" dirty="0"/>
              <a:t>It is the difference between CLAS and ALERT </a:t>
            </a:r>
            <a:r>
              <a:rPr lang="en-US" dirty="0" err="1"/>
              <a:t>beamspot</a:t>
            </a:r>
            <a:r>
              <a:rPr lang="en-US" dirty="0"/>
              <a:t> NOT the absolute </a:t>
            </a:r>
            <a:r>
              <a:rPr lang="en-US" dirty="0" err="1"/>
              <a:t>beamspot</a:t>
            </a:r>
            <a:r>
              <a:rPr lang="en-US" dirty="0"/>
              <a:t> position of ALERT</a:t>
            </a:r>
          </a:p>
          <a:p>
            <a:r>
              <a:rPr lang="en-US" dirty="0"/>
              <a:t>For the run 22990, CLAS absolute position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So, the absolute ALERT </a:t>
            </a:r>
            <a:r>
              <a:rPr lang="en-US" dirty="0" err="1"/>
              <a:t>beamspot</a:t>
            </a:r>
            <a:r>
              <a:rPr lang="en-US" dirty="0"/>
              <a:t> position is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3DF54-AAA5-D3D8-5A57-47343B05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E4D0E-63C3-A176-BC6D-F0D29C4A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2C7E-FE16-F0F4-5C69-6E34470F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18C16-D04B-93CE-838D-A42152B3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283" y="3311768"/>
            <a:ext cx="6477000" cy="80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72E79-37F1-9241-5941-FC8C3F14F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811" y="1052403"/>
            <a:ext cx="7235930" cy="777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C3E0FB-AA0A-69A5-768A-367D3881F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360" y="5144617"/>
            <a:ext cx="9364219" cy="66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6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</a:t>
            </a:r>
          </a:p>
          <a:p>
            <a:pPr lvl="1"/>
            <a:r>
              <a:rPr lang="en-US" dirty="0"/>
              <a:t>Write README and analysis details about the all my codes</a:t>
            </a:r>
          </a:p>
          <a:p>
            <a:pPr lvl="1"/>
            <a:r>
              <a:rPr lang="en-US" dirty="0"/>
              <a:t>Write documentation and organize my codes </a:t>
            </a:r>
          </a:p>
          <a:p>
            <a:pPr lvl="1"/>
            <a:r>
              <a:rPr lang="en-US" dirty="0"/>
              <a:t>Write analysis note for pi0</a:t>
            </a:r>
          </a:p>
          <a:p>
            <a:pPr marL="0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/>
              <a:t>ALERT: </a:t>
            </a:r>
          </a:p>
          <a:p>
            <a:pPr lvl="1"/>
            <a:r>
              <a:rPr lang="en-US" dirty="0"/>
              <a:t>Work on the beam position calibration for AHDC and T0 extraction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07/14/26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86AE-223C-803F-A19B-9CAD3911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20699</TotalTime>
  <Words>867</Words>
  <Application>Microsoft Macintosh PowerPoint</Application>
  <PresentationFormat>Widescreen</PresentationFormat>
  <Paragraphs>159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Fira Sans</vt:lpstr>
      <vt:lpstr>Fira Sans Light</vt:lpstr>
      <vt:lpstr>Office Theme</vt:lpstr>
      <vt:lpstr>Group meeting</vt:lpstr>
      <vt:lpstr>RG-D: Vz Correction</vt:lpstr>
      <vt:lpstr>RG-D: Vz Correction</vt:lpstr>
      <vt:lpstr>RG-D: Vz Correction</vt:lpstr>
      <vt:lpstr>RG-D: Vz Correction</vt:lpstr>
      <vt:lpstr>RG-D: Pi0 Binning</vt:lpstr>
      <vt:lpstr>ALERT: T0 Calibration</vt:lpstr>
      <vt:lpstr>ALERT: T0 Calibration</vt:lpstr>
      <vt:lpstr>ALERT: T0 Calibration</vt:lpstr>
      <vt:lpstr>ALERT: T0 Calibration</vt:lpstr>
      <vt:lpstr>ALERT: T0 Calibration</vt:lpstr>
      <vt:lpstr>ALERT: T0 Calibration</vt:lpstr>
      <vt:lpstr>T0 Calibration</vt:lpstr>
      <vt:lpstr>T0 Calibration</vt:lpstr>
      <vt:lpstr>T0 Calibration</vt:lpstr>
      <vt:lpstr>ALERT Beamspot position</vt:lpstr>
      <vt:lpstr>ALERT Beamspot position</vt:lpstr>
      <vt:lpstr>ALERT Beamspot position</vt:lpstr>
      <vt:lpstr>ALERT Beamspot position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825</cp:revision>
  <dcterms:created xsi:type="dcterms:W3CDTF">2019-12-03T01:04:10Z</dcterms:created>
  <dcterms:modified xsi:type="dcterms:W3CDTF">2026-07-14T17:48:13Z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