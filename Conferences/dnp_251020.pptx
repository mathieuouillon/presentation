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Sofia Sans"/>
      <p:regular r:id="rId18"/>
      <p:bold r:id="rId19"/>
      <p:italic r:id="rId20"/>
      <p:boldItalic r:id="rId21"/>
    </p:embeddedFont>
    <p:embeddedFont>
      <p:font typeface="Epilogue Black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fiaSans-italic.fntdata"/><Relationship Id="rId11" Type="http://schemas.openxmlformats.org/officeDocument/2006/relationships/slide" Target="slides/slide5.xml"/><Relationship Id="rId22" Type="http://schemas.openxmlformats.org/officeDocument/2006/relationships/font" Target="fonts/EpilogueBlack-bold.fntdata"/><Relationship Id="rId10" Type="http://schemas.openxmlformats.org/officeDocument/2006/relationships/slide" Target="slides/slide4.xml"/><Relationship Id="rId21" Type="http://schemas.openxmlformats.org/officeDocument/2006/relationships/font" Target="fonts/Sofia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EpilogueBlack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Sofia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Sofia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c491943ce_2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8c491943ce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c491943ce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8c491943ce_2_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c491943ce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8c491943ce_2_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c491943ce_2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8c491943ce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c491943c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8c491943ce_2_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c491943ce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8c491943ce_2_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c491943ce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8c491943ce_2_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c491943ce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8c491943ce_2_10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c491943ce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8c491943ce_2_1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c491943ce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8c491943ce_2_1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c491943ce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8c491943ce_2_1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2249956" y="309150"/>
            <a:ext cx="6124021" cy="250720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None/>
              <a:defRPr sz="4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None/>
              <a:defRPr sz="4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None/>
              <a:defRPr sz="4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None/>
              <a:defRPr sz="4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None/>
              <a:defRPr sz="4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None/>
              <a:defRPr sz="4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None/>
              <a:defRPr sz="4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None/>
              <a:defRPr sz="4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249956" y="2898080"/>
            <a:ext cx="4794901" cy="411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257635" y="0"/>
            <a:ext cx="1435608" cy="5143500"/>
          </a:xfrm>
          <a:prstGeom prst="rect">
            <a:avLst/>
          </a:prstGeom>
          <a:solidFill>
            <a:srgbClr val="5BB2AF">
              <a:alpha val="6980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562435" y="0"/>
            <a:ext cx="1435608" cy="5143500"/>
          </a:xfrm>
          <a:prstGeom prst="rect">
            <a:avLst/>
          </a:prstGeom>
          <a:solidFill>
            <a:srgbClr val="4689AB">
              <a:alpha val="6980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4059" y="4527880"/>
            <a:ext cx="3202731" cy="61561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idx="10" type="dt"/>
          </p:nvPr>
        </p:nvSpPr>
        <p:spPr>
          <a:xfrm>
            <a:off x="7327230" y="2898080"/>
            <a:ext cx="1449805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BB2AF">
              <a:alpha val="6980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256032" y="0"/>
            <a:ext cx="8199120" cy="6522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256032" y="652272"/>
            <a:ext cx="7447968" cy="11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☐"/>
              <a:defRPr>
                <a:solidFill>
                  <a:srgbClr val="333333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800" u="none" cap="none" strike="noStrike">
                <a:solidFill>
                  <a:srgbClr val="4B3832"/>
                </a:solidFill>
                <a:latin typeface="Sofia Sans"/>
                <a:ea typeface="Sofia Sans"/>
                <a:cs typeface="Sofia Sans"/>
                <a:sym typeface="Sofi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800" u="none" cap="none" strike="noStrike">
                <a:solidFill>
                  <a:srgbClr val="4B3832"/>
                </a:solidFill>
                <a:latin typeface="Sofia Sans"/>
                <a:ea typeface="Sofia Sans"/>
                <a:cs typeface="Sofia Sans"/>
                <a:sym typeface="Sofi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800" u="none" cap="none" strike="noStrike">
                <a:solidFill>
                  <a:srgbClr val="4B3832"/>
                </a:solidFill>
                <a:latin typeface="Sofia Sans"/>
                <a:ea typeface="Sofia Sans"/>
                <a:cs typeface="Sofia Sans"/>
                <a:sym typeface="Sofi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800" u="none" cap="none" strike="noStrike">
                <a:solidFill>
                  <a:srgbClr val="4B3832"/>
                </a:solidFill>
                <a:latin typeface="Sofia Sans"/>
                <a:ea typeface="Sofia Sans"/>
                <a:cs typeface="Sofia Sans"/>
                <a:sym typeface="Sofi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800" u="none" cap="none" strike="noStrike">
                <a:solidFill>
                  <a:srgbClr val="4B3832"/>
                </a:solidFill>
                <a:latin typeface="Sofia Sans"/>
                <a:ea typeface="Sofia Sans"/>
                <a:cs typeface="Sofia Sans"/>
                <a:sym typeface="Sofi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800" u="none" cap="none" strike="noStrike">
                <a:solidFill>
                  <a:srgbClr val="4B3832"/>
                </a:solidFill>
                <a:latin typeface="Sofia Sans"/>
                <a:ea typeface="Sofia Sans"/>
                <a:cs typeface="Sofia Sans"/>
                <a:sym typeface="Sofi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800" u="none" cap="none" strike="noStrike">
                <a:solidFill>
                  <a:srgbClr val="4B3832"/>
                </a:solidFill>
                <a:latin typeface="Sofia Sans"/>
                <a:ea typeface="Sofia Sans"/>
                <a:cs typeface="Sofia Sans"/>
                <a:sym typeface="Sofi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800" u="none" cap="none" strike="noStrike">
                <a:solidFill>
                  <a:srgbClr val="4B3832"/>
                </a:solidFill>
                <a:latin typeface="Sofia Sans"/>
                <a:ea typeface="Sofia Sans"/>
                <a:cs typeface="Sofia Sans"/>
                <a:sym typeface="Sofi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800" u="none" cap="none" strike="noStrike">
                <a:solidFill>
                  <a:srgbClr val="4B3832"/>
                </a:solidFill>
                <a:latin typeface="Sofia Sans"/>
                <a:ea typeface="Sofia Sans"/>
                <a:cs typeface="Sofia Sans"/>
                <a:sym typeface="Sofi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15"/>
          <p:cNvCxnSpPr/>
          <p:nvPr/>
        </p:nvCxnSpPr>
        <p:spPr>
          <a:xfrm rot="10800000">
            <a:off x="256032" y="4895722"/>
            <a:ext cx="8887968" cy="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5"/>
          <p:cNvSpPr txBox="1"/>
          <p:nvPr/>
        </p:nvSpPr>
        <p:spPr>
          <a:xfrm>
            <a:off x="256032" y="4895720"/>
            <a:ext cx="4368868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Mathieu Ouillon</a:t>
            </a:r>
            <a:endParaRPr/>
          </a:p>
        </p:txBody>
      </p:sp>
      <p:cxnSp>
        <p:nvCxnSpPr>
          <p:cNvPr id="69" name="Google Shape;69;p15"/>
          <p:cNvCxnSpPr/>
          <p:nvPr/>
        </p:nvCxnSpPr>
        <p:spPr>
          <a:xfrm rot="10800000">
            <a:off x="4579815" y="4895720"/>
            <a:ext cx="0" cy="24778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>
            <a:alpha val="0"/>
          </a:schemeClr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  <a:defRPr b="0" i="0" sz="1400" u="none" cap="none" strike="noStrike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fia Sans"/>
              <a:buChar char="○"/>
              <a:defRPr b="0" i="0" sz="1400" u="none" cap="none" strike="noStrike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fia Sans"/>
              <a:buChar char="■"/>
              <a:defRPr b="0" i="0" sz="1400" u="none" cap="none" strike="noStrike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fia Sans"/>
              <a:buChar char="●"/>
              <a:defRPr b="0" i="0" sz="1400" u="none" cap="none" strike="noStrike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fia Sans"/>
              <a:buChar char="○"/>
              <a:defRPr b="0" i="0" sz="1400" u="none" cap="none" strike="noStrike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fia Sans"/>
              <a:buChar char="■"/>
              <a:defRPr b="0" i="0" sz="1400" u="none" cap="none" strike="noStrike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fia Sans"/>
              <a:buChar char="●"/>
              <a:defRPr b="0" i="0" sz="1400" u="none" cap="none" strike="noStrike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fia Sans"/>
              <a:buChar char="○"/>
              <a:defRPr b="0" i="0" sz="1400" u="none" cap="none" strike="noStrike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fia Sans"/>
              <a:buChar char="■"/>
              <a:defRPr b="0" i="0" sz="1400" u="none" cap="none" strike="noStrike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1985558" y="274452"/>
            <a:ext cx="7153359" cy="250720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None/>
            </a:pPr>
            <a:r>
              <a:rPr lang="en" sz="3200"/>
              <a:t>Refinement of AI-assisted Track Reconstruction and Particle Identification for CLAS12 ALERT Experiment at Jefferson Lab</a:t>
            </a:r>
            <a:endParaRPr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098562" y="3507696"/>
            <a:ext cx="4794901" cy="41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Mathieu Ouillon (Mississippi State University)</a:t>
            </a:r>
            <a:endParaRPr/>
          </a:p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7694195" y="3408688"/>
            <a:ext cx="1449805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1004637" y="1052763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4143" y="4447355"/>
            <a:ext cx="1300510" cy="69619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3813001" y="2979687"/>
            <a:ext cx="51635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Sofia Sans"/>
                <a:ea typeface="Sofia Sans"/>
                <a:cs typeface="Sofia Sans"/>
                <a:sym typeface="Sofia Sans"/>
              </a:rPr>
              <a:t>Fall Meeting of the APS Division of Nuclear Physics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356" y="4447353"/>
            <a:ext cx="2485844" cy="69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494" y="1406033"/>
            <a:ext cx="2085080" cy="25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type="title"/>
          </p:nvPr>
        </p:nvSpPr>
        <p:spPr>
          <a:xfrm>
            <a:off x="256032" y="0"/>
            <a:ext cx="8199120" cy="6522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ALERT Physics Program </a:t>
            </a:r>
            <a:endParaRPr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DNP Chicago 2025</a:t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256032" y="542138"/>
            <a:ext cx="8500618" cy="11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☐"/>
            </a:pPr>
            <a:r>
              <a:rPr lang="en" sz="1600"/>
              <a:t>Comprehensive studies of QCD in nuclei and associated medium modifications</a:t>
            </a:r>
            <a:endParaRPr/>
          </a:p>
          <a:p>
            <a:pPr indent="-1005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91" name="Google Shape;91;p17"/>
          <p:cNvSpPr txBox="1"/>
          <p:nvPr/>
        </p:nvSpPr>
        <p:spPr>
          <a:xfrm>
            <a:off x="674023" y="1056605"/>
            <a:ext cx="2214023" cy="3385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Coherent DVCS on </a:t>
            </a:r>
            <a:r>
              <a:rPr b="1" baseline="30000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4</a:t>
            </a: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He</a:t>
            </a:r>
            <a:endParaRPr b="0" i="0" sz="105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3761909" y="1056605"/>
            <a:ext cx="1775761" cy="338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DIS on </a:t>
            </a:r>
            <a:r>
              <a:rPr b="1" baseline="30000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4</a:t>
            </a: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He and </a:t>
            </a:r>
            <a:r>
              <a:rPr b="1" baseline="30000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2</a:t>
            </a: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H</a:t>
            </a:r>
            <a:endParaRPr b="0" i="0" sz="105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6034681" y="1056605"/>
            <a:ext cx="2764894" cy="338514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Incoherent DVCS on </a:t>
            </a:r>
            <a:r>
              <a:rPr b="1" baseline="30000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4</a:t>
            </a: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He (</a:t>
            </a:r>
            <a:r>
              <a:rPr b="1" baseline="30000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2</a:t>
            </a: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H)</a:t>
            </a:r>
            <a:endParaRPr b="0" i="0" sz="105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11841" y="3822713"/>
            <a:ext cx="3206439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Explore the partonic structure of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4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He with Generalized Parton Distributions</a:t>
            </a:r>
            <a:endParaRPr b="0" i="0" sz="12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621594" y="3822713"/>
            <a:ext cx="2214023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Test the Final State Interactions and rescaling model</a:t>
            </a:r>
            <a:endParaRPr b="0" i="0" sz="12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6034681" y="3822713"/>
            <a:ext cx="297562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Explore the 3-D structure of modified nucleons in light ions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2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H,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3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H, and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3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He (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1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 or neutron) </a:t>
            </a:r>
            <a:endParaRPr b="0" i="0" sz="12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3239" y="1445937"/>
            <a:ext cx="1927777" cy="2324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0688" y="1498996"/>
            <a:ext cx="2255436" cy="2145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256032" y="0"/>
            <a:ext cx="8199120" cy="6522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ALERT Physics Program </a:t>
            </a:r>
            <a:endParaRPr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104" name="Google Shape;104;p18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105" name="Google Shape;105;p18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DNP Chicago 2025</a:t>
            </a:r>
            <a:endParaRPr/>
          </a:p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469127" y="1056604"/>
            <a:ext cx="2418919" cy="3385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Coherent Process on </a:t>
            </a:r>
            <a:r>
              <a:rPr b="1" baseline="30000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4</a:t>
            </a: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He</a:t>
            </a:r>
            <a:endParaRPr b="0"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412712" y="1045571"/>
            <a:ext cx="2097303" cy="338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Tagged EMC effect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6034680" y="1056604"/>
            <a:ext cx="3037757" cy="338514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Incoherent </a:t>
            </a:r>
            <a:r>
              <a:rPr b="1" i="0" lang="en" sz="16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 on </a:t>
            </a:r>
            <a:r>
              <a:rPr b="1" baseline="30000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4</a:t>
            </a: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He (</a:t>
            </a:r>
            <a:r>
              <a:rPr b="1" baseline="30000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2</a:t>
            </a:r>
            <a:r>
              <a:rPr b="1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H)</a:t>
            </a:r>
            <a:endParaRPr b="0" i="0" sz="105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6275" y="1421067"/>
            <a:ext cx="2532160" cy="2137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982" y="1518967"/>
            <a:ext cx="2746042" cy="2013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6097" y="1456776"/>
            <a:ext cx="2756042" cy="213789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329221" y="3596232"/>
            <a:ext cx="2698730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Extract quark and gluon GPDs in a dense nucleus; in this case, GPD H is obtained for both quarks and gluons in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4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He</a:t>
            </a:r>
            <a:endParaRPr b="0" i="0" sz="16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3154550" y="3596232"/>
            <a:ext cx="3151725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Measure the F</a:t>
            </a:r>
            <a:r>
              <a:rPr b="0" baseline="-25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2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 structure function of a weakly bound nucleon in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4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He and compare it to the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2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 case. Control FSIs with tagged fragments</a:t>
            </a:r>
            <a:endParaRPr b="0" i="0" sz="16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6306275" y="3594673"/>
            <a:ext cx="2766162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Extract quarks GPDs for bound nucleons and thus understand the effect of FSIs</a:t>
            </a:r>
            <a:endParaRPr b="0" i="0" sz="16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256032" y="542138"/>
            <a:ext cx="8500618" cy="11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Comprehensive studies of QCD in nuclei and associated medium modifications</a:t>
            </a:r>
            <a:endParaRPr/>
          </a:p>
          <a:p>
            <a:pPr indent="-18288" lvl="0" marL="914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None/>
            </a:pPr>
            <a:r>
              <a:t/>
            </a:r>
            <a:endParaRPr b="0" i="0" sz="16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256032" y="0"/>
            <a:ext cx="8199120" cy="6522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ALERT Experiment Setup</a:t>
            </a:r>
            <a:endParaRPr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122" name="Google Shape;122;p19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123" name="Google Shape;123;p19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DNP Chicago 2025</a:t>
            </a:r>
            <a:endParaRPr/>
          </a:p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265658" y="493246"/>
            <a:ext cx="8500618" cy="5960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583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☐"/>
            </a:pPr>
            <a:r>
              <a:rPr lang="en" sz="1900">
                <a:latin typeface="Sofia Sans"/>
                <a:ea typeface="Sofia Sans"/>
                <a:cs typeface="Sofia Sans"/>
                <a:sym typeface="Sofia Sans"/>
              </a:rPr>
              <a:t>The ALERT experiment has taken place in Hall B at Jefferson Lab</a:t>
            </a:r>
            <a:endParaRPr sz="1500"/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126" name="Google Shape;126;p19"/>
          <p:cNvSpPr txBox="1"/>
          <p:nvPr/>
        </p:nvSpPr>
        <p:spPr>
          <a:xfrm>
            <a:off x="265650" y="908200"/>
            <a:ext cx="43062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583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fia Sans"/>
              <a:buChar char="☐"/>
            </a:pPr>
            <a:r>
              <a:rPr i="0" lang="en" sz="17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CLAS12: detect scattered electrons and forward-scattered hadrons</a:t>
            </a:r>
            <a:endParaRPr sz="1500">
              <a:latin typeface="Sofia Sans"/>
              <a:ea typeface="Sofia Sans"/>
              <a:cs typeface="Sofia Sans"/>
              <a:sym typeface="Sofia Sans"/>
            </a:endParaRPr>
          </a:p>
          <a:p>
            <a:pPr indent="-19583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fia Sans"/>
              <a:buChar char="☐"/>
            </a:pPr>
            <a:r>
              <a:rPr i="0" lang="en" sz="17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ALERT: detect recoil spectators or coherently scattered nucleus</a:t>
            </a:r>
            <a:endParaRPr sz="1500"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9583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fia Sans"/>
              <a:buChar char="☐"/>
            </a:pPr>
            <a:r>
              <a:rPr i="0" lang="en" sz="17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ALERT Goals: </a:t>
            </a:r>
            <a:endParaRPr sz="1500">
              <a:latin typeface="Sofia Sans"/>
              <a:ea typeface="Sofia Sans"/>
              <a:cs typeface="Sofia Sans"/>
              <a:sym typeface="Sofia Sans"/>
            </a:endParaRPr>
          </a:p>
          <a:p>
            <a:pPr indent="-144000" lvl="1" marL="37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Identifying light ions: p,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2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H,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3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H,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3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He, and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4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He</a:t>
            </a:r>
            <a:endParaRPr/>
          </a:p>
          <a:p>
            <a:pPr indent="-144000" lvl="1" marL="37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Detect the lowest momentum possible, down to 70 MeV/c for protons</a:t>
            </a:r>
            <a:endParaRPr/>
          </a:p>
          <a:p>
            <a:pPr indent="-144000" lvl="1" marL="37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Handle high CLAS12 rates and luminosities (10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35</a:t>
            </a:r>
            <a:r>
              <a:rPr b="0" baseline="-25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 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cm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2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s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-1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)</a:t>
            </a:r>
            <a:endParaRPr b="0" i="0" sz="16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9975" y="865000"/>
            <a:ext cx="4471927" cy="42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256032" y="0"/>
            <a:ext cx="8199120" cy="6522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ALERT Experiment Setup</a:t>
            </a:r>
            <a:endParaRPr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133" name="Google Shape;133;p20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134" name="Google Shape;134;p20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DNP Chicago 2025</a:t>
            </a:r>
            <a:endParaRPr/>
          </a:p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256031" y="531242"/>
            <a:ext cx="8887968" cy="6522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☐"/>
            </a:pPr>
            <a:r>
              <a:rPr lang="en" sz="1800">
                <a:latin typeface="Sofia Sans"/>
                <a:ea typeface="Sofia Sans"/>
                <a:cs typeface="Sofia Sans"/>
                <a:sym typeface="Sofia Sans"/>
              </a:rPr>
              <a:t>ALERT is composed of two sub-detectors: 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A Hyperbolic Drift Chamber (AHDC) and A Time of Flight (ATOF)</a:t>
            </a:r>
            <a:endParaRPr sz="1800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2085588" y="1250676"/>
            <a:ext cx="1594349" cy="338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ATOF</a:t>
            </a:r>
            <a:endParaRPr b="0" i="0" sz="105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2085588" y="3180216"/>
            <a:ext cx="1591750" cy="3385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2F2F2"/>
                </a:solidFill>
                <a:latin typeface="Sofia Sans"/>
                <a:ea typeface="Sofia Sans"/>
                <a:cs typeface="Sofia Sans"/>
                <a:sym typeface="Sofia Sans"/>
              </a:rPr>
              <a:t>AHDC</a:t>
            </a:r>
            <a:endParaRPr b="0" i="0" sz="105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406475" y="1550224"/>
            <a:ext cx="4332600" cy="15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Time of flight: used for Particle Identification</a:t>
            </a:r>
            <a:endParaRPr/>
          </a:p>
          <a:p>
            <a:pPr indent="-18948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Small barrel of segmented scintillators</a:t>
            </a:r>
            <a:endParaRPr/>
          </a:p>
          <a:p>
            <a:pPr indent="-18948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The TOF measurement is degenerate for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2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 and </a:t>
            </a:r>
            <a:r>
              <a:rPr b="0" baseline="3000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4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He, but </a:t>
            </a:r>
            <a:r>
              <a:rPr b="0" i="1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dE/dx </a:t>
            </a: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can distinguish the two nuclei bands</a:t>
            </a:r>
            <a:endParaRPr/>
          </a:p>
        </p:txBody>
      </p:sp>
      <p:sp>
        <p:nvSpPr>
          <p:cNvPr id="140" name="Google Shape;140;p20"/>
          <p:cNvSpPr txBox="1"/>
          <p:nvPr/>
        </p:nvSpPr>
        <p:spPr>
          <a:xfrm>
            <a:off x="406475" y="3518724"/>
            <a:ext cx="4658700" cy="1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Aluminum wire: 2 mm apart</a:t>
            </a:r>
            <a:endParaRPr sz="1600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8948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lang="en" sz="1600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20-degree stereo angle (hyperbolic shape)</a:t>
            </a:r>
            <a:endParaRPr sz="1600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8948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5 superlayers, each composed of 2 layers</a:t>
            </a:r>
            <a:endParaRPr/>
          </a:p>
          <a:p>
            <a:pPr indent="-18948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576 signal wires (6 ground wires of each signal)</a:t>
            </a:r>
            <a:endParaRPr b="0" i="0" sz="16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6956" y="1268374"/>
            <a:ext cx="4455239" cy="3208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256032" y="0"/>
            <a:ext cx="8199120" cy="6522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Track Finding</a:t>
            </a:r>
            <a:endParaRPr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147" name="Google Shape;147;p21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148" name="Google Shape;148;p21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DNP Chicago 2025</a:t>
            </a:r>
            <a:endParaRPr/>
          </a:p>
        </p:txBody>
      </p:sp>
      <p:sp>
        <p:nvSpPr>
          <p:cNvPr id="149" name="Google Shape;149;p21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256032" y="521746"/>
            <a:ext cx="4624899" cy="4243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☐"/>
            </a:pPr>
            <a:r>
              <a:rPr lang="en" sz="1800">
                <a:latin typeface="Sofia Sans"/>
                <a:ea typeface="Sofia Sans"/>
                <a:cs typeface="Sofia Sans"/>
                <a:sym typeface="Sofia Sans"/>
              </a:rPr>
              <a:t>Two stages of track reconstruction: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Track finding: Identifying which hits came from the same charged particle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Track fitting: Fitting hits to a single track to extract track parameters (momentum and position)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Hits: particles deposit energy when interacting with the detector material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Tracks: reconstructed sequences of hits representing charged particle trajectories</a:t>
            </a:r>
            <a:endParaRPr/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Sofia Sans"/>
              <a:ea typeface="Sofia Sans"/>
              <a:cs typeface="Sofia Sans"/>
              <a:sym typeface="Sofia Sans"/>
            </a:endParaRPr>
          </a:p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☐"/>
            </a:pPr>
            <a:r>
              <a:rPr lang="en" sz="1800">
                <a:latin typeface="Sofia Sans"/>
                <a:ea typeface="Sofia Sans"/>
                <a:cs typeface="Sofia Sans"/>
                <a:sym typeface="Sofia Sans"/>
              </a:rPr>
              <a:t>Different algorithms: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Distance between hits + fit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Hough transform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Combinatorial Kalman Filter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>
                <a:solidFill>
                  <a:srgbClr val="5BB2AF"/>
                </a:solidFill>
                <a:latin typeface="Sofia Sans"/>
                <a:ea typeface="Sofia Sans"/>
                <a:cs typeface="Sofia Sans"/>
                <a:sym typeface="Sofia Sans"/>
              </a:rPr>
              <a:t>Artificial Intelligence models (MLP, GNN…)</a:t>
            </a:r>
            <a:endParaRPr sz="1600">
              <a:solidFill>
                <a:srgbClr val="5BB2AF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Sofia Sans"/>
              <a:ea typeface="Sofia Sans"/>
              <a:cs typeface="Sofia Sans"/>
              <a:sym typeface="Sofia Sans"/>
            </a:endParaRPr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Sofia Sans"/>
              <a:ea typeface="Sofia Sans"/>
              <a:cs typeface="Sofia Sans"/>
              <a:sym typeface="Sofia Sans"/>
            </a:endParaRPr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Sofia Sans"/>
              <a:ea typeface="Sofia Sans"/>
              <a:cs typeface="Sofia Sans"/>
              <a:sym typeface="Sofia Sans"/>
            </a:endParaRPr>
          </a:p>
        </p:txBody>
      </p:sp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1026" y="543629"/>
            <a:ext cx="4315577" cy="4221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256032" y="0"/>
            <a:ext cx="8199120" cy="6522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AI-assisted Model and Training</a:t>
            </a:r>
            <a:endParaRPr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157" name="Google Shape;157;p22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158" name="Google Shape;158;p22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DNP Chicago 2025</a:t>
            </a:r>
            <a:endParaRPr/>
          </a:p>
        </p:txBody>
      </p:sp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256025" y="573500"/>
            <a:ext cx="8888100" cy="17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043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☐"/>
            </a:pPr>
            <a:r>
              <a:rPr lang="en" sz="1500"/>
              <a:t>Model: MultiLayer Perceptron, 10 inputs, 1/3/5 hidden layer (15/20/100 neurons), 1 output</a:t>
            </a:r>
            <a:endParaRPr sz="1500"/>
          </a:p>
          <a:p>
            <a:pPr indent="-17043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☐"/>
            </a:pPr>
            <a:r>
              <a:rPr lang="en" sz="1500"/>
              <a:t>Inputs: x and y values of the five inter-clusters </a:t>
            </a:r>
            <a:endParaRPr sz="1500"/>
          </a:p>
          <a:p>
            <a:pPr indent="-17043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☐"/>
            </a:pPr>
            <a:r>
              <a:rPr lang="en" sz="1500"/>
              <a:t>For the training ⇒ Need good and bad tracks:</a:t>
            </a:r>
            <a:endParaRPr sz="1500"/>
          </a:p>
          <a:p>
            <a:pPr indent="-131300" lvl="1" marL="37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Good tracks: GEANT4 simulation (particle with p ∈ [0.07, 1.5] GeV/c, φ ∈ [0, 360]°, θ ∈ [30, 150]° , and Vz ∈ [-15, 15] cm) </a:t>
            </a:r>
            <a:endParaRPr sz="1200"/>
          </a:p>
          <a:p>
            <a:pPr indent="-131300" lvl="1" marL="37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False tracks: Interchanging randomly up to two inter-clusters with another event</a:t>
            </a:r>
            <a:endParaRPr sz="1200"/>
          </a:p>
          <a:p>
            <a:pPr indent="-131300" lvl="1" marL="37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Generate 5M events composed of all light nuclei (flat distribution for all variables)</a:t>
            </a:r>
            <a:endParaRPr sz="1200"/>
          </a:p>
          <a:p>
            <a:pPr indent="-131300" lvl="1" marL="37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Output: Number between 0 and 1, with 0/1 means bad/good track</a:t>
            </a:r>
            <a:endParaRPr sz="1200"/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</p:txBody>
      </p:sp>
      <p:pic>
        <p:nvPicPr>
          <p:cNvPr id="161" name="Google Shape;1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612" y="2377626"/>
            <a:ext cx="5067244" cy="24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 rotWithShape="1">
          <a:blip r:embed="rId4">
            <a:alphaModFix/>
          </a:blip>
          <a:srcRect b="10569" l="3470" r="6168" t="11875"/>
          <a:stretch/>
        </p:blipFill>
        <p:spPr>
          <a:xfrm>
            <a:off x="5659060" y="2115109"/>
            <a:ext cx="3331095" cy="2731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256024" y="0"/>
            <a:ext cx="88881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/>
              <a:t>Evaluation: Efficiency and Purity vs. Background</a:t>
            </a:r>
            <a:endParaRPr sz="2400"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168" name="Google Shape;168;p23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169" name="Google Shape;169;p23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DNP Chicago 2025</a:t>
            </a:r>
            <a:endParaRPr/>
          </a:p>
        </p:txBody>
      </p:sp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256031" y="469391"/>
            <a:ext cx="8887967" cy="12639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☐"/>
            </a:pPr>
            <a:r>
              <a:rPr lang="en" sz="1800"/>
              <a:t>Threshold: if output above/lower than the threshold ⇒ good/bad tracks</a:t>
            </a:r>
            <a:endParaRPr/>
          </a:p>
        </p:txBody>
      </p:sp>
      <p:pic>
        <p:nvPicPr>
          <p:cNvPr id="172" name="Google Shape;1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1718" y="935085"/>
            <a:ext cx="5552281" cy="3522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675861" y="3172570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256030" y="4031449"/>
            <a:ext cx="3425424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70C0"/>
                </a:solidFill>
                <a:latin typeface="Sofia Sans"/>
                <a:ea typeface="Sofia Sans"/>
                <a:cs typeface="Sofia Sans"/>
                <a:sym typeface="Sofia Sans"/>
              </a:rPr>
              <a:t>Blue</a:t>
            </a:r>
            <a:r>
              <a:rPr b="0" i="0" lang="en" sz="12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: model with 20 neurons in 3 hidden layers</a:t>
            </a:r>
            <a:endParaRPr b="0" i="0" sz="12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7030A0"/>
                </a:solidFill>
                <a:latin typeface="Sofia Sans"/>
                <a:ea typeface="Sofia Sans"/>
                <a:cs typeface="Sofia Sans"/>
                <a:sym typeface="Sofia Sans"/>
              </a:rPr>
              <a:t>Violet</a:t>
            </a:r>
            <a:r>
              <a:rPr b="0" i="0" lang="en" sz="12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: model with 100 neurons in 3 hidden layers</a:t>
            </a:r>
            <a:endParaRPr b="0" i="0" sz="12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C00000"/>
                </a:solidFill>
                <a:latin typeface="Sofia Sans"/>
                <a:ea typeface="Sofia Sans"/>
                <a:cs typeface="Sofia Sans"/>
                <a:sym typeface="Sofia Sans"/>
              </a:rPr>
              <a:t>Red</a:t>
            </a:r>
            <a:r>
              <a:rPr b="0" i="0" lang="en" sz="12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: model with 20 neurons in 5 hidden layers</a:t>
            </a:r>
            <a:endParaRPr b="0" i="0" sz="12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899097"/>
                </a:solidFill>
                <a:latin typeface="Sofia Sans"/>
                <a:ea typeface="Sofia Sans"/>
                <a:cs typeface="Sofia Sans"/>
                <a:sym typeface="Sofia Sans"/>
              </a:rPr>
              <a:t>Gray</a:t>
            </a:r>
            <a:r>
              <a:rPr b="0" i="0" lang="en" sz="12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: model with 20 neurons in 1 hidden layer</a:t>
            </a:r>
            <a:endParaRPr b="0" i="0" sz="12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256025" y="784025"/>
            <a:ext cx="35436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lang="en" sz="18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To evaluate the model:</a:t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31300" lvl="1" marL="37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Efficiency: Number of good tracks classified as good normalized by the number of events.</a:t>
            </a:r>
            <a:endParaRPr sz="12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31300" lvl="1" marL="37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Purity: Number of good tracks classified as good normalized by the number of tracks (good or bad) classified as good.</a:t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18600" lvl="1" marL="37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fia Sans Light"/>
              <a:buChar char="○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Events need to have at least one track candidate.</a:t>
            </a:r>
            <a:endParaRPr sz="1200">
              <a:latin typeface="Sofia Sans"/>
              <a:ea typeface="Sofia Sans"/>
              <a:cs typeface="Sofia Sans"/>
              <a:sym typeface="Sofia Sans"/>
            </a:endParaRPr>
          </a:p>
          <a:p>
            <a:pPr indent="-118600" lvl="1" marL="37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fia Sans Light"/>
              <a:buChar char="○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Threshold (between good/bad tracks) set to 0.2 to have a higher efficiency</a:t>
            </a:r>
            <a:endParaRPr sz="12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256032" y="0"/>
            <a:ext cx="8199120" cy="6522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/>
              <a:t>Evaluation: Efficiency and Purity vs. Threshold</a:t>
            </a:r>
            <a:endParaRPr sz="2400"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181" name="Google Shape;181;p24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182" name="Google Shape;182;p24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DNP Chicago 2025</a:t>
            </a:r>
            <a:endParaRPr/>
          </a:p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256032" y="441934"/>
            <a:ext cx="85005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☐"/>
            </a:pPr>
            <a:r>
              <a:rPr lang="en" sz="1600">
                <a:latin typeface="Sofia Sans"/>
                <a:ea typeface="Sofia Sans"/>
                <a:cs typeface="Sofia Sans"/>
                <a:sym typeface="Sofia Sans"/>
              </a:rPr>
              <a:t>To evaluate the performance of the AI on real data, use electron-proton elastic scattering</a:t>
            </a:r>
            <a:endParaRPr/>
          </a:p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☐"/>
            </a:pPr>
            <a:r>
              <a:rPr lang="en" sz="1600">
                <a:latin typeface="Sofia Sans"/>
                <a:ea typeface="Sofia Sans"/>
                <a:cs typeface="Sofia Sans"/>
                <a:sym typeface="Sofia Sans"/>
              </a:rPr>
              <a:t>Selected by cut on hadronic mass W and the ϕ angle between the electron and the proton</a:t>
            </a:r>
            <a:endParaRPr/>
          </a:p>
          <a:p>
            <a:pPr indent="-1005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Sofia Sans"/>
              <a:ea typeface="Sofia Sans"/>
              <a:cs typeface="Sofia Sans"/>
              <a:sym typeface="Sofia Sans"/>
            </a:endParaRPr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85" name="Google Shape;185;p24"/>
          <p:cNvSpPr txBox="1"/>
          <p:nvPr/>
        </p:nvSpPr>
        <p:spPr>
          <a:xfrm>
            <a:off x="256025" y="1079750"/>
            <a:ext cx="33708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Threshold: if output above/lower than the threshold ⇒ good/bad tracks</a:t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44000" lvl="1" marL="37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Efficiency: Number of good tracks classified as good normalized by the number of events. </a:t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44000" lvl="1" marL="37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Purity: Number of good tracks classified as good normalized by the number of tracks (good or bad) classified as good. </a:t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We have an efficiency of </a:t>
            </a: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96</a:t>
            </a: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%, and a purity of 9</a:t>
            </a: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0</a:t>
            </a: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% at 0.2</a:t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pic>
        <p:nvPicPr>
          <p:cNvPr id="186" name="Google Shape;1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6825" y="1127823"/>
            <a:ext cx="5483426" cy="365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256032" y="0"/>
            <a:ext cx="8199120" cy="6522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/>
              <a:t>Evaluation: Efficiency and Purity vs. Momentum</a:t>
            </a:r>
            <a:endParaRPr sz="2400"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192" name="Google Shape;192;p25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193" name="Google Shape;193;p25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DNP Chicago 2025</a:t>
            </a:r>
            <a:endParaRPr/>
          </a:p>
        </p:txBody>
      </p:sp>
      <p:sp>
        <p:nvSpPr>
          <p:cNvPr id="194" name="Google Shape;194;p25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25"/>
          <p:cNvSpPr txBox="1"/>
          <p:nvPr/>
        </p:nvSpPr>
        <p:spPr>
          <a:xfrm>
            <a:off x="256032" y="441934"/>
            <a:ext cx="85005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To evaluate the performance of the AI on real data, use electron-proton elastic scattering</a:t>
            </a:r>
            <a:endParaRPr/>
          </a:p>
          <a:p>
            <a:pPr indent="-189484" lvl="0" marL="17373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b="0" i="0" lang="en" sz="16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Selected by cut on hadronic mass W and the ϕ angle between electron and proton</a:t>
            </a:r>
            <a:endParaRPr/>
          </a:p>
          <a:p>
            <a:pPr indent="1690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None/>
            </a:pPr>
            <a:r>
              <a:t/>
            </a:r>
            <a:endParaRPr b="0" i="0" sz="16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1690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None/>
            </a:pPr>
            <a:r>
              <a:t/>
            </a:r>
            <a:endParaRPr b="0" i="0" sz="16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256025" y="1159975"/>
            <a:ext cx="34152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4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fia Sans"/>
              <a:buChar char="☐"/>
            </a:pPr>
            <a:r>
              <a:rPr lang="en" sz="16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Efficiency and purity as a function of the proton momentum:</a:t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44000" lvl="1" marL="37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Efficiency: Number of good tracks classified as good normalized by the number of events. </a:t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44000" lvl="1" marL="37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Purity: Number of good tracks classified as good normalized by the number of tracks (good or bad) classified as good. </a:t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144000" lvl="1" marL="37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Momentum is computed with θ</a:t>
            </a:r>
            <a:r>
              <a:rPr baseline="-25000"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e</a:t>
            </a: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 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-144000" lvl="1" marL="37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</a:pPr>
            <a:r>
              <a:rPr lang="en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Both the efficiency and purity decrease when the momentum decreases</a:t>
            </a:r>
            <a:endParaRPr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6825" y="1159974"/>
            <a:ext cx="5517176" cy="3469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256032" y="0"/>
            <a:ext cx="8199120" cy="6522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Summary and Outlook</a:t>
            </a:r>
            <a:endParaRPr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203" name="Google Shape;203;p26"/>
          <p:cNvSpPr txBox="1"/>
          <p:nvPr>
            <p:ph idx="10" type="dt"/>
          </p:nvPr>
        </p:nvSpPr>
        <p:spPr>
          <a:xfrm>
            <a:off x="8123464" y="4895721"/>
            <a:ext cx="1020536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10/20/25</a:t>
            </a:r>
            <a:endParaRPr/>
          </a:p>
        </p:txBody>
      </p:sp>
      <p:sp>
        <p:nvSpPr>
          <p:cNvPr id="204" name="Google Shape;204;p26"/>
          <p:cNvSpPr txBox="1"/>
          <p:nvPr>
            <p:ph idx="11" type="ftr"/>
          </p:nvPr>
        </p:nvSpPr>
        <p:spPr>
          <a:xfrm>
            <a:off x="4880932" y="4895721"/>
            <a:ext cx="3242531" cy="24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DNP Chicago 2025</a:t>
            </a:r>
            <a:endParaRPr/>
          </a:p>
        </p:txBody>
      </p:sp>
      <p:sp>
        <p:nvSpPr>
          <p:cNvPr id="205" name="Google Shape;205;p26"/>
          <p:cNvSpPr txBox="1"/>
          <p:nvPr>
            <p:ph idx="12" type="sldNum"/>
          </p:nvPr>
        </p:nvSpPr>
        <p:spPr>
          <a:xfrm>
            <a:off x="8455152" y="1"/>
            <a:ext cx="688847" cy="652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305375" y="536850"/>
            <a:ext cx="8838600" cy="3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75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☐"/>
            </a:pPr>
            <a:r>
              <a:rPr lang="en" sz="2000"/>
              <a:t>ALERT physics program: </a:t>
            </a:r>
            <a:endParaRPr sz="2000"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Tagged processes will provide insight into the origin of the EMC effect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Tagged DIS measurements will help differentiate between models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Tagged DVCS will bridge gap between partonic and nucleonic interpretations of the EMC ratio</a:t>
            </a:r>
            <a:endParaRPr sz="1800"/>
          </a:p>
          <a:p>
            <a:pPr indent="-227584" lvl="0" marL="173736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☐"/>
            </a:pPr>
            <a:r>
              <a:rPr lang="en" sz="2000"/>
              <a:t>We have developed an AI-assisted MLP for track finding:</a:t>
            </a:r>
            <a:endParaRPr sz="2000"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Evaluated the model's efficiency and purity as a function of momentum, threshold, and current on simulation and data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Compared efficiency of conventional and AI-assisted algorithms</a:t>
            </a:r>
            <a:endParaRPr sz="1600"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Efficiency is always higher than 90%</a:t>
            </a:r>
            <a:endParaRPr sz="1600"/>
          </a:p>
          <a:p>
            <a:pPr indent="-227584" lvl="0" marL="1737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☐"/>
            </a:pPr>
            <a:r>
              <a:rPr lang="en" sz="2000"/>
              <a:t>Future work:</a:t>
            </a:r>
            <a:endParaRPr sz="2000"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Improve the model with other information as input (energy deposited and angle between hits)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Match hit in the ATOF with track in the AHDC using </a:t>
            </a:r>
            <a:r>
              <a:rPr lang="en" sz="1600"/>
              <a:t>AI-assisted</a:t>
            </a:r>
            <a:endParaRPr/>
          </a:p>
          <a:p>
            <a:pPr indent="-1440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Momentum prediction with AI-assisted</a:t>
            </a:r>
            <a:endParaRPr/>
          </a:p>
          <a:p>
            <a:pPr indent="-55100" lvl="1" marL="37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  <a:p>
            <a:pPr indent="1690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207" name="Google Shape;207;p26"/>
          <p:cNvSpPr txBox="1"/>
          <p:nvPr/>
        </p:nvSpPr>
        <p:spPr>
          <a:xfrm>
            <a:off x="256031" y="4847961"/>
            <a:ext cx="8887966" cy="3077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This work is supported in part by the U.S. DOE award #: DE-FG02-07ER41528</a:t>
            </a:r>
            <a:endParaRPr b="0" i="0" sz="14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473885" y="4536336"/>
            <a:ext cx="841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333333"/>
                </a:solidFill>
                <a:latin typeface="Sofia Sans"/>
                <a:ea typeface="Sofia Sans"/>
                <a:cs typeface="Sofia Sans"/>
                <a:sym typeface="Sofia Sans"/>
              </a:rPr>
              <a:t>Thanks</a:t>
            </a:r>
            <a:endParaRPr b="0" i="0" sz="2400" u="none" cap="none" strike="noStrike">
              <a:solidFill>
                <a:srgbClr val="333333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ctrical Energy and Power in Physics by Slidesgo">
  <a:themeElements>
    <a:clrScheme name="Simple Light">
      <a:dk1>
        <a:srgbClr val="333333"/>
      </a:dk1>
      <a:lt1>
        <a:srgbClr val="A15315"/>
      </a:lt1>
      <a:dk2>
        <a:srgbClr val="F5F3EF"/>
      </a:dk2>
      <a:lt2>
        <a:srgbClr val="CEA634"/>
      </a:lt2>
      <a:accent1>
        <a:srgbClr val="BD6762"/>
      </a:accent1>
      <a:accent2>
        <a:srgbClr val="97453F"/>
      </a:accent2>
      <a:accent3>
        <a:srgbClr val="63AA8A"/>
      </a:accent3>
      <a:accent4>
        <a:srgbClr val="315544"/>
      </a:accent4>
      <a:accent5>
        <a:srgbClr val="4E749C"/>
      </a:accent5>
      <a:accent6>
        <a:srgbClr val="BDC1C5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