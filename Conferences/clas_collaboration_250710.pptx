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Cairo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D84D9D-91BB-4B0B-BEA2-D22281EF705C}">
  <a:tblStyle styleId="{8DD84D9D-91BB-4B0B-BEA2-D22281EF705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ir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Cair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d7334aab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d7334aab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d7334aab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d7334aab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3d7334aab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3d7334aab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d7334aabf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d7334aabf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d7334aab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d7334aab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449981d5e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449981d5e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a28324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4a28324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49981d5e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49981d5e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4a28324f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4a28324f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490d6203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4490d6203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490d6203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490d620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d7334aab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d7334aab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3d7334aa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3d7334aa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d7334aab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3d7334aab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3d7334aab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3d7334aab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d7334aab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d7334aab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d7334aab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3d7334aab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3d7334aabf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3d7334aabf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d7334aabf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3d7334aabf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3d7334aabf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3d7334aabf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3d7334aabf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3d7334aabf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3d7334aabf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3d7334aabf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3d7334aabf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33d7334aabf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454125"/>
            <a:ext cx="8520600" cy="19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5200"/>
              <a:buNone/>
              <a:defRPr sz="5200">
                <a:solidFill>
                  <a:srgbClr val="4B38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/>
        </p:nvSpPr>
        <p:spPr>
          <a:xfrm>
            <a:off x="199182" y="2125719"/>
            <a:ext cx="6858000" cy="476400"/>
          </a:xfrm>
          <a:prstGeom prst="rect">
            <a:avLst/>
          </a:prstGeom>
          <a:solidFill>
            <a:srgbClr val="FFF4E6"/>
          </a:solidFill>
          <a:ln cap="flat" cmpd="sng" w="9525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Mathieu Ouillon (Mississippi State University)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510900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flipH="1" rot="-5400000">
            <a:off x="8616463" y="-16651"/>
            <a:ext cx="510900" cy="544200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8599813" y="0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27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‹#›</a:t>
            </a:fld>
            <a:endParaRPr sz="27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22" name="Google Shape;22;p4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/>
        </p:nvSpPr>
        <p:spPr>
          <a:xfrm>
            <a:off x="0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Mathieu Ouillon</a:t>
            </a:r>
            <a:endParaRPr i="0" sz="9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07/10/25</a:t>
            </a:r>
            <a:endParaRPr sz="9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4856421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CLAS Collaboration Meeting (8-11 July 2025)</a:t>
            </a:r>
            <a:endParaRPr sz="9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19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0" type="dt"/>
          </p:nvPr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1" type="ftr"/>
          </p:nvPr>
        </p:nvSpPr>
        <p:spPr>
          <a:xfrm>
            <a:off x="5290457" y="4869656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8113260" y="0"/>
            <a:ext cx="10308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510900"/>
          </a:xfrm>
          <a:prstGeom prst="rect">
            <a:avLst/>
          </a:prstGeom>
          <a:solidFill>
            <a:srgbClr val="FFF4E6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0" y="1"/>
            <a:ext cx="7886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4000" lIns="68575" spcFirstLastPara="1" rIns="68575" wrap="square" tIns="685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3300"/>
              <a:buFont typeface="Cairo"/>
              <a:buNone/>
              <a:defRPr i="0" sz="33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48986" y="58833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no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BE9B7B"/>
              </a:buClr>
              <a:buSzPts val="2100"/>
              <a:buFont typeface="Cairo"/>
              <a:buChar char="•"/>
              <a:defRPr i="0" sz="21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o"/>
              <a:defRPr i="0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500"/>
              <a:buFont typeface="Cairo"/>
              <a:buChar char="•"/>
              <a:defRPr i="0" sz="15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BE9B7B"/>
              </a:buClr>
              <a:buSzPts val="1400"/>
              <a:buFont typeface="Cairo"/>
              <a:buChar char="•"/>
              <a:defRPr i="0" sz="14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Cairo"/>
              <a:buChar char="•"/>
              <a:defRPr i="0" sz="1400" u="none" cap="none" strike="noStrik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10" type="dt"/>
          </p:nvPr>
        </p:nvSpPr>
        <p:spPr>
          <a:xfrm>
            <a:off x="8376557" y="4869656"/>
            <a:ext cx="76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1" type="ftr"/>
          </p:nvPr>
        </p:nvSpPr>
        <p:spPr>
          <a:xfrm>
            <a:off x="4856421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4"/>
          <p:cNvSpPr/>
          <p:nvPr/>
        </p:nvSpPr>
        <p:spPr>
          <a:xfrm flipH="1" rot="-5400000">
            <a:off x="8616463" y="-16651"/>
            <a:ext cx="510900" cy="544200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BE9B7B"/>
          </a:solidFill>
          <a:ln cap="flat" cmpd="sng" w="12700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487150" y="988525"/>
            <a:ext cx="5442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0" lvl="1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0" lvl="2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0" lvl="3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0" lvl="4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0" lvl="5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0" lvl="6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0" lvl="7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0" lvl="8" marL="0" marR="0" algn="ctr">
              <a:spcBef>
                <a:spcPts val="0"/>
              </a:spcBef>
              <a:buNone/>
              <a:defRPr i="0" sz="27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0" name="Google Shape;70;p14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4B383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1" name="Google Shape;71;p14"/>
          <p:cNvSpPr txBox="1"/>
          <p:nvPr/>
        </p:nvSpPr>
        <p:spPr>
          <a:xfrm>
            <a:off x="0" y="4869656"/>
            <a:ext cx="352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9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2800"/>
              <a:buFont typeface="Cairo"/>
              <a:buNone/>
              <a:defRPr sz="2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  <a:defRPr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●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●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○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Cairo"/>
              <a:buChar char="■"/>
              <a:defRPr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4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jlab.org/exp_prog/proposals/20/E12-06-106A_Proposal.pdf" TargetMode="External"/><Relationship Id="rId4" Type="http://schemas.openxmlformats.org/officeDocument/2006/relationships/hyperlink" Target="https://misportal.jlab.org/mis/physics/experiments/viewProposal.cfm?paperId=685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Relationship Id="rId5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ithub.com/Gregtom3/clas12_photon_classifier" TargetMode="External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ctrTitle"/>
          </p:nvPr>
        </p:nvSpPr>
        <p:spPr>
          <a:xfrm>
            <a:off x="213975" y="-79275"/>
            <a:ext cx="7840800" cy="196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4B3832"/>
                </a:solidFill>
              </a:rPr>
              <a:t>RG-D Experiments: </a:t>
            </a:r>
            <a:endParaRPr sz="4700">
              <a:solidFill>
                <a:srgbClr val="4B383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4B3832"/>
                </a:solidFill>
              </a:rPr>
              <a:t>Status and Analysis Plans</a:t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346599"/>
            <a:ext cx="3350774" cy="6440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7261050" y="3260050"/>
            <a:ext cx="15168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07/10/25</a:t>
            </a:r>
            <a:endParaRPr sz="2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0950" y="4235876"/>
            <a:ext cx="1617002" cy="86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3188803" y="3650350"/>
            <a:ext cx="55890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22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CLAS Collaboration </a:t>
            </a:r>
            <a:r>
              <a:rPr lang="en" sz="2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Meeting</a:t>
            </a:r>
            <a:r>
              <a:rPr i="0" lang="en" sz="22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(8-11 July, 2025)</a:t>
            </a:r>
            <a:endParaRPr i="0" sz="22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0350" y="4243825"/>
            <a:ext cx="3090275" cy="86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Run Group D</a:t>
            </a:r>
            <a:endParaRPr sz="3000"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0" y="521100"/>
            <a:ext cx="5342400" cy="5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 sz="2400">
                <a:solidFill>
                  <a:srgbClr val="4B3832"/>
                </a:solidFill>
              </a:rPr>
              <a:t>RG-D</a:t>
            </a:r>
            <a:r>
              <a:rPr lang="en" sz="2400">
                <a:solidFill>
                  <a:srgbClr val="4B3832"/>
                </a:solidFill>
              </a:rPr>
              <a:t> is </a:t>
            </a:r>
            <a:r>
              <a:rPr lang="en" sz="2400">
                <a:solidFill>
                  <a:srgbClr val="4B3832"/>
                </a:solidFill>
              </a:rPr>
              <a:t>comp</a:t>
            </a:r>
            <a:r>
              <a:rPr lang="en" sz="2400"/>
              <a:t>rised</a:t>
            </a:r>
            <a:r>
              <a:rPr lang="en" sz="2400">
                <a:solidFill>
                  <a:srgbClr val="4B3832"/>
                </a:solidFill>
              </a:rPr>
              <a:t> of two experiments:</a:t>
            </a:r>
            <a:endParaRPr sz="2100">
              <a:solidFill>
                <a:srgbClr val="4B38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-2041" y="4598091"/>
            <a:ext cx="9144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baseline="3000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Argonne National Lab, </a:t>
            </a:r>
            <a:r>
              <a:rPr baseline="30000" lang="en" sz="1200">
                <a:solidFill>
                  <a:srgbClr val="4B3832"/>
                </a:solidFill>
              </a:rPr>
              <a:t>2</a:t>
            </a:r>
            <a:r>
              <a:rPr lang="en" sz="1200">
                <a:solidFill>
                  <a:srgbClr val="4B3832"/>
                </a:solidFill>
              </a:rPr>
              <a:t>: Florida International U., </a:t>
            </a:r>
            <a:r>
              <a:rPr baseline="30000" lang="en" sz="1200">
                <a:solidFill>
                  <a:srgbClr val="4B3832"/>
                </a:solidFill>
              </a:rPr>
              <a:t>3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IJCLAB, Orsay, France,</a:t>
            </a:r>
            <a:r>
              <a:rPr lang="en" sz="1200">
                <a:solidFill>
                  <a:srgbClr val="4B3832"/>
                </a:solidFill>
              </a:rPr>
              <a:t> </a:t>
            </a:r>
            <a:r>
              <a:rPr baseline="30000" lang="en" sz="1200">
                <a:solidFill>
                  <a:srgbClr val="4B3832"/>
                </a:solidFill>
              </a:rPr>
              <a:t>4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Mississippi State U., </a:t>
            </a:r>
            <a:r>
              <a:rPr baseline="30000" lang="en" sz="1200">
                <a:solidFill>
                  <a:srgbClr val="4B3832"/>
                </a:solidFill>
              </a:rPr>
              <a:t>5</a:t>
            </a:r>
            <a:r>
              <a:rPr b="0" i="0" lang="en" sz="1200" u="none" cap="none" strike="noStrike">
                <a:solidFill>
                  <a:srgbClr val="4B3832"/>
                </a:solidFill>
                <a:latin typeface="Arial"/>
                <a:ea typeface="Arial"/>
                <a:cs typeface="Arial"/>
                <a:sym typeface="Arial"/>
              </a:rPr>
              <a:t>: University of New-Hampshire </a:t>
            </a:r>
            <a:endParaRPr sz="1100"/>
          </a:p>
        </p:txBody>
      </p:sp>
      <p:sp>
        <p:nvSpPr>
          <p:cNvPr id="89" name="Google Shape;89;p16"/>
          <p:cNvSpPr txBox="1"/>
          <p:nvPr/>
        </p:nvSpPr>
        <p:spPr>
          <a:xfrm>
            <a:off x="4718425" y="1320850"/>
            <a:ext cx="4371000" cy="1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Nuclear Transverse Momentum Distributions (nTMDs) in CLAS12 (</a:t>
            </a:r>
            <a:r>
              <a:rPr lang="en" sz="2100" u="sng">
                <a:solidFill>
                  <a:srgbClr val="0563C1"/>
                </a:solid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E12-06-106A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)​: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Spokespeoples: R. Dupré</a:t>
            </a:r>
            <a:r>
              <a:rPr baseline="30000"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3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L. El Fassi</a:t>
            </a:r>
            <a:r>
              <a:rPr baseline="30000"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4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Zein-Eddine Meziani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and Holly Szumila-Vance​</a:t>
            </a:r>
            <a:r>
              <a:rPr baseline="30000"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2</a:t>
            </a:r>
            <a:endParaRPr i="0" sz="18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58227" y="1320852"/>
            <a:ext cx="45078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of Color Transparency (CT) in Exclusive Vector Meson Electroproduction off Nuclei (</a:t>
            </a:r>
            <a:r>
              <a:rPr lang="en" sz="2100" u="sng">
                <a:solidFill>
                  <a:srgbClr val="0563C1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E12-06-106</a:t>
            </a:r>
            <a:r>
              <a:rPr lang="en" sz="21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)​: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Spokespeoples: W. Armstrong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, L. El Fassi</a:t>
            </a:r>
            <a:r>
              <a:rPr baseline="30000"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4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K. Hafidi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M. Holtrop</a:t>
            </a:r>
            <a:r>
              <a:rPr baseline="30000"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5</a:t>
            </a:r>
            <a:r>
              <a:rPr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, and B. Mustapha</a:t>
            </a:r>
            <a:r>
              <a:rPr baseline="30000" i="0" lang="en" sz="1800" u="none" cap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1​</a:t>
            </a:r>
            <a:endParaRPr i="0" sz="1800" u="none" cap="none" strike="noStrike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cxnSp>
        <p:nvCxnSpPr>
          <p:cNvPr id="91" name="Google Shape;91;p16"/>
          <p:cNvCxnSpPr/>
          <p:nvPr/>
        </p:nvCxnSpPr>
        <p:spPr>
          <a:xfrm>
            <a:off x="4569959" y="1041966"/>
            <a:ext cx="0" cy="3461100"/>
          </a:xfrm>
          <a:prstGeom prst="straightConnector1">
            <a:avLst/>
          </a:prstGeom>
          <a:noFill/>
          <a:ln cap="flat" cmpd="sng" w="28575">
            <a:solidFill>
              <a:srgbClr val="BE9B7B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B3832"/>
                </a:solidFill>
              </a:rPr>
              <a:t>RG-D: CT Experiment​</a:t>
            </a:r>
            <a:endParaRPr sz="300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0" y="521100"/>
            <a:ext cx="5060700" cy="21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 Transparency: suppression of interactions of colorless SSC in nuclear medium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Experimental signature: rise of the nuclear transparency, T</a:t>
            </a:r>
            <a:r>
              <a:rPr baseline="-25000" lang="en"/>
              <a:t>A</a:t>
            </a:r>
            <a:r>
              <a:rPr lang="en"/>
              <a:t>, as a function of Q</a:t>
            </a:r>
            <a:r>
              <a:rPr baseline="30000" lang="en"/>
              <a:t>2</a:t>
            </a:r>
            <a:r>
              <a:rPr lang="en"/>
              <a:t>, where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</a:t>
            </a:r>
            <a:r>
              <a:rPr baseline="-25000" lang="en" sz="1600"/>
              <a:t>A</a:t>
            </a:r>
            <a:r>
              <a:rPr lang="en" sz="1600"/>
              <a:t>: ratio of the cross section per nucleon on a bound nucleon to that on a free nucleon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9080" y="525901"/>
            <a:ext cx="4182880" cy="183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355" y="2374431"/>
            <a:ext cx="3890304" cy="2447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372" y="2534727"/>
            <a:ext cx="1547634" cy="66688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2161182" y="2534737"/>
            <a:ext cx="25356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400"/>
              <a:buFont typeface="Arial"/>
              <a:buNone/>
            </a:pP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σ</a:t>
            </a:r>
            <a:r>
              <a:rPr baseline="-25000"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A</a:t>
            </a: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− nuclei cross section</a:t>
            </a:r>
            <a:endParaRPr sz="14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σ</a:t>
            </a:r>
            <a:r>
              <a:rPr baseline="-25000"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</a:t>
            </a:r>
            <a:r>
              <a:rPr i="0" lang="en" sz="14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− free nucleon cross section</a:t>
            </a:r>
            <a:endParaRPr sz="14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0" y="3131150"/>
            <a:ext cx="43650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Objective: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○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Understanding evolution from small-size configurations into ordinary hadrons​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○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Validating the QCD factorization theorem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609599" y="4425017"/>
            <a:ext cx="5068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200"/>
              <a:buFont typeface="Arial"/>
              <a:buNone/>
            </a:pP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Coherence length, l</a:t>
            </a:r>
            <a:r>
              <a:rPr baseline="-25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c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the lifetime of the qq-bar pair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Formation time, l</a:t>
            </a:r>
            <a:r>
              <a:rPr baseline="-25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: the time evolution of SSC</a:t>
            </a:r>
            <a:r>
              <a:rPr lang="en" sz="12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to an on-shell ρ</a:t>
            </a:r>
            <a:r>
              <a:rPr baseline="30000"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0</a:t>
            </a:r>
            <a:r>
              <a:rPr i="0" lang="en" sz="1200" u="none" strike="noStrike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 meson​​</a:t>
            </a:r>
            <a:endParaRPr sz="12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B3832"/>
                </a:solidFill>
              </a:rPr>
              <a:t>RG-D: Nuclear TMDs Study</a:t>
            </a:r>
            <a:endParaRPr sz="3000"/>
          </a:p>
        </p:txBody>
      </p:sp>
      <p:sp>
        <p:nvSpPr>
          <p:cNvPr id="109" name="Google Shape;109;p18"/>
          <p:cNvSpPr txBox="1"/>
          <p:nvPr>
            <p:ph idx="1" type="body"/>
          </p:nvPr>
        </p:nvSpPr>
        <p:spPr>
          <a:xfrm>
            <a:off x="0" y="521100"/>
            <a:ext cx="57060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nTMDs study uses the same CT running conditions except the beam polarization, and aims to study​: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Nuclear effects on SIDIS asymmetries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Transport coefficient of the nuclear matter</a:t>
            </a:r>
            <a:endParaRPr sz="1600"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Therefore, it aims to measure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cos φ, sin φ, and cos(2φ)</a:t>
            </a:r>
            <a:r>
              <a:rPr baseline="30000" lang="en" sz="1600"/>
              <a:t>1</a:t>
            </a:r>
            <a:r>
              <a:rPr lang="en" sz="1600"/>
              <a:t> moments for different hadrons as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  where,                                                      and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0" t="4671"/>
          <a:stretch/>
        </p:blipFill>
        <p:spPr>
          <a:xfrm>
            <a:off x="5508000" y="645250"/>
            <a:ext cx="3555499" cy="2728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8399" y="3241099"/>
            <a:ext cx="2721690" cy="154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5">
            <a:alphaModFix/>
          </a:blip>
          <a:srcRect b="0" l="-2990" r="2990" t="0"/>
          <a:stretch/>
        </p:blipFill>
        <p:spPr>
          <a:xfrm>
            <a:off x="1040900" y="3299750"/>
            <a:ext cx="2382200" cy="64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277585" y="4096068"/>
            <a:ext cx="4673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q</a:t>
            </a:r>
            <a:r>
              <a:rPr baseline="-25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F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(ξ</a:t>
            </a:r>
            <a:r>
              <a:rPr baseline="-25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): quark transport parameter</a:t>
            </a:r>
            <a:endParaRPr sz="1100">
              <a:latin typeface="Cairo"/>
              <a:ea typeface="Cairo"/>
              <a:cs typeface="Cairo"/>
              <a:sym typeface="Cair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1 </a:t>
            </a:r>
            <a:r>
              <a:rPr lang="en" sz="14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No predictions exist for this observable</a:t>
            </a:r>
            <a:endParaRPr sz="1100"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6029621" y="510778"/>
            <a:ext cx="29058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Song, Y. et al. (2014) Physical Review D, 89 014005 </a:t>
            </a:r>
            <a:endParaRPr sz="800"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54175" y="2461300"/>
            <a:ext cx="2322056" cy="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825" y="2461298"/>
            <a:ext cx="2212875" cy="72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2350625" y="2582100"/>
            <a:ext cx="654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and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4B3832"/>
                </a:solidFill>
              </a:rPr>
              <a:t>RG-D Run Configuration</a:t>
            </a:r>
            <a:endParaRPr sz="30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0" y="444900"/>
            <a:ext cx="914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RG-D experiments collected data in the fall of 2023 with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10.5 GeV polarized beam energy and 𝐼= 5–175 nA for luminosity scans and production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Standard CLAS12 configuration with FT-OFF and three layers of FMT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Three target-type, LD2, CxC, and CuSn, deployed with InBending and OutBending torus polarity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New cryogenic LD2 and the nuclear-foil flag assembly centered at -5 cm for each configuration</a:t>
            </a:r>
            <a:endParaRPr sz="1600"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 run hiccups: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Faraday Cup vacuum contamination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Moller cone sagging</a:t>
            </a:r>
            <a:endParaRPr sz="1600"/>
          </a:p>
        </p:txBody>
      </p:sp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867150"/>
            <a:ext cx="4878450" cy="198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3325" y="2240875"/>
            <a:ext cx="4026774" cy="2920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RG-D Status: Calibration &amp; Cooking Summary</a:t>
            </a:r>
            <a:endParaRPr sz="3000"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0" y="521100"/>
            <a:ext cx="9144000" cy="352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Since March meeting update, RG-D </a:t>
            </a:r>
            <a:r>
              <a:rPr lang="en"/>
              <a:t>fulfilled</a:t>
            </a:r>
            <a:r>
              <a:rPr lang="en"/>
              <a:t> these milestones: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Completion of DC,</a:t>
            </a:r>
            <a:r>
              <a:rPr lang="en" sz="1600"/>
              <a:t> the last piece of CLAS12 subsystems,</a:t>
            </a:r>
            <a:r>
              <a:rPr lang="en" sz="1600"/>
              <a:t> calibration using the newest DCv2 suite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Training of three new AI-</a:t>
            </a:r>
            <a:r>
              <a:rPr lang="en" sz="1600"/>
              <a:t>assisted</a:t>
            </a:r>
            <a:r>
              <a:rPr lang="en" sz="1600"/>
              <a:t> networks and validating them on OB/IB LD2 and OB CuSn data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Sanity-check of the performance of the validated OB LD2 AI-assisted network on all RG-D datasets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Tracking </a:t>
            </a:r>
            <a:r>
              <a:rPr lang="en" sz="1600"/>
              <a:t>efficiency</a:t>
            </a:r>
            <a:r>
              <a:rPr lang="en" sz="1600"/>
              <a:t> and </a:t>
            </a:r>
            <a:r>
              <a:rPr lang="en" sz="1600"/>
              <a:t>background merging </a:t>
            </a:r>
            <a:r>
              <a:rPr lang="en" sz="1600"/>
              <a:t>studies based on simulation and real data comparison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Production of final Pass0 (v11) </a:t>
            </a:r>
            <a:r>
              <a:rPr lang="en" sz="1600"/>
              <a:t>timelines </a:t>
            </a:r>
            <a:r>
              <a:rPr lang="en" sz="1600"/>
              <a:t>and its associated </a:t>
            </a:r>
            <a:r>
              <a:rPr lang="en" sz="1600"/>
              <a:t>high-level physics QA timeline with final calibration constants, adopted OB LD2 AI-assisted network, and denoising, as preparation for Pass1 cooking readiness review</a:t>
            </a:r>
            <a:endParaRPr/>
          </a:p>
          <a:p>
            <a:pPr indent="-160020" lvl="0" marL="18288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RG-D successfully passed the Pass1 review on May 27</a:t>
            </a:r>
            <a:r>
              <a:rPr baseline="30000" lang="en"/>
              <a:t>th</a:t>
            </a:r>
            <a:r>
              <a:rPr lang="en"/>
              <a:t>  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Actual Pass1 cooking began on June 13</a:t>
            </a:r>
            <a:r>
              <a:rPr baseline="30000" lang="en"/>
              <a:t>th</a:t>
            </a:r>
            <a:r>
              <a:rPr lang="en"/>
              <a:t> using the latest COATJAVA 13.0.0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-578650" y="4420600"/>
            <a:ext cx="9722700" cy="5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00">
                <a:solidFill>
                  <a:srgbClr val="20124D"/>
                </a:solidFill>
                <a:latin typeface="Cairo"/>
                <a:ea typeface="Cairo"/>
                <a:cs typeface="Cairo"/>
                <a:sym typeface="Cairo"/>
              </a:rPr>
              <a:t>RG-D is appreciably grateful </a:t>
            </a:r>
            <a:r>
              <a:rPr i="1" lang="en" sz="1900">
                <a:solidFill>
                  <a:srgbClr val="20124D"/>
                </a:solidFill>
                <a:latin typeface="Cairo"/>
                <a:ea typeface="Cairo"/>
                <a:cs typeface="Cairo"/>
                <a:sym typeface="Cairo"/>
              </a:rPr>
              <a:t>to CalCom and Software Experts for their immense support</a:t>
            </a:r>
            <a:endParaRPr i="1" sz="1900">
              <a:solidFill>
                <a:srgbClr val="20124D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Tracking Efficiency &amp; Background Merging Study</a:t>
            </a:r>
            <a:endParaRPr sz="3000"/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4031"/>
          <a:stretch/>
        </p:blipFill>
        <p:spPr>
          <a:xfrm>
            <a:off x="0" y="1036450"/>
            <a:ext cx="9105603" cy="41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0" y="533400"/>
            <a:ext cx="9144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DC efficiency vs. current for simulation and data: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453200" y="510900"/>
            <a:ext cx="1690800" cy="114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Solid/Dash line: Data/MC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AI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Black: Conventional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B050"/>
                </a:solidFill>
                <a:latin typeface="Cairo"/>
                <a:ea typeface="Cairo"/>
                <a:cs typeface="Cairo"/>
                <a:sym typeface="Cairo"/>
              </a:rPr>
              <a:t>Green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ratio AI/CV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Tracking Efficiency &amp; Background Merging Study</a:t>
            </a:r>
            <a:endParaRPr sz="3000"/>
          </a:p>
        </p:txBody>
      </p:sp>
      <p:pic>
        <p:nvPicPr>
          <p:cNvPr id="146" name="Google Shape;146;p22"/>
          <p:cNvPicPr preferRelativeResize="0"/>
          <p:nvPr/>
        </p:nvPicPr>
        <p:blipFill rotWithShape="1">
          <a:blip r:embed="rId3">
            <a:alphaModFix/>
          </a:blip>
          <a:srcRect b="0" l="0" r="0" t="4031"/>
          <a:stretch/>
        </p:blipFill>
        <p:spPr>
          <a:xfrm>
            <a:off x="0" y="1036450"/>
            <a:ext cx="9105603" cy="4110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/>
        </p:nvSpPr>
        <p:spPr>
          <a:xfrm>
            <a:off x="0" y="533400"/>
            <a:ext cx="9144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DC efficiency vs. current for simulation and data: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8" name="Google Shape;148;p22"/>
          <p:cNvSpPr txBox="1"/>
          <p:nvPr/>
        </p:nvSpPr>
        <p:spPr>
          <a:xfrm>
            <a:off x="7453200" y="510900"/>
            <a:ext cx="1690800" cy="114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Solid/Dash line: Data/MC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AI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Black: Conventional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B050"/>
                </a:solidFill>
                <a:latin typeface="Cairo"/>
                <a:ea typeface="Cairo"/>
                <a:cs typeface="Cairo"/>
                <a:sym typeface="Cairo"/>
              </a:rPr>
              <a:t>Green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ratio AI/CV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339425" y="3328750"/>
            <a:ext cx="8598600" cy="847500"/>
          </a:xfrm>
          <a:prstGeom prst="rect">
            <a:avLst/>
          </a:prstGeom>
          <a:solidFill>
            <a:srgbClr val="FFF4E6"/>
          </a:solidFill>
          <a:ln cap="flat" cmpd="sng" w="19050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Bigger difference between MC and Data (approx. 20/52% for positive/negative) compared to the LD2 case; thus, Raffaella suggested to perform a similar study as a function of the DC occupancy to account for the two-target background, acceptance, etc.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Tracking Efficiency &amp; Background Merging Study</a:t>
            </a:r>
            <a:endParaRPr sz="3000"/>
          </a:p>
        </p:txBody>
      </p:sp>
      <p:sp>
        <p:nvSpPr>
          <p:cNvPr id="155" name="Google Shape;155;p23"/>
          <p:cNvSpPr txBox="1"/>
          <p:nvPr/>
        </p:nvSpPr>
        <p:spPr>
          <a:xfrm>
            <a:off x="0" y="457200"/>
            <a:ext cx="9144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DC efficiency vs. DC occupancy for simulation and data: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 b="0" l="0" r="0" t="3994"/>
          <a:stretch/>
        </p:blipFill>
        <p:spPr>
          <a:xfrm>
            <a:off x="48075" y="972450"/>
            <a:ext cx="9017349" cy="413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/>
          <p:nvPr/>
        </p:nvSpPr>
        <p:spPr>
          <a:xfrm>
            <a:off x="7352400" y="587100"/>
            <a:ext cx="1791600" cy="136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Solid/Dash line: Data/MC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AI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Black: Conventional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B050"/>
                </a:solidFill>
                <a:latin typeface="Cairo"/>
                <a:ea typeface="Cairo"/>
                <a:cs typeface="Cairo"/>
                <a:sym typeface="Cairo"/>
              </a:rPr>
              <a:t>Green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ratio AI/CV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58" name="Google Shape;158;p23"/>
          <p:cNvSpPr txBox="1"/>
          <p:nvPr/>
        </p:nvSpPr>
        <p:spPr>
          <a:xfrm>
            <a:off x="7100000" y="1189425"/>
            <a:ext cx="273300" cy="76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3832"/>
              </a:solidFill>
              <a:highlight>
                <a:schemeClr val="lt1"/>
              </a:highlight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Tracking Efficiency &amp; Background Merging Study</a:t>
            </a:r>
            <a:endParaRPr sz="3000"/>
          </a:p>
        </p:txBody>
      </p:sp>
      <p:sp>
        <p:nvSpPr>
          <p:cNvPr id="164" name="Google Shape;164;p24"/>
          <p:cNvSpPr txBox="1"/>
          <p:nvPr/>
        </p:nvSpPr>
        <p:spPr>
          <a:xfrm>
            <a:off x="0" y="457200"/>
            <a:ext cx="91440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Study DC efficiency vs. DC occupancy for simulation and data: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 rotWithShape="1">
          <a:blip r:embed="rId3">
            <a:alphaModFix/>
          </a:blip>
          <a:srcRect b="0" l="0" r="0" t="3994"/>
          <a:stretch/>
        </p:blipFill>
        <p:spPr>
          <a:xfrm>
            <a:off x="48075" y="972450"/>
            <a:ext cx="9017349" cy="413087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4"/>
          <p:cNvSpPr txBox="1"/>
          <p:nvPr/>
        </p:nvSpPr>
        <p:spPr>
          <a:xfrm>
            <a:off x="7352400" y="587100"/>
            <a:ext cx="1791600" cy="136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Solid/Dash line: Data/MC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00000"/>
                </a:solidFill>
                <a:latin typeface="Cairo"/>
                <a:ea typeface="Cairo"/>
                <a:cs typeface="Cairo"/>
                <a:sym typeface="Cairo"/>
              </a:rPr>
              <a:t>Red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AI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Black: Conventional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B050"/>
                </a:solidFill>
                <a:latin typeface="Cairo"/>
                <a:ea typeface="Cairo"/>
                <a:cs typeface="Cairo"/>
                <a:sym typeface="Cairo"/>
              </a:rPr>
              <a:t>Green</a:t>
            </a:r>
            <a:r>
              <a:rPr lang="en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: ratio AI/CV</a:t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7100000" y="1189425"/>
            <a:ext cx="273300" cy="76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B3832"/>
              </a:solidFill>
              <a:highlight>
                <a:schemeClr val="lt1"/>
              </a:highlight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168" name="Google Shape;168;p24"/>
          <p:cNvSpPr txBox="1"/>
          <p:nvPr/>
        </p:nvSpPr>
        <p:spPr>
          <a:xfrm>
            <a:off x="339425" y="3709750"/>
            <a:ext cx="8598600" cy="612900"/>
          </a:xfrm>
          <a:prstGeom prst="rect">
            <a:avLst/>
          </a:prstGeom>
          <a:solidFill>
            <a:srgbClr val="FFF4E6"/>
          </a:solidFill>
          <a:ln cap="flat" cmpd="sng" w="19050">
            <a:solidFill>
              <a:srgbClr val="4B38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Less difference between MC and Data efficiency as a function of DC occupancy (approx. 8/43% for positive/negative) compared to beam current for the CuSn case!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Refined Vz Cuts</a:t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63099" y="587100"/>
            <a:ext cx="4042800" cy="4327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" name="Google Shape;175;p25"/>
          <p:cNvGraphicFramePr/>
          <p:nvPr/>
        </p:nvGraphicFramePr>
        <p:xfrm>
          <a:off x="100175" y="28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{8DD84D9D-91BB-4B0B-BEA2-D22281EF705C}</a:tableStyleId>
              </a:tblPr>
              <a:tblGrid>
                <a:gridCol w="1232775"/>
                <a:gridCol w="1259350"/>
                <a:gridCol w="1261850"/>
                <a:gridCol w="1161200"/>
              </a:tblGrid>
              <a:tr h="3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Parameter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</a:t>
                      </a: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efore </a:t>
                      </a: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refinement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After refinement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Improvement (%)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Exit LD2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0.7691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0.7068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6.23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Entrance LD2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0.7799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0.7158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6.41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CxC1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1.1182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0.8586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25.96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1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CxC2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1.2309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0.9139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31.70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0" y="521100"/>
            <a:ext cx="5063100" cy="20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study aims to</a:t>
            </a:r>
            <a:endParaRPr sz="20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Remove the beamline windows, empty LD2 cell windows for solid-foil runs in addition to the scattering chamber exit window for liquid and solid target runs </a:t>
            </a:r>
            <a:endParaRPr/>
          </a:p>
          <a:p>
            <a:pPr indent="-160020" lvl="0" marL="182880" rtl="0" algn="l">
              <a:spcBef>
                <a:spcPts val="100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Fit with a four Double-Sided Crystal Ball function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RG-D Refined Vz Cuts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0" y="444900"/>
            <a:ext cx="506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72720" lvl="0" marL="18288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study aims to</a:t>
            </a:r>
            <a:endParaRPr sz="20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Remove the beamline windows, empty LD2 cell windows for solid-foil runs in addition to the scattering chamber exit window for liquid and solid target runs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Separate the Cu and Sn solid-foil peaks prior to performing a proper contamination study</a:t>
            </a:r>
            <a:endParaRPr sz="1600"/>
          </a:p>
          <a:p>
            <a:pPr indent="-160020" lvl="0" marL="18288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Fit with a four Double-Sided Crystal Ball function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6100" y="512075"/>
            <a:ext cx="4098274" cy="4325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6"/>
          <p:cNvGraphicFramePr/>
          <p:nvPr/>
        </p:nvGraphicFramePr>
        <p:xfrm>
          <a:off x="61477" y="30355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{8DD84D9D-91BB-4B0B-BEA2-D22281EF705C}</a:tableStyleId>
              </a:tblPr>
              <a:tblGrid>
                <a:gridCol w="1233125"/>
                <a:gridCol w="1209375"/>
                <a:gridCol w="1334750"/>
                <a:gridCol w="1139125"/>
              </a:tblGrid>
              <a:tr h="36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Parameter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Before refinement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After refinement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Improvement (%)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Exit LD2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1.0045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0.8754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12.91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Entrance LD2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0.8162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0.7000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11.62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Cu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0.7625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0.6798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8.27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σ</a:t>
                      </a:r>
                      <a:r>
                        <a:rPr baseline="-25000"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Sn</a:t>
                      </a:r>
                      <a:endParaRPr baseline="-25000"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0.7439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0.6631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B3832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8.08</a:t>
                      </a:r>
                      <a:endParaRPr sz="1200">
                        <a:solidFill>
                          <a:srgbClr val="4B3832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Electron Fiducial Cuts</a:t>
            </a:r>
            <a:endParaRPr sz="3000"/>
          </a:p>
        </p:txBody>
      </p:sp>
      <p:sp>
        <p:nvSpPr>
          <p:cNvPr id="190" name="Google Shape;190;p27"/>
          <p:cNvSpPr txBox="1"/>
          <p:nvPr>
            <p:ph idx="1" type="body"/>
          </p:nvPr>
        </p:nvSpPr>
        <p:spPr>
          <a:xfrm>
            <a:off x="0" y="521100"/>
            <a:ext cx="9144000" cy="43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Event builder Particle IDentification is used as a basis for all particle types, but some refinements are developed to improve electron ID</a:t>
            </a:r>
            <a:endParaRPr/>
          </a:p>
          <a:p>
            <a:pPr indent="-160020" lvl="0" marL="18288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Raw electron cuts: 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PID = 11, status&lt; 0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2000≤ |status| &lt; 4000: status represents the detector topology and is the sum of numbers associated to detector hits</a:t>
            </a:r>
            <a:endParaRPr sz="1600"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|chi2pid| &lt; 5</a:t>
            </a:r>
            <a:r>
              <a:rPr lang="en" sz="1600"/>
              <a:t>: chi2pid is the number of σ</a:t>
            </a:r>
            <a:r>
              <a:rPr baseline="-25000" lang="en" sz="1600"/>
              <a:t>SF</a:t>
            </a:r>
            <a:r>
              <a:rPr lang="en" sz="1600"/>
              <a:t> from the expected Sampling Fraction using the fit as function of deposited energy, E</a:t>
            </a:r>
            <a:r>
              <a:rPr baseline="-25000" lang="en" sz="1600"/>
              <a:t>dep</a:t>
            </a:r>
            <a:r>
              <a:rPr lang="en" sz="1600"/>
              <a:t>, in ECal and PCal</a:t>
            </a:r>
            <a:endParaRPr baseline="-25000" sz="1600"/>
          </a:p>
          <a:p>
            <a:pPr indent="-160020" lvl="0" marL="18288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Refinements:</a:t>
            </a:r>
            <a:endParaRPr/>
          </a:p>
          <a:p>
            <a:pPr indent="-158750" lvl="1" marL="28575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Vz cut: select the target peak from where the scattered electron originated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Sampling Fraction vs. momentum: should be constant for electrons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 and W ECal views: defined at lengths that are multiples of 4.5 cm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DC fiducial cut using θ</a:t>
            </a:r>
            <a:r>
              <a:rPr baseline="-25000" lang="en" sz="1600"/>
              <a:t>DC</a:t>
            </a:r>
            <a:r>
              <a:rPr lang="en" sz="1600"/>
              <a:t> vs. edge to remove edges of the three regions</a:t>
            </a:r>
            <a:endParaRPr sz="1600"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Electron FCs: SF vs. Momentum</a:t>
            </a:r>
            <a:endParaRPr sz="3000"/>
          </a:p>
        </p:txBody>
      </p:sp>
      <p:sp>
        <p:nvSpPr>
          <p:cNvPr id="196" name="Google Shape;196;p28"/>
          <p:cNvSpPr txBox="1"/>
          <p:nvPr>
            <p:ph idx="1" type="body"/>
          </p:nvPr>
        </p:nvSpPr>
        <p:spPr>
          <a:xfrm>
            <a:off x="0" y="510900"/>
            <a:ext cx="9144000" cy="40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a </a:t>
            </a:r>
            <a:r>
              <a:rPr lang="en"/>
              <a:t>3σ cut after performing a </a:t>
            </a:r>
            <a:r>
              <a:rPr lang="en"/>
              <a:t>fit of sector-integrated SF for various momentum bins: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152400" y="821625"/>
            <a:ext cx="4086600" cy="8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93040" lvl="0" marL="32004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➢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50 slices, fit with a Gaussian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193040" lvl="0" marL="320040" rtl="0" algn="l"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1600"/>
              <a:buFont typeface="Cairo"/>
              <a:buChar char="➢"/>
            </a:pP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Extract μ and σ, then deploy this function to </a:t>
            </a:r>
            <a:r>
              <a:rPr lang="en" sz="16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select the desired band</a:t>
            </a:r>
            <a:endParaRPr sz="16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5" y="2111475"/>
            <a:ext cx="4122525" cy="29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8925" y="1224175"/>
            <a:ext cx="4902700" cy="36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25" y="1745175"/>
            <a:ext cx="3637050" cy="28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9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Electron FCs: SF vs. Momentum</a:t>
            </a:r>
            <a:endParaRPr sz="3000"/>
          </a:p>
        </p:txBody>
      </p:sp>
      <p:sp>
        <p:nvSpPr>
          <p:cNvPr id="206" name="Google Shape;206;p29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Various</a:t>
            </a:r>
            <a:r>
              <a:rPr lang="en"/>
              <a:t> targets comparison: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0" y="958025"/>
            <a:ext cx="9041000" cy="414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Electron FCs: ECal V and W Cuts</a:t>
            </a:r>
            <a:endParaRPr sz="3000"/>
          </a:p>
        </p:txBody>
      </p:sp>
      <p:sp>
        <p:nvSpPr>
          <p:cNvPr id="213" name="Google Shape;213;p30"/>
          <p:cNvSpPr txBox="1"/>
          <p:nvPr>
            <p:ph idx="1" type="body"/>
          </p:nvPr>
        </p:nvSpPr>
        <p:spPr>
          <a:xfrm>
            <a:off x="0" y="521100"/>
            <a:ext cx="91440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standard CLAS12 cuts for ECal: V, W&gt; 9 cm; exclude 2 bars to </a:t>
            </a:r>
            <a:r>
              <a:rPr lang="en"/>
              <a:t>minimize</a:t>
            </a:r>
            <a:r>
              <a:rPr lang="en"/>
              <a:t> shower leakage!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25" y="1118100"/>
            <a:ext cx="9071677" cy="395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Electron FCs: θ</a:t>
            </a:r>
            <a:r>
              <a:rPr baseline="-25000" lang="en"/>
              <a:t>DC</a:t>
            </a:r>
            <a:r>
              <a:rPr lang="en" sz="3000"/>
              <a:t> vs. Edge</a:t>
            </a:r>
            <a:endParaRPr sz="3000"/>
          </a:p>
        </p:txBody>
      </p:sp>
      <p:sp>
        <p:nvSpPr>
          <p:cNvPr id="220" name="Google Shape;220;p31"/>
          <p:cNvSpPr txBox="1"/>
          <p:nvPr>
            <p:ph idx="1" type="body"/>
          </p:nvPr>
        </p:nvSpPr>
        <p:spPr>
          <a:xfrm>
            <a:off x="0" y="521100"/>
            <a:ext cx="402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 the DC edges </a:t>
            </a:r>
            <a:r>
              <a:rPr lang="en" sz="1600"/>
              <a:t>for all regions and target types</a:t>
            </a:r>
            <a:r>
              <a:rPr lang="en"/>
              <a:t>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Slice the θ</a:t>
            </a:r>
            <a:r>
              <a:rPr baseline="-25000" lang="en" sz="1600"/>
              <a:t>DC</a:t>
            </a:r>
            <a:r>
              <a:rPr lang="en" sz="1600"/>
              <a:t> vs. edge histogram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Fit the peak of the derivative with a Gaussian to obtain the threshold (μ+3σ)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Fit all thresholds with a constant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350" y="597300"/>
            <a:ext cx="5118650" cy="4530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574" y="2411025"/>
            <a:ext cx="3544650" cy="271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RG-D nTMDs Studies: π</a:t>
            </a:r>
            <a:r>
              <a:rPr baseline="30000" lang="en" sz="3000"/>
              <a:t>0</a:t>
            </a:r>
            <a:r>
              <a:rPr lang="en" sz="3000"/>
              <a:t> Analysis</a:t>
            </a:r>
            <a:endParaRPr sz="3000"/>
          </a:p>
        </p:txBody>
      </p:sp>
      <p:sp>
        <p:nvSpPr>
          <p:cNvPr id="228" name="Google Shape;228;p32"/>
          <p:cNvSpPr txBox="1"/>
          <p:nvPr>
            <p:ph idx="1" type="body"/>
          </p:nvPr>
        </p:nvSpPr>
        <p:spPr>
          <a:xfrm>
            <a:off x="0" y="521100"/>
            <a:ext cx="4911600" cy="457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look at the π</a:t>
            </a:r>
            <a:r>
              <a:rPr baseline="30000" lang="en"/>
              <a:t>0</a:t>
            </a:r>
            <a:r>
              <a:rPr lang="en"/>
              <a:t> channel to extract multiplicity ratios and azimuthal asymmetries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Ongoing efforts to employ the event mixing technique to subtract the background  underneath the two-photon mass peak</a:t>
            </a:r>
            <a:endParaRPr sz="1600"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Electron cuts: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PID = 11, status&lt; 0, 2000≤ |status|&lt; 4000,   |chi2pid|&lt; 5, and Vz cut</a:t>
            </a:r>
            <a:endParaRPr sz="1600"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Photon cuts: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PID= 22 and E&gt; 0.2 GeV 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AI-assisted cut </a:t>
            </a:r>
            <a:r>
              <a:rPr lang="en" sz="1600"/>
              <a:t>developed</a:t>
            </a:r>
            <a:r>
              <a:rPr lang="en" sz="1600"/>
              <a:t> by </a:t>
            </a:r>
            <a:r>
              <a:rPr lang="en" sz="1600" u="sng">
                <a:solidFill>
                  <a:srgbClr val="BE9B7B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Gregory Matousek</a:t>
            </a:r>
            <a:endParaRPr sz="1600"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μ ± 3σ to select the two-photon π</a:t>
            </a:r>
            <a:r>
              <a:rPr baseline="30000" lang="en" sz="1600"/>
              <a:t>0 </a:t>
            </a:r>
            <a:r>
              <a:rPr lang="en" sz="1600"/>
              <a:t>peak</a:t>
            </a:r>
            <a:endParaRPr sz="1600">
              <a:solidFill>
                <a:srgbClr val="BE9B7B"/>
              </a:solidFill>
            </a:endParaRPr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SIDIS cuts:</a:t>
            </a:r>
            <a:endParaRPr/>
          </a:p>
          <a:p>
            <a:pPr indent="-193040" lvl="1" marL="32004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Q</a:t>
            </a:r>
            <a:r>
              <a:rPr baseline="30000" lang="en" sz="1600"/>
              <a:t>2</a:t>
            </a:r>
            <a:r>
              <a:rPr lang="en" sz="1600"/>
              <a:t>&gt; 1 GeV</a:t>
            </a:r>
            <a:r>
              <a:rPr baseline="30000" lang="en" sz="1600"/>
              <a:t>2</a:t>
            </a:r>
            <a:r>
              <a:rPr lang="en" sz="1600"/>
              <a:t>, W&gt; 2 GeV, and y (= ν/E</a:t>
            </a:r>
            <a:r>
              <a:rPr baseline="-25000" lang="en" sz="1600"/>
              <a:t>beam</a:t>
            </a:r>
            <a:r>
              <a:rPr lang="en" sz="1600"/>
              <a:t>)&lt; 0.85, where ν is the virtual photon energy</a:t>
            </a:r>
            <a:endParaRPr baseline="30000" sz="1600"/>
          </a:p>
        </p:txBody>
      </p:sp>
      <p:pic>
        <p:nvPicPr>
          <p:cNvPr id="229" name="Google Shape;22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600" y="844850"/>
            <a:ext cx="4182699" cy="364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1575" y="717098"/>
            <a:ext cx="5254324" cy="38812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RG-D nTMDs Studies: π</a:t>
            </a:r>
            <a:r>
              <a:rPr baseline="30000" lang="en" sz="3000"/>
              <a:t>0</a:t>
            </a:r>
            <a:r>
              <a:rPr lang="en" sz="3000"/>
              <a:t> Analysis</a:t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0" y="521100"/>
            <a:ext cx="4002300" cy="321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look at the π</a:t>
            </a:r>
            <a:r>
              <a:rPr baseline="30000" lang="en"/>
              <a:t>0</a:t>
            </a:r>
            <a:r>
              <a:rPr lang="en"/>
              <a:t> channel to extract multiplicity ratios and azimuthal asymmetries</a:t>
            </a:r>
            <a:endParaRPr/>
          </a:p>
          <a:p>
            <a:pPr indent="-180340" lvl="1" marL="320040" rtl="0" algn="l">
              <a:spcBef>
                <a:spcPts val="1000"/>
              </a:spcBef>
              <a:spcAft>
                <a:spcPts val="1200"/>
              </a:spcAft>
              <a:buSzPts val="1400"/>
              <a:buChar char="○"/>
            </a:pPr>
            <a:r>
              <a:rPr lang="en" sz="1600"/>
              <a:t>As of now, extract 1-D multiplicity ratio as a function of z</a:t>
            </a:r>
            <a:r>
              <a:rPr baseline="-25000" lang="en" sz="1600"/>
              <a:t>h</a:t>
            </a:r>
            <a:r>
              <a:rPr lang="en" sz="1600"/>
              <a:t>, defined as</a:t>
            </a:r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25" y="2499850"/>
            <a:ext cx="3158451" cy="103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8425" y="1099275"/>
            <a:ext cx="5395574" cy="352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4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RG-D nTMDs Studies: π</a:t>
            </a:r>
            <a:r>
              <a:rPr baseline="30000" lang="en" sz="3000"/>
              <a:t>+</a:t>
            </a:r>
            <a:r>
              <a:rPr lang="en" sz="3000"/>
              <a:t> analysis</a:t>
            </a:r>
            <a:endParaRPr sz="3000"/>
          </a:p>
        </p:txBody>
      </p:sp>
      <p:sp>
        <p:nvSpPr>
          <p:cNvPr id="244" name="Google Shape;244;p34"/>
          <p:cNvSpPr txBox="1"/>
          <p:nvPr>
            <p:ph idx="1" type="body"/>
          </p:nvPr>
        </p:nvSpPr>
        <p:spPr>
          <a:xfrm>
            <a:off x="0" y="597300"/>
            <a:ext cx="3970200" cy="44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Pass0v11 preliminary results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Binning: Q², x</a:t>
            </a:r>
            <a:r>
              <a:rPr baseline="-25000" lang="en"/>
              <a:t>B</a:t>
            </a:r>
            <a:r>
              <a:rPr lang="en"/>
              <a:t>, ϕ</a:t>
            </a:r>
            <a:r>
              <a:rPr baseline="-25000" lang="en"/>
              <a:t>h</a:t>
            </a:r>
            <a:r>
              <a:rPr lang="en"/>
              <a:t> ,p</a:t>
            </a:r>
            <a:r>
              <a:rPr baseline="-25000" lang="en"/>
              <a:t>T</a:t>
            </a:r>
            <a:r>
              <a:rPr lang="en"/>
              <a:t>², and z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Multiplicity Ratio results for one 1.2&lt;Q²&lt;3.2 and 0.2&lt;x</a:t>
            </a:r>
            <a:r>
              <a:rPr baseline="-25000" lang="en"/>
              <a:t>B</a:t>
            </a:r>
            <a:r>
              <a:rPr lang="en"/>
              <a:t>&lt;0.5 bins by comparing the three nuclei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Expected behavior for preliminary results:</a:t>
            </a:r>
            <a:endParaRPr/>
          </a:p>
          <a:p>
            <a:pPr indent="-180340" lvl="1" marL="32004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Nuclear hierarchy respected, suppressio</a:t>
            </a:r>
            <a:r>
              <a:rPr lang="en"/>
              <a:t>n </a:t>
            </a:r>
            <a:r>
              <a:rPr lang="en"/>
              <a:t>increases with nuclear mass</a:t>
            </a:r>
            <a:endParaRPr/>
          </a:p>
          <a:p>
            <a:pPr indent="-180340" lvl="1" marL="32004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Increased suppression at higher z and lower p</a:t>
            </a:r>
            <a:r>
              <a:rPr baseline="-25000" lang="en"/>
              <a:t>T</a:t>
            </a:r>
            <a:r>
              <a:rPr lang="en"/>
              <a:t>² could indicate absorption</a:t>
            </a:r>
            <a:endParaRPr/>
          </a:p>
          <a:p>
            <a:pPr indent="-180340" lvl="1" marL="32004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Reversal of nuclear hierarchy at high p</a:t>
            </a:r>
            <a:r>
              <a:rPr baseline="-25000" lang="en"/>
              <a:t>T</a:t>
            </a:r>
            <a:r>
              <a:rPr lang="en"/>
              <a:t>² suggests hadronization in the nuclear medium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1200"/>
              </a:spcAft>
              <a:buSzPts val="1800"/>
              <a:buChar char="●"/>
            </a:pPr>
            <a:r>
              <a:rPr lang="en"/>
              <a:t>Ongoing Unfolding</a:t>
            </a:r>
            <a:endParaRPr/>
          </a:p>
        </p:txBody>
      </p:sp>
      <p:sp>
        <p:nvSpPr>
          <p:cNvPr id="245" name="Google Shape;245;p34"/>
          <p:cNvSpPr txBox="1"/>
          <p:nvPr/>
        </p:nvSpPr>
        <p:spPr>
          <a:xfrm>
            <a:off x="5635200" y="4546225"/>
            <a:ext cx="3813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Ongoing analysis by D. Matamoros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0200" y="597300"/>
            <a:ext cx="5173801" cy="502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5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RG-D nTMDs Studies: π</a:t>
            </a:r>
            <a:r>
              <a:rPr baseline="30000" lang="en" sz="3000"/>
              <a:t>+</a:t>
            </a:r>
            <a:r>
              <a:rPr lang="en" sz="3000"/>
              <a:t> analysis</a:t>
            </a:r>
            <a:endParaRPr sz="3000"/>
          </a:p>
        </p:txBody>
      </p:sp>
      <p:sp>
        <p:nvSpPr>
          <p:cNvPr id="252" name="Google Shape;252;p35"/>
          <p:cNvSpPr txBox="1"/>
          <p:nvPr>
            <p:ph idx="1" type="body"/>
          </p:nvPr>
        </p:nvSpPr>
        <p:spPr>
          <a:xfrm>
            <a:off x="0" y="521100"/>
            <a:ext cx="3813600" cy="335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Transverse momentum broadening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for one 1.2&lt;Q²&lt;3.2 and 0.2&lt;x</a:t>
            </a:r>
            <a:r>
              <a:rPr baseline="-25000" lang="en"/>
              <a:t>B</a:t>
            </a:r>
            <a:r>
              <a:rPr lang="en"/>
              <a:t>&lt; 0.5 bins by comparing the three nuclei:</a:t>
            </a:r>
            <a:endParaRPr/>
          </a:p>
          <a:p>
            <a:pPr indent="-180340" lvl="1" marL="32004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Hierarchy between nuclei remains, coherent tendencies</a:t>
            </a:r>
            <a:endParaRPr/>
          </a:p>
          <a:p>
            <a:pPr indent="-180340" lvl="1" marL="32004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Possible decrease with increasing z, could suggest hadron formation outside the nucleus</a:t>
            </a:r>
            <a:endParaRPr/>
          </a:p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Inconclusive results, as corrections remain to be </a:t>
            </a:r>
            <a:r>
              <a:rPr lang="en"/>
              <a:t>incorporated</a:t>
            </a: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5711400" y="4400350"/>
            <a:ext cx="38136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Ongoing analysis by D. Matamoros</a:t>
            </a:r>
            <a:endParaRPr sz="1800"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254" name="Google Shape;25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424" y="955825"/>
            <a:ext cx="5296579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3625" y="587100"/>
            <a:ext cx="5220376" cy="44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and Outlook</a:t>
            </a:r>
            <a:endParaRPr/>
          </a:p>
        </p:txBody>
      </p:sp>
      <p:sp>
        <p:nvSpPr>
          <p:cNvPr id="261" name="Google Shape;261;p36"/>
          <p:cNvSpPr txBox="1"/>
          <p:nvPr>
            <p:ph idx="1" type="body"/>
          </p:nvPr>
        </p:nvSpPr>
        <p:spPr>
          <a:xfrm>
            <a:off x="0" y="521100"/>
            <a:ext cx="9144000" cy="43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60020" lvl="0" marL="18288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RG-D has passed the Pass1 review, and the estimated 90-days Pass1 cooking began on June 13</a:t>
            </a:r>
            <a:r>
              <a:rPr baseline="30000" lang="en"/>
              <a:t>th</a:t>
            </a:r>
            <a:r>
              <a:rPr lang="en"/>
              <a:t> </a:t>
            </a:r>
            <a:endParaRPr/>
          </a:p>
          <a:p>
            <a:pPr indent="-160020" lvl="0" marL="18288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Optimizing analysis tools for CT and nTMDs studies to</a:t>
            </a:r>
            <a:endParaRPr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improve PIDs and implement fiducial cuts for all final-state particles</a:t>
            </a:r>
            <a:endParaRPr sz="1600"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correct for any solid-foil contamination associated with the CuSn target configuration </a:t>
            </a:r>
            <a:endParaRPr sz="1600"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deploy the ρ</a:t>
            </a:r>
            <a:r>
              <a:rPr baseline="30000" lang="en" sz="1600"/>
              <a:t>0</a:t>
            </a:r>
            <a:r>
              <a:rPr lang="en" sz="1600"/>
              <a:t> event generator for its two-pion invariant mass background subtraction and apply necessary corrections to extraction the preliminary CT results</a:t>
            </a:r>
            <a:endParaRPr sz="1600"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Finalize the π</a:t>
            </a:r>
            <a:r>
              <a:rPr baseline="30000" lang="en" sz="1600"/>
              <a:t>0</a:t>
            </a:r>
            <a:r>
              <a:rPr lang="en" sz="1600"/>
              <a:t> event mixing background-subtraction and extract its preliminary asymmetries </a:t>
            </a:r>
            <a:endParaRPr sz="1600"/>
          </a:p>
          <a:p>
            <a:pPr indent="-193040" lvl="1" marL="32004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Obtain the preliminary asymmetry results for charged pions nTMDs studies</a:t>
            </a:r>
            <a:endParaRPr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7"/>
          <p:cNvSpPr txBox="1"/>
          <p:nvPr>
            <p:ph type="title"/>
          </p:nvPr>
        </p:nvSpPr>
        <p:spPr>
          <a:xfrm>
            <a:off x="0" y="0"/>
            <a:ext cx="8520600" cy="5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7"/>
          <p:cNvSpPr txBox="1"/>
          <p:nvPr>
            <p:ph idx="1" type="body"/>
          </p:nvPr>
        </p:nvSpPr>
        <p:spPr>
          <a:xfrm>
            <a:off x="0" y="521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type="title"/>
          </p:nvPr>
        </p:nvSpPr>
        <p:spPr>
          <a:xfrm>
            <a:off x="628650" y="150197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B3832"/>
              </a:buClr>
              <a:buSzPts val="4500"/>
              <a:buFont typeface="Arial"/>
              <a:buNone/>
            </a:pPr>
            <a:r>
              <a:rPr lang="en">
                <a:solidFill>
                  <a:srgbClr val="4B3832"/>
                </a:solidFill>
                <a:latin typeface="Cairo"/>
                <a:ea typeface="Cairo"/>
                <a:cs typeface="Cairo"/>
                <a:sym typeface="Cairo"/>
              </a:rPr>
              <a:t>Back-up</a:t>
            </a:r>
            <a:endParaRPr>
              <a:solidFill>
                <a:srgbClr val="4B383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