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3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notesSlides/notesSlide4.xml" ContentType="application/vnd.openxmlformats-officedocument.presentationml.notesSlide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41"/>
  </p:notesMasterIdLst>
  <p:sldIdLst>
    <p:sldId id="256" r:id="rId2"/>
    <p:sldId id="258" r:id="rId3"/>
    <p:sldId id="296" r:id="rId4"/>
    <p:sldId id="297" r:id="rId5"/>
    <p:sldId id="299" r:id="rId6"/>
    <p:sldId id="300" r:id="rId7"/>
    <p:sldId id="301" r:id="rId8"/>
    <p:sldId id="302" r:id="rId9"/>
    <p:sldId id="303" r:id="rId10"/>
    <p:sldId id="304" r:id="rId11"/>
    <p:sldId id="306" r:id="rId12"/>
    <p:sldId id="307" r:id="rId13"/>
    <p:sldId id="308" r:id="rId14"/>
    <p:sldId id="311" r:id="rId15"/>
    <p:sldId id="312" r:id="rId16"/>
    <p:sldId id="309" r:id="rId17"/>
    <p:sldId id="326" r:id="rId18"/>
    <p:sldId id="313" r:id="rId19"/>
    <p:sldId id="314" r:id="rId20"/>
    <p:sldId id="315" r:id="rId21"/>
    <p:sldId id="316" r:id="rId22"/>
    <p:sldId id="335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34" r:id="rId32"/>
    <p:sldId id="275" r:id="rId33"/>
    <p:sldId id="327" r:id="rId34"/>
    <p:sldId id="328" r:id="rId35"/>
    <p:sldId id="329" r:id="rId36"/>
    <p:sldId id="330" r:id="rId37"/>
    <p:sldId id="331" r:id="rId38"/>
    <p:sldId id="332" r:id="rId39"/>
    <p:sldId id="333" r:id="rId40"/>
  </p:sldIdLst>
  <p:sldSz cx="9144000" cy="5143500" type="screen16x9"/>
  <p:notesSz cx="6858000" cy="9144000"/>
  <p:embeddedFontLst>
    <p:embeddedFont>
      <p:font typeface="Archivo" panose="020B0604020202020204" charset="0"/>
      <p:regular r:id="rId42"/>
      <p:bold r:id="rId43"/>
      <p:italic r:id="rId44"/>
      <p:boldItalic r:id="rId45"/>
    </p:embeddedFont>
    <p:embeddedFont>
      <p:font typeface="Cambria" panose="02040503050406030204" pitchFamily="18" charset="0"/>
      <p:regular r:id="rId46"/>
      <p:bold r:id="rId47"/>
      <p:italic r:id="rId48"/>
      <p:boldItalic r:id="rId49"/>
    </p:embeddedFont>
    <p:embeddedFont>
      <p:font typeface="Cambria Math" panose="02040503050406030204" pitchFamily="18" charset="0"/>
      <p:regular r:id="rId50"/>
    </p:embeddedFont>
    <p:embeddedFont>
      <p:font typeface="Lato" panose="020F0502020204030203" pitchFamily="34" charset="0"/>
      <p:regular r:id="rId51"/>
      <p:bold r:id="rId52"/>
      <p:italic r:id="rId53"/>
      <p:boldItalic r:id="rId54"/>
    </p:embeddedFont>
    <p:embeddedFont>
      <p:font typeface="Libertinus Serif" pitchFamily="50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B"/>
    <a:srgbClr val="C2250E"/>
    <a:srgbClr val="8E3BA0"/>
    <a:srgbClr val="009744"/>
    <a:srgbClr val="DDDDDD"/>
    <a:srgbClr val="775C39"/>
    <a:srgbClr val="2A52BE"/>
    <a:srgbClr val="89FF89"/>
    <a:srgbClr val="2828FF"/>
    <a:srgbClr val="FFB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85E783-F12D-4EF7-BC51-4BD9C3BC9F5A}">
  <a:tblStyle styleId="{6585E783-F12D-4EF7-BC51-4BD9C3BC9F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22872EF-5BF2-4E2E-BA38-FF97F828879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7386" autoAdjust="0"/>
  </p:normalViewPr>
  <p:slideViewPr>
    <p:cSldViewPr snapToGrid="0">
      <p:cViewPr varScale="1">
        <p:scale>
          <a:sx n="210" d="100"/>
          <a:sy n="210" d="100"/>
        </p:scale>
        <p:origin x="354" y="15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Cambria" panose="02040503050406030204" pitchFamily="18" charset="0"/>
              <a:ea typeface="Cambria" panose="02040503050406030204" pitchFamily="18" charset="0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3348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Ref idx="1001">
        <a:schemeClr val="bg2"/>
      </p:bgRef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150" y="0"/>
            <a:ext cx="1632300" cy="51534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866900" y="642842"/>
            <a:ext cx="6249900" cy="15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1"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66900" y="2657011"/>
            <a:ext cx="4353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pic>
        <p:nvPicPr>
          <p:cNvPr id="2" name="Google Shape;33;p6">
            <a:extLst>
              <a:ext uri="{FF2B5EF4-FFF2-40B4-BE49-F238E27FC236}">
                <a16:creationId xmlns:a16="http://schemas.microsoft.com/office/drawing/2014/main" id="{1DFF7723-33C7-6312-766D-1C18EC51A27D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</a:blip>
          <a:srcRect t="86380" r="82151"/>
          <a:stretch/>
        </p:blipFill>
        <p:spPr>
          <a:xfrm>
            <a:off x="1" y="4442975"/>
            <a:ext cx="1632150" cy="7005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EB6BF52-4E62-A926-CE65-C98716FC55F8}"/>
              </a:ext>
            </a:extLst>
          </p:cNvPr>
          <p:cNvCxnSpPr>
            <a:cxnSpLocks/>
          </p:cNvCxnSpPr>
          <p:nvPr userDrawn="1"/>
        </p:nvCxnSpPr>
        <p:spPr>
          <a:xfrm>
            <a:off x="1774479" y="2779414"/>
            <a:ext cx="6695038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3347C1BD-FC69-E57D-558E-40F504776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59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11D56-0ADE-481C-8FF2-98F54ED539CA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Ref idx="1001">
        <a:schemeClr val="bg2"/>
      </p:bgRef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/>
        </p:nvSpPr>
        <p:spPr>
          <a:xfrm flipH="1">
            <a:off x="-150" y="0"/>
            <a:ext cx="1632300" cy="51534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1639525" y="445025"/>
            <a:ext cx="6533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32150" y="1477536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2"/>
          </p:nvPr>
        </p:nvSpPr>
        <p:spPr>
          <a:xfrm>
            <a:off x="1632150" y="2372433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3"/>
          </p:nvPr>
        </p:nvSpPr>
        <p:spPr>
          <a:xfrm>
            <a:off x="1639527" y="3267329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4"/>
          </p:nvPr>
        </p:nvSpPr>
        <p:spPr>
          <a:xfrm>
            <a:off x="1639527" y="4162225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5" hasCustomPrompt="1"/>
          </p:nvPr>
        </p:nvSpPr>
        <p:spPr>
          <a:xfrm>
            <a:off x="948600" y="1109725"/>
            <a:ext cx="5652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 u="sng">
                <a:solidFill>
                  <a:schemeClr val="lt2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6" hasCustomPrompt="1"/>
          </p:nvPr>
        </p:nvSpPr>
        <p:spPr>
          <a:xfrm>
            <a:off x="953029" y="2897124"/>
            <a:ext cx="5652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 u="sng">
                <a:solidFill>
                  <a:schemeClr val="lt2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7" hasCustomPrompt="1"/>
          </p:nvPr>
        </p:nvSpPr>
        <p:spPr>
          <a:xfrm>
            <a:off x="948609" y="2003425"/>
            <a:ext cx="5652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 u="sng">
                <a:solidFill>
                  <a:schemeClr val="lt2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8" hasCustomPrompt="1"/>
          </p:nvPr>
        </p:nvSpPr>
        <p:spPr>
          <a:xfrm>
            <a:off x="953034" y="3790824"/>
            <a:ext cx="5652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 u="sng">
                <a:solidFill>
                  <a:schemeClr val="lt2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9"/>
          </p:nvPr>
        </p:nvSpPr>
        <p:spPr>
          <a:xfrm>
            <a:off x="1632150" y="1128638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3"/>
          </p:nvPr>
        </p:nvSpPr>
        <p:spPr>
          <a:xfrm>
            <a:off x="1632150" y="2024722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4"/>
          </p:nvPr>
        </p:nvSpPr>
        <p:spPr>
          <a:xfrm>
            <a:off x="1639527" y="2920806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5"/>
          </p:nvPr>
        </p:nvSpPr>
        <p:spPr>
          <a:xfrm>
            <a:off x="1639527" y="3816890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pic>
        <p:nvPicPr>
          <p:cNvPr id="2" name="Google Shape;33;p6">
            <a:extLst>
              <a:ext uri="{FF2B5EF4-FFF2-40B4-BE49-F238E27FC236}">
                <a16:creationId xmlns:a16="http://schemas.microsoft.com/office/drawing/2014/main" id="{F102731E-2ED1-12B3-1DD3-95BB3B551C4D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</a:blip>
          <a:srcRect t="86380" r="82151"/>
          <a:stretch/>
        </p:blipFill>
        <p:spPr>
          <a:xfrm>
            <a:off x="1" y="4442975"/>
            <a:ext cx="1632150" cy="7005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numéro de diapositive 3">
            <a:extLst>
              <a:ext uri="{FF2B5EF4-FFF2-40B4-BE49-F238E27FC236}">
                <a16:creationId xmlns:a16="http://schemas.microsoft.com/office/drawing/2014/main" id="{F2C0FCDC-D151-C341-B000-F29879FB78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86364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11D56-0ADE-481C-8FF2-98F54ED539CA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Ref idx="1001">
        <a:schemeClr val="bg2"/>
      </p:bgRef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>
            <a:off x="4762" y="0"/>
            <a:ext cx="9134475" cy="760491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0" y="-4528"/>
            <a:ext cx="9134475" cy="760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bg1">
                    <a:lumMod val="9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2" name="Espace réservé du numéro de diapositive 3">
            <a:extLst>
              <a:ext uri="{FF2B5EF4-FFF2-40B4-BE49-F238E27FC236}">
                <a16:creationId xmlns:a16="http://schemas.microsoft.com/office/drawing/2014/main" id="{A4FEA27B-523C-2860-762F-B0B787A02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1837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11D56-0ADE-481C-8FF2-98F54ED539CA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Ref idx="1001">
        <a:schemeClr val="bg2"/>
      </p:bgRef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5055284" y="32380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1583300" y="32380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5055275" y="26653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1583075" y="26653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pic>
        <p:nvPicPr>
          <p:cNvPr id="30" name="Google Shape;30;p5"/>
          <p:cNvPicPr preferRelativeResize="0"/>
          <p:nvPr/>
        </p:nvPicPr>
        <p:blipFill rotWithShape="1">
          <a:blip r:embed="rId2">
            <a:alphaModFix amt="70000"/>
          </a:blip>
          <a:srcRect t="86380"/>
          <a:stretch/>
        </p:blipFill>
        <p:spPr>
          <a:xfrm>
            <a:off x="0" y="4442975"/>
            <a:ext cx="9134475" cy="700526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Ref idx="1001">
        <a:schemeClr val="bg2"/>
      </p:bgRef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rot="10800000">
            <a:off x="0" y="3870900"/>
            <a:ext cx="9144000" cy="1272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47" name="Google Shape;47;p9"/>
          <p:cNvSpPr/>
          <p:nvPr/>
        </p:nvSpPr>
        <p:spPr>
          <a:xfrm rot="10800000">
            <a:off x="0" y="0"/>
            <a:ext cx="9144000" cy="76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Archivo"/>
              <a:sym typeface="Archivo"/>
            </a:endParaRPr>
          </a:p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 amt="70000"/>
          </a:blip>
          <a:srcRect t="10493" b="10485"/>
          <a:stretch/>
        </p:blipFill>
        <p:spPr>
          <a:xfrm rot="10800000">
            <a:off x="9525" y="539501"/>
            <a:ext cx="9134475" cy="406449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5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rot="10800000">
            <a:off x="0" y="3870900"/>
            <a:ext cx="9144000" cy="1272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 rotWithShape="1">
          <a:blip r:embed="rId2">
            <a:alphaModFix amt="70000"/>
          </a:blip>
          <a:srcRect t="10493" b="10485"/>
          <a:stretch/>
        </p:blipFill>
        <p:spPr>
          <a:xfrm rot="10800000">
            <a:off x="9525" y="539501"/>
            <a:ext cx="9134475" cy="40644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2539225" y="3100300"/>
            <a:ext cx="53784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226400" y="1126425"/>
            <a:ext cx="6691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 flipH="1">
            <a:off x="8272200" y="0"/>
            <a:ext cx="871800" cy="5153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 amt="70000"/>
          </a:blip>
          <a:srcRect t="91529"/>
          <a:stretch/>
        </p:blipFill>
        <p:spPr>
          <a:xfrm>
            <a:off x="0" y="-7807"/>
            <a:ext cx="9134475" cy="4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720000" y="1509950"/>
            <a:ext cx="3519600" cy="122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720000" y="2739225"/>
            <a:ext cx="35196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5"/>
          <p:cNvSpPr>
            <a:spLocks noGrp="1"/>
          </p:cNvSpPr>
          <p:nvPr>
            <p:ph type="pic" idx="2"/>
          </p:nvPr>
        </p:nvSpPr>
        <p:spPr>
          <a:xfrm>
            <a:off x="5362200" y="427852"/>
            <a:ext cx="2910000" cy="4725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 flipH="1">
            <a:off x="8676000" y="0"/>
            <a:ext cx="468000" cy="5153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2">
            <a:alphaModFix amt="70000"/>
          </a:blip>
          <a:srcRect t="91529"/>
          <a:stretch/>
        </p:blipFill>
        <p:spPr>
          <a:xfrm>
            <a:off x="0" y="-7807"/>
            <a:ext cx="9134475" cy="4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716682" y="1389121"/>
            <a:ext cx="3669900" cy="15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1"/>
          </p:nvPr>
        </p:nvSpPr>
        <p:spPr>
          <a:xfrm>
            <a:off x="716682" y="2949171"/>
            <a:ext cx="3669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 flipH="1">
            <a:off x="0" y="0"/>
            <a:ext cx="468000" cy="5153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2">
            <a:alphaModFix amt="70000"/>
          </a:blip>
          <a:srcRect t="86380"/>
          <a:stretch/>
        </p:blipFill>
        <p:spPr>
          <a:xfrm>
            <a:off x="0" y="4442975"/>
            <a:ext cx="9134475" cy="70052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4398876" y="1501200"/>
            <a:ext cx="40317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1"/>
          </p:nvPr>
        </p:nvSpPr>
        <p:spPr>
          <a:xfrm>
            <a:off x="4399067" y="2562000"/>
            <a:ext cx="40317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 flipH="1">
            <a:off x="0" y="0"/>
            <a:ext cx="468000" cy="5153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 rotWithShape="1">
          <a:blip r:embed="rId2">
            <a:alphaModFix amt="70000"/>
          </a:blip>
          <a:srcRect t="91529"/>
          <a:stretch/>
        </p:blipFill>
        <p:spPr>
          <a:xfrm>
            <a:off x="0" y="-7807"/>
            <a:ext cx="9134475" cy="4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1"/>
          </p:nvPr>
        </p:nvSpPr>
        <p:spPr>
          <a:xfrm>
            <a:off x="1105700" y="1886375"/>
            <a:ext cx="27855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2"/>
          </p:nvPr>
        </p:nvSpPr>
        <p:spPr>
          <a:xfrm>
            <a:off x="5252800" y="1886375"/>
            <a:ext cx="27855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3"/>
          </p:nvPr>
        </p:nvSpPr>
        <p:spPr>
          <a:xfrm>
            <a:off x="1105700" y="3529250"/>
            <a:ext cx="27855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4"/>
          </p:nvPr>
        </p:nvSpPr>
        <p:spPr>
          <a:xfrm>
            <a:off x="5252800" y="3529250"/>
            <a:ext cx="27855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5"/>
          </p:nvPr>
        </p:nvSpPr>
        <p:spPr>
          <a:xfrm>
            <a:off x="1105700" y="1380775"/>
            <a:ext cx="27855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6"/>
          </p:nvPr>
        </p:nvSpPr>
        <p:spPr>
          <a:xfrm>
            <a:off x="1105700" y="3023750"/>
            <a:ext cx="27855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7"/>
          </p:nvPr>
        </p:nvSpPr>
        <p:spPr>
          <a:xfrm>
            <a:off x="5252795" y="1380775"/>
            <a:ext cx="27855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8"/>
          </p:nvPr>
        </p:nvSpPr>
        <p:spPr>
          <a:xfrm>
            <a:off x="5252795" y="3023750"/>
            <a:ext cx="27855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/>
          <p:nvPr/>
        </p:nvSpPr>
        <p:spPr>
          <a:xfrm rot="10800000">
            <a:off x="0" y="4793400"/>
            <a:ext cx="9144000" cy="350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151" name="Google Shape;151;p23"/>
          <p:cNvSpPr txBox="1">
            <a:spLocks noGrp="1"/>
          </p:cNvSpPr>
          <p:nvPr>
            <p:ph type="title" hasCustomPrompt="1"/>
          </p:nvPr>
        </p:nvSpPr>
        <p:spPr>
          <a:xfrm>
            <a:off x="2223600" y="53950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152" name="Google Shape;152;p23"/>
          <p:cNvSpPr txBox="1">
            <a:spLocks noGrp="1"/>
          </p:cNvSpPr>
          <p:nvPr>
            <p:ph type="subTitle" idx="1"/>
          </p:nvPr>
        </p:nvSpPr>
        <p:spPr>
          <a:xfrm>
            <a:off x="2223600" y="12284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153" name="Google Shape;153;p23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27890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3"/>
          </p:nvPr>
        </p:nvSpPr>
        <p:spPr>
          <a:xfrm>
            <a:off x="2223600" y="2616810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155" name="Google Shape;155;p23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162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5"/>
          </p:nvPr>
        </p:nvSpPr>
        <p:spPr>
          <a:xfrm>
            <a:off x="2223600" y="4005189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2">
            <a:alphaModFix amt="70000"/>
          </a:blip>
          <a:srcRect t="86380"/>
          <a:stretch/>
        </p:blipFill>
        <p:spPr>
          <a:xfrm>
            <a:off x="0" y="4442975"/>
            <a:ext cx="9134475" cy="70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60" name="Google Shape;160;p24"/>
          <p:cNvSpPr txBox="1">
            <a:spLocks noGrp="1"/>
          </p:cNvSpPr>
          <p:nvPr>
            <p:ph type="subTitle" idx="1"/>
          </p:nvPr>
        </p:nvSpPr>
        <p:spPr>
          <a:xfrm>
            <a:off x="938500" y="3629175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161" name="Google Shape;161;p24"/>
          <p:cNvSpPr txBox="1">
            <a:spLocks noGrp="1"/>
          </p:cNvSpPr>
          <p:nvPr>
            <p:ph type="subTitle" idx="2"/>
          </p:nvPr>
        </p:nvSpPr>
        <p:spPr>
          <a:xfrm>
            <a:off x="938500" y="31321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62" name="Google Shape;162;p24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63" name="Google Shape;163;p24"/>
          <p:cNvSpPr txBox="1">
            <a:spLocks noGrp="1"/>
          </p:cNvSpPr>
          <p:nvPr>
            <p:ph type="subTitle" idx="4"/>
          </p:nvPr>
        </p:nvSpPr>
        <p:spPr>
          <a:xfrm>
            <a:off x="3485400" y="3629175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164" name="Google Shape;164;p24"/>
          <p:cNvSpPr txBox="1">
            <a:spLocks noGrp="1"/>
          </p:cNvSpPr>
          <p:nvPr>
            <p:ph type="subTitle" idx="5"/>
          </p:nvPr>
        </p:nvSpPr>
        <p:spPr>
          <a:xfrm>
            <a:off x="3485400" y="31321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65" name="Google Shape;165;p24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7"/>
          </p:nvPr>
        </p:nvSpPr>
        <p:spPr>
          <a:xfrm>
            <a:off x="6032300" y="3629175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8"/>
          </p:nvPr>
        </p:nvSpPr>
        <p:spPr>
          <a:xfrm>
            <a:off x="6032300" y="31321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68" name="Google Shape;168;p24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2">
            <a:alphaModFix amt="70000"/>
          </a:blip>
          <a:srcRect t="86380"/>
          <a:stretch/>
        </p:blipFill>
        <p:spPr>
          <a:xfrm>
            <a:off x="0" y="4442975"/>
            <a:ext cx="9134475" cy="70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/>
          <p:nvPr/>
        </p:nvSpPr>
        <p:spPr>
          <a:xfrm>
            <a:off x="9575" y="4778125"/>
            <a:ext cx="9134400" cy="37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Archivo"/>
              <a:sym typeface="Archivo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7726525" y="0"/>
            <a:ext cx="1408500" cy="5153400"/>
          </a:xfrm>
          <a:prstGeom prst="rect">
            <a:avLst/>
          </a:prstGeom>
          <a:solidFill>
            <a:srgbClr val="2A52BE"/>
          </a:solidFill>
          <a:ln w="9525" cap="flat" cmpd="sng">
            <a:solidFill>
              <a:srgbClr val="2A52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713263" y="5251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1"/>
          </p:nvPr>
        </p:nvSpPr>
        <p:spPr>
          <a:xfrm>
            <a:off x="713225" y="16128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/>
          <p:nvPr/>
        </p:nvSpPr>
        <p:spPr>
          <a:xfrm flipH="1">
            <a:off x="8676000" y="0"/>
            <a:ext cx="468000" cy="5153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187" name="Google Shape;187;p28"/>
          <p:cNvPicPr preferRelativeResize="0"/>
          <p:nvPr/>
        </p:nvPicPr>
        <p:blipFill rotWithShape="1">
          <a:blip r:embed="rId2">
            <a:alphaModFix amt="70000"/>
          </a:blip>
          <a:srcRect t="91529"/>
          <a:stretch/>
        </p:blipFill>
        <p:spPr>
          <a:xfrm>
            <a:off x="0" y="4707843"/>
            <a:ext cx="9134475" cy="4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/>
          <p:nvPr/>
        </p:nvSpPr>
        <p:spPr>
          <a:xfrm rot="10800000">
            <a:off x="0" y="4793400"/>
            <a:ext cx="9144000" cy="350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190" name="Google Shape;190;p29"/>
          <p:cNvPicPr preferRelativeResize="0"/>
          <p:nvPr/>
        </p:nvPicPr>
        <p:blipFill rotWithShape="1">
          <a:blip r:embed="rId2">
            <a:alphaModFix amt="70000"/>
          </a:blip>
          <a:srcRect t="86380"/>
          <a:stretch/>
        </p:blipFill>
        <p:spPr>
          <a:xfrm>
            <a:off x="0" y="4442975"/>
            <a:ext cx="9134475" cy="70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690EAD2-41DB-CFB6-2E4A-A916DE4A6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ACEFD70-BDEC-9886-84AF-3C3160E26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1D22FE-A4A8-C424-3FF5-F6D7AD2F7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43011D56-0ADE-481C-8FF2-98F54ED539CA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9" r:id="rId2"/>
    <p:sldLayoutId id="2147483652" r:id="rId3"/>
    <p:sldLayoutId id="2147483651" r:id="rId4"/>
    <p:sldLayoutId id="2147483655" r:id="rId5"/>
    <p:sldLayoutId id="2147483658" r:id="rId6"/>
    <p:sldLayoutId id="2147483660" r:id="rId7"/>
    <p:sldLayoutId id="2147483661" r:id="rId8"/>
    <p:sldLayoutId id="2147483662" r:id="rId9"/>
    <p:sldLayoutId id="2147483663" r:id="rId10"/>
    <p:sldLayoutId id="2147483667" r:id="rId11"/>
    <p:sldLayoutId id="2147483669" r:id="rId12"/>
    <p:sldLayoutId id="2147483670" r:id="rId13"/>
    <p:sldLayoutId id="2147483673" r:id="rId14"/>
    <p:sldLayoutId id="2147483674" r:id="rId15"/>
    <p:sldLayoutId id="2147483675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.jpeg"/><Relationship Id="rId18" Type="http://schemas.openxmlformats.org/officeDocument/2006/relationships/image" Target="../media/image7.jp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17" Type="http://schemas.openxmlformats.org/officeDocument/2006/relationships/image" Target="../media/image6.png"/><Relationship Id="rId2" Type="http://schemas.openxmlformats.org/officeDocument/2006/relationships/tags" Target="../tags/tag2.xml"/><Relationship Id="rId16" Type="http://schemas.openxmlformats.org/officeDocument/2006/relationships/image" Target="../media/image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5" Type="http://schemas.openxmlformats.org/officeDocument/2006/relationships/image" Target="../media/image4.jpeg"/><Relationship Id="rId10" Type="http://schemas.openxmlformats.org/officeDocument/2006/relationships/tags" Target="../tags/tag10.xml"/><Relationship Id="rId19" Type="http://schemas.openxmlformats.org/officeDocument/2006/relationships/image" Target="../media/image8.jp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2" Type="http://schemas.openxmlformats.org/officeDocument/2006/relationships/tags" Target="../tags/tag12.xml"/><Relationship Id="rId16" Type="http://schemas.openxmlformats.org/officeDocument/2006/relationships/notesSlide" Target="../notesSlides/notesSlide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9.jpe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image" Target="../media/image10.png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image" Target="../media/image12.png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26" Type="http://schemas.openxmlformats.org/officeDocument/2006/relationships/image" Target="../media/image18.png"/><Relationship Id="rId3" Type="http://schemas.openxmlformats.org/officeDocument/2006/relationships/tags" Target="../tags/tag48.xml"/><Relationship Id="rId21" Type="http://schemas.openxmlformats.org/officeDocument/2006/relationships/image" Target="../media/image17.png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image" Target="../media/image15.png"/><Relationship Id="rId25" Type="http://schemas.openxmlformats.org/officeDocument/2006/relationships/image" Target="../media/image24.png"/><Relationship Id="rId2" Type="http://schemas.openxmlformats.org/officeDocument/2006/relationships/tags" Target="../tags/tag47.xml"/><Relationship Id="rId16" Type="http://schemas.openxmlformats.org/officeDocument/2006/relationships/image" Target="../media/image14.jpeg"/><Relationship Id="rId20" Type="http://schemas.openxmlformats.org/officeDocument/2006/relationships/image" Target="../media/image16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24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image" Target="../media/image13.jpeg"/><Relationship Id="rId10" Type="http://schemas.openxmlformats.org/officeDocument/2006/relationships/tags" Target="../tags/tag55.xml"/><Relationship Id="rId19" Type="http://schemas.openxmlformats.org/officeDocument/2006/relationships/tags" Target="../tags/tag53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tags" Target="../tags/tag61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tags" Target="../tags/tag67.xml"/><Relationship Id="rId21" Type="http://schemas.openxmlformats.org/officeDocument/2006/relationships/image" Target="../media/image27.png"/><Relationship Id="rId7" Type="http://schemas.openxmlformats.org/officeDocument/2006/relationships/tags" Target="../tags/tag71.xml"/><Relationship Id="rId12" Type="http://schemas.openxmlformats.org/officeDocument/2006/relationships/slideLayout" Target="../slideLayouts/slideLayout3.xml"/><Relationship Id="rId17" Type="http://schemas.openxmlformats.org/officeDocument/2006/relationships/image" Target="../media/image23.png"/><Relationship Id="rId2" Type="http://schemas.openxmlformats.org/officeDocument/2006/relationships/tags" Target="../tags/tag66.xml"/><Relationship Id="rId16" Type="http://schemas.openxmlformats.org/officeDocument/2006/relationships/tags" Target="../tags/tag69.xml"/><Relationship Id="rId20" Type="http://schemas.openxmlformats.org/officeDocument/2006/relationships/tags" Target="../tags/tag74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image" Target="../media/image22.png"/><Relationship Id="rId10" Type="http://schemas.openxmlformats.org/officeDocument/2006/relationships/tags" Target="../tags/tag74.xml"/><Relationship Id="rId19" Type="http://schemas.openxmlformats.org/officeDocument/2006/relationships/image" Target="../media/image26.png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6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26" Type="http://schemas.microsoft.com/office/2007/relationships/hdphoto" Target="../media/hdphoto1.wdp"/><Relationship Id="rId3" Type="http://schemas.openxmlformats.org/officeDocument/2006/relationships/tags" Target="../tags/tag78.xml"/><Relationship Id="rId21" Type="http://schemas.openxmlformats.org/officeDocument/2006/relationships/image" Target="../media/image34.png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image" Target="../media/image29.png"/><Relationship Id="rId25" Type="http://schemas.openxmlformats.org/officeDocument/2006/relationships/image" Target="../media/image32.png"/><Relationship Id="rId2" Type="http://schemas.openxmlformats.org/officeDocument/2006/relationships/tags" Target="../tags/tag77.xml"/><Relationship Id="rId16" Type="http://schemas.openxmlformats.org/officeDocument/2006/relationships/image" Target="../media/image28.png"/><Relationship Id="rId20" Type="http://schemas.openxmlformats.org/officeDocument/2006/relationships/tags" Target="../tags/tag80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24" Type="http://schemas.openxmlformats.org/officeDocument/2006/relationships/image" Target="../media/image30.png"/><Relationship Id="rId5" Type="http://schemas.openxmlformats.org/officeDocument/2006/relationships/tags" Target="../tags/tag80.xml"/><Relationship Id="rId15" Type="http://schemas.openxmlformats.org/officeDocument/2006/relationships/slideLayout" Target="../slideLayouts/slideLayout3.xml"/><Relationship Id="rId23" Type="http://schemas.openxmlformats.org/officeDocument/2006/relationships/image" Target="../media/image31.png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Relationship Id="rId22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image" Target="../media/image41.png"/><Relationship Id="rId18" Type="http://schemas.openxmlformats.org/officeDocument/2006/relationships/image" Target="../media/image37.png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image" Target="../media/image35.png"/><Relationship Id="rId17" Type="http://schemas.openxmlformats.org/officeDocument/2006/relationships/image" Target="../media/image45.png"/><Relationship Id="rId2" Type="http://schemas.openxmlformats.org/officeDocument/2006/relationships/tags" Target="../tags/tag91.xml"/><Relationship Id="rId16" Type="http://schemas.openxmlformats.org/officeDocument/2006/relationships/image" Target="../media/image44.png"/><Relationship Id="rId20" Type="http://schemas.openxmlformats.org/officeDocument/2006/relationships/image" Target="../media/image40.png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image" Target="../media/image39.png"/><Relationship Id="rId5" Type="http://schemas.openxmlformats.org/officeDocument/2006/relationships/tags" Target="../tags/tag94.xml"/><Relationship Id="rId15" Type="http://schemas.openxmlformats.org/officeDocument/2006/relationships/image" Target="../media/image36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tags" Target="../tags/tag93.xml"/><Relationship Id="rId9" Type="http://schemas.openxmlformats.org/officeDocument/2006/relationships/image" Target="../media/image33.png"/><Relationship Id="rId1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" Type="http://schemas.openxmlformats.org/officeDocument/2006/relationships/tags" Target="../tags/tag99.xml"/><Relationship Id="rId21" Type="http://schemas.openxmlformats.org/officeDocument/2006/relationships/tags" Target="../tags/tag100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17" Type="http://schemas.openxmlformats.org/officeDocument/2006/relationships/slideLayout" Target="../slideLayouts/slideLayout3.xml"/><Relationship Id="rId25" Type="http://schemas.openxmlformats.org/officeDocument/2006/relationships/tags" Target="../tags/tag104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29" Type="http://schemas.openxmlformats.org/officeDocument/2006/relationships/image" Target="../media/image46.png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24" Type="http://schemas.openxmlformats.org/officeDocument/2006/relationships/image" Target="../media/image50.png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23" Type="http://schemas.openxmlformats.org/officeDocument/2006/relationships/tags" Target="../tags/tag102.xml"/><Relationship Id="rId28" Type="http://schemas.openxmlformats.org/officeDocument/2006/relationships/image" Target="../media/image52.png"/><Relationship Id="rId10" Type="http://schemas.openxmlformats.org/officeDocument/2006/relationships/tags" Target="../tags/tag106.xml"/><Relationship Id="rId31" Type="http://schemas.openxmlformats.org/officeDocument/2006/relationships/image" Target="../media/image18.png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Relationship Id="rId22" Type="http://schemas.openxmlformats.org/officeDocument/2006/relationships/image" Target="../media/image49.png"/><Relationship Id="rId27" Type="http://schemas.openxmlformats.org/officeDocument/2006/relationships/tags" Target="../tags/tag105.xml"/><Relationship Id="rId30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tags" Target="../tags/tag115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image" Target="../media/image55.png"/><Relationship Id="rId5" Type="http://schemas.openxmlformats.org/officeDocument/2006/relationships/tags" Target="../tags/tag117.xml"/><Relationship Id="rId10" Type="http://schemas.openxmlformats.org/officeDocument/2006/relationships/image" Target="../media/image54.jpeg"/><Relationship Id="rId4" Type="http://schemas.openxmlformats.org/officeDocument/2006/relationships/tags" Target="../tags/tag116.xml"/><Relationship Id="rId9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13" Type="http://schemas.openxmlformats.org/officeDocument/2006/relationships/tags" Target="../tags/tag120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12" Type="http://schemas.openxmlformats.org/officeDocument/2006/relationships/slideLayout" Target="../slideLayouts/slideLayout3.xml"/><Relationship Id="rId17" Type="http://schemas.openxmlformats.org/officeDocument/2006/relationships/image" Target="../media/image58.jpeg"/><Relationship Id="rId2" Type="http://schemas.openxmlformats.org/officeDocument/2006/relationships/tags" Target="../tags/tag120.xml"/><Relationship Id="rId16" Type="http://schemas.openxmlformats.org/officeDocument/2006/relationships/image" Target="../media/image57.png"/><Relationship Id="rId20" Type="http://schemas.openxmlformats.org/officeDocument/2006/relationships/image" Target="../media/image59.png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5" Type="http://schemas.openxmlformats.org/officeDocument/2006/relationships/tags" Target="../tags/tag123.xml"/><Relationship Id="rId15" Type="http://schemas.openxmlformats.org/officeDocument/2006/relationships/image" Target="../media/image56.jpeg"/><Relationship Id="rId10" Type="http://schemas.openxmlformats.org/officeDocument/2006/relationships/tags" Target="../tags/tag128.xml"/><Relationship Id="rId19" Type="http://schemas.openxmlformats.org/officeDocument/2006/relationships/tags" Target="../tags/tag126.xml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tags" Target="../tags/tag136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12" Type="http://schemas.openxmlformats.org/officeDocument/2006/relationships/image" Target="../media/image62.png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image" Target="../media/image61.png"/><Relationship Id="rId5" Type="http://schemas.openxmlformats.org/officeDocument/2006/relationships/tags" Target="../tags/tag134.xml"/><Relationship Id="rId10" Type="http://schemas.openxmlformats.org/officeDocument/2006/relationships/image" Target="../media/image60.png"/><Relationship Id="rId4" Type="http://schemas.openxmlformats.org/officeDocument/2006/relationships/tags" Target="../tags/tag133.xml"/><Relationship Id="rId9" Type="http://schemas.openxmlformats.org/officeDocument/2006/relationships/image" Target="../media/image59.jpeg"/><Relationship Id="rId14" Type="http://schemas.openxmlformats.org/officeDocument/2006/relationships/image" Target="../media/image60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tags" Target="../tags/tag139.xml"/><Relationship Id="rId7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image" Target="../media/image63.jpe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4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tags" Target="../tags/tag143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10" Type="http://schemas.openxmlformats.org/officeDocument/2006/relationships/image" Target="../media/image63.png"/><Relationship Id="rId4" Type="http://schemas.openxmlformats.org/officeDocument/2006/relationships/tags" Target="../tags/tag144.xml"/><Relationship Id="rId9" Type="http://schemas.openxmlformats.org/officeDocument/2006/relationships/tags" Target="../tags/tag14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image" Target="../media/image67.png"/><Relationship Id="rId2" Type="http://schemas.openxmlformats.org/officeDocument/2006/relationships/tags" Target="../tags/tag148.xml"/><Relationship Id="rId16" Type="http://schemas.openxmlformats.org/officeDocument/2006/relationships/tags" Target="../tags/tag155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image" Target="../media/image66.jpeg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image" Target="../media/image65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71.png"/><Relationship Id="rId3" Type="http://schemas.openxmlformats.org/officeDocument/2006/relationships/tags" Target="../tags/tag161.xml"/><Relationship Id="rId21" Type="http://schemas.openxmlformats.org/officeDocument/2006/relationships/tags" Target="../tags/tag167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17" Type="http://schemas.openxmlformats.org/officeDocument/2006/relationships/tags" Target="../tags/tag163.xml"/><Relationship Id="rId2" Type="http://schemas.openxmlformats.org/officeDocument/2006/relationships/tags" Target="../tags/tag160.xml"/><Relationship Id="rId16" Type="http://schemas.openxmlformats.org/officeDocument/2006/relationships/image" Target="../media/image70.png"/><Relationship Id="rId20" Type="http://schemas.openxmlformats.org/officeDocument/2006/relationships/image" Target="../media/image72.png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image" Target="../media/image69.png"/><Relationship Id="rId10" Type="http://schemas.openxmlformats.org/officeDocument/2006/relationships/tags" Target="../tags/tag168.xml"/><Relationship Id="rId19" Type="http://schemas.openxmlformats.org/officeDocument/2006/relationships/tags" Target="../tags/tag165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image" Target="../media/image68.png"/><Relationship Id="rId22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74.xml"/><Relationship Id="rId3" Type="http://schemas.openxmlformats.org/officeDocument/2006/relationships/tags" Target="../tags/tag173.xml"/><Relationship Id="rId7" Type="http://schemas.openxmlformats.org/officeDocument/2006/relationships/image" Target="../media/image74.png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9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image" Target="../media/image77.png"/><Relationship Id="rId5" Type="http://schemas.openxmlformats.org/officeDocument/2006/relationships/tags" Target="../tags/tag180.xml"/><Relationship Id="rId10" Type="http://schemas.openxmlformats.org/officeDocument/2006/relationships/image" Target="../media/image76.jpeg"/><Relationship Id="rId4" Type="http://schemas.openxmlformats.org/officeDocument/2006/relationships/tags" Target="../tags/tag179.xml"/><Relationship Id="rId9" Type="http://schemas.openxmlformats.org/officeDocument/2006/relationships/image" Target="../media/image75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tags" Target="../tags/tag188.xml"/><Relationship Id="rId3" Type="http://schemas.openxmlformats.org/officeDocument/2006/relationships/tags" Target="../tags/tag185.xml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780.png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87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9" Type="http://schemas.openxmlformats.org/officeDocument/2006/relationships/image" Target="../media/image79.png"/><Relationship Id="rId14" Type="http://schemas.openxmlformats.org/officeDocument/2006/relationships/image" Target="../media/image7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13" Type="http://schemas.openxmlformats.org/officeDocument/2006/relationships/image" Target="../media/image82.png"/><Relationship Id="rId3" Type="http://schemas.openxmlformats.org/officeDocument/2006/relationships/tags" Target="../tags/tag191.xml"/><Relationship Id="rId7" Type="http://schemas.openxmlformats.org/officeDocument/2006/relationships/tags" Target="../tags/tag195.xml"/><Relationship Id="rId12" Type="http://schemas.openxmlformats.org/officeDocument/2006/relationships/image" Target="../media/image81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11" Type="http://schemas.openxmlformats.org/officeDocument/2006/relationships/image" Target="../media/image80.png"/><Relationship Id="rId5" Type="http://schemas.openxmlformats.org/officeDocument/2006/relationships/tags" Target="../tags/tag193.xml"/><Relationship Id="rId15" Type="http://schemas.openxmlformats.org/officeDocument/2006/relationships/image" Target="../media/image84.png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image" Target="../media/image87.jpeg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image" Target="../media/image86.png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image" Target="../media/image85.jpeg"/><Relationship Id="rId5" Type="http://schemas.openxmlformats.org/officeDocument/2006/relationships/tags" Target="../tags/tag202.xml"/><Relationship Id="rId15" Type="http://schemas.openxmlformats.org/officeDocument/2006/relationships/image" Target="../media/image89.png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201.xml"/><Relationship Id="rId9" Type="http://schemas.openxmlformats.org/officeDocument/2006/relationships/tags" Target="../tags/tag206.xml"/><Relationship Id="rId1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14.xml"/><Relationship Id="rId13" Type="http://schemas.openxmlformats.org/officeDocument/2006/relationships/image" Target="../media/image92.jpeg"/><Relationship Id="rId3" Type="http://schemas.openxmlformats.org/officeDocument/2006/relationships/tags" Target="../tags/tag209.xml"/><Relationship Id="rId7" Type="http://schemas.openxmlformats.org/officeDocument/2006/relationships/tags" Target="../tags/tag213.xml"/><Relationship Id="rId12" Type="http://schemas.openxmlformats.org/officeDocument/2006/relationships/image" Target="../media/image91.png"/><Relationship Id="rId2" Type="http://schemas.openxmlformats.org/officeDocument/2006/relationships/tags" Target="../tags/tag208.xml"/><Relationship Id="rId16" Type="http://schemas.openxmlformats.org/officeDocument/2006/relationships/image" Target="../media/image95.jpeg"/><Relationship Id="rId1" Type="http://schemas.openxmlformats.org/officeDocument/2006/relationships/tags" Target="../tags/tag207.xml"/><Relationship Id="rId6" Type="http://schemas.openxmlformats.org/officeDocument/2006/relationships/tags" Target="../tags/tag212.xml"/><Relationship Id="rId11" Type="http://schemas.openxmlformats.org/officeDocument/2006/relationships/image" Target="../media/image90.jpeg"/><Relationship Id="rId5" Type="http://schemas.openxmlformats.org/officeDocument/2006/relationships/tags" Target="../tags/tag211.xml"/><Relationship Id="rId15" Type="http://schemas.openxmlformats.org/officeDocument/2006/relationships/image" Target="../media/image94.jpeg"/><Relationship Id="rId10" Type="http://schemas.openxmlformats.org/officeDocument/2006/relationships/notesSlide" Target="../notesSlides/notesSlide3.xml"/><Relationship Id="rId4" Type="http://schemas.openxmlformats.org/officeDocument/2006/relationships/tags" Target="../tags/tag210.xml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93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image" Target="../media/image92.png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12" Type="http://schemas.openxmlformats.org/officeDocument/2006/relationships/tags" Target="../tags/tag219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image" Target="../media/image98.jpeg"/><Relationship Id="rId5" Type="http://schemas.openxmlformats.org/officeDocument/2006/relationships/tags" Target="../tags/tag219.xml"/><Relationship Id="rId10" Type="http://schemas.openxmlformats.org/officeDocument/2006/relationships/image" Target="../media/image97.jpeg"/><Relationship Id="rId4" Type="http://schemas.openxmlformats.org/officeDocument/2006/relationships/tags" Target="../tags/tag218.xml"/><Relationship Id="rId9" Type="http://schemas.openxmlformats.org/officeDocument/2006/relationships/image" Target="../media/image96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29.xml"/><Relationship Id="rId13" Type="http://schemas.openxmlformats.org/officeDocument/2006/relationships/tags" Target="../tags/tag224.xml"/><Relationship Id="rId18" Type="http://schemas.openxmlformats.org/officeDocument/2006/relationships/image" Target="../media/image101.png"/><Relationship Id="rId3" Type="http://schemas.openxmlformats.org/officeDocument/2006/relationships/tags" Target="../tags/tag224.xml"/><Relationship Id="rId7" Type="http://schemas.openxmlformats.org/officeDocument/2006/relationships/tags" Target="../tags/tag228.xml"/><Relationship Id="rId12" Type="http://schemas.openxmlformats.org/officeDocument/2006/relationships/image" Target="../media/image116.png"/><Relationship Id="rId17" Type="http://schemas.openxmlformats.org/officeDocument/2006/relationships/image" Target="../media/image95.png"/><Relationship Id="rId2" Type="http://schemas.openxmlformats.org/officeDocument/2006/relationships/tags" Target="../tags/tag223.xml"/><Relationship Id="rId16" Type="http://schemas.openxmlformats.org/officeDocument/2006/relationships/tags" Target="../tags/tag226.xml"/><Relationship Id="rId1" Type="http://schemas.openxmlformats.org/officeDocument/2006/relationships/tags" Target="../tags/tag222.xml"/><Relationship Id="rId6" Type="http://schemas.openxmlformats.org/officeDocument/2006/relationships/tags" Target="../tags/tag227.xml"/><Relationship Id="rId11" Type="http://schemas.openxmlformats.org/officeDocument/2006/relationships/tags" Target="../tags/tag223.xml"/><Relationship Id="rId5" Type="http://schemas.openxmlformats.org/officeDocument/2006/relationships/tags" Target="../tags/tag226.xml"/><Relationship Id="rId15" Type="http://schemas.openxmlformats.org/officeDocument/2006/relationships/image" Target="../media/image100.jpeg"/><Relationship Id="rId10" Type="http://schemas.openxmlformats.org/officeDocument/2006/relationships/image" Target="../media/image99.jpeg"/><Relationship Id="rId19" Type="http://schemas.openxmlformats.org/officeDocument/2006/relationships/image" Target="../media/image102.png"/><Relationship Id="rId4" Type="http://schemas.openxmlformats.org/officeDocument/2006/relationships/tags" Target="../tags/tag225.xml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9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tags" Target="../tags/tag232.xml"/><Relationship Id="rId7" Type="http://schemas.openxmlformats.org/officeDocument/2006/relationships/image" Target="../media/image103.png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105.png"/><Relationship Id="rId5" Type="http://schemas.openxmlformats.org/officeDocument/2006/relationships/tags" Target="../tags/tag234.xml"/><Relationship Id="rId10" Type="http://schemas.openxmlformats.org/officeDocument/2006/relationships/image" Target="../media/image122.png"/><Relationship Id="rId4" Type="http://schemas.openxmlformats.org/officeDocument/2006/relationships/tags" Target="../tags/tag233.xml"/><Relationship Id="rId9" Type="http://schemas.openxmlformats.org/officeDocument/2006/relationships/tags" Target="../tags/tag23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openxmlformats.org/officeDocument/2006/relationships/image" Target="../media/image106.png"/><Relationship Id="rId18" Type="http://schemas.openxmlformats.org/officeDocument/2006/relationships/image" Target="../media/image109.jpeg"/><Relationship Id="rId3" Type="http://schemas.openxmlformats.org/officeDocument/2006/relationships/tags" Target="../tags/tag237.xml"/><Relationship Id="rId7" Type="http://schemas.openxmlformats.org/officeDocument/2006/relationships/tags" Target="../tags/tag241.xml"/><Relationship Id="rId12" Type="http://schemas.openxmlformats.org/officeDocument/2006/relationships/slideLayout" Target="../slideLayouts/slideLayout3.xml"/><Relationship Id="rId17" Type="http://schemas.openxmlformats.org/officeDocument/2006/relationships/image" Target="../media/image108.jpeg"/><Relationship Id="rId2" Type="http://schemas.openxmlformats.org/officeDocument/2006/relationships/tags" Target="../tags/tag236.xml"/><Relationship Id="rId16" Type="http://schemas.openxmlformats.org/officeDocument/2006/relationships/image" Target="../media/image107.png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tags" Target="../tags/tag245.xml"/><Relationship Id="rId5" Type="http://schemas.openxmlformats.org/officeDocument/2006/relationships/tags" Target="../tags/tag239.xml"/><Relationship Id="rId15" Type="http://schemas.openxmlformats.org/officeDocument/2006/relationships/image" Target="../media/image127.png"/><Relationship Id="rId10" Type="http://schemas.openxmlformats.org/officeDocument/2006/relationships/tags" Target="../tags/tag244.xml"/><Relationship Id="rId4" Type="http://schemas.openxmlformats.org/officeDocument/2006/relationships/tags" Target="../tags/tag238.xml"/><Relationship Id="rId9" Type="http://schemas.openxmlformats.org/officeDocument/2006/relationships/tags" Target="../tags/tag243.xml"/><Relationship Id="rId14" Type="http://schemas.openxmlformats.org/officeDocument/2006/relationships/tags" Target="../tags/tag23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image" Target="../media/image1060.png"/><Relationship Id="rId18" Type="http://schemas.openxmlformats.org/officeDocument/2006/relationships/image" Target="../media/image111.png"/><Relationship Id="rId3" Type="http://schemas.openxmlformats.org/officeDocument/2006/relationships/tags" Target="../tags/tag248.xml"/><Relationship Id="rId7" Type="http://schemas.openxmlformats.org/officeDocument/2006/relationships/tags" Target="../tags/tag252.xml"/><Relationship Id="rId12" Type="http://schemas.openxmlformats.org/officeDocument/2006/relationships/tags" Target="../tags/tag248.xml"/><Relationship Id="rId17" Type="http://schemas.openxmlformats.org/officeDocument/2006/relationships/image" Target="../media/image136.png"/><Relationship Id="rId2" Type="http://schemas.openxmlformats.org/officeDocument/2006/relationships/tags" Target="../tags/tag247.xml"/><Relationship Id="rId16" Type="http://schemas.openxmlformats.org/officeDocument/2006/relationships/tags" Target="../tags/tag249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11" Type="http://schemas.openxmlformats.org/officeDocument/2006/relationships/image" Target="../media/image131.png"/><Relationship Id="rId5" Type="http://schemas.openxmlformats.org/officeDocument/2006/relationships/tags" Target="../tags/tag250.xml"/><Relationship Id="rId10" Type="http://schemas.openxmlformats.org/officeDocument/2006/relationships/tags" Target="../tags/tag247.xml"/><Relationship Id="rId19" Type="http://schemas.openxmlformats.org/officeDocument/2006/relationships/image" Target="../media/image112.png"/><Relationship Id="rId4" Type="http://schemas.openxmlformats.org/officeDocument/2006/relationships/tags" Target="../tags/tag249.xml"/><Relationship Id="rId9" Type="http://schemas.openxmlformats.org/officeDocument/2006/relationships/image" Target="../media/image11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tags" Target="../tags/tag255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image" Target="../media/image117.png"/><Relationship Id="rId5" Type="http://schemas.openxmlformats.org/officeDocument/2006/relationships/tags" Target="../tags/tag257.xml"/><Relationship Id="rId10" Type="http://schemas.openxmlformats.org/officeDocument/2006/relationships/image" Target="../media/image115.png"/><Relationship Id="rId4" Type="http://schemas.openxmlformats.org/officeDocument/2006/relationships/tags" Target="../tags/tag256.xml"/><Relationship Id="rId9" Type="http://schemas.openxmlformats.org/officeDocument/2006/relationships/image" Target="../media/image1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" Type="http://schemas.openxmlformats.org/officeDocument/2006/relationships/tags" Target="../tags/tag259.xml"/><Relationship Id="rId5" Type="http://schemas.openxmlformats.org/officeDocument/2006/relationships/image" Target="../media/image118.png"/><Relationship Id="rId4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264.xml"/><Relationship Id="rId2" Type="http://schemas.openxmlformats.org/officeDocument/2006/relationships/tags" Target="../tags/tag263.xml"/><Relationship Id="rId1" Type="http://schemas.openxmlformats.org/officeDocument/2006/relationships/tags" Target="../tags/tag262.xml"/><Relationship Id="rId5" Type="http://schemas.openxmlformats.org/officeDocument/2006/relationships/image" Target="../media/image119.png"/><Relationship Id="rId4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6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6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tags" Target="../tags/tag269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68.xml"/><Relationship Id="rId1" Type="http://schemas.openxmlformats.org/officeDocument/2006/relationships/tags" Target="../tags/tag267.xml"/><Relationship Id="rId6" Type="http://schemas.openxmlformats.org/officeDocument/2006/relationships/tags" Target="../tags/tag272.xml"/><Relationship Id="rId11" Type="http://schemas.openxmlformats.org/officeDocument/2006/relationships/image" Target="../media/image124.png"/><Relationship Id="rId5" Type="http://schemas.openxmlformats.org/officeDocument/2006/relationships/tags" Target="../tags/tag271.xml"/><Relationship Id="rId10" Type="http://schemas.openxmlformats.org/officeDocument/2006/relationships/image" Target="../media/image123.png"/><Relationship Id="rId4" Type="http://schemas.openxmlformats.org/officeDocument/2006/relationships/tags" Target="../tags/tag270.xml"/><Relationship Id="rId9" Type="http://schemas.openxmlformats.org/officeDocument/2006/relationships/image" Target="../media/image12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tags" Target="../tags/tag275.xml"/><Relationship Id="rId7" Type="http://schemas.openxmlformats.org/officeDocument/2006/relationships/image" Target="../media/image125.png"/><Relationship Id="rId2" Type="http://schemas.openxmlformats.org/officeDocument/2006/relationships/tags" Target="../tags/tag274.xml"/><Relationship Id="rId1" Type="http://schemas.openxmlformats.org/officeDocument/2006/relationships/tags" Target="../tags/tag273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277.xml"/><Relationship Id="rId4" Type="http://schemas.openxmlformats.org/officeDocument/2006/relationships/tags" Target="../tags/tag27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tags" Target="../tags/tag280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11" Type="http://schemas.openxmlformats.org/officeDocument/2006/relationships/image" Target="../media/image132.png"/><Relationship Id="rId5" Type="http://schemas.openxmlformats.org/officeDocument/2006/relationships/tags" Target="../tags/tag282.xml"/><Relationship Id="rId10" Type="http://schemas.openxmlformats.org/officeDocument/2006/relationships/image" Target="../media/image130.png"/><Relationship Id="rId4" Type="http://schemas.openxmlformats.org/officeDocument/2006/relationships/tags" Target="../tags/tag281.xml"/><Relationship Id="rId9" Type="http://schemas.openxmlformats.org/officeDocument/2006/relationships/image" Target="../media/image1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286.xml"/><Relationship Id="rId7" Type="http://schemas.openxmlformats.org/officeDocument/2006/relationships/image" Target="../media/image134.png"/><Relationship Id="rId2" Type="http://schemas.openxmlformats.org/officeDocument/2006/relationships/tags" Target="../tags/tag285.xml"/><Relationship Id="rId1" Type="http://schemas.openxmlformats.org/officeDocument/2006/relationships/tags" Target="../tags/tag284.xml"/><Relationship Id="rId6" Type="http://schemas.openxmlformats.org/officeDocument/2006/relationships/image" Target="../media/image133.pn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8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tags" Target="../tags/tag290.xml"/><Relationship Id="rId7" Type="http://schemas.openxmlformats.org/officeDocument/2006/relationships/image" Target="../media/image137.png"/><Relationship Id="rId2" Type="http://schemas.openxmlformats.org/officeDocument/2006/relationships/tags" Target="../tags/tag289.xml"/><Relationship Id="rId1" Type="http://schemas.openxmlformats.org/officeDocument/2006/relationships/tags" Target="../tags/tag288.xml"/><Relationship Id="rId6" Type="http://schemas.openxmlformats.org/officeDocument/2006/relationships/image" Target="../media/image135.pn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9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299.xml"/><Relationship Id="rId13" Type="http://schemas.openxmlformats.org/officeDocument/2006/relationships/image" Target="../media/image142.png"/><Relationship Id="rId3" Type="http://schemas.openxmlformats.org/officeDocument/2006/relationships/tags" Target="../tags/tag294.xml"/><Relationship Id="rId7" Type="http://schemas.openxmlformats.org/officeDocument/2006/relationships/tags" Target="../tags/tag298.xml"/><Relationship Id="rId12" Type="http://schemas.openxmlformats.org/officeDocument/2006/relationships/image" Target="../media/image141.png"/><Relationship Id="rId2" Type="http://schemas.openxmlformats.org/officeDocument/2006/relationships/tags" Target="../tags/tag293.xml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11" Type="http://schemas.openxmlformats.org/officeDocument/2006/relationships/image" Target="../media/image140.png"/><Relationship Id="rId5" Type="http://schemas.openxmlformats.org/officeDocument/2006/relationships/tags" Target="../tags/tag296.xml"/><Relationship Id="rId10" Type="http://schemas.openxmlformats.org/officeDocument/2006/relationships/image" Target="../media/image139.png"/><Relationship Id="rId4" Type="http://schemas.openxmlformats.org/officeDocument/2006/relationships/tags" Target="../tags/tag295.xml"/><Relationship Id="rId9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62125" y="751879"/>
            <a:ext cx="7256949" cy="18981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noProof="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</a:rPr>
              <a:t>Diffusion Compton profondément virtuelle avec l'expérience CLAS12 au laboratoire Jefferson (USA)</a:t>
            </a:r>
            <a:endParaRPr lang="fr-FR" sz="7200" b="0" noProof="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202" name="Google Shape;202;p33"/>
          <p:cNvSpPr txBox="1"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199103" y="2878633"/>
            <a:ext cx="4353300" cy="11526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rtl="0" fontAlgn="base"/>
            <a:r>
              <a:rPr lang="fr-FR" sz="2000" b="0" i="0" u="none" strike="noStrike" noProof="0" dirty="0">
                <a:solidFill>
                  <a:schemeClr val="bg1">
                    <a:lumMod val="25000"/>
                  </a:schemeClr>
                </a:solidFill>
                <a:effectLst/>
                <a:cs typeface="Libertinus Serif" pitchFamily="50" charset="0"/>
              </a:rPr>
              <a:t>Mathieu Ouillon​</a:t>
            </a:r>
            <a:r>
              <a:rPr lang="fr-FR" sz="2000" b="0" i="0" noProof="0" dirty="0">
                <a:solidFill>
                  <a:schemeClr val="bg1">
                    <a:lumMod val="25000"/>
                  </a:schemeClr>
                </a:solidFill>
                <a:effectLst/>
                <a:cs typeface="Libertinus Serif" pitchFamily="50" charset="0"/>
              </a:rPr>
              <a:t>​</a:t>
            </a:r>
          </a:p>
          <a:p>
            <a:pPr algn="ctr" rtl="0" fontAlgn="base"/>
            <a:r>
              <a:rPr lang="fr-FR" sz="2000" b="0" i="0" u="none" strike="noStrike" noProof="0" dirty="0" err="1">
                <a:solidFill>
                  <a:schemeClr val="bg1">
                    <a:lumMod val="25000"/>
                  </a:schemeClr>
                </a:solidFill>
                <a:effectLst/>
                <a:cs typeface="Libertinus Serif" pitchFamily="50" charset="0"/>
              </a:rPr>
              <a:t>IJCLab</a:t>
            </a:r>
            <a:endParaRPr lang="fr-FR" sz="2000" b="0" i="0" u="none" strike="noStrike" noProof="0" dirty="0">
              <a:solidFill>
                <a:schemeClr val="bg1">
                  <a:lumMod val="25000"/>
                </a:schemeClr>
              </a:solidFill>
              <a:effectLst/>
              <a:cs typeface="Libertinus Serif" pitchFamily="50" charset="0"/>
            </a:endParaRPr>
          </a:p>
          <a:p>
            <a:pPr algn="ctr" rtl="0" fontAlgn="base"/>
            <a:r>
              <a:rPr lang="fr-FR" sz="2000" b="0" i="0" noProof="0" dirty="0">
                <a:solidFill>
                  <a:schemeClr val="bg1">
                    <a:lumMod val="25000"/>
                  </a:schemeClr>
                </a:solidFill>
                <a:effectLst/>
                <a:cs typeface="Libertinus Serif" pitchFamily="50" charset="0"/>
              </a:rPr>
              <a:t>Soutenance de thèse 05/04/2024</a:t>
            </a:r>
          </a:p>
        </p:txBody>
      </p:sp>
      <p:pic>
        <p:nvPicPr>
          <p:cNvPr id="1026" name="Picture 2" descr="Une image contenant logo&#10;&#10;Description générée automatiquement">
            <a:extLst>
              <a:ext uri="{FF2B5EF4-FFF2-40B4-BE49-F238E27FC236}">
                <a16:creationId xmlns:a16="http://schemas.microsoft.com/office/drawing/2014/main" id="{AE3307AA-63C5-0896-FC9F-2CB4DF18FF20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189" y="4298570"/>
            <a:ext cx="1977586" cy="68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Une image contenant texte, capture d’écran, logo, graphisme&#10;&#10;Description générée automatiquement">
            <a:extLst>
              <a:ext uri="{FF2B5EF4-FFF2-40B4-BE49-F238E27FC236}">
                <a16:creationId xmlns:a16="http://schemas.microsoft.com/office/drawing/2014/main" id="{19ED7CAF-64A8-E325-25F3-5043DD4924C9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979" y="4248960"/>
            <a:ext cx="2161804" cy="89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e image contenant logo&#10;&#10;Description générée automatiquement">
            <a:extLst>
              <a:ext uri="{FF2B5EF4-FFF2-40B4-BE49-F238E27FC236}">
                <a16:creationId xmlns:a16="http://schemas.microsoft.com/office/drawing/2014/main" id="{E9A7F4DD-F0AA-46EB-FBD3-E2592CFA9ECA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082" y="4298570"/>
            <a:ext cx="1450070" cy="78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ris-Saclay University Logo PNG vector in SVG, PDF, AI, CDR format">
            <a:extLst>
              <a:ext uri="{FF2B5EF4-FFF2-40B4-BE49-F238E27FC236}">
                <a16:creationId xmlns:a16="http://schemas.microsoft.com/office/drawing/2014/main" id="{9077C433-01DC-1993-905F-AE4184532233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6675" y="-9707563"/>
            <a:ext cx="329565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Police, Graphique, texte, blanc&#10;&#10;Description générée automatiquement">
            <a:extLst>
              <a:ext uri="{FF2B5EF4-FFF2-40B4-BE49-F238E27FC236}">
                <a16:creationId xmlns:a16="http://schemas.microsoft.com/office/drawing/2014/main" id="{1E626D5D-F356-16AC-8724-FB918EF51F8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738194" y="19629"/>
            <a:ext cx="1840897" cy="827370"/>
          </a:xfrm>
          <a:prstGeom prst="rect">
            <a:avLst/>
          </a:prstGeom>
        </p:spPr>
      </p:pic>
      <p:pic>
        <p:nvPicPr>
          <p:cNvPr id="4" name="Image 3" descr="Une image contenant Graphique, graphisme, clipart, texte&#10;&#10;Description générée automatiquement">
            <a:extLst>
              <a:ext uri="{FF2B5EF4-FFF2-40B4-BE49-F238E27FC236}">
                <a16:creationId xmlns:a16="http://schemas.microsoft.com/office/drawing/2014/main" id="{C5FA7F59-9072-3CD6-F973-F26A347FE8FF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013783" y="4313617"/>
            <a:ext cx="1071966" cy="804799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0351050-8673-E364-D662-C926B629D809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6" name="Image 5" descr="Une image contenant texte, logo, Police, Graphique&#10;&#10;Description générée automatiquement">
            <a:extLst>
              <a:ext uri="{FF2B5EF4-FFF2-40B4-BE49-F238E27FC236}">
                <a16:creationId xmlns:a16="http://schemas.microsoft.com/office/drawing/2014/main" id="{8FA9A0C0-6356-CE8E-2B7E-2023D5C7169E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9"/>
          <a:srcRect l="39697" t="9851" r="39848" b="48789"/>
          <a:stretch/>
        </p:blipFill>
        <p:spPr>
          <a:xfrm>
            <a:off x="7513782" y="19629"/>
            <a:ext cx="1571967" cy="1135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32150" y="363561"/>
            <a:ext cx="6533400" cy="746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noProof="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Résumé</a:t>
            </a:r>
          </a:p>
        </p:txBody>
      </p:sp>
      <p:sp>
        <p:nvSpPr>
          <p:cNvPr id="221" name="Google Shape;221;p35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948600" y="1109725"/>
            <a:ext cx="565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noProof="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01</a:t>
            </a:r>
          </a:p>
        </p:txBody>
      </p:sp>
      <p:sp>
        <p:nvSpPr>
          <p:cNvPr id="222" name="Google Shape;222;p35"/>
          <p:cNvSpPr txBox="1">
            <a:spLocks noGrp="1"/>
          </p:cNvSpPr>
          <p:nvPr>
            <p:ph type="title" idx="6"/>
            <p:custDataLst>
              <p:tags r:id="rId3"/>
            </p:custDataLst>
          </p:nvPr>
        </p:nvSpPr>
        <p:spPr>
          <a:xfrm>
            <a:off x="948600" y="2124150"/>
            <a:ext cx="565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noProof="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03</a:t>
            </a:r>
          </a:p>
        </p:txBody>
      </p:sp>
      <p:sp>
        <p:nvSpPr>
          <p:cNvPr id="223" name="Google Shape;223;p35"/>
          <p:cNvSpPr txBox="1">
            <a:spLocks noGrp="1"/>
          </p:cNvSpPr>
          <p:nvPr>
            <p:ph type="title" idx="7"/>
            <p:custDataLst>
              <p:tags r:id="rId4"/>
            </p:custDataLst>
          </p:nvPr>
        </p:nvSpPr>
        <p:spPr>
          <a:xfrm>
            <a:off x="948600" y="1618287"/>
            <a:ext cx="565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noProof="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02</a:t>
            </a:r>
          </a:p>
        </p:txBody>
      </p:sp>
      <p:sp>
        <p:nvSpPr>
          <p:cNvPr id="224" name="Google Shape;224;p35"/>
          <p:cNvSpPr txBox="1">
            <a:spLocks noGrp="1"/>
          </p:cNvSpPr>
          <p:nvPr>
            <p:ph type="title" idx="8"/>
            <p:custDataLst>
              <p:tags r:id="rId5"/>
            </p:custDataLst>
          </p:nvPr>
        </p:nvSpPr>
        <p:spPr>
          <a:xfrm>
            <a:off x="948600" y="2630013"/>
            <a:ext cx="565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noProof="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04</a:t>
            </a:r>
            <a:endParaRPr lang="fr-FR" noProof="0" dirty="0"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227" name="Google Shape;227;p35"/>
          <p:cNvSpPr txBox="1">
            <a:spLocks noGrp="1"/>
          </p:cNvSpPr>
          <p:nvPr>
            <p:ph type="subTitle" idx="14"/>
            <p:custDataLst>
              <p:tags r:id="rId6"/>
            </p:custDataLst>
          </p:nvPr>
        </p:nvSpPr>
        <p:spPr>
          <a:xfrm>
            <a:off x="1639525" y="2121452"/>
            <a:ext cx="6777124" cy="443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 fontAlgn="auto"/>
            <a:r>
              <a:rPr lang="en-US" sz="2000" b="0" i="0" u="none" strike="noStrike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Introduction aux processus </a:t>
            </a:r>
            <a:r>
              <a:rPr lang="en-US" sz="2000" b="0" i="0" u="none" strike="noStrike" dirty="0" err="1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étiquetés</a:t>
            </a:r>
            <a:endParaRPr lang="fr-FR" sz="2000" b="0" i="0" u="none" strike="noStrike" noProof="0" dirty="0">
              <a:solidFill>
                <a:schemeClr val="bg1">
                  <a:lumMod val="2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228" name="Google Shape;228;p35"/>
          <p:cNvSpPr txBox="1">
            <a:spLocks noGrp="1"/>
          </p:cNvSpPr>
          <p:nvPr>
            <p:ph type="subTitle" idx="15"/>
            <p:custDataLst>
              <p:tags r:id="rId7"/>
            </p:custDataLst>
          </p:nvPr>
        </p:nvSpPr>
        <p:spPr>
          <a:xfrm>
            <a:off x="1632150" y="2634025"/>
            <a:ext cx="6791875" cy="443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 fontAlgn="auto"/>
            <a:r>
              <a:rPr lang="fr-FR" sz="2000" b="0" i="0" u="none" strike="noStrike" noProof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Filtre de Kalman et son application à BONuS12</a:t>
            </a:r>
          </a:p>
        </p:txBody>
      </p:sp>
      <p:sp>
        <p:nvSpPr>
          <p:cNvPr id="12" name="Google Shape;224;p35">
            <a:extLst>
              <a:ext uri="{FF2B5EF4-FFF2-40B4-BE49-F238E27FC236}">
                <a16:creationId xmlns:a16="http://schemas.microsoft.com/office/drawing/2014/main" id="{8A0C5AB1-469E-BA30-B28B-F6091EA27B0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948600" y="3138576"/>
            <a:ext cx="565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2500" b="1" i="0" u="sng" strike="noStrike" cap="non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" sz="240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05</a:t>
            </a:r>
          </a:p>
        </p:txBody>
      </p:sp>
      <p:sp>
        <p:nvSpPr>
          <p:cNvPr id="13" name="Google Shape;224;p35">
            <a:extLst>
              <a:ext uri="{FF2B5EF4-FFF2-40B4-BE49-F238E27FC236}">
                <a16:creationId xmlns:a16="http://schemas.microsoft.com/office/drawing/2014/main" id="{57CAD64D-460B-2B63-32CD-A036D1B34BC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948600" y="3647139"/>
            <a:ext cx="565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2500" b="1" i="0" u="sng" strike="noStrike" cap="non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" sz="240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06</a:t>
            </a:r>
          </a:p>
        </p:txBody>
      </p:sp>
      <p:sp>
        <p:nvSpPr>
          <p:cNvPr id="16" name="Google Shape;226;p35">
            <a:extLst>
              <a:ext uri="{FF2B5EF4-FFF2-40B4-BE49-F238E27FC236}">
                <a16:creationId xmlns:a16="http://schemas.microsoft.com/office/drawing/2014/main" id="{A5832907-8C51-41D4-3C67-150E01D1CD82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1632150" y="1109726"/>
            <a:ext cx="6791875" cy="44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l" rtl="0" fontAlgn="auto"/>
            <a:r>
              <a:rPr lang="en-US" sz="2000" b="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Introduction à la </a:t>
            </a:r>
            <a:r>
              <a:rPr lang="en-US" sz="2000" b="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théorie</a:t>
            </a:r>
            <a:r>
              <a:rPr lang="en-US" sz="2000" b="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des </a:t>
            </a:r>
            <a:r>
              <a:rPr lang="en-US" sz="2000" b="0" i="0" u="none" strike="noStrike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GPD et du DVCS​</a:t>
            </a:r>
          </a:p>
        </p:txBody>
      </p:sp>
      <p:sp>
        <p:nvSpPr>
          <p:cNvPr id="17" name="Google Shape;228;p35">
            <a:extLst>
              <a:ext uri="{FF2B5EF4-FFF2-40B4-BE49-F238E27FC236}">
                <a16:creationId xmlns:a16="http://schemas.microsoft.com/office/drawing/2014/main" id="{14A1057B-FBE2-B8D0-386E-DB1CD27D6D44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1632150" y="3137189"/>
            <a:ext cx="6791875" cy="44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l" rtl="0" fontAlgn="auto"/>
            <a:r>
              <a:rPr lang="en-US" sz="2000" b="0" i="0" u="none" strike="noStrike" dirty="0" err="1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Analyse</a:t>
            </a:r>
            <a:r>
              <a:rPr lang="en-US" sz="2000" b="0" i="0" u="none" strike="noStrike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du DVCS sur le neutron et les </a:t>
            </a:r>
            <a:r>
              <a:rPr lang="en-US" sz="2000" b="0" i="0" u="none" strike="noStrike" dirty="0" err="1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résultats</a:t>
            </a:r>
            <a:endParaRPr lang="en-US" sz="2000" b="0" i="0" u="none" strike="noStrike" dirty="0">
              <a:solidFill>
                <a:schemeClr val="bg1">
                  <a:lumMod val="2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18" name="Google Shape;228;p35">
            <a:extLst>
              <a:ext uri="{FF2B5EF4-FFF2-40B4-BE49-F238E27FC236}">
                <a16:creationId xmlns:a16="http://schemas.microsoft.com/office/drawing/2014/main" id="{74338273-4709-30E2-9EB7-035236FAFE1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1639525" y="3647139"/>
            <a:ext cx="6784500" cy="44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l" rtl="0" fontAlgn="auto"/>
            <a:r>
              <a:rPr lang="en-US" sz="2000" b="0" i="0" u="none" strike="noStrike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Conclusion​</a:t>
            </a:r>
          </a:p>
        </p:txBody>
      </p:sp>
      <p:sp>
        <p:nvSpPr>
          <p:cNvPr id="21" name="Google Shape;226;p35">
            <a:extLst>
              <a:ext uri="{FF2B5EF4-FFF2-40B4-BE49-F238E27FC236}">
                <a16:creationId xmlns:a16="http://schemas.microsoft.com/office/drawing/2014/main" id="{D8FAE5FF-F456-93B4-B974-63A21A8DCE48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1639525" y="1618288"/>
            <a:ext cx="6784500" cy="44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fr-FR" sz="2000" b="0" i="0" u="none" strike="noStrike" noProof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L’expérience BoNuS12 ​à </a:t>
            </a:r>
            <a:r>
              <a:rPr lang="fr-FR" sz="2000" b="0" i="0" u="none" strike="noStrike" noProof="0" dirty="0" err="1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JLab</a:t>
            </a:r>
            <a:endParaRPr lang="fr-FR" sz="2000" b="0" i="0" u="none" strike="noStrike" noProof="0" dirty="0">
              <a:solidFill>
                <a:schemeClr val="bg1">
                  <a:lumMod val="2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D746FA0-A5E8-0B01-5788-BED998DCC10B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4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</a:t>
            </a:fld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24D33-2AB9-CF31-4439-B0D72F4F173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7704000" cy="769034"/>
          </a:xfrm>
        </p:spPr>
        <p:txBody>
          <a:bodyPr/>
          <a:lstStyle/>
          <a:p>
            <a:r>
              <a:rPr lang="fr-FR" sz="3200" i="0" u="none" strike="noStrike" noProof="0" dirty="0">
                <a:solidFill>
                  <a:schemeClr val="bg1">
                    <a:lumMod val="90000"/>
                  </a:schemeClr>
                </a:solidFill>
                <a:effectLst/>
                <a:latin typeface="Cambria" panose="02040503050406030204" pitchFamily="18" charset="0"/>
              </a:rPr>
              <a:t>Zoologie des fonctions de partons</a:t>
            </a:r>
            <a:endParaRPr lang="fr-FR" sz="3200" noProof="0" dirty="0">
              <a:solidFill>
                <a:schemeClr val="bg1">
                  <a:lumMod val="90000"/>
                </a:schemeClr>
              </a:solidFill>
              <a:latin typeface="Cambria" panose="02040503050406030204" pitchFamily="18" charset="0"/>
            </a:endParaRPr>
          </a:p>
        </p:txBody>
      </p:sp>
      <p:pic>
        <p:nvPicPr>
          <p:cNvPr id="1026" name="Picture 2" descr="Une image contenant texte, diagramme, ligne, Police&#10;&#10;Description générée automatiquement">
            <a:extLst>
              <a:ext uri="{FF2B5EF4-FFF2-40B4-BE49-F238E27FC236}">
                <a16:creationId xmlns:a16="http://schemas.microsoft.com/office/drawing/2014/main" id="{EE774580-E99F-2C80-0D7C-BB2F6B21B53A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441" y="1065855"/>
            <a:ext cx="5348631" cy="313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12">
            <a:extLst>
              <a:ext uri="{FF2B5EF4-FFF2-40B4-BE49-F238E27FC236}">
                <a16:creationId xmlns:a16="http://schemas.microsoft.com/office/drawing/2014/main" id="{CD603E54-3819-81F7-6D19-E2176689B59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806546"/>
            <a:ext cx="4153469" cy="42473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Compréhension de la structure en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quarks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et gluons des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nucléons libres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et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liés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est l'un des défis majeurs de la physique hadronique.</a:t>
            </a:r>
          </a:p>
          <a:p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6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Etude de la structure des nucléons par le biais de la diffusion des électrons : 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Facteurs de forme </a:t>
            </a:r>
            <a:r>
              <a:rPr lang="fr-FR" sz="14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(FF) </a:t>
            </a:r>
          </a:p>
          <a:p>
            <a:pPr marL="360000" lvl="1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</a:t>
            </a:r>
            <a:r>
              <a:rPr lang="fr-FR" sz="12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iffusion élastique.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Fonctions de distribution des partons</a:t>
            </a:r>
            <a:r>
              <a:rPr lang="fr-FR" sz="1400" b="1" i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4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(PDF)</a:t>
            </a:r>
          </a:p>
          <a:p>
            <a:pPr marL="360000" lvl="1" indent="-144000"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Diffusion inélastique profonde (DIS).</a:t>
            </a:r>
          </a:p>
          <a:p>
            <a:endParaRPr lang="fr-FR" sz="1400" b="0" i="0" dirty="0">
              <a:solidFill>
                <a:schemeClr val="bg1">
                  <a:lumMod val="2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6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Développement d'un </a:t>
            </a:r>
            <a:r>
              <a:rPr lang="fr-FR" sz="16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cadre théorique </a:t>
            </a:r>
            <a:r>
              <a:rPr lang="fr-FR" sz="16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depuis 30 ans pour la compréhension des fonctions de structure.</a:t>
            </a:r>
          </a:p>
          <a:p>
            <a:r>
              <a:rPr lang="fr-FR" sz="16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Actuellement, accès expérimental jusqu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’aux</a:t>
            </a:r>
            <a:r>
              <a:rPr lang="fr-FR" sz="16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fonctions de structure 3D, comme les TMD et les </a:t>
            </a:r>
            <a:r>
              <a:rPr lang="fr-FR" sz="1600" b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GPD</a:t>
            </a:r>
            <a:r>
              <a:rPr lang="fr-FR" sz="16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</a:br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34E2988-827E-E115-04F4-3308E48852D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297649" y="4211061"/>
            <a:ext cx="18463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Diehl 2016 </a:t>
            </a:r>
            <a:r>
              <a:rPr lang="fr-FR" sz="800" dirty="0" err="1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Eur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Phys. J. A </a:t>
            </a:r>
            <a:r>
              <a:rPr lang="fr-FR" sz="800" b="1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52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149</a:t>
            </a:r>
            <a:endParaRPr lang="fr-FR" sz="800" dirty="0">
              <a:solidFill>
                <a:srgbClr val="775C39"/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A22FA1-BA1D-F043-3978-34F60E9B8EDC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9DC6BFD-033F-B3C3-91FA-621D0D00BBE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747793" y="4664889"/>
            <a:ext cx="37958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TMD : Distributions dépendantes de l'impulsion transverse</a:t>
            </a:r>
          </a:p>
          <a:p>
            <a:r>
              <a:rPr lang="fr-FR" sz="11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GPD : Distribution généralisée de partons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A08023-77C5-897B-6CD1-A3B5B4357C3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990533" y="3870229"/>
            <a:ext cx="332096" cy="3350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1D9C1A-A0AD-BD43-11BE-70AA0A17432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578221" y="3864495"/>
            <a:ext cx="559558" cy="3350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BB4030-A0FD-2567-7D08-E0604A113D0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816909" y="2762655"/>
            <a:ext cx="981347" cy="3350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46F515-9531-314D-7DE9-DC1046F88BC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60459" y="3057099"/>
            <a:ext cx="559558" cy="41233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74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983EEA9B-69D2-809F-6243-6BE4E4ADFF6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13"/>
          <a:srcRect l="16889" t="17141" r="24678"/>
          <a:stretch/>
        </p:blipFill>
        <p:spPr>
          <a:xfrm>
            <a:off x="5618329" y="858625"/>
            <a:ext cx="3439238" cy="207012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603EE20-B3F1-B4B1-4FC8-2D3A579ABD5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>
                <a:latin typeface="Cambria" panose="02040503050406030204" pitchFamily="18" charset="0"/>
              </a:rPr>
              <a:t>Distribution généralisée des partons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16">
                <a:extLst>
                  <a:ext uri="{FF2B5EF4-FFF2-40B4-BE49-F238E27FC236}">
                    <a16:creationId xmlns:a16="http://schemas.microsoft.com/office/drawing/2014/main" id="{4811D0B0-DFA4-5233-7FAA-DE21E1529691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-46315" y="883319"/>
                <a:ext cx="5914851" cy="3575594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GPD : </a:t>
                </a:r>
                <a:r>
                  <a:rPr lang="en-US" sz="16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Fonctions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6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universelles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qui </a:t>
                </a:r>
                <a:r>
                  <a:rPr lang="en-US" sz="16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décrivent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6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corrélation entre la </a:t>
                </a:r>
                <a:r>
                  <a:rPr lang="fr-FR" sz="1600" b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distribution spatiale transverse</a:t>
                </a:r>
                <a:r>
                  <a:rPr lang="fr-FR" sz="1600" b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6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des quarks dans le nucléon et la </a:t>
                </a:r>
                <a:r>
                  <a:rPr lang="fr-FR" sz="1600" b="1" i="0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distribution longitudinale de leurs impulsions</a:t>
                </a:r>
                <a:r>
                  <a:rPr lang="en-US" sz="1600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fr-FR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À un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𝑄</m:t>
                    </m:r>
                    <m:r>
                      <a:rPr lang="en-US" sz="1400" i="1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2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fixé,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GPD dépendent des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trois variables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suivantes :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</a:t>
                </a:r>
              </a:p>
              <a:p>
                <a:pPr marL="144000" indent="-1440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𝑥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moyenne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la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fraction de l'impulsion longitudinale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portée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par le quark</a:t>
                </a:r>
              </a:p>
              <a:p>
                <a:pPr marL="144000" indent="-1440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𝜉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l’impulsion longitudinale transférée au quark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le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carrée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l’impulsion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transférée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par proton final à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l’initial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lié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</a:t>
                </a:r>
                <a:r>
                  <a:rPr lang="en-US" sz="1200" baseline="-250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⊥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via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Transfomée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Fourier (TF) </a:t>
                </a: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Il y a 8 GPD pour un hadron de spin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fr-FR" sz="14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fPr>
                      <m:num>
                        <m: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1</m:t>
                        </m:r>
                      </m:num>
                      <m:den>
                        <m: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 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4 chiral-even (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hélicité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non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modifié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 : 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𝑯</m:t>
                    </m:r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𝑬</m:t>
                    </m:r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fr-F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accPr>
                      <m:e>
                        <m:r>
                          <a:rPr lang="fr-F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𝑯</m:t>
                        </m:r>
                      </m:e>
                    </m:acc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fr-F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accPr>
                      <m:e>
                        <m:r>
                          <a:rPr lang="fr-F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seules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qui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interviennent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le DVCS.</a:t>
                </a:r>
              </a:p>
              <a:p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Possible d'y accéder par le biais de </a:t>
                </a:r>
                <a:r>
                  <a:rPr lang="fr-FR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processus exclusifs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ZoneTexte 16">
                <a:extLst>
                  <a:ext uri="{FF2B5EF4-FFF2-40B4-BE49-F238E27FC236}">
                    <a16:creationId xmlns:a16="http://schemas.microsoft.com/office/drawing/2014/main" id="{4811D0B0-DFA4-5233-7FAA-DE21E1529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-46315" y="883319"/>
                <a:ext cx="5914851" cy="3575594"/>
              </a:xfrm>
              <a:prstGeom prst="rect">
                <a:avLst/>
              </a:prstGeom>
              <a:blipFill>
                <a:blip r:embed="rId14"/>
                <a:stretch>
                  <a:fillRect l="-515" t="-683" r="-103" b="-11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8BBCD6-46AC-5ADA-176D-05066F16B1B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84FF01D-2F79-7F35-8D0C-D5AD5154ADC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5"/>
          <a:srcRect l="4222" t="31250" b="53131"/>
          <a:stretch/>
        </p:blipFill>
        <p:spPr>
          <a:xfrm>
            <a:off x="6050507" y="3535815"/>
            <a:ext cx="2645648" cy="53259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9B4CD75-677F-EFD8-E7DC-5A68C47525E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5"/>
          <a:srcRect l="4222" t="57682" b="26699"/>
          <a:stretch/>
        </p:blipFill>
        <p:spPr>
          <a:xfrm>
            <a:off x="6050507" y="4062183"/>
            <a:ext cx="2645648" cy="53259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ED573D2-B0A7-76ED-98A9-99A89739593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171259" y="4942584"/>
            <a:ext cx="2447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dirty="0">
                <a:solidFill>
                  <a:srgbClr val="775C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M. </a:t>
            </a:r>
            <a:r>
              <a:rPr lang="fr-FR" sz="800" dirty="0" err="1">
                <a:solidFill>
                  <a:srgbClr val="775C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Guidal</a:t>
            </a:r>
            <a:r>
              <a:rPr lang="fr-FR" sz="800" dirty="0">
                <a:solidFill>
                  <a:srgbClr val="775C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et al. Rep. Prog. Phys. </a:t>
            </a:r>
            <a:r>
              <a:rPr lang="fr-FR" sz="800" b="1" dirty="0">
                <a:solidFill>
                  <a:srgbClr val="775C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76 </a:t>
            </a:r>
            <a:r>
              <a:rPr lang="fr-FR" sz="800" dirty="0">
                <a:solidFill>
                  <a:srgbClr val="775C3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(2013) 066202</a:t>
            </a:r>
            <a:endParaRPr lang="fr-FR" sz="600" dirty="0">
              <a:solidFill>
                <a:srgbClr val="775C39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312082E-0D16-EC4E-EF30-E39C0FE05E1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5"/>
          <a:srcRect l="4222" t="5746" b="79236"/>
          <a:stretch/>
        </p:blipFill>
        <p:spPr>
          <a:xfrm>
            <a:off x="6050507" y="3031417"/>
            <a:ext cx="2645648" cy="51211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41C6B30-323B-66EE-22BB-0BCA95E17E32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5"/>
          <a:srcRect l="4222" t="82674"/>
          <a:stretch/>
        </p:blipFill>
        <p:spPr>
          <a:xfrm>
            <a:off x="6050507" y="4553803"/>
            <a:ext cx="2640707" cy="58969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ADD6CA7-2DCC-AF62-09EC-6116F47EF6E0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3"/>
          <a:srcRect l="75788" t="74456" r="-218" b="6728"/>
          <a:stretch/>
        </p:blipFill>
        <p:spPr>
          <a:xfrm>
            <a:off x="8264614" y="2494145"/>
            <a:ext cx="853200" cy="27893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B3E1501-D592-CEAD-342B-B530A884AB41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3"/>
          <a:srcRect l="4831" t="76504" r="82764" b="7518"/>
          <a:stretch/>
        </p:blipFill>
        <p:spPr>
          <a:xfrm>
            <a:off x="5594445" y="2568559"/>
            <a:ext cx="730154" cy="39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7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1F53B-72D6-E9E3-BEA0-9E5DC11821E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Que pouvons-nous apprendre des GPD ?</a:t>
            </a:r>
          </a:p>
        </p:txBody>
      </p:sp>
      <p:pic>
        <p:nvPicPr>
          <p:cNvPr id="4098" name="Picture 2" descr="Une image contenant texte, Police, écriture manuscrite, ligne&#10;&#10;Description générée automatiquement">
            <a:extLst>
              <a:ext uri="{FF2B5EF4-FFF2-40B4-BE49-F238E27FC236}">
                <a16:creationId xmlns:a16="http://schemas.microsoft.com/office/drawing/2014/main" id="{419375F3-4158-A720-8AF8-7931AFB77C0B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04" y="1429182"/>
            <a:ext cx="3550492" cy="104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Une image contenant diagramme, texte, Tracé, capture d’écran&#10;&#10;Description générée automatiquement">
            <a:extLst>
              <a:ext uri="{FF2B5EF4-FFF2-40B4-BE49-F238E27FC236}">
                <a16:creationId xmlns:a16="http://schemas.microsoft.com/office/drawing/2014/main" id="{167DE588-B777-2908-27F1-EC764AC2F55E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468" y="2459732"/>
            <a:ext cx="2747318" cy="266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5">
                <a:extLst>
                  <a:ext uri="{FF2B5EF4-FFF2-40B4-BE49-F238E27FC236}">
                    <a16:creationId xmlns:a16="http://schemas.microsoft.com/office/drawing/2014/main" id="{721B03F2-68F0-B1DE-5318-0597F3F1FE8A}"/>
                  </a:ext>
                </a:extLst>
              </p:cNvPr>
              <p:cNvSpPr>
                <a:spLocks noGrp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0" y="768415"/>
                <a:ext cx="4454694" cy="95380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Tomographie du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nucléon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144000" indent="-144000">
                  <a:spcBef>
                    <a:spcPts val="0"/>
                  </a:spcBef>
                </a:pP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À </a:t>
                </a:r>
                <a14:m>
                  <m:oMath xmlns:m="http://schemas.openxmlformats.org/officeDocument/2006/math">
                    <m:r>
                      <a:rPr lang="pl-PL" sz="12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𝜉</m:t>
                    </m:r>
                    <m:r>
                      <a:rPr lang="pl-PL" sz="12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=0</m:t>
                    </m:r>
                  </m:oMath>
                </a14:m>
                <a:r>
                  <a:rPr lang="pl-PL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TF d’une GPD :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distribution du paramètre d'impact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spcBef>
                    <a:spcPts val="0"/>
                  </a:spcBef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Réalisée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par un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ajustement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local de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𝐻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</a:p>
              <a:p>
                <a:pPr marL="144000" indent="-144000">
                  <a:spcBef>
                    <a:spcPts val="0"/>
                  </a:spcBef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Dépendance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𝑥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donnée par un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modèle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</p:txBody>
          </p:sp>
        </mc:Choice>
        <mc:Fallback>
          <p:sp>
            <p:nvSpPr>
              <p:cNvPr id="4" name="Espace réservé du contenu 5">
                <a:extLst>
                  <a:ext uri="{FF2B5EF4-FFF2-40B4-BE49-F238E27FC236}">
                    <a16:creationId xmlns:a16="http://schemas.microsoft.com/office/drawing/2014/main" id="{721B03F2-68F0-B1DE-5318-0597F3F1F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0" y="768415"/>
                <a:ext cx="4454694" cy="953808"/>
              </a:xfrm>
              <a:prstGeom prst="rect">
                <a:avLst/>
              </a:prstGeom>
              <a:blipFill>
                <a:blip r:embed="rId17"/>
                <a:stretch>
                  <a:fillRect l="-410" t="-38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26">
            <a:extLst>
              <a:ext uri="{FF2B5EF4-FFF2-40B4-BE49-F238E27FC236}">
                <a16:creationId xmlns:a16="http://schemas.microsoft.com/office/drawing/2014/main" id="{44A1510D-598E-6CDA-F472-B5A61592283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0" y="2917063"/>
            <a:ext cx="1959798" cy="15696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Quarks de valence </a:t>
            </a:r>
            <a:r>
              <a:rPr lang="fr-FR" sz="1200" b="1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: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Impulsion élevée 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Distribution concentrée au cœur du nucléon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Quarks de la mer </a:t>
            </a:r>
            <a:r>
              <a:rPr lang="fr-FR" sz="1200" b="1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: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Faible impulsion 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Distribution plus étalée</a:t>
            </a:r>
            <a:endParaRPr lang="en-US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6078F5E-5E05-4C26-FE51-812FCA84AAD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-7202" y="4785135"/>
            <a:ext cx="2664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M. </a:t>
            </a:r>
            <a:r>
              <a:rPr lang="en-US" sz="800" dirty="0" err="1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Burkardt</a:t>
            </a:r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Phys. Rev. D </a:t>
            </a:r>
            <a:r>
              <a:rPr lang="en-US" sz="800" b="1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62</a:t>
            </a:r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(2000) 71503</a:t>
            </a:r>
          </a:p>
          <a:p>
            <a:pPr lvl="1"/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R. Dupré et al. </a:t>
            </a:r>
            <a:r>
              <a:rPr lang="fr-FR" sz="800" i="1" dirty="0" err="1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Eur</a:t>
            </a:r>
            <a:r>
              <a:rPr lang="fr-FR" sz="800" i="1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 Phys. J. A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800" b="1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53 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(2017) 171</a:t>
            </a:r>
            <a:endParaRPr lang="en-US" sz="800" dirty="0">
              <a:solidFill>
                <a:srgbClr val="775C39"/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815FAA0-43F3-FA58-0619-E7CA0FD93274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 flipH="1">
            <a:off x="4525108" y="849006"/>
            <a:ext cx="0" cy="4065308"/>
          </a:xfrm>
          <a:prstGeom prst="straightConnector1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24">
                <a:extLst>
                  <a:ext uri="{FF2B5EF4-FFF2-40B4-BE49-F238E27FC236}">
                    <a16:creationId xmlns:a16="http://schemas.microsoft.com/office/drawing/2014/main" id="{E41C3A9B-E4E3-2D77-60F8-DCE8157D4A0F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577754" y="2857490"/>
                <a:ext cx="4566246" cy="2308324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</a:t>
                </a:r>
                <a:r>
                  <a:rPr lang="en-US" sz="1400" dirty="0">
                    <a:solidFill>
                      <a:srgbClr val="0099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spin </a:t>
                </a:r>
                <a:r>
                  <a:rPr lang="en-US" sz="1400" dirty="0" err="1">
                    <a:solidFill>
                      <a:srgbClr val="0099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intrinsèque</a:t>
                </a:r>
                <a:r>
                  <a:rPr lang="en-US" sz="1400" dirty="0">
                    <a:solidFill>
                      <a:srgbClr val="0099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des quarks ≈ 30%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Connue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accessible avec les expériences de DIS/SIDIS.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Ne peut expliquer en entier l'origine du spin du nucléon.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</a:t>
                </a:r>
                <a:r>
                  <a:rPr lang="fr-FR" sz="1400" dirty="0">
                    <a:solidFill>
                      <a:srgbClr val="007BA7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spin intrinsèque des gluons </a:t>
                </a:r>
                <a:r>
                  <a:rPr lang="en-US" sz="1400" dirty="0">
                    <a:solidFill>
                      <a:srgbClr val="007BA7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≈ 10 - 45% 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 précision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accessible avec les expériences de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SIDIS/pp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</a:t>
                </a:r>
                <a:r>
                  <a:rPr lang="fr-FR" sz="1400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moment angulaire orbital des quarks </a:t>
                </a:r>
                <a:endParaRPr lang="en-US" sz="1400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Inconnu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accessible avec le GPD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𝐻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GPD sont liés aux GFF de l'EMT ainsi que à la distribution de la pression à l'intérieur du nucléon.</a:t>
                </a:r>
              </a:p>
              <a:p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GFF : Facteurs de forme gravitationnels</a:t>
                </a:r>
              </a:p>
              <a:p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EMT : Tenseur énergie impulsion </a:t>
                </a:r>
                <a:endParaRPr lang="en-US" sz="10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 xmlns="">
          <p:sp>
            <p:nvSpPr>
              <p:cNvPr id="13" name="ZoneTexte 24">
                <a:extLst>
                  <a:ext uri="{FF2B5EF4-FFF2-40B4-BE49-F238E27FC236}">
                    <a16:creationId xmlns:a16="http://schemas.microsoft.com/office/drawing/2014/main" id="{E41C3A9B-E4E3-2D77-60F8-DCE8157D4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4577754" y="2857490"/>
                <a:ext cx="4566246" cy="2308324"/>
              </a:xfrm>
              <a:prstGeom prst="rect">
                <a:avLst/>
              </a:prstGeom>
              <a:blipFill>
                <a:blip r:embed="rId20"/>
                <a:stretch>
                  <a:fillRect l="-267" t="-794" b="-5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space réservé du contenu 5">
                <a:extLst>
                  <a:ext uri="{FF2B5EF4-FFF2-40B4-BE49-F238E27FC236}">
                    <a16:creationId xmlns:a16="http://schemas.microsoft.com/office/drawing/2014/main" id="{E4AEEC4A-E57E-54C1-22C2-8C11FB06CBE3}"/>
                  </a:ext>
                </a:extLst>
              </p:cNvPr>
              <p:cNvSpPr txBox="1">
                <a:spLocks/>
              </p:cNvSpPr>
              <p:nvPr>
                <p:custDataLst>
                  <p:tags r:id="rId9"/>
                </p:custDataLst>
              </p:nvPr>
            </p:nvSpPr>
            <p:spPr>
              <a:xfrm>
                <a:off x="4567236" y="768414"/>
                <a:ext cx="4464222" cy="111196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5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Moment </a:t>
                </a:r>
                <a:r>
                  <a:rPr lang="en-US" sz="15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angulaire</a:t>
                </a:r>
                <a:r>
                  <a:rPr lang="en-US" sz="15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total des quarks</a:t>
                </a:r>
                <a:r>
                  <a:rPr lang="en-US" sz="15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 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Règle de la somme de Ji, décomposition du spin du nucléon :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Spin des quarks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Moment angulaire total des gluons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3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Moment angulaire orbital des quarks </a:t>
                </a:r>
                <a:endParaRPr lang="fr-FR" sz="13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Lié avec la somme des GPD</a:t>
                </a:r>
                <a14:m>
                  <m:oMath xmlns:m="http://schemas.openxmlformats.org/officeDocument/2006/math">
                    <m:r>
                      <a:rPr lang="fr-FR" sz="13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3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𝐻</m:t>
                    </m:r>
                  </m:oMath>
                </a14:m>
                <a:r>
                  <a:rPr lang="en-US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en-US" sz="13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r>
                  <a:rPr lang="en-US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12" name="Espace réservé du contenu 5">
                <a:extLst>
                  <a:ext uri="{FF2B5EF4-FFF2-40B4-BE49-F238E27FC236}">
                    <a16:creationId xmlns:a16="http://schemas.microsoft.com/office/drawing/2014/main" id="{E4AEEC4A-E57E-54C1-22C2-8C11FB06C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4567236" y="768414"/>
                <a:ext cx="4464222" cy="1111968"/>
              </a:xfrm>
              <a:prstGeom prst="rect">
                <a:avLst/>
              </a:prstGeom>
              <a:blipFill>
                <a:blip r:embed="rId21"/>
                <a:stretch>
                  <a:fillRect l="-409" t="-3297" b="-43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ZoneTexte 14">
            <a:extLst>
              <a:ext uri="{FF2B5EF4-FFF2-40B4-BE49-F238E27FC236}">
                <a16:creationId xmlns:a16="http://schemas.microsoft.com/office/drawing/2014/main" id="{C8085E75-9EE8-A26C-7017-D0B6068D0E0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799346" y="4939977"/>
            <a:ext cx="17069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X. Ji Phys. Rev. Lett. </a:t>
            </a:r>
            <a:r>
              <a:rPr lang="en-US" sz="800" b="1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78</a:t>
            </a:r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(1997) 610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C84262A-FBE8-9793-9F63-03DE1F0B0799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872738" y="2433921"/>
                <a:ext cx="3853217" cy="43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Spin du nucléon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16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ΔΣ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l-GR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fr-FR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l-GR" sz="1600" b="0" i="1" smtClean="0">
                        <a:solidFill>
                          <a:srgbClr val="007BA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fr-FR" sz="1600" b="0" i="1" smtClean="0">
                        <a:solidFill>
                          <a:srgbClr val="007BA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fr-FR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C84262A-FBE8-9793-9F63-03DE1F0B0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4872738" y="2433921"/>
                <a:ext cx="3853217" cy="439992"/>
              </a:xfrm>
              <a:prstGeom prst="rect">
                <a:avLst/>
              </a:prstGeom>
              <a:blipFill>
                <a:blip r:embed="rId25"/>
                <a:stretch>
                  <a:fillRect l="-791" b="-41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F3B2F9E-8FE2-F4A7-B0A2-3323C46B9A9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352430" y="4870391"/>
            <a:ext cx="778970" cy="274637"/>
          </a:xfrm>
        </p:spPr>
        <p:txBody>
          <a:bodyPr/>
          <a:lstStyle/>
          <a:p>
            <a:fld id="{43011D56-0ADE-481C-8FF2-98F54ED539CA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F1C2EA1-4BB8-65D7-40DC-9A3C031DA34C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4711795" y="1852573"/>
            <a:ext cx="4319663" cy="60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7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E03E0F-5896-7AC8-5657-E04CFFA3CC4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Processus exclusif pour accéder aux GPD​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EA9FEC1-FF53-EAAE-D7B0-E7B2DE57F49E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25" y="755962"/>
            <a:ext cx="9045120" cy="267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</a:pP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Nous utilisons des processus profonds exclusifs, où toutes les particules de l'état final sont « connues », pour accéder aux GPD.</a:t>
            </a:r>
          </a:p>
          <a:p>
            <a:pPr marL="144000" indent="-144000">
              <a:spcBef>
                <a:spcPts val="600"/>
              </a:spcBef>
            </a:pPr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Les processus les plus </a:t>
            </a:r>
            <a:r>
              <a:rPr lang="en-US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étudié</a:t>
            </a:r>
            <a:r>
              <a:rPr lang="en-US" sz="1600" b="1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</a:t>
            </a:r>
            <a:r>
              <a:rPr lang="en-US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pour </a:t>
            </a:r>
            <a:r>
              <a:rPr lang="en-US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accéder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aux GPD </a:t>
            </a:r>
            <a:r>
              <a:rPr lang="en-US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sont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:</a:t>
            </a:r>
          </a:p>
          <a:p>
            <a:pPr marL="360000" lvl="1" indent="-144000"/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Deeply Virtual Compton Scattering (DVCS), production d’un photon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réel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pPr marL="360000" lvl="1" indent="-144000"/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Deeply Virtual Meson Production (DVMP), production d’un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méson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pPr marL="360000" lvl="1" indent="-144000"/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Time-like Compton Scattering (TCS), inverse du DVCS.</a:t>
            </a:r>
          </a:p>
          <a:p>
            <a:pPr marL="360000" lvl="1" indent="-144000"/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Double DVCS (DDVCS), production d’un photon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virtuel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pPr marL="360000" lvl="1" indent="-144000"/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Autres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processus avec 4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particules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dans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l’état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final :</a:t>
            </a:r>
          </a:p>
          <a:p>
            <a:pPr marL="504000" lvl="2" indent="-144000"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Electroproduction exclusive </a:t>
            </a:r>
            <a:r>
              <a:rPr lang="en-US" sz="10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d’une</a:t>
            </a:r>
            <a:r>
              <a:rPr lang="en-US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0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paire</a:t>
            </a:r>
            <a:r>
              <a:rPr lang="en-US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photon-meson.</a:t>
            </a:r>
          </a:p>
          <a:p>
            <a:pPr marL="504000" lvl="2" indent="-144000"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Electroproduction exclusive </a:t>
            </a:r>
            <a:r>
              <a:rPr lang="en-US" sz="10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d’une</a:t>
            </a:r>
            <a:r>
              <a:rPr lang="en-US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0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paire</a:t>
            </a:r>
            <a:r>
              <a:rPr lang="en-US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photon-photon.</a:t>
            </a:r>
          </a:p>
          <a:p>
            <a:pPr marL="504000" lvl="2" indent="-144000">
              <a:spcBef>
                <a:spcPts val="0"/>
              </a:spcBef>
            </a:pPr>
            <a:r>
              <a:rPr lang="en-US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…</a:t>
            </a:r>
          </a:p>
          <a:p>
            <a:pPr lvl="1"/>
            <a:endParaRPr lang="en-US" sz="16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pic>
        <p:nvPicPr>
          <p:cNvPr id="5122" name="Picture 2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0546DB4B-0B0D-CFC1-24F9-DE7814D45F7C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91645"/>
            <a:ext cx="8284631" cy="175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rois points - Icônes gratuites">
            <a:extLst>
              <a:ext uri="{FF2B5EF4-FFF2-40B4-BE49-F238E27FC236}">
                <a16:creationId xmlns:a16="http://schemas.microsoft.com/office/drawing/2014/main" id="{6F55E421-9DB9-8EB5-2C63-FC93D8D51F7A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147" y="3874230"/>
            <a:ext cx="581678" cy="58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1C6424-C2E2-1887-8D8C-CB32B514EE03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F4FD91-4D7A-CC64-056C-03D45FB639D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516522" y="1320968"/>
            <a:ext cx="24041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Deeply</a:t>
            </a:r>
            <a:r>
              <a:rPr lang="fr-FR" sz="11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/Profond : le photon virtuel qui sonde est de haute virtualité.</a:t>
            </a:r>
          </a:p>
        </p:txBody>
      </p:sp>
    </p:spTree>
    <p:extLst>
      <p:ext uri="{BB962C8B-B14F-4D97-AF65-F5344CB8AC3E}">
        <p14:creationId xmlns:p14="http://schemas.microsoft.com/office/powerpoint/2010/main" val="1490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10CB510A-7D98-DA8D-668B-AD19323FC88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13"/>
          <a:srcRect l="35062"/>
          <a:stretch/>
        </p:blipFill>
        <p:spPr>
          <a:xfrm>
            <a:off x="5645623" y="1577420"/>
            <a:ext cx="3329443" cy="17937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F405DEC-CCFC-9D6D-381E-4915320BE18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/>
              <a:t>Accéder aux GPD au travers du DVCS : ​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B0DC4B0-CAE4-111D-14F6-F384EBB2E13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0" y="783584"/>
            <a:ext cx="9134474" cy="11665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Deeply virtual Compton scattering (DVCS)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est le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canal le plus simple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pour sonder les GPD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L'électro-production exclusive d'un photon :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faible section efficace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 haute luminosité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Interfère de manière cohérente avec le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processus Bethe-Heitler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(BH) 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Donne un accès unique à la partie réelle et imaginaire de l'amplitude DVCS.</a:t>
            </a:r>
            <a:endParaRPr lang="en-US" sz="16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15">
                <a:extLst>
                  <a:ext uri="{FF2B5EF4-FFF2-40B4-BE49-F238E27FC236}">
                    <a16:creationId xmlns:a16="http://schemas.microsoft.com/office/drawing/2014/main" id="{C0A2EB74-9246-3EE5-EE35-F18512CA944F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449859" y="4079224"/>
                <a:ext cx="4684615" cy="800219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buFont typeface="Arial"/>
                  <a:buChar char="•"/>
                </a:pP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DVCS </a:t>
                </a:r>
                <a:r>
                  <a:rPr lang="fr-FR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ne permet pas un accès direct 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aux GPD.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Permet d'accéder à 4 quantités liées aux GPD : 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Facteurs de forme de Compton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𝜉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 (CFFs)</a:t>
                </a:r>
              </a:p>
            </p:txBody>
          </p:sp>
        </mc:Choice>
        <mc:Fallback xmlns="">
          <p:sp>
            <p:nvSpPr>
              <p:cNvPr id="5" name="ZoneTexte 15">
                <a:extLst>
                  <a:ext uri="{FF2B5EF4-FFF2-40B4-BE49-F238E27FC236}">
                    <a16:creationId xmlns:a16="http://schemas.microsoft.com/office/drawing/2014/main" id="{C0A2EB74-9246-3EE5-EE35-F18512CA9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4449859" y="4079224"/>
                <a:ext cx="4684615" cy="800219"/>
              </a:xfrm>
              <a:prstGeom prst="rect">
                <a:avLst/>
              </a:prstGeom>
              <a:blipFill>
                <a:blip r:embed="rId15"/>
                <a:stretch>
                  <a:fillRect l="-521" t="-3053" b="-687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19">
                <a:extLst>
                  <a:ext uri="{FF2B5EF4-FFF2-40B4-BE49-F238E27FC236}">
                    <a16:creationId xmlns:a16="http://schemas.microsoft.com/office/drawing/2014/main" id="{8A9AD6F0-8D10-4802-2AFB-0306A699F52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0" y="3999043"/>
                <a:ext cx="4506352" cy="1046440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</a:t>
                </a:r>
                <a14:m>
                  <m:oMath xmlns:m="http://schemas.openxmlformats.org/officeDocument/2006/math">
                    <m:r>
                      <a:rPr lang="fr-FR" sz="140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𝜎</m:t>
                    </m:r>
                    <m:r>
                      <a:rPr lang="fr-FR" sz="14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du DVCS a une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dépendance angulaire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Peut être exprimée en harmoniques de Fourier. 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contribution de BH est bien connue sur le plan théorique.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terme DVCS pur et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l'interférence BH-DVCS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apportent de nouvelles informations. 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 xmlns="">
          <p:sp>
            <p:nvSpPr>
              <p:cNvPr id="6" name="ZoneTexte 19">
                <a:extLst>
                  <a:ext uri="{FF2B5EF4-FFF2-40B4-BE49-F238E27FC236}">
                    <a16:creationId xmlns:a16="http://schemas.microsoft.com/office/drawing/2014/main" id="{8A9AD6F0-8D10-4802-2AFB-0306A699F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0" y="3999043"/>
                <a:ext cx="4506352" cy="1046440"/>
              </a:xfrm>
              <a:prstGeom prst="rect">
                <a:avLst/>
              </a:prstGeom>
              <a:blipFill>
                <a:blip r:embed="rId17"/>
                <a:stretch>
                  <a:fillRect l="-135" t="-1744" b="-34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C4DC0A15-5089-F20F-C6FD-8391154C0C0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574589" y="3503547"/>
            <a:ext cx="1270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Section efficace :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C640505-6798-9744-735F-65FA103FE70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8"/>
          <a:srcRect t="6435"/>
          <a:stretch/>
        </p:blipFill>
        <p:spPr>
          <a:xfrm>
            <a:off x="4752343" y="3388084"/>
            <a:ext cx="4200812" cy="531144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A4CE452-1676-5135-5004-721D94F6E03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ADEF257-96DD-453C-6D7E-0662359C20B5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9"/>
          <a:srcRect l="2317" t="9641"/>
          <a:stretch/>
        </p:blipFill>
        <p:spPr>
          <a:xfrm>
            <a:off x="245436" y="1827382"/>
            <a:ext cx="2660703" cy="21716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48FEAA19-7270-C414-FA4A-6FED66F8A552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3043451" y="1923091"/>
                <a:ext cx="180150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lin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/>
              </a:p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lin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/>
              </a:p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48FEAA19-7270-C414-FA4A-6FED66F8A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3043451" y="1923091"/>
                <a:ext cx="1801505" cy="1384995"/>
              </a:xfrm>
              <a:prstGeom prst="rect">
                <a:avLst/>
              </a:prstGeom>
              <a:blipFill>
                <a:blip r:embed="rId21"/>
                <a:stretch>
                  <a:fillRect b="-74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9848B94A-27B4-8E0D-8629-EA64B234D62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575787" y="3653656"/>
            <a:ext cx="612404" cy="19956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403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AAB8F-2F10-2D75-0A85-286E1916D4F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Facteurs de Forme de Compton pour le DVCS​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AC2146B4-84D6-5269-2AA1-9AF200382018}"/>
                  </a:ext>
                </a:extLst>
              </p:cNvPr>
              <p:cNvSpPr>
                <a:spLocks noGrp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0" y="751422"/>
                <a:ext cx="9134474" cy="195367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spcBef>
                    <a:spcPts val="600"/>
                  </a:spcBef>
                </a:pP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Au lieu des GPD, la section efficace du DVCS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est paramétrisée par les </a:t>
                </a:r>
                <a:r>
                  <a:rPr lang="fr-FR" sz="1400" b="1" dirty="0">
                    <a:solidFill>
                      <a:srgbClr val="009744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Facteurs de Formes de Compton (CFF)</a:t>
                </a:r>
                <a14:m>
                  <m:oMath xmlns:m="http://schemas.openxmlformats.org/officeDocument/2006/math">
                    <m:r>
                      <a:rPr lang="fr-FR" sz="1400" b="1" i="0" smtClean="0">
                        <a:solidFill>
                          <a:srgbClr val="009744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 </m:t>
                    </m:r>
                    <m:r>
                      <a:rPr lang="fr-FR" sz="1400" b="1" i="0" smtClean="0">
                        <a:solidFill>
                          <a:srgbClr val="00974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𝓕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</a:t>
                </a: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qui s'écrivent comme des convolutions entre des </a:t>
                </a:r>
                <a:r>
                  <a:rPr lang="fr-FR" sz="1400" b="1" dirty="0">
                    <a:solidFill>
                      <a:srgbClr val="8E3BA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fonctions de coefficients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400" b="1" i="1" smtClean="0">
                            <a:solidFill>
                              <a:srgbClr val="8E3BA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fr-FR" sz="1400" b="1" i="1" smtClean="0">
                            <a:solidFill>
                              <a:srgbClr val="8E3BA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fr-FR" sz="1400" b="1" i="1" smtClean="0">
                            <a:solidFill>
                              <a:srgbClr val="8E3BA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𝒂</m:t>
                        </m:r>
                      </m:sup>
                    </m:sSup>
                  </m:oMath>
                </a14:m>
                <a:r>
                  <a:rPr lang="fr-FR" sz="1400" b="1" dirty="0">
                    <a:solidFill>
                      <a:srgbClr val="8E3BA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et les </a:t>
                </a:r>
                <a:r>
                  <a:rPr lang="fr-FR" sz="1400" b="1" dirty="0">
                    <a:solidFill>
                      <a:srgbClr val="C2250E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GPD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400" b="1" i="1" smtClean="0">
                            <a:solidFill>
                              <a:srgbClr val="C2250E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fr-FR" sz="1400" b="1" i="1" smtClean="0">
                            <a:solidFill>
                              <a:srgbClr val="C2250E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fr-FR" sz="1400" b="1" i="1" smtClean="0">
                            <a:solidFill>
                              <a:srgbClr val="C2250E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𝒂</m:t>
                        </m:r>
                      </m:sup>
                    </m:sSup>
                  </m:oMath>
                </a14:m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144000" indent="-144000">
                  <a:spcBef>
                    <a:spcPts val="600"/>
                  </a:spcBef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Fonctions complexes 3D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directement accessibles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partir les sections efficaces et les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asymétries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DVCS.</a:t>
                </a:r>
              </a:p>
              <a:p>
                <a:pPr marL="144000" indent="-144000">
                  <a:spcBef>
                    <a:spcPts val="600"/>
                  </a:spcBef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CFF entrent linéairement dans le terme d’interférence et quadratiquement dans le terme DVCS.</a:t>
                </a:r>
              </a:p>
              <a:p>
                <a:pPr marL="144000" indent="-144000">
                  <a:spcBef>
                    <a:spcPts val="600"/>
                  </a:spcBef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Problème de convolution difficile à résoudre</a:t>
                </a:r>
              </a:p>
            </p:txBody>
          </p:sp>
        </mc:Choice>
        <mc:Fallback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AC2146B4-84D6-5269-2AA1-9AF2003820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0" y="751422"/>
                <a:ext cx="9134474" cy="1953678"/>
              </a:xfrm>
              <a:prstGeom prst="rect">
                <a:avLst/>
              </a:prstGeom>
              <a:blipFill>
                <a:blip r:embed="rId16"/>
                <a:stretch>
                  <a:fillRect l="-67" t="-1558" r="-2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FA5CE81B-DA46-2C52-EF55-4DDEFAAC9F2E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1"/>
          <a:stretch/>
        </p:blipFill>
        <p:spPr bwMode="auto">
          <a:xfrm>
            <a:off x="318443" y="2302668"/>
            <a:ext cx="4136486" cy="277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6">
            <a:extLst>
              <a:ext uri="{FF2B5EF4-FFF2-40B4-BE49-F238E27FC236}">
                <a16:creationId xmlns:a16="http://schemas.microsoft.com/office/drawing/2014/main" id="{329E4181-9F94-BB3B-C2A5-7DE92C19A2B9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1123217" y="3536155"/>
            <a:ext cx="3509963" cy="322263"/>
          </a:xfrm>
          <a:custGeom>
            <a:avLst/>
            <a:gdLst>
              <a:gd name="T0" fmla="*/ 0 w 2211"/>
              <a:gd name="T1" fmla="*/ 5 h 203"/>
              <a:gd name="T2" fmla="*/ 255 w 2211"/>
              <a:gd name="T3" fmla="*/ 33 h 203"/>
              <a:gd name="T4" fmla="*/ 454 w 2211"/>
              <a:gd name="T5" fmla="*/ 33 h 203"/>
              <a:gd name="T6" fmla="*/ 539 w 2211"/>
              <a:gd name="T7" fmla="*/ 33 h 203"/>
              <a:gd name="T8" fmla="*/ 596 w 2211"/>
              <a:gd name="T9" fmla="*/ 5 h 203"/>
              <a:gd name="T10" fmla="*/ 624 w 2211"/>
              <a:gd name="T11" fmla="*/ 61 h 203"/>
              <a:gd name="T12" fmla="*/ 681 w 2211"/>
              <a:gd name="T13" fmla="*/ 61 h 203"/>
              <a:gd name="T14" fmla="*/ 822 w 2211"/>
              <a:gd name="T15" fmla="*/ 33 h 203"/>
              <a:gd name="T16" fmla="*/ 1077 w 2211"/>
              <a:gd name="T17" fmla="*/ 61 h 203"/>
              <a:gd name="T18" fmla="*/ 1248 w 2211"/>
              <a:gd name="T19" fmla="*/ 118 h 203"/>
              <a:gd name="T20" fmla="*/ 1333 w 2211"/>
              <a:gd name="T21" fmla="*/ 146 h 203"/>
              <a:gd name="T22" fmla="*/ 1389 w 2211"/>
              <a:gd name="T23" fmla="*/ 146 h 203"/>
              <a:gd name="T24" fmla="*/ 1446 w 2211"/>
              <a:gd name="T25" fmla="*/ 146 h 203"/>
              <a:gd name="T26" fmla="*/ 1701 w 2211"/>
              <a:gd name="T27" fmla="*/ 146 h 203"/>
              <a:gd name="T28" fmla="*/ 1985 w 2211"/>
              <a:gd name="T29" fmla="*/ 175 h 203"/>
              <a:gd name="T30" fmla="*/ 2211 w 2211"/>
              <a:gd name="T31" fmla="*/ 203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11" h="203">
                <a:moveTo>
                  <a:pt x="0" y="5"/>
                </a:moveTo>
                <a:cubicBezTo>
                  <a:pt x="89" y="16"/>
                  <a:pt x="179" y="28"/>
                  <a:pt x="255" y="33"/>
                </a:cubicBezTo>
                <a:cubicBezTo>
                  <a:pt x="331" y="38"/>
                  <a:pt x="407" y="33"/>
                  <a:pt x="454" y="33"/>
                </a:cubicBezTo>
                <a:cubicBezTo>
                  <a:pt x="501" y="33"/>
                  <a:pt x="515" y="38"/>
                  <a:pt x="539" y="33"/>
                </a:cubicBezTo>
                <a:cubicBezTo>
                  <a:pt x="563" y="28"/>
                  <a:pt x="582" y="0"/>
                  <a:pt x="596" y="5"/>
                </a:cubicBezTo>
                <a:cubicBezTo>
                  <a:pt x="610" y="10"/>
                  <a:pt x="610" y="52"/>
                  <a:pt x="624" y="61"/>
                </a:cubicBezTo>
                <a:cubicBezTo>
                  <a:pt x="638" y="70"/>
                  <a:pt x="648" y="66"/>
                  <a:pt x="681" y="61"/>
                </a:cubicBezTo>
                <a:cubicBezTo>
                  <a:pt x="714" y="56"/>
                  <a:pt x="756" y="33"/>
                  <a:pt x="822" y="33"/>
                </a:cubicBezTo>
                <a:cubicBezTo>
                  <a:pt x="888" y="33"/>
                  <a:pt x="1006" y="47"/>
                  <a:pt x="1077" y="61"/>
                </a:cubicBezTo>
                <a:cubicBezTo>
                  <a:pt x="1148" y="75"/>
                  <a:pt x="1205" y="104"/>
                  <a:pt x="1248" y="118"/>
                </a:cubicBezTo>
                <a:cubicBezTo>
                  <a:pt x="1291" y="132"/>
                  <a:pt x="1310" y="141"/>
                  <a:pt x="1333" y="146"/>
                </a:cubicBezTo>
                <a:cubicBezTo>
                  <a:pt x="1356" y="151"/>
                  <a:pt x="1370" y="146"/>
                  <a:pt x="1389" y="146"/>
                </a:cubicBezTo>
                <a:cubicBezTo>
                  <a:pt x="1408" y="146"/>
                  <a:pt x="1394" y="146"/>
                  <a:pt x="1446" y="146"/>
                </a:cubicBezTo>
                <a:cubicBezTo>
                  <a:pt x="1498" y="146"/>
                  <a:pt x="1611" y="141"/>
                  <a:pt x="1701" y="146"/>
                </a:cubicBezTo>
                <a:cubicBezTo>
                  <a:pt x="1791" y="151"/>
                  <a:pt x="1900" y="166"/>
                  <a:pt x="1985" y="175"/>
                </a:cubicBezTo>
                <a:cubicBezTo>
                  <a:pt x="2070" y="184"/>
                  <a:pt x="2140" y="193"/>
                  <a:pt x="2211" y="203"/>
                </a:cubicBezTo>
              </a:path>
            </a:pathLst>
          </a:custGeom>
          <a:noFill/>
          <a:ln w="57150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7">
                <a:extLst>
                  <a:ext uri="{FF2B5EF4-FFF2-40B4-BE49-F238E27FC236}">
                    <a16:creationId xmlns:a16="http://schemas.microsoft.com/office/drawing/2014/main" id="{02B3AB53-D9F4-22EE-1716-97E67B09838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35194" y="2250544"/>
                <a:ext cx="2077043" cy="430887"/>
              </a:xfrm>
              <a:prstGeom prst="rect">
                <a:avLst/>
              </a:prstGeom>
              <a:noFill/>
              <a:ln w="28575">
                <a:solidFill>
                  <a:srgbClr val="0099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Mesure de </a:t>
                </a:r>
                <a14:m>
                  <m:oMath xmlns:m="http://schemas.openxmlformats.org/officeDocument/2006/math">
                    <m:r>
                      <a:rPr lang="fr-FR" altLang="fr-F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et BCA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</a:t>
                </a:r>
                <a:r>
                  <a:rPr lang="en-US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𝑅𝑒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{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𝐶𝐹𝐹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}</m:t>
                    </m:r>
                  </m:oMath>
                </a14:m>
                <a:endParaRPr lang="fr-FR" altLang="fr-FR" sz="11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Intégration des GPD sur </a:t>
                </a:r>
                <a14:m>
                  <m:oMath xmlns:m="http://schemas.openxmlformats.org/officeDocument/2006/math"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endParaRPr lang="fr-FR" altLang="fr-FR" sz="11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 Box 7">
                <a:extLst>
                  <a:ext uri="{FF2B5EF4-FFF2-40B4-BE49-F238E27FC236}">
                    <a16:creationId xmlns:a16="http://schemas.microsoft.com/office/drawing/2014/main" id="{02B3AB53-D9F4-22EE-1716-97E67B098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35194" y="2250544"/>
                <a:ext cx="2077043" cy="430887"/>
              </a:xfrm>
              <a:prstGeom prst="rect">
                <a:avLst/>
              </a:prstGeom>
              <a:blipFill>
                <a:blip r:embed="rId21"/>
                <a:stretch>
                  <a:fillRect b="-3947"/>
                </a:stretch>
              </a:blipFill>
              <a:ln w="28575">
                <a:solidFill>
                  <a:srgbClr val="0099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8">
            <a:extLst>
              <a:ext uri="{FF2B5EF4-FFF2-40B4-BE49-F238E27FC236}">
                <a16:creationId xmlns:a16="http://schemas.microsoft.com/office/drawing/2014/main" id="{2E99856F-8D90-B52C-F765-BA99B4A65100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400175" y="2681432"/>
            <a:ext cx="371070" cy="883892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49BEC60E-3622-AD1B-8AA9-8BD5C4EC4B21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016125" y="3524005"/>
            <a:ext cx="161925" cy="1619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endParaRPr lang="en-US" altLang="fr-FR" sz="1400">
              <a:latin typeface="Times New Roman" panose="02020603050405020304" pitchFamily="18" charset="0"/>
            </a:endParaRP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10878DCD-BB47-CB4D-92CE-7675F3C3DBA7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258112" y="3719001"/>
            <a:ext cx="161925" cy="1619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1">
                <a:extLst>
                  <a:ext uri="{FF2B5EF4-FFF2-40B4-BE49-F238E27FC236}">
                    <a16:creationId xmlns:a16="http://schemas.microsoft.com/office/drawing/2014/main" id="{DD7B13FB-5678-ABF2-FD36-86A2DCEE341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2922321" y="2031322"/>
                <a:ext cx="1705024" cy="430887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BSA ou TSA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𝐼𝑚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{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𝐶𝐹𝐹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}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altLang="fr-FR" sz="1100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algn="ctr"/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donc GPD à </a:t>
                </a:r>
                <a14:m>
                  <m:oMath xmlns:m="http://schemas.openxmlformats.org/officeDocument/2006/math"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et </a:t>
                </a:r>
                <a14:m>
                  <m:oMath xmlns:m="http://schemas.openxmlformats.org/officeDocument/2006/math"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 Box 11">
                <a:extLst>
                  <a:ext uri="{FF2B5EF4-FFF2-40B4-BE49-F238E27FC236}">
                    <a16:creationId xmlns:a16="http://schemas.microsoft.com/office/drawing/2014/main" id="{DD7B13FB-5678-ABF2-FD36-86A2DCEE3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2922321" y="2031322"/>
                <a:ext cx="1705024" cy="430887"/>
              </a:xfrm>
              <a:prstGeom prst="rect">
                <a:avLst/>
              </a:prstGeom>
              <a:blipFill>
                <a:blip r:embed="rId23"/>
                <a:stretch>
                  <a:fillRect b="-3947"/>
                </a:stretch>
              </a:blipFill>
              <a:ln w="28575">
                <a:solidFill>
                  <a:srgbClr val="C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ine 12">
            <a:extLst>
              <a:ext uri="{FF2B5EF4-FFF2-40B4-BE49-F238E27FC236}">
                <a16:creationId xmlns:a16="http://schemas.microsoft.com/office/drawing/2014/main" id="{8699A387-B13D-2050-4993-8FE972BE0517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2178049" y="2474359"/>
            <a:ext cx="1611062" cy="1078154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F03DCD48-B68B-67E9-EDBF-596CEE18604D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H="1">
            <a:off x="3420035" y="2474359"/>
            <a:ext cx="369076" cy="1244644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E191AC1E-F837-770C-CE3B-184311828138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827959" y="3880926"/>
                <a:ext cx="4376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La variable </a:t>
                </a: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 n'est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pas accessible </a:t>
                </a: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expérimentalement par DVCS, seulement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</m:oMath>
                </a14:m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E191AC1E-F837-770C-CE3B-184311828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4827959" y="3880926"/>
                <a:ext cx="4376067" cy="523220"/>
              </a:xfrm>
              <a:prstGeom prst="rect">
                <a:avLst/>
              </a:prstGeom>
              <a:blipFill>
                <a:blip r:embed="rId24"/>
                <a:stretch>
                  <a:fillRect l="-418" t="-3529" b="-105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BF7DE8-F554-4D4C-8833-3D3DDFE130C6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8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1527936-6E95-FCF7-AA41-C456A8BE70B7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88940" y="2514333"/>
            <a:ext cx="5056871" cy="5980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7633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9D2FFD-C7F2-0E5B-A45F-64D35DA35A6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Différentes observables pour le DVCS​</a:t>
            </a:r>
          </a:p>
        </p:txBody>
      </p:sp>
      <p:sp>
        <p:nvSpPr>
          <p:cNvPr id="4" name="Espace réservé du contenu 4">
            <a:extLst>
              <a:ext uri="{FF2B5EF4-FFF2-40B4-BE49-F238E27FC236}">
                <a16:creationId xmlns:a16="http://schemas.microsoft.com/office/drawing/2014/main" id="{532850E5-A89B-B0E6-F39C-78EB8EAF0921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26" y="760491"/>
            <a:ext cx="6623286" cy="1887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19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Mesure différents types d'observables : </a:t>
            </a:r>
          </a:p>
          <a:p>
            <a:pPr marL="144000" indent="-144000">
              <a:spcBef>
                <a:spcPts val="0"/>
              </a:spcBef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Sections efficaces ou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asymétries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: </a:t>
            </a:r>
          </a:p>
          <a:p>
            <a:pPr marL="360000" lvl="1" indent="-144000">
              <a:spcBef>
                <a:spcPts val="0"/>
              </a:spcBef>
            </a:pPr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BSA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TSA (L et T), DSA.</a:t>
            </a:r>
          </a:p>
          <a:p>
            <a:pPr marL="360000" lvl="1" indent="-144000">
              <a:spcBef>
                <a:spcPts val="0"/>
              </a:spcBef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Asymétrie offre un avantage 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 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certaines </a:t>
            </a:r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incertitudes systématiques se neutralisent</a:t>
            </a:r>
            <a:r>
              <a:rPr lang="fr-FR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60000" lvl="1" indent="-144000">
              <a:spcBef>
                <a:spcPts val="0"/>
              </a:spcBef>
            </a:pPr>
            <a:r>
              <a:rPr lang="fr-FR" sz="1200" dirty="0">
                <a:latin typeface="Cambria" panose="02040503050406030204" pitchFamily="18" charset="0"/>
                <a:ea typeface="Cambria" panose="02040503050406030204" pitchFamily="18" charset="0"/>
              </a:rPr>
              <a:t>Accès à une </a:t>
            </a:r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combinaison de CFF</a:t>
            </a:r>
            <a:r>
              <a:rPr lang="fr-FR" sz="1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144000" indent="-144000">
              <a:spcBef>
                <a:spcPts val="0"/>
              </a:spcBef>
            </a:pPr>
            <a:r>
              <a:rPr lang="fr-FR" sz="1400" dirty="0">
                <a:latin typeface="Cambria" panose="02040503050406030204" pitchFamily="18" charset="0"/>
                <a:ea typeface="Cambria" panose="02040503050406030204" pitchFamily="18" charset="0"/>
              </a:rPr>
              <a:t>Séparation demande </a:t>
            </a:r>
            <a:r>
              <a:rPr lang="fr-FR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plusieures</a:t>
            </a:r>
            <a:r>
              <a:rPr lang="fr-FR" sz="1400" dirty="0">
                <a:latin typeface="Cambria" panose="02040503050406030204" pitchFamily="18" charset="0"/>
                <a:ea typeface="Cambria" panose="02040503050406030204" pitchFamily="18" charset="0"/>
              </a:rPr>
              <a:t> observables.</a:t>
            </a:r>
          </a:p>
          <a:p>
            <a:pPr marL="144000" indent="-144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400" dirty="0">
                <a:latin typeface="Cambria" panose="02040503050406030204" pitchFamily="18" charset="0"/>
                <a:ea typeface="Cambria" panose="02040503050406030204" pitchFamily="18" charset="0"/>
              </a:rPr>
              <a:t>En fonction de la cible :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sensibilité différente</a:t>
            </a:r>
            <a:r>
              <a:rPr lang="fr-FR" sz="1400" dirty="0">
                <a:latin typeface="Cambria" panose="02040503050406030204" pitchFamily="18" charset="0"/>
                <a:ea typeface="Cambria" panose="02040503050406030204" pitchFamily="18" charset="0"/>
              </a:rPr>
              <a:t> aux CFF et aux saveur des quarks</a:t>
            </a:r>
            <a:endParaRPr lang="fr-FR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44000" indent="-144000">
              <a:spcBef>
                <a:spcPts val="600"/>
              </a:spcBef>
            </a:pPr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11F5934-3934-00AE-203B-EBA12B9100DF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526" y="4305198"/>
                <a:ext cx="8537736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</a:t>
                </a:r>
                <a:r>
                  <a:rPr lang="fr-FR" b="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 CFF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est accessible partout, pour les autres nous avons besoin d’observables plus compliquées. </a:t>
                </a:r>
              </a:p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Pour accéder au CFF 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et donc à la GPD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nous pouvons utiliser :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Cible de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proton polarisé transversalement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expérience planifiée à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JLab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Cible de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neutron non polarisé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, expérience déjà réalisé à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JLab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11F5934-3934-00AE-203B-EBA12B910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9526" y="4305198"/>
                <a:ext cx="8537736" cy="892552"/>
              </a:xfrm>
              <a:prstGeom prst="rect">
                <a:avLst/>
              </a:prstGeom>
              <a:blipFill>
                <a:blip r:embed="rId9"/>
                <a:stretch>
                  <a:fillRect l="-214" t="-2041" b="-40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09" name="Groupe 8208">
            <a:extLst>
              <a:ext uri="{FF2B5EF4-FFF2-40B4-BE49-F238E27FC236}">
                <a16:creationId xmlns:a16="http://schemas.microsoft.com/office/drawing/2014/main" id="{62A41FF7-FAB5-502B-5151-BC50BC2C27D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56482" y="2208273"/>
            <a:ext cx="8621510" cy="2174736"/>
            <a:chOff x="346140" y="1702268"/>
            <a:chExt cx="8386333" cy="2024872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F9D17E21-BA5E-CAFF-2B2B-1AB30F1D266D}"/>
                </a:ext>
              </a:extLst>
            </p:cNvPr>
            <p:cNvSpPr txBox="1"/>
            <p:nvPr/>
          </p:nvSpPr>
          <p:spPr>
            <a:xfrm>
              <a:off x="346140" y="1744553"/>
              <a:ext cx="14001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Polarisation </a:t>
              </a:r>
            </a:p>
            <a:p>
              <a:pPr algn="ctr"/>
              <a:r>
                <a:rPr lang="fr-FR" sz="9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du faisceau/de la cible</a:t>
              </a:r>
            </a:p>
          </p:txBody>
        </p:sp>
        <p:grpSp>
          <p:nvGrpSpPr>
            <p:cNvPr id="8202" name="Groupe 8201">
              <a:extLst>
                <a:ext uri="{FF2B5EF4-FFF2-40B4-BE49-F238E27FC236}">
                  <a16:creationId xmlns:a16="http://schemas.microsoft.com/office/drawing/2014/main" id="{93843C47-7E34-07A6-661C-0FBA3EE9DDC5}"/>
                </a:ext>
              </a:extLst>
            </p:cNvPr>
            <p:cNvGrpSpPr/>
            <p:nvPr/>
          </p:nvGrpSpPr>
          <p:grpSpPr>
            <a:xfrm>
              <a:off x="566189" y="2172034"/>
              <a:ext cx="960075" cy="405303"/>
              <a:chOff x="548601" y="2183119"/>
              <a:chExt cx="960075" cy="4053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Ellipse 6">
                    <a:extLst>
                      <a:ext uri="{FF2B5EF4-FFF2-40B4-BE49-F238E27FC236}">
                        <a16:creationId xmlns:a16="http://schemas.microsoft.com/office/drawing/2014/main" id="{E13DBB64-0AA1-93AD-AC44-E826A4B377F0}"/>
                      </a:ext>
                    </a:extLst>
                  </p:cNvPr>
                  <p:cNvSpPr/>
                  <p:nvPr/>
                </p:nvSpPr>
                <p:spPr>
                  <a:xfrm>
                    <a:off x="548601" y="2228422"/>
                    <a:ext cx="360000" cy="360000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fr-FR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fr-FR" dirty="0">
                      <a:ln w="3175">
                        <a:solidFill>
                          <a:schemeClr val="tx1"/>
                        </a:solidFill>
                      </a:ln>
                      <a:latin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" name="Ellipse 6">
                    <a:extLst>
                      <a:ext uri="{FF2B5EF4-FFF2-40B4-BE49-F238E27FC236}">
                        <a16:creationId xmlns:a16="http://schemas.microsoft.com/office/drawing/2014/main" id="{E13DBB64-0AA1-93AD-AC44-E826A4B377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01" y="2228422"/>
                    <a:ext cx="360000" cy="360000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" name="Groupe 11">
                <a:extLst>
                  <a:ext uri="{FF2B5EF4-FFF2-40B4-BE49-F238E27FC236}">
                    <a16:creationId xmlns:a16="http://schemas.microsoft.com/office/drawing/2014/main" id="{DC3FB703-FBD0-4CC9-F211-F71CA569C992}"/>
                  </a:ext>
                </a:extLst>
              </p:cNvPr>
              <p:cNvGrpSpPr/>
              <p:nvPr/>
            </p:nvGrpSpPr>
            <p:grpSpPr>
              <a:xfrm>
                <a:off x="908601" y="2228422"/>
                <a:ext cx="600075" cy="360000"/>
                <a:chOff x="1566863" y="2606916"/>
                <a:chExt cx="600075" cy="360000"/>
              </a:xfrm>
            </p:grpSpPr>
            <p:sp>
              <p:nvSpPr>
                <p:cNvPr id="10" name="Ellipse 9">
                  <a:extLst>
                    <a:ext uri="{FF2B5EF4-FFF2-40B4-BE49-F238E27FC236}">
                      <a16:creationId xmlns:a16="http://schemas.microsoft.com/office/drawing/2014/main" id="{A5835D55-9939-BF25-3184-7C2BAF5E567A}"/>
                    </a:ext>
                  </a:extLst>
                </p:cNvPr>
                <p:cNvSpPr/>
                <p:nvPr/>
              </p:nvSpPr>
              <p:spPr>
                <a:xfrm>
                  <a:off x="1685924" y="2606916"/>
                  <a:ext cx="360000" cy="360000"/>
                </a:xfrm>
                <a:prstGeom prst="ellipse">
                  <a:avLst/>
                </a:prstGeom>
                <a:solidFill>
                  <a:srgbClr val="FFCFCF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1" algn="just"/>
                  <a:endParaRPr lang="fr-FR" sz="1200" dirty="0">
                    <a:ln w="3175"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" panose="020405030504060302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ZoneTexte 10">
                      <a:extLst>
                        <a:ext uri="{FF2B5EF4-FFF2-40B4-BE49-F238E27FC236}">
                          <a16:creationId xmlns:a16="http://schemas.microsoft.com/office/drawing/2014/main" id="{DA9BD4FB-1F4B-EA40-1C84-4C36344362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6863" y="2606916"/>
                      <a:ext cx="600075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oMath>
                        </m:oMathPara>
                      </a14:m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1" name="ZoneTexte 10">
                      <a:extLst>
                        <a:ext uri="{FF2B5EF4-FFF2-40B4-BE49-F238E27FC236}">
                          <a16:creationId xmlns:a16="http://schemas.microsoft.com/office/drawing/2014/main" id="{DA9BD4FB-1F4B-EA40-1C84-4C36344362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66863" y="2606916"/>
                      <a:ext cx="600075" cy="307777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18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4" name="Connecteur droit avec flèche 13">
                <a:extLst>
                  <a:ext uri="{FF2B5EF4-FFF2-40B4-BE49-F238E27FC236}">
                    <a16:creationId xmlns:a16="http://schemas.microsoft.com/office/drawing/2014/main" id="{08FB307F-D683-FF72-5FC9-75BB814FEE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601" y="2183119"/>
                <a:ext cx="36097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0E38E082-50CF-772B-4FBA-34DA0F98D890}"/>
                    </a:ext>
                  </a:extLst>
                </p:cNvPr>
                <p:cNvSpPr txBox="1"/>
                <p:nvPr/>
              </p:nvSpPr>
              <p:spPr>
                <a:xfrm>
                  <a:off x="1505311" y="2264052"/>
                  <a:ext cx="4471742" cy="293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200" dirty="0">
                      <a:solidFill>
                        <a:schemeClr val="bg1">
                          <a:lumMod val="25000"/>
                        </a:schemeClr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rPr>
                    <a:t>BSA :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20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sz="120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200" i="1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FR" sz="12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𝐿𝑈</m:t>
                          </m:r>
                        </m:sub>
                      </m:sSub>
                      <m:r>
                        <a:rPr lang="fr-FR" sz="12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∼</m:t>
                      </m:r>
                      <m:func>
                        <m:funcPr>
                          <m:ctrlPr>
                            <a:rPr lang="fr-FR" sz="12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fr-FR" sz="12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e>
                          </m:nary>
                        </m:fName>
                        <m:e>
                          <m:r>
                            <a:rPr lang="fr-FR" sz="12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fr-FR" sz="12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2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𝐼𝑚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sz="12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𝓗</m:t>
                              </m:r>
                              <m:r>
                                <a:rPr lang="fr-FR" sz="12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2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  <m:d>
                                <m:dPr>
                                  <m:ctrlPr>
                                    <a:rPr lang="fr-FR" sz="12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12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̃"/>
                                  <m:ctrlPr>
                                    <a:rPr lang="fr-FR" sz="1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𝓗</m:t>
                                  </m:r>
                                </m:e>
                              </m:acc>
                              <m:r>
                                <a:rPr lang="fr-FR" sz="12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2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𝓔</m:t>
                              </m:r>
                            </m:e>
                          </m:d>
                          <m:r>
                            <a:rPr lang="fr-FR" sz="12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i="1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fr-FR" sz="12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a14:m>
                  <a:endPara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0E38E082-50CF-772B-4FBA-34DA0F98D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5311" y="2264052"/>
                  <a:ext cx="4471742" cy="293075"/>
                </a:xfrm>
                <a:prstGeom prst="rect">
                  <a:avLst/>
                </a:prstGeom>
                <a:blipFill>
                  <a:blip r:embed="rId12"/>
                  <a:stretch>
                    <a:fillRect l="-133" t="-103846" b="-16153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B7E2357A-ED55-3995-ECB3-5A27489F54E0}"/>
                    </a:ext>
                  </a:extLst>
                </p:cNvPr>
                <p:cNvSpPr txBox="1"/>
                <p:nvPr/>
              </p:nvSpPr>
              <p:spPr>
                <a:xfrm>
                  <a:off x="7204687" y="2023314"/>
                  <a:ext cx="1523999" cy="5861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fr-FR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fr-FR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b="0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ℋ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fr-FR" i="1">
                                        <a:solidFill>
                                          <a:srgbClr val="0099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solidFill>
                                          <a:srgbClr val="0099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𝓔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B7E2357A-ED55-3995-ECB3-5A27489F54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4687" y="2023314"/>
                  <a:ext cx="1523999" cy="58618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201" name="Groupe 8200">
              <a:extLst>
                <a:ext uri="{FF2B5EF4-FFF2-40B4-BE49-F238E27FC236}">
                  <a16:creationId xmlns:a16="http://schemas.microsoft.com/office/drawing/2014/main" id="{94F58987-EC67-AF2F-932D-34396C1C4243}"/>
                </a:ext>
              </a:extLst>
            </p:cNvPr>
            <p:cNvGrpSpPr/>
            <p:nvPr/>
          </p:nvGrpSpPr>
          <p:grpSpPr>
            <a:xfrm>
              <a:off x="566189" y="2714592"/>
              <a:ext cx="960075" cy="360000"/>
              <a:chOff x="548601" y="2835787"/>
              <a:chExt cx="960075" cy="360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Ellipse 19">
                    <a:extLst>
                      <a:ext uri="{FF2B5EF4-FFF2-40B4-BE49-F238E27FC236}">
                        <a16:creationId xmlns:a16="http://schemas.microsoft.com/office/drawing/2014/main" id="{06821CC7-46FD-1681-32E1-FF3BFDEE0D79}"/>
                      </a:ext>
                    </a:extLst>
                  </p:cNvPr>
                  <p:cNvSpPr/>
                  <p:nvPr/>
                </p:nvSpPr>
                <p:spPr>
                  <a:xfrm>
                    <a:off x="548601" y="2835787"/>
                    <a:ext cx="360000" cy="360000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fr-FR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fr-FR" dirty="0">
                      <a:ln w="3175">
                        <a:solidFill>
                          <a:schemeClr val="tx1"/>
                        </a:solidFill>
                      </a:ln>
                      <a:latin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Ellipse 19">
                    <a:extLst>
                      <a:ext uri="{FF2B5EF4-FFF2-40B4-BE49-F238E27FC236}">
                        <a16:creationId xmlns:a16="http://schemas.microsoft.com/office/drawing/2014/main" id="{06821CC7-46FD-1681-32E1-FF3BFDEE0D7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01" y="2835787"/>
                    <a:ext cx="360000" cy="360000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" name="Groupe 20">
                <a:extLst>
                  <a:ext uri="{FF2B5EF4-FFF2-40B4-BE49-F238E27FC236}">
                    <a16:creationId xmlns:a16="http://schemas.microsoft.com/office/drawing/2014/main" id="{2CAAA696-9DED-DF60-A44E-9F541210DAB2}"/>
                  </a:ext>
                </a:extLst>
              </p:cNvPr>
              <p:cNvGrpSpPr/>
              <p:nvPr/>
            </p:nvGrpSpPr>
            <p:grpSpPr>
              <a:xfrm>
                <a:off x="908601" y="2835787"/>
                <a:ext cx="600075" cy="360000"/>
                <a:chOff x="1566863" y="2606916"/>
                <a:chExt cx="600075" cy="360000"/>
              </a:xfrm>
            </p:grpSpPr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D93D56F2-0588-DF3F-D285-E127774EB4A0}"/>
                    </a:ext>
                  </a:extLst>
                </p:cNvPr>
                <p:cNvSpPr/>
                <p:nvPr/>
              </p:nvSpPr>
              <p:spPr>
                <a:xfrm>
                  <a:off x="1685924" y="2606916"/>
                  <a:ext cx="360000" cy="360000"/>
                </a:xfrm>
                <a:prstGeom prst="ellipse">
                  <a:avLst/>
                </a:prstGeom>
                <a:solidFill>
                  <a:srgbClr val="FFCFCF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1" algn="just"/>
                  <a:endParaRPr lang="fr-FR" sz="1200" dirty="0">
                    <a:ln w="3175"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1EFC74E9-3553-2363-B36A-85C43ECF38C8}"/>
                    </a:ext>
                  </a:extLst>
                </p:cNvPr>
                <p:cNvSpPr txBox="1"/>
                <p:nvPr/>
              </p:nvSpPr>
              <p:spPr>
                <a:xfrm>
                  <a:off x="1566863" y="2606916"/>
                  <a:ext cx="6000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fr-FR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p:grpSp>
          <p:cxnSp>
            <p:nvCxnSpPr>
              <p:cNvPr id="25" name="Connecteur droit avec flèche 24">
                <a:extLst>
                  <a:ext uri="{FF2B5EF4-FFF2-40B4-BE49-F238E27FC236}">
                    <a16:creationId xmlns:a16="http://schemas.microsoft.com/office/drawing/2014/main" id="{6B7FE3B6-0EB7-17D2-241C-F1EEA3738C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7227" y="3021931"/>
                <a:ext cx="5095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0688D5B9-EB6A-131A-2EE7-FAB12C9F93DA}"/>
                    </a:ext>
                  </a:extLst>
                </p:cNvPr>
                <p:cNvSpPr txBox="1"/>
                <p:nvPr/>
              </p:nvSpPr>
              <p:spPr>
                <a:xfrm>
                  <a:off x="1499948" y="2765629"/>
                  <a:ext cx="5048588" cy="293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2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TSA L :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𝑈𝐿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∼</m:t>
                      </m:r>
                      <m:func>
                        <m:funcPr>
                          <m:ctrlP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fr-FR" sz="1200" i="1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e>
                          </m:nary>
                        </m:fName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𝐼𝑚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acc>
                                <m:accPr>
                                  <m:chr m:val="̃"/>
                                  <m:ctrlPr>
                                    <a:rPr lang="fr-FR" sz="1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2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𝓗</m:t>
                                  </m:r>
                                </m:e>
                              </m:acc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𝓗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fr-F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fr-FR" sz="1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𝓔</m:t>
                                  </m:r>
                                </m:e>
                              </m:d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fr-FR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acc>
                                <m:accPr>
                                  <m:chr m:val="̃"/>
                                  <m:ctrlPr>
                                    <a:rPr lang="fr-FR" sz="1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2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𝓔</m:t>
                                  </m:r>
                                </m:e>
                              </m:acc>
                              <m:r>
                                <a:rPr lang="fr-F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+…</m:t>
                              </m:r>
                            </m:e>
                          </m:d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</m:oMath>
                  </a14:m>
                  <a:endParaRPr lang="fr-FR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0688D5B9-EB6A-131A-2EE7-FAB12C9F9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948" y="2765629"/>
                  <a:ext cx="5048588" cy="293075"/>
                </a:xfrm>
                <a:prstGeom prst="rect">
                  <a:avLst/>
                </a:prstGeom>
                <a:blipFill>
                  <a:blip r:embed="rId15"/>
                  <a:stretch>
                    <a:fillRect l="-118" t="-105882" b="-16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91ADD1EB-CFB0-22C9-7371-F5B40DAC9A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508" y="2336238"/>
              <a:ext cx="542065" cy="1"/>
            </a:xfrm>
            <a:prstGeom prst="straightConnector1">
              <a:avLst/>
            </a:prstGeom>
            <a:ln w="12700">
              <a:solidFill>
                <a:schemeClr val="bg1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B69F2161-517F-8CA5-DA6B-1DB237F3673C}"/>
                    </a:ext>
                  </a:extLst>
                </p:cNvPr>
                <p:cNvSpPr txBox="1"/>
                <p:nvPr/>
              </p:nvSpPr>
              <p:spPr>
                <a:xfrm>
                  <a:off x="7208474" y="2612825"/>
                  <a:ext cx="1523999" cy="6070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fr-FR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𝓗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b="0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fr-FR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fr-FR" i="1">
                                        <a:solidFill>
                                          <a:srgbClr val="0099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>
                                        <a:solidFill>
                                          <a:srgbClr val="0099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ℰ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b="0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B69F2161-517F-8CA5-DA6B-1DB237F36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8474" y="2612825"/>
                  <a:ext cx="1523999" cy="607026"/>
                </a:xfrm>
                <a:prstGeom prst="rect">
                  <a:avLst/>
                </a:prstGeom>
                <a:blipFill>
                  <a:blip r:embed="rId16"/>
                  <a:stretch>
                    <a:fillRect r="-661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200" name="Groupe 8199">
              <a:extLst>
                <a:ext uri="{FF2B5EF4-FFF2-40B4-BE49-F238E27FC236}">
                  <a16:creationId xmlns:a16="http://schemas.microsoft.com/office/drawing/2014/main" id="{0C7E0958-0232-5358-C43E-B57C572DCDAC}"/>
                </a:ext>
              </a:extLst>
            </p:cNvPr>
            <p:cNvGrpSpPr/>
            <p:nvPr/>
          </p:nvGrpSpPr>
          <p:grpSpPr>
            <a:xfrm>
              <a:off x="563690" y="3161853"/>
              <a:ext cx="960075" cy="523875"/>
              <a:chOff x="548601" y="3326731"/>
              <a:chExt cx="960075" cy="52387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4CF6F2C0-3205-D694-5B27-43EAA3F6D264}"/>
                      </a:ext>
                    </a:extLst>
                  </p:cNvPr>
                  <p:cNvSpPr/>
                  <p:nvPr/>
                </p:nvSpPr>
                <p:spPr>
                  <a:xfrm>
                    <a:off x="548601" y="3433924"/>
                    <a:ext cx="360000" cy="360000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fr-FR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fr-FR" dirty="0">
                      <a:ln w="3175">
                        <a:solidFill>
                          <a:schemeClr val="tx1"/>
                        </a:solidFill>
                      </a:ln>
                      <a:latin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4CF6F2C0-3205-D694-5B27-43EAA3F6D26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01" y="3433924"/>
                    <a:ext cx="360000" cy="360000"/>
                  </a:xfrm>
                  <a:prstGeom prst="ellipse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1" name="Groupe 40">
                <a:extLst>
                  <a:ext uri="{FF2B5EF4-FFF2-40B4-BE49-F238E27FC236}">
                    <a16:creationId xmlns:a16="http://schemas.microsoft.com/office/drawing/2014/main" id="{659DDA90-E142-EDA3-4636-8952C7273173}"/>
                  </a:ext>
                </a:extLst>
              </p:cNvPr>
              <p:cNvGrpSpPr/>
              <p:nvPr/>
            </p:nvGrpSpPr>
            <p:grpSpPr>
              <a:xfrm>
                <a:off x="908601" y="3433924"/>
                <a:ext cx="600075" cy="360000"/>
                <a:chOff x="1566863" y="2606916"/>
                <a:chExt cx="600075" cy="360000"/>
              </a:xfrm>
            </p:grpSpPr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36C795C2-6DB7-023E-579D-F529E215F6E0}"/>
                    </a:ext>
                  </a:extLst>
                </p:cNvPr>
                <p:cNvSpPr/>
                <p:nvPr/>
              </p:nvSpPr>
              <p:spPr>
                <a:xfrm>
                  <a:off x="1685924" y="2606916"/>
                  <a:ext cx="360000" cy="360000"/>
                </a:xfrm>
                <a:prstGeom prst="ellipse">
                  <a:avLst/>
                </a:prstGeom>
                <a:solidFill>
                  <a:srgbClr val="FFCFCF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1" algn="just"/>
                  <a:endParaRPr lang="fr-FR" sz="1200" dirty="0">
                    <a:ln w="3175"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C96E52E9-0411-F8E5-7F70-08B86C241032}"/>
                    </a:ext>
                  </a:extLst>
                </p:cNvPr>
                <p:cNvSpPr txBox="1"/>
                <p:nvPr/>
              </p:nvSpPr>
              <p:spPr>
                <a:xfrm>
                  <a:off x="1566863" y="2606916"/>
                  <a:ext cx="6000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fr-FR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p:grpSp>
          <p:cxnSp>
            <p:nvCxnSpPr>
              <p:cNvPr id="45" name="Connecteur droit avec flèche 44">
                <a:extLst>
                  <a:ext uri="{FF2B5EF4-FFF2-40B4-BE49-F238E27FC236}">
                    <a16:creationId xmlns:a16="http://schemas.microsoft.com/office/drawing/2014/main" id="{180AD93D-7840-4AFB-A189-FE833A5024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1064" y="3326731"/>
                <a:ext cx="14288" cy="5238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759C6A8F-3D09-5F9C-206C-18BD08A99D2C}"/>
                    </a:ext>
                  </a:extLst>
                </p:cNvPr>
                <p:cNvSpPr txBox="1"/>
                <p:nvPr/>
              </p:nvSpPr>
              <p:spPr>
                <a:xfrm>
                  <a:off x="1499948" y="3308316"/>
                  <a:ext cx="4450562" cy="2845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200" dirty="0">
                      <a:latin typeface="Cambria" panose="02040503050406030204" pitchFamily="18" charset="0"/>
                      <a:ea typeface="Cambria" panose="02040503050406030204" pitchFamily="18" charset="0"/>
                    </a:rPr>
                    <a:t>TSA T :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𝑈𝑇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∼</m:t>
                      </m:r>
                      <m:func>
                        <m:funcPr>
                          <m:ctrlP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fr-FR" sz="1200" i="1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200" b="0" i="0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</m:nary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fName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𝐼𝑚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𝓗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𝓔</m:t>
                              </m:r>
                              <m:r>
                                <a:rPr lang="fr-F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</m:t>
                              </m:r>
                            </m:e>
                          </m:d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</m:oMath>
                  </a14:m>
                  <a:endParaRPr lang="fr-FR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759C6A8F-3D09-5F9C-206C-18BD08A99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948" y="3308316"/>
                  <a:ext cx="4450562" cy="284537"/>
                </a:xfrm>
                <a:prstGeom prst="rect">
                  <a:avLst/>
                </a:prstGeom>
                <a:blipFill>
                  <a:blip r:embed="rId18"/>
                  <a:stretch>
                    <a:fillRect l="-133" t="-112000" b="-168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83A25510-22CC-21B6-186D-7DA2C7013C17}"/>
                    </a:ext>
                  </a:extLst>
                </p:cNvPr>
                <p:cNvSpPr txBox="1"/>
                <p:nvPr/>
              </p:nvSpPr>
              <p:spPr>
                <a:xfrm>
                  <a:off x="7204687" y="3169743"/>
                  <a:ext cx="1523999" cy="55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𝓔</m:t>
                                </m:r>
                              </m:e>
                              <m:sub>
                                <m: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b="0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fr-FR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fr-FR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83A25510-22CC-21B6-186D-7DA2C7013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4687" y="3169743"/>
                  <a:ext cx="1523999" cy="55739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93" name="ZoneTexte 8192">
              <a:extLst>
                <a:ext uri="{FF2B5EF4-FFF2-40B4-BE49-F238E27FC236}">
                  <a16:creationId xmlns:a16="http://schemas.microsoft.com/office/drawing/2014/main" id="{D4C4A268-1EF7-C419-FEE3-71C4799E4307}"/>
                </a:ext>
              </a:extLst>
            </p:cNvPr>
            <p:cNvSpPr txBox="1"/>
            <p:nvPr/>
          </p:nvSpPr>
          <p:spPr>
            <a:xfrm>
              <a:off x="7204686" y="1702268"/>
              <a:ext cx="14583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Proton</a:t>
              </a:r>
              <a:r>
                <a:rPr lang="fr-FR" dirty="0">
                  <a:latin typeface="Cambria" panose="02040503050406030204" pitchFamily="18" charset="0"/>
                  <a:ea typeface="Cambria" panose="02040503050406030204" pitchFamily="18" charset="0"/>
                </a:rPr>
                <a:t>  </a:t>
              </a:r>
              <a:r>
                <a:rPr lang="fr-FR" dirty="0">
                  <a:solidFill>
                    <a:srgbClr val="0099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Neutron</a:t>
              </a:r>
            </a:p>
          </p:txBody>
        </p:sp>
        <p:cxnSp>
          <p:nvCxnSpPr>
            <p:cNvPr id="8196" name="Connecteur droit 8195">
              <a:extLst>
                <a:ext uri="{FF2B5EF4-FFF2-40B4-BE49-F238E27FC236}">
                  <a16:creationId xmlns:a16="http://schemas.microsoft.com/office/drawing/2014/main" id="{5E8FADBB-185C-68D3-0237-9EC44891B5FE}"/>
                </a:ext>
              </a:extLst>
            </p:cNvPr>
            <p:cNvCxnSpPr>
              <a:cxnSpLocks/>
            </p:cNvCxnSpPr>
            <p:nvPr/>
          </p:nvCxnSpPr>
          <p:spPr>
            <a:xfrm>
              <a:off x="7204686" y="2010045"/>
              <a:ext cx="1458302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06" name="Connecteur droit avec flèche 8205">
              <a:extLst>
                <a:ext uri="{FF2B5EF4-FFF2-40B4-BE49-F238E27FC236}">
                  <a16:creationId xmlns:a16="http://schemas.microsoft.com/office/drawing/2014/main" id="{7BCCF18C-DC98-EA0C-2391-23D59B5CE6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9381" y="2916338"/>
              <a:ext cx="542065" cy="1"/>
            </a:xfrm>
            <a:prstGeom prst="straightConnector1">
              <a:avLst/>
            </a:prstGeom>
            <a:ln w="12700">
              <a:solidFill>
                <a:schemeClr val="bg1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07" name="Connecteur droit avec flèche 8206">
              <a:extLst>
                <a:ext uri="{FF2B5EF4-FFF2-40B4-BE49-F238E27FC236}">
                  <a16:creationId xmlns:a16="http://schemas.microsoft.com/office/drawing/2014/main" id="{098DC587-23A9-6B6E-4F52-B403AF66EC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9381" y="3449253"/>
              <a:ext cx="542065" cy="1"/>
            </a:xfrm>
            <a:prstGeom prst="straightConnector1">
              <a:avLst/>
            </a:prstGeom>
            <a:ln w="12700">
              <a:solidFill>
                <a:schemeClr val="bg1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FACA635-C558-EFC0-560F-035EB559FD6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2313AB0-2D58-E92A-C5A4-DBC4872A595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232478" y="852488"/>
            <a:ext cx="29115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BSA : asymétrie du spin du faisceau</a:t>
            </a:r>
          </a:p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TSA : asymétrie du spin de la cible</a:t>
            </a:r>
          </a:p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DSA : asymétrie des spins de la cible et du faisceau</a:t>
            </a:r>
          </a:p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 : polarisation transverse</a:t>
            </a:r>
          </a:p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 : polarisation longitudinale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0CFE798C-046A-DB49-1B9D-53CF69DDE5B9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200803" y="1956943"/>
                <a:ext cx="15667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𝓕</m:t>
                      </m:r>
                      <m:r>
                        <a:rPr lang="fr-FR" sz="1200" b="1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200" b="0" i="0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fr-FR" sz="1200" b="0" i="0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terme</m:t>
                      </m:r>
                      <m:r>
                        <a:rPr lang="fr-FR" sz="1200" b="0" i="0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1200" b="0" i="0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dominant</m:t>
                      </m:r>
                    </m:oMath>
                  </m:oMathPara>
                </a14:m>
                <a:endParaRPr lang="fr-FR" sz="1200" dirty="0">
                  <a:solidFill>
                    <a:schemeClr val="bg1">
                      <a:lumMod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0CFE798C-046A-DB49-1B9D-53CF69DDE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7200803" y="1956943"/>
                <a:ext cx="1566735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245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9FF4A2-21AF-3E38-7495-CED84A90D8D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Différentes observables pour le DVCS​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A3775A-3379-B73F-E171-C29935522AC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532098" y="2349893"/>
            <a:ext cx="1411487" cy="358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7">
                <a:extLst>
                  <a:ext uri="{FF2B5EF4-FFF2-40B4-BE49-F238E27FC236}">
                    <a16:creationId xmlns:a16="http://schemas.microsoft.com/office/drawing/2014/main" id="{573898AA-F177-D169-3C74-68484F520ED7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3446" y="2144712"/>
                <a:ext cx="9087582" cy="2370457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Partie réelle et imaginaire de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𝓗</m:t>
                    </m:r>
                    <m:r>
                      <a:rPr lang="fr-FR" sz="14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  <m:r>
                      <a:rPr lang="fr-FR" sz="1400" b="1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:</m:t>
                    </m:r>
                    <m:r>
                      <a:rPr lang="fr-FR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endParaRPr lang="fr-FR" sz="14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 Math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Connue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grace aux données DVCS sur proton non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polarisé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Cas du neutron</a:t>
                </a:r>
                <a14:m>
                  <m:oMath xmlns:m="http://schemas.openxmlformats.org/officeDocument/2006/math">
                    <m:r>
                      <a:rPr lang="fr-FR" sz="12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𝓗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est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petit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car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2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est petit à petit </a:t>
                </a:r>
                <a14:m>
                  <m:oMath xmlns:m="http://schemas.openxmlformats.org/officeDocument/2006/math">
                    <m:r>
                      <a:rPr lang="fr-FR" sz="1200" i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</m:oMath>
                </a14:m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Partie réelle et imaginaire de</a:t>
                </a:r>
                <a14:m>
                  <m:oMath xmlns:m="http://schemas.openxmlformats.org/officeDocument/2006/math">
                    <m:r>
                      <a:rPr lang="fr-FR" sz="14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fr-FR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accPr>
                      <m:e>
                        <m:r>
                          <a:rPr lang="fr-FR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𝓗</m:t>
                        </m:r>
                      </m:e>
                    </m:acc>
                    <m:r>
                      <a:rPr lang="fr-FR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  <m:r>
                      <a:rPr lang="fr-FR" sz="1400" b="1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:</m:t>
                    </m:r>
                    <m:r>
                      <a:rPr lang="fr-FR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endParaRPr lang="fr-FR" sz="14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 Math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Connue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grace aux données DVCS sur proton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polarisé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longitudinalement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  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Cas du neutron</a:t>
                </a:r>
                <a14:m>
                  <m:oMath xmlns:m="http://schemas.openxmlformats.org/officeDocument/2006/math">
                    <m:r>
                      <a:rPr lang="fr-FR" sz="12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fr-FR" sz="1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accPr>
                      <m:e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𝓗</m:t>
                        </m:r>
                      </m:e>
                    </m:acc>
                  </m:oMath>
                </a14:m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est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petit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car les PDF polarisés des quarks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𝑢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𝑑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sont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opposés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∆</m:t>
                    </m:r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𝑢</m:t>
                    </m:r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+ 2∆</m:t>
                    </m:r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𝑑</m:t>
                    </m:r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≈ 0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).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Principale contribution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à BSA avec une cible de neutrons →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𝐼𝑚</m:t>
                    </m:r>
                    <m:d>
                      <m:d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dPr>
                      <m:e>
                        <m:r>
                          <a:rPr lang="en-US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𝓔</m:t>
                        </m:r>
                      </m:e>
                    </m:d>
                    <m: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.</m:t>
                    </m:r>
                  </m:oMath>
                </a14:m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les GPD du proton et du neutron, nous pouvons :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Mesurer à la fois</a:t>
                </a:r>
                <a14:m>
                  <m:oMath xmlns:m="http://schemas.openxmlformats.org/officeDocument/2006/math">
                    <m: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𝐻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𝐻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permettre la séparation des saveurs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Règle de la somme de Ji qui relie le moment angulaire porté par un quark aux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GPD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𝐻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au spin du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nucléon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</p:txBody>
          </p:sp>
        </mc:Choice>
        <mc:Fallback>
          <p:sp>
            <p:nvSpPr>
              <p:cNvPr id="9" name="ZoneTexte 7">
                <a:extLst>
                  <a:ext uri="{FF2B5EF4-FFF2-40B4-BE49-F238E27FC236}">
                    <a16:creationId xmlns:a16="http://schemas.microsoft.com/office/drawing/2014/main" id="{573898AA-F177-D169-3C74-68484F520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3446" y="2144712"/>
                <a:ext cx="9087582" cy="2370457"/>
              </a:xfrm>
              <a:prstGeom prst="rect">
                <a:avLst/>
              </a:prstGeom>
              <a:blipFill>
                <a:blip r:embed="rId18"/>
                <a:stretch>
                  <a:fillRect l="-201" t="-771" b="-128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3122EF8D-0DB4-258C-AE61-C59AF622553E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28114" y="1148278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ln w="3175"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n w="3175"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b="0" i="1" smtClean="0">
                              <a:ln w="3175"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b="0" i="1" smtClean="0">
                              <a:ln w="3175"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fr-FR" dirty="0">
                  <a:ln w="3175">
                    <a:solidFill>
                      <a:schemeClr val="tx1"/>
                    </a:solidFill>
                  </a:ln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3122EF8D-0DB4-258C-AE61-C59AF6225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728114" y="1148278"/>
                <a:ext cx="360000" cy="360000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9525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llipse 18">
            <a:extLst>
              <a:ext uri="{FF2B5EF4-FFF2-40B4-BE49-F238E27FC236}">
                <a16:creationId xmlns:a16="http://schemas.microsoft.com/office/drawing/2014/main" id="{DACAB201-4A1B-AB67-E30D-FE3E00F8DE9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207175" y="1148278"/>
            <a:ext cx="360000" cy="360000"/>
          </a:xfrm>
          <a:prstGeom prst="ellipse">
            <a:avLst/>
          </a:prstGeom>
          <a:solidFill>
            <a:srgbClr val="FFCFCF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just"/>
            <a:endParaRPr lang="fr-FR" sz="1200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6F7C67F5-FB9A-25E3-784D-99396FAA1334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088114" y="1148278"/>
                <a:ext cx="6000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6F7C67F5-FB9A-25E3-784D-99396FAA1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088114" y="1148278"/>
                <a:ext cx="600075" cy="307777"/>
              </a:xfrm>
              <a:prstGeom prst="rect">
                <a:avLst/>
              </a:prstGeom>
              <a:blipFill>
                <a:blip r:embed="rId2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892BA61F-19EE-1B78-4376-2D0F904F782F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728114" y="1102975"/>
            <a:ext cx="360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27374554-1E60-EC8A-BA9C-2DC8A57CBE05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647805" y="1117628"/>
                <a:ext cx="4559040" cy="369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sz="160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𝐿𝑈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∼</m:t>
                      </m:r>
                      <m:func>
                        <m:funcPr>
                          <m:ctrlP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 b="0" i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𝐼𝑚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sz="16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6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𝓗</m:t>
                              </m:r>
                              <m:r>
                                <a:rPr lang="fr-FR" sz="16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  <m:d>
                                <m:dPr>
                                  <m:ctrlPr>
                                    <a:rPr lang="fr-FR" sz="16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sz="16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6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fr-FR" sz="16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16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16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6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fr-FR" sz="1600" b="0" i="1" smtClean="0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̃"/>
                                  <m:ctrlPr>
                                    <a:rPr lang="fr-FR" sz="16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𝓗</m:t>
                                  </m:r>
                                </m:e>
                              </m:acc>
                              <m:r>
                                <a:rPr lang="fr-FR" sz="16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6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𝓔</m:t>
                              </m:r>
                            </m:e>
                          </m:d>
                          <m: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600" i="1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27374554-1E60-EC8A-BA9C-2DC8A57CB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647805" y="1117628"/>
                <a:ext cx="4559040" cy="369075"/>
              </a:xfrm>
              <a:prstGeom prst="rect">
                <a:avLst/>
              </a:prstGeom>
              <a:blipFill>
                <a:blip r:embed="rId2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EE8B0BC9-CBD8-398F-D002-DD0F8654CD66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829540" y="1121000"/>
                <a:ext cx="1523999" cy="369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1600" b="0" i="1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ℋ</m:t>
                              </m:r>
                            </m:e>
                            <m:sub>
                              <m:r>
                                <a:rPr lang="fr-FR" sz="1600" b="0" i="1" smtClean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fr-FR" sz="1600" i="1">
                                      <a:solidFill>
                                        <a:srgbClr val="0099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>
                                      <a:solidFill>
                                        <a:srgbClr val="0099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ℋ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b="0" i="1" smtClean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fr-FR" sz="1600" b="1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𝓔</m:t>
                              </m:r>
                            </m:e>
                            <m:sub>
                              <m:r>
                                <a:rPr lang="fr-FR" sz="1600" b="1" i="1" smtClean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EE8B0BC9-CBD8-398F-D002-DD0F8654C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6829540" y="1121000"/>
                <a:ext cx="1523999" cy="36907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A3B8E00-AFF7-24D1-393C-A1D87DA83547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 flipV="1">
            <a:off x="6239303" y="1304639"/>
            <a:ext cx="542065" cy="1"/>
          </a:xfrm>
          <a:prstGeom prst="straightConnector1">
            <a:avLst/>
          </a:prstGeom>
          <a:ln w="19050">
            <a:solidFill>
              <a:schemeClr val="bg1">
                <a:lumMod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C4091B4-418E-7CAF-4ACE-DD78CD6D5B01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824327" y="1634193"/>
                <a:ext cx="1485817" cy="461665"/>
              </a:xfrm>
              <a:prstGeom prst="rect">
                <a:avLst/>
              </a:prstGeom>
              <a:noFill/>
              <a:ln>
                <a:solidFill>
                  <a:schemeClr val="bg1">
                    <a:lumMod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Petit car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est petit à petit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</m:oMath>
                </a14:m>
                <a:endParaRPr lang="fr-FR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C4091B4-418E-7CAF-4ACE-DD78CD6D5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1824327" y="1634193"/>
                <a:ext cx="1485817" cy="461665"/>
              </a:xfrm>
              <a:prstGeom prst="rect">
                <a:avLst/>
              </a:prstGeom>
              <a:blipFill>
                <a:blip r:embed="rId29"/>
                <a:stretch>
                  <a:fillRect b="-7692"/>
                </a:stretch>
              </a:blipFill>
              <a:ln>
                <a:solidFill>
                  <a:schemeClr val="bg1">
                    <a:lumMod val="2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83A2C86C-2362-1F3F-7CF6-A34FB598BD29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608233" y="1661472"/>
                <a:ext cx="2266378" cy="461665"/>
              </a:xfrm>
              <a:prstGeom prst="rect">
                <a:avLst/>
              </a:prstGeom>
              <a:noFill/>
              <a:ln>
                <a:solidFill>
                  <a:schemeClr val="bg1">
                    <a:lumMod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Petit</a:t>
                </a: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car les PDF polarisées des quarks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sont opposées</a:t>
                </a:r>
              </a:p>
            </p:txBody>
          </p:sp>
        </mc:Choice>
        <mc:Fallback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83A2C86C-2362-1F3F-7CF6-A34FB598B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4608233" y="1661472"/>
                <a:ext cx="2266378" cy="461665"/>
              </a:xfrm>
              <a:prstGeom prst="rect">
                <a:avLst/>
              </a:prstGeom>
              <a:blipFill>
                <a:blip r:embed="rId30"/>
                <a:stretch>
                  <a:fillRect b="-9091"/>
                </a:stretch>
              </a:blipFill>
              <a:ln>
                <a:solidFill>
                  <a:schemeClr val="bg1">
                    <a:lumMod val="2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5DA57A3A-78D5-F08E-1E49-32DF1D3C8714}"/>
              </a:ext>
            </a:extLst>
          </p:cNvPr>
          <p:cNvCxnSpPr>
            <a:cxnSpLocks/>
            <a:stCxn id="25" idx="0"/>
          </p:cNvCxnSpPr>
          <p:nvPr>
            <p:custDataLst>
              <p:tags r:id="rId13"/>
            </p:custDataLst>
          </p:nvPr>
        </p:nvCxnSpPr>
        <p:spPr>
          <a:xfrm flipV="1">
            <a:off x="2567236" y="1403307"/>
            <a:ext cx="791080" cy="230886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0C8E092-0FC0-D669-B6B5-06E7FBDE355A}"/>
              </a:ext>
            </a:extLst>
          </p:cNvPr>
          <p:cNvCxnSpPr>
            <a:cxnSpLocks/>
            <a:stCxn id="26" idx="0"/>
          </p:cNvCxnSpPr>
          <p:nvPr>
            <p:custDataLst>
              <p:tags r:id="rId14"/>
            </p:custDataLst>
          </p:nvPr>
        </p:nvCxnSpPr>
        <p:spPr>
          <a:xfrm flipH="1" flipV="1">
            <a:off x="4942245" y="1410599"/>
            <a:ext cx="799177" cy="250873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68F050-0522-C941-D25E-773B1E1F69B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523BB3E-0FC2-CAC9-89A3-AE95FB84FD57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2165918" y="4521168"/>
            <a:ext cx="4040927" cy="56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93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 descr="Une image contenant diagramme, ligne, cercle, croquis&#10;&#10;Description générée automatiquement">
            <a:extLst>
              <a:ext uri="{FF2B5EF4-FFF2-40B4-BE49-F238E27FC236}">
                <a16:creationId xmlns:a16="http://schemas.microsoft.com/office/drawing/2014/main" id="{D1A416EC-B0CF-ECA5-CFCF-F11F0470DCC1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" t="5864" r="-32" b="3556"/>
          <a:stretch/>
        </p:blipFill>
        <p:spPr bwMode="auto">
          <a:xfrm>
            <a:off x="5386389" y="777440"/>
            <a:ext cx="3692524" cy="203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2065F51-B268-9474-E66B-D020063D657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/>
              <a:t>DVCS sur une cible de </a:t>
            </a:r>
            <a:r>
              <a:rPr lang="fr-FR" noProof="0" dirty="0" err="1"/>
              <a:t>deuterium</a:t>
            </a:r>
            <a:r>
              <a:rPr lang="fr-FR" noProof="0" dirty="0"/>
              <a:t>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13">
                <a:extLst>
                  <a:ext uri="{FF2B5EF4-FFF2-40B4-BE49-F238E27FC236}">
                    <a16:creationId xmlns:a16="http://schemas.microsoft.com/office/drawing/2014/main" id="{9CB40A91-9C58-C72D-E6A2-0916AB41ECC8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0" y="770068"/>
                <a:ext cx="5834065" cy="2154436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Comment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mesurer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 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DVCS sur neutron </a:t>
                </a:r>
                <a:r>
                  <a:rPr lang="en-US" sz="1400" b="1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Il n'y a pas de cible de neutrons libres. Nous n’avons accès qu’à des neutrons dans un noyau. Le plus simple est le deutérium.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Difficultés : effets de liaison nucléaire, impulsion de Fermi et interactions avec l'état final, </a:t>
                </a:r>
                <a14:m>
                  <m:oMath xmlns:m="http://schemas.openxmlformats.org/officeDocument/2006/math">
                    <m:r>
                      <a:rPr lang="fr-F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𝜎</m:t>
                    </m:r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du DVCS sur le proton plus importante, majorité des interactions sur le proton.</a:t>
                </a:r>
                <a:endParaRPr lang="en-US" sz="1400" dirty="0"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200" dirty="0"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200" dirty="0"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200" dirty="0"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Quatre types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possibles </a:t>
                </a:r>
                <a:r>
                  <a:rPr lang="en-US" sz="1400" b="1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</p:txBody>
          </p:sp>
        </mc:Choice>
        <mc:Fallback>
          <p:sp>
            <p:nvSpPr>
              <p:cNvPr id="6" name="ZoneTexte 13">
                <a:extLst>
                  <a:ext uri="{FF2B5EF4-FFF2-40B4-BE49-F238E27FC236}">
                    <a16:creationId xmlns:a16="http://schemas.microsoft.com/office/drawing/2014/main" id="{9CB40A91-9C58-C72D-E6A2-0916AB41E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0" y="770068"/>
                <a:ext cx="5834065" cy="2154436"/>
              </a:xfrm>
              <a:prstGeom prst="rect">
                <a:avLst/>
              </a:prstGeom>
              <a:blipFill>
                <a:blip r:embed="rId9"/>
                <a:stretch>
                  <a:fillRect l="-313" t="-565" b="-16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6" name="Picture 2" descr="Une image contenant Police, écriture manuscrite, typographie, ligne&#10;&#10;Description générée automatiquement">
            <a:extLst>
              <a:ext uri="{FF2B5EF4-FFF2-40B4-BE49-F238E27FC236}">
                <a16:creationId xmlns:a16="http://schemas.microsoft.com/office/drawing/2014/main" id="{F48DEE98-2320-824A-63CB-55E1C00E20AC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677" y="2185939"/>
            <a:ext cx="3604931" cy="45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3F1C04AF-D3DF-3A8C-4241-5B19EFDFC12E}"/>
                  </a:ext>
                </a:extLst>
              </p:cNvPr>
              <p:cNvGraphicFramePr>
                <a:graphicFrameLocks noGrp="1"/>
              </p:cNvGraphicFramePr>
              <p:nvPr>
                <p:custDataLst>
                  <p:tags r:id="rId5"/>
                </p:custDataLst>
                <p:extLst>
                  <p:ext uri="{D42A27DB-BD31-4B8C-83A1-F6EECF244321}">
                    <p14:modId xmlns:p14="http://schemas.microsoft.com/office/powerpoint/2010/main" val="602893204"/>
                  </p:ext>
                </p:extLst>
              </p:nvPr>
            </p:nvGraphicFramePr>
            <p:xfrm>
              <a:off x="133956" y="2911521"/>
              <a:ext cx="8653462" cy="1996440"/>
            </p:xfrm>
            <a:graphic>
              <a:graphicData uri="http://schemas.openxmlformats.org/drawingml/2006/table">
                <a:tbl>
                  <a:tblPr firstRow="1" bandRow="1">
                    <a:tableStyleId>{6585E783-F12D-4EF7-BC51-4BD9C3BC9F5A}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2813274244"/>
                        </a:ext>
                      </a:extLst>
                    </a:gridCol>
                    <a:gridCol w="1332894">
                      <a:extLst>
                        <a:ext uri="{9D8B030D-6E8A-4147-A177-3AD203B41FA5}">
                          <a16:colId xmlns:a16="http://schemas.microsoft.com/office/drawing/2014/main" val="4158179708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1234474822"/>
                        </a:ext>
                      </a:extLst>
                    </a:gridCol>
                    <a:gridCol w="2077056">
                      <a:extLst>
                        <a:ext uri="{9D8B030D-6E8A-4147-A177-3AD203B41FA5}">
                          <a16:colId xmlns:a16="http://schemas.microsoft.com/office/drawing/2014/main" val="481203918"/>
                        </a:ext>
                      </a:extLst>
                    </a:gridCol>
                    <a:gridCol w="2005012">
                      <a:extLst>
                        <a:ext uri="{9D8B030D-6E8A-4147-A177-3AD203B41FA5}">
                          <a16:colId xmlns:a16="http://schemas.microsoft.com/office/drawing/2014/main" val="97241446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200" b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deux particules</a:t>
                          </a:r>
                          <a:endParaRPr lang="fr-FR" sz="1200" b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200" b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le neutron actif </a:t>
                          </a: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(analyse RG-B de A. Hobart en cours de révision)</a:t>
                          </a:r>
                          <a:endParaRPr lang="en-US" sz="12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200" b="1" i="0" dirty="0">
                              <a:solidFill>
                                <a:srgbClr val="0070C0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le proton spectateur </a:t>
                          </a:r>
                          <a:r>
                            <a:rPr lang="fr-FR" sz="1200" b="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(ce travail) </a:t>
                          </a:r>
                          <a:endParaRPr lang="fr-FR" sz="1200" b="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200" b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toutes les particules</a:t>
                          </a:r>
                          <a:endParaRPr lang="fr-FR" sz="1200" b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1838304"/>
                      </a:ext>
                    </a:extLst>
                  </a:tr>
                  <a:tr h="373330">
                    <a:tc>
                      <a:txBody>
                        <a:bodyPr/>
                        <a:lstStyle/>
                        <a:p>
                          <a:r>
                            <a:rPr lang="fr-FR" sz="1200" b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Particules détectées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  <m:t>−</m:t>
                                    </m:r>
                                  </m:sup>
                                </m:sSup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Libertinus Serif" pitchFamily="50" charset="0"/>
                                  </a:rPr>
                                  <m:t>,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fr-FR" sz="16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  <m:t>−</m:t>
                                    </m:r>
                                  </m:sup>
                                </m:sSup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Libertinus Serif" pitchFamily="50" charset="0"/>
                                  </a:rPr>
                                  <m:t>,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𝛾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,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fr-FR" sz="18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  <m:t>−</m:t>
                                    </m:r>
                                  </m:sup>
                                </m:sSup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Libertinus Serif" pitchFamily="50" charset="0"/>
                                  </a:rPr>
                                  <m:t>,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𝛾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1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  <m:t>−</m:t>
                                    </m:r>
                                  </m:sup>
                                </m:sSup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Libertinus Serif" pitchFamily="50" charset="0"/>
                                  </a:rPr>
                                  <m:t>,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𝛾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,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𝑛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8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819345"/>
                      </a:ext>
                    </a:extLst>
                  </a:tr>
                  <a:tr h="911860">
                    <a:tc>
                      <a:txBody>
                        <a:bodyPr/>
                        <a:lstStyle/>
                        <a:p>
                          <a:r>
                            <a:rPr lang="fr-FR" sz="1200" b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Difficultés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État initial inconnu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Mélange d-DVCS/n-DVCS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Soustraction du </a:t>
                          </a:r>
                          <a:r>
                            <a:rPr lang="fr-FR" sz="1100" dirty="0" err="1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pDVCS</a:t>
                          </a:r>
                          <a:endParaRPr lang="fr-FR" sz="11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État initial du neutron mal connu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Difficulté de détecter les neutrons</a:t>
                          </a:r>
                        </a:p>
                        <a:p>
                          <a:endParaRPr lang="fr-FR" sz="11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Plus difficile de sélectionner l'événement DVCS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un proton de basse énergie</a:t>
                          </a:r>
                          <a:endParaRPr lang="fr-FR" sz="11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4 particules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Difficulté de détecter les neutrons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un proton de basse énergie</a:t>
                          </a:r>
                          <a:endParaRPr lang="fr-FR" sz="11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085357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3F1C04AF-D3DF-3A8C-4241-5B19EFDFC12E}"/>
                  </a:ext>
                </a:extLst>
              </p:cNvPr>
              <p:cNvGraphicFramePr>
                <a:graphicFrameLocks noGrp="1"/>
              </p:cNvGraphicFramePr>
              <p:nvPr>
                <p:custDataLst>
                  <p:tags r:id="rId5"/>
                </p:custDataLst>
                <p:extLst>
                  <p:ext uri="{D42A27DB-BD31-4B8C-83A1-F6EECF244321}">
                    <p14:modId xmlns:p14="http://schemas.microsoft.com/office/powerpoint/2010/main" val="602893204"/>
                  </p:ext>
                </p:extLst>
              </p:nvPr>
            </p:nvGraphicFramePr>
            <p:xfrm>
              <a:off x="133956" y="2911521"/>
              <a:ext cx="8653462" cy="1996440"/>
            </p:xfrm>
            <a:graphic>
              <a:graphicData uri="http://schemas.openxmlformats.org/drawingml/2006/table">
                <a:tbl>
                  <a:tblPr firstRow="1" bandRow="1">
                    <a:tableStyleId>{6585E783-F12D-4EF7-BC51-4BD9C3BC9F5A}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2813274244"/>
                        </a:ext>
                      </a:extLst>
                    </a:gridCol>
                    <a:gridCol w="1332894">
                      <a:extLst>
                        <a:ext uri="{9D8B030D-6E8A-4147-A177-3AD203B41FA5}">
                          <a16:colId xmlns:a16="http://schemas.microsoft.com/office/drawing/2014/main" val="4158179708"/>
                        </a:ext>
                      </a:extLst>
                    </a:gridCol>
                    <a:gridCol w="2019300">
                      <a:extLst>
                        <a:ext uri="{9D8B030D-6E8A-4147-A177-3AD203B41FA5}">
                          <a16:colId xmlns:a16="http://schemas.microsoft.com/office/drawing/2014/main" val="1234474822"/>
                        </a:ext>
                      </a:extLst>
                    </a:gridCol>
                    <a:gridCol w="2077056">
                      <a:extLst>
                        <a:ext uri="{9D8B030D-6E8A-4147-A177-3AD203B41FA5}">
                          <a16:colId xmlns:a16="http://schemas.microsoft.com/office/drawing/2014/main" val="481203918"/>
                        </a:ext>
                      </a:extLst>
                    </a:gridCol>
                    <a:gridCol w="2005012">
                      <a:extLst>
                        <a:ext uri="{9D8B030D-6E8A-4147-A177-3AD203B41FA5}">
                          <a16:colId xmlns:a16="http://schemas.microsoft.com/office/drawing/2014/main" val="972414462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200" b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deux particules</a:t>
                          </a:r>
                          <a:endParaRPr lang="fr-FR" sz="1200" b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200" b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le neutron actif </a:t>
                          </a: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(analyse RG-B de A. Hobart en cours de révision)</a:t>
                          </a:r>
                          <a:endParaRPr lang="en-US" sz="12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200" b="1" i="0" dirty="0">
                              <a:solidFill>
                                <a:srgbClr val="0070C0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le proton spectateur </a:t>
                          </a:r>
                          <a:r>
                            <a:rPr lang="fr-FR" sz="1200" b="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(ce travail) </a:t>
                          </a:r>
                          <a:endParaRPr lang="fr-FR" sz="1200" b="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200" b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toutes les particules</a:t>
                          </a:r>
                          <a:endParaRPr lang="fr-FR" sz="1200" b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18383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fr-FR" sz="1200" b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Particules détectées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91781" t="-132895" r="-458447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26506" t="-132895" r="-202410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20528" t="-132895" r="-97067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32219" t="-132895" r="-608" b="-2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19345"/>
                      </a:ext>
                    </a:extLst>
                  </a:tr>
                  <a:tr h="929640">
                    <a:tc>
                      <a:txBody>
                        <a:bodyPr/>
                        <a:lstStyle/>
                        <a:p>
                          <a:r>
                            <a:rPr lang="fr-FR" sz="1200" b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Difficultés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État initial inconnu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Mélange d-DVCS/n-DVCS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Soustraction du </a:t>
                          </a:r>
                          <a:r>
                            <a:rPr lang="fr-FR" sz="1100" dirty="0" err="1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pDVCS</a:t>
                          </a:r>
                          <a:endParaRPr lang="fr-FR" sz="11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État initial du neutron mal connu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Difficulté de détecter les neutrons</a:t>
                          </a:r>
                        </a:p>
                        <a:p>
                          <a:endParaRPr lang="fr-FR" sz="11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Plus difficile de sélectionner l'événement DVCS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un proton de basse énergie</a:t>
                          </a:r>
                          <a:endParaRPr lang="fr-FR" sz="11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4 particules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Difficulté de détecter les neutrons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fr-FR" sz="1100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Libertinus Serif" pitchFamily="50" charset="0"/>
                            </a:rPr>
                            <a:t>Détecter un proton de basse énergie</a:t>
                          </a:r>
                          <a:endParaRPr lang="fr-FR" sz="1100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085357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2DE2B0-BD05-44A1-FD8F-C3DCADB65AA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530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34FFCC-71D0-0B70-003F-49E2940DBF1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DVCS sur une cible de </a:t>
            </a:r>
            <a:r>
              <a:rPr lang="fr-FR" noProof="0" dirty="0" err="1"/>
              <a:t>deuterium</a:t>
            </a:r>
            <a:r>
              <a:rPr lang="fr-FR" noProof="0" dirty="0"/>
              <a:t>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05136FBC-9D29-ED6F-9520-EA3FCD36FEB3}"/>
                  </a:ext>
                </a:extLst>
              </p:cNvPr>
              <p:cNvSpPr>
                <a:spLocks noGrp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" y="782967"/>
                <a:ext cx="4477880" cy="1435026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E03-106 : Expérience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exploratoire sur le n-DVCS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(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JLab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Hall A @ 6 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GeV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). La cible de LD2.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Pas de détection de neutrons : 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𝑒𝑑</m:t>
                    </m:r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</m:t>
                    </m:r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𝑒</m:t>
                    </m:r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d>
                      <m:dPr>
                        <m:ctrlPr>
                          <a:rPr lang="fr-FR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dPr>
                      <m:e>
                        <m:r>
                          <a:rPr lang="fr-FR" sz="1400" i="1" dirty="0" err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𝑛𝑝</m:t>
                        </m:r>
                      </m:e>
                    </m:d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Libertinus Serif" pitchFamily="50" charset="0"/>
                    <a:cs typeface="Libertinus Serif" pitchFamily="50" charset="0"/>
                  </a:rPr>
                  <a:t>,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Libertinus Serif" pitchFamily="50" charset="0"/>
                    <a:cs typeface="Libertinus Serif" pitchFamily="50" charset="0"/>
                  </a:rPr>
                  <a:t>S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ections efficaces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obtenues après :</a:t>
                </a:r>
              </a:p>
              <a:p>
                <a:pPr marL="144000" indent="-144000">
                  <a:spcBef>
                    <a:spcPts val="0"/>
                  </a:spcBef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Soustraction de la contribution incohérente</a:t>
                </a:r>
                <a14:m>
                  <m:oMath xmlns:m="http://schemas.openxmlformats.org/officeDocument/2006/math"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fr-FR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𝒑</m:t>
                    </m:r>
                    <m:d>
                      <m:dPr>
                        <m:ctrlPr>
                          <a:rPr lang="fr-FR" sz="1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dPr>
                      <m:e>
                        <m:r>
                          <a:rPr lang="fr-FR" sz="1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𝒆</m:t>
                        </m:r>
                        <m:r>
                          <a:rPr lang="fr-FR" sz="1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, </m:t>
                        </m:r>
                        <m:sSup>
                          <m:sSupPr>
                            <m:ctrlPr>
                              <a:rPr lang="fr-FR" sz="1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</m:ctrlPr>
                          </m:sSupPr>
                          <m:e>
                            <m:r>
                              <a:rPr lang="fr-FR" sz="1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FR" sz="1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  <m:t>′</m:t>
                            </m:r>
                          </m:sup>
                        </m:sSup>
                        <m: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𝜸</m:t>
                        </m:r>
                      </m:e>
                    </m:d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𝒑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</m:oMath>
                </a14:m>
                <a:endParaRPr lang="fr-FR" sz="1200" b="1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Libertinus Serif" pitchFamily="50" charset="0"/>
                  <a:cs typeface="Libertinus Serif" pitchFamily="50" charset="0"/>
                </a:endParaRPr>
              </a:p>
              <a:p>
                <a:pPr marL="144000" indent="-144000">
                  <a:spcBef>
                    <a:spcPts val="0"/>
                  </a:spcBef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Séparation des contributions</a:t>
                </a:r>
                <a14:m>
                  <m:oMath xmlns:m="http://schemas.openxmlformats.org/officeDocument/2006/math"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𝒅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 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′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𝜸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)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𝒅</m:t>
                    </m:r>
                  </m:oMath>
                </a14:m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et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𝒏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 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′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𝜸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)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𝒏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</a:p>
              <a:p>
                <a:pPr marL="360000" lvl="1" indent="-144000">
                  <a:spcBef>
                    <a:spcPts val="0"/>
                  </a:spcBef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Exploitation de leur décalage 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𝑀𝑀</m:t>
                        </m:r>
                      </m:e>
                      <m:sub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05136FBC-9D29-ED6F-9520-EA3FCD36F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1" y="782967"/>
                <a:ext cx="4477880" cy="1435026"/>
              </a:xfrm>
              <a:prstGeom prst="rect">
                <a:avLst/>
              </a:prstGeom>
              <a:blipFill>
                <a:blip r:embed="rId14"/>
                <a:stretch>
                  <a:fillRect l="-408" t="-2119" r="-1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0E6AB912-8F80-65AF-8008-07A82F7B6519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H="1">
            <a:off x="4525108" y="849006"/>
            <a:ext cx="0" cy="4065308"/>
          </a:xfrm>
          <a:prstGeom prst="straightConnector1">
            <a:avLst/>
          </a:prstGeom>
          <a:ln w="57150">
            <a:solidFill>
              <a:srgbClr val="2A52BE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290" name="Picture 2" descr="Une image contenant texte, capture d’écran, ligne, Police&#10;&#10;Description générée automatiquement">
            <a:extLst>
              <a:ext uri="{FF2B5EF4-FFF2-40B4-BE49-F238E27FC236}">
                <a16:creationId xmlns:a16="http://schemas.microsoft.com/office/drawing/2014/main" id="{3E5830CF-DE3C-875F-D70D-0B0FC4C93E83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7" y="2113795"/>
            <a:ext cx="3872388" cy="196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8">
                <a:extLst>
                  <a:ext uri="{FF2B5EF4-FFF2-40B4-BE49-F238E27FC236}">
                    <a16:creationId xmlns:a16="http://schemas.microsoft.com/office/drawing/2014/main" id="{0D666045-8EDF-AACB-B7A0-B29CB2C69A86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2435" y="3982168"/>
                <a:ext cx="4505265" cy="892552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Première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σ</a:t>
                </a:r>
                <a:r>
                  <a:rPr lang="en-US" sz="1400" b="1" baseline="-25000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LU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n-DVCS</a:t>
                </a:r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Données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compatibles avec zéro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</a:t>
                </a:r>
                <a:r>
                  <a:rPr lang="fr-FR" sz="1400" b="1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Première contrainte expérimentale sur la GPD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Extraction de</a:t>
                </a:r>
                <a14:m>
                  <m:oMath xmlns:m="http://schemas.openxmlformats.org/officeDocument/2006/math"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𝐽</m:t>
                    </m:r>
                    <m:r>
                      <a:rPr lang="en-US" sz="1200" i="1" baseline="-25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𝑢</m:t>
                    </m:r>
                    <m:r>
                      <a:rPr lang="en-US" sz="12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𝐽</m:t>
                        </m:r>
                      </m:e>
                      <m:sub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𝑑</m:t>
                        </m:r>
                      </m:sub>
                    </m:sSub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dependant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modèle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</p:txBody>
          </p:sp>
        </mc:Choice>
        <mc:Fallback>
          <p:sp>
            <p:nvSpPr>
              <p:cNvPr id="6" name="ZoneTexte 8">
                <a:extLst>
                  <a:ext uri="{FF2B5EF4-FFF2-40B4-BE49-F238E27FC236}">
                    <a16:creationId xmlns:a16="http://schemas.microsoft.com/office/drawing/2014/main" id="{0D666045-8EDF-AACB-B7A0-B29CB2C69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2435" y="3982168"/>
                <a:ext cx="4505265" cy="892552"/>
              </a:xfrm>
              <a:prstGeom prst="rect">
                <a:avLst/>
              </a:prstGeom>
              <a:blipFill>
                <a:blip r:embed="rId16"/>
                <a:stretch>
                  <a:fillRect l="-406" t="-2041" b="-40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9">
            <a:extLst>
              <a:ext uri="{FF2B5EF4-FFF2-40B4-BE49-F238E27FC236}">
                <a16:creationId xmlns:a16="http://schemas.microsoft.com/office/drawing/2014/main" id="{4F7F7052-478B-A14E-A2FC-3C93B019F73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567237" y="775584"/>
            <a:ext cx="4601958" cy="9541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E08-025 : (</a:t>
            </a:r>
            <a:r>
              <a:rPr lang="fr-FR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JLab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Hall A @ 6 </a:t>
            </a:r>
            <a:r>
              <a:rPr lang="fr-FR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GeV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) Utilisation de la séparation de «</a:t>
            </a:r>
            <a:r>
              <a:rPr lang="fr-FR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Rosenbluth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» pour la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section efficace du </a:t>
            </a:r>
            <a:r>
              <a:rPr lang="fr-FR" sz="14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nDVCS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en utilisant une cible LD2 et deux énergies de faisceau différentes. Même soustraction.</a:t>
            </a:r>
          </a:p>
        </p:txBody>
      </p:sp>
      <p:pic>
        <p:nvPicPr>
          <p:cNvPr id="1026" name="Picture 2" descr="Une image contenant texte, capture d’écran, diagramme, ligne&#10;&#10;Description générée automatiquement">
            <a:extLst>
              <a:ext uri="{FF2B5EF4-FFF2-40B4-BE49-F238E27FC236}">
                <a16:creationId xmlns:a16="http://schemas.microsoft.com/office/drawing/2014/main" id="{CA51C27F-5941-263E-3FBD-2821D0E34399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877" y="1735497"/>
            <a:ext cx="2885526" cy="320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92B2E68-6064-941E-4BD4-49AD76CD5C39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366557" y="2113795"/>
                <a:ext cx="1843087" cy="1615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Première observation de </a:t>
                </a:r>
                <a:r>
                  <a:rPr lang="en-US" sz="11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σ</a:t>
                </a:r>
                <a:r>
                  <a:rPr lang="en-US" sz="1100" b="1" baseline="-250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 </a:t>
                </a:r>
                <a:r>
                  <a:rPr lang="fr-FR" sz="11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nDVCS</a:t>
                </a:r>
                <a:r>
                  <a:rPr lang="fr-FR" sz="11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non nulle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 de </a:t>
                </a:r>
                <a:r>
                  <a:rPr lang="en-US" sz="11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σ</a:t>
                </a:r>
                <a:r>
                  <a:rPr lang="fr-FR" sz="11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d-DVCS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Erreurs importantes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Quelques </a:t>
                </a:r>
                <a:r>
                  <a:rPr lang="fr-FR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bins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des données.</a:t>
                </a:r>
              </a:p>
              <a:p>
                <a:endParaRPr lang="fr-FR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1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Séparation des saveurs</a:t>
                </a:r>
                <a:endParaRPr lang="fr-FR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Contraintes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sur la GPD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endParaRPr lang="fr-FR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92B2E68-6064-941E-4BD4-49AD76CD5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7366557" y="2113795"/>
                <a:ext cx="1843087" cy="1615827"/>
              </a:xfrm>
              <a:prstGeom prst="rect">
                <a:avLst/>
              </a:prstGeom>
              <a:blipFill>
                <a:blip r:embed="rId20"/>
                <a:stretch>
                  <a:fillRect t="-377" b="-15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3">
            <a:extLst>
              <a:ext uri="{FF2B5EF4-FFF2-40B4-BE49-F238E27FC236}">
                <a16:creationId xmlns:a16="http://schemas.microsoft.com/office/drawing/2014/main" id="{5C477053-F047-B4C2-F99B-B381FCC8F50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732051" y="4914314"/>
            <a:ext cx="2135435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Benali et al. 2020 </a:t>
            </a:r>
            <a:r>
              <a:rPr lang="fr-FR" sz="800" i="1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Nat. Phys.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800" b="1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191–198</a:t>
            </a:r>
            <a:endParaRPr lang="en-US" sz="800" dirty="0">
              <a:solidFill>
                <a:srgbClr val="775C39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D72C90C-D406-2515-2894-5B60594E0DBE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2435" y="4914314"/>
            <a:ext cx="26654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dirty="0" err="1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Mazouz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M. et al. 2007 Phys. </a:t>
            </a:r>
            <a:r>
              <a:rPr lang="fr-FR" sz="800" dirty="0" err="1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fr-FR" sz="800" dirty="0" err="1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Lett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fr-FR" sz="800" b="1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99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242501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B921958-B130-7AD2-02B2-31E7A1AE2AE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0529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74AFBD-AC8F-7468-4711-B2BB486ED9B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DVCS sur une cible de </a:t>
            </a:r>
            <a:r>
              <a:rPr lang="fr-FR" noProof="0" dirty="0" err="1"/>
              <a:t>deuterium</a:t>
            </a:r>
            <a:r>
              <a:rPr lang="fr-FR" noProof="0" dirty="0"/>
              <a:t>​</a:t>
            </a:r>
          </a:p>
        </p:txBody>
      </p:sp>
      <p:pic>
        <p:nvPicPr>
          <p:cNvPr id="2050" name="Picture 2" descr="Une image contenant échelle, intérieur&#10;&#10;Description générée automatiquement">
            <a:extLst>
              <a:ext uri="{FF2B5EF4-FFF2-40B4-BE49-F238E27FC236}">
                <a16:creationId xmlns:a16="http://schemas.microsoft.com/office/drawing/2014/main" id="{F4C4FDB3-1623-6A2C-812A-76E65AB3F61A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09" y="1822100"/>
            <a:ext cx="3034154" cy="2082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5">
                <a:extLst>
                  <a:ext uri="{FF2B5EF4-FFF2-40B4-BE49-F238E27FC236}">
                    <a16:creationId xmlns:a16="http://schemas.microsoft.com/office/drawing/2014/main" id="{CFB94632-7441-A556-370C-D479DCF34FBC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33474" y="4052074"/>
                <a:ext cx="7456488" cy="954107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buFont typeface="Arial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Observable : 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BSA du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nDVCS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Dans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région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modérée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14:m>
                  <m:oMath xmlns:m="http://schemas.openxmlformats.org/officeDocument/2006/math">
                    <m:r>
                      <a:rPr lang="fr-FR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𝑸</m:t>
                    </m:r>
                    <m:r>
                      <a:rPr lang="en-US" sz="1400" b="1" i="1" baseline="300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𝟐</m:t>
                    </m:r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−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𝒙</m:t>
                        </m:r>
                      </m:e>
                      <m:sub>
                        <m:r>
                          <a:rPr lang="fr-FR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𝑩</m:t>
                        </m:r>
                      </m:sub>
                    </m:sSub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l’espace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des phases (1-5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𝑄</m:t>
                    </m:r>
                    <m:r>
                      <a:rPr lang="en-US" sz="1400" i="1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2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; 0.1-0.7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sz="1400" i="1" baseline="-25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B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 exclusive avec la détection du neutron actif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→ plus petites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erreurs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systématiques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asymétries trouvées sont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 l'ordre de 5%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plus petites que celles sur le proton.</a:t>
                </a:r>
              </a:p>
            </p:txBody>
          </p:sp>
        </mc:Choice>
        <mc:Fallback>
          <p:sp>
            <p:nvSpPr>
              <p:cNvPr id="5" name="ZoneTexte 5">
                <a:extLst>
                  <a:ext uri="{FF2B5EF4-FFF2-40B4-BE49-F238E27FC236}">
                    <a16:creationId xmlns:a16="http://schemas.microsoft.com/office/drawing/2014/main" id="{CFB94632-7441-A556-370C-D479DCF34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33474" y="4052074"/>
                <a:ext cx="7456488" cy="954107"/>
              </a:xfrm>
              <a:prstGeom prst="rect">
                <a:avLst/>
              </a:prstGeom>
              <a:blipFill>
                <a:blip r:embed="rId10"/>
                <a:stretch>
                  <a:fillRect l="-82" t="-1923" b="-5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5">
                <a:extLst>
                  <a:ext uri="{FF2B5EF4-FFF2-40B4-BE49-F238E27FC236}">
                    <a16:creationId xmlns:a16="http://schemas.microsoft.com/office/drawing/2014/main" id="{4511E976-89B5-5278-8AD8-A9E66BB8CB99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2862" y="833929"/>
                <a:ext cx="7456488" cy="954107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Première mesure de DVCS sur le neutron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la détection du neutron :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Résultats préliminaires de CLAS12 avec la réaction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𝑒𝑑</m:t>
                    </m:r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→ </m:t>
                    </m:r>
                    <m:sSup>
                      <m:sSupPr>
                        <m:ctrlPr>
                          <a:rPr lang="en-US" sz="1400" i="1" dirty="0" err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sz="1400" i="1" dirty="0" err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𝑒</m:t>
                        </m:r>
                      </m:e>
                      <m:sup>
                        <m:r>
                          <a:rPr lang="en-US" sz="1400" i="1" dirty="0" err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′</m:t>
                        </m:r>
                      </m:sup>
                    </m:sSup>
                    <m:r>
                      <a:rPr lang="en-US" sz="1400" i="1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r>
                      <a:rPr lang="en-US" sz="1400" i="1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𝑛</m:t>
                    </m:r>
                    <m:d>
                      <m:dPr>
                        <m:ctrlP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e>
                    </m:d>
                  </m:oMath>
                </a14:m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Détecteur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 neutron dédié (CND).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Analyse réalisée par A. Hobart et S. 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Niccolai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9" name="ZoneTexte 5">
                <a:extLst>
                  <a:ext uri="{FF2B5EF4-FFF2-40B4-BE49-F238E27FC236}">
                    <a16:creationId xmlns:a16="http://schemas.microsoft.com/office/drawing/2014/main" id="{4511E976-89B5-5278-8AD8-A9E66BB8C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42862" y="833929"/>
                <a:ext cx="7456488" cy="954107"/>
              </a:xfrm>
              <a:prstGeom prst="rect">
                <a:avLst/>
              </a:prstGeom>
              <a:blipFill>
                <a:blip r:embed="rId11"/>
                <a:stretch>
                  <a:fillRect l="-245" t="-1923" b="-5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6B4DD9-F89D-1A6C-CC95-364446AF9C2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13</a:t>
            </a:fld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3C59C7B-3EAD-3F42-2273-1ECEA17CA52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700274" y="1566216"/>
            <a:ext cx="5234617" cy="26173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8884939-5C42-3039-A4FF-662279339822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362195" y="819347"/>
                <a:ext cx="177228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Prédiction du modèle VGG : </a:t>
                </a:r>
              </a:p>
              <a:p>
                <a:r>
                  <a:rPr lang="fr-FR" sz="1000" b="1" dirty="0">
                    <a:solidFill>
                      <a:srgbClr val="89FF89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Vert</a:t>
                </a:r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0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fr-FR" sz="10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=0.3, </m:t>
                    </m:r>
                    <m:sSub>
                      <m:sSubPr>
                        <m:ctrlPr>
                          <a:rPr lang="fr-FR" sz="10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0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fr-FR" sz="1000" i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fr-FR" sz="10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fr-FR" sz="1000" b="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1000" b="1" dirty="0">
                    <a:solidFill>
                      <a:srgbClr val="2828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Bleu</a:t>
                </a:r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0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fr-FR" sz="10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=0.1, </m:t>
                    </m:r>
                    <m:sSub>
                      <m:sSubPr>
                        <m:ctrlPr>
                          <a:rPr lang="fr-FR" sz="10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0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fr-FR" sz="1000" i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fr-FR" sz="10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fr-FR" sz="10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1000" b="1" dirty="0">
                    <a:solidFill>
                      <a:srgbClr val="FFBFCB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Rose</a:t>
                </a:r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0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fr-FR" sz="10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=0.2, </m:t>
                    </m:r>
                    <m:sSub>
                      <m:sSubPr>
                        <m:ctrlPr>
                          <a:rPr lang="fr-FR" sz="10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0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fr-FR" sz="1000" i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fr-FR" sz="10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.0</m:t>
                    </m:r>
                  </m:oMath>
                </a14:m>
                <a:endParaRPr lang="fr-FR" sz="10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8884939-5C42-3039-A4FF-662279339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7362195" y="819347"/>
                <a:ext cx="1772280" cy="707886"/>
              </a:xfrm>
              <a:prstGeom prst="rect">
                <a:avLst/>
              </a:prstGeom>
              <a:blipFill>
                <a:blip r:embed="rId14"/>
                <a:stretch>
                  <a:fillRect b="-34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342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2A3A06-B8F9-FF7B-11FD-AEA7AE2E015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>
                <a:latin typeface="Cambria" panose="02040503050406030204" pitchFamily="18" charset="0"/>
              </a:rPr>
              <a:t>BONuS12 à CLAS12​</a:t>
            </a:r>
          </a:p>
        </p:txBody>
      </p:sp>
      <p:pic>
        <p:nvPicPr>
          <p:cNvPr id="5122" name="Picture 2" descr="Une image contenant croquis, texte, dessin, art&#10;&#10;Description générée automatiquement">
            <a:extLst>
              <a:ext uri="{FF2B5EF4-FFF2-40B4-BE49-F238E27FC236}">
                <a16:creationId xmlns:a16="http://schemas.microsoft.com/office/drawing/2014/main" id="{5A9DEF96-CFC0-5DDE-92E9-33B8D8C6996F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18" y="819527"/>
            <a:ext cx="5322627" cy="430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7">
                <a:extLst>
                  <a:ext uri="{FF2B5EF4-FFF2-40B4-BE49-F238E27FC236}">
                    <a16:creationId xmlns:a16="http://schemas.microsoft.com/office/drawing/2014/main" id="{8D3DE084-C8EA-D329-FC0F-4773716411A0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467350" y="957100"/>
                <a:ext cx="3862387" cy="4031873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CLAS12 est composé de deux parties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Détecteurs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avant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Aimant toroïdale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Chambres à dérive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Temps de vol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Calorimètre électromagnétique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Compteurs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Cherenkov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u="sng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Détecteur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central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RTPC BoNuS12</a:t>
                </a: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Prise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données :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Faisceau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e</m:t>
                        </m:r>
                      </m:e>
                      <m:sup>
                        <m: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polarisé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longitudinalement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85%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Énergie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10.4 GeV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Cible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Deutérium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gazeux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5.6 atm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Longueur : 40 cm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Luminosité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2×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10</m:t>
                        </m:r>
                      </m:e>
                      <m:sup>
                        <m: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34</m:t>
                        </m:r>
                      </m:sup>
                    </m:sSup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p>
                      <m:sSupPr>
                        <m:ctrlPr>
                          <a:rPr lang="fr-FR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cm</m:t>
                        </m:r>
                      </m:e>
                      <m:sup>
                        <m: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−2</m:t>
                        </m:r>
                      </m:sup>
                    </m:sSup>
                    <m:sSup>
                      <m:sSupPr>
                        <m:ctrlPr>
                          <a:rPr lang="fr-FR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s</m:t>
                        </m:r>
                      </m:e>
                      <m:sup>
                        <m: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Données recueillies au cours de l'été 2020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 xmlns="">
          <p:sp>
            <p:nvSpPr>
              <p:cNvPr id="4" name="ZoneTexte 7">
                <a:extLst>
                  <a:ext uri="{FF2B5EF4-FFF2-40B4-BE49-F238E27FC236}">
                    <a16:creationId xmlns:a16="http://schemas.microsoft.com/office/drawing/2014/main" id="{8D3DE084-C8EA-D329-FC0F-477371641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5467350" y="957100"/>
                <a:ext cx="3862387" cy="4031873"/>
              </a:xfrm>
              <a:prstGeom prst="rect">
                <a:avLst/>
              </a:prstGeom>
              <a:blipFill>
                <a:blip r:embed="rId8"/>
                <a:stretch>
                  <a:fillRect l="-474" t="-454" b="-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75A478-8E00-44D1-4AF5-7CC8CF5A28D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623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ne image contenant cercle, diagramme, texte, capture d’écran&#10;&#10;Description générée automatiquement">
            <a:extLst>
              <a:ext uri="{FF2B5EF4-FFF2-40B4-BE49-F238E27FC236}">
                <a16:creationId xmlns:a16="http://schemas.microsoft.com/office/drawing/2014/main" id="{31C74AF6-8DC8-19F2-F564-BE4AFA83D144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881" y="765488"/>
            <a:ext cx="3422117" cy="2723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78E8367-286B-9E0F-2A02-37BE9AF9365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>
                <a:latin typeface="Cambria" panose="02040503050406030204" pitchFamily="18" charset="0"/>
              </a:rPr>
              <a:t>La RTPC BONuS12 ​</a:t>
            </a:r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F9B81217-08BE-9290-06C8-1567630ED83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755962"/>
            <a:ext cx="5957888" cy="33547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BONuS12 (</a:t>
            </a:r>
            <a:r>
              <a:rPr lang="fr-FR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Barely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Off-</a:t>
            </a:r>
            <a:r>
              <a:rPr lang="fr-FR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shell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NUcleon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Structure) est une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expérience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au JLab@12GeV avec un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détecteur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dédié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qui a eu lieu en 2020.</a:t>
            </a:r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endParaRPr lang="fr-FR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Le détecteur BoNuS12 est une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chambre à projection temporelle radiale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(RTPC) conçue pour détecter les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protons à faible impulsion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:</a:t>
            </a:r>
          </a:p>
          <a:p>
            <a:pPr marL="360000" lvl="1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70 à 150 MeV/c.</a:t>
            </a:r>
          </a:p>
          <a:p>
            <a:pPr marL="360000" lvl="1" indent="-14400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Fonctionne suivant le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principe suivant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: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​</a:t>
            </a:r>
            <a:endParaRPr lang="fr-FR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144000" lvl="1" indent="-144000"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Une particule chargée </a:t>
            </a:r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ionise les atomes du gaz</a:t>
            </a:r>
            <a:r>
              <a:rPr lang="fr-FR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(80%He, 20%CO2)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.​</a:t>
            </a:r>
          </a:p>
          <a:p>
            <a:pPr marL="144000" lvl="1" indent="-144000"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Sous un champ électromagnétique, les électrons suivent leur </a:t>
            </a:r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trajectoire de dérive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pPr marL="144000" lvl="1" indent="-144000">
              <a:buChar char="•"/>
            </a:pPr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L’amplification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est réalisée via les 3 couches GEM.</a:t>
            </a:r>
          </a:p>
          <a:p>
            <a:pPr marL="144000" lvl="1" indent="-144000"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Utilisation de la </a:t>
            </a:r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perte d'énergie 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pour l'identification des particules.</a:t>
            </a:r>
          </a:p>
          <a:p>
            <a:endParaRPr lang="fr-FR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3</a:t>
            </a:r>
            <a:r>
              <a:rPr lang="fr-FR" sz="1400" baseline="30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eme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itération de ce type de détecteur à CLAS : 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Amélioration de la </a:t>
            </a:r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résolution spatiale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et du </a:t>
            </a:r>
            <a:r>
              <a:rPr lang="fr-F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taux de multiplicité 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accepté. 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Le temps de dérive des électrons dans la région active est plus court.</a:t>
            </a:r>
            <a:endParaRPr lang="en-US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B5FDF5E-6399-1160-E3AF-62EDB99EAE4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279327" y="3487206"/>
            <a:ext cx="240035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BoNuS12 a remplacé le tracker central au silicium et les </a:t>
            </a:r>
            <a:r>
              <a:rPr lang="fr-FR" sz="105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micromégas</a:t>
            </a:r>
            <a:r>
              <a:rPr lang="fr-FR" sz="105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  <a:endParaRPr lang="en-US" sz="105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9D10602-2A88-838E-46A8-75B5737EAD7F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089" y="4312503"/>
                <a:ext cx="847197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Objectif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Mesure de la PDF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𝐹</m:t>
                        </m:r>
                      </m:e>
                      <m:sub>
                        <m:r>
                          <a:rPr lang="fr-FR" sz="16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2</m:t>
                        </m:r>
                      </m:sub>
                      <m:sup>
                        <m:r>
                          <a:rPr lang="fr-FR" sz="16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neutron quasi libre avec le « </a:t>
                </a:r>
                <a:r>
                  <a:rPr lang="fr-FR" sz="16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tagging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» du proton spectateur.</a:t>
                </a:r>
              </a:p>
              <a:p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Nouveaux processus sont accessible avec la luminosité plus élevée de CLAS12 : </a:t>
                </a:r>
              </a:p>
              <a:p>
                <a:pPr marL="360000" lvl="3" indent="-144000">
                  <a:buFont typeface="Arial" panose="020B0604020202020204" pitchFamily="34" charset="0"/>
                  <a:buChar char="•"/>
                </a:pPr>
                <a:r>
                  <a:rPr lang="fr-FR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DVCS sur neutron avec le « </a:t>
                </a:r>
                <a:r>
                  <a:rPr lang="fr-FR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tagging</a:t>
                </a:r>
                <a:r>
                  <a:rPr lang="fr-FR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» du proton spectateur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9D10602-2A88-838E-46A8-75B5737EA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58089" y="4312503"/>
                <a:ext cx="8471976" cy="830997"/>
              </a:xfrm>
              <a:prstGeom prst="rect">
                <a:avLst/>
              </a:prstGeom>
              <a:blipFill>
                <a:blip r:embed="rId10"/>
                <a:stretch>
                  <a:fillRect l="-432" t="-2920" b="-72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84A8E2-BE84-08B7-CC12-37691BEEE80A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0812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e image contenant texte, diagramme, capture d’écran, Police&#10;&#10;Description générée automatiquement">
            <a:extLst>
              <a:ext uri="{FF2B5EF4-FFF2-40B4-BE49-F238E27FC236}">
                <a16:creationId xmlns:a16="http://schemas.microsoft.com/office/drawing/2014/main" id="{97975595-E605-5876-E3C2-AC2423644719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42"/>
          <a:stretch/>
        </p:blipFill>
        <p:spPr bwMode="auto">
          <a:xfrm>
            <a:off x="5709213" y="2571750"/>
            <a:ext cx="3418356" cy="217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4D235947-938D-78D3-51E1-99137D0B5222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644" y="786423"/>
            <a:ext cx="3113356" cy="180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7454D43-531B-B796-446A-8595EBF0A10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FR" noProof="0" dirty="0"/>
              <a:t>Introduction au </a:t>
            </a:r>
            <a:r>
              <a:rPr lang="fr-FR" noProof="0" dirty="0" err="1"/>
              <a:t>tagging</a:t>
            </a:r>
            <a:endParaRPr lang="fr-FR" noProof="0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E72368D6-634B-F12E-8C23-9606C1B8B39F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-1" y="1686694"/>
            <a:ext cx="6014213" cy="2912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Sélection de la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configuration nucléaire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via la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cinématique du spectateur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:</a:t>
            </a:r>
          </a:p>
          <a:p>
            <a:pPr marL="144000" lvl="1" indent="-1440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Études des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nucléons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sur couche de masse →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accès à la structure des nucléons libres.</a:t>
            </a:r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144000" lvl="1" indent="-1440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Études des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nucléons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fortement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liés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comme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les SRC. </a:t>
            </a:r>
          </a:p>
          <a:p>
            <a:pPr marL="144000" lvl="1" indent="-1440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Aide à la compréhension des effets nucléaires.</a:t>
            </a:r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Permet aussi de limiter les interactions dans l’état final (FSI) :</a:t>
            </a:r>
          </a:p>
          <a:p>
            <a:pPr marL="144000" indent="-144000">
              <a:lnSpc>
                <a:spcPct val="100000"/>
              </a:lnSpc>
              <a:spcBef>
                <a:spcPts val="0"/>
              </a:spcBef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Dépendent de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l’impulsion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et de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l'angle du spectateur</a:t>
            </a:r>
            <a:r>
              <a:rPr lang="fr-FR" sz="1400" b="1" i="1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endParaRPr lang="fr-FR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144000" indent="-144000">
              <a:lnSpc>
                <a:spcPct val="100000"/>
              </a:lnSpc>
              <a:spcBef>
                <a:spcPts val="0"/>
              </a:spcBef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Cases bleues 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Cinématiques préférées, régions où FSI sont faibles.</a:t>
            </a:r>
          </a:p>
          <a:p>
            <a:pPr marL="144000" indent="-144000">
              <a:lnSpc>
                <a:spcPct val="100000"/>
              </a:lnSpc>
              <a:spcBef>
                <a:spcPts val="0"/>
              </a:spcBef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Spectateur avec une faible impulsion et un angle polaire élevée </a:t>
            </a:r>
          </a:p>
          <a:p>
            <a:pPr marL="144000" indent="-144000">
              <a:lnSpc>
                <a:spcPct val="100000"/>
              </a:lnSpc>
              <a:spcBef>
                <a:spcPts val="0"/>
              </a:spcBef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Permet d’accéder à un neutron quasi-libre sans FSI.</a:t>
            </a:r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Déjà utilisé dans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DIS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pour comprendre la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structure du neutron quasi-libre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 Peut être utilisé dans d'autres processus comme le </a:t>
            </a:r>
            <a:r>
              <a:rPr lang="fr-FR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DVCS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7" name="ZoneTexte 10">
            <a:extLst>
              <a:ext uri="{FF2B5EF4-FFF2-40B4-BE49-F238E27FC236}">
                <a16:creationId xmlns:a16="http://schemas.microsoft.com/office/drawing/2014/main" id="{4041AB39-0C9B-D448-583F-697BEE9AADD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579856" y="2509558"/>
            <a:ext cx="2547713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C.C. </a:t>
            </a:r>
            <a:r>
              <a:rPr lang="en-US" sz="800" dirty="0" err="1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Atti</a:t>
            </a:r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et al. 2004 Eur. Phys. J. A </a:t>
            </a:r>
            <a:r>
              <a:rPr lang="en-US" sz="800" b="1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19</a:t>
            </a:r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145–151 </a:t>
            </a:r>
            <a:endParaRPr lang="en-US" sz="800" dirty="0">
              <a:solidFill>
                <a:srgbClr val="775C39"/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FFC0D6-6C60-FFDA-2EAB-5342B8D7CE2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534198" y="4928056"/>
            <a:ext cx="2068441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N. Baillie et al. 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Phys. </a:t>
            </a:r>
            <a:r>
              <a:rPr lang="fr-FR" sz="800" dirty="0" err="1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fr-FR" sz="800" dirty="0" err="1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Lett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fr-FR" sz="800" b="1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108 </a:t>
            </a:r>
            <a:r>
              <a:rPr lang="fr-FR" sz="800" dirty="0">
                <a:solidFill>
                  <a:srgbClr val="775C3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142001</a:t>
            </a:r>
            <a:endParaRPr lang="en-US" sz="800" dirty="0">
              <a:solidFill>
                <a:srgbClr val="775C39"/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981084-49EF-D036-CE67-8A1E2EC2CE6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445014" y="1428466"/>
            <a:ext cx="269685" cy="318447"/>
          </a:xfrm>
          <a:prstGeom prst="rect">
            <a:avLst/>
          </a:prstGeom>
          <a:noFill/>
          <a:ln>
            <a:solidFill>
              <a:srgbClr val="2A5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34062F-7517-F31A-D4B8-7FB8462D604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662776" y="1163479"/>
            <a:ext cx="269685" cy="318447"/>
          </a:xfrm>
          <a:prstGeom prst="rect">
            <a:avLst/>
          </a:prstGeom>
          <a:noFill/>
          <a:ln>
            <a:solidFill>
              <a:srgbClr val="2A5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03F1AA3-324C-2A41-1024-6B1586D42695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222647" y="4742271"/>
                <a:ext cx="270981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Spectre en masse : 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𝑊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𝐺𝑒𝑉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/</m:t>
                    </m:r>
                    <m:sSup>
                      <m:sSupPr>
                        <m:ctrlP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𝑐</m:t>
                        </m:r>
                      </m:e>
                      <m:sup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2</m:t>
                        </m:r>
                      </m:sup>
                    </m:sSup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)</m:t>
                    </m:r>
                  </m:oMath>
                </a14:m>
                <a:endParaRPr lang="fr-FR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03F1AA3-324C-2A41-1024-6B1586D42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6222647" y="4742271"/>
                <a:ext cx="2709814" cy="261610"/>
              </a:xfrm>
              <a:prstGeom prst="rect">
                <a:avLst/>
              </a:prstGeom>
              <a:blipFill>
                <a:blip r:embed="rId17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E04D8233-56F4-217F-F9DD-93910B0A822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0" y="975021"/>
            <a:ext cx="5613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Etiquetage</a:t>
            </a:r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ou</a:t>
            </a:r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« </a:t>
            </a:r>
            <a:r>
              <a:rPr lang="fr-FR" sz="1600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tagging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 »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signifie mesurer le spectateur qui n'interagit pas dans la partie dure du processus.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520E4BB-E755-F987-4855-BAE7E8030A4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534198" y="2814458"/>
            <a:ext cx="13667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Résultats de BONuS6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FEAD056-DD55-8DE7-4E81-5AC85DA3C776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39115" y="4868863"/>
            <a:ext cx="400121" cy="274637"/>
          </a:xfrm>
        </p:spPr>
        <p:txBody>
          <a:bodyPr/>
          <a:lstStyle/>
          <a:p>
            <a:fld id="{43011D56-0ADE-481C-8FF2-98F54ED539CA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5799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BAD0B3-1FA7-8A2B-68B5-FC7AF9D96B2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Théorie du filtre de Kalman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38F82FB-D989-A4B8-5B49-CC60907B3CA1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4293" y="792153"/>
                <a:ext cx="8843963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Objectif :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Estimer les paramètres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d’une trajectoire :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𝑧</m:t>
                    </m:r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et erreurs pour des protons de faible</a:t>
                </a: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impulsion. Existe plusieurs possibilités : </a:t>
                </a:r>
                <a:r>
                  <a:rPr lang="fr-FR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fit global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ou</a:t>
                </a: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dirty="0">
                    <a:solidFill>
                      <a:srgbClr val="FF9708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filtre de Kalman</a:t>
                </a: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38F82FB-D989-A4B8-5B49-CC60907B3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64293" y="792153"/>
                <a:ext cx="8843963" cy="540212"/>
              </a:xfrm>
              <a:prstGeom prst="rect">
                <a:avLst/>
              </a:prstGeom>
              <a:blipFill>
                <a:blip r:embed="rId14"/>
                <a:stretch>
                  <a:fillRect l="-207" t="-3371" b="-89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D8D44DF7-0125-5802-9969-5D54907067F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28357" y="1750945"/>
            <a:ext cx="1890954" cy="189095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C5B996E-4D33-FAF9-D21D-270ADF50520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90264" y="1750945"/>
            <a:ext cx="1896010" cy="1890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DA208D3-48EF-E99E-9F4D-8E50ED26D1C6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4293" y="3766571"/>
                <a:ext cx="217408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 calcul d’un système</a:t>
                </a:r>
              </a:p>
              <a:p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fr-FR" sz="10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équations : </a:t>
                </a:r>
              </a:p>
              <a:p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Inversion d’une matrice</a:t>
                </a:r>
              </a:p>
              <a:p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 taille</a:t>
                </a:r>
                <a14:m>
                  <m:oMath xmlns:m="http://schemas.openxmlformats.org/officeDocument/2006/math">
                    <m:r>
                      <a:rPr lang="fr-FR" sz="1000" b="0" i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000" b="0" i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fr-FR" sz="1000" b="0" i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fr-FR" sz="1000" b="0" i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endParaRPr lang="fr-FR" sz="10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DA208D3-48EF-E99E-9F4D-8E50ED26D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64293" y="3766571"/>
                <a:ext cx="2174082" cy="707886"/>
              </a:xfrm>
              <a:prstGeom prst="rect">
                <a:avLst/>
              </a:prstGeom>
              <a:blipFill>
                <a:blip r:embed="rId1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ZoneTexte 13">
            <a:extLst>
              <a:ext uri="{FF2B5EF4-FFF2-40B4-BE49-F238E27FC236}">
                <a16:creationId xmlns:a16="http://schemas.microsoft.com/office/drawing/2014/main" id="{505F5465-10C9-6B06-C070-6344B0677CE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57225" y="1511399"/>
            <a:ext cx="1028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Fit global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2A3963D-6D79-D42C-DADD-D68AEF1AB89F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590265" y="3766570"/>
                <a:ext cx="1896009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0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sz="10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calcul d’un système</a:t>
                </a:r>
              </a:p>
              <a:p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 1 équation : </a:t>
                </a:r>
              </a:p>
              <a:p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Inversion d’une matrice de taille </a:t>
                </a:r>
                <a14:m>
                  <m:oMath xmlns:m="http://schemas.openxmlformats.org/officeDocument/2006/math">
                    <m:r>
                      <a:rPr lang="fr-FR" sz="1000" b="0" i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sz="1000" b="0" i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endParaRPr lang="fr-FR" sz="10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2A3963D-6D79-D42C-DADD-D68AEF1AB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2590265" y="3766570"/>
                <a:ext cx="1896009" cy="707886"/>
              </a:xfrm>
              <a:prstGeom prst="rect">
                <a:avLst/>
              </a:prstGeom>
              <a:blipFill>
                <a:blip r:embed="rId20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D4913884-C625-D2AD-8B91-C191ECE2F9C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862263" y="1511398"/>
            <a:ext cx="16240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u="sng" dirty="0">
                <a:solidFill>
                  <a:srgbClr val="FF970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Filtre de Kalman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D8444195-960D-4C1C-8444-2CB32CEF4A82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4293" y="4482755"/>
                <a:ext cx="321461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Avec </a:t>
                </a:r>
                <a14:m>
                  <m:oMath xmlns:m="http://schemas.openxmlformats.org/officeDocument/2006/math">
                    <m:r>
                      <a:rPr lang="fr-FR" sz="105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fr-FR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le nombre de mesures, pour des mesures 1D</a:t>
                </a:r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D8444195-960D-4C1C-8444-2CB32CEF4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64293" y="4482755"/>
                <a:ext cx="3214616" cy="261610"/>
              </a:xfrm>
              <a:prstGeom prst="rect">
                <a:avLst/>
              </a:prstGeom>
              <a:blipFill>
                <a:blip r:embed="rId22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ZoneTexte 21">
            <a:extLst>
              <a:ext uri="{FF2B5EF4-FFF2-40B4-BE49-F238E27FC236}">
                <a16:creationId xmlns:a16="http://schemas.microsoft.com/office/drawing/2014/main" id="{C65FF004-C17A-FE66-D558-46AF9492A67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274" y="1332365"/>
            <a:ext cx="448790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Particule chargée se déplace dans le vide avec un champ magnétique constant </a:t>
            </a:r>
            <a:r>
              <a:rPr lang="en-US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</a:t>
            </a: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trajectoire sera une hélice</a:t>
            </a: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endParaRPr lang="fr-FR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Dans la réalité :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Champ magnétique inhomogène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Energie déposée</a:t>
            </a: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et diffusion multiple dans le détecteur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Donc pas une hélice</a:t>
            </a:r>
          </a:p>
          <a:p>
            <a:endParaRPr lang="fr-FR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Fit global ne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prend pas en compte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ces effets :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Ajuste tous les points + la ligne de faisceau pour une hélice. 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Problème</a:t>
            </a:r>
            <a:r>
              <a:rPr lang="en-US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pour les </a:t>
            </a:r>
            <a:r>
              <a:rPr lang="en-US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particules</a:t>
            </a:r>
            <a:r>
              <a:rPr lang="en-US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de </a:t>
            </a:r>
            <a:r>
              <a:rPr lang="en-US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faibles</a:t>
            </a:r>
            <a:r>
              <a:rPr lang="en-US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 impulsion.</a:t>
            </a:r>
            <a:endParaRPr lang="fr-FR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16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CDB592C-CB9A-1CEB-6DEA-AF621D0A7323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200527" y="4456606"/>
            <a:ext cx="49387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Dans notre cas ce sont des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effets importants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 pris </a:t>
            </a:r>
            <a:r>
              <a:rPr lang="en-US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en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compte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avec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filtre de Kalman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76DE6F-3199-5EE2-FC2B-282FE37767C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8185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980F36-9A77-380E-1036-51E348C4E90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Théorie du filtre de Kalman</a:t>
            </a:r>
            <a:endParaRPr lang="fr-FR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CB9138-CFCD-CE72-9559-23924AEB771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1" y="795338"/>
            <a:ext cx="913447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filtre de Kalman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 un algorithme utilisé en physique pour la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reconstruction de trajectoires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L’algorithme fonctionne en </a:t>
            </a:r>
            <a:r>
              <a:rPr lang="fr-FR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deux phases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prédiction : produis une </a:t>
            </a:r>
            <a:r>
              <a:rPr lang="fr-FR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estimation de l’état actuel </a:t>
            </a: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sur la base de l’état précédent avec les incertitudes grâce au modèle décrivant le système.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mise à jour : l’estimation est </a:t>
            </a:r>
            <a:r>
              <a:rPr lang="fr-FR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mise à jour avec la nouvelle mesure</a:t>
            </a: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C43B845-E686-9AC8-3354-BEB3311AD70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7"/>
          <a:srcRect t="17315"/>
          <a:stretch/>
        </p:blipFill>
        <p:spPr>
          <a:xfrm>
            <a:off x="500063" y="2272666"/>
            <a:ext cx="3598201" cy="2811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D14A8C2-B22E-3CAA-4210-957D27F181BB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357687" y="2095348"/>
                <a:ext cx="4700587" cy="2715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Equation du système 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particule chargée dans un champ magnétique est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f>
                        <m:fPr>
                          <m:ctrlP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den>
                      </m:f>
                      <m:r>
                        <a:rPr lang="fr-FR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fr-FR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Equation du 2ème ordre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résolu itérativement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pour obtenir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avec un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algorithme de Runge </a:t>
                </a:r>
                <a:r>
                  <a:rPr lang="fr-FR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Kutta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(RK4). </a:t>
                </a:r>
              </a:p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Prise en compte de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l’énergie déposée,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fluctuation, diffusion multiple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dans les différents matériaux.</a:t>
                </a:r>
              </a:p>
              <a:p>
                <a:endParaRPr lang="fr-FR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Propagation de l’erreur avec la matrice de covariance :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Dérivée de la fonction de propagation, Jacobienne.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Utilisation de la dérivée avant pour résoudre cela.</a:t>
                </a: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D14A8C2-B22E-3CAA-4210-957D27F18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4357687" y="2095348"/>
                <a:ext cx="4700587" cy="2715295"/>
              </a:xfrm>
              <a:prstGeom prst="rect">
                <a:avLst/>
              </a:prstGeom>
              <a:blipFill>
                <a:blip r:embed="rId9"/>
                <a:stretch>
                  <a:fillRect l="-389" t="-674" b="-11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C0DD83-D4CD-E00F-FF67-809AFAE871EA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7011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Une image contenant texte, diagramme, capture d’écran, Tracé&#10;&#10;Description générée automatiquement">
            <a:extLst>
              <a:ext uri="{FF2B5EF4-FFF2-40B4-BE49-F238E27FC236}">
                <a16:creationId xmlns:a16="http://schemas.microsoft.com/office/drawing/2014/main" id="{AC768FA7-F660-B6D3-1A19-C3D1FF82BD6B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4"/>
          <a:stretch/>
        </p:blipFill>
        <p:spPr bwMode="auto">
          <a:xfrm>
            <a:off x="6201311" y="870922"/>
            <a:ext cx="2851730" cy="211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CFCEF3A3-1EC7-294E-3CA1-F5184C2A9186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3" t="454"/>
          <a:stretch/>
        </p:blipFill>
        <p:spPr bwMode="auto">
          <a:xfrm>
            <a:off x="6201311" y="2949583"/>
            <a:ext cx="2851730" cy="2157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A5739FF-2600-024E-EE05-535E69C91CA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FR" sz="2800" noProof="0" dirty="0"/>
              <a:t>Implémentation d’un filtre de Kalman pour BONuS12​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15A66153-E254-1748-264F-20DFF928FDCD}"/>
                  </a:ext>
                </a:extLst>
              </p:cNvPr>
              <p:cNvSpPr>
                <a:spLocks noGrp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9526" y="760489"/>
                <a:ext cx="6234111" cy="438301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Objectif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mieux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reconstruire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les protons avec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impulsion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</a:p>
              <a:p>
                <a:pPr marL="360000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60 à 150 MeV/c  </a:t>
                </a:r>
              </a:p>
              <a:p>
                <a:pPr marL="360000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Important car un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indicateur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d’un neutron libre.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200" b="1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Effets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importants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à prendre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compte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BONuS12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Énergie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déposée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(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équation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Bethe-Bloch)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Processus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aléatoire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→ fluctuation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gaussienne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Inhomogénéité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champ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magnétique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Bonne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prise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compte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l’erreur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sur la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→ Impact sur le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taux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réussite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Test et validation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ur des données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simulées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(50-120 MeV) :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Un seul proton avec des distributions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uniformes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développer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évaluer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filtre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Kalman.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Sur des données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d’électron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-proton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élastique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radiatif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évaluer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filtre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Kalman sur de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vraies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données.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400" b="1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Réussite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 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Meilleure</a:t>
                </a: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résolution</a:t>
                </a: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toutes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les impulsions, avec un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effet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plus important pour les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impulsions. Modification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sur les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autres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variables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𝜙</m:t>
                    </m:r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,</m:t>
                    </m:r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𝜃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𝑣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𝑧</m:t>
                        </m:r>
                      </m:sub>
                    </m:sSub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.</m:t>
                    </m:r>
                  </m:oMath>
                </a14:m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Calculer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2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𝑑𝐸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dans la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région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dérive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avoir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meilleure</a:t>
                </a: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identification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Données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elastique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taux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réussité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96%,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r</m:t>
                    </m:r>
                    <m:r>
                      <a:rPr lang="fr-FR" sz="1200" b="0" i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é</m:t>
                    </m:r>
                    <m:r>
                      <m:rPr>
                        <m:sty m:val="p"/>
                      </m:rPr>
                      <a:rPr lang="fr-FR" sz="1200" b="0" i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ussit</m:t>
                    </m:r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𝑒</m:t>
                    </m:r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= </m:t>
                    </m:r>
                    <m:f>
                      <m:fPr>
                        <m:ctrlPr>
                          <a:rPr lang="en-US" sz="12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𝑁𝑏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𝑡𝑟𝑎𝑐𝑘𝑠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𝐾𝐹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𝑁𝑏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𝑡𝑟𝑎𝑐𝑘𝑠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𝐺𝐹</m:t>
                        </m:r>
                      </m:den>
                    </m:f>
                  </m:oMath>
                </a14:m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global fit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toujours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present,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comme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seed.</a:t>
                </a:r>
              </a:p>
            </p:txBody>
          </p:sp>
        </mc:Choice>
        <mc:Fallback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15A66153-E254-1748-264F-20DFF928FD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9526" y="760489"/>
                <a:ext cx="6234111" cy="4383010"/>
              </a:xfrm>
              <a:prstGeom prst="rect">
                <a:avLst/>
              </a:prstGeom>
              <a:blipFill>
                <a:blip r:embed="rId11"/>
                <a:stretch>
                  <a:fillRect l="-294" t="-417" b="-4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7">
            <a:extLst>
              <a:ext uri="{FF2B5EF4-FFF2-40B4-BE49-F238E27FC236}">
                <a16:creationId xmlns:a16="http://schemas.microsoft.com/office/drawing/2014/main" id="{70DB58BF-1021-8FDB-72A9-56DD125338B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567403" y="1200506"/>
            <a:ext cx="1324762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Simulated data</a:t>
            </a:r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CE9167C0-1475-0AB7-E8B8-2FA33F6CA87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728279" y="3283945"/>
            <a:ext cx="1324762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Elastic data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2127EF-E4B5-1957-C3EC-893C16D41C4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6061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Picture 6" descr="Une image contenant diagramme, ligne, cercle, croquis&#10;&#10;Description générée automatiquement">
            <a:extLst>
              <a:ext uri="{FF2B5EF4-FFF2-40B4-BE49-F238E27FC236}">
                <a16:creationId xmlns:a16="http://schemas.microsoft.com/office/drawing/2014/main" id="{75BDD4A9-472A-34B5-C95A-6B77F82BA42D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0" r="8207"/>
          <a:stretch/>
        </p:blipFill>
        <p:spPr bwMode="auto">
          <a:xfrm>
            <a:off x="4832350" y="1105978"/>
            <a:ext cx="4254500" cy="243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3C7F5AE-4D3E-C23B-78DD-01AEA3C2DC7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/>
              <a:t>Canal et observable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4">
                <a:extLst>
                  <a:ext uri="{FF2B5EF4-FFF2-40B4-BE49-F238E27FC236}">
                    <a16:creationId xmlns:a16="http://schemas.microsoft.com/office/drawing/2014/main" id="{56A5327F-4C19-FB19-1AEC-F887689F5EEC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7149" y="744657"/>
                <a:ext cx="6043399" cy="2831544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Cette analyse :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neutron DVCS avec « </a:t>
                </a:r>
                <a:r>
                  <a:rPr lang="fr-FR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tagging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» du proton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pas de détection du neutron.</a:t>
                </a:r>
                <a:endParaRPr lang="fr-FR" sz="2400" b="0" i="1" dirty="0">
                  <a:solidFill>
                    <a:schemeClr val="bg1">
                      <a:lumMod val="25000"/>
                    </a:schemeClr>
                  </a:solidFill>
                  <a:latin typeface="Cambria Math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m:t>𝑒</m:t>
                      </m:r>
                      <m:r>
                        <a:rPr lang="fr-FR" sz="24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m:t>+</m:t>
                      </m:r>
                      <m:r>
                        <a:rPr lang="fr-FR" sz="24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m:t>𝑑</m:t>
                      </m:r>
                      <m:r>
                        <a:rPr lang="fr-FR" sz="24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m:t> →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ibertinus Serif" pitchFamily="50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ibertinus Serif" pitchFamily="50" charset="0"/>
                            </a:rPr>
                            <m:t>𝑒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ibertinus Serif" pitchFamily="50" charset="0"/>
                            </a:rPr>
                            <m:t>′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ibertinus Serif" pitchFamily="50" charset="0"/>
                        </a:rPr>
                        <m:t>+</m:t>
                      </m:r>
                      <m:r>
                        <a:rPr lang="fr-FR" sz="24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ibertinus Serif" pitchFamily="50" charset="0"/>
                        </a:rPr>
                        <m:t>𝛾</m:t>
                      </m:r>
                      <m:r>
                        <a:rPr lang="fr-FR" sz="24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ibertinus Serif" pitchFamily="50" charset="0"/>
                        </a:rPr>
                        <m:t>+</m:t>
                      </m:r>
                      <m:sSub>
                        <m:sSubPr>
                          <m:ctrlPr>
                            <a:rPr lang="fr-FR" sz="24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ibertinus Serif" pitchFamily="50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ibertinus Serif" pitchFamily="50" charset="0"/>
                            </a:rPr>
                            <m:t>𝑝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ibertinus Serif" pitchFamily="50" charset="0"/>
                            </a:rPr>
                            <m:t>𝑠</m:t>
                          </m:r>
                        </m:sub>
                      </m:sSub>
                      <m:r>
                        <a:rPr lang="fr-FR" sz="24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ibertinus Serif" pitchFamily="50" charset="0"/>
                        </a:rPr>
                        <m:t>+(</m:t>
                      </m:r>
                      <m:r>
                        <a:rPr lang="fr-FR" sz="24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ibertinus Serif" pitchFamily="50" charset="0"/>
                        </a:rPr>
                        <m:t>𝑛</m:t>
                      </m:r>
                      <m:r>
                        <a:rPr lang="fr-FR" sz="24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ibertinus Serif" pitchFamily="50" charset="0"/>
                        </a:rPr>
                        <m:t>)</m:t>
                      </m:r>
                    </m:oMath>
                  </m:oMathPara>
                </a14:m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État initial </a:t>
                </a:r>
                <a:r>
                  <a:rPr lang="fr-FR" sz="1400" b="1" i="1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Énergie du faisceau d’électrons de 10.4 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GeV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Polarisation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moyenne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83.66% </a:t>
                </a:r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État final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Sélectionner électron, photon, proton spectateur.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Choisi le </a:t>
                </a:r>
                <a14:m>
                  <m:oMath xmlns:m="http://schemas.openxmlformats.org/officeDocument/2006/math">
                    <m:r>
                      <a:rPr lang="fr-FR" sz="140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𝛾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plus énergétique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comme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candidat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Événement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un seul proton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candidat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ZoneTexte 4">
                <a:extLst>
                  <a:ext uri="{FF2B5EF4-FFF2-40B4-BE49-F238E27FC236}">
                    <a16:creationId xmlns:a16="http://schemas.microsoft.com/office/drawing/2014/main" id="{56A5327F-4C19-FB19-1AEC-F887689F5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57149" y="744657"/>
                <a:ext cx="6043399" cy="2831544"/>
              </a:xfrm>
              <a:prstGeom prst="rect">
                <a:avLst/>
              </a:prstGeom>
              <a:blipFill>
                <a:blip r:embed="rId9"/>
                <a:stretch>
                  <a:fillRect l="-302" t="-645" b="-10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0AA1CC-EF05-8B6D-8DFE-A51E5E48DD8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20</a:t>
            </a:fld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C480DE9-47A0-2556-8B6E-5CEE422B4146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403074" y="4475151"/>
                <a:ext cx="2070887" cy="551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𝐿𝑈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𝑃𝑜𝑙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den>
                      </m:f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fr-F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fr-F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fr-FR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fr-F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C480DE9-47A0-2556-8B6E-5CEE422B4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6403074" y="4475151"/>
                <a:ext cx="2070887" cy="55156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0B9AE34-13E9-746A-F5A8-9DF4C34E62D7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7149" y="3724661"/>
                <a:ext cx="7289896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Avantage et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probleme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proton spectateur donne le 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quadri-vecteur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neutron initial.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Plus difficile de sélectionner les événements DVCS, une seule variable d’exclusivité.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Pas de détecteur pour les </a:t>
                </a:r>
                <a14:m>
                  <m:oMath xmlns:m="http://schemas.openxmlformats.org/officeDocument/2006/math">
                    <m:r>
                      <a:rPr lang="fr-FR" sz="140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𝛾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petit angle (FT).</a:t>
                </a:r>
              </a:p>
              <a:p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L'observable de cette analyse est l'asymétrie de spin du faisceau (BSA).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0B9AE34-13E9-746A-F5A8-9DF4C34E6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57149" y="3724661"/>
                <a:ext cx="7289896" cy="1384995"/>
              </a:xfrm>
              <a:prstGeom prst="rect">
                <a:avLst/>
              </a:prstGeom>
              <a:blipFill>
                <a:blip r:embed="rId14"/>
                <a:stretch>
                  <a:fillRect l="-251" t="-1322" b="-30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590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8E3A06F8-FFE0-5843-C9D4-4B366FF0E79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051679" y="3146479"/>
            <a:ext cx="2635116" cy="189699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31D0B9E-0D73-D1C4-1084-B9BAF193D50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12"/>
          <a:srcRect l="5610"/>
          <a:stretch/>
        </p:blipFill>
        <p:spPr>
          <a:xfrm>
            <a:off x="6176455" y="855155"/>
            <a:ext cx="2743200" cy="208467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716937-4FDA-4BAC-40AA-E66A4E4C34F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FR" noProof="0" dirty="0"/>
              <a:t>Identification des particules (1/2)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re 1">
                <a:extLst>
                  <a:ext uri="{FF2B5EF4-FFF2-40B4-BE49-F238E27FC236}">
                    <a16:creationId xmlns:a16="http://schemas.microsoft.com/office/drawing/2014/main" id="{49F64CB4-B8EA-B85B-55FC-750D3DCC2AF5}"/>
                  </a:ext>
                </a:extLst>
              </p:cNvPr>
              <p:cNvSpPr txBox="1">
                <a:spLocks/>
              </p:cNvSpPr>
              <p:nvPr>
                <p:custDataLst>
                  <p:tags r:id="rId4"/>
                </p:custDataLst>
              </p:nvPr>
            </p:nvSpPr>
            <p:spPr>
              <a:xfrm>
                <a:off x="-1" y="769734"/>
                <a:ext cx="6555476" cy="225552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Identifier trois particules de l'état final : 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2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Électron</a:t>
                </a: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diffusé</a:t>
                </a: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ECAL, DC et HTCC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Photon </a:t>
                </a:r>
                <a:r>
                  <a:rPr lang="en-US" sz="12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réel</a:t>
                </a: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ECAL  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Proton </a:t>
                </a:r>
                <a:r>
                  <a:rPr lang="en-US" sz="12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spectateur</a:t>
                </a: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RTPC BoNuS12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Utiliser les coupures standards de CLAS12 pour l'électron et le photon.</a:t>
                </a:r>
              </a:p>
              <a:p>
                <a:pPr>
                  <a:lnSpc>
                    <a:spcPct val="120000"/>
                  </a:lnSpc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du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proton spectateur</a:t>
                </a:r>
                <a:r>
                  <a:rPr lang="fr-FR" sz="14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</a:t>
                </a: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des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bonnes trajectoires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</a:t>
                </a:r>
              </a:p>
              <a:p>
                <a:pPr marL="360000" lvl="1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05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SupPr>
                      <m:e>
                        <m:r>
                          <a:rPr lang="en-US" sz="105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𝜒</m:t>
                        </m:r>
                      </m:e>
                      <m:sub>
                        <m:r>
                          <a:rPr lang="fr-FR" sz="105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h𝑒𝑙𝑖𝑥</m:t>
                        </m:r>
                      </m:sub>
                      <m:sup>
                        <m:r>
                          <a:rPr lang="fr-FR" sz="105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2</m:t>
                        </m:r>
                      </m:sup>
                    </m:sSubSup>
                    <m:r>
                      <a:rPr lang="fr-FR" sz="105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&lt;2.5 </m:t>
                    </m:r>
                    <m:r>
                      <a:rPr lang="fr-FR" sz="105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bonne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qualité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l’ajustement</a:t>
                </a:r>
                <a:endParaRPr lang="en-US" sz="105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17 &lt;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nhits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&lt; 45 </a:t>
                </a:r>
                <a14:m>
                  <m:oMath xmlns:m="http://schemas.openxmlformats.org/officeDocument/2006/math">
                    <m:r>
                      <a:rPr lang="fr-FR" sz="105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suffisamment de hits pour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l’ajustement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mais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deux traces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combinées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1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05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𝑅</m:t>
                        </m:r>
                      </m:e>
                      <m:sub>
                        <m:r>
                          <a:rPr lang="fr-FR" sz="105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h𝑒𝑙𝑖𝑥</m:t>
                        </m:r>
                      </m:sub>
                    </m:sSub>
                    <m:r>
                      <a:rPr lang="fr-FR" sz="105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&lt;0</m:t>
                    </m:r>
                  </m:oMath>
                </a14:m>
                <a:r>
                  <a:rPr lang="fr-FR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050" i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trace avec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charge positive</a:t>
                </a:r>
              </a:p>
              <a:p>
                <a:pPr marL="360000" lvl="1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05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−18&lt;</m:t>
                    </m:r>
                    <m:sSub>
                      <m:sSubPr>
                        <m:ctrlPr>
                          <a:rPr lang="fr-FR" sz="105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05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𝑣</m:t>
                        </m:r>
                      </m:e>
                      <m:sub>
                        <m:r>
                          <a:rPr lang="fr-FR" sz="105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𝑧</m:t>
                        </m:r>
                      </m:sub>
                    </m:sSub>
                    <m:r>
                      <a:rPr lang="fr-FR" sz="105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&lt;12</m:t>
                    </m:r>
                  </m:oMath>
                </a14:m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cm </a:t>
                </a:r>
                <a14:m>
                  <m:oMath xmlns:m="http://schemas.openxmlformats.org/officeDocument/2006/math">
                    <m:r>
                      <a:rPr lang="fr-FR" sz="1050" i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couper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les bords du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détecteur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1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65&lt; </m:t>
                    </m:r>
                    <m:sSub>
                      <m:sSubPr>
                        <m:ctrlP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𝑟</m:t>
                        </m:r>
                      </m:e>
                      <m:sub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𝑚𝑎𝑥</m:t>
                        </m:r>
                      </m:sub>
                    </m:sSub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&lt;72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mm </a:t>
                </a:r>
                <a14:m>
                  <m:oMath xmlns:m="http://schemas.openxmlformats.org/officeDocument/2006/math">
                    <m:r>
                      <a:rPr lang="fr-FR" sz="1100" i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traces qui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traversent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tout le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détecteur</a:t>
                </a: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</a:pP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Titre 1">
                <a:extLst>
                  <a:ext uri="{FF2B5EF4-FFF2-40B4-BE49-F238E27FC236}">
                    <a16:creationId xmlns:a16="http://schemas.microsoft.com/office/drawing/2014/main" id="{49F64CB4-B8EA-B85B-55FC-750D3DCC2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-1" y="769734"/>
                <a:ext cx="6555476" cy="2255520"/>
              </a:xfrm>
              <a:prstGeom prst="rect">
                <a:avLst/>
              </a:prstGeom>
              <a:blipFill>
                <a:blip r:embed="rId13"/>
                <a:stretch>
                  <a:fillRect l="-279" t="-541" b="-113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E6ED7C-7A44-6EB1-2A1D-E844AD49941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21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8154CA0-1213-EAB9-72E7-425E6B1DF71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2078" y="3209216"/>
            <a:ext cx="2631933" cy="189699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0590C07-845A-78F6-21EB-8E3E9B94673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33356" y="4942493"/>
            <a:ext cx="1666945" cy="20005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fr-FR" sz="7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Distribution bleue est multipliée par 7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FFC7A50-B00E-48BA-A2E9-C3AD1EDE4D3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145944" y="4906153"/>
            <a:ext cx="1635469" cy="20005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fr-FR" sz="7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Distribution bleue est multipliée par 3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18B81B0-9A84-EB6B-476F-08371D3012F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090409" y="3021530"/>
            <a:ext cx="2765490" cy="208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55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Une image contenant texte, capture d’écran, Caractère coloré&#10;&#10;Description générée automatiquement">
            <a:extLst>
              <a:ext uri="{FF2B5EF4-FFF2-40B4-BE49-F238E27FC236}">
                <a16:creationId xmlns:a16="http://schemas.microsoft.com/office/drawing/2014/main" id="{3AD9C59D-D538-C3BB-110F-6369DC5D3AC1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325" y="2844008"/>
            <a:ext cx="3151336" cy="225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716937-4FDA-4BAC-40AA-E66A4E4C34F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/>
              <a:t>Identification des particules (2/2)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re 1">
                <a:extLst>
                  <a:ext uri="{FF2B5EF4-FFF2-40B4-BE49-F238E27FC236}">
                    <a16:creationId xmlns:a16="http://schemas.microsoft.com/office/drawing/2014/main" id="{49F64CB4-B8EA-B85B-55FC-750D3DCC2AF5}"/>
                  </a:ext>
                </a:extLst>
              </p:cNvPr>
              <p:cNvSpPr txBox="1">
                <a:spLocks/>
              </p:cNvSpPr>
              <p:nvPr>
                <p:custDataLst>
                  <p:tags r:id="rId3"/>
                </p:custDataLst>
              </p:nvPr>
            </p:nvSpPr>
            <p:spPr>
              <a:xfrm>
                <a:off x="-1" y="769734"/>
                <a:ext cx="6555476" cy="4373766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élection des traces provenant de la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même interaction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360000" lvl="2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fr-FR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Construire une variable de type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05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05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𝜒</m:t>
                        </m:r>
                      </m:e>
                      <m:sup>
                        <m:r>
                          <a:rPr lang="fr-FR" sz="105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05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combiner </a:t>
                </a:r>
                <a14:m>
                  <m:oMath xmlns:m="http://schemas.openxmlformats.org/officeDocument/2006/math">
                    <m:r>
                      <a:rPr lang="en-US" sz="105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𝒕</m:t>
                    </m:r>
                    <m:r>
                      <a:rPr lang="en-US" sz="1050" b="1" i="1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𝒅𝒊𝒇𝒇</m:t>
                    </m:r>
                  </m:oMath>
                </a14:m>
                <a:r>
                  <a:rPr lang="en-US" sz="1050" b="1" baseline="-250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05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et</a:t>
                </a:r>
                <a:r>
                  <a:rPr lang="en-US" sz="1050" b="1" baseline="-250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5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𝜟</m:t>
                    </m:r>
                    <m:r>
                      <a:rPr lang="en-US" sz="1050" b="1" i="1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𝒗</m:t>
                    </m:r>
                    <m:r>
                      <a:rPr lang="en-US" sz="1050" b="1" i="1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𝒛</m:t>
                    </m:r>
                  </m:oMath>
                </a14:m>
                <a:r>
                  <a:rPr lang="en-US" sz="105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 </a:t>
                </a:r>
                <a:r>
                  <a:rPr lang="fr-FR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réduire le bruit de fond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2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SupPr>
                      <m:e>
                        <m:r>
                          <a:rPr lang="en-US" sz="10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𝜒</m:t>
                        </m:r>
                      </m:e>
                      <m:sub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𝑝𝑖𝑙𝑒𝑢𝑝</m:t>
                        </m:r>
                      </m:sub>
                      <m:sup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2</m:t>
                        </m:r>
                      </m:sup>
                    </m:sSubSup>
                    <m:r>
                      <a:rPr lang="fr-FR" sz="10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= </m:t>
                    </m:r>
                    <m:sSup>
                      <m:sSupPr>
                        <m:ctrlP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000" b="0" i="1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Libertinus Serif" pitchFamily="50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000" i="1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Libertinus Serif" pitchFamily="50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  <m:t>𝑑𝑖𝑓𝑓</m:t>
                                    </m:r>
                                  </m:sub>
                                </m:sSub>
                                <m:r>
                                  <a:rPr lang="fr-FR" sz="1000" i="1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Libertinus Serif" pitchFamily="5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fr-F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Libertinus Serif" pitchFamily="5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Libertinus Serif" pitchFamily="50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fr-F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Libertinus Serif" pitchFamily="50" charset="0"/>
                                          </a:rPr>
                                          <m:t>𝑑𝑖𝑓𝑓</m:t>
                                        </m:r>
                                      </m:sub>
                                    </m:sSub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fr-F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Libertinus Serif" pitchFamily="5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Libertinus Serif" pitchFamily="50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fr-F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Libertinus Serif" pitchFamily="50" charset="0"/>
                                          </a:rPr>
                                          <m:t>𝑑𝑖𝑓𝑓</m:t>
                                        </m:r>
                                      </m:sub>
                                    </m:sSub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fr-FR" sz="10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+</a:t>
                </a:r>
                <a:r>
                  <a:rPr lang="fr-FR" sz="1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0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000" i="1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Libertinus Serif" pitchFamily="50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000" i="1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Libertinus Serif" pitchFamily="50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l-GR" sz="1000" i="1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ibertinus Serif" pitchFamily="50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l-G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fr-FR" sz="1000" i="1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Libertinus Serif" pitchFamily="50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l-G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l-G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Libertinus Serif" pitchFamily="5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Libertinus Serif" pitchFamily="50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fr-F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Libertinus Serif" pitchFamily="50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Libertinus Serif" pitchFamily="5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l-GR" sz="10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Libertinus Serif" pitchFamily="50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l-G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Libertinus Serif" pitchFamily="50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Libertinus Serif" pitchFamily="50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fr-FR" sz="10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Libertinus Serif" pitchFamily="50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fr-FR" sz="10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05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2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𝑡</m:t>
                    </m:r>
                    <m:r>
                      <a:rPr lang="en-US" sz="105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𝑑𝑖𝑓𝑓</m:t>
                    </m:r>
                    <m:r>
                      <a:rPr lang="en-US" sz="1050" i="1" baseline="-25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différence de temps entre le trigger de l’électron et le premier coup de la trajectoire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2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05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Δ</m:t>
                    </m:r>
                    <m:sSub>
                      <m:sSubPr>
                        <m:ctrlPr>
                          <a:rPr lang="el-GR" sz="105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05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𝑣</m:t>
                        </m:r>
                      </m:e>
                      <m:sub>
                        <m:r>
                          <a:rPr lang="fr-FR" sz="105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difference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05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𝑧</m:t>
                    </m:r>
                  </m:oMath>
                </a14:m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entre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l’electron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le proton </a:t>
                </a:r>
                <a:r>
                  <a:rPr lang="en-US" sz="105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spectateur</a:t>
                </a:r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2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fr-FR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Permet de </a:t>
                </a:r>
                <a:r>
                  <a:rPr lang="fr-FR" sz="105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supprimer l'empilement </a:t>
                </a:r>
                <a14:m>
                  <m:oMath xmlns:m="http://schemas.openxmlformats.org/officeDocument/2006/math">
                    <m:r>
                      <a:rPr lang="fr-FR" sz="105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fr-FR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retirer les bonnes traces d'un autre événement.</a:t>
                </a:r>
                <a:endParaRPr lang="fr-FR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des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protons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dans toutes les bonnes pistes du RTPC en coupant sur : </a:t>
                </a:r>
                <a:endParaRPr lang="fr-FR" sz="1100" i="1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0.072 &lt; </m:t>
                    </m:r>
                    <m:sSub>
                      <m:sSubPr>
                        <m:ctrlPr>
                          <a:rPr lang="en-US" sz="105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05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e>
                      <m:sub>
                        <m:r>
                          <a:rPr lang="fr-FR" sz="105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𝑚𝑒𝑎𝑠</m:t>
                        </m:r>
                      </m:sub>
                    </m:sSub>
                    <m:r>
                      <a:rPr lang="en-US" sz="105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&lt; 0.15</m:t>
                    </m:r>
                    <m:r>
                      <a:rPr lang="fr-FR" sz="105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.</m:t>
                    </m:r>
                  </m:oMath>
                </a14:m>
                <a:endParaRPr lang="fr-FR" sz="1050" i="1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05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fPr>
                      <m:num>
                        <m:r>
                          <a:rPr lang="fr-FR" sz="105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𝑑𝐸</m:t>
                        </m:r>
                      </m:num>
                      <m:den>
                        <m:r>
                          <a:rPr lang="fr-FR" sz="105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𝑑𝑥</m:t>
                        </m:r>
                      </m:den>
                    </m:f>
                    <m:r>
                      <a:rPr lang="en-US" sz="105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&lt;  60.15 +</m:t>
                    </m:r>
                    <m:r>
                      <a:rPr lang="en-US" sz="105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05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4.63 </m:t>
                    </m:r>
                    <m:sSup>
                      <m:sSupPr>
                        <m:ctrlPr>
                          <a:rPr lang="en-US" sz="105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05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e>
                      <m:sup>
                        <m:r>
                          <a:rPr lang="fr-FR" sz="105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−1.773</m:t>
                        </m:r>
                      </m:sup>
                    </m:sSup>
                  </m:oMath>
                </a14:m>
                <a:r>
                  <a:rPr lang="en-US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05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réduire la contamination par l'hélium ou le deutérium.</a:t>
                </a:r>
                <a:endParaRPr lang="en-US" sz="105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</a:pP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Titre 1">
                <a:extLst>
                  <a:ext uri="{FF2B5EF4-FFF2-40B4-BE49-F238E27FC236}">
                    <a16:creationId xmlns:a16="http://schemas.microsoft.com/office/drawing/2014/main" id="{49F64CB4-B8EA-B85B-55FC-750D3DCC2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-1" y="769734"/>
                <a:ext cx="6555476" cy="437376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60ADBE3D-77F1-2DBA-9884-2D6F058D87ED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112" y="810668"/>
            <a:ext cx="3096512" cy="221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E6ED7C-7A44-6EB1-2A1D-E844AD49941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22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3F33FF3-A85D-CB73-7051-C42905FD284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4"/>
          <a:srcRect l="6669"/>
          <a:stretch/>
        </p:blipFill>
        <p:spPr>
          <a:xfrm>
            <a:off x="75349" y="2854108"/>
            <a:ext cx="2902477" cy="22372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67338BF-2DDB-FDC6-073A-B1000CCA530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5"/>
          <a:srcRect l="5866"/>
          <a:stretch/>
        </p:blipFill>
        <p:spPr>
          <a:xfrm>
            <a:off x="2977826" y="2815712"/>
            <a:ext cx="3008286" cy="229949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55A9134-E6F6-B203-C053-8486731C814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07730" y="4943445"/>
            <a:ext cx="1666945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7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Distribution bleue est multipliée par 7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250A3E9-619A-E58A-431A-3D0B0DFE766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184676" y="4937895"/>
            <a:ext cx="1666945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7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Distribution bleue est multipliée par 7</a:t>
            </a:r>
          </a:p>
        </p:txBody>
      </p:sp>
    </p:spTree>
    <p:extLst>
      <p:ext uri="{BB962C8B-B14F-4D97-AF65-F5344CB8AC3E}">
        <p14:creationId xmlns:p14="http://schemas.microsoft.com/office/powerpoint/2010/main" val="1082907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5" name="Picture 11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A499F45C-44B0-70C4-6991-C79A002A4162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0" r="1520"/>
          <a:stretch/>
        </p:blipFill>
        <p:spPr bwMode="auto">
          <a:xfrm>
            <a:off x="6218613" y="2868613"/>
            <a:ext cx="2925387" cy="2254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D32E755-7FBC-DF64-7BD3-DD64D3CC163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/>
              <a:t>Domaine cinématique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297ADB7F-709B-90E7-D02B-FE270C5D1E86}"/>
                  </a:ext>
                </a:extLst>
              </p:cNvPr>
              <p:cNvSpPr>
                <a:spLocks noGrp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9526" y="777160"/>
                <a:ext cx="9134474" cy="231615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de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l'espace des phases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où le formalisme DVCS fonctionne avec coupures sur :</a:t>
                </a:r>
                <a:endParaRPr lang="fr-FR" sz="1400" i="1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1.5 &lt; </m:t>
                    </m:r>
                    <m:sSup>
                      <m:sSup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𝑄</m:t>
                        </m:r>
                      </m:e>
                      <m:sup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2</m:t>
                        </m:r>
                      </m:sup>
                    </m:sSup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&lt; 6 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GeV</m:t>
                    </m:r>
                    <m:r>
                      <m:rPr>
                        <m:nor/>
                      </m:rPr>
                      <a:rPr lang="en-US" sz="1400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2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/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c</m:t>
                    </m:r>
                    <m:r>
                      <m:rPr>
                        <m:nor/>
                      </m:rPr>
                      <a:rPr lang="en-US" sz="1400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2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l'événement soit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profond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répondre aux conditions pour la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factorisation des GPD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𝑊</m:t>
                        </m:r>
                      </m:e>
                      <m:sup>
                        <m:sSup>
                          <m:sSupPr>
                            <m:ctrlPr>
                              <a:rPr lang="fr-FR" sz="1400" b="0" i="1" dirty="0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</m:ctrlPr>
                          </m:sSupPr>
                          <m:e>
                            <m:r>
                              <a:rPr lang="fr-FR" sz="1400" b="0" i="1" dirty="0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  <m:t>∗</m:t>
                            </m:r>
                          </m:e>
                          <m:sup>
                            <m:r>
                              <a:rPr lang="fr-FR" sz="1400" b="0" i="1" dirty="0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&gt;</m:t>
                    </m:r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4 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GeV</a:t>
                </a:r>
                <a:r>
                  <a:rPr lang="en-US" sz="1400" baseline="30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2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éviter la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zone des résonances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(W* : version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corrigé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W avec les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informations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spectateur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𝑡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𝐷𝑉𝐶𝑆</m:t>
                        </m:r>
                      </m:sub>
                    </m:sSub>
                    <m:r>
                      <a:rPr lang="fr-FR" sz="14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&lt;0.4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GeV</m:t>
                    </m:r>
                    <m:r>
                      <m:rPr>
                        <m:nor/>
                      </m:rPr>
                      <a:rPr lang="en-US" sz="1400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2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/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c</m:t>
                    </m:r>
                    <m:r>
                      <m:rPr>
                        <m:nor/>
                      </m:rPr>
                      <a:rPr lang="en-US" sz="1400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2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</a:t>
                </a:r>
                <a:r>
                  <a:rPr lang="en-US" sz="12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réduire</a:t>
                </a: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la contamination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Meilleure résolution sur 𝑡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→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calcul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l'angle du photon sortant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en supposant un événement exclusif et la conservation du 4-momentum. </a:t>
                </a: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Coupure à un petit 𝑡 parce que le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bruit de fond des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𝝅</m:t>
                        </m:r>
                      </m:e>
                      <m:sup>
                        <m:r>
                          <a:rPr lang="fr-F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devient trop important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297ADB7F-709B-90E7-D02B-FE270C5D1E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9526" y="777160"/>
                <a:ext cx="9134474" cy="2316157"/>
              </a:xfrm>
              <a:prstGeom prst="rect">
                <a:avLst/>
              </a:prstGeom>
              <a:blipFill>
                <a:blip r:embed="rId12"/>
                <a:stretch>
                  <a:fillRect l="-200" t="-5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8" name="Picture 4" descr="Une image contenant texte, Police, ligne, nombre&#10;&#10;Description générée automatiquement">
            <a:extLst>
              <a:ext uri="{FF2B5EF4-FFF2-40B4-BE49-F238E27FC236}">
                <a16:creationId xmlns:a16="http://schemas.microsoft.com/office/drawing/2014/main" id="{AADAB6AF-52C1-CB7A-E947-3F8D7AAEE998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994" y="1666370"/>
            <a:ext cx="1951701" cy="48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5" descr="Une image contenant Police, texte, ligne, typographie&#10;&#10;Description générée automatiquement">
            <a:extLst>
              <a:ext uri="{FF2B5EF4-FFF2-40B4-BE49-F238E27FC236}">
                <a16:creationId xmlns:a16="http://schemas.microsoft.com/office/drawing/2014/main" id="{D9BE4D96-C9E9-B2EC-37A6-F09E10457199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8" y="1754840"/>
            <a:ext cx="5710238" cy="44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1" name="Picture 7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0E6CB1EE-4A17-9591-224B-356C1A236FBE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859951"/>
            <a:ext cx="3171167" cy="2270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3" name="Picture 9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182D5696-B189-EADC-7C66-ED1D59AE2E16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7" r="1699"/>
          <a:stretch/>
        </p:blipFill>
        <p:spPr bwMode="auto">
          <a:xfrm>
            <a:off x="3171166" y="2855188"/>
            <a:ext cx="2925386" cy="2270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A8F56C-86D6-E065-42DC-9F74A512114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874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6" name="Picture 8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04736425-7784-5B17-99EE-41C02F2594D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287" y="2905870"/>
            <a:ext cx="3071205" cy="219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C5B3A060-343C-8E4B-972E-1AFB3D129F8E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" y="2869066"/>
            <a:ext cx="3120163" cy="2233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475D3B-EC9D-8CB1-49FC-4AD35A99C3D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FR" noProof="0" dirty="0"/>
              <a:t>Correction des accidentels</a:t>
            </a:r>
          </a:p>
        </p:txBody>
      </p:sp>
      <p:pic>
        <p:nvPicPr>
          <p:cNvPr id="12294" name="Picture 6" descr="Une image contenant texte, diagramme, capture d’écran, ligne&#10;&#10;Description générée automatiquement">
            <a:extLst>
              <a:ext uri="{FF2B5EF4-FFF2-40B4-BE49-F238E27FC236}">
                <a16:creationId xmlns:a16="http://schemas.microsoft.com/office/drawing/2014/main" id="{1F7A070E-3210-F719-66E7-6A3431F9BC78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3" r="1730"/>
          <a:stretch/>
        </p:blipFill>
        <p:spPr bwMode="auto">
          <a:xfrm>
            <a:off x="3126943" y="2832440"/>
            <a:ext cx="2938463" cy="2233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ce réservé du contenu 2">
                <a:extLst>
                  <a:ext uri="{FF2B5EF4-FFF2-40B4-BE49-F238E27FC236}">
                    <a16:creationId xmlns:a16="http://schemas.microsoft.com/office/drawing/2014/main" id="{F4EE015B-0C21-2DBD-C0D7-80B2A469096B}"/>
                  </a:ext>
                </a:extLst>
              </p:cNvPr>
              <p:cNvSpPr txBox="1">
                <a:spLocks/>
              </p:cNvSpPr>
              <p:nvPr>
                <p:custDataLst>
                  <p:tags r:id="rId5"/>
                </p:custDataLst>
              </p:nvPr>
            </p:nvSpPr>
            <p:spPr>
              <a:xfrm>
                <a:off x="47628" y="795536"/>
                <a:ext cx="9048744" cy="252193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d’un proton spectateur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provenant d'une autre interaction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En modifiant le terme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Δ</m:t>
                    </m:r>
                    <m:sSub>
                      <m:sSubPr>
                        <m:ctrlPr>
                          <a:rPr lang="el-GR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𝑣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dans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𝜒</m:t>
                    </m:r>
                    <m:r>
                      <a:rPr lang="en-US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𝑝𝑖𝑙𝑒𝑢𝑝</m:t>
                    </m:r>
                  </m:oMath>
                </a14:m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 </a:t>
                </a:r>
                <a:endParaRPr lang="fr-FR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Prendre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deux bandes à 15cm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chaque côté.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Coupe sur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χ</a:t>
                </a:r>
                <a:r>
                  <a:rPr lang="en-US" sz="1200" baseline="-250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pileup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à une valeur plus élevée (6) pour avoir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2 fois la statistique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lvl="2"/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contamination des accidentels est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sensible à l'hélicité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(majoritairement </a:t>
                </a:r>
                <a:r>
                  <a:rPr lang="fr-FR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pDVCS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 : </a:t>
                </a: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Impose la sélection d'un électron et d'un photon de haute énergie : événement déjà DVCS</a:t>
                </a: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Section efficace du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pDVCS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plus élevée.</a:t>
                </a: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Nécessité la correction de la contamination accidentelle au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niveau de l'hélicité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</a:t>
                </a:r>
                <a:endParaRPr lang="fr-FR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lvl="1"/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contamination accidentelle est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d'environ 20 %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Impact significatif sur la barre d'erreur pour l'asymétrie. 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Pas de variation de 𝑡.</a:t>
                </a:r>
                <a:endPara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lvl="1"/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lvl="1"/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 xmlns="">
          <p:sp>
            <p:nvSpPr>
              <p:cNvPr id="7" name="Espace réservé du contenu 2">
                <a:extLst>
                  <a:ext uri="{FF2B5EF4-FFF2-40B4-BE49-F238E27FC236}">
                    <a16:creationId xmlns:a16="http://schemas.microsoft.com/office/drawing/2014/main" id="{F4EE015B-0C21-2DBD-C0D7-80B2A4690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47628" y="795536"/>
                <a:ext cx="9048744" cy="2521937"/>
              </a:xfrm>
              <a:prstGeom prst="rect">
                <a:avLst/>
              </a:prstGeom>
              <a:blipFill>
                <a:blip r:embed="rId13"/>
                <a:stretch>
                  <a:fillRect l="-202" t="-7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2B6AAE-8853-3F44-FED2-DDA97DCBFC12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03587A2-B26F-4869-7436-0CE7D7F2EF3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5977" y="4912668"/>
            <a:ext cx="2065363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9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Distribution bleue est multipliée par 7</a:t>
            </a:r>
          </a:p>
        </p:txBody>
      </p:sp>
    </p:spTree>
    <p:extLst>
      <p:ext uri="{BB962C8B-B14F-4D97-AF65-F5344CB8AC3E}">
        <p14:creationId xmlns:p14="http://schemas.microsoft.com/office/powerpoint/2010/main" val="3113116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Une image contenant texte, diagramme, ligne, Parallèle&#10;&#10;Description générée automatiquement">
            <a:extLst>
              <a:ext uri="{FF2B5EF4-FFF2-40B4-BE49-F238E27FC236}">
                <a16:creationId xmlns:a16="http://schemas.microsoft.com/office/drawing/2014/main" id="{F4C5D212-9782-3ACC-71F1-119AF630603B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93" y="3015407"/>
            <a:ext cx="2906565" cy="208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8518AC59-FD9F-459D-6919-D4C7B609B682}"/>
                  </a:ext>
                </a:extLst>
              </p:cNvPr>
              <p:cNvSpPr>
                <a:spLocks noGrp="1"/>
              </p:cNvSpPr>
              <p:nvPr>
                <p:ph type="title"/>
                <p:custDataLst>
                  <p:tags r:id="rId2"/>
                </p:custDataLst>
              </p:nvPr>
            </p:nvSpPr>
            <p:spPr/>
            <p:txBody>
              <a:bodyPr/>
              <a:lstStyle/>
              <a:p>
                <a:r>
                  <a:rPr lang="fr-FR" noProof="0" dirty="0"/>
                  <a:t>Correction du bruit de fond des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noProof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fr-FR" b="1" i="1" noProof="0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fr-FR" noProof="0" dirty="0"/>
                  <a:t> ​</a:t>
                </a:r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8518AC59-FD9F-459D-6919-D4C7B609B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  <p:custDataLst>
                  <p:tags r:id="rId11"/>
                </p:custDataLst>
              </p:nvPr>
            </p:nvSpPr>
            <p:spPr>
              <a:blipFill>
                <a:blip r:embed="rId12"/>
                <a:stretch>
                  <a:fillRect l="-1736" t="-2400" b="-104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70CEAC86-87E4-4DDF-D6E3-E14D3ABABE3F}"/>
                  </a:ext>
                </a:extLst>
              </p:cNvPr>
              <p:cNvSpPr>
                <a:spLocks noGrp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9525" y="720874"/>
                <a:ext cx="6368955" cy="306877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Bruit de fond principal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 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désintégration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l-G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 deux photons mais détection d'un seul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𝑒𝑑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 → 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𝑒</m:t>
                      </m:r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</m:ctrlPr>
                        </m:sSubPr>
                        <m:e>
                          <m:r>
                            <a:rPr lang="fr-FR" sz="1200" b="0" i="1" dirty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  <m:t>𝑝</m:t>
                          </m:r>
                        </m:e>
                        <m:sub>
                          <m:r>
                            <a:rPr lang="fr-FR" sz="1200" b="0" i="1" dirty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el-GR" sz="1200" i="1" dirty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</m:ctrlPr>
                        </m:sSupPr>
                        <m:e>
                          <m:r>
                            <a:rPr lang="el-GR" sz="1200" i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  <m:t>𝜋</m:t>
                          </m:r>
                        </m:e>
                        <m:sup>
                          <m:r>
                            <a:rPr lang="fr-FR" sz="1200" b="0" i="1" dirty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  <m:t>0</m:t>
                          </m:r>
                        </m:sup>
                      </m:sSup>
                      <m:r>
                        <a:rPr lang="el-GR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(</m:t>
                      </m:r>
                      <m:r>
                        <a:rPr lang="en-US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𝑛</m:t>
                      </m:r>
                      <m:r>
                        <a:rPr lang="en-US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) → </m:t>
                      </m:r>
                      <m:r>
                        <a:rPr lang="en-US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𝑒𝑝𝑠</m:t>
                      </m:r>
                      <m:r>
                        <a:rPr lang="el-GR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𝛾𝛾</m:t>
                      </m:r>
                      <m:r>
                        <a:rPr lang="el-GR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(</m:t>
                      </m:r>
                      <m:r>
                        <a:rPr lang="en-US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𝑛</m:t>
                      </m:r>
                      <m:r>
                        <a:rPr lang="en-US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buNone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Utilisation de la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méthode standard de CLAS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simulation Monte-Carlo pour la soustraction.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Notre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La </a:t>
                </a: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simulation Monte-Carlo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144000" lvl="1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Paramétrisation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reproduire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l’espace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des phases des données.</a:t>
                </a:r>
              </a:p>
              <a:p>
                <a:pPr marL="144000" lvl="1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Paramétrisation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impulsion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réaliste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proton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spectateur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800" dirty="0">
                    <a:solidFill>
                      <a:srgbClr val="775C39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C.C. </a:t>
                </a:r>
                <a:r>
                  <a:rPr lang="en-US" sz="800" dirty="0" err="1">
                    <a:solidFill>
                      <a:srgbClr val="775C39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Atti</a:t>
                </a:r>
                <a:r>
                  <a:rPr lang="en-US" sz="800" dirty="0">
                    <a:solidFill>
                      <a:srgbClr val="775C39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al. 1995</a:t>
                </a:r>
                <a:r>
                  <a:rPr lang="it-IT" sz="800" dirty="0">
                    <a:solidFill>
                      <a:srgbClr val="775C39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800" dirty="0">
                    <a:solidFill>
                      <a:srgbClr val="775C39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Phys. Rev. C </a:t>
                </a:r>
                <a:r>
                  <a:rPr lang="en-US" sz="800" b="1" dirty="0">
                    <a:solidFill>
                      <a:srgbClr val="775C39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53</a:t>
                </a:r>
                <a:r>
                  <a:rPr lang="en-US" sz="800" dirty="0">
                    <a:solidFill>
                      <a:srgbClr val="775C39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1689-1710</a:t>
                </a:r>
                <a:endParaRPr lang="fr-FR" sz="1000" dirty="0">
                  <a:solidFill>
                    <a:srgbClr val="775C39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Estimer le rapport entre les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désintégrations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𝒔</m:t>
                        </m:r>
                      </m:sub>
                    </m:sSub>
                    <m:sSup>
                      <m:sSupPr>
                        <m:ctrlP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𝝅</m:t>
                        </m:r>
                      </m:e>
                      <m:sup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𝟎</m:t>
                        </m:r>
                      </m:sup>
                    </m:sSup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𝟏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𝜸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)</m:t>
                    </m:r>
                    <m:r>
                      <a:rPr lang="fr-FR" sz="12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partiellement reconstruites et les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désintégrations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𝒔</m:t>
                        </m:r>
                      </m:sub>
                    </m:sSub>
                    <m:sSup>
                      <m:sSupPr>
                        <m:ctrlP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𝝅</m:t>
                        </m:r>
                      </m:e>
                      <m:sup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𝟎</m:t>
                        </m:r>
                      </m:sup>
                    </m:sSup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𝟐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𝜸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) 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entièrement reconstruites dans la simulation.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Multiplier ce rapport par le nombre de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𝒔</m:t>
                        </m:r>
                      </m:sub>
                    </m:sSub>
                    <m:sSup>
                      <m:sSupPr>
                        <m:ctrlP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𝝅</m:t>
                        </m:r>
                      </m:e>
                      <m:sup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𝟎</m:t>
                        </m:r>
                      </m:sup>
                    </m:sSup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𝟐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𝜸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) </m:t>
                    </m:r>
                  </m:oMath>
                </a14:m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reconstruits dans les données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obtenir le nombre de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𝑒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e>
                      <m:sub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𝑠</m:t>
                        </m:r>
                      </m:sub>
                    </m:sSub>
                    <m:sSup>
                      <m:sSupPr>
                        <m:ctrlPr>
                          <a:rPr lang="el-G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l-G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dPr>
                      <m:e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1</m:t>
                        </m:r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𝛾</m:t>
                        </m:r>
                      </m:e>
                    </m:d>
                    <m:r>
                      <a:rPr lang="fr-FR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partiellement reconstruites dans les données. 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endParaRPr lang="fr-FR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endParaRPr lang="fr-FR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endParaRPr lang="fr-FR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Soustraire ce nombre des désintégrations reconstruites par le DVCS dans les données pour chaque bin.</a:t>
                </a: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 xmlns="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70CEAC86-87E4-4DDF-D6E3-E14D3ABAB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9525" y="720874"/>
                <a:ext cx="6368955" cy="3068779"/>
              </a:xfrm>
              <a:prstGeom prst="rect">
                <a:avLst/>
              </a:prstGeom>
              <a:blipFill>
                <a:blip r:embed="rId14"/>
                <a:stretch>
                  <a:fillRect l="-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8" name="Picture 6">
            <a:extLst>
              <a:ext uri="{FF2B5EF4-FFF2-40B4-BE49-F238E27FC236}">
                <a16:creationId xmlns:a16="http://schemas.microsoft.com/office/drawing/2014/main" id="{C54785F7-85E5-DD10-AE3B-75C2A2599E5C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"/>
          <a:stretch/>
        </p:blipFill>
        <p:spPr bwMode="auto">
          <a:xfrm>
            <a:off x="6410377" y="845332"/>
            <a:ext cx="2724098" cy="208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1DFED02-A113-5AEA-EADC-FFCFD3D292F6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1421" y="3871859"/>
                <a:ext cx="6554641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Ajuste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la contamination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reduire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l’erreur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statistique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Contamination </a:t>
                </a:r>
                <a:r>
                  <a:rPr lang="en-US" sz="1400" dirty="0" err="1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d'environ</a:t>
                </a:r>
                <a:r>
                  <a:rPr lang="en-US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5% : 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Sauf</a:t>
                </a:r>
                <a:r>
                  <a:rPr lang="en-US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dans le cas du bin en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𝑡</m:t>
                    </m:r>
                  </m:oMath>
                </a14:m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 plus </a:t>
                </a:r>
                <a:r>
                  <a:rPr lang="en-US" sz="14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élevé</a:t>
                </a:r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où</a:t>
                </a:r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c’est</a:t>
                </a:r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20%. 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</a:t>
                </a:r>
                <a:r>
                  <a:rPr lang="en-US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 contamination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sz="1400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augmente rapidement avec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𝑡</m:t>
                    </m:r>
                  </m:oMath>
                </a14:m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r>
                  <a:rPr lang="fr-FR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Erreur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 </m:t>
                    </m:r>
                  </m:oMath>
                </a14:m>
                <a:r>
                  <a:rPr lang="fr-FR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 la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 statistique</a:t>
                </a:r>
                <a:r>
                  <a:rPr lang="fr-FR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</a:t>
                </a:r>
                <a14:m>
                  <m:oMath xmlns:m="http://schemas.openxmlformats.org/officeDocument/2006/math">
                    <m:r>
                      <a:rPr lang="fr-FR" sz="1400" b="0" i="0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p>
                      <m:sSupPr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sz="14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entièrement reconstruits dans les données. </a:t>
                </a: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1DFED02-A113-5AEA-EADC-FFCFD3D29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41421" y="3871859"/>
                <a:ext cx="6554641" cy="1169551"/>
              </a:xfrm>
              <a:prstGeom prst="rect">
                <a:avLst/>
              </a:prstGeom>
              <a:blipFill>
                <a:blip r:embed="rId17"/>
                <a:stretch>
                  <a:fillRect l="-279" t="-1563" b="-41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Image 23">
            <a:extLst>
              <a:ext uri="{FF2B5EF4-FFF2-40B4-BE49-F238E27FC236}">
                <a16:creationId xmlns:a16="http://schemas.microsoft.com/office/drawing/2014/main" id="{5CCA6C80-02CE-50F9-5A88-ABA3D757D2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071557" y="2764497"/>
            <a:ext cx="1964291" cy="551899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4069F0E-ACA9-CF26-9709-03EF7A6B72D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926432" y="3529013"/>
            <a:ext cx="2496403" cy="342846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1CD4DAE-4BE9-7636-6125-FB0EAE8C758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975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AE7117C-B26E-46FA-3AAF-77BC9BFD270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21875" y="2105801"/>
            <a:ext cx="4221707" cy="30377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F7136C7-DBE9-147B-48AD-FC906B6DC0D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8"/>
          <a:srcRect l="6918"/>
          <a:stretch/>
        </p:blipFill>
        <p:spPr>
          <a:xfrm>
            <a:off x="168637" y="2242511"/>
            <a:ext cx="3675482" cy="2900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FD2A64D1-EB3F-CF23-00BD-BF6BB077B0B2}"/>
                  </a:ext>
                </a:extLst>
              </p:cNvPr>
              <p:cNvSpPr>
                <a:spLocks noGrp="1"/>
              </p:cNvSpPr>
              <p:nvPr>
                <p:ph type="title"/>
                <p:custDataLst>
                  <p:tags r:id="rId3"/>
                </p:custDataLst>
              </p:nvPr>
            </p:nvSpPr>
            <p:spPr/>
            <p:txBody>
              <a:bodyPr/>
              <a:lstStyle/>
              <a:p>
                <a:r>
                  <a:rPr lang="fr-FR" noProof="0" dirty="0"/>
                  <a:t>Sélection des </a:t>
                </a:r>
                <a:r>
                  <a:rPr lang="fr-FR" noProof="0" dirty="0" err="1"/>
                  <a:t>évenements</a:t>
                </a:r>
                <a:r>
                  <a:rPr lang="fr-FR" noProof="0" dirty="0"/>
                  <a:t> </a:t>
                </a:r>
                <a14:m>
                  <m:oMath xmlns:m="http://schemas.openxmlformats.org/officeDocument/2006/math">
                    <m:r>
                      <a:rPr lang="fr-FR" b="1" i="1" noProof="0" smtClean="0">
                        <a:latin typeface="Cambria Math" panose="02040503050406030204" pitchFamily="18" charset="0"/>
                      </a:rPr>
                      <m:t>𝒆𝒅</m:t>
                    </m:r>
                    <m:r>
                      <a:rPr lang="fr-FR" b="1" i="1" noProof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fr-FR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𝒆</m:t>
                    </m:r>
                    <m:r>
                      <a:rPr lang="fr-FR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  <m:sSub>
                      <m:sSubPr>
                        <m:ctrlPr>
                          <a:rPr lang="fr-FR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fr-FR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fr-FR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endParaRPr lang="fr-FR" noProof="0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FD2A64D1-EB3F-CF23-00BD-BF6BB077B0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  <p:custDataLst>
                  <p:tags r:id="rId9"/>
                </p:custDataLst>
              </p:nvPr>
            </p:nvSpPr>
            <p:spPr>
              <a:blipFill>
                <a:blip r:embed="rId10"/>
                <a:stretch>
                  <a:fillRect l="-1736" t="-4000" b="-88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150959C-E372-E389-E113-78FF2ACF9261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0" y="755962"/>
                <a:ext cx="9144000" cy="1538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de l'événement avec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𝑴𝑴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du système</a:t>
                </a:r>
                <a:r>
                  <a:rPr lang="en-US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𝒆𝒅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→ </m:t>
                    </m:r>
                    <m:r>
                      <a:rPr lang="en-US" b="1" i="1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r>
                      <a:rPr lang="en-US" b="1" i="1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𝜸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𝒔</m:t>
                        </m:r>
                      </m:sub>
                    </m:sSub>
                    <m:r>
                      <a:rPr lang="en-US" b="1" i="1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𝑿</m:t>
                    </m:r>
                  </m:oMath>
                </a14:m>
                <a:r>
                  <a:rPr lang="en-US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égale au carré de la masse du neutron.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</a:p>
              <a:p>
                <a:pPr marL="144000" indent="-1440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Décalage du pic peut s'expliquer par </a:t>
                </a:r>
                <a:r>
                  <a:rPr lang="fr-FR" b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l'erreur sur l'énergie ou l’angle du photon.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Observé sur p-DVCS sur les mêmes données.</a:t>
                </a:r>
                <a:endParaRPr lang="en-US" sz="1200" b="0" i="0" dirty="0">
                  <a:solidFill>
                    <a:srgbClr val="404040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𝑀𝑀</m:t>
                        </m:r>
                      </m:e>
                      <m:sub>
                        <m:r>
                          <a:rPr lang="fr-FR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accidentels est similaire au DVCS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ea typeface="Libertinus Serif" pitchFamily="50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b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peut pas éliminer les accidentels</a:t>
                </a:r>
                <a:r>
                  <a:rPr lang="fr-FR" b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 coupant sur cette masse. 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Dû à la </a:t>
                </a:r>
                <a:r>
                  <a:rPr lang="fr-FR" sz="1200" b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 impulsion du proton spectateur </a:t>
                </a:r>
                <a:r>
                  <a:rPr lang="fr-FR" sz="12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 rapport au neutron manquant.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Après </a:t>
                </a:r>
                <a:r>
                  <a:rPr lang="en-US" dirty="0" err="1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soustraction</a:t>
                </a:r>
                <a:r>
                  <a:rPr lang="en-US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s</m:t>
                    </m:r>
                    <m:r>
                      <a:rPr lang="fr-FR" b="0" i="0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fr-FR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des accidents, </a:t>
                </a:r>
                <a:r>
                  <a:rPr lang="fr-FR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encore du bruit de fond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fr-FR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fr-FR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restant ou autre réaction (DIS).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b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Asymétrie à 90° d'environ 10%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un peu plus </a:t>
                </a:r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que les autres analyses</a:t>
                </a:r>
                <a:r>
                  <a:rPr lang="fr-FR" b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mais</a:t>
                </a:r>
                <a:r>
                  <a:rPr lang="fr-FR" b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compatible.</a:t>
                </a:r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150959C-E372-E389-E113-78FF2ACF9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0" y="755962"/>
                <a:ext cx="9144000" cy="1538883"/>
              </a:xfrm>
              <a:prstGeom prst="rect">
                <a:avLst/>
              </a:prstGeom>
              <a:blipFill>
                <a:blip r:embed="rId11"/>
                <a:stretch>
                  <a:fillRect l="-67" t="-1190" b="-31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EFE7D0-490A-F140-DA96-50FC451BA096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7989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4D8961A1-0DB5-97F6-F768-DD4F68426B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13"/>
          <a:srcRect l="5753"/>
          <a:stretch/>
        </p:blipFill>
        <p:spPr>
          <a:xfrm>
            <a:off x="6103904" y="2923313"/>
            <a:ext cx="2843048" cy="21883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5AC01A5B-FA7C-D951-44A1-B20DB155C6F2}"/>
                  </a:ext>
                </a:extLst>
              </p:cNvPr>
              <p:cNvSpPr>
                <a:spLocks noGrp="1"/>
              </p:cNvSpPr>
              <p:nvPr>
                <p:ph type="title"/>
                <p:custDataLst>
                  <p:tags r:id="rId2"/>
                </p:custDataLst>
              </p:nvPr>
            </p:nvSpPr>
            <p:spPr/>
            <p:txBody>
              <a:bodyPr/>
              <a:lstStyle/>
              <a:p>
                <a:r>
                  <a:rPr lang="fr-FR" noProof="0" dirty="0"/>
                  <a:t>Une nouvelle méthode pour 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noProof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fr-FR" b="1" i="1" noProof="0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fr-FR" noProof="0" dirty="0"/>
                  <a:t> (1/2) ​</a:t>
                </a:r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5AC01A5B-FA7C-D951-44A1-B20DB155C6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  <p:custDataLst>
                  <p:tags r:id="rId14"/>
                </p:custDataLst>
              </p:nvPr>
            </p:nvSpPr>
            <p:spPr>
              <a:blipFill>
                <a:blip r:embed="rId15"/>
                <a:stretch>
                  <a:fillRect l="-1736" t="-2400" b="-104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2">
                <a:extLst>
                  <a:ext uri="{FF2B5EF4-FFF2-40B4-BE49-F238E27FC236}">
                    <a16:creationId xmlns:a16="http://schemas.microsoft.com/office/drawing/2014/main" id="{30D6BE10-857C-FABE-D12C-F65A76A8EA1F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525" y="760490"/>
                <a:ext cx="6084854" cy="3833614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Améliorer la soustraction de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π</a:t>
                </a:r>
                <a:r>
                  <a:rPr lang="en-US" sz="1400" baseline="30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0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une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nouvelle méthode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Au lieu de la masse manquante, nous pouvons calculer une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variable équivalente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∆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/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= (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𝐸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𝛾</m:t>
                        </m:r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,</m:t>
                        </m:r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𝑐𝑎𝑙𝑐</m:t>
                        </m:r>
                      </m:sub>
                    </m:sSub>
                    <m:r>
                      <a:rPr lang="fr-FR" sz="14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−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𝐸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𝛾</m:t>
                        </m:r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,</m:t>
                        </m:r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𝑚𝑒𝑎𝑠</m:t>
                        </m:r>
                      </m:sub>
                    </m:sSub>
                    <m:r>
                      <a:rPr lang="fr-FR" sz="14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)</m:t>
                    </m:r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/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𝐸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𝛾</m:t>
                        </m:r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,</m:t>
                        </m:r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𝑐𝑎𝑙𝑐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 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'erreur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sur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𝑀𝑀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FR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provient de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l'énergie des photons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Utiliser la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résolution du calorimètre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couper au lieu de valeurs arbitraires sur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𝑀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285750" indent="-285750">
                  <a:buFont typeface="Arial"/>
                  <a:buChar char="•"/>
                </a:pP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fr-FR" sz="1600" b="1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Stratégie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mise en œuvre dans la </a:t>
                </a:r>
                <a:r>
                  <a:rPr lang="fr-FR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nouvelle méthode 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Utiliser les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données à grand 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𝒕</m:t>
                    </m:r>
                  </m:oMath>
                </a14:m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modéliser le bruit de fond.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événements</a:t>
                </a:r>
                <a14:m>
                  <m:oMath xmlns:m="http://schemas.openxmlformats.org/officeDocument/2006/math">
                    <m: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avec</m:t>
                    </m:r>
                    <m: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𝑡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𝐷𝑉𝐶𝑆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entre 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0 et 0.4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comme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signal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et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ceux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𝑡</m:t>
                        </m:r>
                      </m:e>
                      <m:sub>
                        <m:r>
                          <a:rPr lang="fr-FR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𝐷𝑉𝐶𝑆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compris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entre 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0.5 et 0.9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comme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bruit de fond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Sur la projection en 𝑥, le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pic du signal est proche de 0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Nous soustrayons le bruit de fond au signal pour obtenir le signal DVCS uniquement.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bruit de fond a grand Δ𝐸/𝐸 est à 0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après la soustraction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forme de l'arrière-plan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correspond au signal</a:t>
                </a:r>
                <a:r>
                  <a:rPr lang="fr-FR" sz="1400" b="1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i="1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près mise à l’échelle.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ZoneTexte 2">
                <a:extLst>
                  <a:ext uri="{FF2B5EF4-FFF2-40B4-BE49-F238E27FC236}">
                    <a16:creationId xmlns:a16="http://schemas.microsoft.com/office/drawing/2014/main" id="{30D6BE10-857C-FABE-D12C-F65A76A8E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9525" y="760490"/>
                <a:ext cx="6084854" cy="3833614"/>
              </a:xfrm>
              <a:prstGeom prst="rect">
                <a:avLst/>
              </a:prstGeom>
              <a:blipFill>
                <a:blip r:embed="rId16"/>
                <a:stretch>
                  <a:fillRect l="-601" t="-477" b="-4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62" name="Picture 2" descr="Une image contenant texte, Police, ligne, diagramme&#10;&#10;Description générée automatiquement">
            <a:extLst>
              <a:ext uri="{FF2B5EF4-FFF2-40B4-BE49-F238E27FC236}">
                <a16:creationId xmlns:a16="http://schemas.microsoft.com/office/drawing/2014/main" id="{A2749503-CBC5-72C8-EADD-AA36C1EF1163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83" y="2148621"/>
            <a:ext cx="2961483" cy="52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Une image contenant text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D827E5B7-42BE-FA93-7D63-312384FBF957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04" b="1"/>
          <a:stretch/>
        </p:blipFill>
        <p:spPr bwMode="auto">
          <a:xfrm>
            <a:off x="5871966" y="852488"/>
            <a:ext cx="3198019" cy="203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D18A49F5-94DA-9C87-B088-541BBD78CBA8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 flipH="1">
            <a:off x="7148579" y="1242070"/>
            <a:ext cx="867206" cy="8005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17">
            <a:extLst>
              <a:ext uri="{FF2B5EF4-FFF2-40B4-BE49-F238E27FC236}">
                <a16:creationId xmlns:a16="http://schemas.microsoft.com/office/drawing/2014/main" id="{53B7DF89-C502-4B53-AACC-0F4A8E4D001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634534" y="965071"/>
            <a:ext cx="976066" cy="276999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background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261396B-9B40-FCA6-001D-A677441EC642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6465009" y="1215193"/>
            <a:ext cx="0" cy="6564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>
            <a:extLst>
              <a:ext uri="{FF2B5EF4-FFF2-40B4-BE49-F238E27FC236}">
                <a16:creationId xmlns:a16="http://schemas.microsoft.com/office/drawing/2014/main" id="{482361CF-4D42-B220-E29D-65FDBD25DE8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34312" y="1854808"/>
            <a:ext cx="461394" cy="46838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>
              <a:latin typeface="Cambria" panose="02040503050406030204" pitchFamily="18" charset="0"/>
            </a:endParaRPr>
          </a:p>
        </p:txBody>
      </p:sp>
      <p:sp>
        <p:nvSpPr>
          <p:cNvPr id="9" name="ZoneTexte 22">
            <a:extLst>
              <a:ext uri="{FF2B5EF4-FFF2-40B4-BE49-F238E27FC236}">
                <a16:creationId xmlns:a16="http://schemas.microsoft.com/office/drawing/2014/main" id="{A6A7CE51-7A5A-842C-3568-1E110067C887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237807" y="961233"/>
            <a:ext cx="543993" cy="26161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1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signal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799CCF93-8F16-924D-2C03-9DB422C899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1480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DDECF4FD-B34C-6447-830A-FA3D63EC7AB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9"/>
          <a:srcRect l="3219"/>
          <a:stretch/>
        </p:blipFill>
        <p:spPr>
          <a:xfrm>
            <a:off x="3088943" y="2673979"/>
            <a:ext cx="3243924" cy="23992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248E6EB8-87E9-B793-82C8-470292719206}"/>
                  </a:ext>
                </a:extLst>
              </p:cNvPr>
              <p:cNvSpPr>
                <a:spLocks noGrp="1"/>
              </p:cNvSpPr>
              <p:nvPr>
                <p:ph type="title"/>
                <p:custDataLst>
                  <p:tags r:id="rId2"/>
                </p:custDataLst>
              </p:nvPr>
            </p:nvSpPr>
            <p:spPr/>
            <p:txBody>
              <a:bodyPr/>
              <a:lstStyle/>
              <a:p>
                <a:r>
                  <a:rPr lang="fr-FR" noProof="0" dirty="0"/>
                  <a:t>Une nouvelle méthode pour 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noProof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fr-FR" b="1" i="1" noProof="0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fr-FR" noProof="0" dirty="0"/>
                  <a:t> (2/2) ​</a:t>
                </a:r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248E6EB8-87E9-B793-82C8-470292719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  <p:custDataLst>
                  <p:tags r:id="rId10"/>
                </p:custDataLst>
              </p:nvPr>
            </p:nvSpPr>
            <p:spPr>
              <a:blipFill>
                <a:blip r:embed="rId11"/>
                <a:stretch>
                  <a:fillRect l="-1736" t="-2400" b="-104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4">
                <a:extLst>
                  <a:ext uri="{FF2B5EF4-FFF2-40B4-BE49-F238E27FC236}">
                    <a16:creationId xmlns:a16="http://schemas.microsoft.com/office/drawing/2014/main" id="{E6BCB0BB-2F71-2A41-DF9C-9B493864FD84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0" y="809216"/>
                <a:ext cx="6070550" cy="1815882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bruit de fond doit être </a:t>
                </a:r>
                <a:r>
                  <a:rPr lang="fr-FR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multiplé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par une constante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correspondre au signal à un grand </a:t>
                </a:r>
                <a:r>
                  <a:rPr lang="en-US" sz="1400" dirty="0"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ΔE/E.</a:t>
                </a:r>
                <a:endParaRPr lang="fr-FR" sz="1400" dirty="0"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Compter le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nombre d'événements </a:t>
                </a: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dans la distribution signal-bruit de fond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entre </a:t>
                </a:r>
                <a14:m>
                  <m:oMath xmlns:m="http://schemas.openxmlformats.org/officeDocument/2006/math">
                    <m:r>
                      <a:rPr lang="fr-FR" sz="1400" b="1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±</m:t>
                    </m:r>
                    <m:r>
                      <a:rPr lang="fr-FR" sz="1400" b="1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𝟐</m:t>
                    </m:r>
                    <m:r>
                      <a:rPr lang="fr-FR" sz="1400" b="1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𝛔</m:t>
                    </m:r>
                  </m:oMath>
                </a14:m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définie par la résolution du calorimètre. </a:t>
                </a: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Appliquer cette méthode pour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chaque bin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 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𝑄</m:t>
                    </m:r>
                    <m:r>
                      <a:rPr lang="fr-FR" sz="1400" i="1" baseline="3000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2</m:t>
                    </m:r>
                    <m:r>
                      <a:rPr lang="fr-FR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 </m:t>
                    </m:r>
                    <m:r>
                      <a:rPr lang="fr-FR" sz="1400" i="1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𝑥</m:t>
                    </m:r>
                    <m:r>
                      <a:rPr lang="fr-FR" sz="14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𝐵</m:t>
                    </m:r>
                    <m:r>
                      <a:rPr lang="fr-FR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 …</m:t>
                    </m:r>
                    <m:r>
                      <m:rPr>
                        <m:nor/>
                      </m:rP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et</m:t>
                    </m:r>
                    <m:r>
                      <a:rPr lang="fr-FR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400" i="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Φ</m:t>
                    </m:r>
                    <m:r>
                      <a:rPr lang="fr-FR" sz="14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h</m:t>
                    </m:r>
                    <m:r>
                      <a:rPr lang="fr-FR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ainsi que pour l'hélicité du faisceau.</a:t>
                </a: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bruit de fond est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intégré sur toutes les variables et l'hélicité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améliorer les statistiques.</a:t>
                </a:r>
              </a:p>
            </p:txBody>
          </p:sp>
        </mc:Choice>
        <mc:Fallback xmlns="">
          <p:sp>
            <p:nvSpPr>
              <p:cNvPr id="4" name="ZoneTexte 4">
                <a:extLst>
                  <a:ext uri="{FF2B5EF4-FFF2-40B4-BE49-F238E27FC236}">
                    <a16:creationId xmlns:a16="http://schemas.microsoft.com/office/drawing/2014/main" id="{E6BCB0BB-2F71-2A41-DF9C-9B493864F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0" y="809216"/>
                <a:ext cx="6070550" cy="1815882"/>
              </a:xfrm>
              <a:prstGeom prst="rect">
                <a:avLst/>
              </a:prstGeom>
              <a:blipFill>
                <a:blip r:embed="rId13"/>
                <a:stretch>
                  <a:fillRect l="-301" t="-1007" b="-20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5">
                <a:extLst>
                  <a:ext uri="{FF2B5EF4-FFF2-40B4-BE49-F238E27FC236}">
                    <a16:creationId xmlns:a16="http://schemas.microsoft.com/office/drawing/2014/main" id="{E9072883-156B-4B6F-BDCE-C69BEB86701C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217826" y="4095474"/>
                <a:ext cx="2711862" cy="646331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fr-FR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𝜗</m:t>
                    </m:r>
                    <m:r>
                      <a:rPr lang="fr-FR" sz="12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r>
                      <a:rPr lang="fr-FR" sz="12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angle polaire entre le photon virtuel et le proton spectateur dans le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referentiel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laboratoire</a:t>
                </a:r>
              </a:p>
            </p:txBody>
          </p:sp>
        </mc:Choice>
        <mc:Fallback xmlns="">
          <p:sp>
            <p:nvSpPr>
              <p:cNvPr id="7" name="ZoneTexte 5">
                <a:extLst>
                  <a:ext uri="{FF2B5EF4-FFF2-40B4-BE49-F238E27FC236}">
                    <a16:creationId xmlns:a16="http://schemas.microsoft.com/office/drawing/2014/main" id="{E9072883-156B-4B6F-BDCE-C69BEB86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6217826" y="4095474"/>
                <a:ext cx="2711862" cy="646331"/>
              </a:xfrm>
              <a:prstGeom prst="rect">
                <a:avLst/>
              </a:prstGeom>
              <a:blipFill>
                <a:blip r:embed="rId17"/>
                <a:stretch>
                  <a:fillRect l="-225" t="-943" b="-66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0C27C8-827F-6A0F-EE7B-69DC40632DC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28</a:t>
            </a:fld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FB8FBC4-ACA7-B7C2-1C32-5B7F0606A23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6416856" y="809216"/>
            <a:ext cx="2614235" cy="217964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8D9BF83-6C13-2E50-86D4-56A6CE1ACAD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-1" y="2788996"/>
            <a:ext cx="3038901" cy="232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04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4B756FF6-C73A-B77B-74C9-D673FDB8AD4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141905" y="2957015"/>
            <a:ext cx="2987233" cy="213206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DC2F6CB-43BC-9699-9D6D-27BF8728D43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-1" y="0"/>
            <a:ext cx="9134475" cy="760490"/>
          </a:xfrm>
        </p:spPr>
        <p:txBody>
          <a:bodyPr/>
          <a:lstStyle/>
          <a:p>
            <a:r>
              <a:rPr lang="fr-FR" noProof="0" dirty="0"/>
              <a:t>Asymétrie at 90°: Comparaison​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A32632F0-B7C2-F467-3623-0FD3D6835A8A}"/>
                  </a:ext>
                </a:extLst>
              </p:cNvPr>
              <p:cNvSpPr txBox="1">
                <a:spLocks/>
              </p:cNvSpPr>
              <p:nvPr>
                <p:custDataLst>
                  <p:tags r:id="rId3"/>
                </p:custDataLst>
              </p:nvPr>
            </p:nvSpPr>
            <p:spPr>
              <a:xfrm>
                <a:off x="-1" y="718980"/>
                <a:ext cx="9144001" cy="252193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Extraire </a:t>
                </a:r>
                <a:r>
                  <a:rPr lang="en-US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l'asymétrie</a:t>
                </a:r>
                <a:r>
                  <a:rPr lang="en-US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90°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d'un ajustement après la correction</a:t>
                </a:r>
                <a14:m>
                  <m:oMath xmlns:m="http://schemas.openxmlformats.org/officeDocument/2006/math">
                    <m:r>
                      <a:rPr lang="fr-FR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des </a:t>
                </a:r>
                <a:r>
                  <a:rPr lang="en-US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accidentels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les deux </a:t>
                </a:r>
                <a:r>
                  <a:rPr lang="en-US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méthodes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Access à </a:t>
                </a:r>
                <a:r>
                  <a:rPr lang="en-US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deux nouvelles variables</a:t>
                </a:r>
                <a14:m>
                  <m:oMath xmlns:m="http://schemas.openxmlformats.org/officeDocument/2006/math">
                    <m:r>
                      <a:rPr lang="fr-FR" b="1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b>
                      <m:sSubPr>
                        <m:ctrlPr>
                          <a:rPr lang="fr-FR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𝝑</m:t>
                        </m:r>
                      </m:e>
                      <m:sub>
                        <m:r>
                          <a:rPr lang="fr-FR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𝜸</m:t>
                        </m:r>
                        <m:r>
                          <a:rPr lang="fr-FR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et</a:t>
                </a:r>
                <a:r>
                  <a:rPr lang="en-US" b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qui ne sont accessibles que par </a:t>
                </a:r>
                <a:r>
                  <a:rPr lang="en-US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tagging.</a:t>
                </a:r>
                <a:endParaRPr lang="en-US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r>
                  <a:rPr lang="fr-FR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barres d'erreur sont des statistiques + corrections.</a:t>
                </a:r>
              </a:p>
              <a:p>
                <a:pPr marL="742950" lvl="5" indent="-1440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deux méthodes donnent des </a:t>
                </a:r>
                <a:r>
                  <a:rPr lang="fr-FR" b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résultats différents</a:t>
                </a:r>
                <a:r>
                  <a:rPr lang="fr-FR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:endParaRPr lang="en-US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Nouvelle méthode donne une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asymétrie plus élevée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partout (peut provenir de l'asymétrie dans le grand 𝑡).</a:t>
                </a: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Asymétrie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</a:t>
                </a:r>
                <a14:m>
                  <m:oMath xmlns:m="http://schemas.openxmlformats.org/officeDocument/2006/math">
                    <m:r>
                      <a:rPr lang="fr-FR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𝜗</m:t>
                    </m:r>
                    <m:r>
                      <a:rPr lang="fr-FR" sz="12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r>
                      <a:rPr lang="fr-FR" sz="12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</m:t>
                    </m:r>
                  </m:oMath>
                </a14:m>
                <a:r>
                  <a:rPr lang="en-US" sz="1200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= 90° plus </a:t>
                </a:r>
                <a:r>
                  <a:rPr lang="en-US" sz="1200" b="0" i="0" dirty="0" err="1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</a:t>
                </a:r>
                <a:r>
                  <a:rPr lang="en-US" sz="1200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où l'on s'attend à ce que la FSI soit élevée. Les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effets nucléaires pourraient réduire l'asymétrie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Nécessite plus d’étude pour comprendre cette différence.</a:t>
                </a: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asymétries à 90°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d’environ 15%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des erreurs entre 10 et 20%.</a:t>
                </a: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Compatible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les asymétries trouvées par A. Hobart et S.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Niccolai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A32632F0-B7C2-F467-3623-0FD3D6835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-1" y="718980"/>
                <a:ext cx="9144001" cy="2521937"/>
              </a:xfrm>
              <a:prstGeom prst="rect">
                <a:avLst/>
              </a:prstGeom>
              <a:blipFill>
                <a:blip r:embed="rId9"/>
                <a:stretch>
                  <a:fillRect l="-67" t="-7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52B32A-828E-26C5-ECAD-0A9731794E3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29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C748B9-35B2-15E0-3E2C-869129AF996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009" y="2912984"/>
            <a:ext cx="3101078" cy="220575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46C48C1-69D8-8351-F20E-58431E6412C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097477" y="2957015"/>
            <a:ext cx="3029566" cy="216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58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C5BE9-5253-1E78-0263-CB0ED0B8BD9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2">
                <a:extLst>
                  <a:ext uri="{FF2B5EF4-FFF2-40B4-BE49-F238E27FC236}">
                    <a16:creationId xmlns:a16="http://schemas.microsoft.com/office/drawing/2014/main" id="{6C1FCCAE-7318-5FE4-87DE-F4095BF082EC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2829" y="837062"/>
                <a:ext cx="8973543" cy="4278094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Développer un </a:t>
                </a:r>
                <a:r>
                  <a:rPr lang="en-US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filtre</a:t>
                </a:r>
                <a:r>
                  <a:rPr lang="en-US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Kalman </a:t>
                </a:r>
                <a:r>
                  <a:rPr lang="en-US" sz="16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étendu</a:t>
                </a:r>
                <a:r>
                  <a:rPr lang="en-US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Objectif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reconstruire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les protons de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basse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impulsion</a:t>
                </a:r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Prise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compte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2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l’énergie</a:t>
                </a: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déposée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sa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fluctuation.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Amélioration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importante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la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résolution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l’impulsion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sur la simulation et les données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élastiques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test.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Particulièrement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notable sur les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impulsions.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Peu de modification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sur les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autres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variables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𝜙</m:t>
                    </m:r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,</m:t>
                    </m:r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𝜃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𝑣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endParaRPr lang="fr-FR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fr-FR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Première analyse de DVCS sur le neutron avec proton spectateur étiqueté </a:t>
                </a:r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 	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Trouver </a:t>
                </a:r>
                <a:r>
                  <a:rPr lang="fr-FR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nDVCS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proton spectateur étiqueté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dans les données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Expérience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statistique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Extraire l'asymétrie à 90° pour </a:t>
                </a:r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deux nouvelles variables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qui ne sont accessibles que par le 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tagging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400" b="1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𝛝</m:t>
                    </m:r>
                    <m:r>
                      <a:rPr lang="en-US" sz="1400" b="1" i="0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𝛄</m:t>
                    </m:r>
                    <m:r>
                      <a:rPr lang="en-US" sz="1400" b="1" i="0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𝐩</m:t>
                    </m:r>
                  </m:oMath>
                </a14:m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et </a:t>
                </a:r>
                <a14:m>
                  <m:oMath xmlns:m="http://schemas.openxmlformats.org/officeDocument/2006/math">
                    <m:r>
                      <a:rPr lang="en-US" sz="1400" b="1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𝐩</m:t>
                    </m:r>
                    <m:r>
                      <a:rPr lang="en-US" sz="1400" b="1" i="0" baseline="-25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𝐬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 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Correction de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l'asymétrie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accidentels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les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𝝅</m:t>
                    </m:r>
                    <m:r>
                      <a:rPr lang="en-US" sz="1400" b="1" i="1" baseline="30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𝟎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 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Probleme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le bruit de fond des π</a:t>
                </a:r>
                <a:r>
                  <a:rPr lang="en-US" sz="1200" baseline="30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0 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la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méthode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standard de CLAS pour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données.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Test d'une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nouvelle méthode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corriger le bruit de fond en utilisant les données à 𝑡 élevé. 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Résultats : 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Deux méthodes donnant des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résultats différents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une asymétrie plus élevée.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Asymétries des deux méthodes de 10% environ avec des larges erreurs, compatibles avec l’analyse de A. Hobart.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Variation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𝜗</m:t>
                    </m:r>
                    <m:r>
                      <a:rPr lang="en-US" sz="12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r>
                      <a:rPr lang="en-US" sz="12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</m:t>
                    </m:r>
                  </m:oMath>
                </a14:m>
                <a:r>
                  <a:rPr lang="en-US" sz="1200" baseline="-25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</m:t>
                    </m:r>
                    <m:r>
                      <a:rPr lang="en-US" sz="12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𝑠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</a:t>
                </a:r>
                <a:r>
                  <a:rPr lang="fr-FR" sz="12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effets nucléaires semblent avoir un impact sur l'asymétrie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ZoneTexte 2">
                <a:extLst>
                  <a:ext uri="{FF2B5EF4-FFF2-40B4-BE49-F238E27FC236}">
                    <a16:creationId xmlns:a16="http://schemas.microsoft.com/office/drawing/2014/main" id="{6C1FCCAE-7318-5FE4-87DE-F4095BF08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22829" y="837062"/>
                <a:ext cx="8973543" cy="4278094"/>
              </a:xfrm>
              <a:prstGeom prst="rect">
                <a:avLst/>
              </a:prstGeom>
              <a:blipFill>
                <a:blip r:embed="rId5"/>
                <a:stretch>
                  <a:fillRect l="-340" t="-57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FD607F6-795A-A536-C766-AB05E444067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2839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5E9122-96F7-5BB0-6BD1-C91EB169546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C4240A1-0CB7-681A-9FA2-C57F34BB950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31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E0FF774-2A34-B916-65FB-469462E72C58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72658" y="1326922"/>
                <a:ext cx="8789158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fr-FR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Prochaines étapes pour l’analyse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Prise en compte des erreurs systématiques.</a:t>
                </a: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Plus de contrôle sur la deuxième méthode.</a:t>
                </a:r>
              </a:p>
              <a:p>
                <a:pPr marL="360000" lvl="4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Mieux comprendre la différence entre les deux méthodes.</a:t>
                </a:r>
              </a:p>
              <a:p>
                <a:pPr marL="360000" lvl="4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Comprendre les asymétries à grand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𝑡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4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Ordre des corrections pour la deuxième méthode.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Préparer une note d’analyse pour la collaboration CLAS.</a:t>
                </a:r>
              </a:p>
              <a:p>
                <a:pPr marL="0" lvl="1"/>
                <a:endParaRPr lang="fr-FR" sz="1600" b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lvl="1"/>
                <a:r>
                  <a:rPr lang="fr-FR" sz="16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Futur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Nouvelle expérience DVCS avec étiquetage : ALERT prévue en septembre 2024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un détecteur pour le photon à petit angle (FT)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meilleure statistique.</a:t>
                </a: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Autres expériences avec étiquetage : </a:t>
                </a:r>
              </a:p>
              <a:p>
                <a:pPr marL="360000" lvl="3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Electron Ion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collider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(EIC) avec la partie « Far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Forward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»</a:t>
                </a:r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E0FF774-2A34-B916-65FB-469462E72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172658" y="1326922"/>
                <a:ext cx="8789158" cy="2862322"/>
              </a:xfrm>
              <a:prstGeom prst="rect">
                <a:avLst/>
              </a:prstGeom>
              <a:blipFill>
                <a:blip r:embed="rId5"/>
                <a:stretch>
                  <a:fillRect l="-347" t="-8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1413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2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13263" y="1210921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Merci!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85;p52">
            <a:extLst>
              <a:ext uri="{FF2B5EF4-FFF2-40B4-BE49-F238E27FC236}">
                <a16:creationId xmlns:a16="http://schemas.microsoft.com/office/drawing/2014/main" id="{00205F9F-3500-9A71-80FC-2564C3886E9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13263" y="1210921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6000" b="1" i="0" u="none" strike="noStrike" cap="none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fr-FR" dirty="0">
                <a:solidFill>
                  <a:schemeClr val="bg1">
                    <a:lumMod val="25000"/>
                  </a:schemeClr>
                </a:solidFill>
                <a:cs typeface="Libertinus Serif" pitchFamily="50" charset="0"/>
              </a:rPr>
              <a:t>Back-up</a:t>
            </a:r>
          </a:p>
        </p:txBody>
      </p:sp>
    </p:spTree>
    <p:extLst>
      <p:ext uri="{BB962C8B-B14F-4D97-AF65-F5344CB8AC3E}">
        <p14:creationId xmlns:p14="http://schemas.microsoft.com/office/powerpoint/2010/main" val="22968040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C5BE9-5253-1E78-0263-CB0ED0B8BD9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Filtre de Kalman, élastique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FD607F6-795A-A536-C766-AB05E444067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34</a:t>
            </a:fld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53DB8ED-BD2B-AC4A-7886-BD9A2F7EEB9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68156" y="829111"/>
            <a:ext cx="2944118" cy="209834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1C4A133-24B0-8D16-40E9-3A4270D0E68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240009" y="829111"/>
            <a:ext cx="2964522" cy="209834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73BE62F-611E-8537-AC3F-FD585F81721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46208" y="3000605"/>
            <a:ext cx="2966066" cy="209834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4DB1A6F-1474-C21B-17AE-88F16108B59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240375" y="3000605"/>
            <a:ext cx="2964156" cy="209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28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4824FF-6C47-7B44-2308-54C53C300F0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Filtre de Kalman, échec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7833225-E51C-5233-FA1A-C87833232CB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35</a:t>
            </a:fld>
            <a:endParaRPr lang="fr-FR" dirty="0"/>
          </a:p>
        </p:txBody>
      </p:sp>
      <p:pic>
        <p:nvPicPr>
          <p:cNvPr id="5" name="Image 4" descr="Une image contenant texte, diagramme, capture d’écran, Tracé&#10;&#10;Description générée automatiquement">
            <a:extLst>
              <a:ext uri="{FF2B5EF4-FFF2-40B4-BE49-F238E27FC236}">
                <a16:creationId xmlns:a16="http://schemas.microsoft.com/office/drawing/2014/main" id="{959516DC-86BC-C603-39D4-2C0D6E6F684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70800" y="1417623"/>
            <a:ext cx="3623834" cy="2909816"/>
          </a:xfrm>
          <a:prstGeom prst="rect">
            <a:avLst/>
          </a:prstGeom>
        </p:spPr>
      </p:pic>
      <p:pic>
        <p:nvPicPr>
          <p:cNvPr id="7" name="Image 6" descr="Une image contenant texte, diagramme, capture d’écran, Tracé&#10;&#10;Description générée automatiquement">
            <a:extLst>
              <a:ext uri="{FF2B5EF4-FFF2-40B4-BE49-F238E27FC236}">
                <a16:creationId xmlns:a16="http://schemas.microsoft.com/office/drawing/2014/main" id="{B2963699-E666-A0A1-5A08-246832DA73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140657" y="1418476"/>
            <a:ext cx="3675935" cy="295165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2E5422E-E2F4-4E0E-990B-620D4BBFB4E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1886" y="877048"/>
            <a:ext cx="5245290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Toutes les traces à 11 </a:t>
            </a:r>
            <a:r>
              <a:rPr lang="fr-FR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GeV</a:t>
            </a: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77476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5CA95E-E955-BD50-57F4-48722733384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Sélection de l’électron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FB13D99-9D7D-B009-BD28-0B33474CE7A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36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3052B5-538A-B772-5982-6B12942949C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30160" y="769609"/>
            <a:ext cx="3183438" cy="20881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25C701B-DDED-825D-90F1-A4EA2B1B262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30160" y="2844070"/>
            <a:ext cx="3183438" cy="226819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FA6DF1D-8CDA-0686-429B-631CD9ADF59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042751" y="2973842"/>
            <a:ext cx="3008645" cy="213842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8E6765F-92A8-E7DF-3014-0706B1627FB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042750" y="775572"/>
            <a:ext cx="2954837" cy="213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996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87C1FA-36F0-1CD8-B425-994DC7A3F38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Sélection du photon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7A68CE6-6977-75DB-40FC-E8F3A4C1990D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37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B22693-6889-A046-2537-E2AADF8D8D7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6"/>
          <a:srcRect l="6003"/>
          <a:stretch/>
        </p:blipFill>
        <p:spPr>
          <a:xfrm>
            <a:off x="359866" y="1355677"/>
            <a:ext cx="3843644" cy="295655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3099C79-17E3-124C-3402-222FD95D767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67237" y="1355677"/>
            <a:ext cx="4280586" cy="307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97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C26A7CC3-AB61-CD39-6B9B-E606B52E46CE}"/>
                  </a:ext>
                </a:extLst>
              </p:cNvPr>
              <p:cNvSpPr>
                <a:spLocks noGrp="1"/>
              </p:cNvSpPr>
              <p:nvPr>
                <p:ph type="title"/>
                <p:custDataLst>
                  <p:tags r:id="rId1"/>
                </p:custDataLst>
              </p:nvPr>
            </p:nvSpPr>
            <p:spPr/>
            <p:txBody>
              <a:bodyPr/>
              <a:lstStyle/>
              <a:p>
                <a:r>
                  <a:rPr lang="fr-FR" dirty="0"/>
                  <a:t>Corrélation </a:t>
                </a:r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C26A7CC3-AB61-CD39-6B9B-E606B52E46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  <p:custDataLst>
                  <p:tags r:id="rId1"/>
                </p:custDataLst>
              </p:nvPr>
            </p:nvSpPr>
            <p:spPr>
              <a:blipFill>
                <a:blip r:embed="rId6"/>
                <a:stretch>
                  <a:fillRect l="-1736" t="-4000" b="-88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53F673D-3B05-3359-0112-3F3700D5593A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38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58F827-5627-1617-C834-75DCE7B7785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37607" y="1451211"/>
            <a:ext cx="4307014" cy="302543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C27A33F-AA1C-34F8-554B-0A24C72A6A3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67237" y="1620442"/>
            <a:ext cx="4307014" cy="284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86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58EC4231-490B-3F73-D0D3-35B041191569}"/>
                  </a:ext>
                </a:extLst>
              </p:cNvPr>
              <p:cNvSpPr>
                <a:spLocks noGrp="1"/>
              </p:cNvSpPr>
              <p:nvPr>
                <p:ph type="title"/>
                <p:custDataLst>
                  <p:tags r:id="rId1"/>
                </p:custDataLst>
              </p:nvPr>
            </p:nvSpPr>
            <p:spPr/>
            <p:txBody>
              <a:bodyPr/>
              <a:lstStyle/>
              <a:p>
                <a:r>
                  <a:rPr lang="fr-FR" dirty="0"/>
                  <a:t>Masse manquante </a:t>
                </a:r>
                <a:r>
                  <a:rPr lang="fr-FR" b="1" dirty="0">
                    <a:solidFill>
                      <a:srgbClr val="DDDDDD"/>
                    </a:solidFill>
                  </a:rPr>
                  <a:t>du système</a:t>
                </a:r>
                <a:r>
                  <a:rPr lang="en-US" b="1" dirty="0">
                    <a:solidFill>
                      <a:srgbClr val="DDDDDD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DDDDDD"/>
                        </a:solidFill>
                        <a:latin typeface="Cambria Math" panose="02040503050406030204" pitchFamily="18" charset="0"/>
                        <a:ea typeface="Libertinus Serif" pitchFamily="50" charset="0"/>
                      </a:rPr>
                      <m:t>𝒆𝒅</m:t>
                    </m:r>
                    <m:r>
                      <a:rPr lang="en-US" b="1" i="1" dirty="0" smtClean="0">
                        <a:solidFill>
                          <a:srgbClr val="DDDDDD"/>
                        </a:solidFill>
                        <a:latin typeface="Cambria Math" panose="02040503050406030204" pitchFamily="18" charset="0"/>
                        <a:ea typeface="Libertinus Serif" pitchFamily="50" charset="0"/>
                      </a:rPr>
                      <m:t>→</m:t>
                    </m:r>
                    <m:r>
                      <a:rPr lang="en-US" b="1" i="1" dirty="0" err="1">
                        <a:solidFill>
                          <a:srgbClr val="DDDDDD"/>
                        </a:solidFill>
                        <a:latin typeface="Cambria Math" panose="02040503050406030204" pitchFamily="18" charset="0"/>
                        <a:ea typeface="Libertinus Serif" pitchFamily="50" charset="0"/>
                      </a:rPr>
                      <m:t>𝒆</m:t>
                    </m:r>
                    <m:r>
                      <a:rPr lang="en-US" b="1" i="1" dirty="0" err="1">
                        <a:solidFill>
                          <a:srgbClr val="DDDDDD"/>
                        </a:solidFill>
                        <a:latin typeface="Cambria Math" panose="02040503050406030204" pitchFamily="18" charset="0"/>
                        <a:ea typeface="Libertinus Serif" pitchFamily="50" charset="0"/>
                      </a:rPr>
                      <m:t>𝜸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DDDDDD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solidFill>
                              <a:srgbClr val="DDDDDD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b="1" i="1" dirty="0" smtClean="0">
                            <a:solidFill>
                              <a:srgbClr val="DDDDDD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</a:rPr>
                          <m:t>𝒔</m:t>
                        </m:r>
                      </m:sub>
                    </m:sSub>
                    <m:r>
                      <a:rPr lang="en-US" b="1" i="1" dirty="0" err="1">
                        <a:solidFill>
                          <a:srgbClr val="DDDDDD"/>
                        </a:solidFill>
                        <a:latin typeface="Cambria Math" panose="02040503050406030204" pitchFamily="18" charset="0"/>
                        <a:ea typeface="Libertinus Serif" pitchFamily="50" charset="0"/>
                      </a:rPr>
                      <m:t>𝑿</m:t>
                    </m:r>
                  </m:oMath>
                </a14:m>
                <a:r>
                  <a:rPr lang="fr-FR" dirty="0">
                    <a:solidFill>
                      <a:srgbClr val="DDDDDD"/>
                    </a:solidFill>
                  </a:rPr>
                  <a:t> </a:t>
                </a:r>
                <a:endParaRPr lang="fr-FR" dirty="0"/>
              </a:p>
            </p:txBody>
          </p:sp>
        </mc:Choice>
        <mc:Fallback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58EC4231-490B-3F73-D0D3-35B0411915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  <p:custDataLst>
                  <p:tags r:id="rId1"/>
                </p:custDataLst>
              </p:nvPr>
            </p:nvSpPr>
            <p:spPr>
              <a:blipFill>
                <a:blip r:embed="rId10"/>
                <a:stretch>
                  <a:fillRect l="-1736" t="-4000" b="-88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376E947-0871-E59D-BC6C-10FC51D74D9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39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F5B540-4331-D22E-47E9-12A4E56872E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1"/>
          <a:srcRect l="4676"/>
          <a:stretch/>
        </p:blipFill>
        <p:spPr>
          <a:xfrm>
            <a:off x="436728" y="1599437"/>
            <a:ext cx="3568211" cy="26979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043D9E5-7D33-54DB-373D-4678BF38BE3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178757" y="755961"/>
            <a:ext cx="2937112" cy="211399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5884666-0E75-E5FD-F234-AA96AF06E3A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178757" y="2902423"/>
            <a:ext cx="3068026" cy="219742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4715955-909C-758E-B5BA-62004B64DB5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572657" y="1087272"/>
            <a:ext cx="1337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</a:rPr>
              <a:t>Méthode standard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A00E6A-03D7-E619-95E6-153017D57DF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669846" y="3233733"/>
            <a:ext cx="1337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</a:rPr>
              <a:t>Méthode nouvelle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3C1BCE1-E31E-1053-3F78-701C9600C0E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83352" y="1971315"/>
            <a:ext cx="1337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</a:rPr>
              <a:t>proton</a:t>
            </a:r>
          </a:p>
        </p:txBody>
      </p:sp>
    </p:spTree>
    <p:extLst>
      <p:ext uri="{BB962C8B-B14F-4D97-AF65-F5344CB8AC3E}">
        <p14:creationId xmlns:p14="http://schemas.microsoft.com/office/powerpoint/2010/main" val="39606284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heme/theme1.xml><?xml version="1.0" encoding="utf-8"?>
<a:theme xmlns:a="http://schemas.openxmlformats.org/drawingml/2006/main" name="Public Health Ethics - Master of Public Health by Slidesgo">
  <a:themeElements>
    <a:clrScheme name="Simple Light">
      <a:dk1>
        <a:srgbClr val="2E2E2E"/>
      </a:dk1>
      <a:lt1>
        <a:srgbClr val="F5F5F5"/>
      </a:lt1>
      <a:dk2>
        <a:srgbClr val="265CE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5138</TotalTime>
  <Words>4689</Words>
  <Application>Microsoft Office PowerPoint</Application>
  <PresentationFormat>Affichage à l'écran (16:9)</PresentationFormat>
  <Paragraphs>560</Paragraphs>
  <Slides>39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8" baseType="lpstr">
      <vt:lpstr>Libertinus Serif</vt:lpstr>
      <vt:lpstr>Cambria Math</vt:lpstr>
      <vt:lpstr>Arial</vt:lpstr>
      <vt:lpstr>Cambria</vt:lpstr>
      <vt:lpstr>Archivo</vt:lpstr>
      <vt:lpstr>Times New Roman</vt:lpstr>
      <vt:lpstr>Lato</vt:lpstr>
      <vt:lpstr>Arial,Sans-Serif</vt:lpstr>
      <vt:lpstr>Public Health Ethics - Master of Public Health by Slidesgo</vt:lpstr>
      <vt:lpstr>Diffusion Compton profondément virtuelle avec l'expérience CLAS12 au laboratoire Jefferson (USA)</vt:lpstr>
      <vt:lpstr>Résumé</vt:lpstr>
      <vt:lpstr>Zoologie des fonctions de partons</vt:lpstr>
      <vt:lpstr>Distribution généralisée des partons</vt:lpstr>
      <vt:lpstr>Que pouvons-nous apprendre des GPD ?</vt:lpstr>
      <vt:lpstr>Processus exclusif pour accéder aux GPD​</vt:lpstr>
      <vt:lpstr>Accéder aux GPD au travers du DVCS : ​</vt:lpstr>
      <vt:lpstr>Facteurs de Forme de Compton pour le DVCS​</vt:lpstr>
      <vt:lpstr>Différentes observables pour le DVCS​</vt:lpstr>
      <vt:lpstr>Différentes observables pour le DVCS​</vt:lpstr>
      <vt:lpstr>DVCS sur une cible de deuterium​</vt:lpstr>
      <vt:lpstr>DVCS sur une cible de deuterium​</vt:lpstr>
      <vt:lpstr>DVCS sur une cible de deuterium​</vt:lpstr>
      <vt:lpstr>BONuS12 à CLAS12​</vt:lpstr>
      <vt:lpstr>La RTPC BONuS12 ​</vt:lpstr>
      <vt:lpstr>Introduction au tagging</vt:lpstr>
      <vt:lpstr>Théorie du filtre de Kalman</vt:lpstr>
      <vt:lpstr>Théorie du filtre de Kalman</vt:lpstr>
      <vt:lpstr>Implémentation d’un filtre de Kalman pour BONuS12​</vt:lpstr>
      <vt:lpstr>Canal et observable</vt:lpstr>
      <vt:lpstr>Identification des particules (1/2) </vt:lpstr>
      <vt:lpstr>Identification des particules (2/2) </vt:lpstr>
      <vt:lpstr>Domaine cinématique</vt:lpstr>
      <vt:lpstr>Correction des accidentels</vt:lpstr>
      <vt:lpstr>Correction du bruit de fond des π^0 ​</vt:lpstr>
      <vt:lpstr>Sélection des évenements ed →eγp_s X</vt:lpstr>
      <vt:lpstr>Une nouvelle méthode pour les π^0 (1/2) ​</vt:lpstr>
      <vt:lpstr>Une nouvelle méthode pour les π^0 (2/2) ​</vt:lpstr>
      <vt:lpstr>Asymétrie at 90°: Comparaison​</vt:lpstr>
      <vt:lpstr>Conclusion</vt:lpstr>
      <vt:lpstr>Perspectives</vt:lpstr>
      <vt:lpstr>Merci!</vt:lpstr>
      <vt:lpstr>Présentation PowerPoint</vt:lpstr>
      <vt:lpstr>Filtre de Kalman, élastique</vt:lpstr>
      <vt:lpstr>Filtre de Kalman, échec</vt:lpstr>
      <vt:lpstr>Sélection de l’électron</vt:lpstr>
      <vt:lpstr>Sélection du photon</vt:lpstr>
      <vt:lpstr>Corrélation t</vt:lpstr>
      <vt:lpstr>Masse manquante du système ed→eγp_s X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Health Ethics - Master of Public Health</dc:title>
  <dc:creator>Mathieu Ouillon</dc:creator>
  <cp:lastModifiedBy>Mathieu Ouillon</cp:lastModifiedBy>
  <cp:revision>92</cp:revision>
  <dcterms:modified xsi:type="dcterms:W3CDTF">2024-04-04T16:03:25Z</dcterms:modified>
</cp:coreProperties>
</file>