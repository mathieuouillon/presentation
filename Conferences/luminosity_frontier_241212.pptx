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Nunito"/>
      <p:regular r:id="rId19"/>
      <p:bold r:id="rId20"/>
      <p:italic r:id="rId21"/>
      <p:boldItalic r:id="rId22"/>
    </p:embeddedFont>
    <p:embeddedFont>
      <p:font typeface="Nunito Medium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.fntdata"/><Relationship Id="rId22" Type="http://schemas.openxmlformats.org/officeDocument/2006/relationships/font" Target="fonts/Nunito-boldItalic.fntdata"/><Relationship Id="rId21" Type="http://schemas.openxmlformats.org/officeDocument/2006/relationships/font" Target="fonts/Nunito-italic.fntdata"/><Relationship Id="rId24" Type="http://schemas.openxmlformats.org/officeDocument/2006/relationships/font" Target="fonts/NunitoMedium-bold.fntdata"/><Relationship Id="rId23" Type="http://schemas.openxmlformats.org/officeDocument/2006/relationships/font" Target="fonts/Nunito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NunitoMedium-boldItalic.fntdata"/><Relationship Id="rId25" Type="http://schemas.openxmlformats.org/officeDocument/2006/relationships/font" Target="fonts/NunitoMedium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Nunito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19d947e7c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19d947e7c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1b7a018f9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1b7a018f9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b7a018f91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b7a018f91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1b7a018f91_0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1b7a018f91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b7a018f91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b7a018f91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1b7a018f91_0_1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1b7a018f91_0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1b7a018f91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1b7a018f91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b7a018f91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b7a018f91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1b7a018f91_0_2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1b7a018f91_0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1c5270a62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1c5270a62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1de26f55db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1de26f55d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b7a018f91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1b7a018f91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0" y="7034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200"/>
              <a:buFont typeface="Nunito"/>
              <a:buNone/>
              <a:defRPr sz="5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484200"/>
            <a:ext cx="6412200" cy="647400"/>
          </a:xfrm>
          <a:prstGeom prst="rect">
            <a:avLst/>
          </a:prstGeom>
          <a:solidFill>
            <a:srgbClr val="B6D7A8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/>
        </p:nvSpPr>
        <p:spPr>
          <a:xfrm>
            <a:off x="0" y="0"/>
            <a:ext cx="9144000" cy="647400"/>
          </a:xfrm>
          <a:prstGeom prst="rect">
            <a:avLst/>
          </a:prstGeom>
          <a:solidFill>
            <a:srgbClr val="B6D7A8"/>
          </a:solidFill>
          <a:ln cap="flat" cmpd="sng" w="9525">
            <a:solidFill>
              <a:srgbClr val="B6D7A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500"/>
              <a:buFont typeface="Nunito Medium"/>
              <a:buNone/>
              <a:defRPr sz="25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●"/>
              <a:defRPr>
                <a:latin typeface="Nunito Medium"/>
                <a:ea typeface="Nunito Medium"/>
                <a:cs typeface="Nunito Medium"/>
                <a:sym typeface="Nunito Medium"/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○"/>
              <a:defRPr>
                <a:latin typeface="Nunito Medium"/>
                <a:ea typeface="Nunito Medium"/>
                <a:cs typeface="Nunito Medium"/>
                <a:sym typeface="Nunito Medium"/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Font typeface="Nunito Medium"/>
              <a:buChar char="■"/>
              <a:defRPr>
                <a:latin typeface="Nunito Medium"/>
                <a:ea typeface="Nunito Medium"/>
                <a:cs typeface="Nunito Medium"/>
                <a:sym typeface="Nunito Medium"/>
              </a:defRPr>
            </a:lvl9pPr>
          </a:lstStyle>
          <a:p/>
        </p:txBody>
      </p:sp>
      <p:sp>
        <p:nvSpPr>
          <p:cNvPr id="20" name="Google Shape;20;p4"/>
          <p:cNvSpPr/>
          <p:nvPr/>
        </p:nvSpPr>
        <p:spPr>
          <a:xfrm rot="-5400000">
            <a:off x="8447400" y="-49200"/>
            <a:ext cx="647400" cy="745800"/>
          </a:xfrm>
          <a:prstGeom prst="round2SameRect">
            <a:avLst>
              <a:gd fmla="val 16667" name="adj1"/>
              <a:gd fmla="val 0" name="adj2"/>
            </a:avLst>
          </a:prstGeom>
          <a:solidFill>
            <a:srgbClr val="6AA84F"/>
          </a:solidFill>
          <a:ln cap="flat" cmpd="sng" w="9525">
            <a:solidFill>
              <a:srgbClr val="38761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buNone/>
              <a:defRPr b="1" sz="2100">
                <a:solidFill>
                  <a:schemeClr val="lt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22" name="Google Shape;22;p4"/>
          <p:cNvCxnSpPr/>
          <p:nvPr/>
        </p:nvCxnSpPr>
        <p:spPr>
          <a:xfrm>
            <a:off x="155650" y="4743825"/>
            <a:ext cx="8889900" cy="0"/>
          </a:xfrm>
          <a:prstGeom prst="straightConnector1">
            <a:avLst/>
          </a:prstGeom>
          <a:noFill/>
          <a:ln cap="flat" cmpd="sng" w="9525">
            <a:solidFill>
              <a:srgbClr val="6AA84F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" name="Google Shape;23;p4"/>
          <p:cNvSpPr txBox="1"/>
          <p:nvPr/>
        </p:nvSpPr>
        <p:spPr>
          <a:xfrm>
            <a:off x="2526725" y="4787400"/>
            <a:ext cx="6488100" cy="32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Science at the Luminosity Frontier: Jefferson Lab at 22 GeV</a:t>
            </a:r>
            <a:r>
              <a:rPr lang="fr"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(12 December, 2024)</a:t>
            </a:r>
            <a:endParaRPr sz="1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3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Relationship Id="rId4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lab.in2p3.fr/dupre/nopeg" TargetMode="External"/><Relationship Id="rId4" Type="http://schemas.openxmlformats.org/officeDocument/2006/relationships/image" Target="../media/image20.png"/><Relationship Id="rId5" Type="http://schemas.openxmlformats.org/officeDocument/2006/relationships/image" Target="../media/image1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Relationship Id="rId4" Type="http://schemas.openxmlformats.org/officeDocument/2006/relationships/image" Target="../media/image2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11700" y="398675"/>
            <a:ext cx="8520600" cy="12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fr" sz="3600"/>
              <a:t>Study of Tagged Processes with </a:t>
            </a:r>
            <a:r>
              <a:rPr baseline="30000" lang="fr" sz="3600"/>
              <a:t>4</a:t>
            </a:r>
            <a:r>
              <a:rPr lang="fr" sz="3600"/>
              <a:t>He and ALERT at 22 GeV</a:t>
            </a:r>
            <a:endParaRPr sz="3600"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11700" y="1925400"/>
            <a:ext cx="6412200" cy="770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Mathieu Ouillon 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1980">
                <a:latin typeface="Nunito"/>
                <a:ea typeface="Nunito"/>
                <a:cs typeface="Nunito"/>
                <a:sym typeface="Nunito"/>
              </a:rPr>
              <a:t>Mississippi State University</a:t>
            </a:r>
            <a:endParaRPr sz="198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3485525" y="3193625"/>
            <a:ext cx="56586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Science at the Luminosity Frontier: Jefferson Lab at 22 GeV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12 December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, 2024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4245800"/>
            <a:ext cx="3863174" cy="742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52050" y="4132900"/>
            <a:ext cx="3098799" cy="96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3" name="Google Shape;63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042875" y="4132900"/>
            <a:ext cx="1808951" cy="968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In-medium Structure and Effects</a:t>
            </a:r>
            <a:endParaRPr sz="2600"/>
          </a:p>
        </p:txBody>
      </p:sp>
      <p:sp>
        <p:nvSpPr>
          <p:cNvPr id="69" name="Google Shape;69;p1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70" name="Google Shape;70;p14"/>
          <p:cNvSpPr txBox="1"/>
          <p:nvPr>
            <p:ph idx="1" type="body"/>
          </p:nvPr>
        </p:nvSpPr>
        <p:spPr>
          <a:xfrm>
            <a:off x="-43375" y="596375"/>
            <a:ext cx="6452700" cy="417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Modifications of bound nucleons properties and dynamics: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EMC effects at moderate Bjorken </a:t>
            </a:r>
            <a:r>
              <a:rPr i="1" lang="fr" sz="1600"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, and shadowing at small </a:t>
            </a:r>
            <a:r>
              <a:rPr i="1" lang="fr" sz="1600">
                <a:latin typeface="Nunito"/>
                <a:ea typeface="Nunito"/>
                <a:cs typeface="Nunito"/>
                <a:sym typeface="Nunito"/>
              </a:rPr>
              <a:t>x</a:t>
            </a:r>
            <a:endParaRPr i="1"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Many models for the EMC effect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Significant even for 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He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The o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rigin of the effect remains unclear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Nuclear modifications of DIS cross sections were probed by CERN, SLAC, and JLab experiments 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Clear explanations may arise from studying the nuclear modifications via other reactions, such as Deeply Virtual Compton Scattering and Deeply Virtual Meson Production…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What is the partonic structure of nuclei?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71" name="Google Shape;7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9950" y="829000"/>
            <a:ext cx="2640449" cy="3893725"/>
          </a:xfrm>
          <a:prstGeom prst="rect">
            <a:avLst/>
          </a:prstGeom>
          <a:noFill/>
          <a:ln>
            <a:noFill/>
          </a:ln>
        </p:spPr>
      </p:pic>
      <p:sp>
        <p:nvSpPr>
          <p:cNvPr id="72" name="Google Shape;72;p14"/>
          <p:cNvSpPr txBox="1"/>
          <p:nvPr/>
        </p:nvSpPr>
        <p:spPr>
          <a:xfrm>
            <a:off x="6303750" y="661250"/>
            <a:ext cx="3046200" cy="15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J. Seely et al. Phys.Rev.Lett. 103 (2009) 202301</a:t>
            </a:r>
            <a:endParaRPr sz="10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Generalized Parton Distributions</a:t>
            </a:r>
            <a:endParaRPr sz="2600"/>
          </a:p>
        </p:txBody>
      </p:sp>
      <p:sp>
        <p:nvSpPr>
          <p:cNvPr id="78" name="Google Shape;78;p15"/>
          <p:cNvSpPr txBox="1"/>
          <p:nvPr>
            <p:ph idx="1" type="body"/>
          </p:nvPr>
        </p:nvSpPr>
        <p:spPr>
          <a:xfrm>
            <a:off x="0" y="635550"/>
            <a:ext cx="6054000" cy="409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GPDs describe the nucleon structure in terms of longitudinal momentum and transverse position: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17650" lvl="1" marL="4860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500"/>
              <a:buFont typeface="Nunito"/>
              <a:buChar char="○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Three dimensions: </a:t>
            </a:r>
            <a:r>
              <a:rPr i="1" lang="fr" sz="1500"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, </a:t>
            </a:r>
            <a:r>
              <a:rPr i="1" lang="fr" sz="1500">
                <a:latin typeface="Nunito"/>
                <a:ea typeface="Nunito"/>
                <a:cs typeface="Nunito"/>
                <a:sym typeface="Nunito"/>
              </a:rPr>
              <a:t>ξ</a:t>
            </a:r>
            <a:r>
              <a:rPr lang="fr" sz="1500">
                <a:latin typeface="Nunito"/>
                <a:ea typeface="Nunito"/>
                <a:cs typeface="Nunito"/>
                <a:sym typeface="Nunito"/>
              </a:rPr>
              <a:t> and </a:t>
            </a:r>
            <a:r>
              <a:rPr i="1" lang="fr" sz="1500">
                <a:latin typeface="Nunito"/>
                <a:ea typeface="Nunito"/>
                <a:cs typeface="Nunito"/>
                <a:sym typeface="Nunito"/>
              </a:rPr>
              <a:t>t</a:t>
            </a:r>
            <a:endParaRPr i="1" sz="1500">
              <a:latin typeface="Nunito"/>
              <a:ea typeface="Nunito"/>
              <a:cs typeface="Nunito"/>
              <a:sym typeface="Nunito"/>
            </a:endParaRPr>
          </a:p>
          <a:p>
            <a:pPr indent="-21765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○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Spin-0 → 2 GPDs, Spin-1/2 → 8 GPDs, Spin-1 → 18 GPDs</a:t>
            </a:r>
            <a:endParaRPr sz="1500">
              <a:latin typeface="Nunito"/>
              <a:ea typeface="Nunito"/>
              <a:cs typeface="Nunito"/>
              <a:sym typeface="Nunito"/>
            </a:endParaRPr>
          </a:p>
          <a:p>
            <a:pPr indent="-21765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Font typeface="Nunito"/>
              <a:buChar char="○"/>
            </a:pPr>
            <a:r>
              <a:rPr lang="fr" sz="1500">
                <a:latin typeface="Nunito"/>
                <a:ea typeface="Nunito"/>
                <a:cs typeface="Nunito"/>
                <a:sym typeface="Nunito"/>
              </a:rPr>
              <a:t>Accessible through exclusive processes such as DVCS, DVMP, Time-like Compton Scattering, Double DVCS…</a:t>
            </a:r>
            <a:endParaRPr sz="1800">
              <a:latin typeface="Nunito"/>
              <a:ea typeface="Nunito"/>
              <a:cs typeface="Nunito"/>
              <a:sym typeface="Nunito"/>
            </a:endParaRPr>
          </a:p>
          <a:p>
            <a:pPr indent="-3429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Experimental efforts (JLab, HERA, CERN) mainly focused on proton, which triggered the need for neutron studies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1000"/>
              </a:spcBef>
              <a:spcAft>
                <a:spcPts val="1200"/>
              </a:spcAft>
              <a:buNone/>
            </a:pPr>
            <a:r>
              <a:t/>
            </a:r>
            <a:endParaRPr sz="2100"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79" name="Google Shape;79;p1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80" name="Google Shape;8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8500" y="3193385"/>
            <a:ext cx="2776250" cy="1525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943750" y="842075"/>
            <a:ext cx="3121475" cy="244247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 txBox="1"/>
          <p:nvPr/>
        </p:nvSpPr>
        <p:spPr>
          <a:xfrm>
            <a:off x="6162149" y="3346575"/>
            <a:ext cx="2856000" cy="58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i="1"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x +/- ξ</a:t>
            </a:r>
            <a:r>
              <a:rPr lang="fr" sz="12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is the momentum fraction of the initial/final quark.</a:t>
            </a:r>
            <a:endParaRPr sz="1200"/>
          </a:p>
        </p:txBody>
      </p:sp>
      <p:cxnSp>
        <p:nvCxnSpPr>
          <p:cNvPr id="83" name="Google Shape;83;p15"/>
          <p:cNvCxnSpPr>
            <a:stCxn id="84" idx="1"/>
          </p:cNvCxnSpPr>
          <p:nvPr/>
        </p:nvCxnSpPr>
        <p:spPr>
          <a:xfrm rot="10800000">
            <a:off x="4417325" y="4193650"/>
            <a:ext cx="667200" cy="1302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5" name="Google Shape;85;p15"/>
          <p:cNvCxnSpPr>
            <a:stCxn id="86" idx="2"/>
          </p:cNvCxnSpPr>
          <p:nvPr/>
        </p:nvCxnSpPr>
        <p:spPr>
          <a:xfrm>
            <a:off x="1953650" y="3794925"/>
            <a:ext cx="803100" cy="182100"/>
          </a:xfrm>
          <a:prstGeom prst="straightConnector1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86" name="Google Shape;86;p15"/>
          <p:cNvSpPr txBox="1"/>
          <p:nvPr/>
        </p:nvSpPr>
        <p:spPr>
          <a:xfrm>
            <a:off x="1262750" y="3462225"/>
            <a:ext cx="1381800" cy="3327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Leptonic plane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84" name="Google Shape;84;p15"/>
          <p:cNvSpPr txBox="1"/>
          <p:nvPr/>
        </p:nvSpPr>
        <p:spPr>
          <a:xfrm>
            <a:off x="5084525" y="4157500"/>
            <a:ext cx="1381800" cy="332700"/>
          </a:xfrm>
          <a:prstGeom prst="rect">
            <a:avLst/>
          </a:prstGeom>
          <a:noFill/>
          <a:ln cap="flat" cmpd="sng" w="9525">
            <a:solidFill>
              <a:srgbClr val="93C47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Hadronic</a:t>
            </a:r>
            <a:r>
              <a:rPr lang="fr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plane</a:t>
            </a:r>
            <a:endParaRPr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87" name="Google Shape;87;p15"/>
          <p:cNvPicPr preferRelativeResize="0"/>
          <p:nvPr/>
        </p:nvPicPr>
        <p:blipFill rotWithShape="1">
          <a:blip r:embed="rId5">
            <a:alphaModFix/>
          </a:blip>
          <a:srcRect b="-43431" l="-14155" r="0" t="0"/>
          <a:stretch/>
        </p:blipFill>
        <p:spPr>
          <a:xfrm>
            <a:off x="3058296" y="4198100"/>
            <a:ext cx="322254" cy="33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DVCS on </a:t>
            </a:r>
            <a:r>
              <a:rPr baseline="30000" lang="fr" sz="2600"/>
              <a:t>4</a:t>
            </a:r>
            <a:r>
              <a:rPr lang="fr" sz="2600"/>
              <a:t>He</a:t>
            </a:r>
            <a:endParaRPr sz="2600"/>
          </a:p>
        </p:txBody>
      </p:sp>
      <p:sp>
        <p:nvSpPr>
          <p:cNvPr id="93" name="Google Shape;93;p16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94" name="Google Shape;9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97875" y="844575"/>
            <a:ext cx="3287925" cy="376885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6"/>
          <p:cNvSpPr txBox="1"/>
          <p:nvPr>
            <p:ph idx="1" type="body"/>
          </p:nvPr>
        </p:nvSpPr>
        <p:spPr>
          <a:xfrm>
            <a:off x="0" y="647400"/>
            <a:ext cx="5843400" cy="422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236700" lvl="0" marL="24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Provides a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straightforward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access to GPDs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Advantages of using such a probe on </a:t>
            </a:r>
            <a:r>
              <a:rPr baseline="30000" lang="fr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He: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Only two GPDs for </a:t>
            </a:r>
            <a:r>
              <a:rPr baseline="30000" lang="fr" sz="1600"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He: H (chiral-even) and H</a:t>
            </a:r>
            <a:r>
              <a:rPr baseline="-25000" lang="fr" sz="1600">
                <a:latin typeface="Nunito"/>
                <a:ea typeface="Nunito"/>
                <a:cs typeface="Nunito"/>
                <a:sym typeface="Nunito"/>
              </a:rPr>
              <a:t>T</a:t>
            </a:r>
            <a:r>
              <a:rPr lang="fr" sz="1600">
                <a:latin typeface="Nunito"/>
                <a:ea typeface="Nunito"/>
                <a:cs typeface="Nunito"/>
                <a:sym typeface="Nunito"/>
              </a:rPr>
              <a:t> (chiral-odd)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Ensure model independent extraction for the coherent DVCS Beam Spin Asymmetries 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A few body system that is theoretically well known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Realistic calculations are difficult, but possible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62100" lvl="0" marL="244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2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Ability to explore two tagged processes: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Coherent DVCS: access to non-nucleonic degrees of freedom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Incoherent DVCS: access to nucleonic modifications in the cold nuclear environment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62100" lvl="0" marL="2448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22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But, would it be studied regardless of its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small cross section?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latin typeface="Nunito"/>
                <a:ea typeface="Nunito"/>
                <a:cs typeface="Nunito"/>
                <a:sym typeface="Nunito"/>
              </a:rPr>
              <a:t>large energy gap between recoiled target fragments and outgoing forward particles (electron and photon)?</a:t>
            </a:r>
            <a:endParaRPr sz="1600"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7"/>
          <p:cNvSpPr txBox="1"/>
          <p:nvPr>
            <p:ph type="title"/>
          </p:nvPr>
        </p:nvSpPr>
        <p:spPr>
          <a:xfrm>
            <a:off x="0" y="0"/>
            <a:ext cx="83982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fr" sz="2450"/>
              <a:t>Previous 6 GeV Experiment </a:t>
            </a:r>
            <a:r>
              <a:rPr lang="fr" sz="2450"/>
              <a:t>with</a:t>
            </a:r>
            <a:r>
              <a:rPr lang="fr" sz="2450"/>
              <a:t> CLAS (EG-6 Experiment)</a:t>
            </a:r>
            <a:endParaRPr sz="2450"/>
          </a:p>
        </p:txBody>
      </p:sp>
      <p:sp>
        <p:nvSpPr>
          <p:cNvPr id="101" name="Google Shape;101;p17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02" name="Google Shape;102;p17"/>
          <p:cNvSpPr txBox="1"/>
          <p:nvPr/>
        </p:nvSpPr>
        <p:spPr>
          <a:xfrm>
            <a:off x="-11850" y="647400"/>
            <a:ext cx="3468300" cy="406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Results extracted for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First exclusive coherent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DVCS on tagged 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He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Incoherent DVCS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on 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He via spectator tagging of target fragments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Detected 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He using a Radial Time Projection Chamber for which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response was slow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identified only 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He 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rates were limited, and could not be part of the CLAS6 trigger </a:t>
            </a:r>
            <a:endParaRPr sz="21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03" name="Google Shape;103;p17"/>
          <p:cNvPicPr preferRelativeResize="0"/>
          <p:nvPr/>
        </p:nvPicPr>
        <p:blipFill rotWithShape="1">
          <a:blip r:embed="rId3">
            <a:alphaModFix/>
          </a:blip>
          <a:srcRect b="0" l="1150" r="2232" t="0"/>
          <a:stretch/>
        </p:blipFill>
        <p:spPr>
          <a:xfrm>
            <a:off x="3352600" y="647400"/>
            <a:ext cx="5791401" cy="192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42350" y="2869450"/>
            <a:ext cx="5930550" cy="202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7"/>
          <p:cNvSpPr txBox="1"/>
          <p:nvPr/>
        </p:nvSpPr>
        <p:spPr>
          <a:xfrm>
            <a:off x="4368675" y="2600350"/>
            <a:ext cx="4059300" cy="34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Coherent/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Incoherent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DVCS (top/bottom)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0800" y="4682650"/>
            <a:ext cx="3498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M. Hattawy </a:t>
            </a:r>
            <a:r>
              <a:rPr i="1" lang="fr" sz="10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et al.</a:t>
            </a:r>
            <a:r>
              <a:rPr lang="fr" sz="10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, Phys. Rev. Lett. 119, (2017) 202004</a:t>
            </a:r>
            <a:endParaRPr sz="10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0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M. Hattawy </a:t>
            </a:r>
            <a:r>
              <a:rPr i="1" lang="fr" sz="10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et al.</a:t>
            </a:r>
            <a:r>
              <a:rPr lang="fr" sz="10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, Phys. Rev. Lett. 123, (2019) 032502</a:t>
            </a:r>
            <a:endParaRPr sz="1000">
              <a:solidFill>
                <a:schemeClr val="dk2"/>
              </a:solidFill>
              <a:latin typeface="Nunito Medium"/>
              <a:ea typeface="Nunito Medium"/>
              <a:cs typeface="Nunito Medium"/>
              <a:sym typeface="Nunito Medium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18"/>
          <p:cNvPicPr preferRelativeResize="0"/>
          <p:nvPr/>
        </p:nvPicPr>
        <p:blipFill rotWithShape="1">
          <a:blip r:embed="rId3">
            <a:alphaModFix/>
          </a:blip>
          <a:srcRect b="38469" l="7115" r="0" t="0"/>
          <a:stretch/>
        </p:blipFill>
        <p:spPr>
          <a:xfrm>
            <a:off x="3951175" y="741188"/>
            <a:ext cx="3193251" cy="2462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8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CLAS12 </a:t>
            </a:r>
            <a:r>
              <a:rPr lang="fr" sz="2600"/>
              <a:t>ALERT Experiment</a:t>
            </a:r>
            <a:endParaRPr sz="2600"/>
          </a:p>
        </p:txBody>
      </p:sp>
      <p:sp>
        <p:nvSpPr>
          <p:cNvPr id="113" name="Google Shape;113;p18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14" name="Google Shape;114;p18"/>
          <p:cNvSpPr txBox="1"/>
          <p:nvPr/>
        </p:nvSpPr>
        <p:spPr>
          <a:xfrm>
            <a:off x="0" y="699000"/>
            <a:ext cx="3951300" cy="41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Aim to i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dentify light ions: H, 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H, 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H, 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3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He, and </a:t>
            </a:r>
            <a:r>
              <a:rPr baseline="30000"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He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Detect the lowest momentum possible, down to 70 MeV/c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Handle high CLAS12 rates and </a:t>
            </a: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luminosities         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spcBef>
                <a:spcPts val="1000"/>
              </a:spcBef>
              <a:spcAft>
                <a:spcPts val="0"/>
              </a:spcAft>
              <a:buClr>
                <a:srgbClr val="93C47D"/>
              </a:buClr>
              <a:buSzPts val="1800"/>
              <a:buFont typeface="Nunito"/>
              <a:buChar char="●"/>
            </a:pPr>
            <a:r>
              <a:rPr lang="fr" sz="18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ALERT is composed of a hyperbolic drift chamber (AHDC) and a time of flight (ATOF);</a:t>
            </a:r>
            <a:endParaRPr sz="18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224000" lvl="1" marL="486000" rtl="0" algn="l">
              <a:spcBef>
                <a:spcPts val="1000"/>
              </a:spcBef>
              <a:spcAft>
                <a:spcPts val="1000"/>
              </a:spcAft>
              <a:buClr>
                <a:srgbClr val="93C47D"/>
              </a:buClr>
              <a:buSzPts val="1600"/>
              <a:buFont typeface="Nunito"/>
              <a:buChar char="○"/>
            </a:pP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The 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TOF measurement is degenerate for 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 and </a:t>
            </a:r>
            <a:r>
              <a:rPr baseline="30000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4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He, but </a:t>
            </a:r>
            <a:r>
              <a:rPr i="1"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dE/dx</a:t>
            </a:r>
            <a:r>
              <a:rPr lang="fr" sz="16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 can distinguish the two nuclei bands</a:t>
            </a:r>
            <a:endParaRPr sz="16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115" name="Google Shape;115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5300" y="873475"/>
            <a:ext cx="2139199" cy="1600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8"/>
          <p:cNvPicPr preferRelativeResize="0"/>
          <p:nvPr/>
        </p:nvPicPr>
        <p:blipFill rotWithShape="1">
          <a:blip r:embed="rId3">
            <a:alphaModFix/>
          </a:blip>
          <a:srcRect b="0" l="0" r="0" t="65878"/>
          <a:stretch/>
        </p:blipFill>
        <p:spPr>
          <a:xfrm>
            <a:off x="4649825" y="3181950"/>
            <a:ext cx="4027474" cy="1365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19"/>
          <p:cNvPicPr preferRelativeResize="0"/>
          <p:nvPr/>
        </p:nvPicPr>
        <p:blipFill rotWithShape="1">
          <a:blip r:embed="rId3">
            <a:alphaModFix/>
          </a:blip>
          <a:srcRect b="0" l="0" r="50783" t="0"/>
          <a:stretch/>
        </p:blipFill>
        <p:spPr>
          <a:xfrm>
            <a:off x="5392025" y="678450"/>
            <a:ext cx="3042501" cy="2106399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9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Coherent DVCS with CLAS12 ALERT</a:t>
            </a:r>
            <a:endParaRPr sz="2600"/>
          </a:p>
        </p:txBody>
      </p:sp>
      <p:sp>
        <p:nvSpPr>
          <p:cNvPr id="123" name="Google Shape;123;p19"/>
          <p:cNvSpPr txBox="1"/>
          <p:nvPr>
            <p:ph idx="1" type="body"/>
          </p:nvPr>
        </p:nvSpPr>
        <p:spPr>
          <a:xfrm>
            <a:off x="81650" y="607625"/>
            <a:ext cx="5201700" cy="440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</a:t>
            </a:r>
            <a:r>
              <a:rPr lang="fr"/>
              <a:t>roposed measurements of coherent DVCS on </a:t>
            </a:r>
            <a:r>
              <a:rPr baseline="30000" lang="fr"/>
              <a:t>4</a:t>
            </a:r>
            <a:r>
              <a:rPr lang="fr"/>
              <a:t>He aim to</a:t>
            </a:r>
            <a:endParaRPr/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extract BSA, A</a:t>
            </a:r>
            <a:r>
              <a:rPr baseline="-25000" lang="fr" sz="1600"/>
              <a:t>LU</a:t>
            </a:r>
            <a:endParaRPr sz="1600"/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use a high luminosity: 20 PAC days at 1.5x10</a:t>
            </a:r>
            <a:r>
              <a:rPr baseline="30000" lang="fr" sz="1600"/>
              <a:t>34</a:t>
            </a:r>
            <a:r>
              <a:rPr lang="fr" sz="1600"/>
              <a:t>cm</a:t>
            </a:r>
            <a:r>
              <a:rPr baseline="30000" lang="fr" sz="1600"/>
              <a:t>-2</a:t>
            </a:r>
            <a:r>
              <a:rPr lang="fr" sz="1600"/>
              <a:t>s</a:t>
            </a:r>
            <a:r>
              <a:rPr baseline="30000" lang="fr" sz="1600"/>
              <a:t>-1</a:t>
            </a:r>
            <a:r>
              <a:rPr lang="fr" sz="1600"/>
              <a:t>, and 10 PAC days at 0.75x10</a:t>
            </a:r>
            <a:r>
              <a:rPr baseline="30000" lang="fr" sz="1600"/>
              <a:t>34</a:t>
            </a:r>
            <a:r>
              <a:rPr lang="fr" sz="1600"/>
              <a:t>cm</a:t>
            </a:r>
            <a:r>
              <a:rPr baseline="30000" lang="fr" sz="1600"/>
              <a:t>-2</a:t>
            </a:r>
            <a:r>
              <a:rPr lang="fr" sz="1600"/>
              <a:t>s</a:t>
            </a:r>
            <a:r>
              <a:rPr baseline="30000" lang="fr" sz="1600"/>
              <a:t>-1</a:t>
            </a:r>
            <a:endParaRPr baseline="30000" sz="1600"/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utilize a 55-cm-long gaseous target</a:t>
            </a:r>
            <a:endParaRPr sz="1600"/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run with approximately 80% beam polarization</a:t>
            </a:r>
            <a:endParaRPr sz="1600"/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cover a phase space consisting of 7 bins in </a:t>
            </a:r>
            <a:r>
              <a:rPr i="1" lang="fr" sz="1600"/>
              <a:t>-t</a:t>
            </a:r>
            <a:r>
              <a:rPr lang="fr" sz="1600"/>
              <a:t>, 3 bins in </a:t>
            </a:r>
            <a:r>
              <a:rPr i="1" lang="fr" sz="1600"/>
              <a:t>x</a:t>
            </a:r>
            <a:r>
              <a:rPr baseline="-25000" i="1" lang="fr" sz="1600"/>
              <a:t>B</a:t>
            </a:r>
            <a:r>
              <a:rPr lang="fr" sz="1600"/>
              <a:t>, and 12 bins in ɸ</a:t>
            </a:r>
            <a:r>
              <a:rPr baseline="-25000" i="1" lang="fr" sz="1600"/>
              <a:t>h</a:t>
            </a:r>
            <a:endParaRPr baseline="-25000" i="1" sz="1600"/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detect scattered electron and a real photon with CLAS12, and </a:t>
            </a:r>
            <a:r>
              <a:rPr baseline="30000" lang="fr" sz="1600"/>
              <a:t>4</a:t>
            </a:r>
            <a:r>
              <a:rPr lang="fr" sz="1600"/>
              <a:t>He with ALERT</a:t>
            </a:r>
            <a:endParaRPr sz="1600"/>
          </a:p>
          <a:p>
            <a:pPr indent="-224000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identify</a:t>
            </a:r>
            <a:r>
              <a:rPr baseline="30000" lang="fr" sz="1600"/>
              <a:t> 4</a:t>
            </a:r>
            <a:r>
              <a:rPr lang="fr" sz="1600"/>
              <a:t>He with momenta in the range of        230&lt; </a:t>
            </a:r>
            <a:r>
              <a:rPr i="1" lang="fr" sz="1600"/>
              <a:t>p</a:t>
            </a:r>
            <a:r>
              <a:rPr lang="fr" sz="1600"/>
              <a:t>&lt; 400 MeV/c</a:t>
            </a:r>
            <a:endParaRPr sz="1600"/>
          </a:p>
        </p:txBody>
      </p:sp>
      <p:sp>
        <p:nvSpPr>
          <p:cNvPr id="124" name="Google Shape;124;p19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25" name="Google Shape;125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2825" y="2747450"/>
            <a:ext cx="3089975" cy="231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0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Coherent DVCS with CLAS12 ALERT</a:t>
            </a:r>
            <a:endParaRPr sz="2600"/>
          </a:p>
        </p:txBody>
      </p:sp>
      <p:sp>
        <p:nvSpPr>
          <p:cNvPr id="131" name="Google Shape;131;p20"/>
          <p:cNvSpPr txBox="1"/>
          <p:nvPr>
            <p:ph idx="1" type="body"/>
          </p:nvPr>
        </p:nvSpPr>
        <p:spPr>
          <a:xfrm>
            <a:off x="31400" y="647400"/>
            <a:ext cx="8794500" cy="1899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Get an estimation of projected precision for A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LU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(90°)</a:t>
            </a:r>
            <a:endParaRPr>
              <a:latin typeface="Nunito"/>
              <a:ea typeface="Nunito"/>
              <a:cs typeface="Nunito"/>
              <a:sym typeface="Nunito"/>
            </a:endParaRPr>
          </a:p>
          <a:p>
            <a:pPr indent="-236700" lvl="0" marL="2448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1800"/>
              <a:buFont typeface="Nunito"/>
              <a:buChar char="●"/>
            </a:pPr>
            <a:r>
              <a:rPr lang="fr">
                <a:latin typeface="Nunito"/>
                <a:ea typeface="Nunito"/>
                <a:cs typeface="Nunito"/>
                <a:sym typeface="Nunito"/>
              </a:rPr>
              <a:t>Extract real and imaginary part of the Compton Form Factor, H</a:t>
            </a:r>
            <a:r>
              <a:rPr baseline="-25000" lang="fr">
                <a:latin typeface="Nunito"/>
                <a:ea typeface="Nunito"/>
                <a:cs typeface="Nunito"/>
                <a:sym typeface="Nunito"/>
              </a:rPr>
              <a:t>A</a:t>
            </a:r>
            <a:r>
              <a:rPr lang="fr">
                <a:latin typeface="Nunito"/>
                <a:ea typeface="Nunito"/>
                <a:cs typeface="Nunito"/>
                <a:sym typeface="Nunito"/>
              </a:rPr>
              <a:t> </a:t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32" name="Google Shape;132;p20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33" name="Google Shape;133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375" y="1729201"/>
            <a:ext cx="3830126" cy="298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0300" y="1839475"/>
            <a:ext cx="3724699" cy="2875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Coherent DVCS with ALERT @ 22 GeV</a:t>
            </a:r>
            <a:endParaRPr sz="2600"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35375" y="647400"/>
            <a:ext cx="8999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Performed the 22 GeV simulation of </a:t>
            </a:r>
            <a:r>
              <a:rPr lang="fr"/>
              <a:t>coherent DVCS on </a:t>
            </a:r>
            <a:r>
              <a:rPr baseline="30000" lang="fr"/>
              <a:t>4</a:t>
            </a:r>
            <a:r>
              <a:rPr lang="fr"/>
              <a:t>He using</a:t>
            </a:r>
            <a:endParaRPr/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 u="sng">
                <a:solidFill>
                  <a:schemeClr val="accent5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TOPEG</a:t>
            </a:r>
            <a:r>
              <a:rPr lang="fr" sz="1600"/>
              <a:t>, The Orsay-Perugia Event Generator</a:t>
            </a:r>
            <a:r>
              <a:rPr lang="fr" sz="1600"/>
              <a:t>, </a:t>
            </a:r>
            <a:endParaRPr sz="1600"/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CLAS12 and ALERT </a:t>
            </a:r>
            <a:r>
              <a:rPr lang="fr" sz="1600"/>
              <a:t>GEant4 Monte-Carlo packages as well as their up-to-date event reconstruction chains</a:t>
            </a:r>
            <a:endParaRPr sz="1600"/>
          </a:p>
          <a:p>
            <a:pPr indent="-224000" lvl="1" marL="4860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10 bins in </a:t>
            </a:r>
            <a:r>
              <a:rPr i="1" lang="fr" sz="1600"/>
              <a:t>-t</a:t>
            </a:r>
            <a:r>
              <a:rPr lang="fr" sz="1600"/>
              <a:t>, 5 bins in </a:t>
            </a:r>
            <a:r>
              <a:rPr i="1" lang="fr" sz="1600"/>
              <a:t>x</a:t>
            </a:r>
            <a:r>
              <a:rPr baseline="-25000" i="1" lang="fr" sz="1600"/>
              <a:t>B</a:t>
            </a:r>
            <a:r>
              <a:rPr lang="fr" sz="1600"/>
              <a:t>, and 12 bins in ɸ</a:t>
            </a:r>
            <a:r>
              <a:rPr baseline="-25000" i="1" lang="fr" sz="1600"/>
              <a:t>h</a:t>
            </a:r>
            <a:endParaRPr baseline="-25000" i="1" sz="16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58884" y="2339625"/>
            <a:ext cx="4141142" cy="27730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8549" y="2341288"/>
            <a:ext cx="4247900" cy="26951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61138" y="2577875"/>
            <a:ext cx="2889531" cy="2311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85889" y="882838"/>
            <a:ext cx="3709924" cy="3791175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2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Coherent DVCS with ALERT @ 22 GeV</a:t>
            </a:r>
            <a:endParaRPr sz="2600"/>
          </a:p>
        </p:txBody>
      </p:sp>
      <p:sp>
        <p:nvSpPr>
          <p:cNvPr id="151" name="Google Shape;151;p22"/>
          <p:cNvSpPr txBox="1"/>
          <p:nvPr>
            <p:ph idx="1" type="body"/>
          </p:nvPr>
        </p:nvSpPr>
        <p:spPr>
          <a:xfrm>
            <a:off x="0" y="667075"/>
            <a:ext cx="5259600" cy="202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43050" lvl="0" marL="2448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fr" sz="1900"/>
              <a:t>Projections for the ALERT BSA @ 22 GeV:</a:t>
            </a:r>
            <a:endParaRPr sz="1900"/>
          </a:p>
          <a:p>
            <a:pPr indent="-225121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8"/>
              <a:buChar char="○"/>
            </a:pPr>
            <a:r>
              <a:rPr lang="fr" sz="1618"/>
              <a:t>Beam time: 20 PAC days</a:t>
            </a:r>
            <a:endParaRPr sz="1618"/>
          </a:p>
          <a:p>
            <a:pPr indent="-225121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8"/>
              <a:buChar char="○"/>
            </a:pPr>
            <a:r>
              <a:rPr lang="fr" sz="1618"/>
              <a:t>Luminosity: 2·10</a:t>
            </a:r>
            <a:r>
              <a:rPr baseline="30000" lang="fr" sz="1618"/>
              <a:t>35</a:t>
            </a:r>
            <a:r>
              <a:rPr lang="fr" sz="1618"/>
              <a:t> cm</a:t>
            </a:r>
            <a:r>
              <a:rPr baseline="30000" lang="fr" sz="1618"/>
              <a:t>2 </a:t>
            </a:r>
            <a:r>
              <a:rPr lang="fr" sz="1618"/>
              <a:t>s</a:t>
            </a:r>
            <a:r>
              <a:rPr baseline="30000" lang="fr" sz="1618"/>
              <a:t>−1</a:t>
            </a:r>
            <a:r>
              <a:rPr lang="fr" sz="1618"/>
              <a:t>, but just 1</a:t>
            </a:r>
            <a:r>
              <a:rPr lang="fr" sz="1618"/>
              <a:t>·10</a:t>
            </a:r>
            <a:r>
              <a:rPr baseline="30000" lang="fr" sz="1618"/>
              <a:t>35</a:t>
            </a:r>
            <a:r>
              <a:rPr lang="fr" sz="1618"/>
              <a:t> cm</a:t>
            </a:r>
            <a:r>
              <a:rPr baseline="30000" lang="fr" sz="1618"/>
              <a:t>2 </a:t>
            </a:r>
            <a:r>
              <a:rPr lang="fr" sz="1618"/>
              <a:t>s</a:t>
            </a:r>
            <a:r>
              <a:rPr baseline="30000" lang="fr" sz="1618"/>
              <a:t>−1</a:t>
            </a:r>
            <a:r>
              <a:rPr lang="fr" sz="1618"/>
              <a:t> is considered in this extraction since only half of the </a:t>
            </a:r>
            <a:r>
              <a:rPr lang="fr" sz="1618"/>
              <a:t>target</a:t>
            </a:r>
            <a:r>
              <a:rPr lang="fr" sz="1618"/>
              <a:t> is contained within the ALERT detector</a:t>
            </a:r>
            <a:endParaRPr sz="1618"/>
          </a:p>
          <a:p>
            <a:pPr indent="-225121" lvl="1" marL="4860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18"/>
              <a:buChar char="○"/>
            </a:pPr>
            <a:r>
              <a:rPr lang="fr" sz="1618"/>
              <a:t>Beam polarization: 80%</a:t>
            </a:r>
            <a:r>
              <a:rPr lang="fr" sz="1618"/>
              <a:t> </a:t>
            </a:r>
            <a:endParaRPr sz="1618"/>
          </a:p>
        </p:txBody>
      </p:sp>
      <p:sp>
        <p:nvSpPr>
          <p:cNvPr id="152" name="Google Shape;152;p22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cxnSp>
        <p:nvCxnSpPr>
          <p:cNvPr id="153" name="Google Shape;153;p22"/>
          <p:cNvCxnSpPr/>
          <p:nvPr/>
        </p:nvCxnSpPr>
        <p:spPr>
          <a:xfrm>
            <a:off x="5313075" y="804700"/>
            <a:ext cx="35985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4" name="Google Shape;154;p22"/>
          <p:cNvCxnSpPr/>
          <p:nvPr/>
        </p:nvCxnSpPr>
        <p:spPr>
          <a:xfrm>
            <a:off x="5240350" y="994775"/>
            <a:ext cx="0" cy="356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5" name="Google Shape;155;p22"/>
          <p:cNvSpPr txBox="1"/>
          <p:nvPr/>
        </p:nvSpPr>
        <p:spPr>
          <a:xfrm>
            <a:off x="6725650" y="425275"/>
            <a:ext cx="4899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x</a:t>
            </a:r>
            <a:r>
              <a:rPr baseline="-25000"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B</a:t>
            </a:r>
            <a:endParaRPr baseline="-25000"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156" name="Google Shape;156;p22"/>
          <p:cNvSpPr txBox="1"/>
          <p:nvPr/>
        </p:nvSpPr>
        <p:spPr>
          <a:xfrm rot="-5400000">
            <a:off x="4426250" y="2377100"/>
            <a:ext cx="1174200" cy="4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-t [GeV</a:t>
            </a:r>
            <a:r>
              <a:rPr baseline="30000"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2</a:t>
            </a:r>
            <a:r>
              <a:rPr lang="fr" sz="15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rPr>
              <a:t>]</a:t>
            </a:r>
            <a:endParaRPr baseline="-25000" sz="1500">
              <a:solidFill>
                <a:schemeClr val="dk2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cxnSp>
        <p:nvCxnSpPr>
          <p:cNvPr id="157" name="Google Shape;157;p22"/>
          <p:cNvCxnSpPr/>
          <p:nvPr/>
        </p:nvCxnSpPr>
        <p:spPr>
          <a:xfrm flipH="1" rot="10800000">
            <a:off x="3540700" y="2041150"/>
            <a:ext cx="3474900" cy="784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2"/>
          <p:cNvCxnSpPr/>
          <p:nvPr/>
        </p:nvCxnSpPr>
        <p:spPr>
          <a:xfrm flipH="1" rot="10800000">
            <a:off x="3886200" y="2367300"/>
            <a:ext cx="3179100" cy="1747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9" name="Google Shape;159;p22"/>
          <p:cNvSpPr/>
          <p:nvPr/>
        </p:nvSpPr>
        <p:spPr>
          <a:xfrm>
            <a:off x="6796025" y="2041075"/>
            <a:ext cx="672000" cy="326400"/>
          </a:xfrm>
          <a:prstGeom prst="rect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3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Coherent DVCS with ALERT @ 22 GeV</a:t>
            </a:r>
            <a:endParaRPr sz="2600"/>
          </a:p>
        </p:txBody>
      </p:sp>
      <p:sp>
        <p:nvSpPr>
          <p:cNvPr id="165" name="Google Shape;165;p23"/>
          <p:cNvSpPr txBox="1"/>
          <p:nvPr>
            <p:ph idx="1" type="body"/>
          </p:nvPr>
        </p:nvSpPr>
        <p:spPr>
          <a:xfrm>
            <a:off x="154700" y="675175"/>
            <a:ext cx="8520600" cy="88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36700" lvl="0" marL="2448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P</a:t>
            </a:r>
            <a:r>
              <a:rPr lang="fr"/>
              <a:t>rojections </a:t>
            </a:r>
            <a:r>
              <a:rPr lang="fr"/>
              <a:t>for the ALERT BSA @ 90</a:t>
            </a:r>
            <a:r>
              <a:rPr baseline="30000" lang="fr"/>
              <a:t>◦</a:t>
            </a:r>
            <a:r>
              <a:rPr lang="fr"/>
              <a:t>, </a:t>
            </a:r>
            <a:r>
              <a:rPr lang="fr"/>
              <a:t>A</a:t>
            </a:r>
            <a:r>
              <a:rPr baseline="-25000" lang="fr"/>
              <a:t>LU</a:t>
            </a:r>
            <a:r>
              <a:rPr lang="fr"/>
              <a:t>(90</a:t>
            </a:r>
            <a:r>
              <a:rPr baseline="30000" lang="fr"/>
              <a:t>◦</a:t>
            </a:r>
            <a:r>
              <a:rPr lang="fr"/>
              <a:t>)</a:t>
            </a:r>
            <a:endParaRPr/>
          </a:p>
        </p:txBody>
      </p:sp>
      <p:sp>
        <p:nvSpPr>
          <p:cNvPr id="166" name="Google Shape;166;p23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pic>
        <p:nvPicPr>
          <p:cNvPr id="167" name="Google Shape;16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075" y="1563775"/>
            <a:ext cx="4129615" cy="3065212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3"/>
          <p:cNvSpPr txBox="1"/>
          <p:nvPr/>
        </p:nvSpPr>
        <p:spPr>
          <a:xfrm>
            <a:off x="5771525" y="1159625"/>
            <a:ext cx="1865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ALERT at </a:t>
            </a: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22 GeV</a:t>
            </a:r>
            <a:endParaRPr sz="1600"/>
          </a:p>
        </p:txBody>
      </p:sp>
      <p:sp>
        <p:nvSpPr>
          <p:cNvPr id="169" name="Google Shape;169;p23"/>
          <p:cNvSpPr txBox="1"/>
          <p:nvPr/>
        </p:nvSpPr>
        <p:spPr>
          <a:xfrm>
            <a:off x="1449900" y="1159625"/>
            <a:ext cx="1800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fr" sz="1600">
                <a:solidFill>
                  <a:schemeClr val="dk2"/>
                </a:solidFill>
                <a:latin typeface="Nunito Medium"/>
                <a:ea typeface="Nunito Medium"/>
                <a:cs typeface="Nunito Medium"/>
                <a:sym typeface="Nunito Medium"/>
              </a:rPr>
              <a:t>ALERT at 12 GeV</a:t>
            </a:r>
            <a:endParaRPr sz="1600"/>
          </a:p>
        </p:txBody>
      </p:sp>
      <p:pic>
        <p:nvPicPr>
          <p:cNvPr id="170" name="Google Shape;17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7700" y="1542650"/>
            <a:ext cx="4349751" cy="31074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4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Summary and Outlook</a:t>
            </a:r>
            <a:endParaRPr sz="2600"/>
          </a:p>
        </p:txBody>
      </p:sp>
      <p:sp>
        <p:nvSpPr>
          <p:cNvPr id="176" name="Google Shape;176;p24"/>
          <p:cNvSpPr txBox="1"/>
          <p:nvPr>
            <p:ph idx="1" type="body"/>
          </p:nvPr>
        </p:nvSpPr>
        <p:spPr>
          <a:xfrm>
            <a:off x="43950" y="680625"/>
            <a:ext cx="9053700" cy="42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Study coherent DVCS on </a:t>
            </a:r>
            <a:r>
              <a:rPr baseline="30000" lang="fr"/>
              <a:t>4</a:t>
            </a:r>
            <a:r>
              <a:rPr lang="fr"/>
              <a:t>He to explore the partonic structure of nuclei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 performed 22 GeV studies deployed the up-to-date CLAS12 and ALERT simulation and reconstruction chains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Extract BSA for the entire angular coverage as well as at 90°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 22 GeV upgrade will allow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access to smaller </a:t>
            </a:r>
            <a:r>
              <a:rPr i="1" lang="fr" sz="1600"/>
              <a:t>x</a:t>
            </a:r>
            <a:r>
              <a:rPr baseline="-25000" lang="fr" sz="1600"/>
              <a:t>B</a:t>
            </a:r>
            <a:r>
              <a:rPr lang="fr" sz="1600"/>
              <a:t>, larger Q</a:t>
            </a:r>
            <a:r>
              <a:rPr baseline="30000" lang="fr" sz="1600"/>
              <a:t>2</a:t>
            </a:r>
            <a:r>
              <a:rPr lang="fr" sz="1600"/>
              <a:t>, and finer kinematical binning in both </a:t>
            </a:r>
            <a:r>
              <a:rPr i="1" lang="fr" sz="1600"/>
              <a:t>-t</a:t>
            </a:r>
            <a:r>
              <a:rPr lang="fr" sz="1600"/>
              <a:t> and </a:t>
            </a:r>
            <a:r>
              <a:rPr i="1" lang="fr" sz="1600"/>
              <a:t>x</a:t>
            </a:r>
            <a:r>
              <a:rPr baseline="-25000" lang="fr" sz="1600"/>
              <a:t>B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extract CFF and GPDs for a broader kinematical coverage compared to forthcoming CLAS12 ALERT measurements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Could explore other tagged processes such as incoherent DVCS</a:t>
            </a:r>
            <a:endParaRPr/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77" name="Google Shape;177;p24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5"/>
          <p:cNvSpPr txBox="1"/>
          <p:nvPr>
            <p:ph type="title"/>
          </p:nvPr>
        </p:nvSpPr>
        <p:spPr>
          <a:xfrm>
            <a:off x="0" y="0"/>
            <a:ext cx="7601400" cy="647400"/>
          </a:xfrm>
          <a:prstGeom prst="rect">
            <a:avLst/>
          </a:prstGeom>
        </p:spPr>
        <p:txBody>
          <a:bodyPr anchorCtr="0" anchor="ctr" bIns="90000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fr" sz="2600"/>
              <a:t>Summary and </a:t>
            </a:r>
            <a:r>
              <a:rPr lang="fr" sz="2600"/>
              <a:t>Outlook</a:t>
            </a:r>
            <a:endParaRPr sz="2600"/>
          </a:p>
        </p:txBody>
      </p: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43950" y="680625"/>
            <a:ext cx="9053700" cy="425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Study coherent DVCS on </a:t>
            </a:r>
            <a:r>
              <a:rPr baseline="30000" lang="fr"/>
              <a:t>4</a:t>
            </a:r>
            <a:r>
              <a:rPr lang="fr"/>
              <a:t>He to explore </a:t>
            </a:r>
            <a:r>
              <a:rPr lang="fr"/>
              <a:t>the partonic structure of nuclei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 performed</a:t>
            </a:r>
            <a:r>
              <a:rPr lang="fr"/>
              <a:t> 22 GeV studies deployed the up-to-date CLAS12 and ALERT simulation and reconstruction chains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Extract BSA for the entire angular coverage as well as at 90° 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The 22 GeV upgrade will allow</a:t>
            </a:r>
            <a:endParaRPr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access to smaller </a:t>
            </a:r>
            <a:r>
              <a:rPr i="1" lang="fr" sz="1600"/>
              <a:t>x</a:t>
            </a:r>
            <a:r>
              <a:rPr baseline="-25000" lang="fr" sz="1600"/>
              <a:t>B</a:t>
            </a:r>
            <a:r>
              <a:rPr lang="fr" sz="1600"/>
              <a:t>, larger Q</a:t>
            </a:r>
            <a:r>
              <a:rPr baseline="30000" lang="fr" sz="1600"/>
              <a:t>2</a:t>
            </a:r>
            <a:r>
              <a:rPr lang="fr" sz="1600"/>
              <a:t>, and finer kinematical binning in both </a:t>
            </a:r>
            <a:r>
              <a:rPr i="1" lang="fr" sz="1600"/>
              <a:t>-t</a:t>
            </a:r>
            <a:r>
              <a:rPr lang="fr" sz="1600"/>
              <a:t> and </a:t>
            </a:r>
            <a:r>
              <a:rPr i="1" lang="fr" sz="1600"/>
              <a:t>x</a:t>
            </a:r>
            <a:r>
              <a:rPr baseline="-25000" lang="fr" sz="1600"/>
              <a:t>B</a:t>
            </a:r>
            <a:endParaRPr sz="1600"/>
          </a:p>
          <a:p>
            <a:pPr indent="-330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fr" sz="1600"/>
              <a:t>extract CFF and GPDs for a broader kinematical coverage </a:t>
            </a:r>
            <a:r>
              <a:rPr lang="fr" sz="1600"/>
              <a:t>compared</a:t>
            </a:r>
            <a:r>
              <a:rPr lang="fr" sz="1600"/>
              <a:t> to forthcoming CLAS12 ALERT measurements</a:t>
            </a:r>
            <a:endParaRPr sz="1600"/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●"/>
            </a:pPr>
            <a:r>
              <a:rPr lang="fr"/>
              <a:t>Could explore other tagged processes such as incoherent DVCS</a:t>
            </a:r>
            <a:endParaRPr/>
          </a:p>
          <a:p>
            <a:pPr indent="0" lvl="0" marL="45720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45720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fr" sz="2000"/>
              <a:t>Thank you; Questions?</a:t>
            </a:r>
            <a:endParaRPr sz="2000"/>
          </a:p>
        </p:txBody>
      </p:sp>
      <p:sp>
        <p:nvSpPr>
          <p:cNvPr id="184" name="Google Shape;184;p25"/>
          <p:cNvSpPr txBox="1"/>
          <p:nvPr>
            <p:ph idx="12" type="sldNum"/>
          </p:nvPr>
        </p:nvSpPr>
        <p:spPr>
          <a:xfrm>
            <a:off x="8398199" y="0"/>
            <a:ext cx="745800" cy="64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"/>
              <a:t>‹#›</a:t>
            </a:fld>
            <a:endParaRPr/>
          </a:p>
        </p:txBody>
      </p:sp>
      <p:sp>
        <p:nvSpPr>
          <p:cNvPr id="185" name="Google Shape;185;p25"/>
          <p:cNvSpPr txBox="1"/>
          <p:nvPr/>
        </p:nvSpPr>
        <p:spPr>
          <a:xfrm>
            <a:off x="169500" y="4807250"/>
            <a:ext cx="8957400" cy="369300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fr" sz="1200">
                <a:solidFill>
                  <a:schemeClr val="dk2"/>
                </a:solidFill>
                <a:highlight>
                  <a:schemeClr val="lt1"/>
                </a:highlight>
                <a:latin typeface="Nunito"/>
                <a:ea typeface="Nunito"/>
                <a:cs typeface="Nunito"/>
                <a:sym typeface="Nunito"/>
              </a:rPr>
              <a:t>This work is supported in part by the U.S. DOE award #: DE-FG02-07ER41528</a:t>
            </a:r>
            <a:endParaRPr sz="1200">
              <a:solidFill>
                <a:schemeClr val="dk2"/>
              </a:solidFill>
              <a:highlight>
                <a:schemeClr val="lt1"/>
              </a:highlight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