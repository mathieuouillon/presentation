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package/2006/relationships/metadata/extended-properties" Target="docProps/app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335" r:id="rId3"/>
    <p:sldId id="336" r:id="rId4"/>
    <p:sldId id="337" r:id="rId5"/>
    <p:sldId id="338" r:id="rId6"/>
    <p:sldId id="341" r:id="rId7"/>
    <p:sldId id="339" r:id="rId8"/>
    <p:sldId id="342" r:id="rId9"/>
    <p:sldId id="344" r:id="rId10"/>
    <p:sldId id="343" r:id="rId11"/>
    <p:sldId id="340" r:id="rId12"/>
    <p:sldId id="345" r:id="rId13"/>
    <p:sldId id="346" r:id="rId14"/>
    <p:sldId id="347" r:id="rId15"/>
    <p:sldId id="348" r:id="rId16"/>
    <p:sldId id="349" r:id="rId17"/>
    <p:sldId id="350" r:id="rId18"/>
    <p:sldId id="351" r:id="rId19"/>
    <p:sldId id="352" r:id="rId20"/>
    <p:sldId id="354" r:id="rId21"/>
    <p:sldId id="353" r:id="rId22"/>
    <p:sldId id="355" r:id="rId23"/>
    <p:sldId id="356" r:id="rId24"/>
    <p:sldId id="358" r:id="rId25"/>
    <p:sldId id="359" r:id="rId26"/>
    <p:sldId id="357" r:id="rId27"/>
    <p:sldId id="334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BD1C603-28A2-1340-9515-120EA66DFE1A}">
          <p14:sldIdLst>
            <p14:sldId id="256"/>
            <p14:sldId id="335"/>
            <p14:sldId id="336"/>
            <p14:sldId id="337"/>
            <p14:sldId id="338"/>
            <p14:sldId id="341"/>
            <p14:sldId id="339"/>
            <p14:sldId id="342"/>
            <p14:sldId id="344"/>
            <p14:sldId id="343"/>
            <p14:sldId id="340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4"/>
            <p14:sldId id="353"/>
            <p14:sldId id="355"/>
            <p14:sldId id="356"/>
            <p14:sldId id="358"/>
            <p14:sldId id="359"/>
            <p14:sldId id="357"/>
            <p14:sldId id="3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ué Meneses Díaz" initials="JMD" lastIdx="1" clrIdx="0">
    <p:extLst>
      <p:ext uri="{19B8F6BF-5375-455C-9EA6-DF929625EA0E}">
        <p15:presenceInfo xmlns:p15="http://schemas.microsoft.com/office/powerpoint/2012/main" userId="b04c2315aa3d41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643"/>
    <a:srgbClr val="23373B"/>
    <a:srgbClr val="304D59"/>
    <a:srgbClr val="00315F"/>
    <a:srgbClr val="262626"/>
    <a:srgbClr val="FAFAFA"/>
    <a:srgbClr val="FFFFFF"/>
    <a:srgbClr val="243A45"/>
    <a:srgbClr val="98B6C2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03" autoAdjust="0"/>
    <p:restoredTop sz="94637" autoAdjust="0"/>
  </p:normalViewPr>
  <p:slideViewPr>
    <p:cSldViewPr snapToGrid="0" snapToObjects="1">
      <p:cViewPr varScale="1">
        <p:scale>
          <a:sx n="168" d="100"/>
          <a:sy n="168" d="100"/>
        </p:scale>
        <p:origin x="264" y="2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494"/>
    </p:cViewPr>
  </p:sorterViewPr>
  <p:notesViewPr>
    <p:cSldViewPr snapToGrid="0" snapToObjects="1">
      <p:cViewPr varScale="1">
        <p:scale>
          <a:sx n="66" d="100"/>
          <a:sy n="66" d="100"/>
        </p:scale>
        <p:origin x="306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0EDF28E-8800-4B7E-93CE-9140A17976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F043AF5-1FB9-40F2-A50C-00F64C47C8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510DC-4C2A-4F6F-9501-4E7F5F169603}" type="datetimeFigureOut">
              <a:rPr lang="es-CL" smtClean="0"/>
              <a:t>19-05-26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BC3DD2-F926-44DF-82AE-6BA853059A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F9B4BF-E6EE-4D98-BCE0-35D9588A1C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2CA5F-72BF-4704-8861-7B23D0958B1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931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9D9A3-6AD0-4C7D-A17B-441070370095}" type="datetimeFigureOut">
              <a:rPr lang="es-CL" smtClean="0"/>
              <a:t>19-05-26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5FC93-B29F-41F1-A4D9-E7914667CA3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268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FC93-B29F-41F1-A4D9-E7914667CA34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5579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680E2D-A060-426E-80B4-6B882581BABF}"/>
              </a:ext>
            </a:extLst>
          </p:cNvPr>
          <p:cNvSpPr/>
          <p:nvPr userDrawn="1"/>
        </p:nvSpPr>
        <p:spPr>
          <a:xfrm>
            <a:off x="0" y="-28414"/>
            <a:ext cx="12192000" cy="1321437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8" name="Picture 7" descr="A blue background with white text and a white logo&#10;&#10;AI-generated content may be incorrect.">
            <a:extLst>
              <a:ext uri="{FF2B5EF4-FFF2-40B4-BE49-F238E27FC236}">
                <a16:creationId xmlns:a16="http://schemas.microsoft.com/office/drawing/2014/main" id="{550513C9-FE37-ABDB-DC73-3268493D8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" r="28388"/>
          <a:stretch>
            <a:fillRect/>
          </a:stretch>
        </p:blipFill>
        <p:spPr>
          <a:xfrm>
            <a:off x="5422107" y="-30370"/>
            <a:ext cx="6777036" cy="6905800"/>
          </a:xfrm>
          <a:prstGeom prst="rect">
            <a:avLst/>
          </a:prstGeom>
        </p:spPr>
      </p:pic>
      <p:sp>
        <p:nvSpPr>
          <p:cNvPr id="9" name="Trapezoid 8">
            <a:extLst>
              <a:ext uri="{FF2B5EF4-FFF2-40B4-BE49-F238E27FC236}">
                <a16:creationId xmlns:a16="http://schemas.microsoft.com/office/drawing/2014/main" id="{B1728B86-6592-DDFF-0871-A958EF66574A}"/>
              </a:ext>
            </a:extLst>
          </p:cNvPr>
          <p:cNvSpPr/>
          <p:nvPr userDrawn="1"/>
        </p:nvSpPr>
        <p:spPr>
          <a:xfrm rot="10800000">
            <a:off x="3610050" y="-47801"/>
            <a:ext cx="4562400" cy="6905800"/>
          </a:xfrm>
          <a:prstGeom prst="trapezoid">
            <a:avLst/>
          </a:prstGeom>
          <a:solidFill>
            <a:srgbClr val="FAFAFA"/>
          </a:solidFill>
          <a:ln>
            <a:solidFill>
              <a:srgbClr val="FAFA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46" y="2064502"/>
            <a:ext cx="10363200" cy="974724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46" y="3819652"/>
            <a:ext cx="8534400" cy="67070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05/12/26</a:t>
            </a:r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7360" y="16635"/>
            <a:ext cx="9496425" cy="897765"/>
          </a:xfrm>
          <a:prstGeom prst="rect">
            <a:avLst/>
          </a:prstGeom>
        </p:spPr>
        <p:txBody>
          <a:bodyPr/>
          <a:lstStyle>
            <a:lvl1pPr algn="l">
              <a:defRPr b="0" i="0" cap="small" baseline="0"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5087667"/>
          </a:xfrm>
        </p:spPr>
        <p:txBody>
          <a:bodyPr>
            <a:normAutofit/>
          </a:bodyPr>
          <a:lstStyle>
            <a:lvl1pPr>
              <a:defRPr sz="2400" b="0" i="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 b="0" i="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 b="0" i="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 b="0" i="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 b="0" i="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52993"/>
            <a:ext cx="2844800" cy="365125"/>
          </a:xfrm>
        </p:spPr>
        <p:txBody>
          <a:bodyPr/>
          <a:lstStyle/>
          <a:p>
            <a:r>
              <a:rPr lang="en-US"/>
              <a:t>05/12/26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52993"/>
            <a:ext cx="3860800" cy="365125"/>
          </a:xfrm>
        </p:spPr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52993"/>
            <a:ext cx="2844800" cy="365125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EAA4C7-D0B6-0DE2-E030-4ACD062DD5B1}"/>
              </a:ext>
            </a:extLst>
          </p:cNvPr>
          <p:cNvCxnSpPr/>
          <p:nvPr userDrawn="1"/>
        </p:nvCxnSpPr>
        <p:spPr>
          <a:xfrm>
            <a:off x="159543" y="6386948"/>
            <a:ext cx="11872913" cy="0"/>
          </a:xfrm>
          <a:prstGeom prst="line">
            <a:avLst/>
          </a:prstGeom>
          <a:ln w="12700">
            <a:solidFill>
              <a:srgbClr val="003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825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4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23373B"/>
                </a:solidFill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23373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974724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inverted colors"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1500186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6747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columns with two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919716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96599"/>
            <a:ext cx="5386917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919716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596599"/>
            <a:ext cx="5389033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8049B74-EB33-49E5-A21C-5BC17B1D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lumn and imagen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939802"/>
            <a:ext cx="4011084" cy="52083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65B64F9-9C06-4BFC-9CC7-D62D4572BDE4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773085" y="5193412"/>
            <a:ext cx="6809314" cy="9327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Marcador de posición de imagen 7">
            <a:extLst>
              <a:ext uri="{FF2B5EF4-FFF2-40B4-BE49-F238E27FC236}">
                <a16:creationId xmlns:a16="http://schemas.microsoft.com/office/drawing/2014/main" id="{D74A7F3F-C231-4039-8494-F902CE8BAA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73085" y="949968"/>
            <a:ext cx="6809315" cy="4176069"/>
          </a:xfr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102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617085"/>
            <a:ext cx="10972799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599" y="1617085"/>
            <a:ext cx="5408022" cy="4502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37F2929-6A18-4BAD-AA36-EE60744758F0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174379" y="1617085"/>
            <a:ext cx="5408022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757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962BEB1-7B29-4BAC-8B48-10A147F1A42A}"/>
              </a:ext>
            </a:extLst>
          </p:cNvPr>
          <p:cNvSpPr/>
          <p:nvPr userDrawn="1"/>
        </p:nvSpPr>
        <p:spPr>
          <a:xfrm>
            <a:off x="0" y="0"/>
            <a:ext cx="12192000" cy="949569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D9C7531-5490-48CC-82EC-3580AEA6A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4"/>
            <a:ext cx="7315200" cy="468058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F30ABA-6BFD-4C8C-A4E2-2A730B48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ea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57" y="1463041"/>
            <a:ext cx="11374243" cy="466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/>
              <a:t>05/12/26</a:t>
            </a:r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Group meeting</a:t>
            </a:r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F72AA3B3-8196-4D73-8E74-BE65D0B2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756" y="1"/>
            <a:ext cx="9410700" cy="9303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pic>
        <p:nvPicPr>
          <p:cNvPr id="8" name="Picture 7" descr="A blue background with white text and a white circle&#10;&#10;AI-generated content may be incorrect.">
            <a:extLst>
              <a:ext uri="{FF2B5EF4-FFF2-40B4-BE49-F238E27FC236}">
                <a16:creationId xmlns:a16="http://schemas.microsoft.com/office/drawing/2014/main" id="{8EB0ECAC-F4C3-9F09-0CD7-41F0101D8FE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b="24538"/>
          <a:stretch>
            <a:fillRect/>
          </a:stretch>
        </p:blipFill>
        <p:spPr>
          <a:xfrm>
            <a:off x="208157" y="1"/>
            <a:ext cx="1421599" cy="93034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62" r:id="rId5"/>
    <p:sldLayoutId id="2147483653" r:id="rId6"/>
    <p:sldLayoutId id="2147483660" r:id="rId7"/>
    <p:sldLayoutId id="2147483656" r:id="rId8"/>
    <p:sldLayoutId id="2147483661" r:id="rId9"/>
    <p:sldLayoutId id="2147483657" r:id="rId10"/>
    <p:sldLayoutId id="2147483654" r:id="rId11"/>
    <p:sldLayoutId id="2147483655" r:id="rId1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rgbClr val="00315F"/>
          </a:solidFill>
          <a:latin typeface="Fira Sans" panose="020B0503050000020004" pitchFamily="34" charset="0"/>
          <a:ea typeface="Fira Sans" panose="020B0503050000020004" pitchFamily="34" charset="0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733385"/>
            <a:ext cx="6978580" cy="2234317"/>
          </a:xfrm>
        </p:spPr>
        <p:txBody>
          <a:bodyPr>
            <a:normAutofit/>
          </a:bodyPr>
          <a:lstStyle/>
          <a:p>
            <a:pPr lvl="0" algn="l"/>
            <a:r>
              <a:rPr lang="en-US" sz="7200" cap="small" dirty="0">
                <a:latin typeface="Fira Sans" panose="020B0503050000020004" pitchFamily="34" charset="0"/>
                <a:ea typeface="Fira Sans" panose="020B0503050000020004" pitchFamily="34" charset="0"/>
              </a:rPr>
              <a:t>Group meeting</a:t>
            </a:r>
            <a:endParaRPr sz="7200" cap="small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069887"/>
            <a:ext cx="6873240" cy="67612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s-MX" dirty="0">
                <a:latin typeface="Fira Sans" panose="020B0503050000020004" pitchFamily="34" charset="0"/>
                <a:ea typeface="Fira Sans" panose="020B0503050000020004" pitchFamily="34" charset="0"/>
              </a:rPr>
              <a:t>Mathieu Ouillon (Mississippi State University)</a:t>
            </a:r>
            <a:endParaRPr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D63A573-154D-7B40-5738-504DAF2B226D}"/>
              </a:ext>
            </a:extLst>
          </p:cNvPr>
          <p:cNvSpPr txBox="1">
            <a:spLocks/>
          </p:cNvSpPr>
          <p:nvPr/>
        </p:nvSpPr>
        <p:spPr>
          <a:xfrm>
            <a:off x="457200" y="4746014"/>
            <a:ext cx="20757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defTabSz="457200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es-CL" sz="2000" kern="1200" noProof="0" dirty="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05/12/26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19"/>
    </mc:Choice>
    <mc:Fallback xmlns="">
      <p:transition spd="slow" advTm="133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21DEE-22C9-7031-D658-E0B764650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0E175-4471-897D-0352-0615CEECD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Got my new simulation to compare data and MC, and estimate contamination</a:t>
            </a:r>
          </a:p>
          <a:p>
            <a:pPr lvl="1"/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CuSn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IB,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CxC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OB/IB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Between 4 and 5 M events, use Raphael event generator: SIDIS + some nuclear effects:</a:t>
            </a:r>
          </a:p>
          <a:p>
            <a:pPr lvl="1"/>
            <a:r>
              <a:rPr lang="en-US" dirty="0"/>
              <a:t>Modified version of Pythia 6, adapted for studies involving </a:t>
            </a:r>
            <a:r>
              <a:rPr lang="en-US" dirty="0" err="1"/>
              <a:t>parton</a:t>
            </a:r>
            <a:r>
              <a:rPr lang="en-US" dirty="0"/>
              <a:t> energy loss and transverse momentum broadening in cold nuclear matter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Use the framework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PyQM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to </a:t>
            </a:r>
            <a:r>
              <a:rPr lang="en-US" dirty="0"/>
              <a:t>incorporate initial state Fermi motion and partonic energy loss</a:t>
            </a:r>
          </a:p>
          <a:p>
            <a:pPr lvl="1"/>
            <a:r>
              <a:rPr lang="en-US" dirty="0"/>
              <a:t>Bound nucleon momentum is sampled from </a:t>
            </a:r>
            <a:r>
              <a:rPr lang="en-US" dirty="0" err="1"/>
              <a:t>andel</a:t>
            </a:r>
            <a:r>
              <a:rPr lang="en-US" dirty="0"/>
              <a:t>–Vary–</a:t>
            </a:r>
            <a:r>
              <a:rPr lang="en-US" dirty="0" err="1"/>
              <a:t>Garpman</a:t>
            </a:r>
            <a:r>
              <a:rPr lang="en-US" dirty="0"/>
              <a:t> (SVG) mean-field or the </a:t>
            </a:r>
            <a:r>
              <a:rPr lang="en-US" dirty="0" err="1"/>
              <a:t>Ciofi</a:t>
            </a:r>
            <a:r>
              <a:rPr lang="en-US" dirty="0"/>
              <a:t>–Simula (CS) spectral-function</a:t>
            </a: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6DE40-634B-6437-8CC3-0FD061C7F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20F78-5D00-1F6A-3DBA-67369C893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E86C5-59DE-A182-C626-DDC5A8836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463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7CC6D-33EA-44FD-FD62-8C9297AF4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5A32E-02F5-33F9-7EA1-2BC14F199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667E3-5E0B-CD56-812A-C75546567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36512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Compare: Electron </a:t>
            </a:r>
            <a:r>
              <a:rPr lang="en-US" dirty="0" err="1"/>
              <a:t>CuSn</a:t>
            </a:r>
            <a:r>
              <a:rPr lang="en-US" dirty="0"/>
              <a:t> Data vs MC </a:t>
            </a:r>
            <a:r>
              <a:rPr lang="en-US" dirty="0" err="1"/>
              <a:t>Outbending</a:t>
            </a:r>
            <a:r>
              <a:rPr lang="en-US" dirty="0"/>
              <a:t> and </a:t>
            </a:r>
            <a:r>
              <a:rPr lang="en-US" dirty="0" err="1"/>
              <a:t>Inbending</a:t>
            </a: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95511-070E-EC82-72C9-2DA7F6075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64195-6088-74A7-B792-CA01B9061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8FA29-E14A-C599-2BCC-28E0FFE4E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27DCF6-3053-E12F-5931-E724E86E48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7"/>
          <a:stretch>
            <a:fillRect/>
          </a:stretch>
        </p:blipFill>
        <p:spPr>
          <a:xfrm>
            <a:off x="109982" y="1635605"/>
            <a:ext cx="5861645" cy="44028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866009-4636-67CE-2C69-6FBDC8A35AEA}"/>
              </a:ext>
            </a:extLst>
          </p:cNvPr>
          <p:cNvSpPr txBox="1"/>
          <p:nvPr/>
        </p:nvSpPr>
        <p:spPr>
          <a:xfrm>
            <a:off x="2606040" y="2270760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</a:rPr>
              <a:t>Outbending</a:t>
            </a:r>
            <a:endParaRPr lang="en-US" dirty="0">
              <a:solidFill>
                <a:srgbClr val="243643"/>
              </a:solidFill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D010CA-593E-5710-00B0-A9FE59685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219" y="1635605"/>
            <a:ext cx="5863222" cy="44028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1AED31-B89E-A0AA-AF15-68A8D14BE46A}"/>
              </a:ext>
            </a:extLst>
          </p:cNvPr>
          <p:cNvSpPr txBox="1"/>
          <p:nvPr/>
        </p:nvSpPr>
        <p:spPr>
          <a:xfrm>
            <a:off x="7924800" y="2339340"/>
            <a:ext cx="1225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</a:rPr>
              <a:t>Inbending</a:t>
            </a:r>
            <a:endParaRPr lang="en-US" dirty="0">
              <a:solidFill>
                <a:srgbClr val="243643"/>
              </a:solidFill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207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CDA74-89CC-947B-9D2C-7A880BCD2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FC723C8-D52B-44E7-6817-DBD3EBD91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443" y="1718784"/>
            <a:ext cx="5887577" cy="44130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A02D50-083E-2F7F-E819-0C663704E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39" y="1693595"/>
            <a:ext cx="5913530" cy="44382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FD622-C8B8-B5ED-78EC-ED4A06F62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29F8E-B50F-24F1-0557-5E95D58A6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36512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Compare: Electron </a:t>
            </a:r>
            <a:r>
              <a:rPr lang="en-US" dirty="0" err="1"/>
              <a:t>CxC</a:t>
            </a:r>
            <a:r>
              <a:rPr lang="en-US" dirty="0"/>
              <a:t> Data vs MC </a:t>
            </a:r>
            <a:r>
              <a:rPr lang="en-US" dirty="0" err="1"/>
              <a:t>Outbending</a:t>
            </a:r>
            <a:r>
              <a:rPr lang="en-US" dirty="0"/>
              <a:t> and </a:t>
            </a:r>
            <a:r>
              <a:rPr lang="en-US" dirty="0" err="1"/>
              <a:t>Inbending</a:t>
            </a: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7E5CF-BFD9-8B68-4C33-1846F9723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DB55A-0A50-CACE-5DC7-8260E67B9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7DA5D-ABAE-90AB-0F94-EEBF30884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29676A-C775-244A-1FBE-7D0EDF7C4E6A}"/>
              </a:ext>
            </a:extLst>
          </p:cNvPr>
          <p:cNvSpPr txBox="1"/>
          <p:nvPr/>
        </p:nvSpPr>
        <p:spPr>
          <a:xfrm>
            <a:off x="2849880" y="2339340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</a:rPr>
              <a:t>Outbending</a:t>
            </a:r>
            <a:endParaRPr lang="en-US" dirty="0">
              <a:solidFill>
                <a:srgbClr val="243643"/>
              </a:solidFill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A20B3B-0682-3EA8-F98A-7F18098B63B3}"/>
              </a:ext>
            </a:extLst>
          </p:cNvPr>
          <p:cNvSpPr txBox="1"/>
          <p:nvPr/>
        </p:nvSpPr>
        <p:spPr>
          <a:xfrm>
            <a:off x="8727440" y="2910955"/>
            <a:ext cx="1225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</a:rPr>
              <a:t>Inbending</a:t>
            </a:r>
            <a:endParaRPr lang="en-US" dirty="0">
              <a:solidFill>
                <a:srgbClr val="243643"/>
              </a:solidFill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314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EB709-7CEE-052D-2566-F3612730E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FEB57-960E-0844-9A11-0BA1CA436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ED2E7-375E-3B7A-FE36-BBBB724C4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763" y="950826"/>
            <a:ext cx="2844800" cy="18609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Compare: Pion </a:t>
            </a:r>
            <a:r>
              <a:rPr lang="en-US" dirty="0" err="1"/>
              <a:t>CuSn</a:t>
            </a:r>
            <a:r>
              <a:rPr lang="en-US" dirty="0"/>
              <a:t> Data vs MC </a:t>
            </a:r>
            <a:r>
              <a:rPr lang="en-US" dirty="0" err="1"/>
              <a:t>Outbending</a:t>
            </a:r>
            <a:r>
              <a:rPr lang="en-US" dirty="0"/>
              <a:t> and </a:t>
            </a:r>
            <a:r>
              <a:rPr lang="en-US" dirty="0" err="1"/>
              <a:t>Inbending</a:t>
            </a: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9BC07-50DB-3047-137F-15B4C9BCC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2E9E7-EDB4-9930-1174-ED589BD5A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9EFB1-2EDC-6D66-8539-8D0EC1EDD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B776CF-49B6-53C0-26C9-DA67E7718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340" y="647561"/>
            <a:ext cx="8807644" cy="30853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C19822-47F1-846C-FF32-DD5E5DF6C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340" y="3730291"/>
            <a:ext cx="8807644" cy="30853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600D33-5D5C-1465-E069-8955A5746B8B}"/>
              </a:ext>
            </a:extLst>
          </p:cNvPr>
          <p:cNvSpPr txBox="1"/>
          <p:nvPr/>
        </p:nvSpPr>
        <p:spPr>
          <a:xfrm>
            <a:off x="6713220" y="1511971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</a:rPr>
              <a:t>Outbending</a:t>
            </a:r>
            <a:endParaRPr lang="en-US" dirty="0">
              <a:solidFill>
                <a:srgbClr val="243643"/>
              </a:solidFill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B8D238-BB69-C25C-BBAC-3DDE8A16FDE9}"/>
              </a:ext>
            </a:extLst>
          </p:cNvPr>
          <p:cNvSpPr txBox="1"/>
          <p:nvPr/>
        </p:nvSpPr>
        <p:spPr>
          <a:xfrm>
            <a:off x="6614865" y="4542296"/>
            <a:ext cx="1225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</a:rPr>
              <a:t>Inbending</a:t>
            </a:r>
            <a:endParaRPr lang="en-US" dirty="0">
              <a:solidFill>
                <a:srgbClr val="243643"/>
              </a:solidFill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003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6534B-E110-FFD0-6C51-599A77788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11D5B-0014-D2CE-5A55-D6D93CC2B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BEB58-66D7-0D3D-A1CA-EBD69786D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762" y="950826"/>
            <a:ext cx="12118197" cy="18609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Reconstructed </a:t>
            </a:r>
            <a:r>
              <a:rPr lang="en-US" dirty="0" err="1"/>
              <a:t>Vz</a:t>
            </a:r>
            <a:r>
              <a:rPr lang="en-US" dirty="0"/>
              <a:t> distribution for </a:t>
            </a:r>
            <a:r>
              <a:rPr lang="en-US" dirty="0" err="1"/>
              <a:t>pions</a:t>
            </a:r>
            <a:r>
              <a:rPr lang="en-US" dirty="0"/>
              <a:t> in </a:t>
            </a:r>
            <a:r>
              <a:rPr lang="en-US" dirty="0" err="1"/>
              <a:t>CuSn</a:t>
            </a:r>
            <a:r>
              <a:rPr lang="en-US" dirty="0"/>
              <a:t> </a:t>
            </a:r>
            <a:r>
              <a:rPr lang="en-US" dirty="0" err="1"/>
              <a:t>outbending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We have that feature around -6 cm</a:t>
            </a:r>
          </a:p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I need to understand if it is a real t</a:t>
            </a:r>
            <a:r>
              <a:rPr lang="en-US" dirty="0"/>
              <a:t>hing or a bug in my code</a:t>
            </a: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E18A6-3065-54EC-AFD2-80FCF1112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19A9E-D208-CBBE-60D3-B2CD27D18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CCED4-BA9A-2B5B-B2AD-420044E03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94AD7DD-8977-5EE8-5B46-1C3775215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35" y="2363347"/>
            <a:ext cx="11384365" cy="3991733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307C1A2-6789-69E3-3562-32D0EA2E6A0C}"/>
              </a:ext>
            </a:extLst>
          </p:cNvPr>
          <p:cNvSpPr/>
          <p:nvPr/>
        </p:nvSpPr>
        <p:spPr>
          <a:xfrm>
            <a:off x="2354580" y="5352477"/>
            <a:ext cx="701040" cy="701040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712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626D1-861C-D9E4-8EB2-7A2BF744A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74B7D29-ABD9-837F-C3D3-6D87F92DB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400" y="3723829"/>
            <a:ext cx="8737388" cy="30673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3E5C8E1-037A-4785-979F-C3FB1FF77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400" y="686153"/>
            <a:ext cx="8730236" cy="30673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7A12A7-2D96-AF5A-704E-933328C1F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9A29-616F-3A13-21B2-67FF200A4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763" y="950826"/>
            <a:ext cx="2844800" cy="18609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Compare: Pion </a:t>
            </a:r>
            <a:r>
              <a:rPr lang="en-US" dirty="0" err="1"/>
              <a:t>CxC</a:t>
            </a:r>
            <a:r>
              <a:rPr lang="en-US" dirty="0"/>
              <a:t> Data vs MC </a:t>
            </a:r>
            <a:r>
              <a:rPr lang="en-US" dirty="0" err="1"/>
              <a:t>Outbending</a:t>
            </a:r>
            <a:r>
              <a:rPr lang="en-US" dirty="0"/>
              <a:t> and </a:t>
            </a:r>
            <a:r>
              <a:rPr lang="en-US" dirty="0" err="1"/>
              <a:t>Inbending</a:t>
            </a: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A424D-E798-4907-EECA-8AE355D65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79F25-3AEC-F496-65A3-22AFD5D1A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E049B-B5DA-5F4A-CE44-C0EE3E3BF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A78975-6178-5130-8D97-F7F83D616371}"/>
              </a:ext>
            </a:extLst>
          </p:cNvPr>
          <p:cNvSpPr txBox="1"/>
          <p:nvPr/>
        </p:nvSpPr>
        <p:spPr>
          <a:xfrm>
            <a:off x="7121250" y="1427908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</a:rPr>
              <a:t>Outbending</a:t>
            </a:r>
            <a:endParaRPr lang="en-US" dirty="0">
              <a:solidFill>
                <a:srgbClr val="243643"/>
              </a:solidFill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2ACB09-808D-6B7D-1A8C-2F60A2853A4D}"/>
              </a:ext>
            </a:extLst>
          </p:cNvPr>
          <p:cNvSpPr txBox="1"/>
          <p:nvPr/>
        </p:nvSpPr>
        <p:spPr>
          <a:xfrm>
            <a:off x="6973005" y="4495288"/>
            <a:ext cx="1225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</a:rPr>
              <a:t>Inbending</a:t>
            </a:r>
            <a:endParaRPr lang="en-US" dirty="0">
              <a:solidFill>
                <a:srgbClr val="243643"/>
              </a:solidFill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76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5017B-9661-DA61-AB2E-A2D161522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AA831-4F4C-3E7D-11B6-41A42A429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Contamination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90401-E75B-5DA0-3FE8-9F7DFDAB2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762" y="950826"/>
            <a:ext cx="12247737" cy="5228994"/>
          </a:xfrm>
        </p:spPr>
        <p:txBody>
          <a:bodyPr>
            <a:normAutofit/>
          </a:bodyPr>
          <a:lstStyle/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Estimate the contamination for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CuSn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OB and IB using simulation:</a:t>
            </a:r>
          </a:p>
          <a:p>
            <a:pPr lvl="1"/>
            <a:r>
              <a:rPr lang="en-US" dirty="0"/>
              <a:t>For each target peak we have the simulated </a:t>
            </a:r>
            <a:r>
              <a:rPr lang="en-US" dirty="0" err="1"/>
              <a:t>Vz</a:t>
            </a:r>
            <a:r>
              <a:rPr lang="en-US" dirty="0"/>
              <a:t> distribution: the </a:t>
            </a:r>
            <a:r>
              <a:rPr lang="en-US" i="1" dirty="0"/>
              <a:t>total</a:t>
            </a:r>
            <a:r>
              <a:rPr lang="en-US" dirty="0"/>
              <a:t>, the </a:t>
            </a:r>
            <a:r>
              <a:rPr lang="en-US" i="1" dirty="0"/>
              <a:t>Sn-only</a:t>
            </a:r>
            <a:r>
              <a:rPr lang="en-US" dirty="0"/>
              <a:t> (true Sn tracks), and the </a:t>
            </a:r>
            <a:r>
              <a:rPr lang="en-US" i="1" dirty="0"/>
              <a:t>Cu-only</a:t>
            </a:r>
            <a:r>
              <a:rPr lang="en-US" dirty="0"/>
              <a:t> (true Cu tracks).</a:t>
            </a:r>
          </a:p>
          <a:p>
            <a:pPr lvl="1"/>
            <a:r>
              <a:rPr lang="en-US" dirty="0"/>
              <a:t>The MC </a:t>
            </a:r>
            <a:r>
              <a:rPr lang="en-US" dirty="0" err="1"/>
              <a:t>Vz</a:t>
            </a:r>
            <a:r>
              <a:rPr lang="en-US" dirty="0"/>
              <a:t> peaks are shifted so they sit exactly where the corrected data peaks are.</a:t>
            </a:r>
          </a:p>
          <a:p>
            <a:pPr lvl="1"/>
            <a:r>
              <a:rPr lang="en-US" dirty="0"/>
              <a:t>Define a selection window per target: Around each peak we draw a window of </a:t>
            </a:r>
            <a:r>
              <a:rPr lang="en-US" b="1" dirty="0" err="1"/>
              <a:t>μ</a:t>
            </a:r>
            <a:r>
              <a:rPr lang="en-US" b="1" dirty="0"/>
              <a:t> ± 3σ</a:t>
            </a:r>
            <a:r>
              <a:rPr lang="en-US" dirty="0"/>
              <a:t>, taken from the Voigt fit of the corrected data peak (the actual cut one would use to select that target).</a:t>
            </a:r>
          </a:p>
          <a:p>
            <a:pPr lvl="1"/>
            <a:r>
              <a:rPr lang="en-US" dirty="0"/>
              <a:t>Count the wrong-target events inside the window: Within the Sn window we integrate the </a:t>
            </a:r>
            <a:r>
              <a:rPr lang="en-US" i="1" dirty="0"/>
              <a:t>Cu-truth</a:t>
            </a:r>
            <a:r>
              <a:rPr lang="en-US" dirty="0"/>
              <a:t> MC distribution. Those are Cu events that leak into the Sn selection (and vice versa)</a:t>
            </a:r>
            <a:r>
              <a:rPr lang="en-US" b="1" dirty="0"/>
              <a:t>.</a:t>
            </a:r>
            <a:endParaRPr lang="en-US" dirty="0"/>
          </a:p>
          <a:p>
            <a:pPr lvl="1"/>
            <a:r>
              <a:rPr lang="en-US" dirty="0"/>
              <a:t>Contamination = (wrong-target events in the window) / (all events in the window)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B88CB-D224-BDA7-FA98-5FC956A83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4DE5E-5D00-9154-7245-4464EB5B3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4542E-E865-9B36-01ED-A692A00AA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485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B0ECD-BE9E-2DDA-4DF3-C247F69F4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C4082-850F-94EF-1DE8-2FC54FEED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Contamination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BA75E-D403-7175-BE18-D9D60CDAA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762" y="950826"/>
            <a:ext cx="12247737" cy="1860954"/>
          </a:xfrm>
        </p:spPr>
        <p:txBody>
          <a:bodyPr>
            <a:normAutofit/>
          </a:bodyPr>
          <a:lstStyle/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Estimate the contamination for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CuSn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OB and IB using simulation: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F7021-5073-FADF-BAF2-68DBB5A18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A2AE6-26C1-84FC-2B06-76DE96F9C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EF33B-D976-CEDA-E865-BBA0C59D1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139164-BC2F-F9BC-BC2C-72B4F58DD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525674"/>
            <a:ext cx="8069580" cy="478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88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EFE83-CE46-F42F-8992-1E73C8BB5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D87AE-D41B-8DE6-2A88-BBFEF3E35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Contamination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ED89E-48C3-596A-EF2E-C069B3598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762" y="950826"/>
            <a:ext cx="12247737" cy="1860954"/>
          </a:xfrm>
        </p:spPr>
        <p:txBody>
          <a:bodyPr>
            <a:normAutofit/>
          </a:bodyPr>
          <a:lstStyle/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Estimate the contamination for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CuSn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OB and IB using simulation: </a:t>
            </a: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0757C-3B92-6B38-234F-A960923C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0ED1E-E521-5E77-AA7C-3D79A1028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2D3D5-F9D7-46E6-FE9B-A43BE2399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AC3E28-5077-089C-7592-0C109E022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13" y="1457093"/>
            <a:ext cx="8160887" cy="4823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959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1674A-45B2-CE9B-88DC-3E3E7F417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77BBA-6672-0576-900C-24CAD025F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5EFF0-B2FE-D520-492B-128542C67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762" y="950826"/>
            <a:ext cx="11874358" cy="47794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Conclusion: </a:t>
            </a:r>
          </a:p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	</a:t>
            </a:r>
            <a:r>
              <a:rPr lang="en-US" dirty="0"/>
              <a:t>MC and data are quite similar</a:t>
            </a:r>
          </a:p>
          <a:p>
            <a:pPr marL="0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	We can use MC to estimate the </a:t>
            </a:r>
            <a:r>
              <a:rPr lang="en-US" dirty="0"/>
              <a:t>contamination of Cu in Sn target and the Sn in Cu target for electron and </a:t>
            </a:r>
            <a:r>
              <a:rPr lang="en-US" dirty="0" err="1"/>
              <a:t>pions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Contamination: </a:t>
            </a:r>
          </a:p>
          <a:p>
            <a:pPr marL="0" indent="0">
              <a:buNone/>
            </a:pPr>
            <a:r>
              <a:rPr lang="en-US" dirty="0"/>
              <a:t>                   OB                                              IB</a:t>
            </a:r>
          </a:p>
          <a:p>
            <a:pPr marL="0" indent="0">
              <a:buNone/>
            </a:pPr>
            <a:r>
              <a:rPr lang="en-US" dirty="0"/>
              <a:t>	 </a:t>
            </a: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D5ADA-212A-D90A-E447-16CCB4998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DD888-B21A-54FD-8D4B-46C2A9C2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07733-1C89-F8BD-C958-819B588C0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CBF3DE-A443-4654-F2BE-7F3147D8E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50" y="3874197"/>
            <a:ext cx="3009900" cy="2298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D86D6F-5196-AED8-C404-7329454F8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840" y="3937697"/>
            <a:ext cx="2997200" cy="22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625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1B988-C3F4-C506-3565-2742A791C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π</a:t>
            </a:r>
            <a:r>
              <a:rPr lang="en-US" baseline="30000" dirty="0"/>
              <a:t>0</a:t>
            </a:r>
            <a:r>
              <a:rPr lang="en-US" dirty="0"/>
              <a:t> study</a:t>
            </a:r>
            <a:endParaRPr lang="en-US" baseline="30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12548-CA47-1ED0-5E53-B7E770832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1337497"/>
          </a:xfrm>
        </p:spPr>
        <p:txBody>
          <a:bodyPr/>
          <a:lstStyle/>
          <a:p>
            <a:r>
              <a:rPr lang="en-US" dirty="0"/>
              <a:t>Want to extract multiplicity ratio, </a:t>
            </a:r>
            <a:r>
              <a:rPr lang="en-US" dirty="0" err="1"/>
              <a:t>p</a:t>
            </a:r>
            <a:r>
              <a:rPr lang="en-US" baseline="-25000" dirty="0" err="1"/>
              <a:t>T</a:t>
            </a:r>
            <a:r>
              <a:rPr lang="en-US" baseline="-25000" dirty="0"/>
              <a:t> </a:t>
            </a:r>
            <a:r>
              <a:rPr lang="en-US" dirty="0"/>
              <a:t>broadening and </a:t>
            </a:r>
            <a:r>
              <a:rPr lang="en-US" dirty="0" err="1"/>
              <a:t>azithumal</a:t>
            </a:r>
            <a:r>
              <a:rPr lang="en-US" dirty="0"/>
              <a:t> modulation for π</a:t>
            </a:r>
            <a:r>
              <a:rPr lang="en-US" baseline="30000" dirty="0"/>
              <a:t>0</a:t>
            </a:r>
          </a:p>
          <a:p>
            <a:r>
              <a:rPr lang="en-US" dirty="0"/>
              <a:t>Work with 10% of the dataset</a:t>
            </a:r>
          </a:p>
          <a:p>
            <a:r>
              <a:rPr lang="en-US" dirty="0"/>
              <a:t>First step: electron selection: 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12ECB-3687-1AD0-E20B-95745A38C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DC84E-F74C-CDE5-19D8-3C188ED0A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66FAE-21E5-926C-4DE3-A6D406E8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D479A53-AEB1-525F-D07F-613AED939E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896863"/>
              </p:ext>
            </p:extLst>
          </p:nvPr>
        </p:nvGraphicFramePr>
        <p:xfrm>
          <a:off x="373379" y="2369978"/>
          <a:ext cx="8580120" cy="2926080"/>
        </p:xfrm>
        <a:graphic>
          <a:graphicData uri="http://schemas.openxmlformats.org/drawingml/2006/table">
            <a:tbl>
              <a:tblPr/>
              <a:tblGrid>
                <a:gridCol w="3268981">
                  <a:extLst>
                    <a:ext uri="{9D8B030D-6E8A-4147-A177-3AD203B41FA5}">
                      <a16:colId xmlns:a16="http://schemas.microsoft.com/office/drawing/2014/main" val="117144702"/>
                    </a:ext>
                  </a:extLst>
                </a:gridCol>
                <a:gridCol w="5311139">
                  <a:extLst>
                    <a:ext uri="{9D8B030D-6E8A-4147-A177-3AD203B41FA5}">
                      <a16:colId xmlns:a16="http://schemas.microsoft.com/office/drawing/2014/main" val="3769781242"/>
                    </a:ext>
                  </a:extLst>
                </a:gridCol>
              </a:tblGrid>
              <a:tr h="286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dirty="0">
                          <a:solidFill>
                            <a:srgbClr val="304D59"/>
                          </a:solidFill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Cut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>
                          <a:solidFill>
                            <a:srgbClr val="304D59"/>
                          </a:solidFill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2853277"/>
                  </a:ext>
                </a:extLst>
              </a:tr>
              <a:tr h="286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dirty="0">
                          <a:solidFill>
                            <a:srgbClr val="304D59"/>
                          </a:solidFill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dirty="0">
                          <a:solidFill>
                            <a:srgbClr val="304D59"/>
                          </a:solidFill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p &gt; 2 GeV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3962213"/>
                  </a:ext>
                </a:extLst>
              </a:tr>
              <a:tr h="286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dirty="0">
                          <a:solidFill>
                            <a:srgbClr val="304D59"/>
                          </a:solidFill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dirty="0">
                          <a:solidFill>
                            <a:srgbClr val="304D59"/>
                          </a:solidFill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status &lt; 0 and 2000 &lt; |status| &lt; 4000 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5223599"/>
                  </a:ext>
                </a:extLst>
              </a:tr>
              <a:tr h="286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dirty="0">
                          <a:solidFill>
                            <a:srgbClr val="304D59"/>
                          </a:solidFill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Chi2 PID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>
                          <a:solidFill>
                            <a:srgbClr val="304D59"/>
                          </a:solidFill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−5.0 &lt; χ²pid &lt; 5.0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760807"/>
                  </a:ext>
                </a:extLst>
              </a:tr>
              <a:tr h="286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>
                          <a:solidFill>
                            <a:srgbClr val="304D59"/>
                          </a:solidFill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Sampling fraction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>
                          <a:solidFill>
                            <a:srgbClr val="304D59"/>
                          </a:solidFill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mean ± 3.5σ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8841864"/>
                  </a:ext>
                </a:extLst>
              </a:tr>
              <a:tr h="286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dirty="0">
                          <a:solidFill>
                            <a:srgbClr val="304D59"/>
                          </a:solidFill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Vertex z (target-dependent)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dirty="0">
                          <a:solidFill>
                            <a:srgbClr val="304D59"/>
                          </a:solidFill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mean ± 3σ on corrected </a:t>
                      </a:r>
                      <a:r>
                        <a:rPr lang="en-US" sz="1800" b="0" i="0" dirty="0" err="1">
                          <a:solidFill>
                            <a:srgbClr val="304D59"/>
                          </a:solidFill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Vz</a:t>
                      </a:r>
                      <a:endParaRPr lang="en-US" sz="1800" b="0" i="0" dirty="0">
                        <a:solidFill>
                          <a:srgbClr val="304D59"/>
                        </a:solidFill>
                        <a:latin typeface="Fira Sans Light" panose="020B0403050000020004" pitchFamily="34" charset="0"/>
                        <a:ea typeface="Fira Sans Light" panose="020B04030500000200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460878"/>
                  </a:ext>
                </a:extLst>
              </a:tr>
              <a:tr h="286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>
                          <a:solidFill>
                            <a:srgbClr val="304D59"/>
                          </a:solidFill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PCAL fiducial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>
                          <a:solidFill>
                            <a:srgbClr val="304D59"/>
                          </a:solidFill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lv &gt; 9.0 cm and lw &gt; 9.0 cm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6321991"/>
                  </a:ext>
                </a:extLst>
              </a:tr>
              <a:tr h="286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>
                          <a:solidFill>
                            <a:srgbClr val="304D59"/>
                          </a:solidFill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DC edge fiducial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dirty="0">
                          <a:solidFill>
                            <a:srgbClr val="304D59"/>
                          </a:solidFill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R1 &gt; 1.68, R2 &gt; 2.0, R3 &gt; 8.75 cm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375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193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6761D-6046-32E9-D958-867F73ED0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4679C-23C0-9A32-6893-BDEBBE493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π</a:t>
            </a:r>
            <a:r>
              <a:rPr lang="en-US" baseline="30000" dirty="0"/>
              <a:t>0</a:t>
            </a:r>
            <a:r>
              <a:rPr lang="en-US" dirty="0"/>
              <a:t> study</a:t>
            </a:r>
            <a:endParaRPr lang="en-US" baseline="30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C1E44-D867-AE63-74F2-DF39D3B0A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5139719"/>
          </a:xfrm>
        </p:spPr>
        <p:txBody>
          <a:bodyPr/>
          <a:lstStyle/>
          <a:p>
            <a:r>
              <a:rPr lang="en-US" dirty="0"/>
              <a:t>Want to extract multiplicity ratio, </a:t>
            </a:r>
            <a:r>
              <a:rPr lang="en-US" dirty="0" err="1"/>
              <a:t>p</a:t>
            </a:r>
            <a:r>
              <a:rPr lang="en-US" baseline="-25000" dirty="0" err="1"/>
              <a:t>T</a:t>
            </a:r>
            <a:r>
              <a:rPr lang="en-US" baseline="-25000" dirty="0"/>
              <a:t> </a:t>
            </a:r>
            <a:r>
              <a:rPr lang="en-US" dirty="0"/>
              <a:t>broadening and </a:t>
            </a:r>
            <a:r>
              <a:rPr lang="en-US" dirty="0" err="1"/>
              <a:t>azithumal</a:t>
            </a:r>
            <a:r>
              <a:rPr lang="en-US" dirty="0"/>
              <a:t> modulation for π</a:t>
            </a:r>
            <a:r>
              <a:rPr lang="en-US" baseline="30000" dirty="0"/>
              <a:t>0</a:t>
            </a:r>
          </a:p>
          <a:p>
            <a:r>
              <a:rPr lang="en-US" dirty="0"/>
              <a:t>Work with 10% of the dataset</a:t>
            </a:r>
          </a:p>
          <a:p>
            <a:r>
              <a:rPr lang="en-US" dirty="0"/>
              <a:t>Then select DIS events + y cut: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Then photon</a:t>
            </a:r>
            <a:r>
              <a:rPr lang="en-US" baseline="30000" dirty="0"/>
              <a:t> </a:t>
            </a:r>
            <a:r>
              <a:rPr lang="en-US" dirty="0"/>
              <a:t>selection: 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085F2-F3E4-DDB8-1F4E-24706B1E7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05/12/26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42CDB-49D2-DB05-8F66-A4F9FC996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EF67D-DD79-9916-90BE-ABC8FBB3C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E74B6C4-C782-C080-6BB0-F8966D897A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50487"/>
              </p:ext>
            </p:extLst>
          </p:nvPr>
        </p:nvGraphicFramePr>
        <p:xfrm>
          <a:off x="373380" y="2369979"/>
          <a:ext cx="2844800" cy="1303020"/>
        </p:xfrm>
        <a:graphic>
          <a:graphicData uri="http://schemas.openxmlformats.org/drawingml/2006/table">
            <a:tbl>
              <a:tblPr/>
              <a:tblGrid>
                <a:gridCol w="682435">
                  <a:extLst>
                    <a:ext uri="{9D8B030D-6E8A-4147-A177-3AD203B41FA5}">
                      <a16:colId xmlns:a16="http://schemas.microsoft.com/office/drawing/2014/main" val="117144702"/>
                    </a:ext>
                  </a:extLst>
                </a:gridCol>
                <a:gridCol w="2162365">
                  <a:extLst>
                    <a:ext uri="{9D8B030D-6E8A-4147-A177-3AD203B41FA5}">
                      <a16:colId xmlns:a16="http://schemas.microsoft.com/office/drawing/2014/main" val="3769781242"/>
                    </a:ext>
                  </a:extLst>
                </a:gridCol>
              </a:tblGrid>
              <a:tr h="355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dirty="0">
                          <a:solidFill>
                            <a:srgbClr val="304D59"/>
                          </a:solidFill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Cut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>
                          <a:solidFill>
                            <a:srgbClr val="304D59"/>
                          </a:solidFill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2853277"/>
                  </a:ext>
                </a:extLst>
              </a:tr>
              <a:tr h="303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i="0" dirty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Q²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i="0" dirty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&gt; 1.0</a:t>
                      </a:r>
                    </a:p>
                  </a:txBody>
                  <a:tcPr marL="19050" marR="19050" marT="19050" marB="1905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5223599"/>
                  </a:ext>
                </a:extLst>
              </a:tr>
              <a:tr h="303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i="0" dirty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W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i="0" dirty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&gt; 2.0</a:t>
                      </a:r>
                    </a:p>
                  </a:txBody>
                  <a:tcPr marL="19050" marR="19050" marT="19050" marB="1905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760807"/>
                  </a:ext>
                </a:extLst>
              </a:tr>
              <a:tr h="303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i="0" dirty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y 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i="0" dirty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&lt; 0.85</a:t>
                      </a:r>
                    </a:p>
                  </a:txBody>
                  <a:tcPr marL="19050" marR="19050" marT="19050" marB="1905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884186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6AA3614-A62A-45EF-9A74-E7BD4A0FF3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6827"/>
              </p:ext>
            </p:extLst>
          </p:nvPr>
        </p:nvGraphicFramePr>
        <p:xfrm>
          <a:off x="159544" y="4095721"/>
          <a:ext cx="11374436" cy="2194560"/>
        </p:xfrm>
        <a:graphic>
          <a:graphicData uri="http://schemas.openxmlformats.org/drawingml/2006/table">
            <a:tbl>
              <a:tblPr/>
              <a:tblGrid>
                <a:gridCol w="2598896">
                  <a:extLst>
                    <a:ext uri="{9D8B030D-6E8A-4147-A177-3AD203B41FA5}">
                      <a16:colId xmlns:a16="http://schemas.microsoft.com/office/drawing/2014/main" val="100612751"/>
                    </a:ext>
                  </a:extLst>
                </a:gridCol>
                <a:gridCol w="8775540">
                  <a:extLst>
                    <a:ext uri="{9D8B030D-6E8A-4147-A177-3AD203B41FA5}">
                      <a16:colId xmlns:a16="http://schemas.microsoft.com/office/drawing/2014/main" val="26128775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dirty="0"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Cut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94931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dirty="0"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Min photon energy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dirty="0"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E ≥ 0.2 GeV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976602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dirty="0"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Beta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dirty="0"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0.9 &lt; β &lt; 1.1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1561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PCAL fiducial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dirty="0"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lv &gt; 14.0 cm and </a:t>
                      </a:r>
                      <a:r>
                        <a:rPr lang="en-US" sz="1800" b="0" i="0" dirty="0" err="1"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lw</a:t>
                      </a:r>
                      <a:r>
                        <a:rPr lang="en-US" sz="1800" b="0" i="0" dirty="0"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 &gt; 14.0 cm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82362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dirty="0"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FD theta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5.0° – 35.0°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5272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dirty="0"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AI photon classifier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dirty="0"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sigmoid output &gt; 0.78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8530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909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6C42A-F6E8-6233-195D-410F9CAA0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FB579-F10A-D055-F566-16624E68C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π</a:t>
            </a:r>
            <a:r>
              <a:rPr lang="en-US" baseline="30000" dirty="0"/>
              <a:t>0</a:t>
            </a:r>
            <a:r>
              <a:rPr lang="en-US" dirty="0"/>
              <a:t> study</a:t>
            </a:r>
            <a:endParaRPr lang="en-US" baseline="30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36954-82EF-6802-4E6D-352A8F98A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43055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Electron kinematics after all these cuts: </a:t>
            </a:r>
            <a:endParaRPr lang="en-US" baseline="30000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2C598-590F-2F90-F104-6FAB423F5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05/12/26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03505-E91E-7979-E91F-EC1282A09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48E60-B4AA-97E5-3EDD-6489083E8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FF3D4C-8CFE-662F-9C3E-8CF982711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01" y="1386840"/>
            <a:ext cx="10898223" cy="51739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71E50D-C77C-E6D4-4AAC-38CBB70D6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818" y="776349"/>
            <a:ext cx="47752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600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E0390-6C2D-CABC-CC8C-EF985F98C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7888-D60C-975A-F60E-167276759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π</a:t>
            </a:r>
            <a:r>
              <a:rPr lang="en-US" baseline="30000" dirty="0"/>
              <a:t>0</a:t>
            </a:r>
            <a:r>
              <a:rPr lang="en-US" dirty="0"/>
              <a:t> study</a:t>
            </a:r>
            <a:endParaRPr lang="en-US" baseline="30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903D1-8CC7-F923-9485-4637FBAF8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43055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Electron kinematics after all these cuts: </a:t>
            </a:r>
            <a:endParaRPr lang="en-US" baseline="30000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8E48B-2CBF-DDA0-9EC9-A0D20334F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05/12/26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67972-D834-C134-71E4-9D02873A2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C4668-B934-00A4-D449-2EC547D3D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FE4005-3F99-1F2C-67AC-7CA512D70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818" y="776349"/>
            <a:ext cx="4775200" cy="533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9707F1-835C-7CAE-5A3E-0EB97B0F1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32318"/>
            <a:ext cx="11094720" cy="53364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8C92BF-F894-AAC4-5CF3-9EBF9AB2E48F}"/>
              </a:ext>
            </a:extLst>
          </p:cNvPr>
          <p:cNvSpPr txBox="1"/>
          <p:nvPr/>
        </p:nvSpPr>
        <p:spPr>
          <a:xfrm>
            <a:off x="0" y="3801674"/>
            <a:ext cx="28552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</a:rPr>
              <a:t>Mostly sanity check</a:t>
            </a:r>
          </a:p>
        </p:txBody>
      </p:sp>
    </p:spTree>
    <p:extLst>
      <p:ext uri="{BB962C8B-B14F-4D97-AF65-F5344CB8AC3E}">
        <p14:creationId xmlns:p14="http://schemas.microsoft.com/office/powerpoint/2010/main" val="2563273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23B9F-A541-A85E-1987-72650747E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F6179-EFCE-0864-A3CB-E26DD741F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π</a:t>
            </a:r>
            <a:r>
              <a:rPr lang="en-US" baseline="30000" dirty="0"/>
              <a:t>0</a:t>
            </a:r>
            <a:r>
              <a:rPr lang="en-US" dirty="0"/>
              <a:t> study</a:t>
            </a:r>
            <a:endParaRPr lang="en-US" baseline="30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D99F4-C09F-AA90-8C28-91C1E080B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43055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DIS variable after all these cuts: </a:t>
            </a:r>
            <a:endParaRPr lang="en-US" baseline="30000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4F768-E398-8F7A-E460-4447898BE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05/12/26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6658E-9590-4D20-91AA-8E0DC88C1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91344-9125-FE37-4FDF-8032E6351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D9E499-BD92-7AC2-C9FF-E2B890135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818" y="776349"/>
            <a:ext cx="4775200" cy="533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400E24-B249-8BFF-07A0-98DF87BF9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96" y="1463040"/>
            <a:ext cx="11000883" cy="487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517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A6816-5E22-C80D-EA98-6673CC8C3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32DA3-EF35-DC35-FACA-8005B6742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π</a:t>
            </a:r>
            <a:r>
              <a:rPr lang="en-US" baseline="30000" dirty="0"/>
              <a:t>0</a:t>
            </a:r>
            <a:r>
              <a:rPr lang="en-US" dirty="0"/>
              <a:t> study</a:t>
            </a:r>
            <a:endParaRPr lang="en-US" baseline="30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AA362-7525-28E4-7BF4-EEBA0CBA6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43055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photon kinematics after all these cuts: </a:t>
            </a:r>
            <a:endParaRPr lang="en-US" baseline="30000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ABD55-77DC-6613-05A6-960121E2E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05/12/26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FC942-D135-9FBA-687B-82F1C890D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A2D45-B7ED-D43C-9EB9-6ECB5150C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B234D0-1306-F23B-A074-19783B57B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818" y="776349"/>
            <a:ext cx="4775200" cy="533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165FC8-6D7B-E139-239D-CE756AE07A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0"/>
          <a:stretch>
            <a:fillRect/>
          </a:stretch>
        </p:blipFill>
        <p:spPr>
          <a:xfrm>
            <a:off x="403859" y="1463040"/>
            <a:ext cx="11386169" cy="520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106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0252A-E60B-275B-320F-16E84B3D8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BC1EC-4177-7011-6A3A-7853D50C2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π</a:t>
            </a:r>
            <a:r>
              <a:rPr lang="en-US" baseline="30000" dirty="0"/>
              <a:t>0</a:t>
            </a:r>
            <a:r>
              <a:rPr lang="en-US" dirty="0"/>
              <a:t> study</a:t>
            </a:r>
            <a:endParaRPr lang="en-US" baseline="30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4C84F-9C80-3091-488F-B5C1F7A6C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43055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Then select π</a:t>
            </a:r>
            <a:r>
              <a:rPr lang="en-US" baseline="30000" dirty="0"/>
              <a:t>0 </a:t>
            </a:r>
            <a:r>
              <a:rPr lang="en-US" dirty="0"/>
              <a:t>candidate: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A3F77-C333-3A26-0059-A3F6D4FB8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05/12/26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4A25C-CE19-5D17-D9FE-6D58F68F1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A6DD0-BDF2-8E03-E7BC-6D19AEC0B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5CDF97A-6B24-DD38-872E-A8DE1D16F7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793346"/>
              </p:ext>
            </p:extLst>
          </p:nvPr>
        </p:nvGraphicFramePr>
        <p:xfrm>
          <a:off x="109982" y="1463040"/>
          <a:ext cx="4736338" cy="1463040"/>
        </p:xfrm>
        <a:graphic>
          <a:graphicData uri="http://schemas.openxmlformats.org/drawingml/2006/table">
            <a:tbl>
              <a:tblPr/>
              <a:tblGrid>
                <a:gridCol w="2529638">
                  <a:extLst>
                    <a:ext uri="{9D8B030D-6E8A-4147-A177-3AD203B41FA5}">
                      <a16:colId xmlns:a16="http://schemas.microsoft.com/office/drawing/2014/main" val="2789386692"/>
                    </a:ext>
                  </a:extLst>
                </a:gridCol>
                <a:gridCol w="2206700">
                  <a:extLst>
                    <a:ext uri="{9D8B030D-6E8A-4147-A177-3AD203B41FA5}">
                      <a16:colId xmlns:a16="http://schemas.microsoft.com/office/drawing/2014/main" val="237626139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dirty="0"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Cut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77852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dirty="0"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Electron–photon angle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dirty="0"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&gt; 8.0°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67394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dirty="0"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Min </a:t>
                      </a:r>
                      <a:r>
                        <a:rPr lang="en-US" sz="1800" b="0" i="0" dirty="0" err="1"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γγ</a:t>
                      </a:r>
                      <a:r>
                        <a:rPr lang="en-US" sz="1800" b="0" i="0" dirty="0"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 invariant mass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dirty="0"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&gt; 0.001 GeV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78752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i="0" dirty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 z range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i="0" dirty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0.0 &lt; z &lt; 1.0</a:t>
                      </a:r>
                    </a:p>
                  </a:txBody>
                  <a:tcPr marL="19050" marR="19050" marT="19050" marB="1905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5318109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315DB62C-3C4F-B9BA-69AF-51DC909D5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9618" y="747255"/>
            <a:ext cx="7772400" cy="5592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823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3BC96-6595-8EDA-BCB9-982B04ADD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83BEB-76A0-5CCF-6C19-7910B7156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π</a:t>
            </a:r>
            <a:r>
              <a:rPr lang="en-US" baseline="30000" dirty="0"/>
              <a:t>0</a:t>
            </a:r>
            <a:r>
              <a:rPr lang="en-US" dirty="0"/>
              <a:t> study</a:t>
            </a:r>
            <a:endParaRPr lang="en-US" baseline="30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0A15C-5772-BDE8-F677-AD9A6D9D7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5460238" cy="2899439"/>
          </a:xfrm>
        </p:spPr>
        <p:txBody>
          <a:bodyPr>
            <a:normAutofit/>
          </a:bodyPr>
          <a:lstStyle/>
          <a:p>
            <a:r>
              <a:rPr lang="en-US" dirty="0"/>
              <a:t>Then extract multiplicity ratio: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where the π</a:t>
            </a:r>
            <a:r>
              <a:rPr lang="en-US" baseline="30000" dirty="0"/>
              <a:t>0</a:t>
            </a:r>
            <a:r>
              <a:rPr lang="en-US" dirty="0"/>
              <a:t> yields N</a:t>
            </a:r>
            <a:r>
              <a:rPr lang="en-US" baseline="-25000" dirty="0"/>
              <a:t>π</a:t>
            </a:r>
            <a:r>
              <a:rPr lang="en-US" baseline="30000" dirty="0"/>
              <a:t>0</a:t>
            </a:r>
            <a:r>
              <a:rPr lang="en-US" dirty="0"/>
              <a:t> are obtained after background subtraction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CE197-3086-EE93-3FA2-F02F8CCAC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05/12/26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05B61-6519-BD4E-FFC1-1E98B8843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79D1E-8B54-384A-A718-09F56BDFE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D2864D-8A7F-8CE2-284F-9C9026B9BF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9"/>
          <a:stretch>
            <a:fillRect/>
          </a:stretch>
        </p:blipFill>
        <p:spPr>
          <a:xfrm>
            <a:off x="5906118" y="11623"/>
            <a:ext cx="5889642" cy="68347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F59C90-E5CF-E119-2D03-5B374C43F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61004"/>
            <a:ext cx="4716780" cy="93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7014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B5640-5B77-3831-4CE5-704E3A79E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C12F1-CE62-E986-C294-B1B8ED0AF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π</a:t>
            </a:r>
            <a:r>
              <a:rPr lang="en-US" baseline="30000" dirty="0"/>
              <a:t>0</a:t>
            </a:r>
            <a:r>
              <a:rPr lang="en-US" dirty="0"/>
              <a:t> study</a:t>
            </a:r>
            <a:endParaRPr lang="en-US" baseline="30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54009-E81E-BDD1-C89A-3D6C4C295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5460238" cy="2899439"/>
          </a:xfrm>
        </p:spPr>
        <p:txBody>
          <a:bodyPr>
            <a:normAutofit/>
          </a:bodyPr>
          <a:lstStyle/>
          <a:p>
            <a:r>
              <a:rPr lang="en-US" dirty="0"/>
              <a:t>Then extract multiplicity ratio (without background subtraction):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1A862-6611-12EB-87E0-606F21491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05/12/26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44B0A-DEDF-3054-D6B6-4F0EBA04B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79AA3-3334-F841-D9B9-4078183D1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D0BDFB-C70B-B5BE-E4C0-2DC554F4B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927704"/>
            <a:ext cx="4716780" cy="9356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B4EFE1-4AE4-6FDD-BB34-781F89AE6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961" y="-525"/>
            <a:ext cx="59000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2080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0E0CB-76D7-927E-0D8D-776E90E41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8DEC6-9251-7C3C-BD5F-5B4BD6D81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π</a:t>
            </a:r>
            <a:r>
              <a:rPr lang="en-US" baseline="30000" dirty="0"/>
              <a:t>0</a:t>
            </a:r>
            <a:r>
              <a:rPr lang="en-US" dirty="0"/>
              <a:t> study</a:t>
            </a:r>
            <a:endParaRPr lang="en-US" baseline="30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C2B0D-A738-D074-3A08-0E487C7D0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5460238" cy="289943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Then extract </a:t>
            </a:r>
            <a:r>
              <a:rPr lang="en-US" dirty="0" err="1"/>
              <a:t>p</a:t>
            </a:r>
            <a:r>
              <a:rPr lang="en-US" baseline="-25000" dirty="0" err="1"/>
              <a:t>T</a:t>
            </a:r>
            <a:r>
              <a:rPr lang="en-US" dirty="0"/>
              <a:t> broadening: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where ⟨𝑝</a:t>
            </a:r>
            <a:r>
              <a:rPr lang="en-US" baseline="30000" dirty="0"/>
              <a:t>2</a:t>
            </a:r>
            <a:r>
              <a:rPr lang="en-US" baseline="-25000" dirty="0"/>
              <a:t>𝑇</a:t>
            </a:r>
            <a:r>
              <a:rPr lang="en-US" dirty="0"/>
              <a:t>⟩ is the mean transverse momentum squared in a given kinematic bin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D32C8-5136-2A2A-3741-EF66872D6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05/12/26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012F4-CC5B-063B-C2FB-43B6AAA18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E22C5-9FDB-68D3-1FF3-489D9991D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CBD0BD-AD50-C4FE-9A28-81F0AC837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1652270"/>
            <a:ext cx="3048000" cy="749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22F290-B518-919A-DC65-E0C209400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4928" y="0"/>
            <a:ext cx="59000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233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9045A-8BAB-FB4A-BB42-423B07383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EFEE4-AAB8-3E6B-0946-CB559E252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π</a:t>
            </a:r>
            <a:r>
              <a:rPr lang="en-US" baseline="30000" dirty="0"/>
              <a:t>0</a:t>
            </a:r>
            <a:r>
              <a:rPr lang="en-US" dirty="0"/>
              <a:t> study</a:t>
            </a:r>
            <a:endParaRPr lang="en-US" baseline="30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7835E-DE64-37DD-5210-2A906AB7B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5460238" cy="2899439"/>
          </a:xfrm>
        </p:spPr>
        <p:txBody>
          <a:bodyPr>
            <a:normAutofit/>
          </a:bodyPr>
          <a:lstStyle/>
          <a:p>
            <a:r>
              <a:rPr lang="en-US" dirty="0"/>
              <a:t>Then extract </a:t>
            </a:r>
            <a:r>
              <a:rPr lang="en-US" dirty="0" err="1"/>
              <a:t>azithumal</a:t>
            </a:r>
            <a:r>
              <a:rPr lang="en-US" dirty="0"/>
              <a:t> modulation: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55D59-5B83-501C-23E4-681CB168A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05/12/26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08D08-BB90-144E-088D-BEA3B76E0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46E10-E597-7D40-C6B3-C81285E44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1FEFAC-725E-F1BC-0BEA-FC7589269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58139"/>
            <a:ext cx="4565798" cy="6354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EF1AC5-A56E-521D-282E-550DB6519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379528"/>
            <a:ext cx="4565798" cy="7888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9B6267-E3F6-1E6B-1FB6-E85088CE48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9838" y="0"/>
            <a:ext cx="5920740" cy="33979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D72E0C-458A-0F9F-81FF-85BF351808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9838" y="3416013"/>
            <a:ext cx="5920740" cy="3405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7941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7CCCD-90B0-6AD8-C54B-0A59F7411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C21BD-89A5-3C9D-9905-2AE55B9DE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π</a:t>
            </a:r>
            <a:r>
              <a:rPr lang="en-US" baseline="30000" dirty="0"/>
              <a:t>0</a:t>
            </a:r>
            <a:r>
              <a:rPr lang="en-US" dirty="0"/>
              <a:t> study</a:t>
            </a:r>
            <a:endParaRPr lang="en-US" baseline="30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BE95D-5418-B3E5-EED7-68F013941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5460238" cy="4987319"/>
          </a:xfrm>
        </p:spPr>
        <p:txBody>
          <a:bodyPr>
            <a:normAutofit/>
          </a:bodyPr>
          <a:lstStyle/>
          <a:p>
            <a:r>
              <a:rPr lang="en-US" dirty="0"/>
              <a:t>Then extract </a:t>
            </a:r>
            <a:r>
              <a:rPr lang="en-US" dirty="0" err="1"/>
              <a:t>azithumal</a:t>
            </a:r>
            <a:r>
              <a:rPr lang="en-US" dirty="0"/>
              <a:t> modulation: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 need to find how to plot that variable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6A6CC-34B9-77AB-ACB3-B6483F0BE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05/12/26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25FE6-5A12-FC66-2F11-3D31D4400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1E262-3C34-DEBD-C32D-59A04D3A4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7488ED-44D5-3577-9A50-67D32AAC3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58139"/>
            <a:ext cx="4565798" cy="6354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A70DC2-50F3-A834-6924-A560156C9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379528"/>
            <a:ext cx="4565798" cy="7888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04DA81-C44C-0DD5-5DD3-46E1C88CE0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7802" y="-4294"/>
            <a:ext cx="5974215" cy="34332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6B4FBBE-802F-EA0C-98B5-69DC16204E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7802" y="3429000"/>
            <a:ext cx="6084198" cy="349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9722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69834-8D60-BC1C-5179-73CD3AC6D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8D690-2FB8-ECBB-D007-342CC17AA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π</a:t>
            </a:r>
            <a:r>
              <a:rPr lang="en-US" baseline="30000" dirty="0"/>
              <a:t>0</a:t>
            </a:r>
            <a:r>
              <a:rPr lang="en-US" dirty="0"/>
              <a:t> study</a:t>
            </a:r>
            <a:endParaRPr lang="en-US" baseline="30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B6D03-3D4F-B67B-40BD-A41D1E324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671420" cy="4987319"/>
          </a:xfrm>
        </p:spPr>
        <p:txBody>
          <a:bodyPr>
            <a:normAutofit/>
          </a:bodyPr>
          <a:lstStyle/>
          <a:p>
            <a:r>
              <a:rPr lang="en-US" dirty="0"/>
              <a:t>In the NTMDs proposal the observables are: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And from Daniel thesis: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20840-7FC0-2B80-E885-D0EB98A5F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05/12/26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848FA-9F3B-227E-6B89-B5B442996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FE27B-5EEE-949C-5F6B-627C5BBD0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24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EF3840-5BA7-6816-1430-D270800B8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98" y="1440219"/>
            <a:ext cx="7772400" cy="25952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CD1860-C1FE-F742-2019-0A648460C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671" y="4531672"/>
            <a:ext cx="7772400" cy="23263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94BDB7A-515E-D714-AEFE-43D9BEAD99E6}"/>
              </a:ext>
            </a:extLst>
          </p:cNvPr>
          <p:cNvSpPr txBox="1"/>
          <p:nvPr/>
        </p:nvSpPr>
        <p:spPr>
          <a:xfrm>
            <a:off x="8341999" y="1806129"/>
            <a:ext cx="37609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I am not sure how to compute the </a:t>
            </a:r>
          </a:p>
          <a:p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sin</a:t>
            </a:r>
            <a:r>
              <a:rPr lang="en-US" baseline="-25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LU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: I think I need to compute </a:t>
            </a:r>
          </a:p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beam spin asymmetry, fit and </a:t>
            </a:r>
          </a:p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extract the sin moment </a:t>
            </a:r>
          </a:p>
        </p:txBody>
      </p:sp>
    </p:spTree>
    <p:extLst>
      <p:ext uri="{BB962C8B-B14F-4D97-AF65-F5344CB8AC3E}">
        <p14:creationId xmlns:p14="http://schemas.microsoft.com/office/powerpoint/2010/main" val="29063311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0A0BD-69F7-40CC-181D-DECE2BCF7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312CB-CCDE-F0E7-D836-C59390DFF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π</a:t>
            </a:r>
            <a:r>
              <a:rPr lang="en-US" baseline="30000" dirty="0"/>
              <a:t>0</a:t>
            </a:r>
            <a:r>
              <a:rPr lang="en-US" dirty="0"/>
              <a:t> study</a:t>
            </a:r>
            <a:endParaRPr lang="en-US" baseline="30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2AC91-0508-1361-3BEB-BD05FF205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2"/>
            <a:ext cx="11671420" cy="584722"/>
          </a:xfrm>
        </p:spPr>
        <p:txBody>
          <a:bodyPr>
            <a:normAutofit/>
          </a:bodyPr>
          <a:lstStyle/>
          <a:p>
            <a:r>
              <a:rPr lang="en-US" dirty="0"/>
              <a:t>Because we can also extract </a:t>
            </a:r>
            <a:r>
              <a:rPr lang="en-US" dirty="0" err="1"/>
              <a:t>A</a:t>
            </a:r>
            <a:r>
              <a:rPr lang="en-US" baseline="-25000" dirty="0" err="1"/>
              <a:t>LU</a:t>
            </a:r>
            <a:r>
              <a:rPr lang="en-US" baseline="30000" dirty="0" err="1"/>
              <a:t>sin</a:t>
            </a:r>
            <a:r>
              <a:rPr lang="en-US" dirty="0"/>
              <a:t>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AD993-53EF-9F6F-9BDF-010F67E8C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05/12/26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8686F-0BDF-EF95-28A7-A805799B9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9F723-7658-2536-36ED-637C3F82D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AF7A42-0E59-770C-EDF8-0D4B292EE7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16" b="-1"/>
          <a:stretch>
            <a:fillRect/>
          </a:stretch>
        </p:blipFill>
        <p:spPr>
          <a:xfrm>
            <a:off x="317815" y="1735286"/>
            <a:ext cx="7458363" cy="3704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0805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DCA07-2D95-4B94-AD00-765B6F888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RG-L/ALERT: Pull Request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1076D-F10A-A5E0-491A-542D8E9EA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Whitney give me a lot of comments for the pull request. I started to work on them: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6FE3F-9F94-FB19-0B68-2DF4E2F47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A29C2-2BA5-108B-5CAD-BABB2F24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C2CF3-2D98-3219-3DAC-B6EC9F2B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1AF83E-E05C-C2C5-969E-2EB3908D7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43" y="1527361"/>
            <a:ext cx="5966057" cy="38032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BA8106-E1AE-C143-E184-DFDBE0550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668" y="1477526"/>
            <a:ext cx="5223120" cy="41975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D69650-912D-9653-6E0C-71BBA451F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8248" y="2626354"/>
            <a:ext cx="4884420" cy="42150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3B9B6C2-E0B0-C54C-B41A-D3BC4EAE86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8837" y="2834640"/>
            <a:ext cx="4240839" cy="402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1636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195E4-88D7-69F5-83A6-D0E5C8932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To do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E2598-B386-02D3-ECE4-6A6D09FB6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RG-D:</a:t>
            </a:r>
          </a:p>
          <a:p>
            <a:pPr lvl="1"/>
            <a:r>
              <a:rPr lang="en-US" dirty="0"/>
              <a:t>C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ontamination study for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pions</a:t>
            </a: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Continue the work on cos and sin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φ</a:t>
            </a:r>
            <a:r>
              <a:rPr lang="en-US" baseline="-25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h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extraction (find which variables to plot and how)</a:t>
            </a:r>
          </a:p>
          <a:p>
            <a:pPr lvl="1"/>
            <a:r>
              <a:rPr lang="en-US" dirty="0"/>
              <a:t>Read more paper/thesis/analysis note about azimuthal moment extraction</a:t>
            </a: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Work on the binning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Radiative and acceptance correction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Background for ρ</a:t>
            </a:r>
            <a:r>
              <a:rPr lang="en-US" baseline="30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0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with simulation for CT analysis</a:t>
            </a: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ALERT: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Finishing the pull request for the GNN (reply to comments: Whitney send me some comments)</a:t>
            </a: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120B9-0D55-C183-E2CD-1FE69337A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EEDA0-BAB5-9130-2D7E-F16A3E740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4FCEA-620F-8086-B86F-5A1E2FD7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477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F5496074-1DCC-FD49-93DA-4F2CC4561AAB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fb46c37d-841d-4d0b-b2b7-fe02fdbc6049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C88D9CA-47B6-6A4B-8F47-1A768226DC03}">
  <we:reference id="wa200007297" version="1.5.0.0" store="en-US" storeType="OMEX"/>
  <we:alternateReferences>
    <we:reference id="WA200007297" version="1.5.0.0" store="WA20000729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18615</TotalTime>
  <Words>1048</Words>
  <Application>Microsoft Macintosh PowerPoint</Application>
  <PresentationFormat>Widescreen</PresentationFormat>
  <Paragraphs>276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Fira Sans</vt:lpstr>
      <vt:lpstr>Fira Sans Light</vt:lpstr>
      <vt:lpstr>Office Theme</vt:lpstr>
      <vt:lpstr>Group meeting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Contamination</vt:lpstr>
      <vt:lpstr>RG-D: Vz Contamination</vt:lpstr>
      <vt:lpstr>RG-D: Vz Contamination</vt:lpstr>
      <vt:lpstr>RG-D: Vz correction</vt:lpstr>
      <vt:lpstr>RG-D: π0 study</vt:lpstr>
      <vt:lpstr>RG-D: π0 study</vt:lpstr>
      <vt:lpstr>RG-D: π0 study</vt:lpstr>
      <vt:lpstr>RG-D: π0 study</vt:lpstr>
      <vt:lpstr>RG-D: π0 study</vt:lpstr>
      <vt:lpstr>RG-D: π0 study</vt:lpstr>
      <vt:lpstr>RG-D: π0 study</vt:lpstr>
      <vt:lpstr>RG-D: π0 study</vt:lpstr>
      <vt:lpstr>RG-D: π0 study</vt:lpstr>
      <vt:lpstr>RG-D: π0 study</vt:lpstr>
      <vt:lpstr>RG-D: π0 study</vt:lpstr>
      <vt:lpstr>RG-D: π0 study</vt:lpstr>
      <vt:lpstr>RG-D: π0 study</vt:lpstr>
      <vt:lpstr>RG-D: π0 study</vt:lpstr>
      <vt:lpstr>RG-L/ALERT: Pull Request</vt:lpstr>
      <vt:lpstr>To do list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Panorámica</PresentationFormat>
  <Paragraphs>15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Atomización Ultrasónica. Parámetros y dinámica del fenómeno.</dc:title>
  <dc:creator>Josué D. Meneses Díaz</dc:creator>
  <cp:keywords/>
  <cp:lastModifiedBy>Ouillon, Mathieu</cp:lastModifiedBy>
  <cp:revision>648</cp:revision>
  <dcterms:created xsi:type="dcterms:W3CDTF">2019-12-03T01:04:10Z</dcterms:created>
  <dcterms:modified xsi:type="dcterms:W3CDTF">2026-05-20T12:43:02Z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>..\bib\bibliografia.bib</vt:lpwstr>
  </property>
  <property fmtid="{D5CDD505-2E9C-101B-9397-08002B2CF9AE}" pid="3" name="date">
    <vt:lpwstr>26-11-2019</vt:lpwstr>
  </property>
</Properties>
</file>