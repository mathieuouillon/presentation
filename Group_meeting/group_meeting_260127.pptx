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69" r:id="rId3"/>
    <p:sldId id="283" r:id="rId4"/>
    <p:sldId id="285" r:id="rId5"/>
    <p:sldId id="286" r:id="rId6"/>
    <p:sldId id="287" r:id="rId7"/>
    <p:sldId id="288" r:id="rId8"/>
    <p:sldId id="297" r:id="rId9"/>
    <p:sldId id="289" r:id="rId10"/>
    <p:sldId id="295" r:id="rId11"/>
    <p:sldId id="296" r:id="rId12"/>
    <p:sldId id="290" r:id="rId13"/>
    <p:sldId id="291" r:id="rId14"/>
    <p:sldId id="292" r:id="rId15"/>
    <p:sldId id="298" r:id="rId16"/>
    <p:sldId id="293" r:id="rId17"/>
    <p:sldId id="299" r:id="rId18"/>
    <p:sldId id="300" r:id="rId19"/>
    <p:sldId id="294" r:id="rId20"/>
    <p:sldId id="30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00315F"/>
    <a:srgbClr val="FAFAFA"/>
    <a:srgbClr val="23373B"/>
    <a:srgbClr val="FFFFFF"/>
    <a:srgbClr val="243643"/>
    <a:srgbClr val="304D59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76" autoAdjust="0"/>
    <p:restoredTop sz="94637" autoAdjust="0"/>
  </p:normalViewPr>
  <p:slideViewPr>
    <p:cSldViewPr snapToGrid="0" snapToObjects="1">
      <p:cViewPr varScale="1">
        <p:scale>
          <a:sx n="165" d="100"/>
          <a:sy n="165" d="100"/>
        </p:scale>
        <p:origin x="224" y="2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27-01-26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27-01-26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304D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23826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3041"/>
            <a:ext cx="10972800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01/27/26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109150"/>
            <a:ext cx="9410700" cy="892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09600" y="0"/>
            <a:ext cx="1421599" cy="12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00315F"/>
          </a:solidFill>
          <a:latin typeface="Fira Sans Book" panose="020B0503050000020004"/>
          <a:ea typeface="Fira Sans Book" panose="020B0503050000020004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verleaf.com/8989239232wsdvbmfctgts#0b7b7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371725"/>
            <a:ext cx="7029450" cy="1317329"/>
          </a:xfrm>
        </p:spPr>
        <p:txBody>
          <a:bodyPr>
            <a:normAutofit/>
          </a:bodyPr>
          <a:lstStyle/>
          <a:p>
            <a:pPr lvl="0" algn="l"/>
            <a:r>
              <a:rPr lang="es-ES" sz="6000" dirty="0" err="1"/>
              <a:t>Group</a:t>
            </a:r>
            <a:r>
              <a:rPr lang="es-ES" sz="6000" dirty="0"/>
              <a:t> meeting</a:t>
            </a:r>
            <a:endParaRPr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853440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/>
              <a:t>Mathieu Ouillon (Mississippi State University)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59F9F00-EFEC-9E33-BF3B-9C2D4A022795}"/>
              </a:ext>
            </a:extLst>
          </p:cNvPr>
          <p:cNvSpPr txBox="1">
            <a:spLocks/>
          </p:cNvSpPr>
          <p:nvPr/>
        </p:nvSpPr>
        <p:spPr>
          <a:xfrm>
            <a:off x="400046" y="4762548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  <a:cs typeface="+mn-cs"/>
              </a:rPr>
              <a:t>01/27/26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627B-4553-2F59-665A-AE94D2E96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 cooking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9D6B5-816A-9954-203E-7475A7DBA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73808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Few issues with the CxC_2 cooking workflows: </a:t>
            </a:r>
          </a:p>
          <a:p>
            <a:pPr lvl="1"/>
            <a:r>
              <a:rPr lang="en-US" dirty="0"/>
              <a:t>Decoding of the file: clas_018401.evio.00546</a:t>
            </a:r>
          </a:p>
          <a:p>
            <a:pPr lvl="1"/>
            <a:r>
              <a:rPr lang="en-US" dirty="0"/>
              <a:t>Reconstruction of the file clas_018345.evio.00610-00610.hipo</a:t>
            </a:r>
          </a:p>
          <a:p>
            <a:pPr lvl="1"/>
            <a:r>
              <a:rPr lang="en-US" dirty="0"/>
              <a:t>Missing J/Psi trains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57AAE-4E75-446A-736E-D8D02798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BABFA-6854-8C78-0ECF-9F1132078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CA134-1D20-C60F-4F76-F9729CB5E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54E1F2-73D7-F407-1062-1F7922995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48" y="1309607"/>
            <a:ext cx="11450851" cy="236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91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EBB02-A97C-D8DB-CBC3-5C4DB1793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0A54D-5736-F400-305F-FFC5610F3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RG-D cooking: Decoding of the file: clas_018401.evio.00546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24ACC-78DC-AC5B-F968-BBF7E16D1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484" y="1249679"/>
            <a:ext cx="6265950" cy="4738081"/>
          </a:xfrm>
        </p:spPr>
        <p:txBody>
          <a:bodyPr>
            <a:normAutofit/>
          </a:bodyPr>
          <a:lstStyle/>
          <a:p>
            <a:r>
              <a:rPr lang="en-US" sz="2000" dirty="0"/>
              <a:t>Error during the decoding of the file. </a:t>
            </a:r>
          </a:p>
          <a:p>
            <a:r>
              <a:rPr lang="en-US" sz="2000" dirty="0"/>
              <a:t>I asked Nathan, and he told me that it can’t be solve. It is a random error. </a:t>
            </a:r>
          </a:p>
          <a:p>
            <a:r>
              <a:rPr lang="en-US" sz="2000" dirty="0"/>
              <a:t>Make decoding of clas_018401.evio.0054{5,7,8,9} failed since they are in the same job and then reconstruction of these 4 files never start</a:t>
            </a:r>
          </a:p>
          <a:p>
            <a:r>
              <a:rPr lang="en-US" sz="2000" dirty="0"/>
              <a:t>Solution: Nathan fix the decoder for us, now I just have do to the reconstruction and then copy all the files to /cache</a:t>
            </a:r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E096D-2D19-8413-9457-2B17A6118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EE665-932F-BEE3-1509-A08FC0E2A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76C95-F81C-439E-6B04-519E4562D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A92AA4-F580-24A7-DA22-377ECE9A7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792" y="1180205"/>
            <a:ext cx="5618710" cy="295009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8BBF501-6DF3-D677-1E43-209CDE5DA026}"/>
              </a:ext>
            </a:extLst>
          </p:cNvPr>
          <p:cNvSpPr txBox="1">
            <a:spLocks/>
          </p:cNvSpPr>
          <p:nvPr/>
        </p:nvSpPr>
        <p:spPr>
          <a:xfrm>
            <a:off x="417483" y="3541222"/>
            <a:ext cx="5991066" cy="2291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D7AB35-30BC-BC57-3E54-B42758FE1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414" y="3981988"/>
            <a:ext cx="5557433" cy="273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668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44B80-4C02-4AB2-BC8B-A32EAA93D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2EF09-6F9C-6743-F208-700E488B8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RG-D cooking: Reconstruction of the file: clas_018345.evio.00610-00610.hipo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C288B-33F2-CDAA-F4C7-F1B3AA8A0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484" y="1249680"/>
            <a:ext cx="6265950" cy="2291542"/>
          </a:xfrm>
        </p:spPr>
        <p:txBody>
          <a:bodyPr>
            <a:normAutofit/>
          </a:bodyPr>
          <a:lstStyle/>
          <a:p>
            <a:r>
              <a:rPr lang="en-US" sz="2000" dirty="0"/>
              <a:t>Error during the reconstruction (denoising) of the file. </a:t>
            </a:r>
          </a:p>
          <a:p>
            <a:r>
              <a:rPr lang="en-US" sz="2000" dirty="0"/>
              <a:t>It is the last file of the run 18345</a:t>
            </a:r>
          </a:p>
          <a:p>
            <a:r>
              <a:rPr lang="en-US" sz="2000" dirty="0"/>
              <a:t>And it empty, only RAW::epics, RUN::config and HEL::online bank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56CE9-8E43-EBBF-7CAD-F5A6F958A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A794B-8957-D1A9-78DA-380A10FDB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FFA6C-5619-3D1D-5D83-DB8F3901A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631F0A1-33AE-B72F-B999-621B22174B7C}"/>
              </a:ext>
            </a:extLst>
          </p:cNvPr>
          <p:cNvSpPr txBox="1">
            <a:spLocks/>
          </p:cNvSpPr>
          <p:nvPr/>
        </p:nvSpPr>
        <p:spPr>
          <a:xfrm>
            <a:off x="217978" y="5110669"/>
            <a:ext cx="11527906" cy="743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Solution: do nothing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A9E821-1EB9-0315-6F50-B233BF621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1236" y="116756"/>
            <a:ext cx="3777527" cy="33570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287835-9ACF-3963-EB56-EDB23D870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37" y="3011711"/>
            <a:ext cx="7772400" cy="202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13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D4946-3254-24F2-6AA3-03CFA99E1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6D87-BA18-683E-E42B-069EFC718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RG-D cooking: Missing J/Psi trains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B7DA2-6CD2-F2C5-CC27-183A6FC33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484" y="1249679"/>
            <a:ext cx="11611032" cy="3380509"/>
          </a:xfrm>
        </p:spPr>
        <p:txBody>
          <a:bodyPr>
            <a:normAutofit/>
          </a:bodyPr>
          <a:lstStyle/>
          <a:p>
            <a:r>
              <a:rPr lang="en-US" sz="2000" dirty="0"/>
              <a:t>Missing trains for these runs: '018345', '018401', '018445', '018446', '018451', '018452', '018453', '018454', '018459', '018460', '018461', '018463', '018464', '018465', '018468', '018821', '018822', '018823', '018824', '018827', '018828', '018831', '018832', '018833', '018835', '018836', '018837', '018838', '018839', '018840', '018844', '018847', '018849', '018850’</a:t>
            </a:r>
          </a:p>
          <a:p>
            <a:r>
              <a:rPr lang="en-US" sz="2000" dirty="0"/>
              <a:t>Total: 34 runs</a:t>
            </a:r>
          </a:p>
          <a:p>
            <a:r>
              <a:rPr lang="en-US" sz="2000" dirty="0"/>
              <a:t>Solution: run the train tool by hand. It quite easy to run. And then copy them to /cache.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7010B-AE63-52EF-C272-B606E8882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C5677-82FC-2824-E909-9957F191E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691D2-6259-DCCE-7FD5-E5547933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96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DB051-12AC-8B0D-BE42-0426E095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E096B-C13F-8824-997E-54F0214C4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continue the work on the nuclear transparency study: </a:t>
            </a:r>
          </a:p>
          <a:p>
            <a:pPr lvl="1"/>
            <a:r>
              <a:rPr lang="en-US" dirty="0"/>
              <a:t>Look at the old code to get the nuclear transparency that I have</a:t>
            </a:r>
          </a:p>
          <a:p>
            <a:pPr lvl="1"/>
            <a:r>
              <a:rPr lang="en-US" dirty="0"/>
              <a:t>Improve the code and use the improve electron and pion cuts</a:t>
            </a:r>
          </a:p>
          <a:p>
            <a:pPr lvl="1"/>
            <a:r>
              <a:rPr lang="en-US" dirty="0"/>
              <a:t>Extract again the nuclear transparency as a function of Q</a:t>
            </a:r>
            <a:r>
              <a:rPr lang="en-US" baseline="30000" dirty="0"/>
              <a:t>2</a:t>
            </a:r>
            <a:r>
              <a:rPr lang="en-US" dirty="0"/>
              <a:t> and l</a:t>
            </a:r>
            <a:r>
              <a:rPr lang="en-US" baseline="-25000" dirty="0"/>
              <a:t>c</a:t>
            </a:r>
          </a:p>
          <a:p>
            <a:pPr lvl="1"/>
            <a:r>
              <a:rPr lang="en-US" dirty="0"/>
              <a:t>Use pass1 data: 10%, only </a:t>
            </a:r>
            <a:r>
              <a:rPr lang="en-US" dirty="0" err="1"/>
              <a:t>Outbending</a:t>
            </a:r>
            <a:endParaRPr lang="en-US" dirty="0"/>
          </a:p>
          <a:p>
            <a:endParaRPr lang="en-US" dirty="0"/>
          </a:p>
          <a:p>
            <a:r>
              <a:rPr lang="en-US" dirty="0"/>
              <a:t>Electron selection: </a:t>
            </a:r>
          </a:p>
          <a:p>
            <a:pPr lvl="1"/>
            <a:r>
              <a:rPr lang="en-US" dirty="0" err="1"/>
              <a:t>pid</a:t>
            </a:r>
            <a:r>
              <a:rPr lang="en-US" dirty="0"/>
              <a:t> = 11, -4000 &lt; status &lt;= -2000, |chi2pid| &lt; 5</a:t>
            </a:r>
          </a:p>
          <a:p>
            <a:pPr lvl="1"/>
            <a:r>
              <a:rPr lang="en-US" dirty="0"/>
              <a:t>p &gt; 0.8 GeV/c, </a:t>
            </a:r>
            <a:r>
              <a:rPr lang="en-US" dirty="0" err="1"/>
              <a:t>Vz</a:t>
            </a:r>
            <a:r>
              <a:rPr lang="en-US" dirty="0"/>
              <a:t> target </a:t>
            </a:r>
            <a:r>
              <a:rPr lang="en-US" dirty="0" err="1"/>
              <a:t>dependant</a:t>
            </a:r>
            <a:r>
              <a:rPr lang="en-US" dirty="0"/>
              <a:t>, </a:t>
            </a:r>
          </a:p>
          <a:p>
            <a:pPr lvl="1"/>
            <a:r>
              <a:rPr lang="en-US" dirty="0"/>
              <a:t> Fiducial cuts: SF vs p, lv &gt; 9 cm, </a:t>
            </a:r>
            <a:r>
              <a:rPr lang="en-US" dirty="0" err="1"/>
              <a:t>lw</a:t>
            </a:r>
            <a:r>
              <a:rPr lang="en-US" dirty="0"/>
              <a:t> &gt; 9 cm and DC edge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F3D39-F8D4-CF04-E9BE-C4B6D6EAB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9D364-43C7-AD17-EB7C-01D28340E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18123-24B3-34A2-B1BF-9355EE4F9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FAFE9D-67B8-7E63-F155-C86BB5AB3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887" y="3004674"/>
            <a:ext cx="4749800" cy="13320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C6B85B-4F85-8529-55CD-3351811B7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886" y="4790094"/>
            <a:ext cx="4749800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32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A8B5D-0AB7-B6B1-F0D5-104632C59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94850-AE60-9E4D-1A90-BD02EA064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2179320"/>
          </a:xfrm>
        </p:spPr>
        <p:txBody>
          <a:bodyPr>
            <a:normAutofit/>
          </a:bodyPr>
          <a:lstStyle/>
          <a:p>
            <a:r>
              <a:rPr lang="en-US" dirty="0"/>
              <a:t>Electron kinematics:</a:t>
            </a:r>
          </a:p>
          <a:p>
            <a:pPr lvl="1"/>
            <a:r>
              <a:rPr lang="en-US" dirty="0"/>
              <a:t>For LD2 </a:t>
            </a:r>
            <a:r>
              <a:rPr lang="en-US" dirty="0" err="1"/>
              <a:t>outbending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E547D-F47A-3E54-42B1-55A4D7E2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9AEAC-F5DA-2DBC-53D9-D342C58B5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A60B5-0FEB-1C86-41F7-57B9EBAA9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4B57A3-26E3-54E1-3659-DB97A68C3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600" y="874920"/>
            <a:ext cx="6823364" cy="524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802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CEA0B-2BC1-66E8-23AE-02C2E7113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AEEC-32E7-0B98-182F-AC41F5265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20904-73B7-14E7-ADB7-DBA36A5B2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2179320"/>
          </a:xfrm>
        </p:spPr>
        <p:txBody>
          <a:bodyPr>
            <a:normAutofit/>
          </a:bodyPr>
          <a:lstStyle/>
          <a:p>
            <a:r>
              <a:rPr lang="en-US" dirty="0"/>
              <a:t>DIS kinematics:</a:t>
            </a:r>
          </a:p>
          <a:p>
            <a:pPr lvl="1"/>
            <a:r>
              <a:rPr lang="en-US" dirty="0"/>
              <a:t>Q</a:t>
            </a:r>
            <a:r>
              <a:rPr lang="en-US" baseline="30000" dirty="0"/>
              <a:t>2</a:t>
            </a:r>
            <a:r>
              <a:rPr lang="en-US" dirty="0"/>
              <a:t> &gt; 1 GeV</a:t>
            </a:r>
            <a:r>
              <a:rPr lang="en-US" baseline="30000" dirty="0"/>
              <a:t>2</a:t>
            </a:r>
            <a:r>
              <a:rPr lang="en-US" dirty="0"/>
              <a:t>, W &gt; 2 GeV and y &lt; 0.85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788A9-63EA-86F5-0B73-276426339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F90A1-0536-50CB-1E7A-20AFEE1C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1F7C0-DB50-5087-72D1-3185EE33B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D57CE4-EE5A-8612-F92D-4C7161278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438" y="1003008"/>
            <a:ext cx="6577889" cy="518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020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68C7F-AF5F-6667-133F-2C5B73279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123E-A974-9777-3E11-9BA8B3773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C52F9-5002-49BA-F0A8-4978B0F4B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Pions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Forward detector: 2000 &lt;= status &lt; 4000</a:t>
            </a:r>
          </a:p>
          <a:p>
            <a:pPr lvl="1"/>
            <a:r>
              <a:rPr lang="en-US" dirty="0"/>
              <a:t>|Chi2pid| &lt; 10, 0.3 &lt; p, </a:t>
            </a:r>
            <a:r>
              <a:rPr lang="en-US" dirty="0" err="1"/>
              <a:t>Δt</a:t>
            </a:r>
            <a:r>
              <a:rPr lang="en-US" dirty="0"/>
              <a:t> cuts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782B3-AE32-B530-1F1F-8B1DCE133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1F9E2-4E84-F6D6-6008-45258DBBB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92046-A514-FE34-E4D9-48EF78805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D72110-F0AA-6492-E820-61FB387D5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09" y="2611465"/>
            <a:ext cx="9563773" cy="313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252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38DF4-2C67-CF12-5270-3C7EFBED4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0AFF0-429D-BA06-1679-3E27DA432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E2D46-0D99-0ECE-CA52-4D3D6A4E1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BC4F9-EA6D-E022-F88C-89741E8F8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36FA7-9206-695F-FA50-81CB85D4F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24EB89-401B-2D41-74BB-FD879A547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00" y="764781"/>
            <a:ext cx="8029388" cy="602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904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5FF4C-B083-A783-E6B4-A150B008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1A5E2-6435-0644-94B8-D2D308D31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EF9A6-E9E5-008F-048B-C0CBEDB06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F1B30-3E58-DB9A-AFF9-7B85F9DA0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EC575-5F14-0741-53EC-AA62D0E0F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0FF359-604B-0C71-92A5-39889649B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75" y="772859"/>
            <a:ext cx="7936566" cy="597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0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C855F-8179-9A42-813B-5C9E1C7F4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86500-5886-BAED-C7E1-E05F0ED67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5EBF0-78FE-FE7E-1321-17D1CC63F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ρ</a:t>
            </a:r>
            <a:r>
              <a:rPr lang="en-US" baseline="30000" dirty="0"/>
              <a:t>0 </a:t>
            </a:r>
            <a:r>
              <a:rPr lang="en-US" dirty="0"/>
              <a:t>reconstruction: </a:t>
            </a:r>
          </a:p>
          <a:p>
            <a:pPr lvl="1"/>
            <a:r>
              <a:rPr lang="en-US" dirty="0"/>
              <a:t>Event with a good DIS electron, at least on good π</a:t>
            </a:r>
            <a:r>
              <a:rPr lang="en-US" baseline="30000" dirty="0"/>
              <a:t>-</a:t>
            </a:r>
            <a:r>
              <a:rPr lang="en-US" dirty="0"/>
              <a:t> and π</a:t>
            </a:r>
            <a:r>
              <a:rPr lang="en-US" baseline="30000" dirty="0"/>
              <a:t>+</a:t>
            </a:r>
          </a:p>
          <a:p>
            <a:pPr lvl="1"/>
            <a:r>
              <a:rPr lang="en-US" dirty="0" err="1"/>
              <a:t>ΔVz</a:t>
            </a:r>
            <a:r>
              <a:rPr lang="en-US" dirty="0"/>
              <a:t> cut: |</a:t>
            </a:r>
            <a:r>
              <a:rPr lang="en-US" dirty="0" err="1"/>
              <a:t>Vz</a:t>
            </a:r>
            <a:r>
              <a:rPr lang="en-US" baseline="-25000" dirty="0" err="1"/>
              <a:t>e</a:t>
            </a:r>
            <a:r>
              <a:rPr lang="en-US" dirty="0" err="1"/>
              <a:t>-Vz</a:t>
            </a:r>
            <a:r>
              <a:rPr lang="en-US" baseline="-25000" dirty="0"/>
              <a:t>π+/-</a:t>
            </a:r>
            <a:r>
              <a:rPr lang="en-US" dirty="0"/>
              <a:t>| &lt; 5 cm: to have the electron and pion from the same target </a:t>
            </a:r>
          </a:p>
          <a:p>
            <a:pPr lvl="1"/>
            <a:r>
              <a:rPr lang="en-US" dirty="0" err="1"/>
              <a:t>z</a:t>
            </a:r>
            <a:r>
              <a:rPr lang="en-US" baseline="-25000" dirty="0" err="1"/>
              <a:t>h</a:t>
            </a:r>
            <a:r>
              <a:rPr lang="en-US" dirty="0"/>
              <a:t> &gt; 0.9, l</a:t>
            </a:r>
            <a:r>
              <a:rPr lang="en-US" baseline="-25000" dirty="0"/>
              <a:t>c</a:t>
            </a:r>
            <a:r>
              <a:rPr lang="en-US" dirty="0"/>
              <a:t> &lt; 1 </a:t>
            </a:r>
            <a:r>
              <a:rPr lang="en-US" dirty="0" err="1"/>
              <a:t>fm</a:t>
            </a:r>
            <a:r>
              <a:rPr lang="en-US" dirty="0"/>
              <a:t> and 0.1 &lt; -t &lt; 0.5</a:t>
            </a:r>
          </a:p>
          <a:p>
            <a:pPr lvl="1"/>
            <a:r>
              <a:rPr lang="en-US" dirty="0"/>
              <a:t>Generate all ρ</a:t>
            </a:r>
            <a:r>
              <a:rPr lang="en-US" baseline="30000" dirty="0"/>
              <a:t>0 </a:t>
            </a:r>
            <a:r>
              <a:rPr lang="en-US" dirty="0"/>
              <a:t>candidates: 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E4297-9157-4CC8-0757-1317EAE45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2E533-1F59-B813-1856-A2D5F52F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0EA69-CEF9-3426-16EA-160113C9D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279E47-32FE-6833-AFED-2C3DBFF5E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592" y="3289531"/>
            <a:ext cx="69596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659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D10F1-4EBA-4846-3935-DF5A2F600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7F556-ADAE-6EBC-F5E1-2C2E05635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61D22-534A-7A6D-05E0-73D70D2BC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ΔVz</a:t>
            </a:r>
            <a:r>
              <a:rPr lang="en-US" dirty="0"/>
              <a:t> cut: |</a:t>
            </a:r>
            <a:r>
              <a:rPr lang="en-US" dirty="0" err="1"/>
              <a:t>Vz</a:t>
            </a:r>
            <a:r>
              <a:rPr lang="en-US" baseline="-25000" dirty="0" err="1"/>
              <a:t>e</a:t>
            </a:r>
            <a:r>
              <a:rPr lang="en-US" dirty="0" err="1"/>
              <a:t>-Vz</a:t>
            </a:r>
            <a:r>
              <a:rPr lang="en-US" baseline="-25000" dirty="0"/>
              <a:t>π+/-</a:t>
            </a:r>
            <a:r>
              <a:rPr lang="en-US" dirty="0"/>
              <a:t>| &lt; 5 cm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7D319-CADD-0899-057A-D2D7AD270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98332-F22E-7840-34A2-FFBD120DB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B591B-3B87-01BD-2543-5BEF6BB21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6ACC72-44C0-0D4F-AC63-6C4506A0E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43" y="1719718"/>
            <a:ext cx="10290233" cy="438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576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3E37B-6A1C-4781-D69D-5DAE4456E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B5D9-7B15-B07A-E495-CB9A36475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B9B8A-52B2-F27B-92A7-CF57FD703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Invariant mass of the two </a:t>
            </a:r>
            <a:r>
              <a:rPr lang="en-US" dirty="0" err="1"/>
              <a:t>pions</a:t>
            </a:r>
            <a:r>
              <a:rPr lang="en-US" dirty="0"/>
              <a:t> for LD2: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F31C6-4A4D-45C4-1329-9EB359849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CB6BF-4D89-A7FD-A7AF-C8D222FC9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3DB0B-233D-5567-DF91-45CE9C72F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E9CDD3-2654-0160-FBB2-E9D0A8F7E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272" y="1631248"/>
            <a:ext cx="10344727" cy="509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979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4A326-4903-F763-3C6F-2D75FFD8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1CA6B-592E-F60E-1C4E-561390BBD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9A6DD-F987-D248-8F08-4865D5A20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Invariant mass of the two </a:t>
            </a:r>
            <a:r>
              <a:rPr lang="en-US" dirty="0" err="1"/>
              <a:t>pions</a:t>
            </a:r>
            <a:r>
              <a:rPr lang="en-US" dirty="0"/>
              <a:t> for LD2: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C50E1-378C-9E40-15D0-2AE7BE745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9B9B6-57B8-EFCC-A599-E6D64FB0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0B293-74C8-0CF7-7B31-CF0CB7E8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7CB069-22DA-D539-52E5-89BC9E056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0162"/>
            <a:ext cx="5380958" cy="2917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BE2885-003E-6BF5-5144-3E232BC63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289" y="1687576"/>
            <a:ext cx="6402622" cy="384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391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6EB5B-A341-04A3-EE8E-B11368841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489E5-9D9A-2138-BE84-8AD691678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BB970-16E0-C6E0-44D8-1C18582E1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Extract nuclear transparency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4E70F-6D10-8FEA-4346-C79A58F22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A3F2D-5E81-B649-56A5-A7A64F503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14E4C-9674-2FE9-FAA6-DFB3012D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6D9EDE-19C2-EADA-E69B-3B5F0F50E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035" y="1440873"/>
            <a:ext cx="6417129" cy="473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895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DA224-781F-CCB3-393F-B0CC27EBA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F4AE8-D92E-2708-39B0-C66FF8955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3D692-606E-3411-1E54-E00C71FF8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Extract nuclear transparency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FFFC5-C8D6-5503-4E35-A6B01D071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A8C29-EDC5-3113-7E70-145779ED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BC760-345E-1282-560D-5B8943762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D18CBC-EBE8-997F-9E03-EEE1BFAF5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69" y="1768108"/>
            <a:ext cx="11143211" cy="409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234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DADAC-0642-25EA-C712-FBAEEB4FD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2409B-879A-FDB3-60EC-3B43DA0F4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A7F71-921C-DBA1-CDB1-3D98238F3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Extract nuclear transparency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325C8-5C2A-641A-60C9-9BD124C6A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30E73-2182-0B69-694F-556D534A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EDB0A-5349-90C3-FA3A-4FC0A11C9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79F159-7595-24C8-7867-485E6E758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253" y="1648695"/>
            <a:ext cx="6891253" cy="50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73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44B09-3A74-9862-36EA-2B96C3154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E258-7559-43CC-2E52-65E288AA4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4CF23-756F-5A6A-F9C7-DFC0A45A2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 steps (in not particular order):</a:t>
            </a:r>
          </a:p>
          <a:p>
            <a:pPr lvl="1"/>
            <a:r>
              <a:rPr lang="en-US" dirty="0"/>
              <a:t>Invariant Mass Background Subtraction using simulation</a:t>
            </a:r>
          </a:p>
          <a:p>
            <a:pPr lvl="1"/>
            <a:r>
              <a:rPr lang="en-US" dirty="0"/>
              <a:t>Acceptance and Efficiency Correction</a:t>
            </a:r>
          </a:p>
          <a:p>
            <a:pPr lvl="1"/>
            <a:r>
              <a:rPr lang="en-US" dirty="0"/>
              <a:t>Radiative Corrections</a:t>
            </a:r>
          </a:p>
          <a:p>
            <a:pPr lvl="1"/>
            <a:r>
              <a:rPr lang="en-US" dirty="0"/>
              <a:t>Target density measurement</a:t>
            </a:r>
          </a:p>
          <a:p>
            <a:pPr lvl="1"/>
            <a:r>
              <a:rPr lang="en-US" dirty="0"/>
              <a:t>Momentum correction for the electron? (like RG-A)</a:t>
            </a:r>
          </a:p>
          <a:p>
            <a:pPr lvl="1"/>
            <a:r>
              <a:rPr lang="en-US" dirty="0"/>
              <a:t>Implement fiducial cuts for </a:t>
            </a:r>
            <a:r>
              <a:rPr lang="en-US" dirty="0" err="1"/>
              <a:t>pions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Systematic uncertainty</a:t>
            </a:r>
          </a:p>
          <a:p>
            <a:pPr lvl="1"/>
            <a:r>
              <a:rPr lang="en-US" dirty="0" err="1"/>
              <a:t>CuSn</a:t>
            </a:r>
            <a:r>
              <a:rPr lang="en-US" dirty="0"/>
              <a:t> contamination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94E10-A352-B516-EF68-AF566C314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17AA1-93AD-5C36-3C4C-E1E50C4BF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EBE2-2DC3-F2C3-7992-AEEFDB0A2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77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E43F3-1CE7-4765-F711-E0B3F3A5D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C26D5-38FF-9424-0DB6-C868A4BE8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AB2B2-1502-470A-C06A-126DEBB10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 report from March 2025 to March 2026: </a:t>
            </a:r>
          </a:p>
          <a:p>
            <a:pPr lvl="1"/>
            <a:r>
              <a:rPr lang="en-US" dirty="0"/>
              <a:t>In a good shape: </a:t>
            </a:r>
            <a:r>
              <a:rPr lang="en-US" dirty="0">
                <a:hlinkClick r:id="rId2"/>
              </a:rPr>
              <a:t>https://www.overleaf.com/8989239232wsdvbmfctgts#0b7b74</a:t>
            </a:r>
            <a:endParaRPr lang="en-US" dirty="0"/>
          </a:p>
          <a:p>
            <a:endParaRPr lang="en-US" dirty="0"/>
          </a:p>
          <a:p>
            <a:r>
              <a:rPr lang="en-US" dirty="0"/>
              <a:t>RG-D simulation is available on OSG</a:t>
            </a:r>
          </a:p>
          <a:p>
            <a:pPr lvl="1"/>
            <a:r>
              <a:rPr lang="en-US" dirty="0"/>
              <a:t>I have launch 5M events for </a:t>
            </a:r>
            <a:r>
              <a:rPr lang="en-US" dirty="0" err="1"/>
              <a:t>CuSn</a:t>
            </a:r>
            <a:r>
              <a:rPr lang="en-US" dirty="0"/>
              <a:t> setup, I will use that to estimate the CU contamination in Sn and the opposite.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A3B63-A3E4-A899-5FB1-AC03423B5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01/27/26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9D674-CB10-6DF0-1DB9-BE3CE7120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73158-933B-D286-56D5-EB4F34769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76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7659</TotalTime>
  <Words>791</Words>
  <Application>Microsoft Macintosh PowerPoint</Application>
  <PresentationFormat>Widescreen</PresentationFormat>
  <Paragraphs>143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Fira Sans Book</vt:lpstr>
      <vt:lpstr>Fira Sans Light</vt:lpstr>
      <vt:lpstr>Office Theme</vt:lpstr>
      <vt:lpstr>Group meeting</vt:lpstr>
      <vt:lpstr>RG-D cooking</vt:lpstr>
      <vt:lpstr>RG-D cooking: Decoding of the file: clas_018401.evio.00546 </vt:lpstr>
      <vt:lpstr>RG-D cooking: Reconstruction of the file: clas_018345.evio.00610-00610.hipo</vt:lpstr>
      <vt:lpstr>RG-D cooking: Missing J/Psi trains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Other work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291</cp:revision>
  <dcterms:created xsi:type="dcterms:W3CDTF">2019-12-03T01:04:10Z</dcterms:created>
  <dcterms:modified xsi:type="dcterms:W3CDTF">2026-01-27T18:58:59Z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