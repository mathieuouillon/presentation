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Nunito"/>
      <p:regular r:id="rId12"/>
      <p:bold r:id="rId13"/>
      <p:italic r:id="rId14"/>
      <p:boldItalic r:id="rId15"/>
    </p:embeddedFont>
    <p:embeddedFont>
      <p:font typeface="Nunito Medium"/>
      <p:regular r:id="rId16"/>
      <p:bold r:id="rId17"/>
      <p:italic r:id="rId18"/>
      <p:boldItalic r:id="rId19"/>
    </p:embeddedFont>
    <p:embeddedFont>
      <p:font typeface="Roboto Mon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regular.fntdata"/><Relationship Id="rId11" Type="http://schemas.openxmlformats.org/officeDocument/2006/relationships/slide" Target="slides/slide6.xml"/><Relationship Id="rId22" Type="http://schemas.openxmlformats.org/officeDocument/2006/relationships/font" Target="fonts/RobotoMono-italic.fntdata"/><Relationship Id="rId10" Type="http://schemas.openxmlformats.org/officeDocument/2006/relationships/slide" Target="slides/slide5.xml"/><Relationship Id="rId21" Type="http://schemas.openxmlformats.org/officeDocument/2006/relationships/font" Target="fonts/RobotoMono-bold.fntdata"/><Relationship Id="rId13" Type="http://schemas.openxmlformats.org/officeDocument/2006/relationships/font" Target="fonts/Nunito-bold.fntdata"/><Relationship Id="rId12" Type="http://schemas.openxmlformats.org/officeDocument/2006/relationships/font" Target="fonts/Nunito-regular.fntdata"/><Relationship Id="rId23" Type="http://schemas.openxmlformats.org/officeDocument/2006/relationships/font" Target="fonts/RobotoMon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boldItalic.fntdata"/><Relationship Id="rId14" Type="http://schemas.openxmlformats.org/officeDocument/2006/relationships/font" Target="fonts/Nunito-italic.fntdata"/><Relationship Id="rId17" Type="http://schemas.openxmlformats.org/officeDocument/2006/relationships/font" Target="fonts/NunitoMedium-bold.fntdata"/><Relationship Id="rId16" Type="http://schemas.openxmlformats.org/officeDocument/2006/relationships/font" Target="fonts/NunitoMedium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NunitoMedium-boldItalic.fntdata"/><Relationship Id="rId6" Type="http://schemas.openxmlformats.org/officeDocument/2006/relationships/slide" Target="slides/slide1.xml"/><Relationship Id="rId18" Type="http://schemas.openxmlformats.org/officeDocument/2006/relationships/font" Target="fonts/NunitoMedium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341980810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341980810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341980810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341980810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341980810c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341980810c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341980810c_0_1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341980810c_0_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341980810c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341980810c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1700" y="2077800"/>
            <a:ext cx="64122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1" name="Google Shape;21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3" name="Google Shape;23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" name="Google Shape;24;p4"/>
          <p:cNvSpPr txBox="1"/>
          <p:nvPr/>
        </p:nvSpPr>
        <p:spPr>
          <a:xfrm>
            <a:off x="5005450" y="4787400"/>
            <a:ext cx="40092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Analysis and cooking status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(12 February, 2025)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www.jlab.org/Hall-B/shifts/admin/paper_reviews/2024/SIDIS_analysis_note_v4.pdf-9505791-2024-02-21-v8.pdf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3880"/>
              <a:t>Analysis and cooking status</a:t>
            </a:r>
            <a:endParaRPr sz="3880"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311700" y="2077800"/>
            <a:ext cx="6412200" cy="64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(Mississippi State University)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1" name="Google Shape;61;p13"/>
          <p:cNvSpPr txBox="1"/>
          <p:nvPr/>
        </p:nvSpPr>
        <p:spPr>
          <a:xfrm>
            <a:off x="5011525" y="3480050"/>
            <a:ext cx="4132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12 February, 2025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2" name="Google Shape;6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475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Cooking status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-117600" y="647400"/>
            <a:ext cx="9261600" cy="415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Pass0v8 has been cooked. (problems with the trains, but it is not a issue for us).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You can find the files here: </a:t>
            </a:r>
            <a:r>
              <a:rPr lang="fr" sz="1600">
                <a:latin typeface="Roboto Mono"/>
                <a:ea typeface="Roboto Mono"/>
                <a:cs typeface="Roboto Mono"/>
                <a:sym typeface="Roboto Mono"/>
              </a:rPr>
              <a:t>/volatile/clas12/ouillon/skim_pass0v8_RGD</a:t>
            </a:r>
            <a:endParaRPr sz="1600">
              <a:latin typeface="Roboto Mono"/>
              <a:ea typeface="Roboto Mono"/>
              <a:cs typeface="Roboto Mono"/>
              <a:sym typeface="Roboto Mono"/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I will not copy them into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 sz="1600">
                <a:latin typeface="Roboto Mono"/>
                <a:ea typeface="Roboto Mono"/>
                <a:cs typeface="Roboto Mono"/>
                <a:sym typeface="Roboto Mono"/>
              </a:rPr>
              <a:t>/cache/hallb/scratch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directory, since we have already processed the Pass0v9.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But you can have a look at them.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Pass0v9 has been produced. (problems with the timelines for the CND, RICH and helicity, Chris has been able to produce the timelines locally. He still doesn’t understand the issues I faced. He still works on that.)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-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I have started to skimed them, and I will copy them into the </a:t>
            </a:r>
            <a:r>
              <a:rPr lang="fr" sz="1600">
                <a:latin typeface="Roboto Mono"/>
                <a:ea typeface="Roboto Mono"/>
                <a:cs typeface="Roboto Mono"/>
                <a:sym typeface="Roboto Mono"/>
              </a:rPr>
              <a:t>/cache/hallb/scratch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directory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Vertex study: effect of a cut on Δt on Vz</a:t>
            </a:r>
            <a:endParaRPr/>
          </a:p>
        </p:txBody>
      </p:sp>
      <p:sp>
        <p:nvSpPr>
          <p:cNvPr id="75" name="Google Shape;75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176400"/>
            <a:ext cx="4418698" cy="2934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26225" y="2207050"/>
            <a:ext cx="4418698" cy="293646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/>
          <p:nvPr/>
        </p:nvSpPr>
        <p:spPr>
          <a:xfrm>
            <a:off x="0" y="647400"/>
            <a:ext cx="9144000" cy="10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Goal: see if a cut on </a:t>
            </a:r>
            <a:r>
              <a:rPr lang="fr" sz="1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Δt for the charged pions is able to reduce the second peak in Vz</a:t>
            </a:r>
            <a:endParaRPr sz="12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Use Pass0v7 data, run 018563, 018564, and 018565, </a:t>
            </a:r>
            <a:r>
              <a:rPr b="1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Cu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target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Cut electron: pid=11, status &lt; 0, -5 &lt; chi2pid &lt; 5 and 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-10.502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&lt; Vz &lt; 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-6.452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cm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7975" y="1559650"/>
            <a:ext cx="4599974" cy="64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fr"/>
              <a:t>Vertex study: effect of a cut on Δt on Vz</a:t>
            </a:r>
            <a:endParaRPr/>
          </a:p>
        </p:txBody>
      </p:sp>
      <p:sp>
        <p:nvSpPr>
          <p:cNvPr id="85" name="Google Shape;85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647400"/>
            <a:ext cx="4267200" cy="32765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6"/>
          <p:cNvSpPr txBox="1"/>
          <p:nvPr/>
        </p:nvSpPr>
        <p:spPr>
          <a:xfrm>
            <a:off x="2276950" y="901275"/>
            <a:ext cx="18432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pid= 211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-10 &lt; chi2pid &lt; 10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1350" y="642525"/>
            <a:ext cx="4267201" cy="3286276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6820800" y="901275"/>
            <a:ext cx="2022900" cy="99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pid = 211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-10 &lt; chi2pid &lt; 10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-1.5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&lt; Δt &lt; 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0.65 ns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0" name="Google Shape;90;p16"/>
          <p:cNvSpPr txBox="1"/>
          <p:nvPr/>
        </p:nvSpPr>
        <p:spPr>
          <a:xfrm>
            <a:off x="178950" y="4127225"/>
            <a:ext cx="8786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 cut on Δt doesn’t reduce the secondary peak in Vz.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7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96" name="Google Shape;96;p17"/>
          <p:cNvSpPr txBox="1"/>
          <p:nvPr>
            <p:ph idx="1" type="body"/>
          </p:nvPr>
        </p:nvSpPr>
        <p:spPr>
          <a:xfrm>
            <a:off x="0" y="647400"/>
            <a:ext cx="9144000" cy="408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Due to the difficulty and the small amount of K</a:t>
            </a:r>
            <a:r>
              <a:rPr baseline="30000" lang="fr" sz="1700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 sz="1700">
                <a:latin typeface="Nunito"/>
                <a:ea typeface="Nunito"/>
                <a:cs typeface="Nunito"/>
                <a:sym typeface="Nunito"/>
              </a:rPr>
              <a:t> found in the data, I have switch to </a:t>
            </a:r>
            <a:r>
              <a:rPr lang="fr" sz="1700">
                <a:latin typeface="Nunito"/>
                <a:ea typeface="Nunito"/>
                <a:cs typeface="Nunito"/>
                <a:sym typeface="Nunito"/>
              </a:rPr>
              <a:t>π</a:t>
            </a:r>
            <a:r>
              <a:rPr baseline="30000" lang="fr" sz="1700"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fr"/>
              <a:t>.</a:t>
            </a:r>
            <a:endParaRPr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-"/>
            </a:pPr>
            <a:r>
              <a:rPr lang="fr" sz="1500"/>
              <a:t>Data: pass0v7 LD2 data</a:t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-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Select trigger electron: pid=11, status&lt;0, -5 &lt; chi2pid &lt; 5 and -15 &lt; Vz &lt; 5 cm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-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Select photon: 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-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pid=22 (EB use a cut on ꞵ&gt;0.9 to assign the pid + E&gt;0.0001GeV) 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-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E &gt; 0.2 GeV</a:t>
            </a:r>
            <a:endParaRPr baseline="30000" sz="1500">
              <a:latin typeface="Nunito"/>
              <a:ea typeface="Nunito"/>
              <a:cs typeface="Nunito"/>
              <a:sym typeface="Nuni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-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-15 &lt; Vz &lt; 5 cm 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-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Opening angle between electron and photon, θ</a:t>
            </a:r>
            <a:r>
              <a:rPr baseline="-25000" lang="fr" sz="1500">
                <a:latin typeface="Nunito"/>
                <a:ea typeface="Nunito"/>
                <a:cs typeface="Nunito"/>
                <a:sym typeface="Nunito"/>
              </a:rPr>
              <a:t>eɣ</a:t>
            </a:r>
            <a:r>
              <a:rPr lang="fr" sz="1500">
                <a:latin typeface="Nunito"/>
                <a:ea typeface="Nunito"/>
                <a:cs typeface="Nunito"/>
                <a:sym typeface="Nunito"/>
              </a:rPr>
              <a:t> &gt; 8 deg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-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−1.68 &lt; Δt &lt; 1.55 ns 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-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DIS cuts: Q</a:t>
            </a:r>
            <a:r>
              <a:rPr baseline="30000" lang="fr" sz="15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500">
                <a:latin typeface="Nunito"/>
                <a:ea typeface="Nunito"/>
                <a:cs typeface="Nunito"/>
                <a:sym typeface="Nunito"/>
              </a:rPr>
              <a:t>&gt;1 GeV</a:t>
            </a:r>
            <a:r>
              <a:rPr baseline="30000" lang="fr" sz="1500"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500">
                <a:latin typeface="Nunito"/>
                <a:ea typeface="Nunito"/>
                <a:cs typeface="Nunito"/>
                <a:sym typeface="Nunito"/>
              </a:rPr>
              <a:t>, W &gt; 2 GeV, 0.3 &lt; z</a:t>
            </a:r>
            <a:r>
              <a:rPr baseline="-25000" lang="fr" sz="1500">
                <a:latin typeface="Nunito"/>
                <a:ea typeface="Nunito"/>
                <a:cs typeface="Nunito"/>
                <a:sym typeface="Nunito"/>
              </a:rPr>
              <a:t>h</a:t>
            </a:r>
            <a:r>
              <a:rPr lang="fr" sz="1500">
                <a:latin typeface="Nunito"/>
                <a:ea typeface="Nunito"/>
                <a:cs typeface="Nunito"/>
                <a:sym typeface="Nunito"/>
              </a:rPr>
              <a:t> &lt; 0.7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Font typeface="Nunito"/>
              <a:buChar char="-"/>
            </a:pPr>
            <a:r>
              <a:rPr lang="fr" sz="1700">
                <a:latin typeface="Nunito"/>
                <a:ea typeface="Nunito"/>
                <a:cs typeface="Nunito"/>
                <a:sym typeface="Nunito"/>
              </a:rPr>
              <a:t>I am working on an event mixing method to reproduce the background below the peak in the two photons' mass distribution.</a:t>
            </a:r>
            <a:endParaRPr sz="17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7" name="Google Shape;97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98" name="Google Shape;98;p17"/>
          <p:cNvSpPr txBox="1"/>
          <p:nvPr/>
        </p:nvSpPr>
        <p:spPr>
          <a:xfrm>
            <a:off x="0" y="4743300"/>
            <a:ext cx="5224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1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1: (</a:t>
            </a:r>
            <a:r>
              <a:rPr lang="fr" sz="1100" u="sng">
                <a:solidFill>
                  <a:srgbClr val="0097A7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Analysis note</a:t>
            </a:r>
            <a:r>
              <a:rPr lang="fr" sz="1100">
                <a:solidFill>
                  <a:srgbClr val="595959"/>
                </a:solidFill>
                <a:latin typeface="Nunito"/>
                <a:ea typeface="Nunito"/>
                <a:cs typeface="Nunito"/>
                <a:sym typeface="Nunito"/>
              </a:rPr>
              <a:t> by Stefan Diehl, Andrey Kim, Kyungseon Joo)</a:t>
            </a:r>
            <a:endParaRPr sz="11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/>
              <a:t>RG-D study: π</a:t>
            </a:r>
            <a:r>
              <a:rPr baseline="30000" lang="fr"/>
              <a:t>0</a:t>
            </a:r>
            <a:r>
              <a:rPr lang="fr"/>
              <a:t> analysis</a:t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5" name="Google Shape;105;p18"/>
          <p:cNvSpPr txBox="1"/>
          <p:nvPr/>
        </p:nvSpPr>
        <p:spPr>
          <a:xfrm>
            <a:off x="58175" y="685150"/>
            <a:ext cx="66981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800">
                <a:solidFill>
                  <a:srgbClr val="FF0000"/>
                </a:solidFill>
                <a:latin typeface="Nunito"/>
                <a:ea typeface="Nunito"/>
                <a:cs typeface="Nunito"/>
                <a:sym typeface="Nunito"/>
              </a:rPr>
              <a:t>Red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- main event        </a:t>
            </a:r>
            <a:r>
              <a:rPr lang="fr" sz="1800">
                <a:solidFill>
                  <a:srgbClr val="00FF00"/>
                </a:solidFill>
                <a:latin typeface="Nunito"/>
                <a:ea typeface="Nunito"/>
                <a:cs typeface="Nunito"/>
                <a:sym typeface="Nunito"/>
              </a:rPr>
              <a:t>Green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- event mixing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6" name="Google Shape;1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7" y="1127250"/>
            <a:ext cx="4591382" cy="3407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1375" y="1127250"/>
            <a:ext cx="4545273" cy="340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