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Nunito"/>
      <p:regular r:id="rId24"/>
      <p:bold r:id="rId25"/>
      <p:italic r:id="rId26"/>
      <p:boldItalic r:id="rId27"/>
    </p:embeddedFont>
    <p:embeddedFont>
      <p:font typeface="Nunito Medium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F7D374-0B6D-4CEE-967F-F5516C355A9E}">
  <a:tblStyle styleId="{7CF7D374-0B6D-4CEE-967F-F5516C355A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uni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NunitoMedium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Medium-boldItalic.fntdata"/><Relationship Id="rId30" Type="http://schemas.openxmlformats.org/officeDocument/2006/relationships/font" Target="fonts/NunitoMedium-italic.fntdata"/><Relationship Id="rId11" Type="http://schemas.openxmlformats.org/officeDocument/2006/relationships/slide" Target="slides/slide5.xml"/><Relationship Id="rId33" Type="http://schemas.openxmlformats.org/officeDocument/2006/relationships/font" Target="fonts/RobotoMono-bold.fntdata"/><Relationship Id="rId10" Type="http://schemas.openxmlformats.org/officeDocument/2006/relationships/slide" Target="slides/slide4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68adf41c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68adf41c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6c6570fe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16c6570fe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6c6570f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16c6570f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6c6570fe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6c6570fe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6c6570fe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6c6570fe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6c6570fe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6c6570fe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6c6570fe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6c6570fe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c6570fe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c6570fe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6c6570fe0_4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16c6570fe0_4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6c6570fe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16c6570fe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6c6570fe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6c6570fe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6c6570fe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6c6570fe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6c6570fe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16c6570fe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6c6570fe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6c6570fe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6c6570fe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16c6570fe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6c6570fe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16c6570fe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RG-D Group Meeting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(November 20</a:t>
            </a:r>
            <a:r>
              <a:rPr baseline="30000"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presentation/d/1chrnQHojrakWIsg_4hs_pFUY4X9YF9nHZ06hf3K6bKI/edit#slide=id.p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lab.in2p3.fr/dupre/sidis_mc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hyperlink" Target="https://indico.jlab.org/event/910/contributions/15581/attachments/11928/18710/Flash_Talk_Nov_SS.pdf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80"/>
              <a:t>Analysis and cooking status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November 20</a:t>
            </a:r>
            <a:r>
              <a:rPr baseline="30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Cooking status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0" y="863550"/>
            <a:ext cx="9093900" cy="3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Cooking</a:t>
            </a:r>
            <a:r>
              <a:rPr lang="en"/>
              <a:t> for Pass0v7 and DC calibration is done.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Took ~5 days (Pass0v7 use 20 files per runs, dc use decoded files from calib_v9)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Launch new workflow Calib_v10 for CTOF calibration and Calib_v11 for CND.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Skimed Pass0v7, same location: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/cache/hallb/scratch/rg-d/production/skim_pass0v7/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 have deleted the decoded files for Pass0v7.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Same for recon files.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152400" y="838475"/>
            <a:ext cx="85206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to delete previous Pass0 from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/cache/hallb/scratch/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But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/cache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became read-only yesterday during the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maintenance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788800"/>
            <a:ext cx="8839204" cy="46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0197"/>
            <a:ext cx="6799799" cy="94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</a:t>
            </a:r>
            <a:r>
              <a:rPr lang="en"/>
              <a:t> Meeting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173550" y="901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give a talk to the collaboration meeting about the RG-D update and the current analysis.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Here is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slides</a:t>
            </a:r>
            <a:r>
              <a:rPr lang="en"/>
              <a:t>.</a:t>
            </a:r>
            <a:endParaRPr/>
          </a:p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RG-D Vertex Studies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98200" y="668025"/>
            <a:ext cx="8951700" cy="13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Goal: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1374" lvl="1" marL="414000" rtl="0" algn="l">
              <a:spcBef>
                <a:spcPts val="0"/>
              </a:spcBef>
              <a:spcAft>
                <a:spcPts val="0"/>
              </a:spcAft>
              <a:buSzPts val="1338"/>
              <a:buFont typeface="Nunito"/>
              <a:buChar char="○"/>
            </a:pPr>
            <a:r>
              <a:rPr lang="en" sz="1538">
                <a:latin typeface="Nunito"/>
                <a:ea typeface="Nunito"/>
                <a:cs typeface="Nunito"/>
                <a:sym typeface="Nunito"/>
              </a:rPr>
              <a:t>Check whether all sectors are well aligned in Vx, Vy and Vz distributions</a:t>
            </a:r>
            <a:endParaRPr sz="1538">
              <a:latin typeface="Nunito"/>
              <a:ea typeface="Nunito"/>
              <a:cs typeface="Nunito"/>
              <a:sym typeface="Nunito"/>
            </a:endParaRPr>
          </a:p>
          <a:p>
            <a:pPr indent="-171374" lvl="1" marL="414000" rtl="0" algn="l">
              <a:spcBef>
                <a:spcPts val="0"/>
              </a:spcBef>
              <a:spcAft>
                <a:spcPts val="0"/>
              </a:spcAft>
              <a:buSzPts val="1338"/>
              <a:buFont typeface="Nunito"/>
              <a:buChar char="○"/>
            </a:pPr>
            <a:r>
              <a:rPr lang="en" sz="1538">
                <a:latin typeface="Nunito"/>
                <a:ea typeface="Nunito"/>
                <a:cs typeface="Nunito"/>
                <a:sym typeface="Nunito"/>
              </a:rPr>
              <a:t>Could sector-independent cuts on Vx, Vy and Vz be applied? </a:t>
            </a:r>
            <a:endParaRPr sz="1538">
              <a:latin typeface="Nunito"/>
              <a:ea typeface="Nunito"/>
              <a:cs typeface="Nunito"/>
              <a:sym typeface="Nunito"/>
            </a:endParaRPr>
          </a:p>
          <a:p>
            <a:pPr indent="-171374" lvl="1" marL="414000" rtl="0" algn="l">
              <a:spcBef>
                <a:spcPts val="0"/>
              </a:spcBef>
              <a:spcAft>
                <a:spcPts val="0"/>
              </a:spcAft>
              <a:buSzPts val="1338"/>
              <a:buFont typeface="Nunito"/>
              <a:buChar char="○"/>
            </a:pPr>
            <a:r>
              <a:rPr lang="en" sz="1538">
                <a:latin typeface="Nunito"/>
                <a:ea typeface="Nunito"/>
                <a:cs typeface="Nunito"/>
                <a:sym typeface="Nunito"/>
              </a:rPr>
              <a:t>Reduce the contamination for the target configuration with two different foils, Cu and Sn</a:t>
            </a:r>
            <a:endParaRPr sz="1538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900" y="1884050"/>
            <a:ext cx="3721801" cy="2831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475" y="1884050"/>
            <a:ext cx="3721801" cy="2831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RG-D Vertex Studies: Transverse Components 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0" y="723600"/>
            <a:ext cx="9093900" cy="1108500"/>
          </a:xfrm>
          <a:prstGeom prst="rect">
            <a:avLst/>
          </a:prstGeom>
        </p:spPr>
        <p:txBody>
          <a:bodyPr anchorCtr="0" anchor="t" bIns="0" lIns="90000" spcFirstLastPara="1" rIns="0" wrap="square" tIns="0">
            <a:normAutofit/>
          </a:bodyPr>
          <a:lstStyle/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Get rid of sector-dependent cuts for Vx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25" y="1055150"/>
            <a:ext cx="4421374" cy="364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18499"/>
            <a:ext cx="4521899" cy="35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RG-D Vertex Studies: Transverse Components </a:t>
            </a:r>
            <a:endParaRPr/>
          </a:p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00" y="1054800"/>
            <a:ext cx="4420799" cy="364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0" y="723600"/>
            <a:ext cx="9093900" cy="1108500"/>
          </a:xfrm>
          <a:prstGeom prst="rect">
            <a:avLst/>
          </a:prstGeom>
        </p:spPr>
        <p:txBody>
          <a:bodyPr anchorCtr="0" anchor="t" bIns="0" lIns="90000" spcFirstLastPara="1" rIns="0" wrap="square" tIns="0">
            <a:normAutofit/>
          </a:bodyPr>
          <a:lstStyle/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Get rid of sector-dependent cuts for Vy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19600"/>
            <a:ext cx="4521600" cy="357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9800"/>
            <a:ext cx="5090500" cy="3809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RG-D Vertex Studies: z-Vertex</a:t>
            </a:r>
            <a:endParaRPr/>
          </a:p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0" name="Google Shape;120;p20"/>
          <p:cNvCxnSpPr/>
          <p:nvPr/>
        </p:nvCxnSpPr>
        <p:spPr>
          <a:xfrm>
            <a:off x="1048775" y="4433775"/>
            <a:ext cx="986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20"/>
          <p:cNvCxnSpPr/>
          <p:nvPr/>
        </p:nvCxnSpPr>
        <p:spPr>
          <a:xfrm>
            <a:off x="2072450" y="4433775"/>
            <a:ext cx="8934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20"/>
          <p:cNvSpPr txBox="1"/>
          <p:nvPr/>
        </p:nvSpPr>
        <p:spPr>
          <a:xfrm>
            <a:off x="825225" y="4502925"/>
            <a:ext cx="1199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Empty LD2 cell</a:t>
            </a:r>
            <a:endParaRPr sz="13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2051300" y="4502925"/>
            <a:ext cx="17043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Nuclear-foil</a:t>
            </a:r>
            <a:endParaRPr sz="130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5090500" y="678800"/>
            <a:ext cx="4038900" cy="23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19434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Fits: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Fit the empty LD2 cell and nuclear-foil regions with double gaussians and first-order polynomial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Separate the two different foils, Cu and Sn from each other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Same study is performed for carbon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Similar study is underway for hadrons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25" name="Google Shape;125;p20"/>
          <p:cNvGraphicFramePr/>
          <p:nvPr/>
        </p:nvGraphicFramePr>
        <p:xfrm>
          <a:off x="5567375" y="313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{7CF7D374-0B6D-4CEE-967F-F5516C355A9E}</a:tableStyleId>
              </a:tblPr>
              <a:tblGrid>
                <a:gridCol w="1661850"/>
                <a:gridCol w="1661850"/>
              </a:tblGrid>
              <a:tr h="30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Target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z-Vertex (cm)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LD2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[-20, 5]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[-10.784, 5]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Cu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[-11.463, -6.576]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Sn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[-6.137, 5]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RG-D Vertex Studies Carbon: μ and σ values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2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32" name="Google Shape;132;p21"/>
          <p:cNvGraphicFramePr/>
          <p:nvPr/>
        </p:nvGraphicFramePr>
        <p:xfrm>
          <a:off x="181200" y="110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{7CF7D374-0B6D-4CEE-967F-F5516C355A9E}</a:tableStyleId>
              </a:tblPr>
              <a:tblGrid>
                <a:gridCol w="1085850"/>
                <a:gridCol w="1085850"/>
                <a:gridCol w="1085850"/>
                <a:gridCol w="1085850"/>
                <a:gridCol w="1085850"/>
              </a:tblGrid>
              <a:tr h="2868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Vx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Vy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868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Mean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Sigma </a:t>
                      </a: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Mean </a:t>
                      </a: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Sigma </a:t>
                      </a: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independant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-0.00431889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0.138538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-0.175104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0.184344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0.00207391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0.0568253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-0.320168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0.249121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0.273244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0.270524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-0.27552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 0.133421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0.0489401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0.213238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-0.154027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0.168174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-0.0290649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0.0975361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0.214474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0.283372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5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-0.250731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0.252091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-0.0754824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0.135787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6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-0.0224166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0.207086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-0.182258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0.17224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" name="Google Shape;133;p21"/>
          <p:cNvGraphicFramePr/>
          <p:nvPr/>
        </p:nvGraphicFramePr>
        <p:xfrm>
          <a:off x="5668875" y="1105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{7CF7D374-0B6D-4CEE-967F-F5516C355A9E}</a:tableStyleId>
              </a:tblPr>
              <a:tblGrid>
                <a:gridCol w="382850"/>
                <a:gridCol w="1142175"/>
                <a:gridCol w="1016875"/>
                <a:gridCol w="847300"/>
              </a:tblGrid>
              <a:tr h="1782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Mean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Sigma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625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Vz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Entrance</a:t>
                      </a: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 of the empty LD2 cell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-18.4237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1.16015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2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Exit of the empty LD2 cell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-13.8489 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1.02154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296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first foil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-8.50419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0.691596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682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second foil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-3.59758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0.815107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RG-D Vertex Studies CuSn: μ and σ values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40" name="Google Shape;140;p22"/>
          <p:cNvGraphicFramePr/>
          <p:nvPr/>
        </p:nvGraphicFramePr>
        <p:xfrm>
          <a:off x="181200" y="110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{7CF7D374-0B6D-4CEE-967F-F5516C355A9E}</a:tableStyleId>
              </a:tblPr>
              <a:tblGrid>
                <a:gridCol w="1085850"/>
                <a:gridCol w="1085850"/>
                <a:gridCol w="1085850"/>
                <a:gridCol w="1085850"/>
                <a:gridCol w="1085850"/>
              </a:tblGrid>
              <a:tr h="2868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Vx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Vy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868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Mean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Sigma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Mean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Sigma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independant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-0.00421593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0.138723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-0.176477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0.185352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0.00104791 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0.0560966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-0.316161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0.253364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0.270278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0.273344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-0.279131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0.133888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0.0482362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0.21678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-0.156601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0.170709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-0.0279068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0.0987972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0.22215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0.288263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5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-0.253408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0.253318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-0.0739325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0.137628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6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-0.0178941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0.210021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-0.180336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0.17197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" name="Google Shape;141;p22"/>
          <p:cNvGraphicFramePr/>
          <p:nvPr/>
        </p:nvGraphicFramePr>
        <p:xfrm>
          <a:off x="5668875" y="1105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{7CF7D374-0B6D-4CEE-967F-F5516C355A9E}</a:tableStyleId>
              </a:tblPr>
              <a:tblGrid>
                <a:gridCol w="382850"/>
                <a:gridCol w="1142175"/>
                <a:gridCol w="1016875"/>
                <a:gridCol w="847300"/>
              </a:tblGrid>
              <a:tr h="1782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Mean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Sigma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625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Vz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Entrance of the empty LD2 cell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 -18.4969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0.896509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2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Exit of the empty LD2 cell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-13.803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0.779741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296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Cu</a:t>
                      </a: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 foil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-8.56379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0.662424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682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Sn</a:t>
                      </a: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 foil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-3.70048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0.812302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RG-D Analysis Study: Particle IDentification</a:t>
            </a:r>
            <a:endParaRPr/>
          </a:p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3"/>
          <p:cNvSpPr txBox="1"/>
          <p:nvPr/>
        </p:nvSpPr>
        <p:spPr>
          <a:xfrm>
            <a:off x="60500" y="712825"/>
            <a:ext cx="20262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3399" lvl="0" marL="208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2000"/>
              <a:buFont typeface="Nunito"/>
              <a:buChar char="●"/>
            </a:pP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Electron: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393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PID= 11 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393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Status&lt; 0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393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-5 &lt; chi2pid &lt; 5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550" y="781900"/>
            <a:ext cx="4858577" cy="308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255" y="1843550"/>
            <a:ext cx="3621245" cy="28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 txBox="1"/>
          <p:nvPr/>
        </p:nvSpPr>
        <p:spPr>
          <a:xfrm>
            <a:off x="2164025" y="712825"/>
            <a:ext cx="21378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3399" lvl="0" marL="2087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2000"/>
              <a:buFont typeface="Nunito"/>
              <a:buChar char="●"/>
            </a:pP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Charged pions, π</a:t>
            </a:r>
            <a:r>
              <a:rPr baseline="30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±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393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PID (+/-) = (+/-) 211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393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-10 &lt; chi2pid &lt; 10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RG-D CT Study: Kinematical Cuts</a:t>
            </a:r>
            <a:endParaRPr/>
          </a:p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122400" y="694000"/>
            <a:ext cx="88992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7999" lvl="0" marL="208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●"/>
            </a:pPr>
            <a:r>
              <a:rPr lang="en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ν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E - E’: virtual photon(γ*) energy in the Lab frame,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●"/>
            </a:pP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aseline="30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-(P</a:t>
            </a:r>
            <a:r>
              <a:rPr baseline="-25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 P</a:t>
            </a:r>
            <a:r>
              <a:rPr baseline="-25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e’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r>
              <a:rPr baseline="30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4EE’sin</a:t>
            </a:r>
            <a:r>
              <a:rPr baseline="30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(θ/2): photon virtuality,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●"/>
            </a:pP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t= (P</a:t>
            </a:r>
            <a:r>
              <a:rPr baseline="-25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γ* 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 P</a:t>
            </a:r>
            <a:r>
              <a:rPr baseline="-25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γ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r>
              <a:rPr baseline="30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momentum transfer square,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●"/>
            </a:pP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</a:t>
            </a:r>
            <a:r>
              <a:rPr baseline="30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(P</a:t>
            </a:r>
            <a:r>
              <a:rPr baseline="-25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+ P</a:t>
            </a:r>
            <a:r>
              <a:rPr baseline="-25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γ*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r>
              <a:rPr baseline="30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-Q</a:t>
            </a:r>
            <a:r>
              <a:rPr baseline="30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+ M</a:t>
            </a:r>
            <a:r>
              <a:rPr baseline="-25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r>
              <a:rPr baseline="30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+ 2M</a:t>
            </a:r>
            <a:r>
              <a:rPr baseline="-25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r>
              <a:rPr lang="en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ν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invariant mass squared in (γ*, p) center of mass (CM).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52000" lvl="0" marL="172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●"/>
            </a:pP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Kinematical cuts: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5301" lvl="1" marL="378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W&gt; 2 GeV ↦ avoid resonance region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5301" lvl="1" marL="378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z</a:t>
            </a:r>
            <a:r>
              <a:rPr baseline="-25000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E</a:t>
            </a:r>
            <a:r>
              <a:rPr baseline="-25000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/</a:t>
            </a:r>
            <a:r>
              <a:rPr lang="en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ν </a:t>
            </a: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&gt; 0.9 ↦ select elastic channel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5301" lvl="1" marL="378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-t &gt; 0.1 GeV</a:t>
            </a:r>
            <a:r>
              <a:rPr baseline="30000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 </a:t>
            </a: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↦ exclude coherent production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5301" lvl="1" marL="378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-t &lt; 0.5 GeV</a:t>
            </a:r>
            <a:r>
              <a:rPr baseline="30000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 </a:t>
            </a: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↦ select diffractive process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976" y="1871500"/>
            <a:ext cx="3522025" cy="27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CT Study: Two-pion Invariant Mass</a:t>
            </a:r>
            <a:endParaRPr/>
          </a:p>
        </p:txBody>
      </p:sp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725" y="647400"/>
            <a:ext cx="6374426" cy="406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625" y="1657125"/>
            <a:ext cx="4063649" cy="30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5" y="1613996"/>
            <a:ext cx="4064399" cy="30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CT Study: Two-pion Invariant Mass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0" y="647400"/>
            <a:ext cx="9144000" cy="9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18799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Fit the invariant mass shapes for the two-oppositely charged pions with a Breit-Wigner and five-order polynomial function (</a:t>
            </a:r>
            <a:r>
              <a:rPr i="1" lang="en" sz="1600">
                <a:latin typeface="Nunito"/>
                <a:ea typeface="Nunito"/>
                <a:cs typeface="Nunito"/>
                <a:sym typeface="Nunito"/>
              </a:rPr>
              <a:t>the latter will be replaced with the simulated background shape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)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Extract ρ</a:t>
            </a:r>
            <a:r>
              <a:rPr baseline="30000" lang="en" sz="1600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yield by integrating the background-subtracted BW within a 3σ range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1055075" y="4477800"/>
            <a:ext cx="1859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Carbon data</a:t>
            </a:r>
            <a:endParaRPr sz="1600">
              <a:solidFill>
                <a:srgbClr val="38761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5208000" y="4477800"/>
            <a:ext cx="1859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LD2 data</a:t>
            </a:r>
            <a:endParaRPr sz="1600">
              <a:solidFill>
                <a:srgbClr val="38761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RG-D Color Transparency Study</a:t>
            </a:r>
            <a:endParaRPr/>
          </a:p>
        </p:txBody>
      </p: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94225" y="794500"/>
            <a:ext cx="4176300" cy="389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Extract the nuclear transparency: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aseline="-25000" lang="en" sz="1600">
                <a:latin typeface="Nunito"/>
                <a:ea typeface="Nunito"/>
                <a:cs typeface="Nunito"/>
                <a:sym typeface="Nunito"/>
              </a:rPr>
              <a:t>LD2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= 5 cm: LD2 thickness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aseline="-25000" lang="en" sz="1600">
                <a:latin typeface="Nunito"/>
                <a:ea typeface="Nunito"/>
                <a:cs typeface="Nunito"/>
                <a:sym typeface="Nunito"/>
              </a:rPr>
              <a:t>CxC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= 0.4 cm: is CxC thickness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ρ</a:t>
            </a:r>
            <a:r>
              <a:rPr baseline="-25000" lang="en" sz="1600">
                <a:latin typeface="Nunito"/>
                <a:ea typeface="Nunito"/>
                <a:cs typeface="Nunito"/>
                <a:sym typeface="Nunito"/>
              </a:rPr>
              <a:t>LD2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= 0.164 g/cm</a:t>
            </a:r>
            <a:r>
              <a:rPr baseline="30000" lang="en" sz="1600"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: LD2 density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ρ</a:t>
            </a:r>
            <a:r>
              <a:rPr baseline="-25000" lang="en" sz="1600"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= 2.2g/cm</a:t>
            </a:r>
            <a:r>
              <a:rPr baseline="30000" lang="en" sz="1600">
                <a:latin typeface="Nunito"/>
                <a:ea typeface="Nunito"/>
                <a:cs typeface="Nunito"/>
                <a:sym typeface="Nunito"/>
              </a:rPr>
              <a:t>3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: carbon density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Ongoing analysis by M. Maynes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4" name="Google Shape;184;p2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5" name="Google Shape;185;p27"/>
          <p:cNvPicPr preferRelativeResize="0"/>
          <p:nvPr/>
        </p:nvPicPr>
        <p:blipFill rotWithShape="1">
          <a:blip r:embed="rId3">
            <a:alphaModFix/>
          </a:blip>
          <a:srcRect b="0" l="764" r="0" t="0"/>
          <a:stretch/>
        </p:blipFill>
        <p:spPr>
          <a:xfrm>
            <a:off x="4138675" y="889175"/>
            <a:ext cx="4934549" cy="34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800" y="1142500"/>
            <a:ext cx="2117975" cy="8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RG-D nTMDs Studies: Positively-charged Pion</a:t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41650" y="687700"/>
            <a:ext cx="8964300" cy="17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20069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Ongoing simulation efforts: preliminary results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8001" lvl="1" marL="45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Simulations are produced using </a:t>
            </a:r>
            <a:r>
              <a:rPr lang="en" sz="16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modified version of Pythia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8001" lvl="1" marL="45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Comparing experimental data to simulation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" name="Google Shape;193;p2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4" name="Google Shape;19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338" y="1530800"/>
            <a:ext cx="3455475" cy="25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 txBox="1"/>
          <p:nvPr/>
        </p:nvSpPr>
        <p:spPr>
          <a:xfrm>
            <a:off x="2524625" y="4042350"/>
            <a:ext cx="8352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Q</a:t>
            </a:r>
            <a:r>
              <a:rPr baseline="30000" lang="en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en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[GeV</a:t>
            </a:r>
            <a:r>
              <a:rPr baseline="30000" lang="en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en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]</a:t>
            </a:r>
            <a:endParaRPr sz="13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1807725" y="2317400"/>
            <a:ext cx="597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Nunito Medium"/>
                <a:ea typeface="Nunito Medium"/>
                <a:cs typeface="Nunito Medium"/>
                <a:sym typeface="Nunito Medium"/>
              </a:rPr>
              <a:t>LD2</a:t>
            </a:r>
            <a:endParaRPr sz="1800">
              <a:solidFill>
                <a:srgbClr val="38761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5875" y="1530800"/>
            <a:ext cx="3539670" cy="254194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/>
          <p:nvPr/>
        </p:nvSpPr>
        <p:spPr>
          <a:xfrm>
            <a:off x="6466325" y="4042350"/>
            <a:ext cx="3123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z</a:t>
            </a:r>
            <a:r>
              <a:rPr baseline="-25000" lang="en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h</a:t>
            </a:r>
            <a:endParaRPr baseline="-25000" sz="13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5470775" y="2317400"/>
            <a:ext cx="597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Nunito Medium"/>
                <a:ea typeface="Nunito Medium"/>
                <a:cs typeface="Nunito Medium"/>
                <a:sym typeface="Nunito Medium"/>
              </a:rPr>
              <a:t>LD2</a:t>
            </a:r>
            <a:endParaRPr sz="1800">
              <a:solidFill>
                <a:srgbClr val="38761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3579900" y="1152200"/>
            <a:ext cx="55641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Analysis by D. Matamoros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41650" y="4364775"/>
            <a:ext cx="6286500" cy="3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Parallel nTMDs analysis for charged pions by </a:t>
            </a: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S. Shrestha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RG-D nTMDs Studies: K-short Channel</a:t>
            </a:r>
            <a:endParaRPr/>
          </a:p>
        </p:txBody>
      </p:sp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" name="Google Shape;2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575" y="699363"/>
            <a:ext cx="4932625" cy="372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41650" y="841550"/>
            <a:ext cx="4034100" cy="38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192127" lvl="0" marL="208799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First look at the K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channel to extract multiplicity ratios and azimuthal asymmetries: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0856" lvl="1" marL="414000" rtl="0" algn="l">
              <a:spcBef>
                <a:spcPts val="100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en" sz="1608">
                <a:latin typeface="Nunito"/>
                <a:ea typeface="Nunito"/>
                <a:cs typeface="Nunito"/>
                <a:sym typeface="Nunito"/>
              </a:rPr>
              <a:t>In-progress studies to improve the two-pion invariant mass reconstruction in the mass region of interest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92127" lvl="0" marL="208799" rtl="0" algn="l">
              <a:spcBef>
                <a:spcPts val="120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Kinematical cuts: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0379" lvl="1" marL="414000" rtl="0" algn="l">
              <a:spcBef>
                <a:spcPts val="100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W&gt; 2 GeV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0379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aseline="30000" lang="en" sz="16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&gt;1 GeV</a:t>
            </a:r>
            <a:r>
              <a:rPr baseline="30000" lang="en" sz="1600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 sz="1600">
              <a:latin typeface="Nunito"/>
              <a:ea typeface="Nunito"/>
              <a:cs typeface="Nunito"/>
              <a:sym typeface="Nunito"/>
            </a:endParaRPr>
          </a:p>
          <a:p>
            <a:pPr indent="-180379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z</a:t>
            </a:r>
            <a:r>
              <a:rPr baseline="-25000" lang="en" sz="1600"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&lt; 0.7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0379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|ΔVz| &lt; 3 cm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7567675" y="4477825"/>
            <a:ext cx="1463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by M. Ouillon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