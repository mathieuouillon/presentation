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handoutMasterIdLst>
    <p:handoutMasterId r:id="rId20"/>
  </p:handoutMasterIdLst>
  <p:sldIdLst>
    <p:sldId id="256" r:id="rId2"/>
    <p:sldId id="275" r:id="rId3"/>
    <p:sldId id="270" r:id="rId4"/>
    <p:sldId id="276" r:id="rId5"/>
    <p:sldId id="274" r:id="rId6"/>
    <p:sldId id="280" r:id="rId7"/>
    <p:sldId id="282" r:id="rId8"/>
    <p:sldId id="283" r:id="rId9"/>
    <p:sldId id="284" r:id="rId10"/>
    <p:sldId id="285" r:id="rId11"/>
    <p:sldId id="286" r:id="rId12"/>
    <p:sldId id="287" r:id="rId13"/>
    <p:sldId id="288" r:id="rId14"/>
    <p:sldId id="289" r:id="rId15"/>
    <p:sldId id="277" r:id="rId16"/>
    <p:sldId id="278" r:id="rId17"/>
    <p:sldId id="2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ué Meneses Díaz" initials="JMD" lastIdx="1" clrIdx="0">
    <p:extLst>
      <p:ext uri="{19B8F6BF-5375-455C-9EA6-DF929625EA0E}">
        <p15:presenceInfo xmlns:p15="http://schemas.microsoft.com/office/powerpoint/2012/main" userId="b04c2315aa3d41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162"/>
    <a:srgbClr val="262626"/>
    <a:srgbClr val="00315F"/>
    <a:srgbClr val="FAFAFA"/>
    <a:srgbClr val="23373B"/>
    <a:srgbClr val="FFFFFF"/>
    <a:srgbClr val="243643"/>
    <a:srgbClr val="304D59"/>
    <a:srgbClr val="243A45"/>
    <a:srgbClr val="98B6C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37" autoAdjust="0"/>
    <p:restoredTop sz="94637" autoAdjust="0"/>
  </p:normalViewPr>
  <p:slideViewPr>
    <p:cSldViewPr snapToGrid="0" snapToObjects="1">
      <p:cViewPr varScale="1">
        <p:scale>
          <a:sx n="166" d="100"/>
          <a:sy n="166" d="100"/>
        </p:scale>
        <p:origin x="200" y="2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0494"/>
    </p:cViewPr>
  </p:sorterViewPr>
  <p:notesViewPr>
    <p:cSldViewPr snapToGrid="0" snapToObjects="1">
      <p:cViewPr varScale="1">
        <p:scale>
          <a:sx n="66" d="100"/>
          <a:sy n="66" d="100"/>
        </p:scale>
        <p:origin x="306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0EDF28E-8800-4B7E-93CE-9140A17976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4F043AF5-1FB9-40F2-A50C-00F64C47C8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0510DC-4C2A-4F6F-9501-4E7F5F169603}" type="datetimeFigureOut">
              <a:rPr lang="es-CL" smtClean="0"/>
              <a:t>25-02-26</a:t>
            </a:fld>
            <a:endParaRPr lang="es-CL"/>
          </a:p>
        </p:txBody>
      </p:sp>
      <p:sp>
        <p:nvSpPr>
          <p:cNvPr id="4" name="Marcador de pie de página 3">
            <a:extLst>
              <a:ext uri="{FF2B5EF4-FFF2-40B4-BE49-F238E27FC236}">
                <a16:creationId xmlns:a16="http://schemas.microsoft.com/office/drawing/2014/main" id="{59BC3DD2-F926-44DF-82AE-6BA853059A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42F9B4BF-E6EE-4D98-BCE0-35D9588A1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62CA5F-72BF-4704-8861-7B23D0958B13}" type="slidenum">
              <a:rPr lang="es-CL" smtClean="0"/>
              <a:t>‹#›</a:t>
            </a:fld>
            <a:endParaRPr lang="es-CL"/>
          </a:p>
        </p:txBody>
      </p:sp>
    </p:spTree>
    <p:extLst>
      <p:ext uri="{BB962C8B-B14F-4D97-AF65-F5344CB8AC3E}">
        <p14:creationId xmlns:p14="http://schemas.microsoft.com/office/powerpoint/2010/main" val="78931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9D9A3-6AD0-4C7D-A17B-441070370095}" type="datetimeFigureOut">
              <a:rPr lang="es-CL" smtClean="0"/>
              <a:t>25-02-26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5FC93-B29F-41F1-A4D9-E7914667CA34}" type="slidenum">
              <a:rPr lang="es-CL" smtClean="0"/>
              <a:t>‹#›</a:t>
            </a:fld>
            <a:endParaRPr lang="es-CL"/>
          </a:p>
        </p:txBody>
      </p:sp>
    </p:spTree>
    <p:extLst>
      <p:ext uri="{BB962C8B-B14F-4D97-AF65-F5344CB8AC3E}">
        <p14:creationId xmlns:p14="http://schemas.microsoft.com/office/powerpoint/2010/main" val="377268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BA45FC93-B29F-41F1-A4D9-E7914667CA34}" type="slidenum">
              <a:rPr lang="es-CL" smtClean="0"/>
              <a:t>1</a:t>
            </a:fld>
            <a:endParaRPr lang="es-CL"/>
          </a:p>
        </p:txBody>
      </p:sp>
    </p:spTree>
    <p:extLst>
      <p:ext uri="{BB962C8B-B14F-4D97-AF65-F5344CB8AC3E}">
        <p14:creationId xmlns:p14="http://schemas.microsoft.com/office/powerpoint/2010/main" val="38055791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AFAFA"/>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11" name="Rectángulo 10">
            <a:extLst>
              <a:ext uri="{FF2B5EF4-FFF2-40B4-BE49-F238E27FC236}">
                <a16:creationId xmlns:a16="http://schemas.microsoft.com/office/drawing/2014/main" id="{2C680E2D-A060-426E-80B4-6B882581BABF}"/>
              </a:ext>
            </a:extLst>
          </p:cNvPr>
          <p:cNvSpPr/>
          <p:nvPr userDrawn="1"/>
        </p:nvSpPr>
        <p:spPr>
          <a:xfrm>
            <a:off x="0" y="-28414"/>
            <a:ext cx="12192000" cy="1321437"/>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pic>
        <p:nvPicPr>
          <p:cNvPr id="8" name="Picture 7" descr="A blue background with white text and a white logo&#10;&#10;AI-generated content may be incorrect.">
            <a:extLst>
              <a:ext uri="{FF2B5EF4-FFF2-40B4-BE49-F238E27FC236}">
                <a16:creationId xmlns:a16="http://schemas.microsoft.com/office/drawing/2014/main" id="{550513C9-FE37-ABDB-DC73-3268493D8E01}"/>
              </a:ext>
            </a:extLst>
          </p:cNvPr>
          <p:cNvPicPr>
            <a:picLocks noChangeAspect="1"/>
          </p:cNvPicPr>
          <p:nvPr userDrawn="1"/>
        </p:nvPicPr>
        <p:blipFill>
          <a:blip r:embed="rId2"/>
          <a:srcRect l="-1" r="28388"/>
          <a:stretch>
            <a:fillRect/>
          </a:stretch>
        </p:blipFill>
        <p:spPr>
          <a:xfrm>
            <a:off x="5422107" y="-30370"/>
            <a:ext cx="6777036" cy="6905800"/>
          </a:xfrm>
          <a:prstGeom prst="rect">
            <a:avLst/>
          </a:prstGeom>
        </p:spPr>
      </p:pic>
      <p:sp>
        <p:nvSpPr>
          <p:cNvPr id="9" name="Trapezoid 8">
            <a:extLst>
              <a:ext uri="{FF2B5EF4-FFF2-40B4-BE49-F238E27FC236}">
                <a16:creationId xmlns:a16="http://schemas.microsoft.com/office/drawing/2014/main" id="{B1728B86-6592-DDFF-0871-A958EF66574A}"/>
              </a:ext>
            </a:extLst>
          </p:cNvPr>
          <p:cNvSpPr/>
          <p:nvPr userDrawn="1"/>
        </p:nvSpPr>
        <p:spPr>
          <a:xfrm rot="10800000">
            <a:off x="3610050" y="-47801"/>
            <a:ext cx="4562400" cy="6905800"/>
          </a:xfrm>
          <a:prstGeom prst="trapezoid">
            <a:avLst/>
          </a:prstGeom>
          <a:solidFill>
            <a:srgbClr val="FAFAFA"/>
          </a:solidFill>
          <a:ln>
            <a:solidFill>
              <a:srgbClr val="FAFA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00046" y="2064502"/>
            <a:ext cx="10363200" cy="974724"/>
          </a:xfrm>
          <a:prstGeom prst="rect">
            <a:avLst/>
          </a:prstGeom>
        </p:spPr>
        <p:txBody>
          <a:bodyPr/>
          <a:lstStyle>
            <a:lvl1pPr algn="l">
              <a:defRPr b="1">
                <a:solidFill>
                  <a:srgbClr val="304D59"/>
                </a:solidFill>
              </a:defRPr>
            </a:lvl1pPr>
          </a:lstStyle>
          <a:p>
            <a:r>
              <a:rPr lang="en-US" dirty="0"/>
              <a:t>Click to edit Master title style</a:t>
            </a:r>
          </a:p>
        </p:txBody>
      </p:sp>
      <p:sp>
        <p:nvSpPr>
          <p:cNvPr id="3" name="Subtitle 2"/>
          <p:cNvSpPr>
            <a:spLocks noGrp="1"/>
          </p:cNvSpPr>
          <p:nvPr>
            <p:ph type="subTitle" idx="1"/>
          </p:nvPr>
        </p:nvSpPr>
        <p:spPr>
          <a:xfrm>
            <a:off x="400046" y="3819652"/>
            <a:ext cx="8534400" cy="670705"/>
          </a:xfrm>
        </p:spPr>
        <p:txBody>
          <a:bodyPr>
            <a:normAutofit/>
          </a:bodyPr>
          <a:lstStyle>
            <a:lvl1pPr marL="0" indent="0" algn="l">
              <a:buNone/>
              <a:defRPr sz="2400">
                <a:solidFill>
                  <a:srgbClr val="304D59"/>
                </a:solidFill>
                <a:latin typeface="Fira Sans Book" panose="020B0503050000020004" pitchFamily="34" charset="0"/>
                <a:ea typeface="Fira Sans Book" panose="020B05030500000200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7" name="Date Placeholder 3"/>
          <p:cNvSpPr txBox="1">
            <a:spLocks/>
          </p:cNvSpPr>
          <p:nvPr userDrawn="1"/>
        </p:nvSpPr>
        <p:spPr>
          <a:xfrm>
            <a:off x="400046" y="4762548"/>
            <a:ext cx="2075717"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l" defTabSz="457200" rtl="0" eaLnBrk="1" latinLnBrk="0" hangingPunct="1">
              <a:spcBef>
                <a:spcPct val="20000"/>
              </a:spcBef>
              <a:buFont typeface="Arial"/>
              <a:buNone/>
            </a:pPr>
            <a:r>
              <a:rPr lang="es-CL" sz="2000" kern="1200" noProof="0" dirty="0">
                <a:solidFill>
                  <a:srgbClr val="304D59"/>
                </a:solidFill>
                <a:latin typeface="Fira Sans Book" panose="020B0503050000020004" pitchFamily="34" charset="0"/>
                <a:ea typeface="Fira Sans Book" panose="020B0503050000020004" pitchFamily="34" charset="0"/>
                <a:cs typeface="+mn-cs"/>
              </a:rPr>
              <a:t>02/26/26</a:t>
            </a:r>
          </a:p>
        </p:txBody>
      </p:sp>
      <p:sp>
        <p:nvSpPr>
          <p:cNvPr id="5" name="Footer Placeholder 4"/>
          <p:cNvSpPr>
            <a:spLocks noGrp="1"/>
          </p:cNvSpPr>
          <p:nvPr>
            <p:ph type="ftr" sz="quarter" idx="11"/>
          </p:nvPr>
        </p:nvSpPr>
        <p:spPr/>
        <p:txBody>
          <a:bodyPr/>
          <a:lstStyle/>
          <a:p>
            <a:r>
              <a:rPr lang="en-US"/>
              <a:t>AI Software meeting</a:t>
            </a:r>
          </a:p>
        </p:txBody>
      </p:sp>
      <p:sp>
        <p:nvSpPr>
          <p:cNvPr id="4" name="Date Placeholder 3"/>
          <p:cNvSpPr>
            <a:spLocks noGrp="1"/>
          </p:cNvSpPr>
          <p:nvPr>
            <p:ph type="dt" sz="half" idx="10"/>
          </p:nvPr>
        </p:nvSpPr>
        <p:spPr/>
        <p:txBody>
          <a:bodyPr/>
          <a:lstStyle/>
          <a:p>
            <a:r>
              <a:rPr lang="en-US"/>
              <a:t>02/26/26</a:t>
            </a:r>
            <a:endParaRPr lang="en-US" dirty="0"/>
          </a:p>
        </p:txBody>
      </p:sp>
    </p:spTree>
    <p:extLst>
      <p:ext uri="{BB962C8B-B14F-4D97-AF65-F5344CB8AC3E}">
        <p14:creationId xmlns:p14="http://schemas.microsoft.com/office/powerpoint/2010/main" val="144435751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85975" y="116756"/>
            <a:ext cx="9496425" cy="886253"/>
          </a:xfrm>
          <a:prstGeom prst="rect">
            <a:avLst/>
          </a:prstGeo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249680"/>
            <a:ext cx="10972800" cy="4860000"/>
          </a:xfrm>
        </p:spPr>
        <p:txBody>
          <a:bodyPr>
            <a:normAutofit/>
          </a:bodyPr>
          <a:lstStyle>
            <a:lvl1pPr>
              <a:defRPr sz="2400">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02/26/26</a:t>
            </a:r>
          </a:p>
        </p:txBody>
      </p:sp>
      <p:sp>
        <p:nvSpPr>
          <p:cNvPr id="5" name="Footer Placeholder 4"/>
          <p:cNvSpPr>
            <a:spLocks noGrp="1"/>
          </p:cNvSpPr>
          <p:nvPr>
            <p:ph type="ftr" sz="quarter" idx="11"/>
          </p:nvPr>
        </p:nvSpPr>
        <p:spPr/>
        <p:txBody>
          <a:bodyPr/>
          <a:lstStyle/>
          <a:p>
            <a:r>
              <a:rPr lang="en-US"/>
              <a:t>AI Software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cxnSp>
        <p:nvCxnSpPr>
          <p:cNvPr id="9" name="Straight Connector 8">
            <a:extLst>
              <a:ext uri="{FF2B5EF4-FFF2-40B4-BE49-F238E27FC236}">
                <a16:creationId xmlns:a16="http://schemas.microsoft.com/office/drawing/2014/main" id="{60EAA4C7-D0B6-0DE2-E030-4ACD062DD5B1}"/>
              </a:ext>
            </a:extLst>
          </p:cNvPr>
          <p:cNvCxnSpPr/>
          <p:nvPr userDrawn="1"/>
        </p:nvCxnSpPr>
        <p:spPr>
          <a:xfrm>
            <a:off x="159543" y="6238268"/>
            <a:ext cx="11872913" cy="0"/>
          </a:xfrm>
          <a:prstGeom prst="line">
            <a:avLst/>
          </a:prstGeom>
          <a:ln>
            <a:solidFill>
              <a:srgbClr val="00315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82595"/>
          </a:xfrm>
          <a:prstGeom prst="rect">
            <a:avLst/>
          </a:prstGeom>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608400" y="1249200"/>
            <a:ext cx="5384800" cy="4860000"/>
          </a:xfrm>
        </p:spPr>
        <p:txBody>
          <a:bodyPr>
            <a:normAutofit/>
          </a:bodyPr>
          <a:lstStyle>
            <a:lvl1pPr>
              <a:defRPr sz="2400">
                <a:solidFill>
                  <a:srgbClr val="23373B"/>
                </a:solidFill>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249200"/>
            <a:ext cx="5384800" cy="4860000"/>
          </a:xfrm>
        </p:spPr>
        <p:txBody>
          <a:bodyPr>
            <a:normAutofit/>
          </a:bodyPr>
          <a:lstStyle>
            <a:lvl1pPr>
              <a:defRPr sz="2400">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en-US"/>
              <a:t>02/26/26</a:t>
            </a:r>
          </a:p>
        </p:txBody>
      </p:sp>
      <p:sp>
        <p:nvSpPr>
          <p:cNvPr id="6" name="Footer Placeholder 5"/>
          <p:cNvSpPr>
            <a:spLocks noGrp="1"/>
          </p:cNvSpPr>
          <p:nvPr>
            <p:ph type="ftr" sz="quarter" idx="11"/>
          </p:nvPr>
        </p:nvSpPr>
        <p:spPr/>
        <p:txBody>
          <a:bodyPr/>
          <a:lstStyle/>
          <a:p>
            <a:r>
              <a:rPr lang="en-US"/>
              <a:t>AI Software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23373B"/>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02/26/26</a:t>
            </a:r>
          </a:p>
        </p:txBody>
      </p:sp>
      <p:sp>
        <p:nvSpPr>
          <p:cNvPr id="5" name="Footer Placeholder 4"/>
          <p:cNvSpPr>
            <a:spLocks noGrp="1"/>
          </p:cNvSpPr>
          <p:nvPr>
            <p:ph type="ftr" sz="quarter" idx="11"/>
          </p:nvPr>
        </p:nvSpPr>
        <p:spPr/>
        <p:txBody>
          <a:bodyPr/>
          <a:lstStyle/>
          <a:p>
            <a:r>
              <a:rPr lang="en-US"/>
              <a:t>AI Software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974724"/>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107306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inverted colors">
    <p:bg>
      <p:bgPr>
        <a:solidFill>
          <a:srgbClr val="23373B"/>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02/26/26</a:t>
            </a:r>
          </a:p>
        </p:txBody>
      </p:sp>
      <p:sp>
        <p:nvSpPr>
          <p:cNvPr id="5" name="Footer Placeholder 4"/>
          <p:cNvSpPr>
            <a:spLocks noGrp="1"/>
          </p:cNvSpPr>
          <p:nvPr>
            <p:ph type="ftr" sz="quarter" idx="11"/>
          </p:nvPr>
        </p:nvSpPr>
        <p:spPr/>
        <p:txBody>
          <a:bodyPr/>
          <a:lstStyle/>
          <a:p>
            <a:r>
              <a:rPr lang="en-US"/>
              <a:t>AI Software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1500186"/>
          </a:xfrm>
          <a:prstGeom prst="rect">
            <a:avLst/>
          </a:prstGeom>
          <a:solidFill>
            <a:srgbClr val="23373B"/>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4167477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wo columns with two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599" y="919716"/>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596599"/>
            <a:ext cx="5386917"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919716"/>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596599"/>
            <a:ext cx="5389033"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02/26/26</a:t>
            </a:r>
          </a:p>
        </p:txBody>
      </p:sp>
      <p:sp>
        <p:nvSpPr>
          <p:cNvPr id="8" name="Footer Placeholder 7"/>
          <p:cNvSpPr>
            <a:spLocks noGrp="1"/>
          </p:cNvSpPr>
          <p:nvPr>
            <p:ph type="ftr" sz="quarter" idx="11"/>
          </p:nvPr>
        </p:nvSpPr>
        <p:spPr/>
        <p:txBody>
          <a:bodyPr/>
          <a:lstStyle/>
          <a:p>
            <a:r>
              <a:rPr lang="en-US"/>
              <a:t>AI Software meeting</a:t>
            </a:r>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0" name="Title 1">
            <a:extLst>
              <a:ext uri="{FF2B5EF4-FFF2-40B4-BE49-F238E27FC236}">
                <a16:creationId xmlns:a16="http://schemas.microsoft.com/office/drawing/2014/main" id="{98049B74-EB33-49E5-A21C-5BC17B1D48D9}"/>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lumn and imagen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09600" y="939802"/>
            <a:ext cx="4011084" cy="52083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r>
              <a:rPr lang="en-US"/>
              <a:t>02/26/26</a:t>
            </a:r>
          </a:p>
        </p:txBody>
      </p:sp>
      <p:sp>
        <p:nvSpPr>
          <p:cNvPr id="6" name="Footer Placeholder 5"/>
          <p:cNvSpPr>
            <a:spLocks noGrp="1"/>
          </p:cNvSpPr>
          <p:nvPr>
            <p:ph type="ftr" sz="quarter" idx="11"/>
          </p:nvPr>
        </p:nvSpPr>
        <p:spPr/>
        <p:txBody>
          <a:bodyPr/>
          <a:lstStyle/>
          <a:p>
            <a:r>
              <a:rPr lang="en-US"/>
              <a:t>AI Software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ext Placeholder 3">
            <a:extLst>
              <a:ext uri="{FF2B5EF4-FFF2-40B4-BE49-F238E27FC236}">
                <a16:creationId xmlns:a16="http://schemas.microsoft.com/office/drawing/2014/main" id="{765B64F9-9C06-4BFC-9CC7-D62D4572BDE4}"/>
              </a:ext>
            </a:extLst>
          </p:cNvPr>
          <p:cNvSpPr>
            <a:spLocks noGrp="1"/>
          </p:cNvSpPr>
          <p:nvPr>
            <p:ph type="body" sz="half" idx="13"/>
          </p:nvPr>
        </p:nvSpPr>
        <p:spPr>
          <a:xfrm>
            <a:off x="4773085" y="5193412"/>
            <a:ext cx="6809314" cy="93275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1" name="Marcador de posición de imagen 7">
            <a:extLst>
              <a:ext uri="{FF2B5EF4-FFF2-40B4-BE49-F238E27FC236}">
                <a16:creationId xmlns:a16="http://schemas.microsoft.com/office/drawing/2014/main" id="{D74A7F3F-C231-4039-8494-F902CE8BAA4B}"/>
              </a:ext>
            </a:extLst>
          </p:cNvPr>
          <p:cNvSpPr>
            <a:spLocks noGrp="1"/>
          </p:cNvSpPr>
          <p:nvPr>
            <p:ph type="pic" sz="quarter" idx="14"/>
          </p:nvPr>
        </p:nvSpPr>
        <p:spPr>
          <a:xfrm>
            <a:off x="4773085" y="949968"/>
            <a:ext cx="6809315" cy="4176069"/>
          </a:xfrm>
        </p:spPr>
        <p:txBody>
          <a:bodyPr/>
          <a:lstStyle/>
          <a:p>
            <a:endParaRPr lang="es-CL"/>
          </a:p>
        </p:txBody>
      </p:sp>
    </p:spTree>
    <p:extLst>
      <p:ext uri="{BB962C8B-B14F-4D97-AF65-F5344CB8AC3E}">
        <p14:creationId xmlns:p14="http://schemas.microsoft.com/office/powerpoint/2010/main" val="193102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02/26/26</a:t>
            </a:r>
          </a:p>
        </p:txBody>
      </p:sp>
      <p:sp>
        <p:nvSpPr>
          <p:cNvPr id="6" name="Footer Placeholder 5"/>
          <p:cNvSpPr>
            <a:spLocks noGrp="1"/>
          </p:cNvSpPr>
          <p:nvPr>
            <p:ph type="ftr" sz="quarter" idx="11"/>
          </p:nvPr>
        </p:nvSpPr>
        <p:spPr/>
        <p:txBody>
          <a:bodyPr/>
          <a:lstStyle/>
          <a:p>
            <a:r>
              <a:rPr lang="en-US"/>
              <a:t>AI Software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600" y="1617085"/>
            <a:ext cx="10972799"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two column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02/26/26</a:t>
            </a:r>
          </a:p>
        </p:txBody>
      </p:sp>
      <p:sp>
        <p:nvSpPr>
          <p:cNvPr id="6" name="Footer Placeholder 5"/>
          <p:cNvSpPr>
            <a:spLocks noGrp="1"/>
          </p:cNvSpPr>
          <p:nvPr>
            <p:ph type="ftr" sz="quarter" idx="11"/>
          </p:nvPr>
        </p:nvSpPr>
        <p:spPr/>
        <p:txBody>
          <a:bodyPr/>
          <a:lstStyle/>
          <a:p>
            <a:r>
              <a:rPr lang="en-US"/>
              <a:t>AI Software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599" y="1617085"/>
            <a:ext cx="5408022" cy="4502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Text Placeholder 3">
            <a:extLst>
              <a:ext uri="{FF2B5EF4-FFF2-40B4-BE49-F238E27FC236}">
                <a16:creationId xmlns:a16="http://schemas.microsoft.com/office/drawing/2014/main" id="{C37F2929-6A18-4BAD-AA36-EE60744758F0}"/>
              </a:ext>
            </a:extLst>
          </p:cNvPr>
          <p:cNvSpPr>
            <a:spLocks noGrp="1"/>
          </p:cNvSpPr>
          <p:nvPr>
            <p:ph type="body" sz="half" idx="13"/>
          </p:nvPr>
        </p:nvSpPr>
        <p:spPr>
          <a:xfrm>
            <a:off x="6174379" y="1617085"/>
            <a:ext cx="5408022"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117577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02/26/26</a:t>
            </a:r>
          </a:p>
        </p:txBody>
      </p:sp>
      <p:sp>
        <p:nvSpPr>
          <p:cNvPr id="6" name="Footer Placeholder 5"/>
          <p:cNvSpPr>
            <a:spLocks noGrp="1"/>
          </p:cNvSpPr>
          <p:nvPr>
            <p:ph type="ftr" sz="quarter" idx="11"/>
          </p:nvPr>
        </p:nvSpPr>
        <p:spPr/>
        <p:txBody>
          <a:bodyPr/>
          <a:lstStyle/>
          <a:p>
            <a:r>
              <a:rPr lang="en-US"/>
              <a:t>AI Software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Rectángulo 7">
            <a:extLst>
              <a:ext uri="{FF2B5EF4-FFF2-40B4-BE49-F238E27FC236}">
                <a16:creationId xmlns:a16="http://schemas.microsoft.com/office/drawing/2014/main" id="{8962BEB1-7B29-4BAC-8B48-10A147F1A42A}"/>
              </a:ext>
            </a:extLst>
          </p:cNvPr>
          <p:cNvSpPr/>
          <p:nvPr userDrawn="1"/>
        </p:nvSpPr>
        <p:spPr>
          <a:xfrm>
            <a:off x="0" y="0"/>
            <a:ext cx="12192000" cy="949569"/>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
        <p:nvSpPr>
          <p:cNvPr id="9" name="Picture Placeholder 2">
            <a:extLst>
              <a:ext uri="{FF2B5EF4-FFF2-40B4-BE49-F238E27FC236}">
                <a16:creationId xmlns:a16="http://schemas.microsoft.com/office/drawing/2014/main" id="{8D9C7531-5490-48CC-82EC-3580AEA6AEAF}"/>
              </a:ext>
            </a:extLst>
          </p:cNvPr>
          <p:cNvSpPr>
            <a:spLocks noGrp="1"/>
          </p:cNvSpPr>
          <p:nvPr>
            <p:ph type="pic" idx="1"/>
          </p:nvPr>
        </p:nvSpPr>
        <p:spPr>
          <a:xfrm>
            <a:off x="2389717" y="612774"/>
            <a:ext cx="7315200" cy="468058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a:t>02/26/26</a:t>
            </a:r>
          </a:p>
        </p:txBody>
      </p:sp>
      <p:sp>
        <p:nvSpPr>
          <p:cNvPr id="4" name="Footer Placeholder 3"/>
          <p:cNvSpPr>
            <a:spLocks noGrp="1"/>
          </p:cNvSpPr>
          <p:nvPr>
            <p:ph type="ftr" sz="quarter" idx="11"/>
          </p:nvPr>
        </p:nvSpPr>
        <p:spPr/>
        <p:txBody>
          <a:bodyPr/>
          <a:lstStyle/>
          <a:p>
            <a:r>
              <a:rPr lang="en-US"/>
              <a:t>AI Software meeting</a:t>
            </a:r>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1AF30ABA-6BFD-4C8C-A4E2-2A730B48E388}"/>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lean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02/26/26</a:t>
            </a:r>
          </a:p>
        </p:txBody>
      </p:sp>
      <p:sp>
        <p:nvSpPr>
          <p:cNvPr id="3" name="Footer Placeholder 2"/>
          <p:cNvSpPr>
            <a:spLocks noGrp="1"/>
          </p:cNvSpPr>
          <p:nvPr>
            <p:ph type="ftr" sz="quarter" idx="11"/>
          </p:nvPr>
        </p:nvSpPr>
        <p:spPr/>
        <p:txBody>
          <a:bodyPr/>
          <a:lstStyle/>
          <a:p>
            <a:r>
              <a:rPr lang="en-US"/>
              <a:t>AI Software meeting</a:t>
            </a:r>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63041"/>
            <a:ext cx="10972800" cy="46631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02/26/26</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AI Software meeting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
        <p:nvSpPr>
          <p:cNvPr id="10" name="Title Placeholder 1">
            <a:extLst>
              <a:ext uri="{FF2B5EF4-FFF2-40B4-BE49-F238E27FC236}">
                <a16:creationId xmlns:a16="http://schemas.microsoft.com/office/drawing/2014/main" id="{F72AA3B3-8196-4D73-8E74-BE65D0B261E3}"/>
              </a:ext>
            </a:extLst>
          </p:cNvPr>
          <p:cNvSpPr>
            <a:spLocks noGrp="1"/>
          </p:cNvSpPr>
          <p:nvPr>
            <p:ph type="title"/>
          </p:nvPr>
        </p:nvSpPr>
        <p:spPr>
          <a:xfrm>
            <a:off x="2171700" y="109150"/>
            <a:ext cx="9410700" cy="892299"/>
          </a:xfrm>
          <a:prstGeom prst="rect">
            <a:avLst/>
          </a:prstGeom>
        </p:spPr>
        <p:txBody>
          <a:bodyPr vert="horz" lIns="91440" tIns="45720" rIns="91440" bIns="45720" rtlCol="0" anchor="ctr">
            <a:normAutofit/>
          </a:bodyPr>
          <a:lstStyle/>
          <a:p>
            <a:endParaRPr lang="en-US" dirty="0"/>
          </a:p>
        </p:txBody>
      </p:sp>
      <p:pic>
        <p:nvPicPr>
          <p:cNvPr id="8" name="Picture 7" descr="A blue background with white text and a white circle&#10;&#10;AI-generated content may be incorrect.">
            <a:extLst>
              <a:ext uri="{FF2B5EF4-FFF2-40B4-BE49-F238E27FC236}">
                <a16:creationId xmlns:a16="http://schemas.microsoft.com/office/drawing/2014/main" id="{8EB0ECAC-F4C3-9F09-0CD7-41F0101D8FE5}"/>
              </a:ext>
            </a:extLst>
          </p:cNvPr>
          <p:cNvPicPr>
            <a:picLocks noChangeAspect="1"/>
          </p:cNvPicPr>
          <p:nvPr userDrawn="1"/>
        </p:nvPicPr>
        <p:blipFill>
          <a:blip r:embed="rId14"/>
          <a:stretch>
            <a:fillRect/>
          </a:stretch>
        </p:blipFill>
        <p:spPr>
          <a:xfrm>
            <a:off x="609600" y="0"/>
            <a:ext cx="1421599" cy="1216025"/>
          </a:xfrm>
          <a:prstGeom prst="rect">
            <a:avLst/>
          </a:prstGeom>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62" r:id="rId5"/>
    <p:sldLayoutId id="2147483653" r:id="rId6"/>
    <p:sldLayoutId id="2147483660" r:id="rId7"/>
    <p:sldLayoutId id="2147483656" r:id="rId8"/>
    <p:sldLayoutId id="2147483661" r:id="rId9"/>
    <p:sldLayoutId id="2147483657" r:id="rId10"/>
    <p:sldLayoutId id="2147483654" r:id="rId11"/>
    <p:sldLayoutId id="2147483655" r:id="rId12"/>
  </p:sldLayoutIdLst>
  <p:hf hdr="0"/>
  <p:txStyles>
    <p:titleStyle>
      <a:lvl1pPr algn="l" defTabSz="457200" rtl="0" eaLnBrk="1" latinLnBrk="0" hangingPunct="1">
        <a:spcBef>
          <a:spcPct val="0"/>
        </a:spcBef>
        <a:buNone/>
        <a:defRPr sz="3200" kern="1200">
          <a:solidFill>
            <a:srgbClr val="00315F"/>
          </a:solidFill>
          <a:latin typeface="Fira Sans Book" panose="020B0503050000020004"/>
          <a:ea typeface="Fira Sans Book" panose="020B0503050000020004"/>
          <a:cs typeface="+mj-cs"/>
        </a:defRPr>
      </a:lvl1pPr>
    </p:titleStyle>
    <p:bodyStyle>
      <a:lvl1pPr marL="342900" indent="-342900" algn="l" defTabSz="457200" rtl="0" eaLnBrk="1" latinLnBrk="0" hangingPunct="1">
        <a:spcBef>
          <a:spcPct val="20000"/>
        </a:spcBef>
        <a:buFont typeface="Arial"/>
        <a:buChar char="•"/>
        <a:defRPr sz="2400" kern="1200">
          <a:solidFill>
            <a:srgbClr val="243643"/>
          </a:solidFill>
          <a:latin typeface="Fira Sans Book" panose="020B0503050000020004" pitchFamily="34" charset="0"/>
          <a:ea typeface="Fira Sans Book" panose="020B05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Book" panose="020B0503050000020004" pitchFamily="34" charset="0"/>
          <a:ea typeface="Fira Sans Book" panose="020B05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Book" panose="020B0503050000020004" pitchFamily="34" charset="0"/>
          <a:ea typeface="Fira Sans Book" panose="020B05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Book" panose="020B0503050000020004" pitchFamily="34" charset="0"/>
          <a:ea typeface="Fira Sans Book" panose="020B05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Book" panose="020B0503050000020004" pitchFamily="34" charset="0"/>
          <a:ea typeface="Fira Sans Book" panose="020B05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lab.com/MathieuOuillon/ai-pid-clas1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371725"/>
            <a:ext cx="7029450" cy="1317329"/>
          </a:xfrm>
        </p:spPr>
        <p:txBody>
          <a:bodyPr>
            <a:normAutofit/>
          </a:bodyPr>
          <a:lstStyle/>
          <a:p>
            <a:pPr lvl="0" algn="l"/>
            <a:r>
              <a:rPr lang="es-ES" sz="6000" dirty="0" err="1"/>
              <a:t>Hadron</a:t>
            </a:r>
            <a:r>
              <a:rPr lang="es-ES" sz="6000" dirty="0"/>
              <a:t> PID </a:t>
            </a:r>
            <a:r>
              <a:rPr lang="es-ES" sz="6000" dirty="0" err="1"/>
              <a:t>with</a:t>
            </a:r>
            <a:r>
              <a:rPr lang="es-ES" sz="6000" dirty="0"/>
              <a:t> AI</a:t>
            </a:r>
            <a:endParaRPr sz="6000" dirty="0"/>
          </a:p>
        </p:txBody>
      </p:sp>
      <p:sp>
        <p:nvSpPr>
          <p:cNvPr id="3" name="Subtitle 2"/>
          <p:cNvSpPr>
            <a:spLocks noGrp="1"/>
          </p:cNvSpPr>
          <p:nvPr>
            <p:ph type="subTitle" idx="1"/>
          </p:nvPr>
        </p:nvSpPr>
        <p:spPr>
          <a:xfrm>
            <a:off x="457200" y="4069887"/>
            <a:ext cx="8534400" cy="676127"/>
          </a:xfrm>
        </p:spPr>
        <p:txBody>
          <a:bodyPr>
            <a:normAutofit/>
          </a:bodyPr>
          <a:lstStyle/>
          <a:p>
            <a:pPr marL="0" lvl="0" indent="0">
              <a:buNone/>
            </a:pPr>
            <a:r>
              <a:rPr lang="es-MX" dirty="0"/>
              <a:t>Mathieu Ouillon (Mississippi State University)</a:t>
            </a: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13319"/>
    </mc:Choice>
    <mc:Fallback xmlns="">
      <p:transition spd="slow" advTm="133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627B-4553-2F59-665A-AE94D2E96807}"/>
              </a:ext>
            </a:extLst>
          </p:cNvPr>
          <p:cNvSpPr>
            <a:spLocks noGrp="1"/>
          </p:cNvSpPr>
          <p:nvPr>
            <p:ph type="title"/>
          </p:nvPr>
        </p:nvSpPr>
        <p:spPr/>
        <p:txBody>
          <a:bodyPr/>
          <a:lstStyle/>
          <a:p>
            <a:r>
              <a:rPr lang="en-US" dirty="0">
                <a:solidFill>
                  <a:srgbClr val="003162"/>
                </a:solidFill>
              </a:rPr>
              <a:t>Introduction</a:t>
            </a:r>
            <a:endParaRPr lang="en-US" dirty="0"/>
          </a:p>
        </p:txBody>
      </p:sp>
      <p:sp>
        <p:nvSpPr>
          <p:cNvPr id="3" name="Content Placeholder 2">
            <a:extLst>
              <a:ext uri="{FF2B5EF4-FFF2-40B4-BE49-F238E27FC236}">
                <a16:creationId xmlns:a16="http://schemas.microsoft.com/office/drawing/2014/main" id="{2989D6B5-816A-9954-203E-7475A7DBAA64}"/>
              </a:ext>
            </a:extLst>
          </p:cNvPr>
          <p:cNvSpPr>
            <a:spLocks noGrp="1"/>
          </p:cNvSpPr>
          <p:nvPr>
            <p:ph idx="1"/>
          </p:nvPr>
        </p:nvSpPr>
        <p:spPr>
          <a:xfrm>
            <a:off x="609600" y="1249680"/>
            <a:ext cx="10972800" cy="4738080"/>
          </a:xfrm>
        </p:spPr>
        <p:txBody>
          <a:bodyPr/>
          <a:lstStyle/>
          <a:p>
            <a:r>
              <a:rPr lang="en-US" dirty="0"/>
              <a:t>The hadron identification is done after the identification of the trigger electron and use the start time define by the trigger electron.</a:t>
            </a:r>
          </a:p>
          <a:p>
            <a:r>
              <a:rPr lang="en-US" dirty="0"/>
              <a:t>It use mostly the FTOF and rely on β (or </a:t>
            </a:r>
            <a:r>
              <a:rPr lang="en-US" dirty="0" err="1"/>
              <a:t>Δt</a:t>
            </a:r>
            <a:r>
              <a:rPr lang="en-US" dirty="0"/>
              <a:t>):</a:t>
            </a:r>
          </a:p>
          <a:p>
            <a:r>
              <a:rPr lang="en-US" dirty="0"/>
              <a:t>FTOF can separate kaon and pion up to </a:t>
            </a:r>
          </a:p>
          <a:p>
            <a:pPr marL="0" indent="0">
              <a:buNone/>
            </a:pPr>
            <a:r>
              <a:rPr lang="en-US" dirty="0"/>
              <a:t>4 GeV with a 2σ resolution of the FTOF </a:t>
            </a:r>
          </a:p>
          <a:p>
            <a:pPr marL="0" indent="0">
              <a:buNone/>
            </a:pPr>
            <a:r>
              <a:rPr lang="en-US" dirty="0"/>
              <a:t>(5.7 GeV for 1σ), and proton and pion up </a:t>
            </a:r>
          </a:p>
          <a:p>
            <a:pPr marL="0" indent="0">
              <a:buNone/>
            </a:pPr>
            <a:r>
              <a:rPr lang="en-US" dirty="0"/>
              <a:t>to 8 GeV. </a:t>
            </a:r>
          </a:p>
          <a:p>
            <a:r>
              <a:rPr lang="en-US" dirty="0"/>
              <a:t>Above that, the FTOF is not enough</a:t>
            </a:r>
          </a:p>
          <a:p>
            <a:r>
              <a:rPr lang="en-US" dirty="0"/>
              <a:t>We can try to use other detectors:</a:t>
            </a:r>
          </a:p>
          <a:p>
            <a:pPr lvl="1"/>
            <a:r>
              <a:rPr lang="en-US" dirty="0"/>
              <a:t>Such as calorimeters and Cherenkov counters</a:t>
            </a:r>
          </a:p>
        </p:txBody>
      </p:sp>
      <p:sp>
        <p:nvSpPr>
          <p:cNvPr id="4" name="Date Placeholder 3">
            <a:extLst>
              <a:ext uri="{FF2B5EF4-FFF2-40B4-BE49-F238E27FC236}">
                <a16:creationId xmlns:a16="http://schemas.microsoft.com/office/drawing/2014/main" id="{3B757AAE-4E75-446A-736E-D8D027983AB3}"/>
              </a:ext>
            </a:extLst>
          </p:cNvPr>
          <p:cNvSpPr>
            <a:spLocks noGrp="1"/>
          </p:cNvSpPr>
          <p:nvPr>
            <p:ph type="dt" sz="half" idx="10"/>
          </p:nvPr>
        </p:nvSpPr>
        <p:spPr/>
        <p:txBody>
          <a:bodyPr/>
          <a:lstStyle/>
          <a:p>
            <a:r>
              <a:rPr lang="en-US"/>
              <a:t>02/26/26</a:t>
            </a:r>
            <a:endParaRPr lang="en-US" dirty="0"/>
          </a:p>
        </p:txBody>
      </p:sp>
      <p:sp>
        <p:nvSpPr>
          <p:cNvPr id="5" name="Footer Placeholder 4">
            <a:extLst>
              <a:ext uri="{FF2B5EF4-FFF2-40B4-BE49-F238E27FC236}">
                <a16:creationId xmlns:a16="http://schemas.microsoft.com/office/drawing/2014/main" id="{817BABFA-6854-8C78-0ECF-9F113207815E}"/>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99DCA134-1D20-C60F-4F76-F9729CB5ECF1}"/>
              </a:ext>
            </a:extLst>
          </p:cNvPr>
          <p:cNvSpPr>
            <a:spLocks noGrp="1"/>
          </p:cNvSpPr>
          <p:nvPr>
            <p:ph type="sldNum" sz="quarter" idx="12"/>
          </p:nvPr>
        </p:nvSpPr>
        <p:spPr/>
        <p:txBody>
          <a:bodyPr/>
          <a:lstStyle/>
          <a:p>
            <a:fld id="{C5EF2332-01BF-834F-8236-50238282D533}" type="slidenum">
              <a:rPr lang="en-US" smtClean="0"/>
              <a:t>2</a:t>
            </a:fld>
            <a:endParaRPr lang="en-US"/>
          </a:p>
        </p:txBody>
      </p:sp>
      <p:pic>
        <p:nvPicPr>
          <p:cNvPr id="7" name="Picture 6">
            <a:extLst>
              <a:ext uri="{FF2B5EF4-FFF2-40B4-BE49-F238E27FC236}">
                <a16:creationId xmlns:a16="http://schemas.microsoft.com/office/drawing/2014/main" id="{5E393A25-20ED-10E5-9B2F-690BF2298A4D}"/>
              </a:ext>
            </a:extLst>
          </p:cNvPr>
          <p:cNvPicPr>
            <a:picLocks noChangeAspect="1"/>
          </p:cNvPicPr>
          <p:nvPr/>
        </p:nvPicPr>
        <p:blipFill>
          <a:blip r:embed="rId2"/>
          <a:stretch>
            <a:fillRect/>
          </a:stretch>
        </p:blipFill>
        <p:spPr>
          <a:xfrm>
            <a:off x="6986388" y="2167353"/>
            <a:ext cx="5205612" cy="3924572"/>
          </a:xfrm>
          <a:prstGeom prst="rect">
            <a:avLst/>
          </a:prstGeom>
        </p:spPr>
      </p:pic>
    </p:spTree>
    <p:extLst>
      <p:ext uri="{BB962C8B-B14F-4D97-AF65-F5344CB8AC3E}">
        <p14:creationId xmlns:p14="http://schemas.microsoft.com/office/powerpoint/2010/main" val="2813755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FAF53-75F3-E795-4243-6B50F7974A1C}"/>
              </a:ext>
            </a:extLst>
          </p:cNvPr>
          <p:cNvSpPr>
            <a:spLocks noGrp="1"/>
          </p:cNvSpPr>
          <p:nvPr>
            <p:ph type="title"/>
          </p:nvPr>
        </p:nvSpPr>
        <p:spPr/>
        <p:txBody>
          <a:bodyPr/>
          <a:lstStyle/>
          <a:p>
            <a:r>
              <a:rPr lang="en-US" dirty="0"/>
              <a:t>AI Model and features</a:t>
            </a:r>
          </a:p>
        </p:txBody>
      </p:sp>
      <p:sp>
        <p:nvSpPr>
          <p:cNvPr id="3" name="Content Placeholder 2">
            <a:extLst>
              <a:ext uri="{FF2B5EF4-FFF2-40B4-BE49-F238E27FC236}">
                <a16:creationId xmlns:a16="http://schemas.microsoft.com/office/drawing/2014/main" id="{59699602-F99E-6654-76C7-B259C9F12C69}"/>
              </a:ext>
            </a:extLst>
          </p:cNvPr>
          <p:cNvSpPr>
            <a:spLocks noGrp="1"/>
          </p:cNvSpPr>
          <p:nvPr>
            <p:ph idx="1"/>
          </p:nvPr>
        </p:nvSpPr>
        <p:spPr>
          <a:xfrm>
            <a:off x="609600" y="1249679"/>
            <a:ext cx="11355092" cy="5106672"/>
          </a:xfrm>
        </p:spPr>
        <p:txBody>
          <a:bodyPr>
            <a:normAutofit fontScale="92500" lnSpcReduction="10000"/>
          </a:bodyPr>
          <a:lstStyle/>
          <a:p>
            <a:r>
              <a:rPr lang="en-US" dirty="0"/>
              <a:t>To use the information of all these detectors (Calorimeters, HTCC, …) in the most efficient way, we can use AI. More specifically the Boosted decision tree architecture are well suited for that problem.</a:t>
            </a:r>
          </a:p>
          <a:p>
            <a:r>
              <a:rPr lang="en-US" dirty="0"/>
              <a:t>The goal is to have a model that use information only from the REC banks. </a:t>
            </a:r>
          </a:p>
          <a:p>
            <a:r>
              <a:rPr lang="en-US" dirty="0"/>
              <a:t>So, it can be use in the analysis step (on DST files). </a:t>
            </a:r>
          </a:p>
          <a:p>
            <a:r>
              <a:rPr lang="en-US" dirty="0"/>
              <a:t>Use information from the calorimeters, Cherenkov counters, TOF and higher-level variables (</a:t>
            </a:r>
            <a:r>
              <a:rPr lang="en-US" dirty="0" err="1"/>
              <a:t>px</a:t>
            </a:r>
            <a:r>
              <a:rPr lang="en-US" dirty="0"/>
              <a:t>, </a:t>
            </a:r>
            <a:r>
              <a:rPr lang="en-US" dirty="0" err="1"/>
              <a:t>py</a:t>
            </a:r>
            <a:r>
              <a:rPr lang="en-US" dirty="0"/>
              <a:t>, </a:t>
            </a:r>
            <a:r>
              <a:rPr lang="en-US" dirty="0" err="1"/>
              <a:t>pz</a:t>
            </a:r>
            <a:r>
              <a:rPr lang="en-US" dirty="0"/>
              <a:t>, charge, …)</a:t>
            </a:r>
          </a:p>
          <a:p>
            <a:r>
              <a:rPr lang="en-US" dirty="0"/>
              <a:t>Use all variable found in the DST banks: 96 features.</a:t>
            </a:r>
          </a:p>
          <a:p>
            <a:endParaRPr lang="en-US" dirty="0"/>
          </a:p>
          <a:p>
            <a:r>
              <a:rPr lang="en-US" dirty="0"/>
              <a:t>Data for the training and validation: ONLY simulation, simulate events with an electron and a hadron (ONLY in the forward).</a:t>
            </a:r>
          </a:p>
          <a:p>
            <a:r>
              <a:rPr lang="en-US" dirty="0"/>
              <a:t>Training and validation are done in Python.</a:t>
            </a:r>
          </a:p>
          <a:p>
            <a:r>
              <a:rPr lang="en-US" dirty="0"/>
              <a:t>Need to use real data for validation with either the RICH and exclusive reaction</a:t>
            </a:r>
          </a:p>
          <a:p>
            <a:r>
              <a:rPr lang="en-US" dirty="0"/>
              <a:t>The goal is to implement that algorithm in Iguana</a:t>
            </a:r>
          </a:p>
          <a:p>
            <a:endParaRPr lang="en-US" dirty="0"/>
          </a:p>
        </p:txBody>
      </p:sp>
      <p:sp>
        <p:nvSpPr>
          <p:cNvPr id="4" name="Date Placeholder 3">
            <a:extLst>
              <a:ext uri="{FF2B5EF4-FFF2-40B4-BE49-F238E27FC236}">
                <a16:creationId xmlns:a16="http://schemas.microsoft.com/office/drawing/2014/main" id="{41A36E0C-1B79-2ABC-67A9-E4B2CB8AC2E6}"/>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E23BFC92-9FF0-B2AF-8E70-9573AB89EDD4}"/>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0611AA37-6ED8-8CC3-31A9-11D57A2917B0}"/>
              </a:ext>
            </a:extLst>
          </p:cNvPr>
          <p:cNvSpPr>
            <a:spLocks noGrp="1"/>
          </p:cNvSpPr>
          <p:nvPr>
            <p:ph type="sldNum" sz="quarter" idx="12"/>
          </p:nvPr>
        </p:nvSpPr>
        <p:spPr/>
        <p:txBody>
          <a:bodyPr/>
          <a:lstStyle/>
          <a:p>
            <a:fld id="{C5EF2332-01BF-834F-8236-50238282D533}" type="slidenum">
              <a:rPr lang="en-US" smtClean="0"/>
              <a:t>3</a:t>
            </a:fld>
            <a:endParaRPr lang="en-US"/>
          </a:p>
        </p:txBody>
      </p:sp>
    </p:spTree>
    <p:extLst>
      <p:ext uri="{BB962C8B-B14F-4D97-AF65-F5344CB8AC3E}">
        <p14:creationId xmlns:p14="http://schemas.microsoft.com/office/powerpoint/2010/main" val="3917779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F9466-B968-652A-7C63-2ED705FD9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2FEF1-2FB4-1F17-42B6-6A0AE5E9FF72}"/>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52274352-E9F5-C01E-483E-1596D7904AC0}"/>
              </a:ext>
            </a:extLst>
          </p:cNvPr>
          <p:cNvSpPr>
            <a:spLocks noGrp="1"/>
          </p:cNvSpPr>
          <p:nvPr>
            <p:ph idx="1"/>
          </p:nvPr>
        </p:nvSpPr>
        <p:spPr/>
        <p:txBody>
          <a:bodyPr/>
          <a:lstStyle/>
          <a:p>
            <a:r>
              <a:rPr lang="en-US" dirty="0"/>
              <a:t>Try many different architectures: Gradient Boosting Decision Trees (GBDT), </a:t>
            </a:r>
            <a:r>
              <a:rPr lang="en-US" dirty="0" err="1"/>
              <a:t>XGBoost</a:t>
            </a:r>
            <a:r>
              <a:rPr lang="en-US" dirty="0"/>
              <a:t>, </a:t>
            </a:r>
            <a:r>
              <a:rPr lang="en-US" dirty="0" err="1"/>
              <a:t>LightGBM</a:t>
            </a:r>
            <a:r>
              <a:rPr lang="en-US" dirty="0"/>
              <a:t> and </a:t>
            </a:r>
            <a:r>
              <a:rPr lang="en-US" dirty="0" err="1"/>
              <a:t>CatBoost</a:t>
            </a:r>
            <a:r>
              <a:rPr lang="en-US" dirty="0"/>
              <a:t> (same family), MLP, MLP + GBDT.</a:t>
            </a:r>
          </a:p>
          <a:p>
            <a:r>
              <a:rPr lang="en-US" dirty="0"/>
              <a:t>The best results are for </a:t>
            </a:r>
            <a:r>
              <a:rPr lang="en-US" dirty="0" err="1"/>
              <a:t>CatBoost</a:t>
            </a:r>
            <a:r>
              <a:rPr lang="en-US" dirty="0"/>
              <a:t> (Categorical Boosting). </a:t>
            </a:r>
          </a:p>
        </p:txBody>
      </p:sp>
      <p:sp>
        <p:nvSpPr>
          <p:cNvPr id="4" name="Date Placeholder 3">
            <a:extLst>
              <a:ext uri="{FF2B5EF4-FFF2-40B4-BE49-F238E27FC236}">
                <a16:creationId xmlns:a16="http://schemas.microsoft.com/office/drawing/2014/main" id="{9F225A10-404E-F042-7028-C3967045C374}"/>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1FF3A41B-4D04-F602-BC33-B3155F90575C}"/>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6A2558A7-8D54-F7C7-021C-500786A86E52}"/>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8" name="TextBox 7">
            <a:extLst>
              <a:ext uri="{FF2B5EF4-FFF2-40B4-BE49-F238E27FC236}">
                <a16:creationId xmlns:a16="http://schemas.microsoft.com/office/drawing/2014/main" id="{F2498027-286E-A5E2-E7DC-2FBE2BAF648E}"/>
              </a:ext>
            </a:extLst>
          </p:cNvPr>
          <p:cNvSpPr txBox="1"/>
          <p:nvPr/>
        </p:nvSpPr>
        <p:spPr>
          <a:xfrm>
            <a:off x="5643562" y="2971800"/>
            <a:ext cx="65" cy="276999"/>
          </a:xfrm>
          <a:prstGeom prst="rect">
            <a:avLst/>
          </a:prstGeom>
          <a:noFill/>
        </p:spPr>
        <p:txBody>
          <a:bodyPr wrap="none" lIns="0" tIns="0" rIns="0" bIns="0" rtlCol="0">
            <a:spAutoFit/>
          </a:bodyPr>
          <a:lstStyle/>
          <a:p>
            <a:endParaRPr lang="en-US" dirty="0"/>
          </a:p>
        </p:txBody>
      </p:sp>
      <p:pic>
        <p:nvPicPr>
          <p:cNvPr id="7" name="Picture 6">
            <a:extLst>
              <a:ext uri="{FF2B5EF4-FFF2-40B4-BE49-F238E27FC236}">
                <a16:creationId xmlns:a16="http://schemas.microsoft.com/office/drawing/2014/main" id="{01AE299C-E917-D856-140F-0FF065FEE247}"/>
              </a:ext>
            </a:extLst>
          </p:cNvPr>
          <p:cNvPicPr>
            <a:picLocks noChangeAspect="1"/>
          </p:cNvPicPr>
          <p:nvPr/>
        </p:nvPicPr>
        <p:blipFill>
          <a:blip r:embed="rId2"/>
          <a:stretch>
            <a:fillRect/>
          </a:stretch>
        </p:blipFill>
        <p:spPr>
          <a:xfrm>
            <a:off x="138318" y="2478943"/>
            <a:ext cx="11915363" cy="4379057"/>
          </a:xfrm>
          <a:prstGeom prst="rect">
            <a:avLst/>
          </a:prstGeom>
        </p:spPr>
      </p:pic>
    </p:spTree>
    <p:extLst>
      <p:ext uri="{BB962C8B-B14F-4D97-AF65-F5344CB8AC3E}">
        <p14:creationId xmlns:p14="http://schemas.microsoft.com/office/powerpoint/2010/main" val="225647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AE8DC-AABF-EEA5-3FB4-A60FD828B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6B70B-5CBD-FF4D-02AF-0FCD65C9C24C}"/>
              </a:ext>
            </a:extLst>
          </p:cNvPr>
          <p:cNvSpPr>
            <a:spLocks noGrp="1"/>
          </p:cNvSpPr>
          <p:nvPr>
            <p:ph type="title"/>
          </p:nvPr>
        </p:nvSpPr>
        <p:spPr/>
        <p:txBody>
          <a:bodyPr/>
          <a:lstStyle/>
          <a:p>
            <a:r>
              <a:rPr lang="en-US" dirty="0" err="1"/>
              <a:t>Efficency</a:t>
            </a:r>
            <a:r>
              <a:rPr lang="en-US" dirty="0"/>
              <a:t> and purity</a:t>
            </a:r>
          </a:p>
        </p:txBody>
      </p:sp>
      <p:sp>
        <p:nvSpPr>
          <p:cNvPr id="4" name="Date Placeholder 3">
            <a:extLst>
              <a:ext uri="{FF2B5EF4-FFF2-40B4-BE49-F238E27FC236}">
                <a16:creationId xmlns:a16="http://schemas.microsoft.com/office/drawing/2014/main" id="{15975AD2-5686-2072-4B2B-2394DF575CC5}"/>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592B371C-D212-F68C-D50F-B1036CE1B032}"/>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92E3DF15-23A8-26BE-2AAE-4D6556172CE1}"/>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8" name="TextBox 7">
            <a:extLst>
              <a:ext uri="{FF2B5EF4-FFF2-40B4-BE49-F238E27FC236}">
                <a16:creationId xmlns:a16="http://schemas.microsoft.com/office/drawing/2014/main" id="{6BFB36BB-9C12-290C-0F27-EA772EB16DDF}"/>
              </a:ext>
            </a:extLst>
          </p:cNvPr>
          <p:cNvSpPr txBox="1"/>
          <p:nvPr/>
        </p:nvSpPr>
        <p:spPr>
          <a:xfrm>
            <a:off x="5643562" y="2971800"/>
            <a:ext cx="65" cy="276999"/>
          </a:xfrm>
          <a:prstGeom prst="rect">
            <a:avLst/>
          </a:prstGeom>
          <a:noFill/>
        </p:spPr>
        <p:txBody>
          <a:bodyPr wrap="none" lIns="0" tIns="0" rIns="0" bIns="0" rtlCol="0">
            <a:spAutoFit/>
          </a:bodyPr>
          <a:lstStyle/>
          <a:p>
            <a:endParaRPr lang="en-US" dirty="0"/>
          </a:p>
        </p:txBody>
      </p:sp>
      <p:pic>
        <p:nvPicPr>
          <p:cNvPr id="3" name="Picture 2">
            <a:extLst>
              <a:ext uri="{FF2B5EF4-FFF2-40B4-BE49-F238E27FC236}">
                <a16:creationId xmlns:a16="http://schemas.microsoft.com/office/drawing/2014/main" id="{BA7444C3-0C0E-BC6B-0D37-04C169ECB704}"/>
              </a:ext>
            </a:extLst>
          </p:cNvPr>
          <p:cNvPicPr>
            <a:picLocks noChangeAspect="1"/>
          </p:cNvPicPr>
          <p:nvPr/>
        </p:nvPicPr>
        <p:blipFill>
          <a:blip r:embed="rId2"/>
          <a:srcRect t="24692" b="-220"/>
          <a:stretch>
            <a:fillRect/>
          </a:stretch>
        </p:blipFill>
        <p:spPr>
          <a:xfrm>
            <a:off x="5763883" y="136524"/>
            <a:ext cx="6428118" cy="6097839"/>
          </a:xfrm>
          <a:prstGeom prst="rect">
            <a:avLst/>
          </a:prstGeom>
        </p:spPr>
      </p:pic>
      <p:sp>
        <p:nvSpPr>
          <p:cNvPr id="7" name="Content Placeholder 2">
            <a:extLst>
              <a:ext uri="{FF2B5EF4-FFF2-40B4-BE49-F238E27FC236}">
                <a16:creationId xmlns:a16="http://schemas.microsoft.com/office/drawing/2014/main" id="{1A22884B-7AB5-EF8D-B27B-96F4E7AE9339}"/>
              </a:ext>
            </a:extLst>
          </p:cNvPr>
          <p:cNvSpPr>
            <a:spLocks noGrp="1"/>
          </p:cNvSpPr>
          <p:nvPr>
            <p:ph idx="1"/>
          </p:nvPr>
        </p:nvSpPr>
        <p:spPr>
          <a:xfrm>
            <a:off x="151075" y="1249679"/>
            <a:ext cx="5492289" cy="2500129"/>
          </a:xfrm>
        </p:spPr>
        <p:txBody>
          <a:bodyPr>
            <a:normAutofit fontScale="92500" lnSpcReduction="20000"/>
          </a:bodyPr>
          <a:lstStyle/>
          <a:p>
            <a:r>
              <a:rPr lang="en-US" dirty="0"/>
              <a:t>With the </a:t>
            </a:r>
            <a:r>
              <a:rPr lang="en-US" dirty="0" err="1"/>
              <a:t>CatBoost</a:t>
            </a:r>
            <a:r>
              <a:rPr lang="en-US" dirty="0"/>
              <a:t> model, we can improve the hadron identification, especially for π and K at high momentum. </a:t>
            </a:r>
          </a:p>
          <a:p>
            <a:r>
              <a:rPr lang="en-US" dirty="0"/>
              <a:t>It also enhances low-momentum kaons. </a:t>
            </a:r>
          </a:p>
          <a:p>
            <a:r>
              <a:rPr lang="en-US" dirty="0"/>
              <a:t>Not much improvement for the proton/anti-proton.</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D9D5FB66-2305-7319-32CF-698B541ECABD}"/>
                  </a:ext>
                </a:extLst>
              </p:cNvPr>
              <p:cNvGraphicFramePr>
                <a:graphicFrameLocks noGrp="1"/>
              </p:cNvGraphicFramePr>
              <p:nvPr>
                <p:extLst>
                  <p:ext uri="{D42A27DB-BD31-4B8C-83A1-F6EECF244321}">
                    <p14:modId xmlns:p14="http://schemas.microsoft.com/office/powerpoint/2010/main" val="253582993"/>
                  </p:ext>
                </p:extLst>
              </p:nvPr>
            </p:nvGraphicFramePr>
            <p:xfrm>
              <a:off x="92920" y="3835763"/>
              <a:ext cx="5419831" cy="2262910"/>
            </p:xfrm>
            <a:graphic>
              <a:graphicData uri="http://schemas.openxmlformats.org/drawingml/2006/table">
                <a:tbl>
                  <a:tblPr firstRow="1">
                    <a:tableStyleId>{69012ECD-51FC-41F1-AA8D-1B2483CD663E}</a:tableStyleId>
                  </a:tblPr>
                  <a:tblGrid>
                    <a:gridCol w="1543395">
                      <a:extLst>
                        <a:ext uri="{9D8B030D-6E8A-4147-A177-3AD203B41FA5}">
                          <a16:colId xmlns:a16="http://schemas.microsoft.com/office/drawing/2014/main" val="474889541"/>
                        </a:ext>
                      </a:extLst>
                    </a:gridCol>
                    <a:gridCol w="2081790">
                      <a:extLst>
                        <a:ext uri="{9D8B030D-6E8A-4147-A177-3AD203B41FA5}">
                          <a16:colId xmlns:a16="http://schemas.microsoft.com/office/drawing/2014/main" val="1764096747"/>
                        </a:ext>
                      </a:extLst>
                    </a:gridCol>
                    <a:gridCol w="1794646">
                      <a:extLst>
                        <a:ext uri="{9D8B030D-6E8A-4147-A177-3AD203B41FA5}">
                          <a16:colId xmlns:a16="http://schemas.microsoft.com/office/drawing/2014/main" val="2238904213"/>
                        </a:ext>
                      </a:extLst>
                    </a:gridCol>
                  </a:tblGrid>
                  <a:tr h="388390">
                    <a:tc>
                      <a:txBody>
                        <a:bodyPr/>
                        <a:lstStyle/>
                        <a:p>
                          <a:pPr rtl="0" fontAlgn="ctr">
                            <a:buNone/>
                          </a:pPr>
                          <a:r>
                            <a:rPr lang="en-US" b="0" dirty="0">
                              <a:solidFill>
                                <a:srgbClr val="FFFFFF"/>
                              </a:solidFill>
                              <a:effectLst/>
                            </a:rPr>
                            <a:t>Name</a:t>
                          </a:r>
                          <a:endParaRPr lang="en-US" b="0" dirty="0">
                            <a:solidFill>
                              <a:srgbClr val="FFFFFF"/>
                            </a:solidFill>
                            <a:effectLst/>
                            <a:latin typeface="Fira Sans" panose="020B0503050000020004" pitchFamily="34" charset="0"/>
                          </a:endParaRPr>
                        </a:p>
                      </a:txBody>
                      <a:tcPr marL="76200" marR="76200" marT="19050" marB="19050" anchor="ctr"/>
                    </a:tc>
                    <a:tc>
                      <a:txBody>
                        <a:bodyPr/>
                        <a:lstStyle/>
                        <a:p>
                          <a:pPr rtl="0" fontAlgn="ctr">
                            <a:buNone/>
                          </a:pPr>
                          <a:r>
                            <a:rPr lang="en-US" b="0" dirty="0">
                              <a:solidFill>
                                <a:srgbClr val="FFFFFF"/>
                              </a:solidFill>
                              <a:effectLst/>
                            </a:rPr>
                            <a:t>Overall efficiency</a:t>
                          </a:r>
                          <a:endParaRPr lang="en-US" b="0" dirty="0">
                            <a:solidFill>
                              <a:srgbClr val="FFFFFF"/>
                            </a:solidFill>
                            <a:effectLst/>
                            <a:latin typeface="Fira Sans" panose="020B0503050000020004" pitchFamily="34" charset="0"/>
                          </a:endParaRPr>
                        </a:p>
                      </a:txBody>
                      <a:tcPr marL="76200" marR="76200" marT="19050" marB="19050" anchor="ctr"/>
                    </a:tc>
                    <a:tc>
                      <a:txBody>
                        <a:bodyPr/>
                        <a:lstStyle/>
                        <a:p>
                          <a:pPr rtl="0" fontAlgn="ctr">
                            <a:buNone/>
                          </a:pPr>
                          <a:r>
                            <a:rPr lang="en-US" b="0" dirty="0">
                              <a:solidFill>
                                <a:srgbClr val="FFFFFF"/>
                              </a:solidFill>
                              <a:effectLst/>
                            </a:rPr>
                            <a:t>Overall purity</a:t>
                          </a:r>
                          <a:endParaRPr lang="en-US" b="0" dirty="0">
                            <a:solidFill>
                              <a:srgbClr val="FFFFFF"/>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2038048568"/>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sSup>
                                  <m:sSupPr>
                                    <m:ctrlPr>
                                      <a:rPr lang="en-US" b="0" i="1" baseline="0" smtClean="0">
                                        <a:solidFill>
                                          <a:srgbClr val="434343"/>
                                        </a:solidFill>
                                        <a:effectLst/>
                                        <a:latin typeface="Cambria Math" panose="02040503050406030204" pitchFamily="18" charset="0"/>
                                        <a:ea typeface="Cambria Math" panose="02040503050406030204" pitchFamily="18" charset="0"/>
                                      </a:rPr>
                                    </m:ctrlPr>
                                  </m:sSupPr>
                                  <m:e>
                                    <m:r>
                                      <a:rPr lang="en-US" b="0" i="1" baseline="0" smtClean="0">
                                        <a:solidFill>
                                          <a:srgbClr val="434343"/>
                                        </a:solidFill>
                                        <a:effectLst/>
                                        <a:latin typeface="Cambria Math" panose="02040503050406030204" pitchFamily="18" charset="0"/>
                                        <a:ea typeface="Cambria Math" panose="02040503050406030204" pitchFamily="18" charset="0"/>
                                      </a:rPr>
                                      <m:t>𝜋</m:t>
                                    </m:r>
                                  </m:e>
                                  <m:sup>
                                    <m:r>
                                      <a:rPr lang="en-US" b="0" i="1" baseline="0" smtClean="0">
                                        <a:solidFill>
                                          <a:srgbClr val="434343"/>
                                        </a:solidFill>
                                        <a:effectLst/>
                                        <a:latin typeface="Cambria Math" panose="02040503050406030204" pitchFamily="18" charset="0"/>
                                        <a:ea typeface="Cambria Math" panose="02040503050406030204" pitchFamily="18" charset="0"/>
                                      </a:rPr>
                                      <m:t>+</m:t>
                                    </m:r>
                                  </m:sup>
                                </m:sSup>
                              </m:oMath>
                            </m:oMathPara>
                          </a14:m>
                          <a:endParaRPr lang="en-US" b="0" baseline="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0.843879</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0.873114</a:t>
                          </a:r>
                          <a:endParaRPr lang="en-US" b="0" dirty="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193500068"/>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sSup>
                                  <m:sSupPr>
                                    <m:ctrlPr>
                                      <a:rPr lang="en-US" b="0" i="1" baseline="0" smtClean="0">
                                        <a:solidFill>
                                          <a:srgbClr val="434343"/>
                                        </a:solidFill>
                                        <a:effectLst/>
                                        <a:latin typeface="Cambria Math" panose="02040503050406030204" pitchFamily="18" charset="0"/>
                                        <a:ea typeface="Cambria Math" panose="02040503050406030204" pitchFamily="18" charset="0"/>
                                      </a:rPr>
                                    </m:ctrlPr>
                                  </m:sSupPr>
                                  <m:e>
                                    <m:r>
                                      <a:rPr lang="en-US" b="0" i="1" baseline="0" smtClean="0">
                                        <a:solidFill>
                                          <a:srgbClr val="434343"/>
                                        </a:solidFill>
                                        <a:effectLst/>
                                        <a:latin typeface="Cambria Math" panose="02040503050406030204" pitchFamily="18" charset="0"/>
                                        <a:ea typeface="Cambria Math" panose="02040503050406030204" pitchFamily="18" charset="0"/>
                                      </a:rPr>
                                      <m:t>𝜋</m:t>
                                    </m:r>
                                  </m:e>
                                  <m:sup>
                                    <m:r>
                                      <a:rPr lang="en-US" b="0" i="1" baseline="0" smtClean="0">
                                        <a:solidFill>
                                          <a:srgbClr val="434343"/>
                                        </a:solidFill>
                                        <a:effectLst/>
                                        <a:latin typeface="Cambria Math" panose="02040503050406030204" pitchFamily="18" charset="0"/>
                                        <a:ea typeface="Cambria Math" panose="02040503050406030204" pitchFamily="18" charset="0"/>
                                      </a:rPr>
                                      <m:t>−</m:t>
                                    </m:r>
                                  </m:sup>
                                </m:sSup>
                              </m:oMath>
                            </m:oMathPara>
                          </a14:m>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0.838079</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0.859936</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3786496799"/>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sSup>
                                  <m:sSupPr>
                                    <m:ctrlPr>
                                      <a:rPr lang="en-US" b="0" i="1" baseline="0" smtClean="0">
                                        <a:solidFill>
                                          <a:srgbClr val="434343"/>
                                        </a:solidFill>
                                        <a:effectLst/>
                                        <a:latin typeface="Cambria Math" panose="02040503050406030204" pitchFamily="18" charset="0"/>
                                        <a:ea typeface="Cambria Math" panose="02040503050406030204" pitchFamily="18" charset="0"/>
                                      </a:rPr>
                                    </m:ctrlPr>
                                  </m:sSupPr>
                                  <m:e>
                                    <m:r>
                                      <a:rPr lang="en-US" b="0" i="1" baseline="0" smtClean="0">
                                        <a:solidFill>
                                          <a:srgbClr val="434343"/>
                                        </a:solidFill>
                                        <a:effectLst/>
                                        <a:latin typeface="Cambria Math" panose="02040503050406030204" pitchFamily="18" charset="0"/>
                                        <a:ea typeface="Cambria Math" panose="02040503050406030204" pitchFamily="18" charset="0"/>
                                      </a:rPr>
                                      <m:t>𝐾</m:t>
                                    </m:r>
                                  </m:e>
                                  <m:sup>
                                    <m:r>
                                      <a:rPr lang="en-US" b="0" i="1" baseline="0" smtClean="0">
                                        <a:solidFill>
                                          <a:srgbClr val="434343"/>
                                        </a:solidFill>
                                        <a:effectLst/>
                                        <a:latin typeface="Cambria Math" panose="02040503050406030204" pitchFamily="18" charset="0"/>
                                        <a:ea typeface="Cambria Math" panose="02040503050406030204" pitchFamily="18" charset="0"/>
                                      </a:rPr>
                                      <m:t>+</m:t>
                                    </m:r>
                                  </m:sup>
                                </m:sSup>
                              </m:oMath>
                            </m:oMathPara>
                          </a14:m>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0.78045</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0.75665</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2974086239"/>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sSup>
                                  <m:sSupPr>
                                    <m:ctrlPr>
                                      <a:rPr lang="en-US" b="0" i="1" baseline="0" smtClean="0">
                                        <a:solidFill>
                                          <a:srgbClr val="434343"/>
                                        </a:solidFill>
                                        <a:effectLst/>
                                        <a:latin typeface="Cambria Math" panose="02040503050406030204" pitchFamily="18" charset="0"/>
                                        <a:ea typeface="Cambria Math" panose="02040503050406030204" pitchFamily="18" charset="0"/>
                                      </a:rPr>
                                    </m:ctrlPr>
                                  </m:sSupPr>
                                  <m:e>
                                    <m:r>
                                      <a:rPr lang="en-US" b="0" i="1" baseline="0" smtClean="0">
                                        <a:solidFill>
                                          <a:srgbClr val="434343"/>
                                        </a:solidFill>
                                        <a:effectLst/>
                                        <a:latin typeface="Cambria Math" panose="02040503050406030204" pitchFamily="18" charset="0"/>
                                        <a:ea typeface="Cambria Math" panose="02040503050406030204" pitchFamily="18" charset="0"/>
                                      </a:rPr>
                                      <m:t>𝐾</m:t>
                                    </m:r>
                                  </m:e>
                                  <m:sup>
                                    <m:r>
                                      <a:rPr lang="en-US" b="0" i="1" baseline="0" smtClean="0">
                                        <a:solidFill>
                                          <a:srgbClr val="434343"/>
                                        </a:solidFill>
                                        <a:effectLst/>
                                        <a:latin typeface="Cambria Math" panose="02040503050406030204" pitchFamily="18" charset="0"/>
                                        <a:ea typeface="Cambria Math" panose="02040503050406030204" pitchFamily="18" charset="0"/>
                                      </a:rPr>
                                      <m:t>−</m:t>
                                    </m:r>
                                  </m:sup>
                                </m:sSup>
                              </m:oMath>
                            </m:oMathPara>
                          </a14:m>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0.761896</a:t>
                          </a:r>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0.75869</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989086634"/>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acc>
                                  <m:accPr>
                                    <m:chr m:val="̅"/>
                                    <m:ctrlPr>
                                      <a:rPr lang="en-US" b="0" i="1" smtClean="0">
                                        <a:solidFill>
                                          <a:srgbClr val="434343"/>
                                        </a:solidFill>
                                        <a:effectLst/>
                                        <a:latin typeface="Cambria Math" panose="02040503050406030204" pitchFamily="18" charset="0"/>
                                      </a:rPr>
                                    </m:ctrlPr>
                                  </m:accPr>
                                  <m:e>
                                    <m:r>
                                      <a:rPr lang="en-US" b="0" i="1" smtClean="0">
                                        <a:solidFill>
                                          <a:srgbClr val="434343"/>
                                        </a:solidFill>
                                        <a:effectLst/>
                                        <a:latin typeface="Cambria Math" panose="02040503050406030204" pitchFamily="18" charset="0"/>
                                      </a:rPr>
                                      <m:t>𝑝</m:t>
                                    </m:r>
                                  </m:e>
                                </m:acc>
                              </m:oMath>
                            </m:oMathPara>
                          </a14:m>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0.85905</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0.848871</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1118630317"/>
                      </a:ext>
                    </a:extLst>
                  </a:tr>
                  <a:tr h="263872">
                    <a:tc>
                      <a:txBody>
                        <a:bodyPr/>
                        <a:lstStyle/>
                        <a:p>
                          <a:pPr algn="ctr" rtl="0" fontAlgn="ctr">
                            <a:buNone/>
                          </a:pPr>
                          <a14:m>
                            <m:oMathPara xmlns:m="http://schemas.openxmlformats.org/officeDocument/2006/math">
                              <m:oMathParaPr>
                                <m:jc m:val="centerGroup"/>
                              </m:oMathParaPr>
                              <m:oMath xmlns:m="http://schemas.openxmlformats.org/officeDocument/2006/math">
                                <m:r>
                                  <a:rPr lang="en-US" b="0" i="1" smtClean="0">
                                    <a:solidFill>
                                      <a:srgbClr val="434343"/>
                                    </a:solidFill>
                                    <a:effectLst/>
                                    <a:latin typeface="Cambria Math" panose="02040503050406030204" pitchFamily="18" charset="0"/>
                                  </a:rPr>
                                  <m:t>𝑝</m:t>
                                </m:r>
                              </m:oMath>
                            </m:oMathPara>
                          </a14:m>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0.851671</a:t>
                          </a:r>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0.833633</a:t>
                          </a:r>
                          <a:endParaRPr lang="en-US" b="0" dirty="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588640493"/>
                      </a:ext>
                    </a:extLst>
                  </a:tr>
                </a:tbl>
              </a:graphicData>
            </a:graphic>
          </p:graphicFrame>
        </mc:Choice>
        <mc:Fallback xmlns="">
          <p:graphicFrame>
            <p:nvGraphicFramePr>
              <p:cNvPr id="10" name="Table 9">
                <a:extLst>
                  <a:ext uri="{FF2B5EF4-FFF2-40B4-BE49-F238E27FC236}">
                    <a16:creationId xmlns:a16="http://schemas.microsoft.com/office/drawing/2014/main" id="{D9D5FB66-2305-7319-32CF-698B541ECABD}"/>
                  </a:ext>
                </a:extLst>
              </p:cNvPr>
              <p:cNvGraphicFramePr>
                <a:graphicFrameLocks noGrp="1"/>
              </p:cNvGraphicFramePr>
              <p:nvPr>
                <p:extLst>
                  <p:ext uri="{D42A27DB-BD31-4B8C-83A1-F6EECF244321}">
                    <p14:modId xmlns:p14="http://schemas.microsoft.com/office/powerpoint/2010/main" val="253582993"/>
                  </p:ext>
                </p:extLst>
              </p:nvPr>
            </p:nvGraphicFramePr>
            <p:xfrm>
              <a:off x="92920" y="3835763"/>
              <a:ext cx="5419831" cy="2262910"/>
            </p:xfrm>
            <a:graphic>
              <a:graphicData uri="http://schemas.openxmlformats.org/drawingml/2006/table">
                <a:tbl>
                  <a:tblPr firstRow="1">
                    <a:tableStyleId>{69012ECD-51FC-41F1-AA8D-1B2483CD663E}</a:tableStyleId>
                  </a:tblPr>
                  <a:tblGrid>
                    <a:gridCol w="1543395">
                      <a:extLst>
                        <a:ext uri="{9D8B030D-6E8A-4147-A177-3AD203B41FA5}">
                          <a16:colId xmlns:a16="http://schemas.microsoft.com/office/drawing/2014/main" val="474889541"/>
                        </a:ext>
                      </a:extLst>
                    </a:gridCol>
                    <a:gridCol w="2081790">
                      <a:extLst>
                        <a:ext uri="{9D8B030D-6E8A-4147-A177-3AD203B41FA5}">
                          <a16:colId xmlns:a16="http://schemas.microsoft.com/office/drawing/2014/main" val="1764096747"/>
                        </a:ext>
                      </a:extLst>
                    </a:gridCol>
                    <a:gridCol w="1794646">
                      <a:extLst>
                        <a:ext uri="{9D8B030D-6E8A-4147-A177-3AD203B41FA5}">
                          <a16:colId xmlns:a16="http://schemas.microsoft.com/office/drawing/2014/main" val="2238904213"/>
                        </a:ext>
                      </a:extLst>
                    </a:gridCol>
                  </a:tblGrid>
                  <a:tr h="388390">
                    <a:tc>
                      <a:txBody>
                        <a:bodyPr/>
                        <a:lstStyle/>
                        <a:p>
                          <a:pPr rtl="0" fontAlgn="ctr">
                            <a:buNone/>
                          </a:pPr>
                          <a:r>
                            <a:rPr lang="en-US" b="0" dirty="0">
                              <a:solidFill>
                                <a:srgbClr val="FFFFFF"/>
                              </a:solidFill>
                              <a:effectLst/>
                            </a:rPr>
                            <a:t>Name</a:t>
                          </a:r>
                          <a:endParaRPr lang="en-US" b="0" dirty="0">
                            <a:solidFill>
                              <a:srgbClr val="FFFFFF"/>
                            </a:solidFill>
                            <a:effectLst/>
                            <a:latin typeface="Fira Sans" panose="020B0503050000020004" pitchFamily="34" charset="0"/>
                          </a:endParaRPr>
                        </a:p>
                      </a:txBody>
                      <a:tcPr marL="76200" marR="76200" marT="19050" marB="19050" anchor="ctr"/>
                    </a:tc>
                    <a:tc>
                      <a:txBody>
                        <a:bodyPr/>
                        <a:lstStyle/>
                        <a:p>
                          <a:pPr rtl="0" fontAlgn="ctr">
                            <a:buNone/>
                          </a:pPr>
                          <a:r>
                            <a:rPr lang="en-US" b="0" dirty="0">
                              <a:solidFill>
                                <a:srgbClr val="FFFFFF"/>
                              </a:solidFill>
                              <a:effectLst/>
                            </a:rPr>
                            <a:t>Overall efficiency</a:t>
                          </a:r>
                          <a:endParaRPr lang="en-US" b="0" dirty="0">
                            <a:solidFill>
                              <a:srgbClr val="FFFFFF"/>
                            </a:solidFill>
                            <a:effectLst/>
                            <a:latin typeface="Fira Sans" panose="020B0503050000020004" pitchFamily="34" charset="0"/>
                          </a:endParaRPr>
                        </a:p>
                      </a:txBody>
                      <a:tcPr marL="76200" marR="76200" marT="19050" marB="19050" anchor="ctr"/>
                    </a:tc>
                    <a:tc>
                      <a:txBody>
                        <a:bodyPr/>
                        <a:lstStyle/>
                        <a:p>
                          <a:pPr rtl="0" fontAlgn="ctr">
                            <a:buNone/>
                          </a:pPr>
                          <a:r>
                            <a:rPr lang="en-US" b="0" dirty="0">
                              <a:solidFill>
                                <a:srgbClr val="FFFFFF"/>
                              </a:solidFill>
                              <a:effectLst/>
                            </a:rPr>
                            <a:t>Overall purity</a:t>
                          </a:r>
                          <a:endParaRPr lang="en-US" b="0" dirty="0">
                            <a:solidFill>
                              <a:srgbClr val="FFFFFF"/>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2038048568"/>
                      </a:ext>
                    </a:extLst>
                  </a:tr>
                  <a:tr h="312420">
                    <a:tc>
                      <a:txBody>
                        <a:bodyPr/>
                        <a:lstStyle/>
                        <a:p>
                          <a:endParaRPr lang="en-US"/>
                        </a:p>
                      </a:txBody>
                      <a:tcPr marL="76200" marR="76200" marT="19050" marB="19050" anchor="ctr">
                        <a:blipFill>
                          <a:blip r:embed="rId3"/>
                          <a:stretch>
                            <a:fillRect l="-820" t="-137500" r="-250820" b="-554167"/>
                          </a:stretch>
                        </a:blipFill>
                      </a:tcPr>
                    </a:tc>
                    <a:tc>
                      <a:txBody>
                        <a:bodyPr/>
                        <a:lstStyle/>
                        <a:p>
                          <a:pPr algn="r" rtl="0" fontAlgn="ctr">
                            <a:buNone/>
                          </a:pPr>
                          <a:r>
                            <a:rPr lang="en-US" b="0">
                              <a:solidFill>
                                <a:srgbClr val="434343"/>
                              </a:solidFill>
                              <a:effectLst/>
                            </a:rPr>
                            <a:t>0.843879</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0.873114</a:t>
                          </a:r>
                          <a:endParaRPr lang="en-US" b="0" dirty="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193500068"/>
                      </a:ext>
                    </a:extLst>
                  </a:tr>
                  <a:tr h="312420">
                    <a:tc>
                      <a:txBody>
                        <a:bodyPr/>
                        <a:lstStyle/>
                        <a:p>
                          <a:endParaRPr lang="en-US"/>
                        </a:p>
                      </a:txBody>
                      <a:tcPr marL="76200" marR="76200" marT="19050" marB="19050" anchor="ctr">
                        <a:blipFill>
                          <a:blip r:embed="rId3"/>
                          <a:stretch>
                            <a:fillRect l="-820" t="-228000" r="-250820" b="-432000"/>
                          </a:stretch>
                        </a:blipFill>
                      </a:tcPr>
                    </a:tc>
                    <a:tc>
                      <a:txBody>
                        <a:bodyPr/>
                        <a:lstStyle/>
                        <a:p>
                          <a:pPr algn="r" rtl="0" fontAlgn="ctr">
                            <a:buNone/>
                          </a:pPr>
                          <a:r>
                            <a:rPr lang="en-US" b="0">
                              <a:solidFill>
                                <a:srgbClr val="434343"/>
                              </a:solidFill>
                              <a:effectLst/>
                            </a:rPr>
                            <a:t>0.838079</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0.859936</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3786496799"/>
                      </a:ext>
                    </a:extLst>
                  </a:tr>
                  <a:tr h="312420">
                    <a:tc>
                      <a:txBody>
                        <a:bodyPr/>
                        <a:lstStyle/>
                        <a:p>
                          <a:endParaRPr lang="en-US"/>
                        </a:p>
                      </a:txBody>
                      <a:tcPr marL="76200" marR="76200" marT="19050" marB="19050" anchor="ctr">
                        <a:blipFill>
                          <a:blip r:embed="rId3"/>
                          <a:stretch>
                            <a:fillRect l="-820" t="-328000" r="-250820" b="-332000"/>
                          </a:stretch>
                        </a:blipFill>
                      </a:tcPr>
                    </a:tc>
                    <a:tc>
                      <a:txBody>
                        <a:bodyPr/>
                        <a:lstStyle/>
                        <a:p>
                          <a:pPr algn="r" rtl="0" fontAlgn="ctr">
                            <a:buNone/>
                          </a:pPr>
                          <a:r>
                            <a:rPr lang="en-US" b="0">
                              <a:solidFill>
                                <a:srgbClr val="434343"/>
                              </a:solidFill>
                              <a:effectLst/>
                            </a:rPr>
                            <a:t>0.78045</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0.75665</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2974086239"/>
                      </a:ext>
                    </a:extLst>
                  </a:tr>
                  <a:tr h="312420">
                    <a:tc>
                      <a:txBody>
                        <a:bodyPr/>
                        <a:lstStyle/>
                        <a:p>
                          <a:endParaRPr lang="en-US"/>
                        </a:p>
                      </a:txBody>
                      <a:tcPr marL="76200" marR="76200" marT="19050" marB="19050" anchor="ctr">
                        <a:blipFill>
                          <a:blip r:embed="rId3"/>
                          <a:stretch>
                            <a:fillRect l="-820" t="-428000" r="-250820" b="-232000"/>
                          </a:stretch>
                        </a:blipFill>
                      </a:tcPr>
                    </a:tc>
                    <a:tc>
                      <a:txBody>
                        <a:bodyPr/>
                        <a:lstStyle/>
                        <a:p>
                          <a:pPr algn="r" rtl="0" fontAlgn="ctr">
                            <a:buNone/>
                          </a:pPr>
                          <a:r>
                            <a:rPr lang="en-US" b="0" dirty="0">
                              <a:solidFill>
                                <a:srgbClr val="434343"/>
                              </a:solidFill>
                              <a:effectLst/>
                            </a:rPr>
                            <a:t>0.761896</a:t>
                          </a:r>
                          <a:endParaRPr lang="en-US" b="0" dirty="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0.75869</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989086634"/>
                      </a:ext>
                    </a:extLst>
                  </a:tr>
                  <a:tr h="312420">
                    <a:tc>
                      <a:txBody>
                        <a:bodyPr/>
                        <a:lstStyle/>
                        <a:p>
                          <a:endParaRPr lang="en-US"/>
                        </a:p>
                      </a:txBody>
                      <a:tcPr marL="76200" marR="76200" marT="19050" marB="19050" anchor="ctr">
                        <a:blipFill>
                          <a:blip r:embed="rId3"/>
                          <a:stretch>
                            <a:fillRect l="-820" t="-550000" r="-250820" b="-141667"/>
                          </a:stretch>
                        </a:blipFill>
                      </a:tcPr>
                    </a:tc>
                    <a:tc>
                      <a:txBody>
                        <a:bodyPr/>
                        <a:lstStyle/>
                        <a:p>
                          <a:pPr algn="r" rtl="0" fontAlgn="ctr">
                            <a:buNone/>
                          </a:pPr>
                          <a:r>
                            <a:rPr lang="en-US" b="0">
                              <a:solidFill>
                                <a:srgbClr val="434343"/>
                              </a:solidFill>
                              <a:effectLst/>
                            </a:rPr>
                            <a:t>0.85905</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a:solidFill>
                                <a:srgbClr val="434343"/>
                              </a:solidFill>
                              <a:effectLst/>
                            </a:rPr>
                            <a:t>0.848871</a:t>
                          </a:r>
                          <a:endParaRPr lang="en-US" b="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1118630317"/>
                      </a:ext>
                    </a:extLst>
                  </a:tr>
                  <a:tr h="312420">
                    <a:tc>
                      <a:txBody>
                        <a:bodyPr/>
                        <a:lstStyle/>
                        <a:p>
                          <a:endParaRPr lang="en-US"/>
                        </a:p>
                      </a:txBody>
                      <a:tcPr marL="76200" marR="76200" marT="19050" marB="19050" anchor="ctr">
                        <a:blipFill>
                          <a:blip r:embed="rId3"/>
                          <a:stretch>
                            <a:fillRect l="-820" t="-624000" r="-250820" b="-36000"/>
                          </a:stretch>
                        </a:blipFill>
                      </a:tcPr>
                    </a:tc>
                    <a:tc>
                      <a:txBody>
                        <a:bodyPr/>
                        <a:lstStyle/>
                        <a:p>
                          <a:pPr algn="r" rtl="0" fontAlgn="ctr">
                            <a:buNone/>
                          </a:pPr>
                          <a:r>
                            <a:rPr lang="en-US" b="0">
                              <a:solidFill>
                                <a:srgbClr val="434343"/>
                              </a:solidFill>
                              <a:effectLst/>
                            </a:rPr>
                            <a:t>0.851671</a:t>
                          </a:r>
                          <a:endParaRPr lang="en-US" b="0">
                            <a:solidFill>
                              <a:srgbClr val="434343"/>
                            </a:solidFill>
                            <a:effectLst/>
                            <a:latin typeface="Fira Sans" panose="020B0503050000020004" pitchFamily="34" charset="0"/>
                          </a:endParaRPr>
                        </a:p>
                      </a:txBody>
                      <a:tcPr marL="76200" marR="76200" marT="19050" marB="19050" anchor="ctr"/>
                    </a:tc>
                    <a:tc>
                      <a:txBody>
                        <a:bodyPr/>
                        <a:lstStyle/>
                        <a:p>
                          <a:pPr algn="r" rtl="0" fontAlgn="ctr">
                            <a:buNone/>
                          </a:pPr>
                          <a:r>
                            <a:rPr lang="en-US" b="0" dirty="0">
                              <a:solidFill>
                                <a:srgbClr val="434343"/>
                              </a:solidFill>
                              <a:effectLst/>
                            </a:rPr>
                            <a:t>0.833633</a:t>
                          </a:r>
                          <a:endParaRPr lang="en-US" b="0" dirty="0">
                            <a:solidFill>
                              <a:srgbClr val="434343"/>
                            </a:solidFill>
                            <a:effectLst/>
                            <a:latin typeface="Fira Sans" panose="020B0503050000020004" pitchFamily="34" charset="0"/>
                          </a:endParaRPr>
                        </a:p>
                      </a:txBody>
                      <a:tcPr marL="76200" marR="76200" marT="19050" marB="19050" anchor="ctr"/>
                    </a:tc>
                    <a:extLst>
                      <a:ext uri="{0D108BD9-81ED-4DB2-BD59-A6C34878D82A}">
                        <a16:rowId xmlns:a16="http://schemas.microsoft.com/office/drawing/2014/main" val="588640493"/>
                      </a:ext>
                    </a:extLst>
                  </a:tr>
                </a:tbl>
              </a:graphicData>
            </a:graphic>
          </p:graphicFrame>
        </mc:Fallback>
      </mc:AlternateContent>
    </p:spTree>
    <p:extLst>
      <p:ext uri="{BB962C8B-B14F-4D97-AF65-F5344CB8AC3E}">
        <p14:creationId xmlns:p14="http://schemas.microsoft.com/office/powerpoint/2010/main" val="2613466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F494-1FAE-475A-ED1B-D14907986541}"/>
              </a:ext>
            </a:extLst>
          </p:cNvPr>
          <p:cNvSpPr>
            <a:spLocks noGrp="1"/>
          </p:cNvSpPr>
          <p:nvPr>
            <p:ph type="title"/>
          </p:nvPr>
        </p:nvSpPr>
        <p:spPr/>
        <p:txBody>
          <a:bodyPr/>
          <a:lstStyle/>
          <a:p>
            <a:r>
              <a:rPr lang="en-US" dirty="0"/>
              <a:t>Hadron identification: Data vs MC features</a:t>
            </a:r>
          </a:p>
        </p:txBody>
      </p:sp>
      <p:sp>
        <p:nvSpPr>
          <p:cNvPr id="3" name="Content Placeholder 2">
            <a:extLst>
              <a:ext uri="{FF2B5EF4-FFF2-40B4-BE49-F238E27FC236}">
                <a16:creationId xmlns:a16="http://schemas.microsoft.com/office/drawing/2014/main" id="{075FEBBB-5493-B996-5529-312506CDD312}"/>
              </a:ext>
            </a:extLst>
          </p:cNvPr>
          <p:cNvSpPr>
            <a:spLocks noGrp="1"/>
          </p:cNvSpPr>
          <p:nvPr>
            <p:ph idx="1"/>
          </p:nvPr>
        </p:nvSpPr>
        <p:spPr>
          <a:xfrm>
            <a:off x="609600" y="1175537"/>
            <a:ext cx="11454333" cy="886253"/>
          </a:xfrm>
        </p:spPr>
        <p:txBody>
          <a:bodyPr/>
          <a:lstStyle/>
          <a:p>
            <a:r>
              <a:rPr lang="en-US" dirty="0"/>
              <a:t>Before testing the AI on real data, we can compare the inputs features between MC and data for π</a:t>
            </a:r>
            <a:r>
              <a:rPr lang="en-US" baseline="30000" dirty="0"/>
              <a:t>- </a:t>
            </a:r>
            <a:r>
              <a:rPr lang="en-US" dirty="0"/>
              <a:t>(use RICH for the data):</a:t>
            </a:r>
          </a:p>
        </p:txBody>
      </p:sp>
      <p:sp>
        <p:nvSpPr>
          <p:cNvPr id="4" name="Date Placeholder 3">
            <a:extLst>
              <a:ext uri="{FF2B5EF4-FFF2-40B4-BE49-F238E27FC236}">
                <a16:creationId xmlns:a16="http://schemas.microsoft.com/office/drawing/2014/main" id="{82DFD8EA-4ABD-7A37-B392-4CD9540BDDF4}"/>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1D492006-E4B6-3223-7DBE-850E39BBB68C}"/>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15372151-7B0F-4218-FE44-6E7C5B00239F}"/>
              </a:ext>
            </a:extLst>
          </p:cNvPr>
          <p:cNvSpPr>
            <a:spLocks noGrp="1"/>
          </p:cNvSpPr>
          <p:nvPr>
            <p:ph type="sldNum" sz="quarter" idx="12"/>
          </p:nvPr>
        </p:nvSpPr>
        <p:spPr/>
        <p:txBody>
          <a:bodyPr/>
          <a:lstStyle/>
          <a:p>
            <a:fld id="{C5EF2332-01BF-834F-8236-50238282D533}" type="slidenum">
              <a:rPr lang="en-US" smtClean="0"/>
              <a:t>6</a:t>
            </a:fld>
            <a:endParaRPr lang="en-US"/>
          </a:p>
        </p:txBody>
      </p:sp>
      <p:pic>
        <p:nvPicPr>
          <p:cNvPr id="7" name="Picture 6">
            <a:extLst>
              <a:ext uri="{FF2B5EF4-FFF2-40B4-BE49-F238E27FC236}">
                <a16:creationId xmlns:a16="http://schemas.microsoft.com/office/drawing/2014/main" id="{1D6A34B9-2FF7-A3CA-A760-71D3FAE95A36}"/>
              </a:ext>
            </a:extLst>
          </p:cNvPr>
          <p:cNvPicPr>
            <a:picLocks noChangeAspect="1"/>
          </p:cNvPicPr>
          <p:nvPr/>
        </p:nvPicPr>
        <p:blipFill>
          <a:blip r:embed="rId2"/>
          <a:srcRect t="1652"/>
          <a:stretch>
            <a:fillRect/>
          </a:stretch>
        </p:blipFill>
        <p:spPr>
          <a:xfrm>
            <a:off x="68566" y="1946860"/>
            <a:ext cx="8499049" cy="2330671"/>
          </a:xfrm>
          <a:prstGeom prst="rect">
            <a:avLst/>
          </a:prstGeom>
        </p:spPr>
      </p:pic>
      <p:pic>
        <p:nvPicPr>
          <p:cNvPr id="8" name="Picture 7">
            <a:extLst>
              <a:ext uri="{FF2B5EF4-FFF2-40B4-BE49-F238E27FC236}">
                <a16:creationId xmlns:a16="http://schemas.microsoft.com/office/drawing/2014/main" id="{1758B867-857E-1BE2-C975-97C3926254C6}"/>
              </a:ext>
            </a:extLst>
          </p:cNvPr>
          <p:cNvPicPr>
            <a:picLocks noChangeAspect="1"/>
          </p:cNvPicPr>
          <p:nvPr/>
        </p:nvPicPr>
        <p:blipFill>
          <a:blip r:embed="rId3"/>
          <a:stretch>
            <a:fillRect/>
          </a:stretch>
        </p:blipFill>
        <p:spPr>
          <a:xfrm>
            <a:off x="68566" y="4295863"/>
            <a:ext cx="5680129" cy="2445381"/>
          </a:xfrm>
          <a:prstGeom prst="rect">
            <a:avLst/>
          </a:prstGeom>
        </p:spPr>
      </p:pic>
      <p:sp>
        <p:nvSpPr>
          <p:cNvPr id="10" name="Content Placeholder 2">
            <a:extLst>
              <a:ext uri="{FF2B5EF4-FFF2-40B4-BE49-F238E27FC236}">
                <a16:creationId xmlns:a16="http://schemas.microsoft.com/office/drawing/2014/main" id="{3FD9B6C4-3E84-7D75-885D-C11C5FD90C2B}"/>
              </a:ext>
            </a:extLst>
          </p:cNvPr>
          <p:cNvSpPr txBox="1">
            <a:spLocks/>
          </p:cNvSpPr>
          <p:nvPr/>
        </p:nvSpPr>
        <p:spPr>
          <a:xfrm>
            <a:off x="5959098" y="4486090"/>
            <a:ext cx="6028841" cy="16977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rgbClr val="243643"/>
                </a:solidFill>
                <a:latin typeface="Fira Sans Light" panose="020B0403050000020004" pitchFamily="34" charset="0"/>
                <a:ea typeface="Fira Sans Light" panose="020B04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Light" panose="020B0403050000020004" pitchFamily="34" charset="0"/>
                <a:ea typeface="Fira Sans Light" panose="020B04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Light" panose="020B0403050000020004" pitchFamily="34" charset="0"/>
                <a:ea typeface="Fira Sans Light" panose="020B04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Phase space is flat in simulation but not in data: should not be an issue we cover the same space.</a:t>
            </a:r>
          </a:p>
        </p:txBody>
      </p:sp>
    </p:spTree>
    <p:extLst>
      <p:ext uri="{BB962C8B-B14F-4D97-AF65-F5344CB8AC3E}">
        <p14:creationId xmlns:p14="http://schemas.microsoft.com/office/powerpoint/2010/main" val="155219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FE071-3C94-3CF4-C360-F4EE93B70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D809B-83B9-6A19-15BE-63FFABC7A1ED}"/>
              </a:ext>
            </a:extLst>
          </p:cNvPr>
          <p:cNvSpPr>
            <a:spLocks noGrp="1"/>
          </p:cNvSpPr>
          <p:nvPr>
            <p:ph type="title"/>
          </p:nvPr>
        </p:nvSpPr>
        <p:spPr/>
        <p:txBody>
          <a:bodyPr/>
          <a:lstStyle/>
          <a:p>
            <a:r>
              <a:rPr lang="en-US" dirty="0"/>
              <a:t>Hadron identification: Data vs MC features</a:t>
            </a:r>
          </a:p>
        </p:txBody>
      </p:sp>
      <p:sp>
        <p:nvSpPr>
          <p:cNvPr id="3" name="Content Placeholder 2">
            <a:extLst>
              <a:ext uri="{FF2B5EF4-FFF2-40B4-BE49-F238E27FC236}">
                <a16:creationId xmlns:a16="http://schemas.microsoft.com/office/drawing/2014/main" id="{8D3062DE-9591-62B8-9E58-BF42E650F6BF}"/>
              </a:ext>
            </a:extLst>
          </p:cNvPr>
          <p:cNvSpPr>
            <a:spLocks noGrp="1"/>
          </p:cNvSpPr>
          <p:nvPr>
            <p:ph idx="1"/>
          </p:nvPr>
        </p:nvSpPr>
        <p:spPr>
          <a:xfrm>
            <a:off x="609600" y="1249680"/>
            <a:ext cx="10972800" cy="886253"/>
          </a:xfrm>
        </p:spPr>
        <p:txBody>
          <a:bodyPr/>
          <a:lstStyle/>
          <a:p>
            <a:r>
              <a:rPr lang="en-US" dirty="0"/>
              <a:t>Before testing the AI on real data, we can compare the inputs features between MC and data for π</a:t>
            </a:r>
            <a:r>
              <a:rPr lang="en-US" baseline="30000" dirty="0"/>
              <a:t>-</a:t>
            </a:r>
            <a:r>
              <a:rPr lang="en-US" dirty="0"/>
              <a:t>:</a:t>
            </a:r>
          </a:p>
        </p:txBody>
      </p:sp>
      <p:sp>
        <p:nvSpPr>
          <p:cNvPr id="4" name="Date Placeholder 3">
            <a:extLst>
              <a:ext uri="{FF2B5EF4-FFF2-40B4-BE49-F238E27FC236}">
                <a16:creationId xmlns:a16="http://schemas.microsoft.com/office/drawing/2014/main" id="{834D5B70-5EC1-3E06-4F71-65623CA18CA5}"/>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245D74AE-E7ED-BF2C-0705-38A4F5014856}"/>
              </a:ext>
            </a:extLst>
          </p:cNvPr>
          <p:cNvSpPr>
            <a:spLocks noGrp="1"/>
          </p:cNvSpPr>
          <p:nvPr>
            <p:ph type="ftr" sz="quarter" idx="11"/>
          </p:nvPr>
        </p:nvSpPr>
        <p:spPr/>
        <p:txBody>
          <a:bodyPr/>
          <a:lstStyle/>
          <a:p>
            <a:r>
              <a:rPr lang="en-US"/>
              <a:t>AI Software meeting</a:t>
            </a:r>
            <a:endParaRPr lang="en-US" dirty="0"/>
          </a:p>
        </p:txBody>
      </p:sp>
      <p:sp>
        <p:nvSpPr>
          <p:cNvPr id="6" name="Slide Number Placeholder 5">
            <a:extLst>
              <a:ext uri="{FF2B5EF4-FFF2-40B4-BE49-F238E27FC236}">
                <a16:creationId xmlns:a16="http://schemas.microsoft.com/office/drawing/2014/main" id="{763B66F4-32D0-5960-EA6D-C8532A452BBB}"/>
              </a:ext>
            </a:extLst>
          </p:cNvPr>
          <p:cNvSpPr>
            <a:spLocks noGrp="1"/>
          </p:cNvSpPr>
          <p:nvPr>
            <p:ph type="sldNum" sz="quarter" idx="12"/>
          </p:nvPr>
        </p:nvSpPr>
        <p:spPr/>
        <p:txBody>
          <a:bodyPr/>
          <a:lstStyle/>
          <a:p>
            <a:fld id="{C5EF2332-01BF-834F-8236-50238282D533}" type="slidenum">
              <a:rPr lang="en-US" smtClean="0"/>
              <a:t>7</a:t>
            </a:fld>
            <a:endParaRPr lang="en-US" dirty="0"/>
          </a:p>
        </p:txBody>
      </p:sp>
      <p:sp>
        <p:nvSpPr>
          <p:cNvPr id="10" name="Content Placeholder 2">
            <a:extLst>
              <a:ext uri="{FF2B5EF4-FFF2-40B4-BE49-F238E27FC236}">
                <a16:creationId xmlns:a16="http://schemas.microsoft.com/office/drawing/2014/main" id="{0EBE4C2C-33A6-6DF4-42DB-3BD9323D0B2A}"/>
              </a:ext>
            </a:extLst>
          </p:cNvPr>
          <p:cNvSpPr txBox="1">
            <a:spLocks/>
          </p:cNvSpPr>
          <p:nvPr/>
        </p:nvSpPr>
        <p:spPr>
          <a:xfrm>
            <a:off x="5959098" y="4486090"/>
            <a:ext cx="6043363" cy="16977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rgbClr val="243643"/>
                </a:solidFill>
                <a:latin typeface="Fira Sans Light" panose="020B0403050000020004" pitchFamily="34" charset="0"/>
                <a:ea typeface="Fira Sans Light" panose="020B04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Light" panose="020B0403050000020004" pitchFamily="34" charset="0"/>
                <a:ea typeface="Fira Sans Light" panose="020B04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Light" panose="020B0403050000020004" pitchFamily="34" charset="0"/>
                <a:ea typeface="Fira Sans Light" panose="020B04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t>Energy (both in CAL and FTOF) are well reproduce in simulation, same for calorimeter shower width and 2nd moment of the shower.</a:t>
            </a:r>
          </a:p>
        </p:txBody>
      </p:sp>
      <p:pic>
        <p:nvPicPr>
          <p:cNvPr id="9" name="Picture 8">
            <a:extLst>
              <a:ext uri="{FF2B5EF4-FFF2-40B4-BE49-F238E27FC236}">
                <a16:creationId xmlns:a16="http://schemas.microsoft.com/office/drawing/2014/main" id="{706A809F-6A3A-4C80-C3C8-206973C54CE3}"/>
              </a:ext>
            </a:extLst>
          </p:cNvPr>
          <p:cNvPicPr>
            <a:picLocks noChangeAspect="1"/>
          </p:cNvPicPr>
          <p:nvPr/>
        </p:nvPicPr>
        <p:blipFill>
          <a:blip r:embed="rId2"/>
          <a:stretch>
            <a:fillRect/>
          </a:stretch>
        </p:blipFill>
        <p:spPr>
          <a:xfrm>
            <a:off x="94280" y="2020253"/>
            <a:ext cx="10357575" cy="2226283"/>
          </a:xfrm>
          <a:prstGeom prst="rect">
            <a:avLst/>
          </a:prstGeom>
        </p:spPr>
      </p:pic>
      <p:pic>
        <p:nvPicPr>
          <p:cNvPr id="11" name="Picture 10">
            <a:extLst>
              <a:ext uri="{FF2B5EF4-FFF2-40B4-BE49-F238E27FC236}">
                <a16:creationId xmlns:a16="http://schemas.microsoft.com/office/drawing/2014/main" id="{15946542-FB5C-0C9E-B437-BA08911725D1}"/>
              </a:ext>
            </a:extLst>
          </p:cNvPr>
          <p:cNvPicPr>
            <a:picLocks noChangeAspect="1"/>
          </p:cNvPicPr>
          <p:nvPr/>
        </p:nvPicPr>
        <p:blipFill>
          <a:blip r:embed="rId3"/>
          <a:stretch>
            <a:fillRect/>
          </a:stretch>
        </p:blipFill>
        <p:spPr>
          <a:xfrm>
            <a:off x="94280" y="4252044"/>
            <a:ext cx="2765504" cy="2605956"/>
          </a:xfrm>
          <a:prstGeom prst="rect">
            <a:avLst/>
          </a:prstGeom>
        </p:spPr>
      </p:pic>
      <p:pic>
        <p:nvPicPr>
          <p:cNvPr id="12" name="Picture 11">
            <a:extLst>
              <a:ext uri="{FF2B5EF4-FFF2-40B4-BE49-F238E27FC236}">
                <a16:creationId xmlns:a16="http://schemas.microsoft.com/office/drawing/2014/main" id="{66B869F1-17D0-B040-A6ED-C6CB891FE927}"/>
              </a:ext>
            </a:extLst>
          </p:cNvPr>
          <p:cNvPicPr>
            <a:picLocks noChangeAspect="1"/>
          </p:cNvPicPr>
          <p:nvPr/>
        </p:nvPicPr>
        <p:blipFill>
          <a:blip r:embed="rId4"/>
          <a:stretch>
            <a:fillRect/>
          </a:stretch>
        </p:blipFill>
        <p:spPr>
          <a:xfrm>
            <a:off x="2908299" y="4240240"/>
            <a:ext cx="2655593" cy="2481236"/>
          </a:xfrm>
          <a:prstGeom prst="rect">
            <a:avLst/>
          </a:prstGeom>
        </p:spPr>
      </p:pic>
    </p:spTree>
    <p:extLst>
      <p:ext uri="{BB962C8B-B14F-4D97-AF65-F5344CB8AC3E}">
        <p14:creationId xmlns:p14="http://schemas.microsoft.com/office/powerpoint/2010/main" val="4029307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01B0E-13C2-C7F4-57C5-5F4A2B3B7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BC329-4F36-A73F-82E7-1EB9CFF0DC9F}"/>
              </a:ext>
            </a:extLst>
          </p:cNvPr>
          <p:cNvSpPr>
            <a:spLocks noGrp="1"/>
          </p:cNvSpPr>
          <p:nvPr>
            <p:ph type="title"/>
          </p:nvPr>
        </p:nvSpPr>
        <p:spPr/>
        <p:txBody>
          <a:bodyPr/>
          <a:lstStyle/>
          <a:p>
            <a:r>
              <a:rPr lang="en-US" dirty="0"/>
              <a:t>Hadron identification: Data vs MC features</a:t>
            </a:r>
          </a:p>
        </p:txBody>
      </p:sp>
      <p:sp>
        <p:nvSpPr>
          <p:cNvPr id="3" name="Content Placeholder 2">
            <a:extLst>
              <a:ext uri="{FF2B5EF4-FFF2-40B4-BE49-F238E27FC236}">
                <a16:creationId xmlns:a16="http://schemas.microsoft.com/office/drawing/2014/main" id="{A21D8A7B-0311-56DF-3540-272AA5694DBC}"/>
              </a:ext>
            </a:extLst>
          </p:cNvPr>
          <p:cNvSpPr>
            <a:spLocks noGrp="1"/>
          </p:cNvSpPr>
          <p:nvPr>
            <p:ph idx="1"/>
          </p:nvPr>
        </p:nvSpPr>
        <p:spPr>
          <a:xfrm>
            <a:off x="609600" y="1249680"/>
            <a:ext cx="10972800" cy="886253"/>
          </a:xfrm>
        </p:spPr>
        <p:txBody>
          <a:bodyPr/>
          <a:lstStyle/>
          <a:p>
            <a:r>
              <a:rPr lang="en-US" dirty="0"/>
              <a:t>Before testing the AI on real data, we can compare the inputs features between MC and data for π</a:t>
            </a:r>
            <a:r>
              <a:rPr lang="en-US" baseline="30000" dirty="0"/>
              <a:t>-</a:t>
            </a:r>
            <a:r>
              <a:rPr lang="en-US" dirty="0"/>
              <a:t>:</a:t>
            </a:r>
          </a:p>
        </p:txBody>
      </p:sp>
      <p:sp>
        <p:nvSpPr>
          <p:cNvPr id="4" name="Date Placeholder 3">
            <a:extLst>
              <a:ext uri="{FF2B5EF4-FFF2-40B4-BE49-F238E27FC236}">
                <a16:creationId xmlns:a16="http://schemas.microsoft.com/office/drawing/2014/main" id="{D76990ED-FFDC-917F-5F42-70DCC7B7CFE6}"/>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CE3A5D6D-1154-0A2A-191B-232F0E397495}"/>
              </a:ext>
            </a:extLst>
          </p:cNvPr>
          <p:cNvSpPr>
            <a:spLocks noGrp="1"/>
          </p:cNvSpPr>
          <p:nvPr>
            <p:ph type="ftr" sz="quarter" idx="11"/>
          </p:nvPr>
        </p:nvSpPr>
        <p:spPr/>
        <p:txBody>
          <a:bodyPr/>
          <a:lstStyle/>
          <a:p>
            <a:r>
              <a:rPr lang="en-US"/>
              <a:t>AI Software meeting</a:t>
            </a:r>
            <a:endParaRPr lang="en-US" dirty="0"/>
          </a:p>
        </p:txBody>
      </p:sp>
      <p:sp>
        <p:nvSpPr>
          <p:cNvPr id="6" name="Slide Number Placeholder 5">
            <a:extLst>
              <a:ext uri="{FF2B5EF4-FFF2-40B4-BE49-F238E27FC236}">
                <a16:creationId xmlns:a16="http://schemas.microsoft.com/office/drawing/2014/main" id="{16822371-02D8-E3D1-F808-80A1AB787A0B}"/>
              </a:ext>
            </a:extLst>
          </p:cNvPr>
          <p:cNvSpPr>
            <a:spLocks noGrp="1"/>
          </p:cNvSpPr>
          <p:nvPr>
            <p:ph type="sldNum" sz="quarter" idx="12"/>
          </p:nvPr>
        </p:nvSpPr>
        <p:spPr/>
        <p:txBody>
          <a:bodyPr/>
          <a:lstStyle/>
          <a:p>
            <a:fld id="{C5EF2332-01BF-834F-8236-50238282D533}" type="slidenum">
              <a:rPr lang="en-US" smtClean="0"/>
              <a:t>8</a:t>
            </a:fld>
            <a:endParaRPr lang="en-US" dirty="0"/>
          </a:p>
        </p:txBody>
      </p:sp>
      <p:sp>
        <p:nvSpPr>
          <p:cNvPr id="10" name="Content Placeholder 2">
            <a:extLst>
              <a:ext uri="{FF2B5EF4-FFF2-40B4-BE49-F238E27FC236}">
                <a16:creationId xmlns:a16="http://schemas.microsoft.com/office/drawing/2014/main" id="{79717FCC-D1FD-2C43-E5EC-99FCDFE268E0}"/>
              </a:ext>
            </a:extLst>
          </p:cNvPr>
          <p:cNvSpPr txBox="1">
            <a:spLocks/>
          </p:cNvSpPr>
          <p:nvPr/>
        </p:nvSpPr>
        <p:spPr>
          <a:xfrm>
            <a:off x="5959098" y="4486090"/>
            <a:ext cx="6028841" cy="16977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rgbClr val="243643"/>
                </a:solidFill>
                <a:latin typeface="Fira Sans Light" panose="020B0403050000020004" pitchFamily="34" charset="0"/>
                <a:ea typeface="Fira Sans Light" panose="020B04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Light" panose="020B0403050000020004" pitchFamily="34" charset="0"/>
                <a:ea typeface="Fira Sans Light" panose="020B04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Light" panose="020B0403050000020004" pitchFamily="34" charset="0"/>
                <a:ea typeface="Fira Sans Light" panose="020B04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I have a ~30ns shift for the timing in all detector between MC and Data.</a:t>
            </a:r>
          </a:p>
          <a:p>
            <a:pPr marL="0" indent="0">
              <a:buNone/>
            </a:pPr>
            <a:r>
              <a:rPr lang="en-US" dirty="0"/>
              <a:t>I should use the time – start time not the raw time.</a:t>
            </a:r>
          </a:p>
        </p:txBody>
      </p:sp>
      <p:pic>
        <p:nvPicPr>
          <p:cNvPr id="7" name="Picture 6">
            <a:extLst>
              <a:ext uri="{FF2B5EF4-FFF2-40B4-BE49-F238E27FC236}">
                <a16:creationId xmlns:a16="http://schemas.microsoft.com/office/drawing/2014/main" id="{98E16DB0-71E3-6123-E82B-222160CD32BC}"/>
              </a:ext>
            </a:extLst>
          </p:cNvPr>
          <p:cNvPicPr>
            <a:picLocks noChangeAspect="1"/>
          </p:cNvPicPr>
          <p:nvPr/>
        </p:nvPicPr>
        <p:blipFill>
          <a:blip r:embed="rId2"/>
          <a:srcRect r="34221"/>
          <a:stretch>
            <a:fillRect/>
          </a:stretch>
        </p:blipFill>
        <p:spPr>
          <a:xfrm>
            <a:off x="133026" y="1975300"/>
            <a:ext cx="5353374" cy="2410473"/>
          </a:xfrm>
          <a:prstGeom prst="rect">
            <a:avLst/>
          </a:prstGeom>
        </p:spPr>
      </p:pic>
      <p:pic>
        <p:nvPicPr>
          <p:cNvPr id="8" name="Picture 7">
            <a:extLst>
              <a:ext uri="{FF2B5EF4-FFF2-40B4-BE49-F238E27FC236}">
                <a16:creationId xmlns:a16="http://schemas.microsoft.com/office/drawing/2014/main" id="{E05660F6-53BD-28EA-29E6-9C8C8A987958}"/>
              </a:ext>
            </a:extLst>
          </p:cNvPr>
          <p:cNvPicPr>
            <a:picLocks noChangeAspect="1"/>
          </p:cNvPicPr>
          <p:nvPr/>
        </p:nvPicPr>
        <p:blipFill>
          <a:blip r:embed="rId3"/>
          <a:stretch>
            <a:fillRect/>
          </a:stretch>
        </p:blipFill>
        <p:spPr>
          <a:xfrm>
            <a:off x="133026" y="4349768"/>
            <a:ext cx="2654989" cy="2508231"/>
          </a:xfrm>
          <a:prstGeom prst="rect">
            <a:avLst/>
          </a:prstGeom>
        </p:spPr>
      </p:pic>
      <p:pic>
        <p:nvPicPr>
          <p:cNvPr id="13" name="Picture 12">
            <a:extLst>
              <a:ext uri="{FF2B5EF4-FFF2-40B4-BE49-F238E27FC236}">
                <a16:creationId xmlns:a16="http://schemas.microsoft.com/office/drawing/2014/main" id="{417B1E7C-0B33-4944-3B20-87A01C0D06F6}"/>
              </a:ext>
            </a:extLst>
          </p:cNvPr>
          <p:cNvPicPr>
            <a:picLocks noChangeAspect="1"/>
          </p:cNvPicPr>
          <p:nvPr/>
        </p:nvPicPr>
        <p:blipFill>
          <a:blip r:embed="rId4"/>
          <a:stretch>
            <a:fillRect/>
          </a:stretch>
        </p:blipFill>
        <p:spPr>
          <a:xfrm>
            <a:off x="2788015" y="4313562"/>
            <a:ext cx="2603652" cy="2508230"/>
          </a:xfrm>
          <a:prstGeom prst="rect">
            <a:avLst/>
          </a:prstGeom>
        </p:spPr>
      </p:pic>
      <p:pic>
        <p:nvPicPr>
          <p:cNvPr id="14" name="Picture 13">
            <a:extLst>
              <a:ext uri="{FF2B5EF4-FFF2-40B4-BE49-F238E27FC236}">
                <a16:creationId xmlns:a16="http://schemas.microsoft.com/office/drawing/2014/main" id="{3C4766AB-265D-92A1-0CD7-DBA9BB4DECF3}"/>
              </a:ext>
            </a:extLst>
          </p:cNvPr>
          <p:cNvPicPr>
            <a:picLocks noChangeAspect="1"/>
          </p:cNvPicPr>
          <p:nvPr/>
        </p:nvPicPr>
        <p:blipFill>
          <a:blip r:embed="rId5"/>
          <a:stretch>
            <a:fillRect/>
          </a:stretch>
        </p:blipFill>
        <p:spPr>
          <a:xfrm>
            <a:off x="8384236" y="1992848"/>
            <a:ext cx="2542233" cy="2359776"/>
          </a:xfrm>
          <a:prstGeom prst="rect">
            <a:avLst/>
          </a:prstGeom>
        </p:spPr>
      </p:pic>
      <p:pic>
        <p:nvPicPr>
          <p:cNvPr id="15" name="Picture 14">
            <a:extLst>
              <a:ext uri="{FF2B5EF4-FFF2-40B4-BE49-F238E27FC236}">
                <a16:creationId xmlns:a16="http://schemas.microsoft.com/office/drawing/2014/main" id="{DA8A2A67-1733-A025-F212-A92F00A8CAB0}"/>
              </a:ext>
            </a:extLst>
          </p:cNvPr>
          <p:cNvPicPr>
            <a:picLocks noChangeAspect="1"/>
          </p:cNvPicPr>
          <p:nvPr/>
        </p:nvPicPr>
        <p:blipFill>
          <a:blip r:embed="rId6"/>
          <a:stretch>
            <a:fillRect/>
          </a:stretch>
        </p:blipFill>
        <p:spPr>
          <a:xfrm>
            <a:off x="5703132" y="1989990"/>
            <a:ext cx="2521235" cy="2359777"/>
          </a:xfrm>
          <a:prstGeom prst="rect">
            <a:avLst/>
          </a:prstGeom>
        </p:spPr>
      </p:pic>
    </p:spTree>
    <p:extLst>
      <p:ext uri="{BB962C8B-B14F-4D97-AF65-F5344CB8AC3E}">
        <p14:creationId xmlns:p14="http://schemas.microsoft.com/office/powerpoint/2010/main" val="4021443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10046-7D5C-7863-716F-A2CA2E1FD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D982B-E305-30E0-1B7F-4B9DDFEDAA96}"/>
              </a:ext>
            </a:extLst>
          </p:cNvPr>
          <p:cNvSpPr>
            <a:spLocks noGrp="1"/>
          </p:cNvSpPr>
          <p:nvPr>
            <p:ph type="title"/>
          </p:nvPr>
        </p:nvSpPr>
        <p:spPr/>
        <p:txBody>
          <a:bodyPr/>
          <a:lstStyle/>
          <a:p>
            <a:r>
              <a:rPr lang="en-US" dirty="0"/>
              <a:t>Hadron identification: Data vs MC features</a:t>
            </a:r>
          </a:p>
        </p:txBody>
      </p:sp>
      <p:sp>
        <p:nvSpPr>
          <p:cNvPr id="3" name="Content Placeholder 2">
            <a:extLst>
              <a:ext uri="{FF2B5EF4-FFF2-40B4-BE49-F238E27FC236}">
                <a16:creationId xmlns:a16="http://schemas.microsoft.com/office/drawing/2014/main" id="{031FAB44-4A12-3851-7BC1-D1FF56732E93}"/>
              </a:ext>
            </a:extLst>
          </p:cNvPr>
          <p:cNvSpPr>
            <a:spLocks noGrp="1"/>
          </p:cNvSpPr>
          <p:nvPr>
            <p:ph idx="1"/>
          </p:nvPr>
        </p:nvSpPr>
        <p:spPr>
          <a:xfrm>
            <a:off x="609600" y="1249680"/>
            <a:ext cx="10972800" cy="886253"/>
          </a:xfrm>
        </p:spPr>
        <p:txBody>
          <a:bodyPr/>
          <a:lstStyle/>
          <a:p>
            <a:r>
              <a:rPr lang="en-US" dirty="0"/>
              <a:t>Due to the timing difference between the MC and Data, I can’t test the AI on real data, I need to retrain using the time - start time</a:t>
            </a:r>
          </a:p>
        </p:txBody>
      </p:sp>
      <p:sp>
        <p:nvSpPr>
          <p:cNvPr id="4" name="Date Placeholder 3">
            <a:extLst>
              <a:ext uri="{FF2B5EF4-FFF2-40B4-BE49-F238E27FC236}">
                <a16:creationId xmlns:a16="http://schemas.microsoft.com/office/drawing/2014/main" id="{6555CF20-1A08-DC72-1AD7-C358574DD8FB}"/>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128C317C-4729-A470-5CD6-E2A597DDF669}"/>
              </a:ext>
            </a:extLst>
          </p:cNvPr>
          <p:cNvSpPr>
            <a:spLocks noGrp="1"/>
          </p:cNvSpPr>
          <p:nvPr>
            <p:ph type="ftr" sz="quarter" idx="11"/>
          </p:nvPr>
        </p:nvSpPr>
        <p:spPr/>
        <p:txBody>
          <a:bodyPr/>
          <a:lstStyle/>
          <a:p>
            <a:r>
              <a:rPr lang="en-US"/>
              <a:t>AI Software meeting</a:t>
            </a:r>
            <a:endParaRPr lang="en-US" dirty="0"/>
          </a:p>
        </p:txBody>
      </p:sp>
      <p:sp>
        <p:nvSpPr>
          <p:cNvPr id="6" name="Slide Number Placeholder 5">
            <a:extLst>
              <a:ext uri="{FF2B5EF4-FFF2-40B4-BE49-F238E27FC236}">
                <a16:creationId xmlns:a16="http://schemas.microsoft.com/office/drawing/2014/main" id="{DD061D31-57C0-464D-FC57-909868329EC2}"/>
              </a:ext>
            </a:extLst>
          </p:cNvPr>
          <p:cNvSpPr>
            <a:spLocks noGrp="1"/>
          </p:cNvSpPr>
          <p:nvPr>
            <p:ph type="sldNum" sz="quarter" idx="12"/>
          </p:nvPr>
        </p:nvSpPr>
        <p:spPr/>
        <p:txBody>
          <a:bodyPr/>
          <a:lstStyle/>
          <a:p>
            <a:fld id="{C5EF2332-01BF-834F-8236-50238282D533}" type="slidenum">
              <a:rPr lang="en-US" smtClean="0"/>
              <a:t>9</a:t>
            </a:fld>
            <a:endParaRPr lang="en-US" dirty="0"/>
          </a:p>
        </p:txBody>
      </p:sp>
      <p:pic>
        <p:nvPicPr>
          <p:cNvPr id="8" name="Picture 7">
            <a:extLst>
              <a:ext uri="{FF2B5EF4-FFF2-40B4-BE49-F238E27FC236}">
                <a16:creationId xmlns:a16="http://schemas.microsoft.com/office/drawing/2014/main" id="{F7065301-69C4-8F80-3615-C120342EF350}"/>
              </a:ext>
            </a:extLst>
          </p:cNvPr>
          <p:cNvPicPr>
            <a:picLocks noChangeAspect="1"/>
          </p:cNvPicPr>
          <p:nvPr/>
        </p:nvPicPr>
        <p:blipFill>
          <a:blip r:embed="rId2"/>
          <a:stretch>
            <a:fillRect/>
          </a:stretch>
        </p:blipFill>
        <p:spPr>
          <a:xfrm>
            <a:off x="6834187" y="3179486"/>
            <a:ext cx="2570947" cy="2428835"/>
          </a:xfrm>
          <a:prstGeom prst="rect">
            <a:avLst/>
          </a:prstGeom>
        </p:spPr>
      </p:pic>
      <p:pic>
        <p:nvPicPr>
          <p:cNvPr id="13" name="Picture 12">
            <a:extLst>
              <a:ext uri="{FF2B5EF4-FFF2-40B4-BE49-F238E27FC236}">
                <a16:creationId xmlns:a16="http://schemas.microsoft.com/office/drawing/2014/main" id="{8A80B7F9-B402-B116-EFD3-B1DD2C720601}"/>
              </a:ext>
            </a:extLst>
          </p:cNvPr>
          <p:cNvPicPr>
            <a:picLocks noChangeAspect="1"/>
          </p:cNvPicPr>
          <p:nvPr/>
        </p:nvPicPr>
        <p:blipFill>
          <a:blip r:embed="rId3"/>
          <a:stretch>
            <a:fillRect/>
          </a:stretch>
        </p:blipFill>
        <p:spPr>
          <a:xfrm>
            <a:off x="9369042" y="3179486"/>
            <a:ext cx="2521235" cy="2428834"/>
          </a:xfrm>
          <a:prstGeom prst="rect">
            <a:avLst/>
          </a:prstGeom>
        </p:spPr>
      </p:pic>
      <p:pic>
        <p:nvPicPr>
          <p:cNvPr id="9" name="Picture 8">
            <a:extLst>
              <a:ext uri="{FF2B5EF4-FFF2-40B4-BE49-F238E27FC236}">
                <a16:creationId xmlns:a16="http://schemas.microsoft.com/office/drawing/2014/main" id="{10A5E50D-4484-10C0-E054-21C08C137614}"/>
              </a:ext>
            </a:extLst>
          </p:cNvPr>
          <p:cNvPicPr>
            <a:picLocks noChangeAspect="1"/>
          </p:cNvPicPr>
          <p:nvPr/>
        </p:nvPicPr>
        <p:blipFill>
          <a:blip r:embed="rId4"/>
          <a:stretch>
            <a:fillRect/>
          </a:stretch>
        </p:blipFill>
        <p:spPr>
          <a:xfrm>
            <a:off x="202046" y="2135933"/>
            <a:ext cx="6504708" cy="3973045"/>
          </a:xfrm>
          <a:prstGeom prst="rect">
            <a:avLst/>
          </a:prstGeom>
        </p:spPr>
      </p:pic>
    </p:spTree>
    <p:extLst>
      <p:ext uri="{BB962C8B-B14F-4D97-AF65-F5344CB8AC3E}">
        <p14:creationId xmlns:p14="http://schemas.microsoft.com/office/powerpoint/2010/main" val="683363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FF917-F938-57F6-7F04-A58257A0D917}"/>
              </a:ext>
            </a:extLst>
          </p:cNvPr>
          <p:cNvSpPr>
            <a:spLocks noGrp="1"/>
          </p:cNvSpPr>
          <p:nvPr>
            <p:ph type="title"/>
          </p:nvPr>
        </p:nvSpPr>
        <p:spPr/>
        <p:txBody>
          <a:bodyPr/>
          <a:lstStyle/>
          <a:p>
            <a:r>
              <a:rPr lang="en-US" dirty="0"/>
              <a:t>Hadron identification: Limitation</a:t>
            </a:r>
          </a:p>
        </p:txBody>
      </p:sp>
      <p:sp>
        <p:nvSpPr>
          <p:cNvPr id="3" name="Content Placeholder 2">
            <a:extLst>
              <a:ext uri="{FF2B5EF4-FFF2-40B4-BE49-F238E27FC236}">
                <a16:creationId xmlns:a16="http://schemas.microsoft.com/office/drawing/2014/main" id="{D7E07302-16D1-AC47-C12D-9E70EA80C6C9}"/>
              </a:ext>
            </a:extLst>
          </p:cNvPr>
          <p:cNvSpPr>
            <a:spLocks noGrp="1"/>
          </p:cNvSpPr>
          <p:nvPr>
            <p:ph idx="1"/>
          </p:nvPr>
        </p:nvSpPr>
        <p:spPr/>
        <p:txBody>
          <a:bodyPr/>
          <a:lstStyle/>
          <a:p>
            <a:r>
              <a:rPr lang="en-US" dirty="0"/>
              <a:t>The AI requires calorimeter variables as input, involving more detectors than conventional PID — this reduces the number of detected </a:t>
            </a:r>
            <a:r>
              <a:rPr lang="en-US" dirty="0" err="1"/>
              <a:t>pions</a:t>
            </a:r>
            <a:r>
              <a:rPr lang="en-US" dirty="0"/>
              <a:t>.</a:t>
            </a:r>
          </a:p>
          <a:p>
            <a:r>
              <a:rPr lang="en-US" dirty="0"/>
              <a:t>Solution: Allow the AI to handle </a:t>
            </a:r>
            <a:r>
              <a:rPr lang="en-US" dirty="0" err="1"/>
              <a:t>NaN</a:t>
            </a:r>
            <a:r>
              <a:rPr lang="en-US" dirty="0"/>
              <a:t> values, so calorimeter information is no longer strictly required. This is already implemented, but there is room for further improvement.</a:t>
            </a:r>
          </a:p>
          <a:p>
            <a:endParaRPr lang="en-US" b="1" dirty="0"/>
          </a:p>
          <a:p>
            <a:r>
              <a:rPr lang="en-US" dirty="0"/>
              <a:t>Improvements in purity may have a limited impact, since </a:t>
            </a:r>
            <a:r>
              <a:rPr lang="el-GR" dirty="0"/>
              <a:t>Δ</a:t>
            </a:r>
            <a:r>
              <a:rPr lang="en-US" dirty="0"/>
              <a:t>t or </a:t>
            </a:r>
            <a:r>
              <a:rPr lang="el-GR" dirty="0"/>
              <a:t>χ²</a:t>
            </a:r>
            <a:r>
              <a:rPr lang="en-US" dirty="0"/>
              <a:t>PID cuts are often applied in analyses. Gains in efficiency are therefore more valuable.</a:t>
            </a:r>
          </a:p>
        </p:txBody>
      </p:sp>
      <p:sp>
        <p:nvSpPr>
          <p:cNvPr id="4" name="Date Placeholder 3">
            <a:extLst>
              <a:ext uri="{FF2B5EF4-FFF2-40B4-BE49-F238E27FC236}">
                <a16:creationId xmlns:a16="http://schemas.microsoft.com/office/drawing/2014/main" id="{C8654C94-4C3E-7748-3797-4717B84DA0F1}"/>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6E4A0CC0-6E13-C32D-62DB-7572E6C6FEB0}"/>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57EA303D-90DC-EF21-3FEC-1C850068EF95}"/>
              </a:ext>
            </a:extLst>
          </p:cNvPr>
          <p:cNvSpPr>
            <a:spLocks noGrp="1"/>
          </p:cNvSpPr>
          <p:nvPr>
            <p:ph type="sldNum" sz="quarter" idx="12"/>
          </p:nvPr>
        </p:nvSpPr>
        <p:spPr/>
        <p:txBody>
          <a:bodyPr/>
          <a:lstStyle/>
          <a:p>
            <a:fld id="{C5EF2332-01BF-834F-8236-50238282D533}" type="slidenum">
              <a:rPr lang="en-US" smtClean="0"/>
              <a:t>10</a:t>
            </a:fld>
            <a:endParaRPr lang="en-US"/>
          </a:p>
        </p:txBody>
      </p:sp>
    </p:spTree>
    <p:extLst>
      <p:ext uri="{BB962C8B-B14F-4D97-AF65-F5344CB8AC3E}">
        <p14:creationId xmlns:p14="http://schemas.microsoft.com/office/powerpoint/2010/main" val="1370713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93C9-7040-13A8-60F4-C654EA529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2BC12-87B5-6BFA-815A-71FB20CA4079}"/>
              </a:ext>
            </a:extLst>
          </p:cNvPr>
          <p:cNvSpPr>
            <a:spLocks noGrp="1"/>
          </p:cNvSpPr>
          <p:nvPr>
            <p:ph type="title"/>
          </p:nvPr>
        </p:nvSpPr>
        <p:spPr/>
        <p:txBody>
          <a:bodyPr/>
          <a:lstStyle/>
          <a:p>
            <a:r>
              <a:rPr lang="en-US" dirty="0"/>
              <a:t>Hadron identification: Limitation</a:t>
            </a:r>
          </a:p>
        </p:txBody>
      </p:sp>
      <p:sp>
        <p:nvSpPr>
          <p:cNvPr id="3" name="Content Placeholder 2">
            <a:extLst>
              <a:ext uri="{FF2B5EF4-FFF2-40B4-BE49-F238E27FC236}">
                <a16:creationId xmlns:a16="http://schemas.microsoft.com/office/drawing/2014/main" id="{B5FBC27B-5256-FBB7-D33E-E773807379B8}"/>
              </a:ext>
            </a:extLst>
          </p:cNvPr>
          <p:cNvSpPr>
            <a:spLocks noGrp="1"/>
          </p:cNvSpPr>
          <p:nvPr>
            <p:ph idx="1"/>
          </p:nvPr>
        </p:nvSpPr>
        <p:spPr>
          <a:xfrm>
            <a:off x="609600" y="1249680"/>
            <a:ext cx="10972800" cy="781248"/>
          </a:xfrm>
        </p:spPr>
        <p:txBody>
          <a:bodyPr>
            <a:normAutofit lnSpcReduction="10000"/>
          </a:bodyPr>
          <a:lstStyle/>
          <a:p>
            <a:r>
              <a:rPr lang="en-US" dirty="0"/>
              <a:t>Improvements in purity may be of limited impact, as </a:t>
            </a:r>
            <a:r>
              <a:rPr lang="el-GR" dirty="0"/>
              <a:t>Δ</a:t>
            </a:r>
            <a:r>
              <a:rPr lang="en-US" dirty="0"/>
              <a:t>t or </a:t>
            </a:r>
            <a:r>
              <a:rPr lang="el-GR" dirty="0"/>
              <a:t>χ²</a:t>
            </a:r>
            <a:r>
              <a:rPr lang="en-US" dirty="0"/>
              <a:t>PID cuts are already applied in analyses. Gains in efficiency are therefore more valuable.</a:t>
            </a:r>
          </a:p>
        </p:txBody>
      </p:sp>
      <p:sp>
        <p:nvSpPr>
          <p:cNvPr id="4" name="Date Placeholder 3">
            <a:extLst>
              <a:ext uri="{FF2B5EF4-FFF2-40B4-BE49-F238E27FC236}">
                <a16:creationId xmlns:a16="http://schemas.microsoft.com/office/drawing/2014/main" id="{317E025E-305E-073C-E2E6-48A8012F6BA0}"/>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77A1CC84-239D-968F-8274-90CC7C47633E}"/>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B55076C4-C6AA-6EAD-2082-CCD2808D1C6C}"/>
              </a:ext>
            </a:extLst>
          </p:cNvPr>
          <p:cNvSpPr>
            <a:spLocks noGrp="1"/>
          </p:cNvSpPr>
          <p:nvPr>
            <p:ph type="sldNum" sz="quarter" idx="12"/>
          </p:nvPr>
        </p:nvSpPr>
        <p:spPr/>
        <p:txBody>
          <a:bodyPr/>
          <a:lstStyle/>
          <a:p>
            <a:fld id="{C5EF2332-01BF-834F-8236-50238282D533}" type="slidenum">
              <a:rPr lang="en-US" smtClean="0"/>
              <a:t>11</a:t>
            </a:fld>
            <a:endParaRPr lang="en-US"/>
          </a:p>
        </p:txBody>
      </p:sp>
      <p:pic>
        <p:nvPicPr>
          <p:cNvPr id="8" name="Picture 7">
            <a:extLst>
              <a:ext uri="{FF2B5EF4-FFF2-40B4-BE49-F238E27FC236}">
                <a16:creationId xmlns:a16="http://schemas.microsoft.com/office/drawing/2014/main" id="{D7DBEA66-AEA5-BDE6-E25B-B50EA56CA1FC}"/>
              </a:ext>
            </a:extLst>
          </p:cNvPr>
          <p:cNvPicPr>
            <a:picLocks noChangeAspect="1"/>
          </p:cNvPicPr>
          <p:nvPr/>
        </p:nvPicPr>
        <p:blipFill>
          <a:blip r:embed="rId2"/>
          <a:stretch>
            <a:fillRect/>
          </a:stretch>
        </p:blipFill>
        <p:spPr>
          <a:xfrm>
            <a:off x="175445" y="1914690"/>
            <a:ext cx="6484386" cy="4325423"/>
          </a:xfrm>
          <a:prstGeom prst="rect">
            <a:avLst/>
          </a:prstGeom>
        </p:spPr>
      </p:pic>
      <p:pic>
        <p:nvPicPr>
          <p:cNvPr id="10" name="Picture 9">
            <a:extLst>
              <a:ext uri="{FF2B5EF4-FFF2-40B4-BE49-F238E27FC236}">
                <a16:creationId xmlns:a16="http://schemas.microsoft.com/office/drawing/2014/main" id="{5F6B9602-A51B-D6B4-B7A7-C3DE97D932AE}"/>
              </a:ext>
            </a:extLst>
          </p:cNvPr>
          <p:cNvPicPr>
            <a:picLocks noChangeAspect="1"/>
          </p:cNvPicPr>
          <p:nvPr/>
        </p:nvPicPr>
        <p:blipFill>
          <a:blip r:embed="rId3"/>
          <a:stretch>
            <a:fillRect/>
          </a:stretch>
        </p:blipFill>
        <p:spPr>
          <a:xfrm>
            <a:off x="6773028" y="1914690"/>
            <a:ext cx="5243527" cy="3180500"/>
          </a:xfrm>
          <a:prstGeom prst="rect">
            <a:avLst/>
          </a:prstGeom>
        </p:spPr>
      </p:pic>
      <p:sp>
        <p:nvSpPr>
          <p:cNvPr id="11" name="Content Placeholder 2">
            <a:extLst>
              <a:ext uri="{FF2B5EF4-FFF2-40B4-BE49-F238E27FC236}">
                <a16:creationId xmlns:a16="http://schemas.microsoft.com/office/drawing/2014/main" id="{FB1EF2E2-9BAA-FA8E-F9D7-3BD14F72EB83}"/>
              </a:ext>
            </a:extLst>
          </p:cNvPr>
          <p:cNvSpPr txBox="1">
            <a:spLocks/>
          </p:cNvSpPr>
          <p:nvPr/>
        </p:nvSpPr>
        <p:spPr>
          <a:xfrm>
            <a:off x="6679633" y="5095190"/>
            <a:ext cx="5336921" cy="16796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rgbClr val="243643"/>
                </a:solidFill>
                <a:latin typeface="Fira Sans Light" panose="020B0403050000020004" pitchFamily="34" charset="0"/>
                <a:ea typeface="Fira Sans Light" panose="020B04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Light" panose="020B0403050000020004" pitchFamily="34" charset="0"/>
                <a:ea typeface="Fira Sans Light" panose="020B04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Light" panose="020B0403050000020004" pitchFamily="34" charset="0"/>
                <a:ea typeface="Fira Sans Light" panose="020B04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The impact of the purity improvement need to be study</a:t>
            </a:r>
          </a:p>
        </p:txBody>
      </p:sp>
    </p:spTree>
    <p:extLst>
      <p:ext uri="{BB962C8B-B14F-4D97-AF65-F5344CB8AC3E}">
        <p14:creationId xmlns:p14="http://schemas.microsoft.com/office/powerpoint/2010/main" val="312358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A2AF-993F-1DD3-8ACE-6C2AB4470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D6962-52C4-8F6B-3D78-C48F1B200041}"/>
              </a:ext>
            </a:extLst>
          </p:cNvPr>
          <p:cNvSpPr>
            <a:spLocks noGrp="1"/>
          </p:cNvSpPr>
          <p:nvPr>
            <p:ph type="title"/>
          </p:nvPr>
        </p:nvSpPr>
        <p:spPr/>
        <p:txBody>
          <a:bodyPr/>
          <a:lstStyle/>
          <a:p>
            <a:r>
              <a:rPr lang="en-US" dirty="0"/>
              <a:t>Hadron identification: Limitation</a:t>
            </a:r>
          </a:p>
        </p:txBody>
      </p:sp>
      <p:sp>
        <p:nvSpPr>
          <p:cNvPr id="3" name="Content Placeholder 2">
            <a:extLst>
              <a:ext uri="{FF2B5EF4-FFF2-40B4-BE49-F238E27FC236}">
                <a16:creationId xmlns:a16="http://schemas.microsoft.com/office/drawing/2014/main" id="{04D2631E-81AA-3153-855F-6D21D91855F9}"/>
              </a:ext>
            </a:extLst>
          </p:cNvPr>
          <p:cNvSpPr>
            <a:spLocks noGrp="1"/>
          </p:cNvSpPr>
          <p:nvPr>
            <p:ph idx="1"/>
          </p:nvPr>
        </p:nvSpPr>
        <p:spPr>
          <a:xfrm>
            <a:off x="609600" y="1249680"/>
            <a:ext cx="10972800" cy="781248"/>
          </a:xfrm>
        </p:spPr>
        <p:txBody>
          <a:bodyPr>
            <a:normAutofit lnSpcReduction="10000"/>
          </a:bodyPr>
          <a:lstStyle/>
          <a:p>
            <a:r>
              <a:rPr lang="en-US" dirty="0"/>
              <a:t>Improvements in purity may be of limited impact, as </a:t>
            </a:r>
            <a:r>
              <a:rPr lang="el-GR" dirty="0"/>
              <a:t>Δ</a:t>
            </a:r>
            <a:r>
              <a:rPr lang="en-US" dirty="0"/>
              <a:t>t or </a:t>
            </a:r>
            <a:r>
              <a:rPr lang="el-GR" dirty="0"/>
              <a:t>χ²</a:t>
            </a:r>
            <a:r>
              <a:rPr lang="en-US" dirty="0"/>
              <a:t>PID cuts are already applied in analyses. Gains in efficiency are therefore more valuable.</a:t>
            </a:r>
          </a:p>
        </p:txBody>
      </p:sp>
      <p:sp>
        <p:nvSpPr>
          <p:cNvPr id="4" name="Date Placeholder 3">
            <a:extLst>
              <a:ext uri="{FF2B5EF4-FFF2-40B4-BE49-F238E27FC236}">
                <a16:creationId xmlns:a16="http://schemas.microsoft.com/office/drawing/2014/main" id="{6292B1ED-CCB6-E7DA-C374-FE5744706CA7}"/>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48DDD665-EAE2-3FC6-FC2D-75D14DDAEA69}"/>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F1CF93A4-87F0-844C-8065-8832A46B2D92}"/>
              </a:ext>
            </a:extLst>
          </p:cNvPr>
          <p:cNvSpPr>
            <a:spLocks noGrp="1"/>
          </p:cNvSpPr>
          <p:nvPr>
            <p:ph type="sldNum" sz="quarter" idx="12"/>
          </p:nvPr>
        </p:nvSpPr>
        <p:spPr/>
        <p:txBody>
          <a:bodyPr/>
          <a:lstStyle/>
          <a:p>
            <a:fld id="{C5EF2332-01BF-834F-8236-50238282D533}" type="slidenum">
              <a:rPr lang="en-US" smtClean="0"/>
              <a:t>12</a:t>
            </a:fld>
            <a:endParaRPr lang="en-US"/>
          </a:p>
        </p:txBody>
      </p:sp>
      <p:sp>
        <p:nvSpPr>
          <p:cNvPr id="11" name="Content Placeholder 2">
            <a:extLst>
              <a:ext uri="{FF2B5EF4-FFF2-40B4-BE49-F238E27FC236}">
                <a16:creationId xmlns:a16="http://schemas.microsoft.com/office/drawing/2014/main" id="{1A040E34-9B98-F2EE-E301-DDB3240E1B20}"/>
              </a:ext>
            </a:extLst>
          </p:cNvPr>
          <p:cNvSpPr txBox="1">
            <a:spLocks/>
          </p:cNvSpPr>
          <p:nvPr/>
        </p:nvSpPr>
        <p:spPr>
          <a:xfrm>
            <a:off x="6679633" y="5095190"/>
            <a:ext cx="5336921" cy="16796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rgbClr val="243643"/>
                </a:solidFill>
                <a:latin typeface="Fira Sans Light" panose="020B0403050000020004" pitchFamily="34" charset="0"/>
                <a:ea typeface="Fira Sans Light" panose="020B0403050000020004" pitchFamily="34" charset="0"/>
                <a:cs typeface="+mn-cs"/>
              </a:defRPr>
            </a:lvl1pPr>
            <a:lvl2pPr marL="742950" indent="-285750" algn="l" defTabSz="457200" rtl="0" eaLnBrk="1" latinLnBrk="0" hangingPunct="1">
              <a:spcBef>
                <a:spcPct val="20000"/>
              </a:spcBef>
              <a:buFont typeface="Arial"/>
              <a:buChar char="–"/>
              <a:defRPr sz="2000" kern="1200">
                <a:solidFill>
                  <a:srgbClr val="243643"/>
                </a:solidFill>
                <a:latin typeface="Fira Sans Light" panose="020B0403050000020004" pitchFamily="34" charset="0"/>
                <a:ea typeface="Fira Sans Light" panose="020B0403050000020004" pitchFamily="34" charset="0"/>
                <a:cs typeface="+mn-cs"/>
              </a:defRPr>
            </a:lvl2pPr>
            <a:lvl3pPr marL="1143000" indent="-228600" algn="l" defTabSz="457200" rtl="0" eaLnBrk="1" latinLnBrk="0" hangingPunct="1">
              <a:spcBef>
                <a:spcPct val="20000"/>
              </a:spcBef>
              <a:buFont typeface="Arial"/>
              <a:buChar char="•"/>
              <a:defRPr sz="1800" kern="1200">
                <a:solidFill>
                  <a:srgbClr val="243643"/>
                </a:solidFill>
                <a:latin typeface="Fira Sans Light" panose="020B0403050000020004" pitchFamily="34" charset="0"/>
                <a:ea typeface="Fira Sans Light" panose="020B0403050000020004" pitchFamily="34" charset="0"/>
                <a:cs typeface="+mn-cs"/>
              </a:defRPr>
            </a:lvl3pPr>
            <a:lvl4pPr marL="16002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4pPr>
            <a:lvl5pPr marL="2057400" indent="-228600" algn="l" defTabSz="457200" rtl="0" eaLnBrk="1" latinLnBrk="0" hangingPunct="1">
              <a:spcBef>
                <a:spcPct val="20000"/>
              </a:spcBef>
              <a:buFont typeface="Arial"/>
              <a:buChar char="»"/>
              <a:defRPr sz="1600" kern="1200">
                <a:solidFill>
                  <a:srgbClr val="243643"/>
                </a:solidFill>
                <a:latin typeface="Fira Sans Light" panose="020B0403050000020004" pitchFamily="34" charset="0"/>
                <a:ea typeface="Fira Sans Light" panose="020B04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The impact of </a:t>
            </a:r>
            <a:r>
              <a:rPr lang="el-GR" dirty="0"/>
              <a:t>Δ</a:t>
            </a:r>
            <a:r>
              <a:rPr lang="en-US" dirty="0"/>
              <a:t>t on the purity need to be study</a:t>
            </a:r>
          </a:p>
        </p:txBody>
      </p:sp>
      <p:pic>
        <p:nvPicPr>
          <p:cNvPr id="9" name="Picture 8">
            <a:extLst>
              <a:ext uri="{FF2B5EF4-FFF2-40B4-BE49-F238E27FC236}">
                <a16:creationId xmlns:a16="http://schemas.microsoft.com/office/drawing/2014/main" id="{C4F78BED-A8DB-5734-CB77-55EE1677C02E}"/>
              </a:ext>
            </a:extLst>
          </p:cNvPr>
          <p:cNvPicPr>
            <a:picLocks noChangeAspect="1"/>
          </p:cNvPicPr>
          <p:nvPr/>
        </p:nvPicPr>
        <p:blipFill>
          <a:blip r:embed="rId2"/>
          <a:stretch>
            <a:fillRect/>
          </a:stretch>
        </p:blipFill>
        <p:spPr>
          <a:xfrm>
            <a:off x="61992" y="1914577"/>
            <a:ext cx="6186150" cy="4126484"/>
          </a:xfrm>
          <a:prstGeom prst="rect">
            <a:avLst/>
          </a:prstGeom>
        </p:spPr>
      </p:pic>
      <p:pic>
        <p:nvPicPr>
          <p:cNvPr id="13" name="Picture 12">
            <a:extLst>
              <a:ext uri="{FF2B5EF4-FFF2-40B4-BE49-F238E27FC236}">
                <a16:creationId xmlns:a16="http://schemas.microsoft.com/office/drawing/2014/main" id="{F1293766-6612-67BC-1C17-7E6521EB65DB}"/>
              </a:ext>
            </a:extLst>
          </p:cNvPr>
          <p:cNvPicPr>
            <a:picLocks noChangeAspect="1"/>
          </p:cNvPicPr>
          <p:nvPr/>
        </p:nvPicPr>
        <p:blipFill>
          <a:blip r:embed="rId3"/>
          <a:stretch>
            <a:fillRect/>
          </a:stretch>
        </p:blipFill>
        <p:spPr>
          <a:xfrm>
            <a:off x="6395721" y="2030927"/>
            <a:ext cx="5088523" cy="3086481"/>
          </a:xfrm>
          <a:prstGeom prst="rect">
            <a:avLst/>
          </a:prstGeom>
        </p:spPr>
      </p:pic>
    </p:spTree>
    <p:extLst>
      <p:ext uri="{BB962C8B-B14F-4D97-AF65-F5344CB8AC3E}">
        <p14:creationId xmlns:p14="http://schemas.microsoft.com/office/powerpoint/2010/main" val="1695379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22E92-18A8-1780-E3E1-3EB8E66833C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D61B171-5EDC-35A8-35CA-D0A10F93853A}"/>
              </a:ext>
            </a:extLst>
          </p:cNvPr>
          <p:cNvSpPr>
            <a:spLocks noGrp="1"/>
          </p:cNvSpPr>
          <p:nvPr>
            <p:ph idx="1"/>
          </p:nvPr>
        </p:nvSpPr>
        <p:spPr/>
        <p:txBody>
          <a:bodyPr>
            <a:normAutofit lnSpcReduction="10000"/>
          </a:bodyPr>
          <a:lstStyle/>
          <a:p>
            <a:r>
              <a:rPr lang="en-US" dirty="0"/>
              <a:t>Model: </a:t>
            </a:r>
            <a:r>
              <a:rPr lang="en-US" dirty="0" err="1"/>
              <a:t>CatBoost</a:t>
            </a:r>
            <a:r>
              <a:rPr lang="en-US" dirty="0"/>
              <a:t> selected as best architecture (vs. </a:t>
            </a:r>
            <a:r>
              <a:rPr lang="en-US" dirty="0" err="1"/>
              <a:t>XGBoost</a:t>
            </a:r>
            <a:r>
              <a:rPr lang="en-US" dirty="0"/>
              <a:t>, </a:t>
            </a:r>
            <a:r>
              <a:rPr lang="en-US" dirty="0" err="1"/>
              <a:t>LightGBM</a:t>
            </a:r>
            <a:r>
              <a:rPr lang="en-US" dirty="0"/>
              <a:t>, MLP): uses 96 features from REC banks</a:t>
            </a:r>
          </a:p>
          <a:p>
            <a:r>
              <a:rPr lang="en-US" dirty="0"/>
              <a:t>Performance: Improved π and K identification at high momentum, and low-momentum K, limited gain for protons</a:t>
            </a:r>
          </a:p>
          <a:p>
            <a:r>
              <a:rPr lang="en-US" dirty="0"/>
              <a:t>Data vs. MC: ~30 ns timing shift identified between data and simulation, retraining required using time − start time</a:t>
            </a:r>
          </a:p>
          <a:p>
            <a:r>
              <a:rPr lang="en-US" dirty="0"/>
              <a:t>Limitation: Calorimeter variables reduce pion count, </a:t>
            </a:r>
            <a:r>
              <a:rPr lang="en-US" dirty="0" err="1"/>
              <a:t>NaN</a:t>
            </a:r>
            <a:r>
              <a:rPr lang="en-US" dirty="0"/>
              <a:t> handling already implemented, further improvement ongoing</a:t>
            </a:r>
          </a:p>
          <a:p>
            <a:r>
              <a:rPr lang="en-US" dirty="0"/>
              <a:t>Priority: Efficiency gains are more valuable than purity, as </a:t>
            </a:r>
            <a:r>
              <a:rPr lang="en-US" dirty="0" err="1"/>
              <a:t>Δt</a:t>
            </a:r>
            <a:r>
              <a:rPr lang="en-US" dirty="0"/>
              <a:t> and χ²PID cuts are already applied in analyses</a:t>
            </a:r>
          </a:p>
          <a:p>
            <a:r>
              <a:rPr lang="en-US" dirty="0"/>
              <a:t>Next steps: Retrain with corrected timing, validate on real data (RICH + exclusive reactions), implement in Iguana</a:t>
            </a:r>
          </a:p>
          <a:p>
            <a:r>
              <a:rPr lang="en-US" dirty="0"/>
              <a:t>Available: Code available on </a:t>
            </a:r>
            <a:r>
              <a:rPr lang="en-US" dirty="0">
                <a:hlinkClick r:id="rId2"/>
              </a:rPr>
              <a:t>GitLab</a:t>
            </a:r>
            <a:endParaRPr lang="en-US" dirty="0"/>
          </a:p>
        </p:txBody>
      </p:sp>
      <p:sp>
        <p:nvSpPr>
          <p:cNvPr id="4" name="Date Placeholder 3">
            <a:extLst>
              <a:ext uri="{FF2B5EF4-FFF2-40B4-BE49-F238E27FC236}">
                <a16:creationId xmlns:a16="http://schemas.microsoft.com/office/drawing/2014/main" id="{E62E5729-40EF-FC47-CEE0-66D513F6C03D}"/>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CF0F58C9-F0BE-8DB7-988D-9496E473DC05}"/>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463661C3-B188-2892-BC8F-3DE533E454A5}"/>
              </a:ext>
            </a:extLst>
          </p:cNvPr>
          <p:cNvSpPr>
            <a:spLocks noGrp="1"/>
          </p:cNvSpPr>
          <p:nvPr>
            <p:ph type="sldNum" sz="quarter" idx="12"/>
          </p:nvPr>
        </p:nvSpPr>
        <p:spPr/>
        <p:txBody>
          <a:bodyPr/>
          <a:lstStyle/>
          <a:p>
            <a:fld id="{C5EF2332-01BF-834F-8236-50238282D533}" type="slidenum">
              <a:rPr lang="en-US" smtClean="0"/>
              <a:t>13</a:t>
            </a:fld>
            <a:endParaRPr lang="en-US"/>
          </a:p>
        </p:txBody>
      </p:sp>
    </p:spTree>
    <p:extLst>
      <p:ext uri="{BB962C8B-B14F-4D97-AF65-F5344CB8AC3E}">
        <p14:creationId xmlns:p14="http://schemas.microsoft.com/office/powerpoint/2010/main" val="3685733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F414-A0B1-033D-6538-DA1F008B3639}"/>
              </a:ext>
            </a:extLst>
          </p:cNvPr>
          <p:cNvSpPr>
            <a:spLocks noGrp="1"/>
          </p:cNvSpPr>
          <p:nvPr>
            <p:ph type="title"/>
          </p:nvPr>
        </p:nvSpPr>
        <p:spPr>
          <a:xfrm>
            <a:off x="1347787" y="2448732"/>
            <a:ext cx="9496425" cy="1565329"/>
          </a:xfrm>
        </p:spPr>
        <p:txBody>
          <a:bodyPr>
            <a:normAutofit/>
          </a:bodyPr>
          <a:lstStyle/>
          <a:p>
            <a:pPr algn="ctr"/>
            <a:r>
              <a:rPr lang="en-US" sz="5400" dirty="0"/>
              <a:t>Backup slides</a:t>
            </a:r>
          </a:p>
        </p:txBody>
      </p:sp>
      <p:sp>
        <p:nvSpPr>
          <p:cNvPr id="4" name="Date Placeholder 3">
            <a:extLst>
              <a:ext uri="{FF2B5EF4-FFF2-40B4-BE49-F238E27FC236}">
                <a16:creationId xmlns:a16="http://schemas.microsoft.com/office/drawing/2014/main" id="{82C7B54F-7FCB-0D65-6FA6-9DF534073A4F}"/>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F9269F7A-2687-6420-2D0B-AAD78273BB8D}"/>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57CE76BC-E17E-D3B4-9D27-AB5A742E8CCF}"/>
              </a:ext>
            </a:extLst>
          </p:cNvPr>
          <p:cNvSpPr>
            <a:spLocks noGrp="1"/>
          </p:cNvSpPr>
          <p:nvPr>
            <p:ph type="sldNum" sz="quarter" idx="12"/>
          </p:nvPr>
        </p:nvSpPr>
        <p:spPr/>
        <p:txBody>
          <a:bodyPr/>
          <a:lstStyle/>
          <a:p>
            <a:fld id="{C5EF2332-01BF-834F-8236-50238282D533}" type="slidenum">
              <a:rPr lang="en-US" smtClean="0"/>
              <a:t>14</a:t>
            </a:fld>
            <a:endParaRPr lang="en-US"/>
          </a:p>
        </p:txBody>
      </p:sp>
    </p:spTree>
    <p:extLst>
      <p:ext uri="{BB962C8B-B14F-4D97-AF65-F5344CB8AC3E}">
        <p14:creationId xmlns:p14="http://schemas.microsoft.com/office/powerpoint/2010/main" val="3886683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AE8DC-AABF-EEA5-3FB4-A60FD828B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6B70B-5CBD-FF4D-02AF-0FCD65C9C24C}"/>
              </a:ext>
            </a:extLst>
          </p:cNvPr>
          <p:cNvSpPr>
            <a:spLocks noGrp="1"/>
          </p:cNvSpPr>
          <p:nvPr>
            <p:ph type="title"/>
          </p:nvPr>
        </p:nvSpPr>
        <p:spPr/>
        <p:txBody>
          <a:bodyPr/>
          <a:lstStyle/>
          <a:p>
            <a:r>
              <a:rPr lang="en-US" dirty="0"/>
              <a:t>Hadron identification</a:t>
            </a:r>
          </a:p>
        </p:txBody>
      </p:sp>
      <p:sp>
        <p:nvSpPr>
          <p:cNvPr id="4" name="Date Placeholder 3">
            <a:extLst>
              <a:ext uri="{FF2B5EF4-FFF2-40B4-BE49-F238E27FC236}">
                <a16:creationId xmlns:a16="http://schemas.microsoft.com/office/drawing/2014/main" id="{15975AD2-5686-2072-4B2B-2394DF575CC5}"/>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592B371C-D212-F68C-D50F-B1036CE1B032}"/>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92E3DF15-23A8-26BE-2AAE-4D6556172CE1}"/>
              </a:ext>
            </a:extLst>
          </p:cNvPr>
          <p:cNvSpPr>
            <a:spLocks noGrp="1"/>
          </p:cNvSpPr>
          <p:nvPr>
            <p:ph type="sldNum" sz="quarter" idx="12"/>
          </p:nvPr>
        </p:nvSpPr>
        <p:spPr/>
        <p:txBody>
          <a:bodyPr/>
          <a:lstStyle/>
          <a:p>
            <a:fld id="{C5EF2332-01BF-834F-8236-50238282D533}" type="slidenum">
              <a:rPr lang="en-US" smtClean="0"/>
              <a:t>15</a:t>
            </a:fld>
            <a:endParaRPr lang="en-US"/>
          </a:p>
        </p:txBody>
      </p:sp>
      <p:sp>
        <p:nvSpPr>
          <p:cNvPr id="8" name="TextBox 7">
            <a:extLst>
              <a:ext uri="{FF2B5EF4-FFF2-40B4-BE49-F238E27FC236}">
                <a16:creationId xmlns:a16="http://schemas.microsoft.com/office/drawing/2014/main" id="{6BFB36BB-9C12-290C-0F27-EA772EB16DDF}"/>
              </a:ext>
            </a:extLst>
          </p:cNvPr>
          <p:cNvSpPr txBox="1"/>
          <p:nvPr/>
        </p:nvSpPr>
        <p:spPr>
          <a:xfrm>
            <a:off x="5643562" y="2971800"/>
            <a:ext cx="65" cy="276999"/>
          </a:xfrm>
          <a:prstGeom prst="rect">
            <a:avLst/>
          </a:prstGeom>
          <a:noFill/>
        </p:spPr>
        <p:txBody>
          <a:bodyPr wrap="none" lIns="0" tIns="0" rIns="0" bIns="0" rtlCol="0">
            <a:spAutoFit/>
          </a:bodyPr>
          <a:lstStyle/>
          <a:p>
            <a:endParaRPr lang="en-US" dirty="0"/>
          </a:p>
        </p:txBody>
      </p:sp>
      <p:pic>
        <p:nvPicPr>
          <p:cNvPr id="3" name="Picture 2">
            <a:extLst>
              <a:ext uri="{FF2B5EF4-FFF2-40B4-BE49-F238E27FC236}">
                <a16:creationId xmlns:a16="http://schemas.microsoft.com/office/drawing/2014/main" id="{BA7444C3-0C0E-BC6B-0D37-04C169ECB704}"/>
              </a:ext>
            </a:extLst>
          </p:cNvPr>
          <p:cNvPicPr>
            <a:picLocks noChangeAspect="1"/>
          </p:cNvPicPr>
          <p:nvPr/>
        </p:nvPicPr>
        <p:blipFill>
          <a:blip r:embed="rId2"/>
          <a:srcRect t="24691" b="50000"/>
          <a:stretch>
            <a:fillRect/>
          </a:stretch>
        </p:blipFill>
        <p:spPr>
          <a:xfrm>
            <a:off x="103110" y="1236131"/>
            <a:ext cx="11985779" cy="3810001"/>
          </a:xfrm>
          <a:prstGeom prst="rect">
            <a:avLst/>
          </a:prstGeom>
        </p:spPr>
      </p:pic>
    </p:spTree>
    <p:extLst>
      <p:ext uri="{BB962C8B-B14F-4D97-AF65-F5344CB8AC3E}">
        <p14:creationId xmlns:p14="http://schemas.microsoft.com/office/powerpoint/2010/main" val="3573825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58BAE-D3C4-A78E-446D-A0378D387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65545-804C-1853-D602-246E797DB0BB}"/>
              </a:ext>
            </a:extLst>
          </p:cNvPr>
          <p:cNvSpPr>
            <a:spLocks noGrp="1"/>
          </p:cNvSpPr>
          <p:nvPr>
            <p:ph type="title"/>
          </p:nvPr>
        </p:nvSpPr>
        <p:spPr/>
        <p:txBody>
          <a:bodyPr/>
          <a:lstStyle/>
          <a:p>
            <a:r>
              <a:rPr lang="en-US" dirty="0"/>
              <a:t>Hadron identification</a:t>
            </a:r>
          </a:p>
        </p:txBody>
      </p:sp>
      <p:sp>
        <p:nvSpPr>
          <p:cNvPr id="4" name="Date Placeholder 3">
            <a:extLst>
              <a:ext uri="{FF2B5EF4-FFF2-40B4-BE49-F238E27FC236}">
                <a16:creationId xmlns:a16="http://schemas.microsoft.com/office/drawing/2014/main" id="{2A596342-5D5B-E0D8-9D48-2400129BDB14}"/>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16AE127D-C6D7-13C9-3989-EA847B88873D}"/>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9C16FD64-490B-997E-83A3-434E7AB5368D}"/>
              </a:ext>
            </a:extLst>
          </p:cNvPr>
          <p:cNvSpPr>
            <a:spLocks noGrp="1"/>
          </p:cNvSpPr>
          <p:nvPr>
            <p:ph type="sldNum" sz="quarter" idx="12"/>
          </p:nvPr>
        </p:nvSpPr>
        <p:spPr/>
        <p:txBody>
          <a:bodyPr/>
          <a:lstStyle/>
          <a:p>
            <a:fld id="{C5EF2332-01BF-834F-8236-50238282D533}" type="slidenum">
              <a:rPr lang="en-US" smtClean="0"/>
              <a:t>16</a:t>
            </a:fld>
            <a:endParaRPr lang="en-US"/>
          </a:p>
        </p:txBody>
      </p:sp>
      <p:sp>
        <p:nvSpPr>
          <p:cNvPr id="8" name="TextBox 7">
            <a:extLst>
              <a:ext uri="{FF2B5EF4-FFF2-40B4-BE49-F238E27FC236}">
                <a16:creationId xmlns:a16="http://schemas.microsoft.com/office/drawing/2014/main" id="{A8E8529A-C13E-C613-4A23-A443C3E04C45}"/>
              </a:ext>
            </a:extLst>
          </p:cNvPr>
          <p:cNvSpPr txBox="1"/>
          <p:nvPr/>
        </p:nvSpPr>
        <p:spPr>
          <a:xfrm>
            <a:off x="5643562" y="2971800"/>
            <a:ext cx="65" cy="276999"/>
          </a:xfrm>
          <a:prstGeom prst="rect">
            <a:avLst/>
          </a:prstGeom>
          <a:noFill/>
        </p:spPr>
        <p:txBody>
          <a:bodyPr wrap="none" lIns="0" tIns="0" rIns="0" bIns="0" rtlCol="0">
            <a:spAutoFit/>
          </a:bodyPr>
          <a:lstStyle/>
          <a:p>
            <a:endParaRPr lang="en-US" dirty="0"/>
          </a:p>
        </p:txBody>
      </p:sp>
      <p:pic>
        <p:nvPicPr>
          <p:cNvPr id="3" name="Picture 2">
            <a:extLst>
              <a:ext uri="{FF2B5EF4-FFF2-40B4-BE49-F238E27FC236}">
                <a16:creationId xmlns:a16="http://schemas.microsoft.com/office/drawing/2014/main" id="{886EA0C6-7BA7-5192-4821-01FFA8D8466C}"/>
              </a:ext>
            </a:extLst>
          </p:cNvPr>
          <p:cNvPicPr>
            <a:picLocks noChangeAspect="1"/>
          </p:cNvPicPr>
          <p:nvPr/>
        </p:nvPicPr>
        <p:blipFill>
          <a:blip r:embed="rId2"/>
          <a:srcRect t="50000" b="25103"/>
          <a:stretch>
            <a:fillRect/>
          </a:stretch>
        </p:blipFill>
        <p:spPr>
          <a:xfrm>
            <a:off x="183371" y="1541355"/>
            <a:ext cx="11857647" cy="3707978"/>
          </a:xfrm>
          <a:prstGeom prst="rect">
            <a:avLst/>
          </a:prstGeom>
        </p:spPr>
      </p:pic>
    </p:spTree>
    <p:extLst>
      <p:ext uri="{BB962C8B-B14F-4D97-AF65-F5344CB8AC3E}">
        <p14:creationId xmlns:p14="http://schemas.microsoft.com/office/powerpoint/2010/main" val="2174128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B744-C590-896B-AB39-2E35DEE82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651E5-48FF-AE0A-8C3D-4373B8131E02}"/>
              </a:ext>
            </a:extLst>
          </p:cNvPr>
          <p:cNvSpPr>
            <a:spLocks noGrp="1"/>
          </p:cNvSpPr>
          <p:nvPr>
            <p:ph type="title"/>
          </p:nvPr>
        </p:nvSpPr>
        <p:spPr/>
        <p:txBody>
          <a:bodyPr/>
          <a:lstStyle/>
          <a:p>
            <a:r>
              <a:rPr lang="en-US" dirty="0"/>
              <a:t>Hadron identification</a:t>
            </a:r>
          </a:p>
        </p:txBody>
      </p:sp>
      <p:sp>
        <p:nvSpPr>
          <p:cNvPr id="4" name="Date Placeholder 3">
            <a:extLst>
              <a:ext uri="{FF2B5EF4-FFF2-40B4-BE49-F238E27FC236}">
                <a16:creationId xmlns:a16="http://schemas.microsoft.com/office/drawing/2014/main" id="{7BA0B057-668A-A61B-4A0C-6528936EE98E}"/>
              </a:ext>
            </a:extLst>
          </p:cNvPr>
          <p:cNvSpPr>
            <a:spLocks noGrp="1"/>
          </p:cNvSpPr>
          <p:nvPr>
            <p:ph type="dt" sz="half" idx="10"/>
          </p:nvPr>
        </p:nvSpPr>
        <p:spPr/>
        <p:txBody>
          <a:bodyPr/>
          <a:lstStyle/>
          <a:p>
            <a:r>
              <a:rPr lang="en-US"/>
              <a:t>02/26/26</a:t>
            </a:r>
          </a:p>
        </p:txBody>
      </p:sp>
      <p:sp>
        <p:nvSpPr>
          <p:cNvPr id="5" name="Footer Placeholder 4">
            <a:extLst>
              <a:ext uri="{FF2B5EF4-FFF2-40B4-BE49-F238E27FC236}">
                <a16:creationId xmlns:a16="http://schemas.microsoft.com/office/drawing/2014/main" id="{14721E4B-D0FF-E5D5-4D66-E3E4806C571D}"/>
              </a:ext>
            </a:extLst>
          </p:cNvPr>
          <p:cNvSpPr>
            <a:spLocks noGrp="1"/>
          </p:cNvSpPr>
          <p:nvPr>
            <p:ph type="ftr" sz="quarter" idx="11"/>
          </p:nvPr>
        </p:nvSpPr>
        <p:spPr/>
        <p:txBody>
          <a:bodyPr/>
          <a:lstStyle/>
          <a:p>
            <a:r>
              <a:rPr lang="en-US"/>
              <a:t>AI Software meeting</a:t>
            </a:r>
          </a:p>
        </p:txBody>
      </p:sp>
      <p:sp>
        <p:nvSpPr>
          <p:cNvPr id="6" name="Slide Number Placeholder 5">
            <a:extLst>
              <a:ext uri="{FF2B5EF4-FFF2-40B4-BE49-F238E27FC236}">
                <a16:creationId xmlns:a16="http://schemas.microsoft.com/office/drawing/2014/main" id="{37548F97-6E01-39F7-4732-C4DE2B88136B}"/>
              </a:ext>
            </a:extLst>
          </p:cNvPr>
          <p:cNvSpPr>
            <a:spLocks noGrp="1"/>
          </p:cNvSpPr>
          <p:nvPr>
            <p:ph type="sldNum" sz="quarter" idx="12"/>
          </p:nvPr>
        </p:nvSpPr>
        <p:spPr/>
        <p:txBody>
          <a:bodyPr/>
          <a:lstStyle/>
          <a:p>
            <a:fld id="{C5EF2332-01BF-834F-8236-50238282D533}" type="slidenum">
              <a:rPr lang="en-US" smtClean="0"/>
              <a:t>17</a:t>
            </a:fld>
            <a:endParaRPr lang="en-US"/>
          </a:p>
        </p:txBody>
      </p:sp>
      <p:sp>
        <p:nvSpPr>
          <p:cNvPr id="8" name="TextBox 7">
            <a:extLst>
              <a:ext uri="{FF2B5EF4-FFF2-40B4-BE49-F238E27FC236}">
                <a16:creationId xmlns:a16="http://schemas.microsoft.com/office/drawing/2014/main" id="{3C5DD525-5F9A-C48C-A0A1-4A5B89584F0C}"/>
              </a:ext>
            </a:extLst>
          </p:cNvPr>
          <p:cNvSpPr txBox="1"/>
          <p:nvPr/>
        </p:nvSpPr>
        <p:spPr>
          <a:xfrm>
            <a:off x="5643562" y="2971800"/>
            <a:ext cx="65" cy="276999"/>
          </a:xfrm>
          <a:prstGeom prst="rect">
            <a:avLst/>
          </a:prstGeom>
          <a:noFill/>
        </p:spPr>
        <p:txBody>
          <a:bodyPr wrap="none" lIns="0" tIns="0" rIns="0" bIns="0" rtlCol="0">
            <a:spAutoFit/>
          </a:bodyPr>
          <a:lstStyle/>
          <a:p>
            <a:endParaRPr lang="en-US" dirty="0"/>
          </a:p>
        </p:txBody>
      </p:sp>
      <p:pic>
        <p:nvPicPr>
          <p:cNvPr id="3" name="Picture 2">
            <a:extLst>
              <a:ext uri="{FF2B5EF4-FFF2-40B4-BE49-F238E27FC236}">
                <a16:creationId xmlns:a16="http://schemas.microsoft.com/office/drawing/2014/main" id="{9D06AA5A-4079-06FD-E812-187E3603761F}"/>
              </a:ext>
            </a:extLst>
          </p:cNvPr>
          <p:cNvPicPr>
            <a:picLocks noChangeAspect="1"/>
          </p:cNvPicPr>
          <p:nvPr/>
        </p:nvPicPr>
        <p:blipFill>
          <a:blip r:embed="rId2"/>
          <a:srcRect t="74733"/>
          <a:stretch>
            <a:fillRect/>
          </a:stretch>
        </p:blipFill>
        <p:spPr>
          <a:xfrm>
            <a:off x="138141" y="1358015"/>
            <a:ext cx="11915717" cy="3781567"/>
          </a:xfrm>
          <a:prstGeom prst="rect">
            <a:avLst/>
          </a:prstGeom>
        </p:spPr>
      </p:pic>
    </p:spTree>
    <p:extLst>
      <p:ext uri="{BB962C8B-B14F-4D97-AF65-F5344CB8AC3E}">
        <p14:creationId xmlns:p14="http://schemas.microsoft.com/office/powerpoint/2010/main" val="4249438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8655</TotalTime>
  <Words>968</Words>
  <Application>Microsoft Macintosh PowerPoint</Application>
  <PresentationFormat>Widescreen</PresentationFormat>
  <Paragraphs>135</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 Math</vt:lpstr>
      <vt:lpstr>Fira Sans</vt:lpstr>
      <vt:lpstr>Fira Sans Book</vt:lpstr>
      <vt:lpstr>Fira Sans Light</vt:lpstr>
      <vt:lpstr>Office Theme</vt:lpstr>
      <vt:lpstr>Hadron PID with AI</vt:lpstr>
      <vt:lpstr>Introduction</vt:lpstr>
      <vt:lpstr>AI Model and features</vt:lpstr>
      <vt:lpstr>Confusion matrix</vt:lpstr>
      <vt:lpstr>Efficency and purity</vt:lpstr>
      <vt:lpstr>Hadron identification: Data vs MC features</vt:lpstr>
      <vt:lpstr>Hadron identification: Data vs MC features</vt:lpstr>
      <vt:lpstr>Hadron identification: Data vs MC features</vt:lpstr>
      <vt:lpstr>Hadron identification: Data vs MC features</vt:lpstr>
      <vt:lpstr>Hadron identification: Limitation</vt:lpstr>
      <vt:lpstr>Hadron identification: Limitation</vt:lpstr>
      <vt:lpstr>Hadron identification: Limitation</vt:lpstr>
      <vt:lpstr>Summary</vt:lpstr>
      <vt:lpstr>Backup slides</vt:lpstr>
      <vt:lpstr>Hadron identification</vt:lpstr>
      <vt:lpstr>Hadron identification</vt:lpstr>
      <vt:lpstr>Hadron identification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Panorámica</PresentationFormat>
  <Paragraphs>15</Paragraphs>
  <Slides>4</Slides>
  <Notes>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Atomización Ultrasónica. Parámetros y dinámica del fenómeno.</dc:title>
  <dc:creator>Josué D. Meneses Díaz</dc:creator>
  <cp:keywords/>
  <cp:lastModifiedBy>Ouillon, Mathieu</cp:lastModifiedBy>
  <cp:revision>303</cp:revision>
  <dcterms:created xsi:type="dcterms:W3CDTF">2019-12-03T01:04:10Z</dcterms:created>
  <dcterms:modified xsi:type="dcterms:W3CDTF">2026-02-26T16:47:06Z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..\bib\bibliografia.bib</vt:lpwstr>
  </property>
  <property fmtid="{D5CDD505-2E9C-101B-9397-08002B2CF9AE}" pid="3" name="date">
    <vt:lpwstr>26-11-2019</vt:lpwstr>
  </property>
</Properties>
</file>