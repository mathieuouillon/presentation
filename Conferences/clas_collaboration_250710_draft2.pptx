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Cairo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40BCBD-E3B5-4116-B2AE-19FF3A1FFF24}">
  <a:tblStyle styleId="{D840BCBD-E3B5-4116-B2AE-19FF3A1FFF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Cairo-bold.fntdata"/><Relationship Id="rId10" Type="http://schemas.openxmlformats.org/officeDocument/2006/relationships/slide" Target="slides/slide3.xml"/><Relationship Id="rId32" Type="http://schemas.openxmlformats.org/officeDocument/2006/relationships/font" Target="fonts/Cairo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d35bd4511_2_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d35bd4511_2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35bd4511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d35bd4511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35bd4511_2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6d35bd4511_2_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6d35bd4511_2_1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d35bd4511_2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6d35bd4511_2_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6d35bd4511_2_2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d35bd4511_2_2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6d35bd4511_2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d35bd4511_2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6d35bd4511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d35bd4511_2_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6d35bd4511_2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d35bd4511_2_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6d35bd4511_2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d35bd4511_2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6d35bd4511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d35bd4511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6d35bd4511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d35bd4511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6d35bd4511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d35bd4511_2_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6d35bd4511_2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d35bd4511_2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6d35bd4511_2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d35bd4511_2_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6d35bd4511_2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d35bd4511_2_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6d35bd4511_2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d35bd4511_2_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6d35bd4511_2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d35bd4511_2_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6d35bd4511_2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d35bd4511_2_2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6d35bd4511_2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6d35bd4511_2_2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6d35bd4511_2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d35bd4511_2_2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6d35bd4511_2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d35bd4511_2_2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6d35bd4511_2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6d35bd4511_2_2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6d35bd4511_2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d35bd4511_2_3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6d35bd4511_2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d35bd4511_2_3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6d35bd4511_2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261257" y="51724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500"/>
              <a:buFont typeface="Cairo"/>
              <a:buNone/>
              <a:defRPr i="0" sz="45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261257" y="2474969"/>
            <a:ext cx="6858000" cy="476420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Cairo"/>
              <a:buNone/>
              <a:defRPr i="0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61850"/>
            <a:ext cx="3791630" cy="72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0778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3300"/>
              <a:buFont typeface="Cairo"/>
              <a:buNone/>
              <a:defRPr i="0" sz="33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Cairo"/>
              <a:buChar char="•"/>
              <a:defRPr i="0" sz="21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o"/>
              <a:defRPr i="0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Cairo"/>
              <a:buChar char="•"/>
              <a:defRPr i="0" sz="15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5"/>
          <p:cNvSpPr/>
          <p:nvPr/>
        </p:nvSpPr>
        <p:spPr>
          <a:xfrm flipH="1" rot="-5400000">
            <a:off x="8616518" y="-16706"/>
            <a:ext cx="510777" cy="54418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rtl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3" name="Google Shape;63;p15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5"/>
          <p:cNvSpPr txBox="1"/>
          <p:nvPr/>
        </p:nvSpPr>
        <p:spPr>
          <a:xfrm>
            <a:off x="0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9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0"/>
            <a:ext cx="9144000" cy="510778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3300"/>
              <a:buFont typeface="Avenir"/>
              <a:buNone/>
              <a:defRPr b="0" i="0" sz="33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7"/>
          <p:cNvSpPr/>
          <p:nvPr/>
        </p:nvSpPr>
        <p:spPr>
          <a:xfrm flipH="1" rot="-5400000">
            <a:off x="8616518" y="-16706"/>
            <a:ext cx="510777" cy="54418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700">
                <a:solidFill>
                  <a:srgbClr val="4B383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1" name="Google Shape;111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 rot="5400000">
            <a:off x="2360584" y="-1723260"/>
            <a:ext cx="3263503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jlab.org/exp_prog/proposals/20/E12-06-106A_Proposal.pdf" TargetMode="External"/><Relationship Id="rId4" Type="http://schemas.openxmlformats.org/officeDocument/2006/relationships/hyperlink" Target="https://misportal.jlab.org/mis/physics/experiments/viewProposal.cfm?paperId=68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Gregtom3/clas12_photon_classifier" TargetMode="External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3991" y="4034555"/>
            <a:ext cx="345026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>
            <p:ph type="ctrTitle"/>
          </p:nvPr>
        </p:nvSpPr>
        <p:spPr>
          <a:xfrm>
            <a:off x="261257" y="517242"/>
            <a:ext cx="6590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500"/>
              <a:buFont typeface="Arial"/>
              <a:buNone/>
            </a:pPr>
            <a:r>
              <a:rPr lang="en" sz="4700"/>
              <a:t>RG-D Experiments: Status and Analysis Plans</a:t>
            </a:r>
            <a:endParaRPr sz="4700"/>
          </a:p>
        </p:txBody>
      </p:sp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261257" y="2474969"/>
            <a:ext cx="6858000" cy="476420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7487979" y="3260058"/>
            <a:ext cx="128986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iro"/>
                <a:ea typeface="Cairo"/>
                <a:cs typeface="Cairo"/>
                <a:sym typeface="Cairo"/>
              </a:rPr>
              <a:t>07/10/25</a:t>
            </a:r>
            <a:endParaRPr sz="1800"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36" name="Google Shape;1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4850" y="4074800"/>
            <a:ext cx="1799149" cy="9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4196538" y="3574143"/>
            <a:ext cx="458130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CLAS Collaboration (8-11 July 2025)</a:t>
            </a:r>
            <a:endParaRPr i="0" sz="18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Run Group D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/>
              <a:t>RG-D is composed of two experiments:</a:t>
            </a:r>
            <a:endParaRPr/>
          </a:p>
        </p:txBody>
      </p:sp>
      <p:sp>
        <p:nvSpPr>
          <p:cNvPr id="144" name="Google Shape;144;p27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-2041" y="4598091"/>
            <a:ext cx="914400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Argonne National Lab, </a:t>
            </a: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IJCLAB, Orsay, France </a:t>
            </a: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Mississippi State U., </a:t>
            </a: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University of New-Hampshire, </a:t>
            </a: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Jefferson Lab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4718425" y="1320850"/>
            <a:ext cx="42222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Nuclear Transverse Momentum Distributions (nTMDs) in CLAS12 (</a:t>
            </a:r>
            <a:r>
              <a:rPr lang="en" sz="21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E12-06-106A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)​: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Spokespeoples: R. Dupré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2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L. El Fassi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3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Zein-Eddine Meziani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and Holly Szumila-Vance​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5</a:t>
            </a:r>
            <a:endParaRPr i="0" sz="18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58227" y="1320852"/>
            <a:ext cx="45078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of Color Transparency (CT) in Exclusive Vector Meson 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Electroproduction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off Nuclei (</a:t>
            </a:r>
            <a:r>
              <a:rPr lang="en" sz="21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E12-06-106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)​: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Spokespeoples: W. Armstrong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L. El Fassi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3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K. Hafidi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M. Holtrop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4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and B. Mustapha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1​</a:t>
            </a:r>
            <a:endParaRPr i="0" sz="18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150" name="Google Shape;150;p27"/>
          <p:cNvCxnSpPr/>
          <p:nvPr/>
        </p:nvCxnSpPr>
        <p:spPr>
          <a:xfrm>
            <a:off x="4569959" y="1041966"/>
            <a:ext cx="0" cy="3461100"/>
          </a:xfrm>
          <a:prstGeom prst="straightConnector1">
            <a:avLst/>
          </a:prstGeom>
          <a:noFill/>
          <a:ln cap="flat" cmpd="sng" w="28575">
            <a:solidFill>
              <a:srgbClr val="BE9B7B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9080" y="525901"/>
            <a:ext cx="4182879" cy="183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RG-D: CT Experiment​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745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1800"/>
              <a:buChar char="●"/>
            </a:pPr>
            <a:r>
              <a:rPr lang="en" sz="1800"/>
              <a:t>Color Transparency: suppression of interactions of the colorless small size configuration in the nuclear medium</a:t>
            </a:r>
            <a:endParaRPr sz="1800"/>
          </a:p>
          <a:p>
            <a:pPr indent="-18745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1800"/>
              <a:buChar char="●"/>
            </a:pPr>
            <a:r>
              <a:rPr lang="en" sz="1800"/>
              <a:t>Experimental signature: rise of the nuclear transparency, </a:t>
            </a:r>
            <a:r>
              <a:rPr i="1" lang="en" sz="1800"/>
              <a:t>T</a:t>
            </a:r>
            <a:r>
              <a:rPr baseline="-25000" lang="en" sz="1800"/>
              <a:t>A</a:t>
            </a:r>
            <a:r>
              <a:rPr lang="en" sz="1800"/>
              <a:t> as a function of Q</a:t>
            </a:r>
            <a:r>
              <a:rPr baseline="30000" lang="en" sz="1800"/>
              <a:t>2</a:t>
            </a:r>
            <a:r>
              <a:rPr lang="en" sz="1800"/>
              <a:t>: ​</a:t>
            </a:r>
            <a:endParaRPr/>
          </a:p>
          <a:p>
            <a:pPr indent="-20955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i="1" lang="en" sz="1600"/>
              <a:t>T</a:t>
            </a:r>
            <a:r>
              <a:rPr baseline="-25000" lang="en" sz="1600"/>
              <a:t>A</a:t>
            </a:r>
            <a:r>
              <a:rPr lang="en" sz="1600"/>
              <a:t>: ratio of the cross section per nucleon on a bound nucleon to that on a free nucleon</a:t>
            </a:r>
            <a:endParaRPr sz="1900"/>
          </a:p>
        </p:txBody>
      </p:sp>
      <p:sp>
        <p:nvSpPr>
          <p:cNvPr id="159" name="Google Shape;159;p28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160" name="Google Shape;160;p28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368" y="2399231"/>
            <a:ext cx="3890304" cy="2447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222" y="2382327"/>
            <a:ext cx="1547634" cy="66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2177732" y="2440012"/>
            <a:ext cx="2535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Arial"/>
              <a:buNone/>
            </a:pP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σ</a:t>
            </a:r>
            <a:r>
              <a:rPr baseline="-25000"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A</a:t>
            </a: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− nuclei cross section</a:t>
            </a:r>
            <a:endParaRPr sz="14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σ</a:t>
            </a:r>
            <a:r>
              <a:rPr baseline="-25000"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</a:t>
            </a: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− free nucleon cross section</a:t>
            </a:r>
            <a:endParaRPr sz="14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-1" y="4348817"/>
            <a:ext cx="5068243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Coherence length, l</a:t>
            </a:r>
            <a:r>
              <a:rPr baseline="-25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the lifetime of the qq-bar pair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Formation time, l</a:t>
            </a:r>
            <a:r>
              <a:rPr baseline="-25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the time evolution of SSC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to an on-shell ρ</a:t>
            </a:r>
            <a:r>
              <a:rPr baseline="30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meson​​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13075" y="3173675"/>
            <a:ext cx="50421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745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Objective:</a:t>
            </a:r>
            <a:endParaRPr sz="1800"/>
          </a:p>
          <a:p>
            <a:pPr indent="-1905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</a:t>
            </a:r>
            <a:r>
              <a:rPr lang="en" sz="1600"/>
              <a:t>nderstanding evolution from small-size configurations into ordinary hadrons</a:t>
            </a:r>
            <a:r>
              <a:rPr lang="en" sz="1600"/>
              <a:t>​</a:t>
            </a:r>
            <a:endParaRPr sz="1600"/>
          </a:p>
          <a:p>
            <a:pPr indent="-1905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</a:t>
            </a:r>
            <a:r>
              <a:rPr lang="en" sz="1600"/>
              <a:t>alidating the QCD factorization theorem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RG-D: Nuclear TMDs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0650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E12-06-106A: nTMDs study uses the same CT running conditions except the beam polarization, and aims to study​: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Nuclear effect on SIDIS asymmetries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Transport coefficient of the nuclear matter</a:t>
            </a:r>
            <a:endParaRPr/>
          </a:p>
          <a:p>
            <a:pPr indent="-20650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For that, measure: 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 φ, sin φ, cos(2φ)</a:t>
            </a:r>
            <a:r>
              <a:rPr baseline="30000" lang="en"/>
              <a:t>1</a:t>
            </a:r>
            <a:r>
              <a:rPr lang="en"/>
              <a:t> moments for different hadrons: </a:t>
            </a:r>
            <a:endParaRPr/>
          </a:p>
        </p:txBody>
      </p:sp>
      <p:sp>
        <p:nvSpPr>
          <p:cNvPr id="174" name="Google Shape;174;p29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175" name="Google Shape;175;p29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635" y="2646301"/>
            <a:ext cx="25527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011" y="2646301"/>
            <a:ext cx="2514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410" y="3528360"/>
            <a:ext cx="25527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 txBox="1"/>
          <p:nvPr/>
        </p:nvSpPr>
        <p:spPr>
          <a:xfrm>
            <a:off x="48985" y="4324668"/>
            <a:ext cx="4673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q</a:t>
            </a:r>
            <a:r>
              <a:rPr baseline="-25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(ξ</a:t>
            </a:r>
            <a:r>
              <a:rPr baseline="-25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): quark transport parameter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 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No predictions exist for this observable</a:t>
            </a:r>
            <a:endParaRPr sz="1100"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6">
            <a:alphaModFix/>
          </a:blip>
          <a:srcRect b="0" l="0" r="0" t="4669"/>
          <a:stretch/>
        </p:blipFill>
        <p:spPr>
          <a:xfrm>
            <a:off x="5713819" y="661809"/>
            <a:ext cx="3381941" cy="259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7116" y="3096898"/>
            <a:ext cx="3092728" cy="17543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6029621" y="510778"/>
            <a:ext cx="29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Song, Y. et al. (2014) Physical Review D, 89 014005 </a:t>
            </a:r>
            <a:endParaRPr sz="800"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Run Configuration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7452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RG-D experiments collected data in the fall of 2023 with</a:t>
            </a:r>
            <a:endParaRPr/>
          </a:p>
          <a:p>
            <a:pPr indent="-186690" lvl="1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10.54 GeV polarized beam energy and 𝐼=5–175 nA for luminosity scans and production</a:t>
            </a:r>
            <a:endParaRPr/>
          </a:p>
          <a:p>
            <a:pPr indent="-186690" lvl="1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Standard CLAS12 configuration with FT-OFF and three layers of FMT</a:t>
            </a:r>
            <a:endParaRPr/>
          </a:p>
          <a:p>
            <a:pPr indent="-186690" lvl="1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Three target configurations, LD2, CxC, and CuSn, deployed with InBending and OutBending</a:t>
            </a:r>
            <a:endParaRPr sz="1500"/>
          </a:p>
          <a:p>
            <a:pPr indent="-186690" lvl="1" marL="2468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</a:pPr>
            <a:r>
              <a:rPr lang="en" sz="1500"/>
              <a:t>New cryogenic LD2 and the nuclear-foil flag assembly centered at -5 cm for each configuration</a:t>
            </a:r>
            <a:endParaRPr/>
          </a:p>
          <a:p>
            <a:pPr indent="-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800"/>
              <a:buChar char="•"/>
            </a:pPr>
            <a:r>
              <a:rPr lang="en" sz="1800"/>
              <a:t>Main run hiccups:</a:t>
            </a:r>
            <a:endParaRPr/>
          </a:p>
          <a:p>
            <a:pPr indent="-17145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o"/>
            </a:pPr>
            <a:r>
              <a:rPr lang="en" sz="1500"/>
              <a:t>Faraday Cup vacuum contamination</a:t>
            </a:r>
            <a:endParaRPr/>
          </a:p>
          <a:p>
            <a:pPr indent="-17145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o"/>
            </a:pPr>
            <a:r>
              <a:rPr lang="en" sz="1500"/>
              <a:t>Moller cone sagging</a:t>
            </a:r>
            <a:endParaRPr/>
          </a:p>
        </p:txBody>
      </p:sp>
      <p:sp>
        <p:nvSpPr>
          <p:cNvPr id="190" name="Google Shape;190;p30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191" name="Google Shape;191;p30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98" y="2684748"/>
            <a:ext cx="5061737" cy="206400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/>
          <p:nvPr/>
        </p:nvSpPr>
        <p:spPr>
          <a:xfrm>
            <a:off x="5190227" y="1858038"/>
            <a:ext cx="3951731" cy="29956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195" name="Google Shape;195;p30"/>
          <p:cNvCxnSpPr>
            <a:stCxn id="196" idx="2"/>
          </p:cNvCxnSpPr>
          <p:nvPr/>
        </p:nvCxnSpPr>
        <p:spPr>
          <a:xfrm>
            <a:off x="6302823" y="4140788"/>
            <a:ext cx="217500" cy="3177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30"/>
          <p:cNvSpPr txBox="1"/>
          <p:nvPr/>
        </p:nvSpPr>
        <p:spPr>
          <a:xfrm>
            <a:off x="5940942" y="3823066"/>
            <a:ext cx="723762" cy="317722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LD2 entrance window</a:t>
            </a:r>
            <a:endParaRPr sz="9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30"/>
          <p:cNvCxnSpPr>
            <a:stCxn id="198" idx="2"/>
          </p:cNvCxnSpPr>
          <p:nvPr/>
        </p:nvCxnSpPr>
        <p:spPr>
          <a:xfrm>
            <a:off x="6694459" y="3601688"/>
            <a:ext cx="149400" cy="7656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" name="Google Shape;198;p30"/>
          <p:cNvSpPr txBox="1"/>
          <p:nvPr/>
        </p:nvSpPr>
        <p:spPr>
          <a:xfrm>
            <a:off x="6403458" y="3283967"/>
            <a:ext cx="582002" cy="317721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LD2 exit window</a:t>
            </a:r>
            <a:endParaRPr sz="9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30"/>
          <p:cNvCxnSpPr>
            <a:stCxn id="200" idx="2"/>
          </p:cNvCxnSpPr>
          <p:nvPr/>
        </p:nvCxnSpPr>
        <p:spPr>
          <a:xfrm>
            <a:off x="6851473" y="2620510"/>
            <a:ext cx="331200" cy="2589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30"/>
          <p:cNvSpPr txBox="1"/>
          <p:nvPr/>
        </p:nvSpPr>
        <p:spPr>
          <a:xfrm>
            <a:off x="6520385" y="2366016"/>
            <a:ext cx="662175" cy="254494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Cu target</a:t>
            </a:r>
            <a:endParaRPr sz="9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30"/>
          <p:cNvCxnSpPr>
            <a:stCxn id="202" idx="2"/>
          </p:cNvCxnSpPr>
          <p:nvPr/>
        </p:nvCxnSpPr>
        <p:spPr>
          <a:xfrm flipH="1">
            <a:off x="7495958" y="2473811"/>
            <a:ext cx="436800" cy="3603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30"/>
          <p:cNvSpPr txBox="1"/>
          <p:nvPr/>
        </p:nvSpPr>
        <p:spPr>
          <a:xfrm>
            <a:off x="7635917" y="2258221"/>
            <a:ext cx="593684" cy="215590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Sn target</a:t>
            </a: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30"/>
          <p:cNvCxnSpPr>
            <a:stCxn id="204" idx="2"/>
          </p:cNvCxnSpPr>
          <p:nvPr/>
        </p:nvCxnSpPr>
        <p:spPr>
          <a:xfrm flipH="1">
            <a:off x="8415080" y="3714824"/>
            <a:ext cx="58800" cy="42600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30"/>
          <p:cNvSpPr txBox="1"/>
          <p:nvPr/>
        </p:nvSpPr>
        <p:spPr>
          <a:xfrm>
            <a:off x="7932758" y="3354599"/>
            <a:ext cx="1082243" cy="360225"/>
          </a:xfrm>
          <a:prstGeom prst="rect">
            <a:avLst/>
          </a:prstGeom>
          <a:noFill/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Scattering Chamber exit window</a:t>
            </a:r>
            <a:endParaRPr sz="9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0" y="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Electron fiducial cuts: Sampling fraction vs p</a:t>
            </a:r>
            <a:endParaRPr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Comparison between different targets:</a:t>
            </a:r>
            <a:endParaRPr/>
          </a:p>
        </p:txBody>
      </p:sp>
      <p:sp>
        <p:nvSpPr>
          <p:cNvPr id="211" name="Google Shape;211;p31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12" name="Google Shape;212;p31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13" name="Google Shape;213;p31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20302" y="936967"/>
            <a:ext cx="8851604" cy="39800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Electron fiducial cuts: Calorimeter v and w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Use standard CLAS12 cuts for the calorimeter: v, w &gt; 9cm (2 bars)</a:t>
            </a:r>
            <a:endParaRPr/>
          </a:p>
          <a:p>
            <a:pPr indent="-571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Comparison between target: No difference</a:t>
            </a:r>
            <a:endParaRPr/>
          </a:p>
        </p:txBody>
      </p:sp>
      <p:sp>
        <p:nvSpPr>
          <p:cNvPr id="221" name="Google Shape;221;p32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22" name="Google Shape;222;p32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23" name="Google Shape;223;p32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599696" y="1230743"/>
            <a:ext cx="7944609" cy="36287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Electron fiducial cuts: θ</a:t>
            </a:r>
            <a:r>
              <a:rPr baseline="-25000" lang="en"/>
              <a:t>DC</a:t>
            </a:r>
            <a:r>
              <a:rPr lang="en"/>
              <a:t> vs edge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Remove the edges of the DC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Slice the θ</a:t>
            </a:r>
            <a:r>
              <a:rPr baseline="-25000" lang="en"/>
              <a:t>DC</a:t>
            </a:r>
            <a:r>
              <a:rPr lang="en"/>
              <a:t> vs edge histogram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Fit the peak of the derivative with a Gaussian and get threshold (μ+3σ)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Fit all thresholds with a constant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Do that for all regions and targets</a:t>
            </a:r>
            <a:endParaRPr/>
          </a:p>
        </p:txBody>
      </p:sp>
      <p:sp>
        <p:nvSpPr>
          <p:cNvPr id="231" name="Google Shape;231;p33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32" name="Google Shape;232;p33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3"/>
          <p:cNvSpPr/>
          <p:nvPr/>
        </p:nvSpPr>
        <p:spPr>
          <a:xfrm>
            <a:off x="4018780" y="520983"/>
            <a:ext cx="5076236" cy="425958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235" name="Google Shape;2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042" y="2325333"/>
            <a:ext cx="3296653" cy="252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Vz cuts: Impact of the other cuts</a:t>
            </a:r>
            <a:endParaRPr/>
          </a:p>
        </p:txBody>
      </p:sp>
      <p:sp>
        <p:nvSpPr>
          <p:cNvPr id="241" name="Google Shape;241;p34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42" name="Google Shape;242;p34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43" name="Google Shape;243;p34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4"/>
          <p:cNvSpPr/>
          <p:nvPr/>
        </p:nvSpPr>
        <p:spPr>
          <a:xfrm>
            <a:off x="4868138" y="520983"/>
            <a:ext cx="4275863" cy="433846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5" name="Google Shape;245;p34"/>
          <p:cNvSpPr txBox="1"/>
          <p:nvPr/>
        </p:nvSpPr>
        <p:spPr>
          <a:xfrm>
            <a:off x="0" y="520983"/>
            <a:ext cx="4433637" cy="43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6350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None/>
            </a:pPr>
            <a:r>
              <a:t/>
            </a:r>
            <a:endParaRPr b="0" i="0" sz="21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 sz="1100"/>
          </a:p>
          <a:p>
            <a:pPr indent="-889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None/>
            </a:pPr>
            <a:r>
              <a:t/>
            </a:r>
            <a:endParaRPr b="0" i="0" sz="1800" u="none" cap="none" strike="noStrike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181834" y="2762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{D840BCBD-E3B5-4116-B2AE-19FF3A1FFF24}</a:tableStyleId>
              </a:tblPr>
              <a:tblGrid>
                <a:gridCol w="1089350"/>
                <a:gridCol w="871925"/>
                <a:gridCol w="1217175"/>
                <a:gridCol w="1211700"/>
              </a:tblGrid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Improvement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 LD2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0.7691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0.7068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0.0623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Entrance LD2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0.7799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0.7158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0.0641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CxC1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1.1182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0.8586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0.2596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CxC2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1.2309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0.9139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0.3170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Vz cuts: Impact of the other cuts</a:t>
            </a:r>
            <a:endParaRPr/>
          </a:p>
        </p:txBody>
      </p:sp>
      <p:sp>
        <p:nvSpPr>
          <p:cNvPr id="253" name="Google Shape;253;p35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54" name="Google Shape;254;p35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5"/>
          <p:cNvSpPr txBox="1"/>
          <p:nvPr/>
        </p:nvSpPr>
        <p:spPr>
          <a:xfrm>
            <a:off x="0" y="520983"/>
            <a:ext cx="4433637" cy="43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6350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 sz="1100"/>
          </a:p>
          <a:p>
            <a:pPr indent="-146050" lvl="1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17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the Cu and Sn foil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None/>
            </a:pPr>
            <a:r>
              <a:t/>
            </a:r>
            <a:endParaRPr b="0" i="0" sz="21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 sz="1100"/>
          </a:p>
        </p:txBody>
      </p:sp>
      <p:graphicFrame>
        <p:nvGraphicFramePr>
          <p:cNvPr id="257" name="Google Shape;257;p35"/>
          <p:cNvGraphicFramePr/>
          <p:nvPr/>
        </p:nvGraphicFramePr>
        <p:xfrm>
          <a:off x="181834" y="2900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{D840BCBD-E3B5-4116-B2AE-19FF3A1FFF24}</a:tableStyleId>
              </a:tblPr>
              <a:tblGrid>
                <a:gridCol w="1089350"/>
                <a:gridCol w="871925"/>
                <a:gridCol w="1217175"/>
                <a:gridCol w="1211700"/>
              </a:tblGrid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Improvement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 LD2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1.0045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0.8754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0.1291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Entrance LD2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0.8162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0.7000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0.1162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3832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0.7625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0.6798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0.0827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</a:t>
                      </a:r>
                      <a:r>
                        <a:rPr baseline="-25000"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3832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0.7439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0.6631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rgbClr val="4B38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0.0808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35"/>
          <p:cNvSpPr/>
          <p:nvPr/>
        </p:nvSpPr>
        <p:spPr>
          <a:xfrm>
            <a:off x="4753834" y="520983"/>
            <a:ext cx="4390166" cy="43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9" name="Google Shape;259;p35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</p:spPr>
        <p:txBody>
          <a:bodyPr anchorCtr="0" anchor="t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nTMDs Studies: π</a:t>
            </a:r>
            <a:r>
              <a:rPr baseline="30000" lang="en"/>
              <a:t>0</a:t>
            </a:r>
            <a:r>
              <a:rPr lang="en"/>
              <a:t> analysis</a:t>
            </a:r>
            <a:endParaRPr/>
          </a:p>
        </p:txBody>
      </p:sp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698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First look at the π</a:t>
            </a:r>
            <a:r>
              <a:rPr baseline="30000" lang="en"/>
              <a:t>0</a:t>
            </a:r>
            <a:r>
              <a:rPr lang="en"/>
              <a:t> channel to extract multiplicity ratios and azimuthal asymmetries: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In-progress efforts to employ the event mixing technique to subtract the background  underneath the two-photon mass peak</a:t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None/>
            </a:pPr>
            <a:r>
              <a:t/>
            </a:r>
            <a:endParaRPr/>
          </a:p>
          <a:p>
            <a:pPr indent="-698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Electron cuts: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pid = 11, status &lt; 0, 2000 ≤ |status| &lt; 4000, |chi2pid| &lt; 5 and Vz cut</a:t>
            </a:r>
            <a:endParaRPr/>
          </a:p>
          <a:p>
            <a:pPr indent="-698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Photon cuts: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pid = 22 and E &gt; 0.2 GeV 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+ AI develop by </a:t>
            </a:r>
            <a:r>
              <a:rPr lang="en" u="sng">
                <a:solidFill>
                  <a:schemeClr val="hlink"/>
                </a:solidFill>
                <a:hlinkClick r:id="rId3"/>
              </a:rPr>
              <a:t>Gregory Matousek</a:t>
            </a:r>
            <a:endParaRPr/>
          </a:p>
          <a:p>
            <a:pPr indent="-698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SIDIS cuts: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Q</a:t>
            </a:r>
            <a:r>
              <a:rPr baseline="30000" lang="en"/>
              <a:t>2 </a:t>
            </a:r>
            <a:r>
              <a:rPr lang="en"/>
              <a:t>&gt; 1 GeV</a:t>
            </a:r>
            <a:r>
              <a:rPr baseline="30000" lang="en"/>
              <a:t>2</a:t>
            </a:r>
            <a:r>
              <a:rPr lang="en"/>
              <a:t>, W &gt; 2 GeV  μ ± 3σ on the two photon mass for the π</a:t>
            </a:r>
            <a:r>
              <a:rPr baseline="30000" lang="en"/>
              <a:t>0</a:t>
            </a:r>
            <a:endParaRPr/>
          </a:p>
        </p:txBody>
      </p:sp>
      <p:sp>
        <p:nvSpPr>
          <p:cNvPr id="266" name="Google Shape;266;p36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67" name="Google Shape;267;p36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291" y="998449"/>
            <a:ext cx="4456975" cy="334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nTMDs Studies: π</a:t>
            </a:r>
            <a:r>
              <a:rPr baseline="30000" lang="en"/>
              <a:t>0</a:t>
            </a:r>
            <a:r>
              <a:rPr lang="en"/>
              <a:t> analysis</a:t>
            </a:r>
            <a:endParaRPr/>
          </a:p>
        </p:txBody>
      </p:sp>
      <p:sp>
        <p:nvSpPr>
          <p:cNvPr id="275" name="Google Shape;275;p37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47149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"/>
              <a:t>First look at the π</a:t>
            </a:r>
            <a:r>
              <a:rPr baseline="30000" lang="en"/>
              <a:t>0</a:t>
            </a:r>
            <a:r>
              <a:rPr lang="en"/>
              <a:t> channel to extract multiplicity ratios and azimuthal asymmetries:</a:t>
            </a:r>
            <a:endParaRPr/>
          </a:p>
          <a:p>
            <a:pPr indent="-171133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1D multiplicity ratio: z</a:t>
            </a:r>
            <a:r>
              <a:rPr baseline="-25000" lang="en"/>
              <a:t>h</a:t>
            </a:r>
            <a:endParaRPr baseline="-25000"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 baseline="-25000"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 baseline="-25000"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 baseline="-25000"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 baseline="-25000"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 baseline="-25000"/>
          </a:p>
          <a:p>
            <a:pPr indent="-171133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Statistical error only</a:t>
            </a:r>
            <a:endParaRPr/>
          </a:p>
          <a:p>
            <a:pPr indent="-171133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SIDIS cut:</a:t>
            </a:r>
            <a:endParaRPr/>
          </a:p>
          <a:p>
            <a:pPr indent="-113506" lvl="2" marL="254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Q</a:t>
            </a:r>
            <a:r>
              <a:rPr baseline="30000" lang="en"/>
              <a:t>2 </a:t>
            </a:r>
            <a:r>
              <a:rPr lang="en"/>
              <a:t>&gt; 1 GeV</a:t>
            </a:r>
            <a:r>
              <a:rPr baseline="30000" lang="en"/>
              <a:t>2</a:t>
            </a:r>
            <a:r>
              <a:rPr lang="en"/>
              <a:t>, W &gt; 2 GeV and</a:t>
            </a:r>
            <a:endParaRPr/>
          </a:p>
          <a:p>
            <a:pPr indent="0" lvl="2" marL="139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"/>
              <a:t> μ ± 3σ on the two-photon mass</a:t>
            </a:r>
            <a:endParaRPr/>
          </a:p>
          <a:p>
            <a:pPr indent="0" lvl="2" marL="139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"/>
              <a:t> for the π</a:t>
            </a:r>
            <a:r>
              <a:rPr baseline="30000" lang="en"/>
              <a:t>0</a:t>
            </a:r>
            <a:endParaRPr/>
          </a:p>
          <a:p>
            <a:pPr indent="762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77" name="Google Shape;277;p37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78" name="Google Shape;278;p37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7"/>
          <p:cNvSpPr txBox="1"/>
          <p:nvPr/>
        </p:nvSpPr>
        <p:spPr>
          <a:xfrm>
            <a:off x="446125" y="187999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7620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None/>
            </a:pPr>
            <a:r>
              <a:t/>
            </a:r>
            <a:endParaRPr b="0" i="0" sz="21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\documentclass{article}&#10;\usepackage{amsmath}&#10;\pagestyle{empty}&#10;\begin{document}&#10;&#10;$$&#10;R = \frac{N^{\pi^0}_{\text{A}}(z_h)}{N^{e}_{\text{A}}}\frac{N^{e}_{\text{LD2}}}{N^{\pi^0}_{\text{LD2}}(z_h)}&#10;$$&#10;&#10;&#10;\end{document}" id="280" name="Google Shape;280;p37" title="IguanaTex Picture Display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497" y="1672496"/>
            <a:ext cx="3007301" cy="807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3616" y="861498"/>
            <a:ext cx="5431399" cy="400815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/>
        </p:nvSpPr>
        <p:spPr>
          <a:xfrm>
            <a:off x="4394410" y="3181870"/>
            <a:ext cx="2860634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Very preliminary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nTMDs Studies: π</a:t>
            </a:r>
            <a:r>
              <a:rPr baseline="30000" lang="en"/>
              <a:t>+</a:t>
            </a:r>
            <a:r>
              <a:rPr lang="en"/>
              <a:t> analysis</a:t>
            </a:r>
            <a:endParaRPr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Ongoing analysis by D. Matamoros</a:t>
            </a:r>
            <a:endParaRPr/>
          </a:p>
        </p:txBody>
      </p:sp>
      <p:sp>
        <p:nvSpPr>
          <p:cNvPr id="289" name="Google Shape;289;p38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90" name="Google Shape;290;p38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291" name="Google Shape;291;p38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nTMDs Studies: π</a:t>
            </a:r>
            <a:r>
              <a:rPr baseline="30000" lang="en"/>
              <a:t>+</a:t>
            </a:r>
            <a:r>
              <a:rPr lang="en"/>
              <a:t> analysis</a:t>
            </a:r>
            <a:endParaRPr/>
          </a:p>
        </p:txBody>
      </p:sp>
      <p:sp>
        <p:nvSpPr>
          <p:cNvPr id="297" name="Google Shape;297;p39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7620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98" name="Google Shape;298;p39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299" name="Google Shape;299;p39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-131763" lvl="0" marL="152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2500"/>
              <a:buFont typeface="Nunito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RG-D has passed the Pass1 review, and the cooking has started.</a:t>
            </a:r>
            <a:endParaRPr/>
          </a:p>
          <a:p>
            <a:pPr indent="-246063" lvl="1" marL="431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3333"/>
              <a:buChar char="o"/>
            </a:pPr>
            <a:r>
              <a:rPr lang="en"/>
              <a:t>C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alibration is completed, thanks to all the CalCom</a:t>
            </a:r>
            <a:r>
              <a:rPr lang="en"/>
              <a:t> experts</a:t>
            </a:r>
            <a:endParaRPr/>
          </a:p>
          <a:p>
            <a:pPr indent="-246063" lvl="1" marL="431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3333"/>
              <a:buChar char="o"/>
            </a:pPr>
            <a:r>
              <a:rPr lang="en"/>
              <a:t>AI network trains on outbending LD2 work well on all targets</a:t>
            </a:r>
            <a:endParaRPr/>
          </a:p>
          <a:p>
            <a:pPr indent="-246063" lvl="1" marL="431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3333"/>
              <a:buChar char="o"/>
            </a:pPr>
            <a:r>
              <a:rPr lang="en"/>
              <a:t>MC vs data efficiency studies show a small difference for LD2, larger for CuSn</a:t>
            </a:r>
            <a:endParaRPr/>
          </a:p>
          <a:p>
            <a:pPr indent="-165100" lvl="1" marL="431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1429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50800" lvl="0" marL="152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2500"/>
              <a:buFont typeface="Nunito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31763" lvl="0" marL="152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2500"/>
              <a:buFont typeface="Nunito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Optimizing analysis tools for CT and nTMDs studies to</a:t>
            </a:r>
            <a:endParaRPr/>
          </a:p>
          <a:p>
            <a:pPr indent="-122873" lvl="1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Font typeface="Nunito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Improve Particle </a:t>
            </a:r>
            <a:r>
              <a:rPr lang="en"/>
              <a:t>Identification and implement fiducial cuts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for all final-state particles</a:t>
            </a:r>
            <a:endParaRPr/>
          </a:p>
          <a:p>
            <a:pPr indent="-122873" lvl="1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Font typeface="Nunito"/>
              <a:buChar char="○"/>
            </a:pPr>
            <a:r>
              <a:rPr lang="en"/>
              <a:t>Correct for contamination with the CuSn target.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22873" lvl="1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Font typeface="Nunito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Deploy the ρ</a:t>
            </a:r>
            <a:r>
              <a:rPr baseline="30000" lang="en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event generator for its two-pion invariant mass background subtraction and apply necessary corrections for the extraction of the preliminary CT results</a:t>
            </a:r>
            <a:endParaRPr/>
          </a:p>
          <a:p>
            <a:pPr indent="-122873" lvl="1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Font typeface="Nunito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Finalize the π</a:t>
            </a:r>
            <a:r>
              <a:rPr baseline="30000" lang="en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event mixing background-subtraction and extract its preliminary asymmetry results</a:t>
            </a:r>
            <a:endParaRPr/>
          </a:p>
          <a:p>
            <a:pPr indent="-122873" lvl="1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1111"/>
              <a:buFont typeface="Nunito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Obtain the preliminary asymmetry results for charged pions nTMDs studies</a:t>
            </a:r>
            <a:endParaRPr/>
          </a:p>
        </p:txBody>
      </p:sp>
      <p:sp>
        <p:nvSpPr>
          <p:cNvPr id="307" name="Google Shape;307;p40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08" name="Google Shape;308;p40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09" name="Google Shape;309;p40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générée" id="314" name="Google Shape;3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628650" y="1501973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500"/>
              <a:buFont typeface="Arial"/>
              <a:buNone/>
            </a:pPr>
            <a:r>
              <a:rPr lang="en">
                <a:solidFill>
                  <a:srgbClr val="4B3832"/>
                </a:solidFill>
              </a:rPr>
              <a:t>Back-up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0" y="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CT Study: Very Preliminary Nuclear Transparency</a:t>
            </a:r>
            <a:endParaRPr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39846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Extract (raw) nuclear transparency as</a:t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</a:t>
            </a:r>
            <a:r>
              <a:rPr baseline="-25000" lang="en"/>
              <a:t>LD2</a:t>
            </a:r>
            <a:r>
              <a:rPr lang="en"/>
              <a:t>= 5 cm: LD2 thickness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</a:t>
            </a:r>
            <a:r>
              <a:rPr baseline="-25000" lang="en"/>
              <a:t>CxC</a:t>
            </a:r>
            <a:r>
              <a:rPr lang="en"/>
              <a:t> = 0.4 cm: CxC thickness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</a:t>
            </a:r>
            <a:r>
              <a:rPr baseline="-25000" lang="en"/>
              <a:t>Cu</a:t>
            </a:r>
            <a:r>
              <a:rPr lang="en"/>
              <a:t>= 93 μm: Copper thickness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r</a:t>
            </a:r>
            <a:r>
              <a:rPr baseline="-25000" lang="en"/>
              <a:t>Sn</a:t>
            </a:r>
            <a:r>
              <a:rPr lang="en"/>
              <a:t> = 171 μm: Tin thickness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ρ</a:t>
            </a:r>
            <a:r>
              <a:rPr baseline="-25000" lang="en"/>
              <a:t>LD2</a:t>
            </a:r>
            <a:r>
              <a:rPr lang="en"/>
              <a:t>= 0.164 g/cm</a:t>
            </a:r>
            <a:r>
              <a:rPr baseline="30000" lang="en"/>
              <a:t>3</a:t>
            </a:r>
            <a:r>
              <a:rPr lang="en"/>
              <a:t>: LD2 density 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ρ</a:t>
            </a:r>
            <a:r>
              <a:rPr baseline="-25000" lang="en"/>
              <a:t>C</a:t>
            </a:r>
            <a:r>
              <a:rPr lang="en"/>
              <a:t>= 2.2g/cm</a:t>
            </a:r>
            <a:r>
              <a:rPr baseline="30000" lang="en"/>
              <a:t>3 </a:t>
            </a:r>
            <a:r>
              <a:rPr lang="en"/>
              <a:t>: Carbon density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ρ</a:t>
            </a:r>
            <a:r>
              <a:rPr baseline="-25000" lang="en"/>
              <a:t>Cu</a:t>
            </a:r>
            <a:r>
              <a:rPr lang="en"/>
              <a:t>= 8.96 g/cm</a:t>
            </a:r>
            <a:r>
              <a:rPr baseline="30000" lang="en"/>
              <a:t>3</a:t>
            </a:r>
            <a:r>
              <a:rPr lang="en"/>
              <a:t>: Copper density </a:t>
            </a:r>
            <a:endParaRPr/>
          </a:p>
          <a:p>
            <a:pPr indent="-39846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ρ</a:t>
            </a:r>
            <a:r>
              <a:rPr baseline="-25000" lang="en"/>
              <a:t>Sn</a:t>
            </a:r>
            <a:r>
              <a:rPr lang="en"/>
              <a:t>= 7.31g/cm</a:t>
            </a:r>
            <a:r>
              <a:rPr baseline="30000" lang="en"/>
              <a:t>3 </a:t>
            </a:r>
            <a:r>
              <a:rPr lang="en"/>
              <a:t>: Tin density</a:t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635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"/>
              <a:t>Ongoing analysis by M. Maynes</a:t>
            </a:r>
            <a:endParaRPr/>
          </a:p>
        </p:txBody>
      </p:sp>
      <p:sp>
        <p:nvSpPr>
          <p:cNvPr id="326" name="Google Shape;326;p43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27" name="Google Shape;327;p43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28" name="Google Shape;328;p43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6505" y="978183"/>
            <a:ext cx="4891726" cy="377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89" y="924267"/>
            <a:ext cx="2196766" cy="734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Vz cuts: Impact of the other cuts</a:t>
            </a:r>
            <a:endParaRPr/>
          </a:p>
        </p:txBody>
      </p:sp>
      <p:sp>
        <p:nvSpPr>
          <p:cNvPr id="336" name="Google Shape;336;p44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7" name="Google Shape;337;p44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38" name="Google Shape;338;p44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4"/>
          <p:cNvSpPr txBox="1"/>
          <p:nvPr/>
        </p:nvSpPr>
        <p:spPr>
          <a:xfrm>
            <a:off x="0" y="520983"/>
            <a:ext cx="4638174" cy="43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6350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0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The study aimed to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Reduce the contamination for the target configuration with two different foils, Cu and Sn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Separate solid-foil peaks from the empty LD2 cell and scattering chamber exit windows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None/>
            </a:pPr>
            <a:r>
              <a:t/>
            </a:r>
            <a:endParaRPr b="0" i="0" sz="21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Fit with 4 Double-Sided Crystal Ball function</a:t>
            </a:r>
            <a:endParaRPr sz="1100"/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Before refinement cuts: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Exit LD2</a:t>
            </a: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0.7691 cm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Entrance LD2</a:t>
            </a: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0.7799 cm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CxC1</a:t>
            </a: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1.1182 cm</a:t>
            </a:r>
            <a:endParaRPr sz="1100"/>
          </a:p>
          <a:p>
            <a:pPr indent="-17780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ourier New"/>
              <a:buChar char="o"/>
            </a:pP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0" baseline="-2500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CxC2</a:t>
            </a:r>
            <a:r>
              <a:rPr b="0" i="0" lang="en" sz="18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1.2309 cm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RG-D Status: Calibration Summary</a:t>
            </a:r>
            <a:endParaRPr/>
          </a:p>
        </p:txBody>
      </p:sp>
      <p:sp>
        <p:nvSpPr>
          <p:cNvPr id="346" name="Google Shape;346;p45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Since March, full calibration has been completed with the following points: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Completion of DC calibration using the new suite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Training of 3 new AIs and testing on OB/IB LD2 and OB CuSn data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Validation that the AI trained on OB LD2 data performs well on all targets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Completion and validation of background merging through MC/Data tracking efficiency comparison</a:t>
            </a:r>
            <a:endParaRPr/>
          </a:p>
          <a:p>
            <a:pPr indent="-571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The timelines (v11) have been produced, along with the high-level QA one</a:t>
            </a:r>
            <a:endParaRPr/>
          </a:p>
          <a:p>
            <a:pPr indent="0" lvl="1" marL="76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571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RG-D successfully passed Pass1 review on May 27th </a:t>
            </a:r>
            <a:endParaRPr/>
          </a:p>
          <a:p>
            <a:pPr indent="-5715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Pass1 cooking initiated on June 13th using COATJAVA 13.0.0</a:t>
            </a:r>
            <a:endParaRPr/>
          </a:p>
        </p:txBody>
      </p:sp>
      <p:sp>
        <p:nvSpPr>
          <p:cNvPr id="347" name="Google Shape;347;p45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48" name="Google Shape;348;p45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49" name="Google Shape;349;p45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4574041" y="4478608"/>
            <a:ext cx="456995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 Thanks to CalCom Experts for their support </a:t>
            </a:r>
            <a:endParaRPr sz="1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Tracking efficiency: Different target</a:t>
            </a:r>
            <a:endParaRPr/>
          </a:p>
        </p:txBody>
      </p:sp>
      <p:sp>
        <p:nvSpPr>
          <p:cNvPr id="356" name="Google Shape;356;p46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For inbending LD2 vs inbending CuSn as function of DC occupancy</a:t>
            </a:r>
            <a:endParaRPr/>
          </a:p>
        </p:txBody>
      </p:sp>
      <p:sp>
        <p:nvSpPr>
          <p:cNvPr id="357" name="Google Shape;357;p46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58" name="Google Shape;358;p46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59" name="Google Shape;359;p46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6"/>
          <p:cNvSpPr/>
          <p:nvPr/>
        </p:nvSpPr>
        <p:spPr>
          <a:xfrm>
            <a:off x="159487" y="956929"/>
            <a:ext cx="6666614" cy="358228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1" name="Google Shape;361;p46"/>
          <p:cNvSpPr txBox="1"/>
          <p:nvPr/>
        </p:nvSpPr>
        <p:spPr>
          <a:xfrm>
            <a:off x="6826101" y="1041966"/>
            <a:ext cx="2315858" cy="3639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</a:pPr>
            <a:r>
              <a:rPr b="0" i="0" lang="en" sz="15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Solid line: LD2</a:t>
            </a:r>
            <a:endParaRPr sz="1100"/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</a:pPr>
            <a:r>
              <a:rPr b="0" i="0" lang="en" sz="15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Dashed line: CuSn</a:t>
            </a:r>
            <a:endParaRPr b="0" i="0" sz="15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</a:pPr>
            <a:r>
              <a:rPr b="0" i="0" lang="en" sz="15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" sz="15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AI</a:t>
            </a:r>
            <a:endParaRPr sz="1100"/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</a:pPr>
            <a:r>
              <a:rPr b="0" i="0" lang="en" sz="15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Black: Conventional</a:t>
            </a:r>
            <a:endParaRPr sz="1100"/>
          </a:p>
          <a:p>
            <a:pPr indent="-5715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Char char="•"/>
            </a:pPr>
            <a:r>
              <a:rPr b="0" i="0" lang="en" sz="15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" sz="15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ratio AI/CV</a:t>
            </a:r>
            <a:endParaRPr sz="1100"/>
          </a:p>
          <a:p>
            <a:pPr indent="3810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None/>
            </a:pPr>
            <a:r>
              <a:t/>
            </a:r>
            <a:endParaRPr b="0" i="0" sz="15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" lvl="0" marL="635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Arial"/>
              <a:buNone/>
            </a:pPr>
            <a:r>
              <a:t/>
            </a:r>
            <a:endParaRPr b="0" i="0" sz="15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None/>
            </a:pPr>
            <a:r>
              <a:rPr b="0" i="0" lang="en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Only a small difference between LD2 and CuSn</a:t>
            </a:r>
            <a:endParaRPr b="0" i="0" sz="18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Tracking efficiency: MC vs Data</a:t>
            </a:r>
            <a:endParaRPr/>
          </a:p>
        </p:txBody>
      </p:sp>
      <p:sp>
        <p:nvSpPr>
          <p:cNvPr id="367" name="Google Shape;367;p47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7150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Char char="•"/>
            </a:pPr>
            <a:r>
              <a:rPr lang="en"/>
              <a:t>Monte Carlo vs Data, for LD2 target</a:t>
            </a:r>
            <a:endParaRPr/>
          </a:p>
        </p:txBody>
      </p:sp>
      <p:sp>
        <p:nvSpPr>
          <p:cNvPr id="368" name="Google Shape;368;p47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69" name="Google Shape;369;p47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70" name="Google Shape;370;p47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47"/>
          <p:cNvSpPr/>
          <p:nvPr/>
        </p:nvSpPr>
        <p:spPr>
          <a:xfrm>
            <a:off x="33037" y="868536"/>
            <a:ext cx="6968261" cy="37539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2" name="Google Shape;372;p47"/>
          <p:cNvSpPr txBox="1"/>
          <p:nvPr/>
        </p:nvSpPr>
        <p:spPr>
          <a:xfrm>
            <a:off x="7033437" y="964905"/>
            <a:ext cx="2077526" cy="35495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None/>
            </a:pPr>
            <a:r>
              <a:rPr b="0" i="0" lang="en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Simulation well produce the data for LD2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None/>
            </a:pPr>
            <a:r>
              <a:t/>
            </a:r>
            <a:endParaRPr b="0" i="0" sz="2100">
              <a:solidFill>
                <a:srgbClr val="4B38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1800"/>
              <a:buFont typeface="Arial"/>
              <a:buNone/>
            </a:pPr>
            <a:r>
              <a:rPr b="0" i="0" lang="en" sz="1800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Bigger difference for CuSn  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Electron fiducial cuts</a:t>
            </a:r>
            <a:endParaRPr/>
          </a:p>
        </p:txBody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7148" lvl="0" marL="63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"/>
              <a:t>Event builder is used as a basis for all particles, and some refinements are developed to improve electron identification</a:t>
            </a:r>
            <a:endParaRPr/>
          </a:p>
          <a:p>
            <a:pPr indent="762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-37148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"/>
              <a:t>Raw electron cuts: 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pid = 11, status &lt; 0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2000 ≤ |status| &lt; 4000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|chi2pid| &lt; 5</a:t>
            </a:r>
            <a:endParaRPr/>
          </a:p>
          <a:p>
            <a:pPr indent="762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None/>
            </a:pPr>
            <a:r>
              <a:t/>
            </a:r>
            <a:endParaRPr/>
          </a:p>
          <a:p>
            <a:pPr indent="-37148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ct val="100000"/>
              <a:buChar char="•"/>
            </a:pPr>
            <a:r>
              <a:rPr lang="en"/>
              <a:t>Refinements: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Sampling fraction vs momentum: should be constant for an electron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v and w for the calorimeter: defined at lengths that are multiples of 4.5cm 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DC fiducial cut using θ</a:t>
            </a:r>
            <a:r>
              <a:rPr baseline="-25000" lang="en"/>
              <a:t>DC</a:t>
            </a:r>
            <a:r>
              <a:rPr lang="en"/>
              <a:t> vs edge: remove the edges of each region</a:t>
            </a:r>
            <a:endParaRPr/>
          </a:p>
          <a:p>
            <a:pPr indent="-164465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Char char="o"/>
            </a:pPr>
            <a:r>
              <a:rPr lang="en"/>
              <a:t>Vz cut: select an electron that comes from the target, and select which one</a:t>
            </a:r>
            <a:endParaRPr/>
          </a:p>
          <a:p>
            <a:pPr indent="-889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77778"/>
              <a:buNone/>
            </a:pPr>
            <a:r>
              <a:t/>
            </a:r>
            <a:endParaRPr/>
          </a:p>
        </p:txBody>
      </p:sp>
      <p:sp>
        <p:nvSpPr>
          <p:cNvPr id="379" name="Google Shape;379;p48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80" name="Google Shape;380;p48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81" name="Google Shape;381;p48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"/>
          <p:cNvSpPr txBox="1"/>
          <p:nvPr>
            <p:ph type="title"/>
          </p:nvPr>
        </p:nvSpPr>
        <p:spPr>
          <a:xfrm>
            <a:off x="0" y="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ct val="100000"/>
              <a:buFont typeface="Arial"/>
              <a:buNone/>
            </a:pPr>
            <a:r>
              <a:rPr lang="en"/>
              <a:t>Electron fiducial cuts: Sampling fraction vs p</a:t>
            </a:r>
            <a:endParaRPr/>
          </a:p>
        </p:txBody>
      </p:sp>
      <p:sp>
        <p:nvSpPr>
          <p:cNvPr id="387" name="Google Shape;387;p49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1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50 slices, fit with a Gaussian</a:t>
            </a:r>
            <a:endParaRPr/>
          </a:p>
          <a:p>
            <a:pPr indent="-177800" lvl="1" marL="2413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o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Extract the μ and σ and </a:t>
            </a:r>
            <a:r>
              <a:rPr lang="en"/>
              <a:t>f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it with:</a:t>
            </a:r>
            <a:endParaRPr/>
          </a:p>
          <a:p>
            <a:pPr indent="762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76200" lvl="0" marL="635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9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07/10/25</a:t>
            </a:r>
            <a:endParaRPr/>
          </a:p>
        </p:txBody>
      </p:sp>
      <p:sp>
        <p:nvSpPr>
          <p:cNvPr id="389" name="Google Shape;389;p49"/>
          <p:cNvSpPr txBox="1"/>
          <p:nvPr>
            <p:ph idx="11" type="ftr"/>
          </p:nvPr>
        </p:nvSpPr>
        <p:spPr>
          <a:xfrm>
            <a:off x="4856421" y="4869656"/>
            <a:ext cx="35201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 Collaboration (8-11 July 2025)</a:t>
            </a:r>
            <a:endParaRPr/>
          </a:p>
        </p:txBody>
      </p:sp>
      <p:sp>
        <p:nvSpPr>
          <p:cNvPr id="390" name="Google Shape;390;p49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\documentclass{article}&#10;\usepackage{amsmath}&#10;\pagestyle{empty}&#10;\begin{document}&#10;&#10;$$&#10;f(p;a,b,c,d) = a + bp + cp^2 + dp^3&#10;$$&#10;&#10;&#10;\end{document}" id="391" name="Google Shape;391;p49" title="IguanaTex Picture Display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99" y="1667032"/>
            <a:ext cx="3746824" cy="28774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9"/>
          <p:cNvSpPr/>
          <p:nvPr/>
        </p:nvSpPr>
        <p:spPr>
          <a:xfrm>
            <a:off x="3969192" y="1058318"/>
            <a:ext cx="5100997" cy="37206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3" name="Google Shape;393;p49"/>
          <p:cNvSpPr txBox="1"/>
          <p:nvPr/>
        </p:nvSpPr>
        <p:spPr>
          <a:xfrm>
            <a:off x="-1" y="510778"/>
            <a:ext cx="9141959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57150" lvl="0" marL="63500" marR="0" rtl="0" algn="l">
              <a:spcBef>
                <a:spcPts val="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Arial"/>
              <a:buChar char="•"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a fit of the total sampling fraction in momentum slices, a mean ± 3σ band cut around the mean:</a:t>
            </a:r>
            <a:endParaRPr sz="1100"/>
          </a:p>
        </p:txBody>
      </p:sp>
      <p:sp>
        <p:nvSpPr>
          <p:cNvPr id="394" name="Google Shape;394;p49"/>
          <p:cNvSpPr/>
          <p:nvPr/>
        </p:nvSpPr>
        <p:spPr>
          <a:xfrm>
            <a:off x="150599" y="1954778"/>
            <a:ext cx="3570140" cy="3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_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