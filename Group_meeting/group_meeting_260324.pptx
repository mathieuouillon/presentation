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9" r:id="rId3"/>
    <p:sldId id="299" r:id="rId4"/>
    <p:sldId id="280" r:id="rId5"/>
    <p:sldId id="281" r:id="rId6"/>
    <p:sldId id="282" r:id="rId7"/>
    <p:sldId id="283" r:id="rId8"/>
    <p:sldId id="284" r:id="rId9"/>
    <p:sldId id="286" r:id="rId10"/>
    <p:sldId id="287" r:id="rId11"/>
    <p:sldId id="288" r:id="rId12"/>
    <p:sldId id="289" r:id="rId13"/>
    <p:sldId id="291" r:id="rId14"/>
    <p:sldId id="293" r:id="rId15"/>
    <p:sldId id="294" r:id="rId16"/>
    <p:sldId id="295" r:id="rId17"/>
    <p:sldId id="296" r:id="rId18"/>
    <p:sldId id="297" r:id="rId19"/>
    <p:sldId id="29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62626"/>
    <a:srgbClr val="00315F"/>
    <a:srgbClr val="FAFAFA"/>
    <a:srgbClr val="23373B"/>
    <a:srgbClr val="FFFFFF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45" autoAdjust="0"/>
    <p:restoredTop sz="94637" autoAdjust="0"/>
  </p:normalViewPr>
  <p:slideViewPr>
    <p:cSldViewPr snapToGrid="0" snapToObjects="1">
      <p:cViewPr varScale="1">
        <p:scale>
          <a:sx n="168" d="100"/>
          <a:sy n="168" d="100"/>
        </p:scale>
        <p:origin x="296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24-03-26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24-03-26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jlab.org/hallb/clas12/coatjava/networks" TargetMode="Externa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03/17/26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627B-4553-2F59-665A-AE94D2E9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AAE-4E75-446A-736E-D8D0279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ABFA-6854-8C78-0ECF-9F113207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A134-1D20-C60F-4F76-F9729CB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1259BA-BD04-E0A5-F343-E2C2E68A2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1267274"/>
            <a:ext cx="10835640" cy="475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8670-351E-6B15-0847-0D3697CB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AA01-687F-321D-8FA8-B36D292C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51DB-FC12-4E27-491A-9AA62694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07243-D7B8-A610-342A-0CC10971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7B6DD-8A96-0684-8915-E99EC327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38799-A2FD-A613-0806-A59CF2B01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9973"/>
            <a:ext cx="11957174" cy="314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20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53F8-CFE8-FBD8-D135-02162627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42D8-ECC1-BBB2-4F5E-6FD560A7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97D53-F051-FED6-9466-A63F7F3B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D541F-D1C4-A283-3ED5-2E7E3505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4D56-4CCD-85A6-F818-9FE88EB5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F2AA1E-A3C7-61FF-78E4-63855EB5C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58240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I wanted to give more detail about the last week issue and how I solved it:</a:t>
            </a:r>
          </a:p>
          <a:p>
            <a:pPr lvl="1"/>
            <a:r>
              <a:rPr lang="en-US" sz="1600" dirty="0"/>
              <a:t>Last week some reconstruction jobs failed, and few week before some decoding jobs that failed</a:t>
            </a:r>
          </a:p>
          <a:p>
            <a:pPr lvl="1"/>
            <a:r>
              <a:rPr lang="en-US" sz="1600" dirty="0"/>
              <a:t>The issue was the disk requirement for these jobs</a:t>
            </a:r>
          </a:p>
          <a:p>
            <a:pPr lvl="1"/>
            <a:r>
              <a:rPr lang="en-US" sz="1600" dirty="0"/>
              <a:t>When you submit a job, you need to specify the disk usage with: -disk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If the disk usage is larger than than the jobs will crash (sometimes without a proper error message)</a:t>
            </a:r>
          </a:p>
          <a:p>
            <a:pPr lvl="1"/>
            <a:r>
              <a:rPr lang="en-US" sz="1600" dirty="0"/>
              <a:t>That disk requirement was not enforced in the past, but since January/February(?) </a:t>
            </a:r>
            <a:r>
              <a:rPr lang="en-US" sz="1600" dirty="0" err="1"/>
              <a:t>scicomp</a:t>
            </a:r>
            <a:r>
              <a:rPr lang="en-US" sz="1600" dirty="0"/>
              <a:t> start to enforce it</a:t>
            </a:r>
          </a:p>
          <a:p>
            <a:pPr lvl="1"/>
            <a:r>
              <a:rPr lang="en-US" sz="1600" dirty="0"/>
              <a:t>For the decoding jobs the workflow tools use 15 GB (and it cannot be change without modifying the code)</a:t>
            </a:r>
          </a:p>
          <a:p>
            <a:pPr lvl="1"/>
            <a:r>
              <a:rPr lang="en-US" sz="1600" dirty="0"/>
              <a:t>For RG-D we decode 5 files in the same jobs, meaning we need 10GB for the input, 5GB to store the intermediate files, and we merge all of them in 1 decoded files (~5GB)</a:t>
            </a:r>
          </a:p>
          <a:p>
            <a:pPr lvl="1"/>
            <a:r>
              <a:rPr lang="en-US" sz="1600" dirty="0"/>
              <a:t>So, we need in total ~20GB, more than the disk requirement (20GB is probably a bit too much)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662110-B040-7270-6458-600DA82E7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" y="2498320"/>
            <a:ext cx="11961827" cy="51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EA0B32-4044-6E03-F385-20B3C712B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2980"/>
            <a:ext cx="8884696" cy="1667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3F386A-F3F9-5F21-BF82-0EC247B62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696" y="4792980"/>
            <a:ext cx="3283398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0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6AA47-2714-6A80-9A4E-858DE856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EEC8-B8AC-F2EE-5F56-30F7843E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9D5C0-8226-12B4-EB22-8CFCB4F5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66366-6464-E9B0-4AC3-82387E65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60814-5036-7E6C-9113-C0DF3BBB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17982D-8D6D-51F7-C00B-EEADEF91D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6680" y="1249680"/>
            <a:ext cx="12298680" cy="4860000"/>
          </a:xfrm>
        </p:spPr>
        <p:txBody>
          <a:bodyPr>
            <a:normAutofit/>
          </a:bodyPr>
          <a:lstStyle/>
          <a:p>
            <a:pPr lvl="1"/>
            <a:r>
              <a:rPr lang="en-US" sz="1600" dirty="0"/>
              <a:t>For the reconstruction jobs, the workflow tool request 13GB of disk space</a:t>
            </a:r>
          </a:p>
          <a:p>
            <a:pPr lvl="1"/>
            <a:r>
              <a:rPr lang="en-US" sz="1600" dirty="0"/>
              <a:t>But the inputs are 2×5GB files, and we have 2×5GB intermediate files and 2 output files (3GB each?), in total ~23GB</a:t>
            </a:r>
          </a:p>
          <a:p>
            <a:pPr lvl="1"/>
            <a:r>
              <a:rPr lang="en-US" sz="1600" dirty="0"/>
              <a:t>So, the jobs will crash 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r>
              <a:rPr lang="en-US" sz="1600" dirty="0"/>
              <a:t>The solution for that is to modify the disk requirement of these jobs (for the decoding add 10GB and for the reconstruction add 20GB)</a:t>
            </a:r>
          </a:p>
          <a:p>
            <a:pPr lvl="1"/>
            <a:r>
              <a:rPr lang="en-US" sz="1600" dirty="0"/>
              <a:t>To do that I use the swif2 modify-jobs command: </a:t>
            </a:r>
          </a:p>
          <a:p>
            <a:pPr lvl="1"/>
            <a:r>
              <a:rPr lang="en-US" sz="1600" dirty="0">
                <a:latin typeface="FiraCode Nerd Font" panose="02000009000000000000" pitchFamily="49" charset="0"/>
                <a:ea typeface="FiraCode Nerd Font" panose="02000009000000000000" pitchFamily="49" charset="0"/>
                <a:cs typeface="FiraCode Nerd Font" panose="02000009000000000000" pitchFamily="49" charset="0"/>
              </a:rPr>
              <a:t>swif2 modify-jobs -workflow rgd-dmra-pass1_LD2_2-18305x144 -disk add 10gb -names rgd-dmra-pass1_LD2_2-18305x144-p0-dm-08854</a:t>
            </a:r>
          </a:p>
          <a:p>
            <a:pPr lvl="1"/>
            <a:r>
              <a:rPr lang="en-US" sz="1600" dirty="0"/>
              <a:t>To get the jobs name I use : </a:t>
            </a:r>
          </a:p>
          <a:p>
            <a:pPr lvl="1"/>
            <a:r>
              <a:rPr lang="en-US" sz="1600" dirty="0">
                <a:latin typeface="FiraCode Nerd Font" panose="02000009000000000000" pitchFamily="49" charset="0"/>
                <a:ea typeface="FiraCode Nerd Font" panose="02000009000000000000" pitchFamily="49" charset="0"/>
                <a:cs typeface="FiraCode Nerd Font" panose="02000009000000000000" pitchFamily="49" charset="0"/>
              </a:rPr>
              <a:t>swif2 status --user clas12-8 -workflow rgd-dmra-pass1_LD2_2-18305x144 -problems --display </a:t>
            </a:r>
            <a:r>
              <a:rPr lang="en-US" sz="1600" dirty="0" err="1">
                <a:latin typeface="FiraCode Nerd Font" panose="02000009000000000000" pitchFamily="49" charset="0"/>
                <a:ea typeface="FiraCode Nerd Font" panose="02000009000000000000" pitchFamily="49" charset="0"/>
                <a:cs typeface="FiraCode Nerd Font" panose="02000009000000000000" pitchFamily="49" charset="0"/>
              </a:rPr>
              <a:t>json</a:t>
            </a:r>
            <a:endParaRPr lang="en-US" sz="1600" dirty="0">
              <a:latin typeface="FiraCode Nerd Font" panose="02000009000000000000" pitchFamily="49" charset="0"/>
              <a:ea typeface="FiraCode Nerd Font" panose="02000009000000000000" pitchFamily="49" charset="0"/>
              <a:cs typeface="FiraCode Nerd Font" panose="02000009000000000000" pitchFamily="49" charset="0"/>
            </a:endParaRPr>
          </a:p>
          <a:p>
            <a:pPr lvl="1"/>
            <a:endParaRPr lang="en-US" sz="1600" dirty="0">
              <a:latin typeface="Fira Sans" panose="020B0503050000020004" pitchFamily="34" charset="0"/>
              <a:ea typeface="FiraCode Nerd Font" panose="02000009000000000000" pitchFamily="49" charset="0"/>
              <a:cs typeface="FiraCode Nerd Font" panose="02000009000000000000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25305E-4B3E-0895-FEBB-F06C4540C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" y="2183140"/>
            <a:ext cx="12108180" cy="116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8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9990B-68BA-CE42-7C5D-2384C0D8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683E-4ECE-23AD-A4D1-177DF5FE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 cooking: Skimming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398E5-DBB2-F063-184F-269343C8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B311D-3319-AB70-301D-E91E99E5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46F00-9268-FA8C-938C-03535FA06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6BA583-62E9-A975-7585-6663A8ADD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7101840" cy="4860000"/>
          </a:xfrm>
        </p:spPr>
        <p:txBody>
          <a:bodyPr>
            <a:normAutofit fontScale="92500"/>
          </a:bodyPr>
          <a:lstStyle/>
          <a:p>
            <a:r>
              <a:rPr lang="en-US" sz="2000" dirty="0"/>
              <a:t>I check the size of different skims for the color transparency</a:t>
            </a:r>
          </a:p>
          <a:p>
            <a:r>
              <a:rPr lang="en-US" sz="2000" dirty="0"/>
              <a:t>Use the run 018777: LD2 run with 100,953,988 events</a:t>
            </a:r>
          </a:p>
          <a:p>
            <a:r>
              <a:rPr lang="en-US" sz="2000" dirty="0"/>
              <a:t>DST size: 396GB</a:t>
            </a:r>
          </a:p>
          <a:p>
            <a:r>
              <a:rPr lang="en-US" sz="2000" dirty="0"/>
              <a:t>With:</a:t>
            </a:r>
          </a:p>
          <a:p>
            <a:pPr lvl="1"/>
            <a:r>
              <a:rPr lang="en-US" sz="1600" dirty="0"/>
              <a:t>Electron: all usual cuts (fiducial + other), Q</a:t>
            </a:r>
            <a:r>
              <a:rPr lang="en-US" sz="1600" baseline="30000" dirty="0"/>
              <a:t>2 </a:t>
            </a:r>
            <a:r>
              <a:rPr lang="en-US" sz="1600" dirty="0"/>
              <a:t>&gt; 1 GeV</a:t>
            </a:r>
            <a:r>
              <a:rPr lang="en-US" sz="1600" baseline="30000" dirty="0"/>
              <a:t>2</a:t>
            </a:r>
            <a:r>
              <a:rPr lang="en-US" sz="1600" dirty="0"/>
              <a:t> and W &gt; 2 GeV cuts</a:t>
            </a:r>
          </a:p>
          <a:p>
            <a:pPr lvl="1"/>
            <a:r>
              <a:rPr lang="en-US" sz="1600" dirty="0"/>
              <a:t>Pion: -10 &lt; chi2pid &lt; 10, </a:t>
            </a:r>
            <a:r>
              <a:rPr lang="en-US" sz="1600" dirty="0" err="1"/>
              <a:t>Δt</a:t>
            </a:r>
            <a:r>
              <a:rPr lang="en-US" sz="1600" dirty="0"/>
              <a:t>, p &gt; 0.3 GeV/c, </a:t>
            </a:r>
            <a:r>
              <a:rPr lang="en-US" sz="1600" dirty="0" err="1"/>
              <a:t>Vz</a:t>
            </a:r>
            <a:r>
              <a:rPr lang="en-US" sz="1600" dirty="0"/>
              <a:t> and fiducials</a:t>
            </a:r>
          </a:p>
          <a:p>
            <a:pPr lvl="1"/>
            <a:r>
              <a:rPr lang="en-US" sz="1600" dirty="0"/>
              <a:t>ρ</a:t>
            </a:r>
            <a:r>
              <a:rPr lang="en-US" sz="1600" baseline="30000" dirty="0"/>
              <a:t>0</a:t>
            </a:r>
            <a:r>
              <a:rPr lang="en-US" sz="1600" dirty="0"/>
              <a:t>: 0.1 &lt; t &lt; 0.5 GeV</a:t>
            </a:r>
            <a:r>
              <a:rPr lang="en-US" sz="1600" baseline="30000" dirty="0"/>
              <a:t>2</a:t>
            </a:r>
            <a:r>
              <a:rPr lang="en-US" sz="1600" dirty="0"/>
              <a:t>, lc &lt; 1 </a:t>
            </a:r>
            <a:r>
              <a:rPr lang="en-US" sz="1600" dirty="0" err="1"/>
              <a:t>fm</a:t>
            </a:r>
            <a:r>
              <a:rPr lang="en-US" sz="1600" dirty="0"/>
              <a:t> and </a:t>
            </a:r>
            <a:r>
              <a:rPr lang="en-US" sz="1600" dirty="0" err="1"/>
              <a:t>zh</a:t>
            </a:r>
            <a:r>
              <a:rPr lang="en-US" sz="1600" dirty="0"/>
              <a:t> &gt; 0.9</a:t>
            </a:r>
          </a:p>
          <a:p>
            <a:pPr lvl="1"/>
            <a:r>
              <a:rPr lang="en-US" sz="1600" dirty="0"/>
              <a:t>Size of the full run: 135MB → 0.03%</a:t>
            </a:r>
          </a:p>
          <a:p>
            <a:r>
              <a:rPr lang="en-US" sz="2000" dirty="0"/>
              <a:t>With:</a:t>
            </a:r>
          </a:p>
          <a:p>
            <a:pPr lvl="1"/>
            <a:r>
              <a:rPr lang="en-US" sz="1600" dirty="0"/>
              <a:t>Electron: all usual cuts (fiducial + other), Q</a:t>
            </a:r>
            <a:r>
              <a:rPr lang="en-US" sz="1600" baseline="30000" dirty="0"/>
              <a:t>2 </a:t>
            </a:r>
            <a:r>
              <a:rPr lang="en-US" sz="1600" dirty="0"/>
              <a:t>&gt; 1 GeV</a:t>
            </a:r>
            <a:r>
              <a:rPr lang="en-US" sz="1600" baseline="30000" dirty="0"/>
              <a:t>2</a:t>
            </a:r>
            <a:r>
              <a:rPr lang="en-US" sz="1600" dirty="0"/>
              <a:t> and W &gt; 2 GeV cuts</a:t>
            </a:r>
          </a:p>
          <a:p>
            <a:pPr lvl="1"/>
            <a:r>
              <a:rPr lang="en-US" sz="1600" dirty="0"/>
              <a:t>Pion: -10 &lt; chi2pid &lt; 10, </a:t>
            </a:r>
            <a:r>
              <a:rPr lang="en-US" sz="1600" dirty="0" err="1"/>
              <a:t>Δt</a:t>
            </a:r>
            <a:r>
              <a:rPr lang="en-US" sz="1600" dirty="0"/>
              <a:t>, p &gt; 0.3 GeV/c, </a:t>
            </a:r>
            <a:r>
              <a:rPr lang="en-US" sz="1600" dirty="0" err="1"/>
              <a:t>Vz</a:t>
            </a:r>
            <a:r>
              <a:rPr lang="en-US" sz="1600" dirty="0"/>
              <a:t> and fiducials</a:t>
            </a:r>
          </a:p>
          <a:p>
            <a:pPr lvl="1"/>
            <a:r>
              <a:rPr lang="en-US" sz="1600" dirty="0"/>
              <a:t>Size of the full run: 1.1GB → 0.2%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Size of full DST files: 172 TB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20A02B4-8501-6141-868C-349D648CD9FC}"/>
              </a:ext>
            </a:extLst>
          </p:cNvPr>
          <p:cNvSpPr txBox="1">
            <a:spLocks/>
          </p:cNvSpPr>
          <p:nvPr/>
        </p:nvSpPr>
        <p:spPr>
          <a:xfrm>
            <a:off x="8260080" y="1783080"/>
            <a:ext cx="1508760" cy="34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65C5F5-033B-83FC-EA67-C6319F03A108}"/>
              </a:ext>
            </a:extLst>
          </p:cNvPr>
          <p:cNvSpPr txBox="1"/>
          <p:nvPr/>
        </p:nvSpPr>
        <p:spPr>
          <a:xfrm>
            <a:off x="6834187" y="198703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74066BB-969B-809A-2E08-9A400AE00958}"/>
              </a:ext>
            </a:extLst>
          </p:cNvPr>
          <p:cNvSpPr txBox="1">
            <a:spLocks/>
          </p:cNvSpPr>
          <p:nvPr/>
        </p:nvSpPr>
        <p:spPr>
          <a:xfrm>
            <a:off x="7843520" y="1055370"/>
            <a:ext cx="38608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pPr marL="0" indent="0">
              <a:buFont typeface="Arial"/>
              <a:buNone/>
            </a:pPr>
            <a:r>
              <a:rPr lang="en-US" sz="2000" dirty="0">
                <a:solidFill>
                  <a:srgbClr val="C00000"/>
                </a:solidFill>
              </a:rPr>
              <a:t>Those numbers look very small, I need to check again</a:t>
            </a:r>
          </a:p>
          <a:p>
            <a:pPr marL="0" indent="0">
              <a:buFont typeface="Arial"/>
              <a:buNone/>
            </a:pPr>
            <a:endParaRPr lang="en-US" sz="2000" dirty="0"/>
          </a:p>
          <a:p>
            <a:pPr marL="0" indent="0">
              <a:buFont typeface="Arial"/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753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52CA-8495-E85B-C19C-F1991BB55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84521-C1BA-BE80-5281-8B5E23FB5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Background merging for simulation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4D606-1902-EE29-30EA-BCE9F467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E1BD7-AEC0-7B69-2A50-9E6B46E7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39E19-A021-9811-95F5-82881F3F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D87274-2C3A-95D8-1B95-1314D11B1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36" y="1249680"/>
            <a:ext cx="711200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Background merging:</a:t>
            </a:r>
          </a:p>
          <a:p>
            <a:pPr lvl="1"/>
            <a:r>
              <a:rPr lang="en-US" sz="1600" dirty="0"/>
              <a:t>Pure Monte Carlo simulations (generated events → GEMC → reconstruction) produce clean events that don't reflect the real experimental environment. </a:t>
            </a:r>
          </a:p>
          <a:p>
            <a:pPr lvl="1"/>
            <a:r>
              <a:rPr lang="en-US" sz="1600" dirty="0"/>
              <a:t>In practice, the CLAS12 detector sees significant backgrounds from beam-target electromagnetic interactions, Møller scattering, accidental hits, and general detector noise. </a:t>
            </a:r>
            <a:endParaRPr lang="en-US" sz="2000" dirty="0"/>
          </a:p>
          <a:p>
            <a:r>
              <a:rPr lang="en-US" sz="2000" dirty="0"/>
              <a:t>We want a bit more than 2M events each configuration split in 100 files:</a:t>
            </a:r>
          </a:p>
          <a:p>
            <a:pPr lvl="1"/>
            <a:r>
              <a:rPr lang="en-US" sz="1600" dirty="0">
                <a:solidFill>
                  <a:srgbClr val="23373B"/>
                </a:solidFill>
              </a:rPr>
              <a:t>From 1 runs with 72M events → 1M background events</a:t>
            </a:r>
          </a:p>
          <a:p>
            <a:pPr lvl="1"/>
            <a:r>
              <a:rPr lang="en-US" sz="1600" dirty="0">
                <a:solidFill>
                  <a:srgbClr val="23373B"/>
                </a:solidFill>
              </a:rPr>
              <a:t>18354 (302 decoded and merged files): 1000301 background events (around 1.4%)</a:t>
            </a:r>
          </a:p>
          <a:p>
            <a:r>
              <a:rPr lang="en-US" sz="2000" dirty="0">
                <a:solidFill>
                  <a:srgbClr val="23373B"/>
                </a:solidFill>
              </a:rPr>
              <a:t>We want background event from each target and torus polarity configuration, I chose to focus on current with at least 10% of the data for a specific configuration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C25995-E34D-85F2-90D1-8DEC23E63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908496"/>
              </p:ext>
            </p:extLst>
          </p:nvPr>
        </p:nvGraphicFramePr>
        <p:xfrm>
          <a:off x="7178040" y="900242"/>
          <a:ext cx="4892039" cy="52094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51452">
                  <a:extLst>
                    <a:ext uri="{9D8B030D-6E8A-4147-A177-3AD203B41FA5}">
                      <a16:colId xmlns:a16="http://schemas.microsoft.com/office/drawing/2014/main" val="2242945565"/>
                    </a:ext>
                  </a:extLst>
                </a:gridCol>
                <a:gridCol w="568842">
                  <a:extLst>
                    <a:ext uri="{9D8B030D-6E8A-4147-A177-3AD203B41FA5}">
                      <a16:colId xmlns:a16="http://schemas.microsoft.com/office/drawing/2014/main" val="2323733642"/>
                    </a:ext>
                  </a:extLst>
                </a:gridCol>
                <a:gridCol w="568842">
                  <a:extLst>
                    <a:ext uri="{9D8B030D-6E8A-4147-A177-3AD203B41FA5}">
                      <a16:colId xmlns:a16="http://schemas.microsoft.com/office/drawing/2014/main" val="2607139166"/>
                    </a:ext>
                  </a:extLst>
                </a:gridCol>
                <a:gridCol w="910147">
                  <a:extLst>
                    <a:ext uri="{9D8B030D-6E8A-4147-A177-3AD203B41FA5}">
                      <a16:colId xmlns:a16="http://schemas.microsoft.com/office/drawing/2014/main" val="2356006107"/>
                    </a:ext>
                  </a:extLst>
                </a:gridCol>
                <a:gridCol w="796378">
                  <a:extLst>
                    <a:ext uri="{9D8B030D-6E8A-4147-A177-3AD203B41FA5}">
                      <a16:colId xmlns:a16="http://schemas.microsoft.com/office/drawing/2014/main" val="227477826"/>
                    </a:ext>
                  </a:extLst>
                </a:gridCol>
                <a:gridCol w="796378">
                  <a:extLst>
                    <a:ext uri="{9D8B030D-6E8A-4147-A177-3AD203B41FA5}">
                      <a16:colId xmlns:a16="http://schemas.microsoft.com/office/drawing/2014/main" val="2688067907"/>
                    </a:ext>
                  </a:extLst>
                </a:gridCol>
              </a:tblGrid>
              <a:tr h="1370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 err="1">
                          <a:effectLst/>
                        </a:rPr>
                        <a:t>beam_current_request</a:t>
                      </a:r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target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n_runs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total_events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torus_scale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pct_events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72064578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100.0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 err="1">
                          <a:effectLst/>
                        </a:rPr>
                        <a:t>CuSn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16,164,206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-1.0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1.39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14073462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53,434,219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4.59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4734293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130.0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 err="1">
                          <a:effectLst/>
                        </a:rPr>
                        <a:t>CuSn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21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550,916,728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-1.0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47.28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17244490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135.0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22,294,711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1.91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1180255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150.0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496,105,782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42.58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03762918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175.0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26,278,056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2.26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43333733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CxC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5,069,529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1.18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0427633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 err="1">
                          <a:effectLst/>
                        </a:rPr>
                        <a:t>CxC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10,242,961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2.38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43323733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 err="1">
                          <a:effectLst/>
                        </a:rPr>
                        <a:t>CxC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15,138,153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3.52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26818162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CxC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373,558,009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86.76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07300387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75.0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 err="1">
                          <a:effectLst/>
                        </a:rPr>
                        <a:t>CxC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26,532,001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6.16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32821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6,966,837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0.57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42584074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10,002,718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0.82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2629307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706,491,728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57.86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6546323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100,197,071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8.21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56066299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294,980,214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24.16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34738975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75.0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51,857,208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4.25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7827530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50,548,605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-1.0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4.14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94225490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31,510,627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69055792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39,255,714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01526474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299,782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38941083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11,277,806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70862722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86.0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231,303,974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55858650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3,636,858,354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19.89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67613108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162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9,856,091,334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53.91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45856460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CuSn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4,475,796,456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24.48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8458121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CxC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10,164,252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77926300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CxC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25,505,024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7819683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CxC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8,797,963,851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99.32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38757439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75.0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CxC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24,654,459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83513606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11,130,358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8988034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54,374,188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0.54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5469445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273,098,136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2.72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30754308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234,171,970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2.33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6847890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2,798,555,356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27.87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36110275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60.0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6,618,079,189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65.92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55738400"/>
                  </a:ext>
                </a:extLst>
              </a:tr>
              <a:tr h="13709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75.0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LD2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50,464,210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1.0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0.50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5" marR="6135" marT="613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85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139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765EA-2E81-F6AD-15DE-A0E17ED9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60497-7D6F-90A6-0882-4272ACFE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8CEB5-A573-B14F-BB88-3DEC7FFB0F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24A23-DE6B-CC25-3532-0F46CF5D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9CA72-4038-F125-1087-95387953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B975D4-5379-57B2-692A-4BC0162E5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227494" cy="1432560"/>
          </a:xfrm>
        </p:spPr>
        <p:txBody>
          <a:bodyPr>
            <a:normAutofit/>
          </a:bodyPr>
          <a:lstStyle/>
          <a:p>
            <a:r>
              <a:rPr lang="en-US" sz="2000" dirty="0"/>
              <a:t>The final table, with final percentage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3C9F47-9906-EE62-DC9B-4BF30C6A5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404493"/>
              </p:ext>
            </p:extLst>
          </p:nvPr>
        </p:nvGraphicFramePr>
        <p:xfrm>
          <a:off x="277553" y="1766166"/>
          <a:ext cx="11559541" cy="30403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70624">
                  <a:extLst>
                    <a:ext uri="{9D8B030D-6E8A-4147-A177-3AD203B41FA5}">
                      <a16:colId xmlns:a16="http://schemas.microsoft.com/office/drawing/2014/main" val="956114472"/>
                    </a:ext>
                  </a:extLst>
                </a:gridCol>
                <a:gridCol w="1032102">
                  <a:extLst>
                    <a:ext uri="{9D8B030D-6E8A-4147-A177-3AD203B41FA5}">
                      <a16:colId xmlns:a16="http://schemas.microsoft.com/office/drawing/2014/main" val="885965371"/>
                    </a:ext>
                  </a:extLst>
                </a:gridCol>
                <a:gridCol w="1032102">
                  <a:extLst>
                    <a:ext uri="{9D8B030D-6E8A-4147-A177-3AD203B41FA5}">
                      <a16:colId xmlns:a16="http://schemas.microsoft.com/office/drawing/2014/main" val="3937924656"/>
                    </a:ext>
                  </a:extLst>
                </a:gridCol>
                <a:gridCol w="1651363">
                  <a:extLst>
                    <a:ext uri="{9D8B030D-6E8A-4147-A177-3AD203B41FA5}">
                      <a16:colId xmlns:a16="http://schemas.microsoft.com/office/drawing/2014/main" val="4232160756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3433259611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3190212007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907291542"/>
                    </a:ext>
                  </a:extLst>
                </a:gridCol>
                <a:gridCol w="1238521">
                  <a:extLst>
                    <a:ext uri="{9D8B030D-6E8A-4147-A177-3AD203B41FA5}">
                      <a16:colId xmlns:a16="http://schemas.microsoft.com/office/drawing/2014/main" val="3161150000"/>
                    </a:ext>
                  </a:extLst>
                </a:gridCol>
              </a:tblGrid>
              <a:tr h="2234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beam_current_request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target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n_runs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total_events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torus_scale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pct_events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Fira Sans" panose="020B0503050000020004" pitchFamily="34" charset="0"/>
                        </a:rPr>
                        <a:t>pct_filtered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pct_diff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8303453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130.0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550,916,728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47.28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52.62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5.34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1332232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496,105,782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42.58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47.38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4.80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20487510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Fira Sans" panose="020B0503050000020004" pitchFamily="34" charset="0"/>
                        </a:rPr>
                        <a:t>CxC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373,558,009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86.76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13.24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3400371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35.0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LD2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706,491,728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57.86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70.55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12.69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37732678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LD2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294,980,214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-1.0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24.16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29.45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5.29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68489040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90.0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3,636,858,354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19.89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20.24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0.35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58867393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95.0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162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9,856,091,334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53.91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54.85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0.94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3574299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100.0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CuSn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4,475,796,456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24.48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24.91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0.43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57001435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CxC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8,797,963,851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99.32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100.00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0.68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55875556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50.0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LD2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2,798,555,356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27.87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29.72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1.85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22816477"/>
                  </a:ext>
                </a:extLst>
              </a:tr>
              <a:tr h="2403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60.0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LD2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86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6,618,079,189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1.0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65.92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Fira Sans" panose="020B0503050000020004" pitchFamily="34" charset="0"/>
                        </a:rPr>
                        <a:t>70.28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Fira Sans" panose="020B0503050000020004" pitchFamily="34" charset="0"/>
                        </a:rPr>
                        <a:t>4.36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914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956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4B91-9608-2230-4D48-B95CB924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4EDA-5ED9-5149-F104-5B5BAA70B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9C636-9231-D567-082E-FC52A8BD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5360-32FE-3BEB-71EA-E0296851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CFD33-6306-8D7E-AE36-BC6E96DD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E2B4BE-D1AF-429C-4EDC-80FBC9C4C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8008620" cy="3208020"/>
          </a:xfrm>
        </p:spPr>
        <p:txBody>
          <a:bodyPr>
            <a:normAutofit/>
          </a:bodyPr>
          <a:lstStyle/>
          <a:p>
            <a:r>
              <a:rPr lang="en-US" sz="2000" dirty="0"/>
              <a:t>I made a python script to extract the background event for at runs with the correct percentage of each current based on the number of event</a:t>
            </a:r>
          </a:p>
          <a:p>
            <a:r>
              <a:rPr lang="en-US" sz="2000" dirty="0"/>
              <a:t>But it failed, got only 7540 background event for the LD2/torusP1 configuration</a:t>
            </a:r>
          </a:p>
          <a:p>
            <a:r>
              <a:rPr lang="en-US" sz="2000" dirty="0"/>
              <a:t>Need to debug the script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10170F-55A1-435A-9993-5112E97B8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211" y="103878"/>
            <a:ext cx="3239578" cy="661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92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0CD0-3F52-748D-A39C-6A4A2F58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54C9-8C45-5432-8103-EED66B108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AI for pion identification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699D2-A10B-5F43-3BE5-E80A21DD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68AB5-F9C6-AF9D-EBF6-5A5AA821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07BCD-5280-326E-6F48-AC54F8D5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F17558-24F2-06C5-3EFA-17B899974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247120" cy="784860"/>
          </a:xfrm>
        </p:spPr>
        <p:txBody>
          <a:bodyPr>
            <a:normAutofit/>
          </a:bodyPr>
          <a:lstStyle/>
          <a:p>
            <a:r>
              <a:rPr lang="en-US" sz="2000" dirty="0"/>
              <a:t>I check the effect of the </a:t>
            </a:r>
            <a:r>
              <a:rPr lang="en-US" sz="2000" dirty="0" err="1"/>
              <a:t>Δ</a:t>
            </a:r>
            <a:r>
              <a:rPr lang="en-US" sz="2000" dirty="0"/>
              <a:t>β cut (the start time was not available in these data) on the purity on simulation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68C0C2-FA27-589B-A799-09503E0D5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296" y="1642110"/>
            <a:ext cx="6154289" cy="4522470"/>
          </a:xfrm>
          <a:prstGeom prst="rect">
            <a:avLst/>
          </a:prstGeom>
        </p:spPr>
      </p:pic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6CDA725F-CA4C-8337-11A0-6BF5254E7ACB}"/>
              </a:ext>
            </a:extLst>
          </p:cNvPr>
          <p:cNvSpPr txBox="1">
            <a:spLocks/>
          </p:cNvSpPr>
          <p:nvPr/>
        </p:nvSpPr>
        <p:spPr>
          <a:xfrm>
            <a:off x="609600" y="1921972"/>
            <a:ext cx="5242560" cy="4242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Make 50 momentum slices, fit the </a:t>
            </a:r>
            <a:r>
              <a:rPr lang="en-US" sz="2000" dirty="0" err="1"/>
              <a:t>Δ</a:t>
            </a:r>
            <a:r>
              <a:rPr lang="en-US" sz="2000" dirty="0"/>
              <a:t>β distribution with gaussian</a:t>
            </a:r>
          </a:p>
          <a:p>
            <a:r>
              <a:rPr lang="en-US" sz="2000" dirty="0"/>
              <a:t>Extract mean and sigma, fit them with 2</a:t>
            </a:r>
            <a:r>
              <a:rPr lang="en-US" sz="2000" baseline="30000" dirty="0"/>
              <a:t>nd</a:t>
            </a:r>
            <a:r>
              <a:rPr lang="en-US" sz="2000" dirty="0"/>
              <a:t> order polynomial function</a:t>
            </a:r>
          </a:p>
          <a:p>
            <a:r>
              <a:rPr lang="en-US" sz="2000" dirty="0"/>
              <a:t>Use mean ± 3 sigma to cut </a:t>
            </a:r>
          </a:p>
        </p:txBody>
      </p:sp>
    </p:spTree>
    <p:extLst>
      <p:ext uri="{BB962C8B-B14F-4D97-AF65-F5344CB8AC3E}">
        <p14:creationId xmlns:p14="http://schemas.microsoft.com/office/powerpoint/2010/main" val="3335660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6BCA-E195-3C55-9655-C7F8FA30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3553-D96B-A94A-E015-3D2BE427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AI for pion identification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B122E-D97C-0FB3-072C-BD2ADDF5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1C59E-B943-DE04-0C62-13DC12A2B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23D11-4BB5-A670-BE3D-FD81E550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B54A02-CA45-38B6-7CB7-4E9889858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247120" cy="784860"/>
          </a:xfrm>
        </p:spPr>
        <p:txBody>
          <a:bodyPr>
            <a:normAutofit/>
          </a:bodyPr>
          <a:lstStyle/>
          <a:p>
            <a:r>
              <a:rPr lang="en-US" sz="2000" dirty="0"/>
              <a:t>Look on the efficiency and purity as a function of the momentum with and without the </a:t>
            </a:r>
            <a:r>
              <a:rPr lang="en-US" sz="2000" dirty="0" err="1"/>
              <a:t>Δ</a:t>
            </a:r>
            <a:r>
              <a:rPr lang="en-US" sz="2000" dirty="0"/>
              <a:t>β cut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128066-F5EC-B550-76F4-DC5E50561A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51" b="50000"/>
          <a:stretch>
            <a:fillRect/>
          </a:stretch>
        </p:blipFill>
        <p:spPr>
          <a:xfrm>
            <a:off x="335280" y="1717964"/>
            <a:ext cx="11491170" cy="360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5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4701-823D-C8DD-0432-16706A68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0849-69C4-B047-2246-161BC2E8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AI for pion identification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50FC5-747C-EFFC-0EC4-50EF979FE8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097B-FEDD-1E5F-F020-1B0D3245D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B550B-320A-57FB-7D8A-5F0E5D7D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A80EB0-99F3-02A4-914B-27ED77A95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247120" cy="784860"/>
          </a:xfrm>
        </p:spPr>
        <p:txBody>
          <a:bodyPr>
            <a:normAutofit/>
          </a:bodyPr>
          <a:lstStyle/>
          <a:p>
            <a:r>
              <a:rPr lang="en-US" sz="2000" dirty="0"/>
              <a:t>Look on the efficiency and purity as a function of the momentum with and without the </a:t>
            </a:r>
            <a:r>
              <a:rPr lang="en-US" sz="2000" dirty="0" err="1"/>
              <a:t>Δ</a:t>
            </a:r>
            <a:r>
              <a:rPr lang="en-US" sz="2000" dirty="0"/>
              <a:t>β cut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B84F9C-A812-807B-E0BF-96217963BD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512" b="50000"/>
          <a:stretch>
            <a:fillRect/>
          </a:stretch>
        </p:blipFill>
        <p:spPr>
          <a:xfrm>
            <a:off x="248493" y="1681018"/>
            <a:ext cx="11694583" cy="374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96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9ADCE-DA44-69F6-3B0F-EBC7A597D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4C45-87A3-925B-8AC9-24CC6953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AI for pion identification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257B9-1757-2CE9-C37F-CFEB9847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E83F5-C077-1E10-5579-056FCC1B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9FD67-9298-6729-023D-32A96CA5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D41F10-A0C7-C7BC-3D16-E7E802963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247120" cy="4815840"/>
          </a:xfrm>
        </p:spPr>
        <p:txBody>
          <a:bodyPr>
            <a:normAutofit/>
          </a:bodyPr>
          <a:lstStyle/>
          <a:p>
            <a:r>
              <a:rPr lang="en-US" sz="2000" dirty="0"/>
              <a:t>The purity of the AI stay much better than the Event Builder after the </a:t>
            </a:r>
            <a:r>
              <a:rPr lang="en-US" sz="2000" dirty="0" err="1"/>
              <a:t>Δ</a:t>
            </a:r>
            <a:r>
              <a:rPr lang="en-US" sz="2000" dirty="0"/>
              <a:t>β cut</a:t>
            </a:r>
          </a:p>
          <a:p>
            <a:r>
              <a:rPr lang="en-US" sz="2000" dirty="0"/>
              <a:t>But the </a:t>
            </a:r>
            <a:r>
              <a:rPr lang="en-US" sz="2000" dirty="0" err="1"/>
              <a:t>Δ</a:t>
            </a:r>
            <a:r>
              <a:rPr lang="en-US" sz="2000" dirty="0"/>
              <a:t>β cut don’t look realistic: the distribution is too clean </a:t>
            </a:r>
          </a:p>
          <a:p>
            <a:r>
              <a:rPr lang="en-US" sz="2000" dirty="0"/>
              <a:t>So, I don’t know if it will remain on real data </a:t>
            </a:r>
          </a:p>
          <a:p>
            <a:endParaRPr lang="en-US" sz="2000" dirty="0"/>
          </a:p>
          <a:p>
            <a:r>
              <a:rPr lang="en-US" sz="2000" dirty="0"/>
              <a:t>The question is: Should I continue working on an AI to improve the pion identification: </a:t>
            </a:r>
          </a:p>
          <a:p>
            <a:pPr lvl="1"/>
            <a:r>
              <a:rPr lang="en-US" sz="1800" dirty="0"/>
              <a:t>At best, it will improve the purity of the pion sample and the efficiency at high momentum (but there is no statistic here)</a:t>
            </a:r>
          </a:p>
          <a:p>
            <a:pPr lvl="1"/>
            <a:r>
              <a:rPr lang="en-US" sz="1800" dirty="0"/>
              <a:t>Next step would be to test the AI on real data and test a </a:t>
            </a:r>
            <a:r>
              <a:rPr lang="en-US" sz="1800" dirty="0" err="1"/>
              <a:t>Δt</a:t>
            </a:r>
            <a:r>
              <a:rPr lang="en-US" sz="1800" dirty="0"/>
              <a:t>/</a:t>
            </a:r>
            <a:r>
              <a:rPr lang="en-US" sz="1800" dirty="0" err="1"/>
              <a:t>Δ</a:t>
            </a:r>
            <a:r>
              <a:rPr lang="en-US" sz="1800" dirty="0"/>
              <a:t>β cut on real data: Need to recreate the data set for the training and retrain the AI, evaluate which variable use for the training are well reproduce and use only these variables</a:t>
            </a:r>
          </a:p>
        </p:txBody>
      </p:sp>
    </p:spTree>
    <p:extLst>
      <p:ext uri="{BB962C8B-B14F-4D97-AF65-F5344CB8AC3E}">
        <p14:creationId xmlns:p14="http://schemas.microsoft.com/office/powerpoint/2010/main" val="3021463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A5C-D575-7686-7D41-69E2624B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DC61-3185-1E63-DA2D-6AC9D59E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ALERT: Track matching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0860-3131-5F71-35E2-3AD8AED34E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5F633-CA2A-24BC-B6E9-38A8AAB34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9989A-01D2-9848-24B3-899FD81D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82D9C5-9BA5-61E7-C6FB-0B63414B8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247120" cy="365125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Train a new model for the track matching, use </a:t>
            </a:r>
            <a:r>
              <a:rPr lang="en-US" sz="1800" dirty="0" err="1"/>
              <a:t>Optuna</a:t>
            </a:r>
            <a:r>
              <a:rPr lang="en-US" sz="1800" dirty="0"/>
              <a:t> to find the hyperparameters for the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90AD2F-E196-89E3-3E64-DC2AFC9A6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378" y="1592518"/>
            <a:ext cx="6972622" cy="4473002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14C1F983-5DDB-8D31-1001-76C0CA4A1A9E}"/>
              </a:ext>
            </a:extLst>
          </p:cNvPr>
          <p:cNvSpPr txBox="1">
            <a:spLocks/>
          </p:cNvSpPr>
          <p:nvPr/>
        </p:nvSpPr>
        <p:spPr>
          <a:xfrm>
            <a:off x="121920" y="1775080"/>
            <a:ext cx="4937760" cy="4290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Push the new model in the networks repository: </a:t>
            </a:r>
            <a:r>
              <a:rPr lang="en-US" sz="1800" dirty="0">
                <a:hlinkClick r:id="rId3"/>
              </a:rPr>
              <a:t>https://code.jlab.org/hallb/clas12/coatjava/networks</a:t>
            </a:r>
            <a:endParaRPr lang="en-US" sz="1800" dirty="0"/>
          </a:p>
          <a:p>
            <a:r>
              <a:rPr lang="en-US" sz="1800" dirty="0"/>
              <a:t>The merge request have been accepted by Nathan</a:t>
            </a:r>
          </a:p>
          <a:p>
            <a:r>
              <a:rPr lang="en-US" sz="1800" dirty="0"/>
              <a:t>A pull request have been automatically open on COATJAVA to use the new model</a:t>
            </a:r>
          </a:p>
          <a:p>
            <a:r>
              <a:rPr lang="en-US" sz="1800" dirty="0"/>
              <a:t>And have been merged</a:t>
            </a:r>
          </a:p>
          <a:p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5F8734-30BE-09FA-1593-B0415AA02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38448"/>
            <a:ext cx="5273040" cy="50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50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BEDE0-FEBE-BDD4-EC58-B87BBC560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1D3C-2905-8331-DB49-6E4B9F072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ALERT: hit loss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3C407-B463-48F0-6C86-25EA8B6DF5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3306E-C809-C1E1-2596-29258B87E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431CD-878B-31FA-B340-43804700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C75648-3D83-6BB4-9D4D-0D3908CF0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" y="1249680"/>
            <a:ext cx="11711940" cy="1162686"/>
          </a:xfrm>
        </p:spPr>
        <p:txBody>
          <a:bodyPr>
            <a:normAutofit/>
          </a:bodyPr>
          <a:lstStyle/>
          <a:p>
            <a:r>
              <a:rPr lang="en-US" sz="2000" dirty="0"/>
              <a:t>Last week I said that we lose some hits in the reconstruction between the track finding and the Kalman Filter/track matching</a:t>
            </a:r>
          </a:p>
          <a:p>
            <a:r>
              <a:rPr lang="en-US" sz="2000" dirty="0"/>
              <a:t>I trace that back to the clustering algorithm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752B7-66D6-1ECD-08A1-3223E6D5E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980" y="2297430"/>
            <a:ext cx="3975482" cy="4152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9459D3-EA45-B58A-C214-527FA1B7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818" y="2297430"/>
            <a:ext cx="3911864" cy="4309110"/>
          </a:xfrm>
          <a:prstGeom prst="rect">
            <a:avLst/>
          </a:prstGeom>
        </p:spPr>
      </p:pic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4917520-ED20-4A1E-3D2C-3734480AB33C}"/>
              </a:ext>
            </a:extLst>
          </p:cNvPr>
          <p:cNvSpPr txBox="1">
            <a:spLocks/>
          </p:cNvSpPr>
          <p:nvPr/>
        </p:nvSpPr>
        <p:spPr>
          <a:xfrm>
            <a:off x="144780" y="2412366"/>
            <a:ext cx="3786740" cy="4309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track are construct using the clusters at the helix fitter level and then pass to the Kalman filter and the track matching</a:t>
            </a:r>
          </a:p>
          <a:p>
            <a:r>
              <a:rPr lang="en-US" sz="1800" dirty="0"/>
              <a:t>If a track don’t have a hit on the SL2L1, the track finding AI will still find the track, but the clustering algorithm will only find 3 clusters and the hit on SL1L1 will be lost.</a:t>
            </a:r>
          </a:p>
        </p:txBody>
      </p:sp>
    </p:spTree>
    <p:extLst>
      <p:ext uri="{BB962C8B-B14F-4D97-AF65-F5344CB8AC3E}">
        <p14:creationId xmlns:p14="http://schemas.microsoft.com/office/powerpoint/2010/main" val="1555815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B790-CA1B-DB29-455D-361DA3562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Timelines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D682F-6439-226B-E62A-4E610D453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During the last </a:t>
            </a:r>
            <a:r>
              <a:rPr lang="en-US" sz="2000" dirty="0" err="1"/>
              <a:t>CalCom</a:t>
            </a:r>
            <a:r>
              <a:rPr lang="en-US" sz="2000" dirty="0"/>
              <a:t> meeting Cole point at an issue in the timelines for the EC Sampling fraction timelines. The values in the timelines for some runs has 0.</a:t>
            </a:r>
          </a:p>
          <a:p>
            <a:r>
              <a:rPr lang="en-US" sz="2000" dirty="0"/>
              <a:t>It is an long standing issue. Same issue in Pass0 v3. Only for the last 2.2 GeV runs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D8FA5-44E6-5F1D-EA80-BCA8DE31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3CC90-D172-7874-8B8C-C04E87C4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BD863-7E3F-B6DF-5CE4-84659DAB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C23AE4-56CB-7162-7FDF-ADB2A95CA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81"/>
          <a:stretch>
            <a:fillRect/>
          </a:stretch>
        </p:blipFill>
        <p:spPr>
          <a:xfrm>
            <a:off x="525780" y="2430780"/>
            <a:ext cx="11292840" cy="39255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BF0EFE-97F8-BCC4-2A0B-9ADD831C3DEB}"/>
              </a:ext>
            </a:extLst>
          </p:cNvPr>
          <p:cNvSpPr/>
          <p:nvPr/>
        </p:nvSpPr>
        <p:spPr>
          <a:xfrm>
            <a:off x="9265920" y="5067300"/>
            <a:ext cx="2438400" cy="777240"/>
          </a:xfrm>
          <a:prstGeom prst="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787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75618-4CBB-43AC-4A09-5A4D2CA0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5482-5248-E4F7-E799-327B2883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Timelines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A17B9-1039-BB75-27B7-03C0B0170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674370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During the last </a:t>
            </a:r>
            <a:r>
              <a:rPr lang="en-US" sz="2000" dirty="0" err="1"/>
              <a:t>CalCom</a:t>
            </a:r>
            <a:r>
              <a:rPr lang="en-US" sz="2000" dirty="0"/>
              <a:t> meeting Cole point at an issue in the timelines for the EC Sampling fraction timelines. The values in the timelines for some runs has 0.</a:t>
            </a:r>
          </a:p>
          <a:p>
            <a:r>
              <a:rPr lang="en-US" sz="2000" dirty="0"/>
              <a:t>The issue is related to the trigger bit use in these runs</a:t>
            </a:r>
          </a:p>
          <a:p>
            <a:r>
              <a:rPr lang="en-US" sz="2000" dirty="0"/>
              <a:t>So run sector specific trigger, and the timelines code check these bit between 1 and 6 to ensure that a sector have been hit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314AB-031F-95C5-4452-4E211812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1D6BD-8FB3-9A96-C046-E0B2FA36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07217-31DB-69BB-5ECC-CCFBF4E8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5E21F4-8F9D-2E48-4F9F-4948E0188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228" y="748320"/>
            <a:ext cx="4805090" cy="54198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72D68C-E4F7-7673-6CFC-81A739587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158" y="3611103"/>
            <a:ext cx="5064842" cy="324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61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FA92B-0679-4DB1-4DF8-1892074D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045F-ECD8-0E24-1A09-14727B62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Timelines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3FE37-CA79-07A0-F82E-1C77FBDDD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1249680"/>
            <a:ext cx="7148281" cy="2049780"/>
          </a:xfrm>
        </p:spPr>
        <p:txBody>
          <a:bodyPr>
            <a:normAutofit/>
          </a:bodyPr>
          <a:lstStyle/>
          <a:p>
            <a:r>
              <a:rPr lang="en-US" sz="2000" dirty="0"/>
              <a:t>During the last </a:t>
            </a:r>
            <a:r>
              <a:rPr lang="en-US" sz="2000" dirty="0" err="1"/>
              <a:t>CalCom</a:t>
            </a:r>
            <a:r>
              <a:rPr lang="en-US" sz="2000" dirty="0"/>
              <a:t> meeting Cole point at an issue in the timelines for the EC Sampling fraction timelines. The values in the timelines for some runs has 0.</a:t>
            </a:r>
          </a:p>
          <a:p>
            <a:r>
              <a:rPr lang="en-US" sz="2000" dirty="0"/>
              <a:t>And if no sector specific bit are set the code will not fill some histograms</a:t>
            </a:r>
          </a:p>
          <a:p>
            <a:r>
              <a:rPr lang="en-US" sz="2000" dirty="0"/>
              <a:t>The fix is to bypass the function that check the trigger bit: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AF548-E67B-8EA3-A5E9-A0CFBC31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06445-AB38-B672-0AB8-C8E63591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0A819-B5BF-74F9-498F-2E93346A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CAEF4-001F-A372-DDE3-7107B0048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361" y="559882"/>
            <a:ext cx="4704483" cy="5463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D479AB-7E10-9CF2-DE13-AD3FE8CED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934" y="3295099"/>
            <a:ext cx="5453826" cy="357627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18C7A7D-52FE-7F5A-89A1-72938E75CA54}"/>
              </a:ext>
            </a:extLst>
          </p:cNvPr>
          <p:cNvSpPr/>
          <p:nvPr/>
        </p:nvSpPr>
        <p:spPr>
          <a:xfrm>
            <a:off x="1158240" y="5429209"/>
            <a:ext cx="4869180" cy="7772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42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CB2A1-DDD8-86AA-968D-4C6BEE64E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052E-AAD4-F28E-E478-B7EE0AE0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Timelines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8E9CA-9717-0310-04CF-1FEA44493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1249680"/>
            <a:ext cx="11811000" cy="2049780"/>
          </a:xfrm>
        </p:spPr>
        <p:txBody>
          <a:bodyPr>
            <a:normAutofit/>
          </a:bodyPr>
          <a:lstStyle/>
          <a:p>
            <a:r>
              <a:rPr lang="en-US" sz="2000" dirty="0"/>
              <a:t>Work well: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64AB5-59E2-C417-4281-A4A0DFDD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37A3E-5567-57F2-285C-12708AA0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BF183-B49E-93FB-69E4-26BF4728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5FAEE2-A37B-D96F-38D0-41663B16C0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2"/>
          <a:stretch>
            <a:fillRect/>
          </a:stretch>
        </p:blipFill>
        <p:spPr>
          <a:xfrm>
            <a:off x="434339" y="1628089"/>
            <a:ext cx="11040575" cy="3823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7475CF-21DA-4D4E-3B6D-F97BAABD4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9" y="5512411"/>
            <a:ext cx="7592061" cy="78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08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0B18-A4F7-1D81-1070-A5EF48BE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88E9-D918-2CB6-D9DC-2265DDB3F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" y="1196340"/>
            <a:ext cx="11879580" cy="505968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RG-D:</a:t>
            </a:r>
          </a:p>
          <a:p>
            <a:r>
              <a:rPr lang="en-US" dirty="0"/>
              <a:t>Fix the bug for the background merging and produces background files from decoded files</a:t>
            </a:r>
          </a:p>
          <a:p>
            <a:r>
              <a:rPr lang="en-US" dirty="0"/>
              <a:t>Background for ρ</a:t>
            </a:r>
            <a:r>
              <a:rPr lang="en-US" baseline="30000" dirty="0"/>
              <a:t>0</a:t>
            </a:r>
            <a:r>
              <a:rPr lang="en-US" dirty="0"/>
              <a:t> with simulation</a:t>
            </a:r>
          </a:p>
          <a:p>
            <a:r>
              <a:rPr lang="en-US" dirty="0"/>
              <a:t>Study the </a:t>
            </a:r>
            <a:r>
              <a:rPr lang="en-US" dirty="0" err="1"/>
              <a:t>CuSn</a:t>
            </a:r>
            <a:r>
              <a:rPr lang="en-US" dirty="0"/>
              <a:t> contamination using simulations </a:t>
            </a:r>
          </a:p>
          <a:p>
            <a:pPr lvl="1"/>
            <a:r>
              <a:rPr lang="en-US" dirty="0"/>
              <a:t>Maybe simulation will not work (use vertex fit, maybe the </a:t>
            </a:r>
            <a:r>
              <a:rPr lang="en-US" dirty="0" err="1"/>
              <a:t>sPlot</a:t>
            </a:r>
            <a:r>
              <a:rPr lang="en-US" dirty="0"/>
              <a:t> technique)</a:t>
            </a:r>
          </a:p>
          <a:p>
            <a:r>
              <a:rPr lang="en-US" dirty="0"/>
              <a:t>Start to work again on the π</a:t>
            </a:r>
            <a:r>
              <a:rPr lang="en-US" baseline="30000" dirty="0"/>
              <a:t>0</a:t>
            </a:r>
            <a:r>
              <a:rPr lang="en-US" dirty="0"/>
              <a:t> analysis: implement the mixing event technique for the multidimensional binning</a:t>
            </a:r>
            <a:endParaRPr lang="en-US" baseline="30000" dirty="0"/>
          </a:p>
          <a:p>
            <a:pPr marL="0" indent="0">
              <a:buNone/>
            </a:pPr>
            <a:r>
              <a:rPr lang="en-US" b="1" dirty="0"/>
              <a:t>ALERT:</a:t>
            </a:r>
          </a:p>
          <a:p>
            <a:r>
              <a:rPr lang="en-US" dirty="0"/>
              <a:t>In the past, I discuss about using another architecture than MLP for the track finding and track matching: Graph Neural Network</a:t>
            </a:r>
          </a:p>
          <a:p>
            <a:pPr lvl="1"/>
            <a:r>
              <a:rPr lang="en-US" dirty="0"/>
              <a:t>Have huge advantages: can to both at the same time, work on the hits for both detectors, no need for a clustering, can be faster(?) </a:t>
            </a:r>
          </a:p>
          <a:p>
            <a:pPr lvl="1"/>
            <a:r>
              <a:rPr lang="en-US" dirty="0"/>
              <a:t>I would like to start working on that if it is ok?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3467E-E16E-B3BB-473F-9358B861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6CE8E-A65D-3795-FB76-5060DC60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0B29-0A2C-84A9-10C4-CF8F85B9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15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11215</TotalTime>
  <Words>1870</Words>
  <Application>Microsoft Macintosh PowerPoint</Application>
  <PresentationFormat>Widescreen</PresentationFormat>
  <Paragraphs>498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Fira Sans</vt:lpstr>
      <vt:lpstr>Fira Sans Book</vt:lpstr>
      <vt:lpstr>Fira Sans Light</vt:lpstr>
      <vt:lpstr>FiraCode Nerd Font</vt:lpstr>
      <vt:lpstr>Office Theme</vt:lpstr>
      <vt:lpstr>Group meeting</vt:lpstr>
      <vt:lpstr>RG-D cooking</vt:lpstr>
      <vt:lpstr>RG-D cooking</vt:lpstr>
      <vt:lpstr>RG-D cooking</vt:lpstr>
      <vt:lpstr>RG-D cooking</vt:lpstr>
      <vt:lpstr>RG-D cooking: Skimming</vt:lpstr>
      <vt:lpstr>RG-D: Background merging for simulation</vt:lpstr>
      <vt:lpstr>RG-D cooking</vt:lpstr>
      <vt:lpstr>RG-D cooking</vt:lpstr>
      <vt:lpstr>RG-D: AI for pion identification </vt:lpstr>
      <vt:lpstr>RG-D: AI for pion identification </vt:lpstr>
      <vt:lpstr>RG-D: AI for pion identification </vt:lpstr>
      <vt:lpstr>RG-D: AI for pion identification </vt:lpstr>
      <vt:lpstr>ALERT: Track matching</vt:lpstr>
      <vt:lpstr>ALERT: hit loss</vt:lpstr>
      <vt:lpstr>ALERT: Timelines </vt:lpstr>
      <vt:lpstr>ALERT: Timelines </vt:lpstr>
      <vt:lpstr>ALERT: Timelines </vt:lpstr>
      <vt:lpstr>ALERT: Timelines 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471</cp:revision>
  <dcterms:created xsi:type="dcterms:W3CDTF">2019-12-03T01:04:10Z</dcterms:created>
  <dcterms:modified xsi:type="dcterms:W3CDTF">2026-03-24T18:24:34Z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