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package/2006/relationships/metadata/extended-properties" Target="docProps/app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9" r:id="rId3"/>
    <p:sldId id="337" r:id="rId4"/>
    <p:sldId id="265" r:id="rId5"/>
    <p:sldId id="339" r:id="rId6"/>
    <p:sldId id="342" r:id="rId7"/>
    <p:sldId id="340" r:id="rId8"/>
    <p:sldId id="338" r:id="rId9"/>
    <p:sldId id="34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D1C603-28A2-1340-9515-120EA66DFE1A}">
          <p14:sldIdLst>
            <p14:sldId id="256"/>
            <p14:sldId id="259"/>
            <p14:sldId id="337"/>
            <p14:sldId id="265"/>
            <p14:sldId id="339"/>
            <p14:sldId id="342"/>
            <p14:sldId id="340"/>
            <p14:sldId id="338"/>
            <p14:sldId id="3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643"/>
    <a:srgbClr val="23373B"/>
    <a:srgbClr val="304D59"/>
    <a:srgbClr val="00315F"/>
    <a:srgbClr val="262626"/>
    <a:srgbClr val="FAFAFA"/>
    <a:srgbClr val="FFFFFF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19" autoAdjust="0"/>
    <p:restoredTop sz="94637" autoAdjust="0"/>
  </p:normalViewPr>
  <p:slideViewPr>
    <p:cSldViewPr snapToGrid="0" snapToObjects="1">
      <p:cViewPr varScale="1">
        <p:scale>
          <a:sx n="127" d="100"/>
          <a:sy n="127" d="100"/>
        </p:scale>
        <p:origin x="880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29-07-26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29-07-26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0" i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07/28/26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360" y="16635"/>
            <a:ext cx="9496425" cy="897765"/>
          </a:xfrm>
          <a:prstGeom prst="rect">
            <a:avLst/>
          </a:prstGeom>
        </p:spPr>
        <p:txBody>
          <a:bodyPr/>
          <a:lstStyle>
            <a:lvl1pPr algn="l">
              <a:defRPr b="0" i="0" cap="small" baseline="0"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087667"/>
          </a:xfrm>
        </p:spPr>
        <p:txBody>
          <a:bodyPr>
            <a:normAutofit/>
          </a:bodyPr>
          <a:lstStyle>
            <a:lvl1pPr>
              <a:defRPr sz="24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 b="0" i="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52993"/>
            <a:ext cx="2844800" cy="365125"/>
          </a:xfrm>
        </p:spPr>
        <p:txBody>
          <a:bodyPr/>
          <a:lstStyle/>
          <a:p>
            <a:r>
              <a:rPr lang="en-US"/>
              <a:t>07/28/26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52993"/>
            <a:ext cx="3860800" cy="365125"/>
          </a:xfrm>
        </p:spPr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52993"/>
            <a:ext cx="2844800" cy="365125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386948"/>
            <a:ext cx="11872913" cy="0"/>
          </a:xfrm>
          <a:prstGeom prst="line">
            <a:avLst/>
          </a:prstGeom>
          <a:ln w="12700"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07/28/26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07/28/26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07/28/26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07/28/26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07/28/26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07/28/26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07/28/26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07/28/26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07/28/26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07/28/26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57" y="1463041"/>
            <a:ext cx="11374243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/>
              <a:t>07/28/26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r>
              <a:rPr lang="en-US" dirty="0"/>
              <a:t>Group meeting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756" y="1"/>
            <a:ext cx="9410700" cy="930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b="24538"/>
          <a:stretch>
            <a:fillRect/>
          </a:stretch>
        </p:blipFill>
        <p:spPr>
          <a:xfrm>
            <a:off x="208157" y="1"/>
            <a:ext cx="1421599" cy="93034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rgbClr val="00315F"/>
          </a:solidFill>
          <a:latin typeface="Fira Sans" panose="020B0503050000020004" pitchFamily="34" charset="0"/>
          <a:ea typeface="Fira Sans" panose="020B0503050000020004" pitchFamily="34" charset="0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b="0" i="0" kern="1200">
          <a:solidFill>
            <a:srgbClr val="243643"/>
          </a:solidFill>
          <a:latin typeface="Fira Sans" panose="020B0503050000020004" pitchFamily="34" charset="0"/>
          <a:ea typeface="Fira Sans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ndico.jlab.org/event/1077/contributions/18914/attachments/14300/23116/Presentation_CLASCollaboration_GNN_260629.pdf" TargetMode="External"/><Relationship Id="rId7" Type="http://schemas.openxmlformats.org/officeDocument/2006/relationships/hyperlink" Target="https://pages.jlab.org/hallb/clas12/hipo-cpp/" TargetMode="External"/><Relationship Id="rId2" Type="http://schemas.openxmlformats.org/officeDocument/2006/relationships/hyperlink" Target="https://clasweb.jlab.org/wiki/index.php/ALERT_Meeting_202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de.jlab.org/ouillon/alert-clas-alignment" TargetMode="External"/><Relationship Id="rId5" Type="http://schemas.openxmlformats.org/officeDocument/2006/relationships/hyperlink" Target="https://code.jlab.org/ouillon/t0rch" TargetMode="External"/><Relationship Id="rId4" Type="http://schemas.openxmlformats.org/officeDocument/2006/relationships/hyperlink" Target="https://indico.jlab.org/event/1017/contributions/18352/attachments/13823/22362/Presentation_CLASCollaboration_ALERT_260310.pdf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33385"/>
            <a:ext cx="6978580" cy="2234317"/>
          </a:xfrm>
        </p:spPr>
        <p:txBody>
          <a:bodyPr>
            <a:normAutofit/>
          </a:bodyPr>
          <a:lstStyle/>
          <a:p>
            <a:pPr lvl="0" algn="l"/>
            <a:r>
              <a:rPr lang="en-US" sz="7200" cap="small" dirty="0">
                <a:latin typeface="Fira Sans" panose="020B0503050000020004" pitchFamily="34" charset="0"/>
                <a:ea typeface="Fira Sans" panose="020B0503050000020004" pitchFamily="34" charset="0"/>
              </a:rPr>
              <a:t>Group meeting</a:t>
            </a:r>
            <a:endParaRPr sz="7200" cap="small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687324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>
                <a:latin typeface="Fira Sans" panose="020B0503050000020004" pitchFamily="34" charset="0"/>
                <a:ea typeface="Fira Sans" panose="020B0503050000020004" pitchFamily="34" charset="0"/>
              </a:rPr>
              <a:t>Mathieu Ouillon (Mississippi State University)</a:t>
            </a:r>
            <a:endParaRPr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D63A573-154D-7B40-5738-504DAF2B226D}"/>
              </a:ext>
            </a:extLst>
          </p:cNvPr>
          <p:cNvSpPr txBox="1">
            <a:spLocks/>
          </p:cNvSpPr>
          <p:nvPr/>
        </p:nvSpPr>
        <p:spPr>
          <a:xfrm>
            <a:off x="457200" y="4746014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07/28/26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0" dirty="0">
                <a:solidFill>
                  <a:srgbClr val="304D59"/>
                </a:solidFill>
                <a:latin typeface="Fira Sans Light"/>
              </a:rPr>
              <a:t>Cleaning Up</a:t>
            </a:r>
            <a:endParaRPr sz="4400" b="0" dirty="0">
              <a:solidFill>
                <a:srgbClr val="304D59"/>
              </a:solidFill>
              <a:latin typeface="Fira Sans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320611"/>
          </a:xfrm>
        </p:spPr>
        <p:txBody>
          <a:bodyPr wrap="square">
            <a:normAutofit/>
          </a:bodyPr>
          <a:lstStyle/>
          <a:p>
            <a:r>
              <a:rPr dirty="0">
                <a:solidFill>
                  <a:srgbClr val="304D59"/>
                </a:solidFill>
              </a:rPr>
              <a:t>Physics analyses</a:t>
            </a:r>
            <a:r>
              <a:rPr lang="en-US" dirty="0">
                <a:solidFill>
                  <a:srgbClr val="304D59"/>
                </a:solidFill>
              </a:rPr>
              <a:t>: finish cleaning up the </a:t>
            </a:r>
            <a:r>
              <a:rPr lang="en-US" dirty="0" err="1">
                <a:solidFill>
                  <a:srgbClr val="304D59"/>
                </a:solidFill>
              </a:rPr>
              <a:t>nuclear_transparency_python</a:t>
            </a:r>
            <a:endParaRPr lang="en-US" dirty="0">
              <a:solidFill>
                <a:srgbClr val="304D59"/>
              </a:solidFill>
            </a:endParaRPr>
          </a:p>
          <a:p>
            <a:r>
              <a:rPr lang="en-US" dirty="0" err="1">
                <a:solidFill>
                  <a:srgbClr val="304D59"/>
                </a:solidFill>
              </a:rPr>
              <a:t>Typst</a:t>
            </a:r>
            <a:r>
              <a:rPr lang="en-US" dirty="0">
                <a:solidFill>
                  <a:srgbClr val="304D59"/>
                </a:solidFill>
              </a:rPr>
              <a:t>: add a new note on Chef Cooking: </a:t>
            </a:r>
          </a:p>
          <a:p>
            <a:pPr lvl="1"/>
            <a:r>
              <a:rPr lang="en-US" dirty="0">
                <a:solidFill>
                  <a:srgbClr val="304D59"/>
                </a:solidFill>
              </a:rPr>
              <a:t>/work/clas12/</a:t>
            </a:r>
            <a:r>
              <a:rPr lang="en-US" dirty="0" err="1">
                <a:solidFill>
                  <a:srgbClr val="304D59"/>
                </a:solidFill>
              </a:rPr>
              <a:t>ouillon</a:t>
            </a:r>
            <a:r>
              <a:rPr lang="en-US" dirty="0">
                <a:solidFill>
                  <a:srgbClr val="304D59"/>
                </a:solidFill>
              </a:rPr>
              <a:t>/</a:t>
            </a:r>
            <a:r>
              <a:rPr lang="en-US" dirty="0" err="1">
                <a:solidFill>
                  <a:srgbClr val="304D59"/>
                </a:solidFill>
              </a:rPr>
              <a:t>Typst</a:t>
            </a:r>
            <a:r>
              <a:rPr lang="en-US" dirty="0">
                <a:solidFill>
                  <a:srgbClr val="304D59"/>
                </a:solidFill>
              </a:rPr>
              <a:t>/</a:t>
            </a:r>
            <a:r>
              <a:rPr lang="en-US" dirty="0" err="1">
                <a:solidFill>
                  <a:srgbClr val="304D59"/>
                </a:solidFill>
              </a:rPr>
              <a:t>CookingChefNote</a:t>
            </a:r>
            <a:endParaRPr lang="en-US" dirty="0">
              <a:solidFill>
                <a:srgbClr val="304D59"/>
              </a:solidFill>
            </a:endParaRPr>
          </a:p>
          <a:p>
            <a:pPr marL="0" indent="0">
              <a:buNone/>
            </a:pPr>
            <a:endParaRPr dirty="0">
              <a:solidFill>
                <a:srgbClr val="304D5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4B0BB-57DE-57B3-B556-A6D3F83E1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E22A9-DFFB-9101-2200-16EDEEB9B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9C31C-BF4C-3B34-6E44-A30E82725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43A3E0-8B5C-AF26-AFDA-1ADF2D276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2433439"/>
            <a:ext cx="7772400" cy="31810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999EF-04E0-1779-21E1-7674F083E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AE3FA-6029-C782-B09A-0F9E8A00B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304D59"/>
                </a:solidFill>
                <a:latin typeface="Fira Sans Light"/>
              </a:rPr>
              <a:t>Cleaning Up</a:t>
            </a:r>
            <a:endParaRPr sz="4400" b="0" dirty="0">
              <a:solidFill>
                <a:srgbClr val="304D59"/>
              </a:solidFill>
              <a:latin typeface="Fira Sans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D1984-4545-8D8E-EC7D-DB10B6FA7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82" y="1032481"/>
            <a:ext cx="11922474" cy="5320611"/>
          </a:xfrm>
        </p:spPr>
        <p:txBody>
          <a:bodyPr wrap="square">
            <a:normAutofit/>
          </a:bodyPr>
          <a:lstStyle/>
          <a:p>
            <a:r>
              <a:rPr lang="en-US" dirty="0" err="1">
                <a:solidFill>
                  <a:srgbClr val="304D59"/>
                </a:solidFill>
              </a:rPr>
              <a:t>Typst</a:t>
            </a:r>
            <a:r>
              <a:rPr lang="en-US" dirty="0">
                <a:solidFill>
                  <a:srgbClr val="304D59"/>
                </a:solidFill>
              </a:rPr>
              <a:t>: add a new note on Chef Cooking: </a:t>
            </a:r>
          </a:p>
          <a:p>
            <a:pPr lvl="1"/>
            <a:r>
              <a:rPr lang="en-US" dirty="0">
                <a:solidFill>
                  <a:srgbClr val="304D59"/>
                </a:solidFill>
              </a:rPr>
              <a:t>/work/clas12/</a:t>
            </a:r>
            <a:r>
              <a:rPr lang="en-US" dirty="0" err="1">
                <a:solidFill>
                  <a:srgbClr val="304D59"/>
                </a:solidFill>
              </a:rPr>
              <a:t>ouillon</a:t>
            </a:r>
            <a:r>
              <a:rPr lang="en-US" dirty="0">
                <a:solidFill>
                  <a:srgbClr val="304D59"/>
                </a:solidFill>
              </a:rPr>
              <a:t>/</a:t>
            </a:r>
            <a:r>
              <a:rPr lang="en-US" dirty="0" err="1">
                <a:solidFill>
                  <a:srgbClr val="304D59"/>
                </a:solidFill>
              </a:rPr>
              <a:t>Typst</a:t>
            </a:r>
            <a:r>
              <a:rPr lang="en-US" dirty="0">
                <a:solidFill>
                  <a:srgbClr val="304D59"/>
                </a:solidFill>
              </a:rPr>
              <a:t>/</a:t>
            </a:r>
            <a:r>
              <a:rPr lang="en-US" dirty="0" err="1">
                <a:solidFill>
                  <a:srgbClr val="304D59"/>
                </a:solidFill>
              </a:rPr>
              <a:t>CookingChefNote</a:t>
            </a:r>
            <a:endParaRPr lang="en-US" dirty="0">
              <a:solidFill>
                <a:srgbClr val="304D59"/>
              </a:solidFill>
            </a:endParaRPr>
          </a:p>
          <a:p>
            <a:pPr lvl="1"/>
            <a:r>
              <a:rPr lang="en-US" dirty="0">
                <a:solidFill>
                  <a:srgbClr val="304D59"/>
                </a:solidFill>
              </a:rPr>
              <a:t>With some RG-D/L specific sections:</a:t>
            </a:r>
          </a:p>
          <a:p>
            <a:pPr marL="0" indent="0">
              <a:buNone/>
            </a:pPr>
            <a:endParaRPr dirty="0">
              <a:solidFill>
                <a:srgbClr val="304D5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76694-8196-A94A-4F60-05847C5E0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1D50B-EB9B-9397-8021-D8933F0C1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3B11C-69B5-C28E-8941-3B691BC11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F4F2EF-09A5-32DD-0A87-E34C199D0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1155"/>
            <a:ext cx="5961038" cy="33367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E12E16-99EC-C1A4-94A8-B73A749D8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485" y="2581155"/>
            <a:ext cx="6032523" cy="354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46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304D59"/>
                </a:solidFill>
                <a:latin typeface="Fira Sans Light"/>
              </a:rPr>
              <a:t>RG-D: Rho</a:t>
            </a:r>
            <a:r>
              <a:rPr lang="en-US" sz="4400" b="0" dirty="0">
                <a:solidFill>
                  <a:srgbClr val="304D59"/>
                </a:solidFill>
                <a:latin typeface="Fira Sans Light"/>
              </a:rPr>
              <a:t>0</a:t>
            </a:r>
            <a:endParaRPr sz="4400" b="0" dirty="0">
              <a:solidFill>
                <a:srgbClr val="304D59"/>
              </a:solidFill>
              <a:latin typeface="Fira Sans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solidFill>
                  <a:srgbClr val="304D59"/>
                </a:solidFill>
              </a:rPr>
              <a:t>I wanted to check the the invariant mass of the oppositely charged pions:</a:t>
            </a:r>
            <a:endParaRPr dirty="0">
              <a:solidFill>
                <a:srgbClr val="304D5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BBEA7-576E-9AE3-AD6E-306EA56F9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0C27F-0739-A324-CB9F-2D715DDB3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A4C96-D2D4-DF10-B8EB-AAFC4DEBE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8327E8-2146-6FEC-8731-6F44A5DA9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370" y="1529802"/>
            <a:ext cx="7772400" cy="49231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913D-2BFB-4C3D-A6C9-CB6E98315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AD25-7244-6FB5-3C25-FB5BAC3EF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304D59"/>
                </a:solidFill>
                <a:latin typeface="Fira Sans Light"/>
              </a:rPr>
              <a:t>RG-D: Rho</a:t>
            </a:r>
            <a:r>
              <a:rPr lang="en-US" sz="4400" b="0" dirty="0">
                <a:solidFill>
                  <a:srgbClr val="304D59"/>
                </a:solidFill>
                <a:latin typeface="Fira Sans Light"/>
              </a:rPr>
              <a:t>0</a:t>
            </a:r>
            <a:endParaRPr sz="4400" b="0" dirty="0">
              <a:solidFill>
                <a:srgbClr val="304D59"/>
              </a:solidFill>
              <a:latin typeface="Fira Sans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01923-C93E-3FAC-AC9F-69FBF1838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solidFill>
                  <a:srgbClr val="304D59"/>
                </a:solidFill>
              </a:rPr>
              <a:t>I have tested a very simple event mixing</a:t>
            </a:r>
          </a:p>
          <a:p>
            <a:pPr lvl="1"/>
            <a:r>
              <a:rPr lang="en-US" dirty="0">
                <a:solidFill>
                  <a:srgbClr val="304D59"/>
                </a:solidFill>
              </a:rPr>
              <a:t>Very clear peaks for the K0s but much larger than expected</a:t>
            </a:r>
            <a:endParaRPr dirty="0">
              <a:solidFill>
                <a:srgbClr val="304D5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E5465-3074-D637-3F67-8705F46CD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B4638-6CEE-0E78-15CF-FD3736279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8C494-CEE1-B539-E23B-9C790A6EF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6C4861-51CF-5840-A49B-F4E586D119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80" r="49385"/>
          <a:stretch>
            <a:fillRect/>
          </a:stretch>
        </p:blipFill>
        <p:spPr>
          <a:xfrm>
            <a:off x="312899" y="2038093"/>
            <a:ext cx="5791200" cy="42484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24D600-8519-6098-D9F0-290353B50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904" y="2038093"/>
            <a:ext cx="6182469" cy="420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83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968DD-BD6D-A5D1-DE43-E1131A2CD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04D59"/>
                </a:solidFill>
                <a:latin typeface="Fira Sans Light"/>
              </a:rPr>
              <a:t>RG-D: Rho0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33965-1512-C708-F284-73713ABC1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5166"/>
            <a:ext cx="12192000" cy="5087667"/>
          </a:xfrm>
        </p:spPr>
        <p:txBody>
          <a:bodyPr/>
          <a:lstStyle/>
          <a:p>
            <a:r>
              <a:rPr lang="en-US" dirty="0"/>
              <a:t>Fit ρ0 peak with </a:t>
            </a:r>
            <a:r>
              <a:rPr lang="el-GR" dirty="0"/>
              <a:t>Γ </a:t>
            </a:r>
            <a:r>
              <a:rPr lang="en-US" dirty="0"/>
              <a:t>fixed to the PDG value and let a Gaussian smearing float. Whatever the smearing absorbs is the detector mass resolution: </a:t>
            </a:r>
            <a:r>
              <a:rPr lang="el-GR" dirty="0"/>
              <a:t>σ_</a:t>
            </a:r>
            <a:r>
              <a:rPr lang="en-US" dirty="0"/>
              <a:t>res = 6.9 ± 2.8 MeV.</a:t>
            </a:r>
          </a:p>
          <a:p>
            <a:r>
              <a:rPr lang="en-US" dirty="0"/>
              <a:t>The K⁰S has almost no width, so it can be no wider than the resolution. The two arrows are drawn to the same scale: the structure spans </a:t>
            </a:r>
            <a:r>
              <a:rPr lang="el-GR" dirty="0"/>
              <a:t>σ = 64 </a:t>
            </a:r>
            <a:r>
              <a:rPr lang="en-US" dirty="0"/>
              <a:t>MeV, the K⁰S </a:t>
            </a:r>
            <a:r>
              <a:rPr lang="el-GR" dirty="0"/>
              <a:t>σ = 6.9 </a:t>
            </a:r>
            <a:r>
              <a:rPr lang="en-US" dirty="0"/>
              <a:t>MeV.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BF61E-BECA-5A9F-A53C-7FFD22331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3C5E4-A680-BF70-F192-C10247E48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D1CDA-B3CD-148B-6C30-FB97766E6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655E55-ED43-2EB0-3CB1-617EC41DA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065" y="2406796"/>
            <a:ext cx="10021720" cy="434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817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A506A-2812-A629-EB0B-E1A35E0BE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96345-1697-6C0A-EDEC-844044CD6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304D59"/>
                </a:solidFill>
                <a:latin typeface="Fira Sans Light"/>
              </a:rPr>
              <a:t>RG-D: Rho</a:t>
            </a:r>
            <a:r>
              <a:rPr lang="en-US" sz="4400" b="0" dirty="0">
                <a:solidFill>
                  <a:srgbClr val="304D59"/>
                </a:solidFill>
                <a:latin typeface="Fira Sans Light"/>
              </a:rPr>
              <a:t>0</a:t>
            </a:r>
            <a:endParaRPr sz="4400" b="0" dirty="0">
              <a:solidFill>
                <a:srgbClr val="304D59"/>
              </a:solidFill>
              <a:latin typeface="Fira Sans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FC5BF-3940-20C9-F629-5698DA329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solidFill>
                  <a:srgbClr val="304D59"/>
                </a:solidFill>
              </a:rPr>
              <a:t>Try detach vertex like analysis </a:t>
            </a:r>
            <a:endParaRPr dirty="0">
              <a:solidFill>
                <a:srgbClr val="304D59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0A93D-EEEE-D3B4-47B2-5E8BAA026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14C37-8BCF-4DD7-83D4-C60881478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CB50B-08C3-B844-5D4F-1EAC24F5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D7EEEF-FAFD-4984-93E7-661137229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685" y="1571019"/>
            <a:ext cx="5245100" cy="4254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A1E27A-6361-548D-08AA-556D89C62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82" y="1571019"/>
            <a:ext cx="5676900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993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48DD4-4D90-4227-047B-002203FDD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Work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AC662-0322-3743-8AC1-0276884D3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27F6D-9396-2F48-0F02-4B44FA17A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F5435-9B38-2E26-DB43-E850BE1A3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F8BBD9-310F-9048-A6D6-27B18A7004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712451"/>
              </p:ext>
            </p:extLst>
          </p:nvPr>
        </p:nvGraphicFramePr>
        <p:xfrm>
          <a:off x="46892" y="1082268"/>
          <a:ext cx="12082586" cy="5119386"/>
        </p:xfrm>
        <a:graphic>
          <a:graphicData uri="http://schemas.openxmlformats.org/drawingml/2006/table">
            <a:tbl>
              <a:tblPr/>
              <a:tblGrid>
                <a:gridCol w="677469">
                  <a:extLst>
                    <a:ext uri="{9D8B030D-6E8A-4147-A177-3AD203B41FA5}">
                      <a16:colId xmlns:a16="http://schemas.microsoft.com/office/drawing/2014/main" val="2238698217"/>
                    </a:ext>
                  </a:extLst>
                </a:gridCol>
                <a:gridCol w="2205837">
                  <a:extLst>
                    <a:ext uri="{9D8B030D-6E8A-4147-A177-3AD203B41FA5}">
                      <a16:colId xmlns:a16="http://schemas.microsoft.com/office/drawing/2014/main" val="1505032298"/>
                    </a:ext>
                  </a:extLst>
                </a:gridCol>
                <a:gridCol w="968790">
                  <a:extLst>
                    <a:ext uri="{9D8B030D-6E8A-4147-A177-3AD203B41FA5}">
                      <a16:colId xmlns:a16="http://schemas.microsoft.com/office/drawing/2014/main" val="1203677035"/>
                    </a:ext>
                  </a:extLst>
                </a:gridCol>
                <a:gridCol w="513413">
                  <a:extLst>
                    <a:ext uri="{9D8B030D-6E8A-4147-A177-3AD203B41FA5}">
                      <a16:colId xmlns:a16="http://schemas.microsoft.com/office/drawing/2014/main" val="2771789779"/>
                    </a:ext>
                  </a:extLst>
                </a:gridCol>
                <a:gridCol w="1221920">
                  <a:extLst>
                    <a:ext uri="{9D8B030D-6E8A-4147-A177-3AD203B41FA5}">
                      <a16:colId xmlns:a16="http://schemas.microsoft.com/office/drawing/2014/main" val="32538749"/>
                    </a:ext>
                  </a:extLst>
                </a:gridCol>
                <a:gridCol w="4595258">
                  <a:extLst>
                    <a:ext uri="{9D8B030D-6E8A-4147-A177-3AD203B41FA5}">
                      <a16:colId xmlns:a16="http://schemas.microsoft.com/office/drawing/2014/main" val="977793573"/>
                    </a:ext>
                  </a:extLst>
                </a:gridCol>
                <a:gridCol w="1899899">
                  <a:extLst>
                    <a:ext uri="{9D8B030D-6E8A-4147-A177-3AD203B41FA5}">
                      <a16:colId xmlns:a16="http://schemas.microsoft.com/office/drawing/2014/main" val="2085535714"/>
                    </a:ext>
                  </a:extLst>
                </a:gridCol>
              </a:tblGrid>
              <a:tr h="534928">
                <a:tc gridSpan="7"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3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Service work 2026</a:t>
                      </a:r>
                    </a:p>
                  </a:txBody>
                  <a:tcPr marL="0" marR="0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7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355" marR="19355" marT="12904" marB="12904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7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355" marR="19355" marT="12904" marB="12904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7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355" marR="19355" marT="12904" marB="12904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7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355" marR="19355" marT="12904" marB="12904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7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355" marR="19355" marT="12904" marB="12904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7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9355" marR="19355" marT="12904" marB="12904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350565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Category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Description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Contributor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FTE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Percentage Done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Information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Calculation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119149"/>
                  </a:ext>
                </a:extLst>
              </a:tr>
              <a:tr h="38134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Cooking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Cooking Chef duties for RG-L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Mathieu Ouillon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0.125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100%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8 months of Cooking Chef duties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Chef from december 2025 to End of july 2026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297082"/>
                  </a:ext>
                </a:extLst>
              </a:tr>
              <a:tr h="106173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Software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Work on track matching with AI MLP + working on GNN for track finding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Mathieu Ouillon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0.1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100%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 err="1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Informations</a:t>
                      </a: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 can be found in the meeting minutes under the Weekly Meetings of the ALERT Collaboration wiki page: </a:t>
                      </a:r>
                      <a:r>
                        <a:rPr lang="en-US" sz="1200" b="0" i="0" u="sng" dirty="0">
                          <a:solidFill>
                            <a:srgbClr val="1155CC"/>
                          </a:solidFill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  <a:hlinkClick r:id="rId2"/>
                        </a:rPr>
                        <a:t>https://clasweb.jlab.org/wiki/index.php/ALERT_Meeting_2026</a:t>
                      </a: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 and CLAS Collaboration meeting: </a:t>
                      </a:r>
                      <a:r>
                        <a:rPr lang="en-US" sz="1200" b="0" i="0" u="sng" dirty="0">
                          <a:solidFill>
                            <a:srgbClr val="1155CC"/>
                          </a:solidFill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  <a:hlinkClick r:id="rId3"/>
                        </a:rPr>
                        <a:t>https://indico.jlab.org/event/1077/contributions/18914/attachments/14300/23116/Presentation_CLASCollaboration_GNN_260629.pdf</a:t>
                      </a: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, </a:t>
                      </a:r>
                      <a:r>
                        <a:rPr lang="en-US" sz="1200" b="0" i="0" u="sng" dirty="0">
                          <a:solidFill>
                            <a:srgbClr val="1155CC"/>
                          </a:solidFill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  <a:hlinkClick r:id="rId4"/>
                        </a:rPr>
                        <a:t>https://indico.jlab.org/event/1017/contributions/18352/attachments/13823/22362/Presentation_CLASCollaboration_ALERT_260310.pdf</a:t>
                      </a:r>
                      <a:endParaRPr lang="en-US" sz="1200" b="0" i="0" dirty="0">
                        <a:effectLst/>
                        <a:latin typeface="Fira Sans Light" panose="020B0403050000020004" pitchFamily="34" charset="0"/>
                        <a:ea typeface="Fira Sans Light" panose="020B0403050000020004" pitchFamily="34" charset="0"/>
                      </a:endParaRP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200" b="0" i="0">
                        <a:effectLst/>
                        <a:latin typeface="Fira Sans Light" panose="020B0403050000020004" pitchFamily="34" charset="0"/>
                        <a:ea typeface="Fira Sans Light" panose="020B0403050000020004" pitchFamily="34" charset="0"/>
                      </a:endParaRP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59144"/>
                  </a:ext>
                </a:extLst>
              </a:tr>
              <a:tr h="38134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Software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Work on the t0 calibration for ALERT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Mathieu Ouillon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0.0125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100%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 err="1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Informations</a:t>
                      </a: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 can be found in the meeting minutes under the Weekly Meetings of the ALERT Collaboration wiki page: </a:t>
                      </a:r>
                      <a:r>
                        <a:rPr lang="en-US" sz="1200" b="0" i="0" u="sng" dirty="0">
                          <a:solidFill>
                            <a:srgbClr val="1155CC"/>
                          </a:solidFill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  <a:hlinkClick r:id="rId2"/>
                        </a:rPr>
                        <a:t>https://clasweb.jlab.org/wiki/index.php/ALERT_Meeting_2026</a:t>
                      </a: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 and </a:t>
                      </a:r>
                      <a:r>
                        <a:rPr lang="en-US" sz="1200" b="0" i="0" u="sng" dirty="0">
                          <a:solidFill>
                            <a:srgbClr val="1155CC"/>
                          </a:solidFill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  <a:hlinkClick r:id="rId5"/>
                        </a:rPr>
                        <a:t>https://code.jlab.org/ouillon/t0rch</a:t>
                      </a:r>
                      <a:endParaRPr lang="en-US" sz="1200" b="0" i="0" dirty="0">
                        <a:effectLst/>
                        <a:latin typeface="Fira Sans Light" panose="020B0403050000020004" pitchFamily="34" charset="0"/>
                        <a:ea typeface="Fira Sans Light" panose="020B0403050000020004" pitchFamily="34" charset="0"/>
                      </a:endParaRP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200" b="0" i="0">
                        <a:effectLst/>
                        <a:latin typeface="Fira Sans Light" panose="020B0403050000020004" pitchFamily="34" charset="0"/>
                        <a:ea typeface="Fira Sans Light" panose="020B0403050000020004" pitchFamily="34" charset="0"/>
                      </a:endParaRP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159637"/>
                  </a:ext>
                </a:extLst>
              </a:tr>
              <a:tr h="551442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Software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Work on ALERT-CLAS transverse beamspot position 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Mathieu Ouillon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0.0062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100%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 err="1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Informations</a:t>
                      </a: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 can be found in the meeting minutes under the Weekly Meetings of the ALERT Collaboration wiki page: https://</a:t>
                      </a:r>
                      <a:r>
                        <a:rPr lang="en-US" sz="1200" b="0" i="0" dirty="0" err="1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clasweb.jlab.org</a:t>
                      </a: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/wiki/</a:t>
                      </a:r>
                      <a:r>
                        <a:rPr lang="en-US" sz="1200" b="0" i="0" dirty="0" err="1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index.php</a:t>
                      </a: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/ALERT_Meeting_2026 and </a:t>
                      </a:r>
                      <a:r>
                        <a:rPr lang="en-US" sz="1200" b="0" i="0" u="sng" dirty="0">
                          <a:solidFill>
                            <a:srgbClr val="1155CC"/>
                          </a:solidFill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  <a:hlinkClick r:id="rId6"/>
                        </a:rPr>
                        <a:t>https://code.jlab.org/ouillon/alert-clas-alignment#</a:t>
                      </a:r>
                      <a:endParaRPr lang="en-US" sz="1200" b="0" i="0" dirty="0">
                        <a:effectLst/>
                        <a:latin typeface="Fira Sans Light" panose="020B0403050000020004" pitchFamily="34" charset="0"/>
                        <a:ea typeface="Fira Sans Light" panose="020B0403050000020004" pitchFamily="34" charset="0"/>
                      </a:endParaRP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200" b="0" i="0">
                        <a:effectLst/>
                        <a:latin typeface="Fira Sans Light" panose="020B0403050000020004" pitchFamily="34" charset="0"/>
                        <a:ea typeface="Fira Sans Light" panose="020B0403050000020004" pitchFamily="34" charset="0"/>
                      </a:endParaRP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660380"/>
                  </a:ext>
                </a:extLst>
              </a:tr>
              <a:tr h="38134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Software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Documentation hipo-cpp library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Mathieu Ouillon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0.1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100%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u="sng" dirty="0">
                          <a:solidFill>
                            <a:srgbClr val="1155CC"/>
                          </a:solidFill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  <a:hlinkClick r:id="rId7"/>
                        </a:rPr>
                        <a:t>https://pages.jlab.org/hallb/clas12/hipo-cpp/</a:t>
                      </a:r>
                      <a:endParaRPr lang="en-US" sz="1200" b="0" i="0" u="sng" dirty="0">
                        <a:solidFill>
                          <a:srgbClr val="1155CC"/>
                        </a:solidFill>
                        <a:effectLst/>
                        <a:latin typeface="Fira Sans Light" panose="020B0403050000020004" pitchFamily="34" charset="0"/>
                        <a:ea typeface="Fira Sans Light" panose="020B0403050000020004" pitchFamily="34" charset="0"/>
                      </a:endParaRP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200" b="0" i="0" dirty="0">
                        <a:effectLst/>
                        <a:latin typeface="Fira Sans Light" panose="020B0403050000020004" pitchFamily="34" charset="0"/>
                        <a:ea typeface="Fira Sans Light" panose="020B0403050000020004" pitchFamily="34" charset="0"/>
                      </a:endParaRP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1387"/>
                  </a:ext>
                </a:extLst>
              </a:tr>
              <a:tr h="21602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200" b="0" i="0">
                        <a:effectLst/>
                        <a:latin typeface="Fira Sans Light" panose="020B0403050000020004" pitchFamily="34" charset="0"/>
                        <a:ea typeface="Fira Sans Light" panose="020B0403050000020004" pitchFamily="34" charset="0"/>
                      </a:endParaRP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200" b="0" i="0">
                        <a:effectLst/>
                        <a:latin typeface="Fira Sans Light" panose="020B0403050000020004" pitchFamily="34" charset="0"/>
                        <a:ea typeface="Fira Sans Light" panose="020B0403050000020004" pitchFamily="34" charset="0"/>
                      </a:endParaRP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Total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i="0" dirty="0">
                          <a:effectLst/>
                          <a:latin typeface="Fira Sans Light" panose="020B0403050000020004" pitchFamily="34" charset="0"/>
                          <a:ea typeface="Fira Sans Light" panose="020B0403050000020004" pitchFamily="34" charset="0"/>
                        </a:rPr>
                        <a:t>0.3437</a:t>
                      </a: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200" b="0" i="0">
                        <a:effectLst/>
                        <a:latin typeface="Fira Sans Light" panose="020B0403050000020004" pitchFamily="34" charset="0"/>
                        <a:ea typeface="Fira Sans Light" panose="020B0403050000020004" pitchFamily="34" charset="0"/>
                      </a:endParaRP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200" b="0" i="0" dirty="0">
                        <a:effectLst/>
                        <a:latin typeface="Fira Sans Light" panose="020B0403050000020004" pitchFamily="34" charset="0"/>
                        <a:ea typeface="Fira Sans Light" panose="020B0403050000020004" pitchFamily="34" charset="0"/>
                      </a:endParaRP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200" b="0" i="0" dirty="0">
                        <a:effectLst/>
                        <a:latin typeface="Fira Sans Light" panose="020B0403050000020004" pitchFamily="34" charset="0"/>
                        <a:ea typeface="Fira Sans Light" panose="020B0403050000020004" pitchFamily="34" charset="0"/>
                      </a:endParaRPr>
                    </a:p>
                  </a:txBody>
                  <a:tcPr marL="19355" marR="19355" marT="12904" marB="129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011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7874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AA071-72FC-D277-46D6-07A5C3A86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Thanks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8913C-93DD-3B21-14B2-7BFEC4B61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 you all for these two years</a:t>
            </a:r>
          </a:p>
          <a:p>
            <a:r>
              <a:rPr lang="en-US" dirty="0"/>
              <a:t>It was a great experience, I learned a lot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Stay in touch: ouillon@jlab.org or mathieu.ouillon1@gmail.com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470F5-6080-0A11-0186-0EF5FEB39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07/28/26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E5212-8108-39A0-B5C3-EF15EFB97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13799-052C-D49D-4614-A91CAA5C7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73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5496074-1DCC-FD49-93DA-4F2CC4561AA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b46c37d-841d-4d0b-b2b7-fe02fdbc604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C88D9CA-47B6-6A4B-8F47-1A768226DC03}">
  <we:reference id="wa200007297" version="1.5.0.0" store="en-US" storeType="OMEX"/>
  <we:alternateReferences>
    <we:reference id="WA200007297" version="1.5.0.0" store="WA2000072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21521</TotalTime>
  <Words>587</Words>
  <Application>Microsoft Macintosh PowerPoint</Application>
  <PresentationFormat>Widescreen</PresentationFormat>
  <Paragraphs>94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Fira Sans</vt:lpstr>
      <vt:lpstr>Fira Sans Light</vt:lpstr>
      <vt:lpstr>Office Theme</vt:lpstr>
      <vt:lpstr>Group meeting</vt:lpstr>
      <vt:lpstr>Cleaning Up</vt:lpstr>
      <vt:lpstr>Cleaning Up</vt:lpstr>
      <vt:lpstr>RG-D: Rho0</vt:lpstr>
      <vt:lpstr>RG-D: Rho0</vt:lpstr>
      <vt:lpstr>RG-D: Rho0</vt:lpstr>
      <vt:lpstr>RG-D: Rho0</vt:lpstr>
      <vt:lpstr>Service Work 2026</vt:lpstr>
      <vt:lpstr>Thanks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839</cp:revision>
  <dcterms:created xsi:type="dcterms:W3CDTF">2019-12-03T01:04:10Z</dcterms:created>
  <dcterms:modified xsi:type="dcterms:W3CDTF">2026-07-29T14:05:21Z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