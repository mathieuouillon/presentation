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9" r:id="rId3"/>
    <p:sldId id="325" r:id="rId4"/>
    <p:sldId id="332" r:id="rId5"/>
    <p:sldId id="333" r:id="rId6"/>
    <p:sldId id="340" r:id="rId7"/>
    <p:sldId id="345" r:id="rId8"/>
    <p:sldId id="346" r:id="rId9"/>
    <p:sldId id="341" r:id="rId10"/>
    <p:sldId id="347" r:id="rId11"/>
    <p:sldId id="342" r:id="rId12"/>
    <p:sldId id="348" r:id="rId13"/>
    <p:sldId id="343" r:id="rId14"/>
    <p:sldId id="349" r:id="rId15"/>
    <p:sldId id="350" r:id="rId16"/>
    <p:sldId id="351" r:id="rId17"/>
    <p:sldId id="352" r:id="rId18"/>
    <p:sldId id="344" r:id="rId19"/>
    <p:sldId id="353" r:id="rId20"/>
    <p:sldId id="339" r:id="rId21"/>
    <p:sldId id="32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88" autoAdjust="0"/>
    <p:restoredTop sz="94637" autoAdjust="0"/>
  </p:normalViewPr>
  <p:slideViewPr>
    <p:cSldViewPr snapToGrid="0" snapToObjects="1">
      <p:cViewPr varScale="1">
        <p:scale>
          <a:sx n="164" d="100"/>
          <a:sy n="164" d="100"/>
        </p:scale>
        <p:origin x="200" y="3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02/24/26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02/24/26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F4AA8-1549-4CC7-D13B-E3B1A576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360133"/>
            <a:ext cx="11468956" cy="276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3C56-5109-E1EC-BFC1-5EFEC713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2877-D853-4405-77D0-C231F7C8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080" y="0"/>
            <a:ext cx="9549319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4F71-5FA0-DC9A-8A87-0ADE7E9B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/>
          <a:p>
            <a:r>
              <a:rPr lang="en-US" dirty="0"/>
              <a:t>We want a bit more than 2M events each configuration split in 100 files:</a:t>
            </a:r>
          </a:p>
          <a:p>
            <a:pPr lvl="1"/>
            <a:r>
              <a:rPr lang="en-US" sz="2400" dirty="0">
                <a:solidFill>
                  <a:srgbClr val="23373B"/>
                </a:solidFill>
              </a:rPr>
              <a:t>From 1 runs with 72M events → 1M background events</a:t>
            </a:r>
          </a:p>
          <a:p>
            <a:pPr lvl="1"/>
            <a:r>
              <a:rPr lang="en-US" sz="2400" dirty="0">
                <a:solidFill>
                  <a:srgbClr val="23373B"/>
                </a:solidFill>
              </a:rPr>
              <a:t>18354 (302 decoded and merged files): 1000301 background events (around 1.4%)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4FFBE-F319-DF64-6D08-95C7752B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8454A-7A60-0C93-AEA0-C4277C7B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BDA3-EAFB-6A83-3FEF-2120CFA0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640E3E-2757-F8A3-D8A2-68FD52D7B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27458"/>
              </p:ext>
            </p:extLst>
          </p:nvPr>
        </p:nvGraphicFramePr>
        <p:xfrm>
          <a:off x="6613634" y="55178"/>
          <a:ext cx="5503466" cy="6785856"/>
        </p:xfrm>
        <a:graphic>
          <a:graphicData uri="http://schemas.openxmlformats.org/drawingml/2006/table">
            <a:tbl>
              <a:tblPr/>
              <a:tblGrid>
                <a:gridCol w="839269">
                  <a:extLst>
                    <a:ext uri="{9D8B030D-6E8A-4147-A177-3AD203B41FA5}">
                      <a16:colId xmlns:a16="http://schemas.microsoft.com/office/drawing/2014/main" val="56293953"/>
                    </a:ext>
                  </a:extLst>
                </a:gridCol>
                <a:gridCol w="727276">
                  <a:extLst>
                    <a:ext uri="{9D8B030D-6E8A-4147-A177-3AD203B41FA5}">
                      <a16:colId xmlns:a16="http://schemas.microsoft.com/office/drawing/2014/main" val="190695277"/>
                    </a:ext>
                  </a:extLst>
                </a:gridCol>
                <a:gridCol w="1109091">
                  <a:extLst>
                    <a:ext uri="{9D8B030D-6E8A-4147-A177-3AD203B41FA5}">
                      <a16:colId xmlns:a16="http://schemas.microsoft.com/office/drawing/2014/main" val="3350375588"/>
                    </a:ext>
                  </a:extLst>
                </a:gridCol>
                <a:gridCol w="869267">
                  <a:extLst>
                    <a:ext uri="{9D8B030D-6E8A-4147-A177-3AD203B41FA5}">
                      <a16:colId xmlns:a16="http://schemas.microsoft.com/office/drawing/2014/main" val="4077684635"/>
                    </a:ext>
                  </a:extLst>
                </a:gridCol>
                <a:gridCol w="1032900">
                  <a:extLst>
                    <a:ext uri="{9D8B030D-6E8A-4147-A177-3AD203B41FA5}">
                      <a16:colId xmlns:a16="http://schemas.microsoft.com/office/drawing/2014/main" val="101571024"/>
                    </a:ext>
                  </a:extLst>
                </a:gridCol>
                <a:gridCol w="925663">
                  <a:extLst>
                    <a:ext uri="{9D8B030D-6E8A-4147-A177-3AD203B41FA5}">
                      <a16:colId xmlns:a16="http://schemas.microsoft.com/office/drawing/2014/main" val="2285479927"/>
                    </a:ext>
                  </a:extLst>
                </a:gridCol>
              </a:tblGrid>
              <a:tr h="1750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Target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Torus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Beam Current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Num Runs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Event Count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Percentage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462901"/>
                  </a:ext>
                </a:extLst>
              </a:tr>
              <a:tr h="175033">
                <a:tc rowSpan="1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-1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16164206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1.4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581186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110na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53434219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4.6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662507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130na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25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551602073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47.3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028920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135na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22294711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1.9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77361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150na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496106028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42.6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491924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175na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26278056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2.3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58056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67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4476544824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24.5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842531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31510627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546117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39319399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873178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39458848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184800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86na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8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231383125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1.3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160521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70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3612079659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19.7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277253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179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9861877767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53.9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34897"/>
                  </a:ext>
                </a:extLst>
              </a:tr>
              <a:tr h="175033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CxC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-1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6254024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1.4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402558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10242961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2.4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155516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15138153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3.5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145201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373558009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86.5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691304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26532001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6.1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12782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10164252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056104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25505024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68594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127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8900163297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99.3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687216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24654459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0.3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004379"/>
                  </a:ext>
                </a:extLst>
              </a:tr>
              <a:tr h="175033">
                <a:tc rowSpan="1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-1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50548605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4.1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51850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20na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10002720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0.8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241441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706491728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57.9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857228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100197071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8.2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031233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295112978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24.2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85683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6966837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0.6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72522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51857208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4.2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66012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3910" marR="53910" marT="26955" marB="269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11130358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87847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327477900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3.3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547304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45na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234171970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2.3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170167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42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2798586689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27.9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709777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60na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97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6622227758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65.9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611049"/>
                  </a:ext>
                </a:extLst>
              </a:tr>
              <a:tr h="1750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75na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50464210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Sans" panose="020B0503050000020004" pitchFamily="34" charset="0"/>
                        </a:rPr>
                        <a:t>0.5</a:t>
                      </a:r>
                      <a:endParaRPr lang="en-US" sz="2400" b="0" i="0" u="none" strike="noStrike" dirty="0"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5616" marR="5616" marT="5616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30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90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A97A-EC47-B237-8F68-7F4FBCC6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DA1B-396F-B2BC-64B8-6BDFBB82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346180" cy="4860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the fiducial cuts on </a:t>
            </a:r>
            <a:r>
              <a:rPr lang="en-US" dirty="0" err="1"/>
              <a:t>pions</a:t>
            </a:r>
            <a:r>
              <a:rPr lang="en-US" dirty="0"/>
              <a:t>, I was thinking of using the similar cuts as for the electrons</a:t>
            </a:r>
          </a:p>
          <a:p>
            <a:pPr lvl="1"/>
            <a:r>
              <a:rPr lang="en-US" dirty="0"/>
              <a:t>Cuts on the calorimeter: lv and </a:t>
            </a:r>
            <a:r>
              <a:rPr lang="en-US" dirty="0" err="1"/>
              <a:t>lw</a:t>
            </a:r>
            <a:endParaRPr lang="en-US" dirty="0"/>
          </a:p>
          <a:p>
            <a:pPr lvl="1"/>
            <a:r>
              <a:rPr lang="en-US" dirty="0"/>
              <a:t>And on the DC</a:t>
            </a:r>
          </a:p>
          <a:p>
            <a:r>
              <a:rPr lang="en-US" dirty="0"/>
              <a:t>But for the calorimeter, the lv and </a:t>
            </a:r>
            <a:r>
              <a:rPr lang="en-US" dirty="0" err="1"/>
              <a:t>lw</a:t>
            </a:r>
            <a:r>
              <a:rPr lang="en-US" dirty="0"/>
              <a:t> are not define for many </a:t>
            </a:r>
            <a:r>
              <a:rPr lang="en-US" dirty="0" err="1"/>
              <a:t>pions</a:t>
            </a:r>
            <a:r>
              <a:rPr lang="en-US" dirty="0"/>
              <a:t>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Raffaella told me that the calorimeter is not use for hadron PID, so no fiducial cuts on the calorimeter for hadron.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7BA8-B12E-EB27-D771-DDD6854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2C696-512B-A16B-57AF-42F83F4A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34C53-B3F8-8573-61D3-D3CAF386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53B0-416C-096D-D58E-688E7DF6B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3105461"/>
            <a:ext cx="4945380" cy="16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6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8760-9D5F-BC92-69B9-60BCEFDB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CB45-2B1F-FD72-9C06-F39AF550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902DA-770A-6107-8BD6-976C8CE9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DBE95-6850-4B3C-C6DE-2DB6045C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EDFA9-CD72-85DF-01C2-0043BF58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EA42C8-953C-D391-1801-AF6E7133BBD4}"/>
              </a:ext>
            </a:extLst>
          </p:cNvPr>
          <p:cNvSpPr txBox="1">
            <a:spLocks/>
          </p:cNvSpPr>
          <p:nvPr/>
        </p:nvSpPr>
        <p:spPr>
          <a:xfrm>
            <a:off x="609600" y="1249680"/>
            <a:ext cx="109728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the </a:t>
            </a:r>
            <a:r>
              <a:rPr lang="en-US" dirty="0" err="1"/>
              <a:t>Δt</a:t>
            </a:r>
            <a:r>
              <a:rPr lang="en-US" dirty="0"/>
              <a:t> vs p cut: </a:t>
            </a:r>
          </a:p>
          <a:p>
            <a:pPr lvl="1"/>
            <a:r>
              <a:rPr lang="en-US" dirty="0"/>
              <a:t>Forward detector: 2000 &lt;= status &lt; 4000</a:t>
            </a:r>
          </a:p>
          <a:p>
            <a:pPr lvl="1"/>
            <a:r>
              <a:rPr lang="en-US" dirty="0"/>
              <a:t>|Chi2pid| &lt; 10, 0.3 &lt; p, </a:t>
            </a:r>
            <a:r>
              <a:rPr lang="en-US" dirty="0" err="1"/>
              <a:t>Δt</a:t>
            </a:r>
            <a:r>
              <a:rPr lang="en-US" dirty="0"/>
              <a:t> cuts: </a:t>
            </a:r>
            <a:r>
              <a:rPr lang="en-US" dirty="0" err="1"/>
              <a:t>μ</a:t>
            </a:r>
            <a:r>
              <a:rPr lang="en-US" dirty="0"/>
              <a:t> ± 3σ, </a:t>
            </a:r>
            <a:r>
              <a:rPr lang="en-US" dirty="0" err="1"/>
              <a:t>Vz</a:t>
            </a:r>
            <a:r>
              <a:rPr lang="en-US" dirty="0"/>
              <a:t> cuts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C8E3D-4629-FA82-047F-CB864FD8A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93" y="2468880"/>
            <a:ext cx="10972800" cy="37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1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9413-10DB-275C-F6F2-0AA07749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A68B-F2A3-6F94-9D44-B7F7E8AD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49680"/>
            <a:ext cx="11372193" cy="4860000"/>
          </a:xfrm>
        </p:spPr>
        <p:txBody>
          <a:bodyPr/>
          <a:lstStyle/>
          <a:p>
            <a:r>
              <a:rPr lang="en-US" dirty="0"/>
              <a:t>I wanted to study the impact of the </a:t>
            </a:r>
            <a:r>
              <a:rPr lang="en-US" dirty="0" err="1"/>
              <a:t>Δt</a:t>
            </a:r>
            <a:r>
              <a:rPr lang="en-US" dirty="0"/>
              <a:t> vs p cut on the invariant mass of the two </a:t>
            </a:r>
            <a:r>
              <a:rPr lang="en-US" dirty="0" err="1"/>
              <a:t>pions</a:t>
            </a:r>
            <a:r>
              <a:rPr lang="en-US" dirty="0"/>
              <a:t>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0230-2F95-5C90-A2EB-526C7FD0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E36CE-0D01-CB2A-4CB3-BD6252FA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C2597-A300-D4EE-F5D4-4DAB3C67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B3F5B0-B469-11D2-092A-475E4E6F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46" y="1995746"/>
            <a:ext cx="10766898" cy="42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2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3FA4-C907-C3E0-7B62-05205976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9431-A7BA-3F95-ED9B-59B30A5F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09A2-5C12-1195-3DE2-FD54CCA4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49680"/>
            <a:ext cx="11372193" cy="4860000"/>
          </a:xfrm>
        </p:spPr>
        <p:txBody>
          <a:bodyPr/>
          <a:lstStyle/>
          <a:p>
            <a:r>
              <a:rPr lang="en-US" dirty="0"/>
              <a:t>I wanted to study the impact of the </a:t>
            </a:r>
            <a:r>
              <a:rPr lang="en-US" dirty="0" err="1"/>
              <a:t>Δt</a:t>
            </a:r>
            <a:r>
              <a:rPr lang="en-US" dirty="0"/>
              <a:t> vs p cut on the invariant mass of the two </a:t>
            </a:r>
            <a:r>
              <a:rPr lang="en-US" dirty="0" err="1"/>
              <a:t>pions</a:t>
            </a:r>
            <a:r>
              <a:rPr lang="en-US" dirty="0"/>
              <a:t>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AE9D5-9A8E-2AA7-22DD-F3F15FC6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D7204-9DCB-7C3A-5ACE-64804DED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1C3CE-33BD-5FC4-8153-EC85E584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BC8C1-48E6-890C-B840-7E411489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368"/>
          <a:stretch>
            <a:fillRect/>
          </a:stretch>
        </p:blipFill>
        <p:spPr>
          <a:xfrm>
            <a:off x="912246" y="1995746"/>
            <a:ext cx="4913113" cy="422150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7EE59E-3203-B175-B262-6F109F198DB6}"/>
              </a:ext>
            </a:extLst>
          </p:cNvPr>
          <p:cNvSpPr txBox="1">
            <a:spLocks/>
          </p:cNvSpPr>
          <p:nvPr/>
        </p:nvSpPr>
        <p:spPr>
          <a:xfrm>
            <a:off x="5880538" y="1860330"/>
            <a:ext cx="6253654" cy="4138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Almost not difference for </a:t>
            </a:r>
            <a:r>
              <a:rPr lang="en-US" dirty="0" err="1"/>
              <a:t>σ</a:t>
            </a:r>
            <a:r>
              <a:rPr lang="en-US" dirty="0"/>
              <a:t> &gt; 3</a:t>
            </a:r>
          </a:p>
        </p:txBody>
      </p:sp>
    </p:spTree>
    <p:extLst>
      <p:ext uri="{BB962C8B-B14F-4D97-AF65-F5344CB8AC3E}">
        <p14:creationId xmlns:p14="http://schemas.microsoft.com/office/powerpoint/2010/main" val="303024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555E-513D-54E9-5997-EBE26022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C01E-5B92-906A-F9AD-904A2CEF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484E-EC79-75D9-1A94-F8CC4952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49680"/>
            <a:ext cx="11372193" cy="4860000"/>
          </a:xfrm>
        </p:spPr>
        <p:txBody>
          <a:bodyPr/>
          <a:lstStyle/>
          <a:p>
            <a:r>
              <a:rPr lang="en-US" dirty="0"/>
              <a:t>Look at the significance:</a:t>
            </a:r>
          </a:p>
          <a:p>
            <a:pPr lvl="1"/>
            <a:r>
              <a:rPr lang="en-US" dirty="0"/>
              <a:t>S: total counts under the Breit-Wigner curve over the entire fitted region</a:t>
            </a:r>
          </a:p>
          <a:p>
            <a:pPr lvl="1"/>
            <a:r>
              <a:rPr lang="en-US" dirty="0"/>
              <a:t>B: total background counts under the polynomial in the rho0 peak window only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59126-51C4-8E61-EFFF-826A1EB3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E6791-BFD7-E095-9736-C81ADEEF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DB12-3181-A063-8B15-3517D8BA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B6B96-7EC8-6A2D-C336-4879141D5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"/>
          <a:stretch>
            <a:fillRect/>
          </a:stretch>
        </p:blipFill>
        <p:spPr>
          <a:xfrm>
            <a:off x="262770" y="2464130"/>
            <a:ext cx="11666459" cy="427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4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670E-524F-B5BE-942E-27372A10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83895-5846-38E1-90B9-F6AF851A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74593-F4FA-988A-71A3-131A5628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394E-16E7-2FF6-7CC6-E0C4BFBB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F62932-5420-577D-A210-3EBA399AA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788417"/>
            <a:ext cx="7058025" cy="601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1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B3AD-2C28-8920-5A06-F3637A26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004B-F885-8E47-6CFD-C323222F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Cuts for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F788-B03C-B013-7FCA-B41FB525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A988E-5583-E52D-C7B9-68028E49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F210A-B061-C8CC-B2C7-C5F051EC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B3071-48E5-357A-4648-4A9D18D3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6" y="880025"/>
            <a:ext cx="9809244" cy="54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8880-9366-3AFA-83CE-16842692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176AA-2786-8F75-9FFD-E758B72B1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realize what is the issue with the fit for the invariant mass of the two </a:t>
            </a:r>
            <a:r>
              <a:rPr lang="en-US" dirty="0" err="1"/>
              <a:t>pions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CB62E-59DC-6734-89C6-574EE791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35C2-1098-AFAF-9785-9B5B740BE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93C8-9799-4B2A-D73F-18632986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97BE3-5636-C28B-BF70-8BB494BC8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4432"/>
            <a:ext cx="6973460" cy="5036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C10A09-22FF-D9DB-9F95-5F262B8E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39" y="2217014"/>
            <a:ext cx="4117581" cy="799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EE0282-EF2A-DE5A-5D30-8AAE83D42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39" y="3259684"/>
            <a:ext cx="4117581" cy="66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0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95C6-1B65-5FE5-3B3D-403D399D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CB4-DC87-3103-F4EB-6C4E6625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7C19-FF48-7D23-E529-C824AE29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different background functions: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F115-132D-BC03-6620-70862C4D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A1F78-391E-365D-2A31-B1A0AF49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4451-2D61-1CB5-19FF-B1B6A7E2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3E7686-B011-DF83-9591-9D2E6273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65" y="1672117"/>
            <a:ext cx="10546292" cy="5185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521F88-A932-0B68-88D0-82A2500C7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19" y="4355388"/>
            <a:ext cx="4491583" cy="225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3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ED35-0675-6DC2-1574-A64B91F9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A0CC-AADC-D381-6127-20A48CEC4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294586" cy="4860000"/>
          </a:xfrm>
        </p:spPr>
        <p:txBody>
          <a:bodyPr/>
          <a:lstStyle/>
          <a:p>
            <a:r>
              <a:rPr lang="en-US" dirty="0"/>
              <a:t>Try different model functions: </a:t>
            </a:r>
          </a:p>
          <a:p>
            <a:pPr lvl="1"/>
            <a:r>
              <a:rPr lang="en-US" dirty="0"/>
              <a:t>Non-relativistic Breit-Wigner</a:t>
            </a:r>
          </a:p>
          <a:p>
            <a:pPr lvl="1"/>
            <a:r>
              <a:rPr lang="en-US" dirty="0"/>
              <a:t>Relativistic Breit-Wigner</a:t>
            </a:r>
          </a:p>
          <a:p>
            <a:pPr lvl="1"/>
            <a:r>
              <a:rPr lang="en-US" dirty="0"/>
              <a:t>Ross-</a:t>
            </a:r>
            <a:r>
              <a:rPr lang="en-US" dirty="0" err="1"/>
              <a:t>Stodolsky</a:t>
            </a:r>
            <a:endParaRPr lang="en-US" dirty="0"/>
          </a:p>
          <a:p>
            <a:pPr lvl="1"/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Drell-</a:t>
            </a:r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Sill distribution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6EBA5-2B6E-64A1-F1DF-E15FB3DC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EC013-786A-8EFD-39A4-7D2EF072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4C147-D3D0-850F-DF85-18935E0A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D1BE33-FBA5-3B4A-80B4-4E4D5CA8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932"/>
            <a:ext cx="6035761" cy="67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75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14B3-0CE0-7637-99A2-D97786AA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B7F1-CD46-DEC3-EEEF-07E8531E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094D2-AA32-2311-8CD6-FAC59616E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294586" cy="4860000"/>
          </a:xfrm>
        </p:spPr>
        <p:txBody>
          <a:bodyPr/>
          <a:lstStyle/>
          <a:p>
            <a:r>
              <a:rPr lang="en-US" dirty="0"/>
              <a:t>Try different model functions: </a:t>
            </a:r>
          </a:p>
          <a:p>
            <a:pPr lvl="1"/>
            <a:r>
              <a:rPr lang="en-US" dirty="0"/>
              <a:t>Non-relativistic Breit-Wigner</a:t>
            </a:r>
          </a:p>
          <a:p>
            <a:pPr lvl="1"/>
            <a:r>
              <a:rPr lang="en-US" dirty="0"/>
              <a:t>Relativistic Breit-Wigner</a:t>
            </a:r>
          </a:p>
          <a:p>
            <a:pPr lvl="1"/>
            <a:r>
              <a:rPr lang="en-US" dirty="0"/>
              <a:t>Ross-</a:t>
            </a:r>
            <a:r>
              <a:rPr lang="en-US" dirty="0" err="1"/>
              <a:t>Stodolsky</a:t>
            </a:r>
            <a:endParaRPr lang="en-US" dirty="0"/>
          </a:p>
          <a:p>
            <a:pPr lvl="1"/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Drell-</a:t>
            </a:r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Sill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5AA8-090F-6134-4625-F229DABA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41FB8-11E6-102E-9317-CF3CADC6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AEA7-3C36-4F3B-F0B3-B829DF93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112770-9D26-6450-B9D8-D7851D5A1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39" y="2065886"/>
            <a:ext cx="4825169" cy="17792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DB67A9-C577-1997-0933-17294F508D50}"/>
              </a:ext>
            </a:extLst>
          </p:cNvPr>
          <p:cNvSpPr txBox="1"/>
          <p:nvPr/>
        </p:nvSpPr>
        <p:spPr>
          <a:xfrm>
            <a:off x="3898681" y="227434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Ross-</a:t>
            </a:r>
            <a:r>
              <a:rPr lang="en-US" dirty="0" err="1"/>
              <a:t>Stodolsky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8C5382-4714-682A-F1CB-9A47D1075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14" y="1013145"/>
            <a:ext cx="5268310" cy="981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4225BE-987C-24F4-2639-361A149A9094}"/>
              </a:ext>
            </a:extLst>
          </p:cNvPr>
          <p:cNvSpPr txBox="1"/>
          <p:nvPr/>
        </p:nvSpPr>
        <p:spPr>
          <a:xfrm>
            <a:off x="10250542" y="1319345"/>
            <a:ext cx="1116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Sill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D8A78E-FAF1-189E-91DB-6D122463F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134" y="3949376"/>
            <a:ext cx="4247266" cy="12055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BE20F0-45FB-294C-637E-D8472C348A85}"/>
              </a:ext>
            </a:extLst>
          </p:cNvPr>
          <p:cNvSpPr txBox="1"/>
          <p:nvPr/>
        </p:nvSpPr>
        <p:spPr>
          <a:xfrm>
            <a:off x="9995995" y="4292741"/>
            <a:ext cx="1294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 err="1"/>
              <a:t>Söding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85ED30-1996-3BBC-7025-2A9CB9285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23" y="4661336"/>
            <a:ext cx="5688724" cy="1268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8BD2D5-3F20-2C1F-CFDD-1955D69D04D2}"/>
              </a:ext>
            </a:extLst>
          </p:cNvPr>
          <p:cNvSpPr txBox="1"/>
          <p:nvPr/>
        </p:nvSpPr>
        <p:spPr>
          <a:xfrm>
            <a:off x="1663043" y="4414665"/>
            <a:ext cx="1791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Drell-</a:t>
            </a:r>
            <a:r>
              <a:rPr lang="en-US" dirty="0" err="1"/>
              <a:t>Söding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743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3BA0-0636-567D-EBAB-238B61E7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D219-6F41-ED4C-0AC9-C94454A1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DE45-C212-0325-C40E-F0B9AF34C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294586" cy="4860000"/>
          </a:xfrm>
        </p:spPr>
        <p:txBody>
          <a:bodyPr/>
          <a:lstStyle/>
          <a:p>
            <a:r>
              <a:rPr lang="en-US" dirty="0"/>
              <a:t>Try different model functions: </a:t>
            </a:r>
          </a:p>
          <a:p>
            <a:pPr lvl="1"/>
            <a:r>
              <a:rPr lang="en-US" dirty="0"/>
              <a:t>Non-relativistic Breit-Wigner</a:t>
            </a:r>
          </a:p>
          <a:p>
            <a:pPr lvl="1"/>
            <a:r>
              <a:rPr lang="en-US" dirty="0"/>
              <a:t>Relativistic Breit-Wigner</a:t>
            </a:r>
          </a:p>
          <a:p>
            <a:pPr lvl="1"/>
            <a:r>
              <a:rPr lang="en-US" dirty="0"/>
              <a:t>Ross-</a:t>
            </a:r>
            <a:r>
              <a:rPr lang="en-US" dirty="0" err="1"/>
              <a:t>Stodolsky</a:t>
            </a:r>
            <a:endParaRPr lang="en-US" dirty="0"/>
          </a:p>
          <a:p>
            <a:pPr lvl="1"/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Drell-</a:t>
            </a:r>
            <a:r>
              <a:rPr lang="en-US" dirty="0" err="1"/>
              <a:t>Söding</a:t>
            </a:r>
            <a:endParaRPr lang="en-US" dirty="0"/>
          </a:p>
          <a:p>
            <a:pPr lvl="1"/>
            <a:r>
              <a:rPr lang="en-US" dirty="0"/>
              <a:t>Sill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CCA56-A792-05D2-54B1-3EF5BE5C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05E0C-CCD8-BFEB-45AB-7FA586AF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E17C-1611-D569-9E9D-776284AD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69409E-E9D9-3E81-D699-47ECADD05598}"/>
              </a:ext>
            </a:extLst>
          </p:cNvPr>
          <p:cNvSpPr txBox="1"/>
          <p:nvPr/>
        </p:nvSpPr>
        <p:spPr>
          <a:xfrm>
            <a:off x="3898681" y="227434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Ross-</a:t>
            </a:r>
            <a:r>
              <a:rPr lang="en-US" dirty="0" err="1"/>
              <a:t>Stodolsky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948F8-5823-14A9-1038-421F5A609BCA}"/>
              </a:ext>
            </a:extLst>
          </p:cNvPr>
          <p:cNvSpPr txBox="1"/>
          <p:nvPr/>
        </p:nvSpPr>
        <p:spPr>
          <a:xfrm>
            <a:off x="8737600" y="540004"/>
            <a:ext cx="1116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Sill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53635-81E6-7BA9-695E-E77A945259DB}"/>
              </a:ext>
            </a:extLst>
          </p:cNvPr>
          <p:cNvSpPr txBox="1"/>
          <p:nvPr/>
        </p:nvSpPr>
        <p:spPr>
          <a:xfrm>
            <a:off x="2843376" y="4298191"/>
            <a:ext cx="1791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Drell-</a:t>
            </a:r>
            <a:r>
              <a:rPr lang="en-US" dirty="0" err="1"/>
              <a:t>Söding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E2B6B-83DB-CDAE-13D8-9FC4890A5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149" y="826246"/>
            <a:ext cx="4574770" cy="2521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42382-7349-DB57-82B0-F334CFC5A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2588497"/>
            <a:ext cx="4083749" cy="840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26B236-7382-8D06-0BE1-B2E369151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255" y="3392805"/>
            <a:ext cx="3639071" cy="34402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6BF575-7BA9-539C-7AD0-DC05EB1B784A}"/>
              </a:ext>
            </a:extLst>
          </p:cNvPr>
          <p:cNvSpPr txBox="1"/>
          <p:nvPr/>
        </p:nvSpPr>
        <p:spPr>
          <a:xfrm>
            <a:off x="8258376" y="3781889"/>
            <a:ext cx="1294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 err="1"/>
              <a:t>Söding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F749F8-0A31-8C33-D5A6-2B84F9176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621" y="4620252"/>
            <a:ext cx="30734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82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A17D-5C6C-8831-1117-4A3B894B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EC8F-0BDE-CA42-1239-323D3BCA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3E778-4F7A-39BB-5E69-E3F0B9DA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E2983-7BB2-DDEA-450C-425603BE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6679-AA39-D01D-FCE7-8907EFB1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514A79-9EA2-8563-7398-B334688C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65674"/>
          <a:stretch>
            <a:fillRect/>
          </a:stretch>
        </p:blipFill>
        <p:spPr>
          <a:xfrm>
            <a:off x="0" y="1227464"/>
            <a:ext cx="12172521" cy="47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84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874F-3D86-0268-AD98-E95BF812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F866-3EDE-9B86-68CB-5CF63849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E69D5-85DD-4DA3-A532-A0FE4E55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6AF8-291C-6777-FADF-79F30A87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C22AA-1095-B1AE-F7F0-E82F80AD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170658-3054-CE09-FCF8-18A4E1FC6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49680"/>
            <a:ext cx="11332779" cy="4860000"/>
          </a:xfrm>
        </p:spPr>
        <p:txBody>
          <a:bodyPr/>
          <a:lstStyle/>
          <a:p>
            <a:r>
              <a:rPr lang="en-US" dirty="0"/>
              <a:t>Use the previous binning: 1-2, 2-2.5, 2.5-3, 3-3.5, 3.5-4.5, and 4.5-6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9CEE5D-05EE-ECCF-E8CC-FC0B0BB16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87" y="1697990"/>
            <a:ext cx="69088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29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1E12-A08B-B3B0-FD97-43731C2F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CCC3E-95D2-846B-558D-B88DF22CE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 request for </a:t>
            </a:r>
            <a:r>
              <a:rPr lang="en-US" dirty="0" err="1"/>
              <a:t>inbending</a:t>
            </a:r>
            <a:r>
              <a:rPr lang="en-US" dirty="0"/>
              <a:t> configuration on OSG: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CD2F7-906A-5256-829A-DF82AF99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3E2D0-2B7A-6E06-AF70-044427FE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09141-D9EB-01EE-CC94-17D066AA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4DED4-8F40-67B2-77DA-9ECB0CB2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059" y="1650025"/>
            <a:ext cx="9649768" cy="10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0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6C05-FBC5-172E-A64A-63FDCA40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EF82-AFD3-B4D6-205E-52A5D715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5754B-2C99-6E6E-9B48-FAF34222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443138" cy="5001348"/>
          </a:xfrm>
        </p:spPr>
        <p:txBody>
          <a:bodyPr>
            <a:normAutofit fontScale="92500"/>
          </a:bodyPr>
          <a:lstStyle/>
          <a:p>
            <a:r>
              <a:rPr lang="en-US" dirty="0"/>
              <a:t>CLAS Collaboration Meeting plan:</a:t>
            </a:r>
          </a:p>
          <a:p>
            <a:pPr lvl="1"/>
            <a:r>
              <a:rPr lang="en-US" dirty="0"/>
              <a:t> 1: title slides</a:t>
            </a:r>
          </a:p>
          <a:p>
            <a:pPr lvl="1"/>
            <a:r>
              <a:rPr lang="en-US" dirty="0"/>
              <a:t>2-5: intro slides</a:t>
            </a:r>
          </a:p>
          <a:p>
            <a:pPr lvl="1"/>
            <a:r>
              <a:rPr lang="en-US" dirty="0"/>
              <a:t>6: cooking</a:t>
            </a:r>
          </a:p>
          <a:p>
            <a:pPr lvl="1"/>
            <a:r>
              <a:rPr lang="en-US" dirty="0"/>
              <a:t>hadron cuts (fiducial + delta t) + (contamination?, central?)</a:t>
            </a:r>
          </a:p>
          <a:p>
            <a:pPr lvl="1"/>
            <a:r>
              <a:rPr lang="en-US" dirty="0"/>
              <a:t>The effect of the hadron cuts on the invariant mass</a:t>
            </a:r>
          </a:p>
          <a:p>
            <a:pPr lvl="1"/>
            <a:r>
              <a:rPr lang="en-US" dirty="0"/>
              <a:t>nuclear transparency fits</a:t>
            </a:r>
          </a:p>
          <a:p>
            <a:pPr lvl="1"/>
            <a:r>
              <a:rPr lang="en-US" dirty="0"/>
              <a:t>RG-D </a:t>
            </a:r>
            <a:r>
              <a:rPr lang="en-US" dirty="0" err="1"/>
              <a:t>nTMDs</a:t>
            </a:r>
            <a:r>
              <a:rPr lang="en-US" dirty="0"/>
              <a:t> Studies: </a:t>
            </a:r>
            <a:r>
              <a:rPr lang="el-GR" dirty="0"/>
              <a:t>π0 </a:t>
            </a:r>
            <a:r>
              <a:rPr lang="en-US" dirty="0"/>
              <a:t>analysis multi-dimensional bins</a:t>
            </a:r>
          </a:p>
          <a:p>
            <a:pPr lvl="1"/>
            <a:r>
              <a:rPr lang="en-US" dirty="0"/>
              <a:t>new extraction of the nuclear transparency</a:t>
            </a:r>
          </a:p>
          <a:p>
            <a:pPr lvl="1"/>
            <a:r>
              <a:rPr lang="en-US" dirty="0"/>
              <a:t>path forward? </a:t>
            </a:r>
          </a:p>
          <a:p>
            <a:pPr lvl="1"/>
            <a:r>
              <a:rPr lang="en-US" dirty="0" err="1"/>
              <a:t>nTMDs</a:t>
            </a:r>
            <a:r>
              <a:rPr lang="en-US" dirty="0"/>
              <a:t> Studies: </a:t>
            </a:r>
            <a:r>
              <a:rPr lang="el-GR" dirty="0"/>
              <a:t>π+ </a:t>
            </a:r>
            <a:r>
              <a:rPr lang="en-US" dirty="0"/>
              <a:t>analysis, Daniel's analysis? </a:t>
            </a:r>
          </a:p>
          <a:p>
            <a:pPr lvl="1"/>
            <a:r>
              <a:rPr lang="en-US" dirty="0"/>
              <a:t>Suman's analysis? </a:t>
            </a:r>
          </a:p>
          <a:p>
            <a:pPr lvl="1"/>
            <a:r>
              <a:rPr lang="en-US" dirty="0"/>
              <a:t>Summary?  </a:t>
            </a:r>
          </a:p>
          <a:p>
            <a:r>
              <a:rPr lang="en-US" dirty="0"/>
              <a:t>For ALERT, talk about the track matching, since I have result on simulation and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5103-360F-9525-82EF-DBE57A6C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B0573-79AA-4688-43B1-7C5E78EB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BB8C-2731-5151-D8DD-AAAD357A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47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7837-AB36-6DDB-A7F3-D16861B2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AB322-C0BA-C4A0-796B-FE190851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started to work on adding the </a:t>
            </a:r>
            <a:r>
              <a:rPr lang="en-US" dirty="0" err="1"/>
              <a:t>inbending</a:t>
            </a:r>
            <a:r>
              <a:rPr lang="en-US" dirty="0"/>
              <a:t> configuration to the OSG portal.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 on the work report: new plots and rewrite part of the text + invariant mass plots.</a:t>
            </a:r>
          </a:p>
          <a:p>
            <a:r>
              <a:rPr lang="en-US" dirty="0"/>
              <a:t>For the CLAS Collaboration meeting: </a:t>
            </a:r>
          </a:p>
          <a:p>
            <a:pPr lvl="1"/>
            <a:r>
              <a:rPr lang="en-US" dirty="0"/>
              <a:t>I suppose I will give the RG-D update talk? </a:t>
            </a:r>
          </a:p>
          <a:p>
            <a:pPr lvl="1"/>
            <a:r>
              <a:rPr lang="en-US" dirty="0"/>
              <a:t>For ALERT, I can give a talk about the track matching, since I have result on simulation and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721D-A97A-7584-E7B8-DC84F314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375AD-3C90-8287-CF01-84054F4E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2E362-C147-A7F3-0742-9B758F38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87EE8-5993-EECD-1B1F-8425BCA2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746632"/>
            <a:ext cx="8246306" cy="20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39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8363-419E-1C4D-8115-9AA35516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RG-D: </a:t>
            </a:r>
          </a:p>
          <a:p>
            <a:pPr lvl="1"/>
            <a:r>
              <a:rPr lang="en-US" dirty="0"/>
              <a:t>Retrain the AI-based PID using (time − </a:t>
            </a:r>
            <a:r>
              <a:rPr lang="en-US" dirty="0" err="1"/>
              <a:t>start_time</a:t>
            </a:r>
            <a:r>
              <a:rPr lang="en-US" dirty="0"/>
              <a:t>); aim to reduce the input feature set to only the most relevant variables.</a:t>
            </a:r>
          </a:p>
          <a:p>
            <a:pPr lvl="1"/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simulations.</a:t>
            </a:r>
          </a:p>
          <a:p>
            <a:pPr lvl="1"/>
            <a:r>
              <a:rPr lang="en-US" dirty="0"/>
              <a:t>Add the </a:t>
            </a:r>
            <a:r>
              <a:rPr lang="en-US" dirty="0" err="1"/>
              <a:t>inbending</a:t>
            </a:r>
            <a:r>
              <a:rPr lang="en-US" dirty="0"/>
              <a:t> configuration to the OSG portal.  </a:t>
            </a:r>
          </a:p>
          <a:p>
            <a:pPr lvl="1"/>
            <a:endParaRPr lang="en-US" dirty="0"/>
          </a:p>
          <a:p>
            <a:r>
              <a:rPr lang="en-US" dirty="0"/>
              <a:t>ALERT:</a:t>
            </a:r>
          </a:p>
          <a:p>
            <a:pPr lvl="1"/>
            <a:r>
              <a:rPr lang="en-US" dirty="0"/>
              <a:t>Retrain the track finding and track matching with the new geometry.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02/24/26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10390</TotalTime>
  <Words>891</Words>
  <Application>Microsoft Macintosh PowerPoint</Application>
  <PresentationFormat>Widescreen</PresentationFormat>
  <Paragraphs>324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Fira Sans</vt:lpstr>
      <vt:lpstr>Fira Sans Book</vt:lpstr>
      <vt:lpstr>Fira Sans Light</vt:lpstr>
      <vt:lpstr>Office Theme</vt:lpstr>
      <vt:lpstr>Group meeting</vt:lpstr>
      <vt:lpstr>RG-D cooking</vt:lpstr>
      <vt:lpstr>RG-D: Background merging</vt:lpstr>
      <vt:lpstr>RG-D: Cuts for pions</vt:lpstr>
      <vt:lpstr>RG-D: Cuts for pions</vt:lpstr>
      <vt:lpstr>RG-D: Cuts for pions</vt:lpstr>
      <vt:lpstr>RG-D: Cuts for pions</vt:lpstr>
      <vt:lpstr>RG-D: Cuts for pions</vt:lpstr>
      <vt:lpstr>RG-D: Cuts for pions</vt:lpstr>
      <vt:lpstr>RG-D: Cuts for pions</vt:lpstr>
      <vt:lpstr>RG-D: Fit for the invariant mass </vt:lpstr>
      <vt:lpstr>RG-D: Fit for the invariant mass </vt:lpstr>
      <vt:lpstr>RG-D: Fit for the invariant mass </vt:lpstr>
      <vt:lpstr>RG-D: Fit for the invariant mass </vt:lpstr>
      <vt:lpstr>RG-D: Fit for the invariant mass </vt:lpstr>
      <vt:lpstr>RG-D: Fit for the invariant mass </vt:lpstr>
      <vt:lpstr>RG-D: Nuclear transparency</vt:lpstr>
      <vt:lpstr>Other work</vt:lpstr>
      <vt:lpstr>Other work</vt:lpstr>
      <vt:lpstr>Other things</vt:lpstr>
      <vt:lpstr>Work plan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399</cp:revision>
  <dcterms:created xsi:type="dcterms:W3CDTF">2019-12-03T01:04:10Z</dcterms:created>
  <dcterms:modified xsi:type="dcterms:W3CDTF">2026-02-24T20:40:25Z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