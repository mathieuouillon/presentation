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335" r:id="rId3"/>
    <p:sldId id="358" r:id="rId4"/>
    <p:sldId id="359" r:id="rId5"/>
    <p:sldId id="360" r:id="rId6"/>
    <p:sldId id="337" r:id="rId7"/>
    <p:sldId id="340" r:id="rId8"/>
    <p:sldId id="343" r:id="rId9"/>
    <p:sldId id="361" r:id="rId10"/>
    <p:sldId id="348" r:id="rId11"/>
    <p:sldId id="362" r:id="rId12"/>
    <p:sldId id="363" r:id="rId13"/>
    <p:sldId id="350" r:id="rId14"/>
    <p:sldId id="365" r:id="rId15"/>
    <p:sldId id="364" r:id="rId16"/>
    <p:sldId id="352" r:id="rId17"/>
    <p:sldId id="354" r:id="rId18"/>
    <p:sldId id="355" r:id="rId19"/>
    <p:sldId id="366" r:id="rId20"/>
    <p:sldId id="367" r:id="rId21"/>
    <p:sldId id="357" r:id="rId22"/>
    <p:sldId id="356" r:id="rId23"/>
    <p:sldId id="33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335"/>
            <p14:sldId id="358"/>
            <p14:sldId id="359"/>
            <p14:sldId id="360"/>
            <p14:sldId id="337"/>
            <p14:sldId id="340"/>
            <p14:sldId id="343"/>
            <p14:sldId id="361"/>
            <p14:sldId id="348"/>
            <p14:sldId id="362"/>
            <p14:sldId id="363"/>
            <p14:sldId id="350"/>
            <p14:sldId id="365"/>
            <p14:sldId id="364"/>
            <p14:sldId id="352"/>
            <p14:sldId id="354"/>
            <p14:sldId id="355"/>
            <p14:sldId id="366"/>
            <p14:sldId id="367"/>
            <p14:sldId id="357"/>
            <p14:sldId id="356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3373B"/>
    <a:srgbClr val="304D59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40" autoAdjust="0"/>
    <p:restoredTop sz="94637" autoAdjust="0"/>
  </p:normalViewPr>
  <p:slideViewPr>
    <p:cSldViewPr snapToGrid="0" snapToObjects="1">
      <p:cViewPr varScale="1">
        <p:scale>
          <a:sx n="155" d="100"/>
          <a:sy n="155" d="100"/>
        </p:scale>
        <p:origin x="216" y="4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16-06-26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16-06-26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 cap="small" baseline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 w="12700"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06/15/26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Group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JeffersonLab/clas12-confi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7200" cap="small" dirty="0">
                <a:latin typeface="Fira Sans" panose="020B0503050000020004" pitchFamily="34" charset="0"/>
                <a:ea typeface="Fira Sans" panose="020B0503050000020004" pitchFamily="34" charset="0"/>
              </a:rPr>
              <a:t>Group meeting</a:t>
            </a:r>
            <a:endParaRPr sz="7200" cap="smal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687324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Fira Sans" panose="020B0503050000020004" pitchFamily="34" charset="0"/>
                <a:ea typeface="Fira Sans" panose="020B0503050000020004" pitchFamily="34" charset="0"/>
              </a:rPr>
              <a:t>Mathieu Ouillon (Mississippi State University)</a:t>
            </a:r>
            <a:endParaRPr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06/15/26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1DEE-22C9-7031-D658-E0B76465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MC Pion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0E175-4471-897D-0352-0615CEECD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1" y="1032482"/>
            <a:ext cx="11809023" cy="445252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Simulate SIDIS events using Raphael event generator and:</a:t>
            </a:r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6DE40-634B-6437-8CC3-0FD061C7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E86C5-59DE-A182-C626-DDC5A8836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2E877-994F-075F-5795-58873E76B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51A81A-0B1B-DC90-34D2-3ABAFF718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362" y="1477733"/>
            <a:ext cx="7772400" cy="829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18BAE8-9D3D-5744-CFB7-EBD124E77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63" y="2780830"/>
            <a:ext cx="11512041" cy="40372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CD2EC4-7F94-28FE-32F0-5012F05EA740}"/>
              </a:ext>
            </a:extLst>
          </p:cNvPr>
          <p:cNvSpPr txBox="1"/>
          <p:nvPr/>
        </p:nvSpPr>
        <p:spPr>
          <a:xfrm>
            <a:off x="270345" y="2343912"/>
            <a:ext cx="4748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Now I get a much better </a:t>
            </a:r>
            <a:r>
              <a:rPr lang="en-US" sz="2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 distribution </a:t>
            </a:r>
          </a:p>
        </p:txBody>
      </p:sp>
    </p:spTree>
    <p:extLst>
      <p:ext uri="{BB962C8B-B14F-4D97-AF65-F5344CB8AC3E}">
        <p14:creationId xmlns:p14="http://schemas.microsoft.com/office/powerpoint/2010/main" val="213646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0C4D-4FF3-B41E-13E5-A9F8017E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289B-939A-C129-8D3C-CA43CCEF1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MC Pion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9854B-A4EC-08E8-9736-36E45EE6E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1" y="1032482"/>
            <a:ext cx="11809023" cy="445252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Simulate SIDIS events using Raphael event generator and:</a:t>
            </a:r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85614-FEFE-1EDA-8A57-539BDC2FF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1EFB3-5122-A1CA-1932-E92234325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77EE1-7965-C15B-FD01-21D24335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B2FA80-D598-7640-35D4-911CEFBC2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362" y="1477733"/>
            <a:ext cx="7772400" cy="8293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550B3D-06B1-98AD-8037-341D85EE141D}"/>
              </a:ext>
            </a:extLst>
          </p:cNvPr>
          <p:cNvSpPr txBox="1"/>
          <p:nvPr/>
        </p:nvSpPr>
        <p:spPr>
          <a:xfrm>
            <a:off x="270345" y="2343912"/>
            <a:ext cx="4748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Now I get a much better </a:t>
            </a:r>
            <a:r>
              <a:rPr lang="en-US" sz="2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 distribution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F74E11-5CB5-0B63-028F-AD911D97E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661" y="2726776"/>
            <a:ext cx="7052808" cy="413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08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B54F-610C-5119-F53B-A3A6B3F3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BA10-93E3-49E4-D20F-BE7A4836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MC Pion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098D0-A2C1-4E5A-97CC-6F6625C9A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1" y="1032481"/>
            <a:ext cx="11809023" cy="1058711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Now I can compare MC and data:</a:t>
            </a:r>
          </a:p>
          <a:p>
            <a:pPr marL="57150" indent="0">
              <a:buNone/>
            </a:pPr>
            <a:r>
              <a:rPr lang="en-US" sz="2000" dirty="0"/>
              <a:t>Still not perfect but much better. It seems that the correction does too much</a:t>
            </a: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2DDD1-FD56-B30D-7DDC-1CB15909E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1D0AC-0D21-67E5-4541-C32AD2C8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FCACB-63EE-ADE0-CF7A-EE4A80AA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51D8C2-227D-C3CE-87D3-819838E2F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18" y="2091193"/>
            <a:ext cx="11909874" cy="418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86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5C14B-6741-796A-26F1-5F89119C0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B26A-0B73-1973-0B80-6F8EAE780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MC Pion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D68AD-6DE9-03DA-4325-296CA0759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1" y="1032481"/>
            <a:ext cx="11809023" cy="5312660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Now I can compare MC and data:</a:t>
            </a:r>
          </a:p>
          <a:p>
            <a:pPr marL="57150" indent="0">
              <a:buNone/>
            </a:pPr>
            <a:r>
              <a:rPr lang="en-US" sz="2000" dirty="0"/>
              <a:t>Still not perfect but much better. It seems that the correction does too much</a:t>
            </a:r>
          </a:p>
          <a:p>
            <a:pPr marL="57150" indent="0">
              <a:buNone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sz="2000" b="1" dirty="0"/>
              <a:t>Question about the correction:</a:t>
            </a:r>
            <a:endParaRPr lang="en-US" sz="2000" dirty="0"/>
          </a:p>
          <a:p>
            <a:pPr lvl="1"/>
            <a:r>
              <a:rPr lang="en-US" dirty="0"/>
              <a:t>The correction accounts for three things at the same time: the shift of the vertex (caused by an unknown source in the reconstruction), the vertex resolution that becomes worse at low </a:t>
            </a:r>
            <a:r>
              <a:rPr lang="en-US" dirty="0" err="1"/>
              <a:t>θ</a:t>
            </a:r>
            <a:r>
              <a:rPr lang="en-US" dirty="0"/>
              <a:t> (a purely geometric effect), and multiple scattering (low momentum means larger deviation), maybe also a bit of energy loss (but very small for electron and pion).</a:t>
            </a:r>
          </a:p>
          <a:p>
            <a:pPr lvl="1"/>
            <a:r>
              <a:rPr lang="en-US" dirty="0"/>
              <a:t>The question then becomes: which effect should the correction address, and how?</a:t>
            </a:r>
          </a:p>
          <a:p>
            <a:pPr lvl="1"/>
            <a:r>
              <a:rPr lang="en-US" dirty="0"/>
              <a:t>One possibly would be to correct for the shift of the vertex, for each bin in </a:t>
            </a:r>
            <a:r>
              <a:rPr lang="en-US" dirty="0" err="1"/>
              <a:t>θ</a:t>
            </a:r>
            <a:r>
              <a:rPr lang="en-US" dirty="0"/>
              <a:t> and momentum the </a:t>
            </a:r>
            <a:r>
              <a:rPr lang="en-US" dirty="0" err="1"/>
              <a:t>Vz</a:t>
            </a:r>
            <a:r>
              <a:rPr lang="en-US" dirty="0"/>
              <a:t> distribution would become a gaussian, and develop a 3-D cut (similar to </a:t>
            </a:r>
            <a:r>
              <a:rPr lang="en-US" dirty="0" err="1"/>
              <a:t>Δt</a:t>
            </a:r>
            <a:r>
              <a:rPr lang="en-US" dirty="0"/>
              <a:t> vs p cut but would be </a:t>
            </a:r>
            <a:r>
              <a:rPr lang="en-US" dirty="0" err="1"/>
              <a:t>Vz</a:t>
            </a:r>
            <a:r>
              <a:rPr lang="en-US" dirty="0"/>
              <a:t> vs (</a:t>
            </a:r>
            <a:r>
              <a:rPr lang="en-US" dirty="0" err="1"/>
              <a:t>θ,p</a:t>
            </a:r>
            <a:r>
              <a:rPr lang="en-US" dirty="0"/>
              <a:t>))</a:t>
            </a:r>
          </a:p>
          <a:p>
            <a:pPr marL="400050">
              <a:buFontTx/>
              <a:buChar char="-"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1CF8C-29C4-55D2-8D3B-1DC69776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96AA2-A268-DCA0-A2C7-DA4FEE90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52DA1-7488-BD22-E181-ED860DAE9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52F22E-4A58-C797-1730-E35C9C28AEB1}"/>
              </a:ext>
            </a:extLst>
          </p:cNvPr>
          <p:cNvSpPr txBox="1"/>
          <p:nvPr/>
        </p:nvSpPr>
        <p:spPr>
          <a:xfrm>
            <a:off x="270345" y="234391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809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23053-B208-4951-AD9A-5C6ED1C4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CBC3-95D8-0D4F-0417-FDE23CA91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MC Pion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3513A-A101-95AE-F8D3-84D043AE8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729510" cy="5162579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So, I </a:t>
            </a:r>
            <a:r>
              <a:rPr lang="en-US" sz="2000" dirty="0"/>
              <a:t>made a pull request to </a:t>
            </a:r>
            <a:r>
              <a:rPr lang="en-US" sz="2000" dirty="0">
                <a:hlinkClick r:id="rId2"/>
              </a:rPr>
              <a:t>clas12-config</a:t>
            </a:r>
            <a:r>
              <a:rPr lang="en-US" sz="2000" dirty="0"/>
              <a:t> to 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add these lines in all 4 RG-D GCARDs: </a:t>
            </a:r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r>
              <a:rPr lang="en-US" sz="2000" dirty="0"/>
              <a:t>The pull request have been merged by Maurizio, and I have told Suman that</a:t>
            </a:r>
          </a:p>
          <a:p>
            <a:pPr marL="57150" indent="0">
              <a:buNone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57150" indent="0">
              <a:buNone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94159-46EA-7D20-E340-6909F0FC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04817-87A5-A04E-948A-D3D273D23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573E-4913-0434-BC93-AD107A05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08CD5-BC16-0F5E-1A6F-25C4DC8B2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482695"/>
            <a:ext cx="5243002" cy="5594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2B387F-B395-A78D-C33D-042AE4C90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2160242"/>
            <a:ext cx="7772400" cy="88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63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B291-5E1D-B857-FF42-2CD26DC2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73A1C-8423-A8EC-1343-D4E19FEA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CuSn</a:t>
            </a:r>
            <a:r>
              <a:rPr lang="en-US" cap="small" dirty="0"/>
              <a:t> contamination for </a:t>
            </a:r>
            <a:r>
              <a:rPr lang="en-US" dirty="0"/>
              <a:t>p</a:t>
            </a:r>
            <a:r>
              <a:rPr lang="en-US" cap="small" dirty="0"/>
              <a:t>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5E469-C844-708E-04EF-67AECB3EA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4055618" cy="5231159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/>
              <a:t>Add using the mean and sigma for that fit, I have extracted the </a:t>
            </a:r>
            <a:r>
              <a:rPr lang="en-US" sz="2000" dirty="0" err="1"/>
              <a:t>CuSn</a:t>
            </a:r>
            <a:r>
              <a:rPr lang="en-US" sz="2000" dirty="0"/>
              <a:t> contamination for electrons:</a:t>
            </a:r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r>
              <a:rPr lang="en-US" sz="2000" dirty="0"/>
              <a:t>For each target peak we define a ±3σ window from its Voigt fit. Contamination is the fraction of counts in that window coming from the other target, estimated from truth-labelled MC integrated in the same window.</a:t>
            </a:r>
          </a:p>
          <a:p>
            <a:pPr marL="57150" indent="0">
              <a:buNone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400050">
              <a:buFontTx/>
              <a:buChar char="-"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CAB4C-9808-572E-973E-FEC0EC06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016AE-BEB1-159E-CCB4-BE79EBF7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E4C3D-FCD9-85F3-C2F6-E991512D1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4B9996-22E3-CC54-2D31-A8FDE934C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18" y="763713"/>
            <a:ext cx="7772400" cy="45990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9525F0-1E7D-AD9F-4A54-B521E0427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2" y="5415718"/>
            <a:ext cx="7772400" cy="81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6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F8AE-B862-66E8-7EC3-0E8820A16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140A-976F-74BF-04B8-FD5903D0D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CuSn</a:t>
            </a:r>
            <a:r>
              <a:rPr lang="en-US" cap="small" dirty="0"/>
              <a:t> contamination for </a:t>
            </a:r>
            <a:r>
              <a:rPr lang="en-US" dirty="0"/>
              <a:t>p</a:t>
            </a:r>
            <a:r>
              <a:rPr lang="en-US" cap="small" dirty="0"/>
              <a:t>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FE859-C1A2-982D-1E7E-1A535ECC0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2768390" cy="5231159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/>
              <a:t>Do the same thing for </a:t>
            </a:r>
            <a:r>
              <a:rPr lang="en-US" sz="2000" dirty="0" err="1"/>
              <a:t>pions</a:t>
            </a:r>
            <a:r>
              <a:rPr lang="en-US" sz="2000" dirty="0"/>
              <a:t> (only for </a:t>
            </a:r>
            <a:r>
              <a:rPr lang="en-US" sz="2000" dirty="0" err="1"/>
              <a:t>CuSn</a:t>
            </a:r>
            <a:r>
              <a:rPr lang="en-US" sz="2000" dirty="0"/>
              <a:t> </a:t>
            </a:r>
            <a:r>
              <a:rPr lang="en-US" sz="2000" dirty="0" err="1"/>
              <a:t>outbending</a:t>
            </a:r>
            <a:r>
              <a:rPr lang="en-US" sz="2000" dirty="0"/>
              <a:t>, I don’t have yet new </a:t>
            </a:r>
            <a:r>
              <a:rPr lang="en-US" sz="2000" dirty="0" err="1"/>
              <a:t>similuation</a:t>
            </a:r>
            <a:r>
              <a:rPr lang="en-US" sz="2000" dirty="0"/>
              <a:t> for </a:t>
            </a:r>
            <a:r>
              <a:rPr lang="en-US" sz="2000" dirty="0" err="1"/>
              <a:t>inbending</a:t>
            </a:r>
            <a:r>
              <a:rPr lang="en-US" sz="2000" dirty="0"/>
              <a:t>)</a:t>
            </a:r>
          </a:p>
          <a:p>
            <a:pPr marL="57150" indent="0">
              <a:buNone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400050">
              <a:buFontTx/>
              <a:buChar char="-"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D350F-25A5-4E48-8795-31765858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CE47C-92FA-0AB2-2A65-B5124CF4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40741-CBD8-4BC4-BF2B-504D2F08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33BD5B-BD58-AD39-5550-E101FC819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918" y="721581"/>
            <a:ext cx="9179661" cy="54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3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2511-639D-56E3-FAF6-2DB845FD6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6B819-3B49-57D4-6AC5-48C63EE0A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CuSn</a:t>
            </a:r>
            <a:r>
              <a:rPr lang="en-US" cap="small" dirty="0"/>
              <a:t> contamination for </a:t>
            </a:r>
            <a:r>
              <a:rPr lang="en-US" dirty="0"/>
              <a:t>p</a:t>
            </a:r>
            <a:r>
              <a:rPr lang="en-US" cap="small" dirty="0"/>
              <a:t>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A42D7-D611-EA35-8805-16ABCFF82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2768390" cy="5231159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/>
              <a:t>Do the same thing for </a:t>
            </a:r>
            <a:r>
              <a:rPr lang="en-US" sz="2000" dirty="0" err="1"/>
              <a:t>pions</a:t>
            </a:r>
            <a:r>
              <a:rPr lang="en-US" sz="2000" dirty="0"/>
              <a:t> (only for </a:t>
            </a:r>
            <a:r>
              <a:rPr lang="en-US" sz="2000" dirty="0" err="1"/>
              <a:t>CuSn</a:t>
            </a:r>
            <a:r>
              <a:rPr lang="en-US" sz="2000" dirty="0"/>
              <a:t> </a:t>
            </a:r>
            <a:r>
              <a:rPr lang="en-US" sz="2000" dirty="0" err="1"/>
              <a:t>outbending</a:t>
            </a:r>
            <a:r>
              <a:rPr lang="en-US" sz="2000" dirty="0"/>
              <a:t>, I don’t have yet new </a:t>
            </a:r>
            <a:r>
              <a:rPr lang="en-US" sz="2000" dirty="0" err="1"/>
              <a:t>similuation</a:t>
            </a:r>
            <a:r>
              <a:rPr lang="en-US" sz="2000" dirty="0"/>
              <a:t> for </a:t>
            </a:r>
            <a:r>
              <a:rPr lang="en-US" sz="2000" dirty="0" err="1"/>
              <a:t>inbending</a:t>
            </a:r>
            <a:r>
              <a:rPr lang="en-US" sz="2000" dirty="0"/>
              <a:t>)</a:t>
            </a:r>
          </a:p>
          <a:p>
            <a:pPr marL="57150" indent="0">
              <a:buNone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400050">
              <a:buFontTx/>
              <a:buChar char="-"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73757-2961-A289-FC10-B17834510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0624E-5FC8-8D54-4F8F-B884DA09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CBF3B-DE8D-8655-B2B3-53466F667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F68DF1-3A41-210C-3EA1-9D9293969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240" y="767222"/>
            <a:ext cx="9309778" cy="549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16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32E0-623F-DA43-4124-95EBB692E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75616-90CB-E3A4-1561-36E2E7BE2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CuSn</a:t>
            </a:r>
            <a:r>
              <a:rPr lang="en-US" cap="small" dirty="0"/>
              <a:t> contamination for </a:t>
            </a:r>
            <a:r>
              <a:rPr lang="en-US" dirty="0"/>
              <a:t>p</a:t>
            </a:r>
            <a:r>
              <a:rPr lang="en-US" cap="small" dirty="0"/>
              <a:t>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C2609-2078-3BB7-E463-D26F9883B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1843"/>
            <a:ext cx="11845798" cy="1794569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/>
              <a:t>I can also extract the contamination using the Voigt fit and only the data</a:t>
            </a: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400050">
              <a:buFontTx/>
              <a:buChar char="-"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2DE02-B36A-59A9-E559-3B1660B3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6014D-CB2F-18FB-3E79-092683C7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F61A9-806B-7606-B297-3E0C13F9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714201-0A2D-BFC6-DCA9-E5A769D7A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0" y="1440803"/>
            <a:ext cx="7772400" cy="458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39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D9AE7-4FE1-2745-6A89-53098671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1AA3E-47A7-BA6E-F3AD-A93E61CA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CuSn</a:t>
            </a:r>
            <a:r>
              <a:rPr lang="en-US" cap="small" dirty="0"/>
              <a:t> contamination for </a:t>
            </a:r>
            <a:r>
              <a:rPr lang="en-US" dirty="0"/>
              <a:t>p</a:t>
            </a:r>
            <a:r>
              <a:rPr lang="en-US" cap="small" dirty="0"/>
              <a:t>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19D73-1EA2-BDEC-5671-3651B7504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1843"/>
            <a:ext cx="11845798" cy="1794569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/>
              <a:t>I can also extract the contamination using the Voigt fit and only the data</a:t>
            </a: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400050">
              <a:buFontTx/>
              <a:buChar char="-"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3D190-1A15-F3FE-D112-D5A5BAE9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0C5C1-104B-38CC-AD3D-6268D9EB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16121-7100-2912-1107-5319FE36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1E9D59-4F79-359E-5E71-6DE771862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431" y="1423101"/>
            <a:ext cx="7772400" cy="461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37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9B72E-15BA-107A-2F9F-FEDADACC4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0D2F-B976-90A9-4419-46CA40991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CuSn</a:t>
            </a:r>
            <a:r>
              <a:rPr lang="en-US" cap="small" dirty="0"/>
              <a:t> contamination for </a:t>
            </a:r>
            <a:r>
              <a:rPr lang="en-US" dirty="0"/>
              <a:t>p</a:t>
            </a:r>
            <a:r>
              <a:rPr lang="en-US" cap="small" dirty="0"/>
              <a:t>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7EC51-88DC-7D42-D6DC-F14035EE1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1844"/>
            <a:ext cx="11845798" cy="439538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/>
              <a:t>Now, we can compare the two method for electron, π</a:t>
            </a:r>
            <a:r>
              <a:rPr lang="en-US" sz="2000" baseline="30000" dirty="0"/>
              <a:t>+</a:t>
            </a:r>
            <a:r>
              <a:rPr lang="en-US" sz="2000" dirty="0"/>
              <a:t> and π</a:t>
            </a:r>
            <a:r>
              <a:rPr lang="en-US" sz="2000" baseline="30000" dirty="0"/>
              <a:t>- </a:t>
            </a:r>
            <a:r>
              <a:rPr lang="en-US" sz="2000" dirty="0"/>
              <a:t>only for </a:t>
            </a:r>
            <a:r>
              <a:rPr lang="en-US" sz="2000" dirty="0" err="1"/>
              <a:t>CuSn</a:t>
            </a:r>
            <a:r>
              <a:rPr lang="en-US" sz="2000" dirty="0"/>
              <a:t> </a:t>
            </a:r>
            <a:r>
              <a:rPr lang="en-US" sz="2000" dirty="0" err="1"/>
              <a:t>outbending</a:t>
            </a:r>
            <a:endParaRPr lang="en-US" sz="2000" baseline="30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400050">
              <a:buFontTx/>
              <a:buChar char="-"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D1623-CF07-0499-876B-20A292D2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A368A-0218-E688-265F-0DB648E96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4283C-CAB8-9771-AE10-3792FDE66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293B87-D217-8461-F4B0-F6CB8D037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3" y="1431381"/>
            <a:ext cx="5321300" cy="31496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FD331FD-DCD0-CD5F-5C91-08E2F3F7EA09}"/>
              </a:ext>
            </a:extLst>
          </p:cNvPr>
          <p:cNvSpPr txBox="1">
            <a:spLocks/>
          </p:cNvSpPr>
          <p:nvPr/>
        </p:nvSpPr>
        <p:spPr>
          <a:xfrm>
            <a:off x="0" y="4650769"/>
            <a:ext cx="11845798" cy="439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Font typeface="Arial"/>
              <a:buNone/>
            </a:pPr>
            <a:r>
              <a:rPr lang="en-US" sz="2000" dirty="0"/>
              <a:t>Some difference for the </a:t>
            </a:r>
            <a:r>
              <a:rPr lang="en-US" sz="2000" dirty="0" err="1"/>
              <a:t>pions</a:t>
            </a:r>
            <a:r>
              <a:rPr lang="en-US" sz="2000" dirty="0"/>
              <a:t>, as expected due to the different between data and MC</a:t>
            </a:r>
            <a:endParaRPr lang="en-US" sz="2000" baseline="30000" dirty="0"/>
          </a:p>
          <a:p>
            <a:pPr marL="400050">
              <a:buFontTx/>
              <a:buChar char="-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0425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918C-8E33-AB3E-FB61-C8BF59A11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6AF30-153A-934B-0F6E-1BDDA9E17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3981958" cy="5087667"/>
          </a:xfrm>
        </p:spPr>
        <p:txBody>
          <a:bodyPr>
            <a:normAutofit/>
          </a:bodyPr>
          <a:lstStyle/>
          <a:p>
            <a:r>
              <a:rPr lang="en-US" sz="1800" dirty="0"/>
              <a:t>I have 1600 bins in Q</a:t>
            </a:r>
            <a:r>
              <a:rPr lang="en-US" sz="1800" baseline="30000" dirty="0"/>
              <a:t>2</a:t>
            </a:r>
            <a:r>
              <a:rPr lang="en-US" sz="1800" dirty="0"/>
              <a:t>, </a:t>
            </a:r>
            <a:r>
              <a:rPr lang="en-US" sz="1800" dirty="0" err="1"/>
              <a:t>x</a:t>
            </a:r>
            <a:r>
              <a:rPr lang="en-US" sz="1800" baseline="-25000" dirty="0" err="1"/>
              <a:t>B</a:t>
            </a:r>
            <a:r>
              <a:rPr lang="en-US" sz="1800" dirty="0"/>
              <a:t>, </a:t>
            </a:r>
            <a:r>
              <a:rPr lang="en-US" sz="1800" dirty="0" err="1"/>
              <a:t>z</a:t>
            </a:r>
            <a:r>
              <a:rPr lang="en-US" sz="1800" baseline="-25000" dirty="0" err="1"/>
              <a:t>h</a:t>
            </a:r>
            <a:r>
              <a:rPr lang="en-US" sz="1800" dirty="0"/>
              <a:t> and p</a:t>
            </a:r>
            <a:r>
              <a:rPr lang="en-US" sz="1800" baseline="-25000" dirty="0"/>
              <a:t>T</a:t>
            </a:r>
            <a:r>
              <a:rPr lang="en-US" sz="1800" baseline="30000" dirty="0"/>
              <a:t>2 </a:t>
            </a:r>
            <a:r>
              <a:rPr lang="en-US" sz="1800" dirty="0"/>
              <a:t>Here is the new binning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FB08C-B791-AC3F-C375-3320F55CE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F93AE-68DA-BEBB-C447-92D8F58E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1065A-AC27-6973-EB2E-CE5A5958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D01DEA-70BB-8748-7D0D-600BAF79F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863" y="0"/>
            <a:ext cx="7128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68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7F77E-1886-EC9B-007E-6686C556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C38D-1288-1B47-2901-8DDA3B89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7940E-86AD-6373-AD62-5D8CB4D60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3981958" cy="5087667"/>
          </a:xfrm>
        </p:spPr>
        <p:txBody>
          <a:bodyPr>
            <a:normAutofit/>
          </a:bodyPr>
          <a:lstStyle/>
          <a:p>
            <a:r>
              <a:rPr lang="en-US" sz="1800" dirty="0"/>
              <a:t>I have 1600 bins in Q</a:t>
            </a:r>
            <a:r>
              <a:rPr lang="en-US" sz="1800" baseline="30000" dirty="0"/>
              <a:t>2</a:t>
            </a:r>
            <a:r>
              <a:rPr lang="en-US" sz="1800" dirty="0"/>
              <a:t>, </a:t>
            </a:r>
            <a:r>
              <a:rPr lang="en-US" sz="1800" dirty="0" err="1"/>
              <a:t>x</a:t>
            </a:r>
            <a:r>
              <a:rPr lang="en-US" sz="1800" baseline="-25000" dirty="0" err="1"/>
              <a:t>B</a:t>
            </a:r>
            <a:r>
              <a:rPr lang="en-US" sz="1800" dirty="0"/>
              <a:t>, </a:t>
            </a:r>
            <a:r>
              <a:rPr lang="en-US" sz="1800" dirty="0" err="1"/>
              <a:t>z</a:t>
            </a:r>
            <a:r>
              <a:rPr lang="en-US" sz="1800" baseline="-25000" dirty="0" err="1"/>
              <a:t>h</a:t>
            </a:r>
            <a:r>
              <a:rPr lang="en-US" sz="1800" dirty="0"/>
              <a:t> and p</a:t>
            </a:r>
            <a:r>
              <a:rPr lang="en-US" sz="1800" baseline="-25000" dirty="0"/>
              <a:t>T</a:t>
            </a:r>
            <a:r>
              <a:rPr lang="en-US" sz="1800" baseline="30000" dirty="0"/>
              <a:t>2 </a:t>
            </a:r>
            <a:r>
              <a:rPr lang="en-US" sz="1800" dirty="0"/>
              <a:t>Here is the new binning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03485-367C-F444-FCAC-3E193C76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F0085-3BB9-4A3B-A4E9-9A6C5AB4C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A1B47-2988-5AD5-C520-A79C0E46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DC22A0-16FA-57B8-56A5-61D8C8116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647" y="0"/>
            <a:ext cx="7055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80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5032-9219-9F15-D239-81F697564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DED12-7BED-B5B1-DA50-E9F9F6FE5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E5AB8-0B5C-6DAD-EB75-7E5DBF0C6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3981958" cy="5087667"/>
          </a:xfrm>
        </p:spPr>
        <p:txBody>
          <a:bodyPr>
            <a:normAutofit/>
          </a:bodyPr>
          <a:lstStyle/>
          <a:p>
            <a:r>
              <a:rPr lang="en-US" sz="1800" dirty="0"/>
              <a:t>Ok with the new binning I can extract the multiplicity ratio:</a:t>
            </a:r>
          </a:p>
          <a:p>
            <a:r>
              <a:rPr lang="en-US" sz="1800" dirty="0"/>
              <a:t>I have 1600 bins in Q</a:t>
            </a:r>
            <a:r>
              <a:rPr lang="en-US" sz="1800" baseline="30000" dirty="0"/>
              <a:t>2</a:t>
            </a:r>
            <a:r>
              <a:rPr lang="en-US" sz="1800" dirty="0"/>
              <a:t>, </a:t>
            </a:r>
            <a:r>
              <a:rPr lang="en-US" sz="1800" dirty="0" err="1"/>
              <a:t>x</a:t>
            </a:r>
            <a:r>
              <a:rPr lang="en-US" sz="1800" baseline="-25000" dirty="0" err="1"/>
              <a:t>B</a:t>
            </a:r>
            <a:r>
              <a:rPr lang="en-US" sz="1800" dirty="0"/>
              <a:t>, </a:t>
            </a:r>
            <a:r>
              <a:rPr lang="en-US" sz="1800" dirty="0" err="1"/>
              <a:t>z</a:t>
            </a:r>
            <a:r>
              <a:rPr lang="en-US" sz="1800" baseline="-25000" dirty="0" err="1"/>
              <a:t>h</a:t>
            </a:r>
            <a:r>
              <a:rPr lang="en-US" sz="1800" dirty="0"/>
              <a:t> and p</a:t>
            </a:r>
            <a:r>
              <a:rPr lang="en-US" sz="1800" baseline="-25000" dirty="0"/>
              <a:t>T</a:t>
            </a:r>
            <a:r>
              <a:rPr lang="en-US" sz="1800" baseline="30000" dirty="0"/>
              <a:t>2</a:t>
            </a:r>
            <a:r>
              <a:rPr lang="en-US" sz="1800" dirty="0"/>
              <a:t>, for each I can plot the invariants mass of the two photons after the background subtraction: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C43B3-5C23-1E4A-5F29-CFC754D41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815E-C5ED-BAC1-8CE6-EF8385CF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34D3B-CD78-729D-D8D0-A2859F32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C70595-8F83-A29C-4098-A4CD43379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144" y="0"/>
            <a:ext cx="7772400" cy="656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29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540A-77B5-CAD2-FB69-21D2739A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2271-AE35-5085-7401-A2F4FF61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AA648-6BC2-A518-284C-5A3980B00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4187698" cy="5087667"/>
          </a:xfrm>
        </p:spPr>
        <p:txBody>
          <a:bodyPr>
            <a:normAutofit/>
          </a:bodyPr>
          <a:lstStyle/>
          <a:p>
            <a:r>
              <a:rPr lang="en-US" sz="1800" dirty="0"/>
              <a:t>Ok with the new binning I can extract the multiplicity ratio:</a:t>
            </a:r>
          </a:p>
          <a:p>
            <a:r>
              <a:rPr lang="en-US" sz="1800" dirty="0"/>
              <a:t>I have 1600 bins in Q</a:t>
            </a:r>
            <a:r>
              <a:rPr lang="en-US" sz="1800" baseline="30000" dirty="0"/>
              <a:t>2</a:t>
            </a:r>
            <a:r>
              <a:rPr lang="en-US" sz="1800" dirty="0"/>
              <a:t>, </a:t>
            </a:r>
            <a:r>
              <a:rPr lang="en-US" sz="1800" dirty="0" err="1"/>
              <a:t>x</a:t>
            </a:r>
            <a:r>
              <a:rPr lang="en-US" sz="1800" baseline="-25000" dirty="0" err="1"/>
              <a:t>B</a:t>
            </a:r>
            <a:r>
              <a:rPr lang="en-US" sz="1800" dirty="0"/>
              <a:t>, </a:t>
            </a:r>
            <a:r>
              <a:rPr lang="en-US" sz="1800" dirty="0" err="1"/>
              <a:t>z</a:t>
            </a:r>
            <a:r>
              <a:rPr lang="en-US" sz="1800" baseline="-25000" dirty="0" err="1"/>
              <a:t>h</a:t>
            </a:r>
            <a:r>
              <a:rPr lang="en-US" sz="1800" dirty="0"/>
              <a:t> and p</a:t>
            </a:r>
            <a:r>
              <a:rPr lang="en-US" sz="1800" baseline="-25000" dirty="0"/>
              <a:t>T</a:t>
            </a:r>
            <a:r>
              <a:rPr lang="en-US" sz="1800" baseline="30000" dirty="0"/>
              <a:t>2</a:t>
            </a:r>
            <a:r>
              <a:rPr lang="en-US" sz="1800" dirty="0"/>
              <a:t>, for each I can plot the invariants mass of the two photons after the background subtraction.</a:t>
            </a:r>
          </a:p>
          <a:p>
            <a:r>
              <a:rPr lang="en-US" sz="1800" dirty="0"/>
              <a:t>Looking at 1600 plots is a bit too much so I plotted the mean, sigma and chi2/</a:t>
            </a:r>
            <a:r>
              <a:rPr lang="en-US" sz="1800" dirty="0" err="1"/>
              <a:t>ndf</a:t>
            </a:r>
            <a:r>
              <a:rPr lang="en-US" sz="1800" dirty="0"/>
              <a:t> for each bin</a:t>
            </a:r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E1600-658B-818D-9EB2-690033B5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C16A4-3C0D-2667-DD02-CDC3A1B16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BA571-97DD-AF23-2114-F23DAA28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185BD9-4CD7-C5EB-40D3-D939C9C12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061" y="0"/>
            <a:ext cx="10880939" cy="36823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40270C-9B12-5A03-5D90-60A93880B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646961"/>
            <a:ext cx="7772400" cy="26303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519404-BA75-F29A-1D55-850433062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4269805"/>
            <a:ext cx="7772400" cy="263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29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AAE73-B694-E4A0-46C4-A0393C0A5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7E267-5385-C860-5414-0D0EF6DC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7B1AC-DE67-3244-03D8-F1E41C1CF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481"/>
            <a:ext cx="4297680" cy="5087667"/>
          </a:xfrm>
        </p:spPr>
        <p:txBody>
          <a:bodyPr>
            <a:normAutofit/>
          </a:bodyPr>
          <a:lstStyle/>
          <a:p>
            <a:r>
              <a:rPr lang="en-US" sz="1800" dirty="0"/>
              <a:t>Ok with the new binning I can extract the multiplicity ratio:</a:t>
            </a:r>
          </a:p>
          <a:p>
            <a:r>
              <a:rPr lang="en-US" sz="1800" dirty="0"/>
              <a:t>I have 1600 (8*8*5*5) bins in Q</a:t>
            </a:r>
            <a:r>
              <a:rPr lang="en-US" sz="1800" baseline="30000" dirty="0"/>
              <a:t>2</a:t>
            </a:r>
            <a:r>
              <a:rPr lang="en-US" sz="1800" dirty="0"/>
              <a:t>, </a:t>
            </a:r>
            <a:r>
              <a:rPr lang="en-US" sz="1800" dirty="0" err="1"/>
              <a:t>x</a:t>
            </a:r>
            <a:r>
              <a:rPr lang="en-US" sz="1800" baseline="-25000" dirty="0" err="1"/>
              <a:t>B</a:t>
            </a:r>
            <a:r>
              <a:rPr lang="en-US" sz="1800" dirty="0"/>
              <a:t>, </a:t>
            </a:r>
            <a:r>
              <a:rPr lang="en-US" sz="1800" dirty="0" err="1"/>
              <a:t>z</a:t>
            </a:r>
            <a:r>
              <a:rPr lang="en-US" sz="1800" baseline="-25000" dirty="0" err="1"/>
              <a:t>h</a:t>
            </a:r>
            <a:r>
              <a:rPr lang="en-US" sz="1800" dirty="0"/>
              <a:t> and p</a:t>
            </a:r>
            <a:r>
              <a:rPr lang="en-US" sz="1800" baseline="-25000" dirty="0"/>
              <a:t>T</a:t>
            </a:r>
            <a:r>
              <a:rPr lang="en-US" sz="1800" baseline="30000" dirty="0"/>
              <a:t>2</a:t>
            </a:r>
            <a:r>
              <a:rPr lang="en-US" sz="1800" dirty="0"/>
              <a:t>, for each I can plot the invariants mass of the two photons after the background subtraction.</a:t>
            </a:r>
          </a:p>
          <a:p>
            <a:r>
              <a:rPr lang="en-US" sz="1800" dirty="0"/>
              <a:t>Looking at 1000 plots is a bit too much so I plotted the mean, sigma and chi2/</a:t>
            </a:r>
            <a:r>
              <a:rPr lang="en-US" sz="1800" dirty="0" err="1"/>
              <a:t>ndf</a:t>
            </a:r>
            <a:r>
              <a:rPr lang="en-US" sz="1800" dirty="0"/>
              <a:t> for each bin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Couple of bad fits, I need to work on the the event mixing for some specific bins</a:t>
            </a:r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DD6EC-1FA5-4451-262B-7CC8AC41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CF939-B88F-6650-2D22-47CF9CBF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E6239-E52A-DE6C-3C71-268FFD5F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1AF691-8A40-7F8A-2619-EF13FECBA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6635"/>
            <a:ext cx="7772400" cy="654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80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8D22-FB82-D81E-7625-3C05C6BA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8C7E-EBCD-3B02-65EF-892BE72B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42B09-E94B-518E-198D-5DE58B898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4764168" cy="5087667"/>
          </a:xfrm>
        </p:spPr>
        <p:txBody>
          <a:bodyPr>
            <a:normAutofit/>
          </a:bodyPr>
          <a:lstStyle/>
          <a:p>
            <a:r>
              <a:rPr lang="en-US" sz="2000" dirty="0"/>
              <a:t>Ok with the new binning I can extract the multiplicity ratio:</a:t>
            </a:r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FF00A-5A9E-11AB-503C-DE23ACC71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13530-BCE1-7ECA-945A-4389D247C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4B627-4F33-4058-D829-30F777BC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4CF325-4125-E168-3A9D-80D37249F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150" y="16636"/>
            <a:ext cx="7317850" cy="46579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3A78E7-BE5F-1F42-6EDF-2E57F99B4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" y="2472956"/>
            <a:ext cx="7039444" cy="447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67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1A4BC-3C8D-204D-C33C-A463E2683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8C21-B048-0956-27E9-44DC1FFC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793EB-5610-F36D-D5B3-5806D4CD2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5718324" cy="5087667"/>
          </a:xfrm>
        </p:spPr>
        <p:txBody>
          <a:bodyPr>
            <a:normAutofit/>
          </a:bodyPr>
          <a:lstStyle/>
          <a:p>
            <a:r>
              <a:rPr lang="en-US" sz="2000" dirty="0"/>
              <a:t>Ok with the new binning I can extract the </a:t>
            </a:r>
            <a:r>
              <a:rPr lang="en-US" sz="2000" dirty="0" err="1"/>
              <a:t>pT</a:t>
            </a:r>
            <a:r>
              <a:rPr lang="en-US" sz="2000" dirty="0"/>
              <a:t> broadening:</a:t>
            </a:r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2B4A6-974D-3B12-FAB9-8E0046D9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A8DAA-6F5B-16D1-9CC4-9972052E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3FDC7-2B73-16A4-9137-1A06BA25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97391A-7205-3329-4C91-C50D0CAE7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559" y="39882"/>
            <a:ext cx="6093459" cy="3484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97CC2B-B97B-591C-2E73-07486B293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15126"/>
            <a:ext cx="6096000" cy="35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929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1BD29-0A23-5B11-1412-40CAFEF5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71C31-855D-AF12-54E2-6579C38C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9F65A-33F7-9C58-DED1-3C82A6F63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5718324" cy="5087667"/>
          </a:xfrm>
        </p:spPr>
        <p:txBody>
          <a:bodyPr>
            <a:normAutofit/>
          </a:bodyPr>
          <a:lstStyle/>
          <a:p>
            <a:r>
              <a:rPr lang="en-US" sz="2000" dirty="0"/>
              <a:t>Ok with the new binning I can extract the Beam Spin Asymmetry (BSA):</a:t>
            </a:r>
          </a:p>
          <a:p>
            <a:pPr lvl="1"/>
            <a:r>
              <a:rPr lang="en-US" dirty="0"/>
              <a:t>First extract asymmetry for each bin using f(</a:t>
            </a:r>
            <a:r>
              <a:rPr lang="en-US" dirty="0" err="1"/>
              <a:t>φ</a:t>
            </a:r>
            <a:r>
              <a:rPr lang="en-US" baseline="-25000" dirty="0" err="1"/>
              <a:t>h</a:t>
            </a:r>
            <a:r>
              <a:rPr lang="en-US" dirty="0"/>
              <a:t>) = Asin(</a:t>
            </a:r>
            <a:r>
              <a:rPr lang="en-US" dirty="0" err="1"/>
              <a:t>φ</a:t>
            </a:r>
            <a:r>
              <a:rPr lang="en-US" baseline="-25000" dirty="0" err="1"/>
              <a:t>h</a:t>
            </a:r>
            <a:r>
              <a:rPr lang="en-US" dirty="0"/>
              <a:t>)</a:t>
            </a:r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62F05-6D44-6FCA-870B-BAEF7AA8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71BB8-9D94-1CF6-A63F-B3A47BCD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39725-31B8-872C-1C9D-6DDC9F24F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6D3F17-6592-17B7-BD09-213F20D77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2" y="2825459"/>
            <a:ext cx="6639966" cy="399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53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A859A-C108-D4A0-1523-624BBE7B1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8E3E0-4405-346F-671A-2ACAE7FB7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Clas Collaboration meeting plan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D52D7-EBB5-C7AE-6AD4-9BD76CD29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2"/>
            <a:ext cx="11689754" cy="470316"/>
          </a:xfrm>
        </p:spPr>
        <p:txBody>
          <a:bodyPr>
            <a:normAutofit/>
          </a:bodyPr>
          <a:lstStyle/>
          <a:p>
            <a:r>
              <a:rPr lang="en-US" sz="2000" dirty="0"/>
              <a:t>I started working on my presentation for RG-D in the CLAS Collaboration </a:t>
            </a:r>
            <a:r>
              <a:rPr lang="en-US" sz="2000" dirty="0" err="1"/>
              <a:t>metting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3DBEF-9134-AC17-0174-35BDA8D37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53AFE-D829-32C3-B8AC-F265F64FF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112A7-D056-002C-F3EC-E4D20E07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8C43D7-8469-0BCA-434B-6B05B4664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18" y="1573794"/>
            <a:ext cx="7772400" cy="44260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C48CEF-F34A-5FED-5C05-1E273CB4DD00}"/>
              </a:ext>
            </a:extLst>
          </p:cNvPr>
          <p:cNvSpPr txBox="1">
            <a:spLocks/>
          </p:cNvSpPr>
          <p:nvPr/>
        </p:nvSpPr>
        <p:spPr>
          <a:xfrm>
            <a:off x="109982" y="1677862"/>
            <a:ext cx="4120112" cy="4321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Also, the registration fee should open soon (maybe already open), I suppose I will pay the fee with the pro-card? </a:t>
            </a:r>
          </a:p>
        </p:txBody>
      </p:sp>
    </p:spTree>
    <p:extLst>
      <p:ext uri="{BB962C8B-B14F-4D97-AF65-F5344CB8AC3E}">
        <p14:creationId xmlns:p14="http://schemas.microsoft.com/office/powerpoint/2010/main" val="2854328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7969-DB2B-2A08-BD00-A9E05EFF8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RG-L/Alert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4B2F1-554B-D889-5521-3E1A33686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discussed with Raphael about the beam spot/position calibration</a:t>
            </a:r>
          </a:p>
          <a:p>
            <a:r>
              <a:rPr lang="en-US" dirty="0"/>
              <a:t>The beam position have been calibrated for CLAS12 forward detector using electron</a:t>
            </a:r>
          </a:p>
          <a:p>
            <a:r>
              <a:rPr lang="en-US" dirty="0"/>
              <a:t>The goal is to redo similar analysis but for the AHDC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D2BDA-5D76-2A82-45FE-CCCE4E46C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E88B2-D92A-53B5-1849-9A9A6F0A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1BFBD-2C25-6042-8AAD-6DED6332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60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95E4-88D7-69F5-83A6-D0E5C89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2598-B386-02D3-ECE4-6A6D09FB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RG-D:</a:t>
            </a:r>
          </a:p>
          <a:p>
            <a:pPr lvl="1"/>
            <a:r>
              <a:rPr lang="en-US" dirty="0"/>
              <a:t>Regenerate simulation with the -3 cm solenoid shift for </a:t>
            </a:r>
            <a:r>
              <a:rPr lang="en-US" dirty="0" err="1"/>
              <a:t>inbending</a:t>
            </a:r>
            <a:r>
              <a:rPr lang="en-US" dirty="0"/>
              <a:t> </a:t>
            </a:r>
            <a:r>
              <a:rPr lang="en-US" dirty="0" err="1"/>
              <a:t>CuSn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the work on cos and sin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h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extraction 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Radiative and acceptance correction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Background for ρ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simulation for CT analysis</a:t>
            </a:r>
          </a:p>
          <a:p>
            <a:pPr lvl="1"/>
            <a:r>
              <a:rPr lang="en-US" dirty="0"/>
              <a:t>Write README and analysis details about the code </a:t>
            </a:r>
          </a:p>
          <a:p>
            <a:pPr lvl="1"/>
            <a:r>
              <a:rPr lang="en-US" dirty="0"/>
              <a:t>Write contamination study in common analysis note</a:t>
            </a:r>
          </a:p>
          <a:p>
            <a:pPr lvl="1"/>
            <a:r>
              <a:rPr lang="en-US" dirty="0"/>
              <a:t>Write analysis note for pi0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dirty="0"/>
              <a:t>ALERT: </a:t>
            </a:r>
          </a:p>
          <a:p>
            <a:pPr lvl="1"/>
            <a:r>
              <a:rPr lang="en-US" dirty="0"/>
              <a:t>Work on the beam position calibration for AHDC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120B9-0D55-C183-E2CD-1FE69337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06/15/26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FCEA-620F-8086-B86F-5A1E2FD7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A86AE-223C-803F-A19B-9CAD3911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</p:spTree>
    <p:extLst>
      <p:ext uri="{BB962C8B-B14F-4D97-AF65-F5344CB8AC3E}">
        <p14:creationId xmlns:p14="http://schemas.microsoft.com/office/powerpoint/2010/main" val="175447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20499</TotalTime>
  <Words>1034</Words>
  <Application>Microsoft Macintosh PowerPoint</Application>
  <PresentationFormat>Widescreen</PresentationFormat>
  <Paragraphs>161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Fira Sans</vt:lpstr>
      <vt:lpstr>Fira Sans Light</vt:lpstr>
      <vt:lpstr>Office Theme</vt:lpstr>
      <vt:lpstr>Group meeting</vt:lpstr>
      <vt:lpstr>RG-D: MC Pion </vt:lpstr>
      <vt:lpstr>RG-D: MC Pion </vt:lpstr>
      <vt:lpstr>RG-D: MC Pion </vt:lpstr>
      <vt:lpstr>RG-D: MC Pion </vt:lpstr>
      <vt:lpstr>RG-D: MC Pion </vt:lpstr>
      <vt:lpstr>RG-D: CuSn contamination for pion </vt:lpstr>
      <vt:lpstr>RG-D: CuSn contamination for pion </vt:lpstr>
      <vt:lpstr>RG-D: CuSn contamination for pion </vt:lpstr>
      <vt:lpstr>RG-D: CuSn contamination for pion </vt:lpstr>
      <vt:lpstr>RG-D: CuSn contamination for pion </vt:lpstr>
      <vt:lpstr>RG-D: CuSn contamination for pion </vt:lpstr>
      <vt:lpstr>RG-D: ᴨ0 analysis</vt:lpstr>
      <vt:lpstr>RG-D: ᴨ0 analysis</vt:lpstr>
      <vt:lpstr>RG-D: ᴨ0 analysis</vt:lpstr>
      <vt:lpstr>RG-D: ᴨ0 analysis</vt:lpstr>
      <vt:lpstr>RG-D: ᴨ0 analysis</vt:lpstr>
      <vt:lpstr>RG-D: ᴨ0 analysis</vt:lpstr>
      <vt:lpstr>RG-D: ᴨ0 analysis</vt:lpstr>
      <vt:lpstr>RG-D: ᴨ0 analysis</vt:lpstr>
      <vt:lpstr>RG-D: Clas Collaboration meeting plan</vt:lpstr>
      <vt:lpstr>RG-L/Alert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810</cp:revision>
  <dcterms:created xsi:type="dcterms:W3CDTF">2019-12-03T01:04:10Z</dcterms:created>
  <dcterms:modified xsi:type="dcterms:W3CDTF">2026-06-16T20:32:52Z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