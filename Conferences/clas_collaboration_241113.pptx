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Nunito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76204-A0CC-4167-BE98-5283F47F7B22}">
  <a:tblStyle styleId="{D7076204-A0CC-4167-BE98-5283F47F7B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-bold.fntdata"/><Relationship Id="rId10" Type="http://schemas.openxmlformats.org/officeDocument/2006/relationships/slide" Target="slides/slide4.xml"/><Relationship Id="rId32" Type="http://schemas.openxmlformats.org/officeDocument/2006/relationships/font" Target="fonts/Nunito-regular.fntdata"/><Relationship Id="rId13" Type="http://schemas.openxmlformats.org/officeDocument/2006/relationships/slide" Target="slides/slide7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-italic.fntdata"/><Relationship Id="rId15" Type="http://schemas.openxmlformats.org/officeDocument/2006/relationships/slide" Target="slides/slide9.xml"/><Relationship Id="rId37" Type="http://schemas.openxmlformats.org/officeDocument/2006/relationships/font" Target="fonts/NunitoMedium-bold.fntdata"/><Relationship Id="rId14" Type="http://schemas.openxmlformats.org/officeDocument/2006/relationships/slide" Target="slides/slide8.xml"/><Relationship Id="rId36" Type="http://schemas.openxmlformats.org/officeDocument/2006/relationships/font" Target="fonts/NunitoMedium-regular.fntdata"/><Relationship Id="rId17" Type="http://schemas.openxmlformats.org/officeDocument/2006/relationships/slide" Target="slides/slide11.xml"/><Relationship Id="rId39" Type="http://schemas.openxmlformats.org/officeDocument/2006/relationships/font" Target="fonts/Nunito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Nunito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17aaf66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17aaf66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17aaf66a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17aaf66a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17aaf66a9_7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17aaf66a9_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17aaf66a9_7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17aaf66a9_7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17aaf66a9_7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17aaf66a9_7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4156df6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4156df6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3e077b3b8_4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3e077b3b8_4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17aaf66a9_7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17aaf66a9_7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44c92d2c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44c92d2c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44c92d2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144c92d2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2a2d79d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2a2d79d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2a2d79de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2a2d79de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2a2d79de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2a2d79de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2a2d79de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12a2d79de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2a2d79de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2a2d79de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44c92d2c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44c92d2c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4156df67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4156df67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338de0b2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338de0b2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338de0b2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338de0b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338de0b2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338de0b2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4156df67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14156df67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338de0b2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1338de0b2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44c92d2c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44c92d2c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144c92d2c9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144c92d2c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3445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unito Medium"/>
              <a:buNone/>
              <a:defRPr sz="2600"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20" name="Google Shape;20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4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(November 13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isportal.jlab.org/mis/physics/experiments/viewProposal.cfm?paperId=685" TargetMode="External"/><Relationship Id="rId4" Type="http://schemas.openxmlformats.org/officeDocument/2006/relationships/hyperlink" Target="https://www.jlab.org/exp_prog/proposals/20/E12-06-106A_Proposal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as12mon.jlab.org/rgd/pass0v4/tlsummary/" TargetMode="External"/><Relationship Id="rId4" Type="http://schemas.openxmlformats.org/officeDocument/2006/relationships/hyperlink" Target="https://clasweb.jlab.org/wiki/index.php/Run_Group_D" TargetMode="External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las12mon.jlab.org/rgd/pass0v5/tlsummary/" TargetMode="External"/><Relationship Id="rId4" Type="http://schemas.openxmlformats.org/officeDocument/2006/relationships/hyperlink" Target="https://clasweb.jlab.org/wiki/index.php/Run_Group_D" TargetMode="External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las12mon.jlab.org/rgd/pass0v6/tlsummary/" TargetMode="External"/><Relationship Id="rId4" Type="http://schemas.openxmlformats.org/officeDocument/2006/relationships/image" Target="../media/image10.png"/><Relationship Id="rId5" Type="http://schemas.openxmlformats.org/officeDocument/2006/relationships/hyperlink" Target="https://clasweb.jlab.org/wiki/index.php/Run_Group_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lab.in2p3.fr/dupre/sidis_mc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hyperlink" Target="https://indico.jlab.org/event/910/contributions/15581/attachments/11928/18710/Flash_Talk_Nov_SS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266700" y="979950"/>
            <a:ext cx="8565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3880"/>
              <a:t>Update on RG-D Experiments:</a:t>
            </a:r>
            <a:endParaRPr sz="38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Calibration and Analysis Status</a:t>
            </a:r>
            <a:endParaRPr sz="38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266700" y="2245350"/>
            <a:ext cx="6412200" cy="4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19500" y="3480050"/>
            <a:ext cx="552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(November 13</a:t>
            </a:r>
            <a:r>
              <a:rPr baseline="30000"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550" y="4088450"/>
            <a:ext cx="3098799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050" y="4020000"/>
            <a:ext cx="1808951" cy="96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Run Group D​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7375" y="702600"/>
            <a:ext cx="9096600" cy="3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100"/>
              <a:t>RG-D is c</a:t>
            </a:r>
            <a:r>
              <a:rPr lang="fr" sz="2100"/>
              <a:t>omposed of two experiments:</a:t>
            </a:r>
            <a:endParaRPr sz="2100"/>
          </a:p>
          <a:p>
            <a:pPr indent="-171050" lvl="0" marL="2808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fr" sz="1900"/>
              <a:t>Study of Color Transparency (CT) in Exclusive Vector Meson Electroproduction </a:t>
            </a:r>
            <a:r>
              <a:rPr lang="fr" sz="1900"/>
              <a:t>off</a:t>
            </a:r>
            <a:r>
              <a:rPr lang="fr" sz="1900"/>
              <a:t> Nuclei (</a:t>
            </a:r>
            <a:r>
              <a:rPr lang="fr" sz="1900" u="sng">
                <a:solidFill>
                  <a:schemeClr val="hlink"/>
                </a:solidFill>
                <a:hlinkClick r:id="rId3"/>
              </a:rPr>
              <a:t>E12-06-106</a:t>
            </a:r>
            <a:r>
              <a:rPr lang="fr" sz="1900"/>
              <a:t>)​:</a:t>
            </a:r>
            <a:endParaRPr sz="1900"/>
          </a:p>
          <a:p>
            <a:pPr indent="-145650" lvl="1" marL="4860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 sz="1500"/>
              <a:t>Spokespeople: W. Armstrong</a:t>
            </a:r>
            <a:r>
              <a:rPr baseline="30000" lang="fr" sz="1500"/>
              <a:t>1</a:t>
            </a:r>
            <a:r>
              <a:rPr lang="fr" sz="1500"/>
              <a:t> , L. El Fassi</a:t>
            </a:r>
            <a:r>
              <a:rPr baseline="30000" lang="fr" sz="1500"/>
              <a:t>3</a:t>
            </a:r>
            <a:r>
              <a:rPr lang="fr" sz="1500"/>
              <a:t> , K. Hafidi</a:t>
            </a:r>
            <a:r>
              <a:rPr baseline="30000" lang="fr" sz="1500"/>
              <a:t>1</a:t>
            </a:r>
            <a:r>
              <a:rPr lang="fr" sz="1500"/>
              <a:t> , M. Holtrop</a:t>
            </a:r>
            <a:r>
              <a:rPr baseline="30000" lang="fr" sz="1500"/>
              <a:t>4</a:t>
            </a:r>
            <a:r>
              <a:rPr lang="fr" sz="1500"/>
              <a:t> and B. Mustapha</a:t>
            </a:r>
            <a:r>
              <a:rPr baseline="30000" lang="fr" sz="1500"/>
              <a:t>1​</a:t>
            </a:r>
            <a:endParaRPr baseline="30000" sz="1500"/>
          </a:p>
          <a:p>
            <a:pPr indent="-171050" lvl="0" marL="280800" rtl="0" algn="l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fr" sz="1900"/>
              <a:t>Nuclear Transverse Momentum Distributions (nTMDs) in CLAS12 (</a:t>
            </a:r>
            <a:r>
              <a:rPr lang="fr" sz="1900" u="sng">
                <a:solidFill>
                  <a:schemeClr val="hlink"/>
                </a:solidFill>
                <a:hlinkClick r:id="rId4"/>
              </a:rPr>
              <a:t>E12-06-106A</a:t>
            </a:r>
            <a:r>
              <a:rPr lang="fr" sz="1900"/>
              <a:t>)​:</a:t>
            </a:r>
            <a:endParaRPr sz="1900"/>
          </a:p>
          <a:p>
            <a:pPr indent="-145650" lvl="1" marL="5220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fr" sz="1500"/>
              <a:t>Spokespeople: R. Dupré</a:t>
            </a:r>
            <a:r>
              <a:rPr baseline="30000" lang="fr" sz="1500"/>
              <a:t>2</a:t>
            </a:r>
            <a:r>
              <a:rPr lang="fr" sz="1500"/>
              <a:t> , L. El Fassi</a:t>
            </a:r>
            <a:r>
              <a:rPr baseline="30000" lang="fr" sz="1500"/>
              <a:t>3</a:t>
            </a:r>
            <a:r>
              <a:rPr lang="fr" sz="1500"/>
              <a:t> , Zein-Eddine Meziani</a:t>
            </a:r>
            <a:r>
              <a:rPr baseline="30000" lang="fr" sz="1500"/>
              <a:t>1</a:t>
            </a:r>
            <a:r>
              <a:rPr lang="fr" sz="1500"/>
              <a:t> , and Holly Szumila-Vance​</a:t>
            </a:r>
            <a:r>
              <a:rPr baseline="30000" lang="fr" sz="1500"/>
              <a:t>5</a:t>
            </a:r>
            <a:endParaRPr baseline="30000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aseline="30000" lang="fr"/>
              <a:t>1</a:t>
            </a:r>
            <a:r>
              <a:rPr lang="fr"/>
              <a:t>: Argonne National Lab (ANL), </a:t>
            </a:r>
            <a:r>
              <a:rPr baseline="30000" lang="fr"/>
              <a:t>2</a:t>
            </a:r>
            <a:r>
              <a:rPr lang="fr"/>
              <a:t>: IJCLAB, Orsay, France </a:t>
            </a:r>
            <a:r>
              <a:rPr baseline="30000" lang="fr"/>
              <a:t>3</a:t>
            </a:r>
            <a:r>
              <a:rPr lang="fr"/>
              <a:t>: Mississippi State U. (MSSate), </a:t>
            </a:r>
            <a:r>
              <a:rPr baseline="30000" lang="fr"/>
              <a:t>4</a:t>
            </a:r>
            <a:r>
              <a:rPr lang="fr"/>
              <a:t>: University of New-Hampshire (UNH), </a:t>
            </a:r>
            <a:r>
              <a:rPr baseline="30000" lang="fr"/>
              <a:t>5</a:t>
            </a:r>
            <a:r>
              <a:rPr lang="fr"/>
              <a:t>: Jefferson Lab</a:t>
            </a:r>
            <a:endParaRPr/>
          </a:p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CT Experiment​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85875" y="719550"/>
            <a:ext cx="4756200" cy="189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-152000" lvl="0" marL="2808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E12-06-106, CT - the experimental signature of CT is the rise of the nuclear transparency, 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as a function of Q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is defined as the ratio of the cross section per nucleon on a bound nucleon to that on a free nucleon</a:t>
            </a:r>
            <a:endParaRPr sz="22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637" y="647401"/>
            <a:ext cx="3269714" cy="18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2543500" y="2320625"/>
            <a:ext cx="339300" cy="21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 title="[89,89,89,&quot;https://www.codecogs.com/eqnedit.php?latex=T_A%20%3D%20%5Cfrac%7B%5Csigma_A%7D%7BA%5Csigma_N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99" y="2868050"/>
            <a:ext cx="1267076" cy="5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105550" y="2829025"/>
            <a:ext cx="260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</a:t>
            </a:r>
            <a:r>
              <a:rPr baseline="-25000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− nuclei cross section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</a:t>
            </a:r>
            <a:r>
              <a:rPr baseline="-25000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</a:t>
            </a: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− free nucleon cross section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17275" y="3912600"/>
            <a:ext cx="456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oherence length,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baseline="-25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lifetime of the qq-bar pair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ormation time,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baseline="-25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the time evolution of small size configurations (SSC) to an on-shell ρ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meson​​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3" name="Google Shape;83;p15"/>
          <p:cNvCxnSpPr>
            <a:endCxn id="84" idx="0"/>
          </p:cNvCxnSpPr>
          <p:nvPr/>
        </p:nvCxnSpPr>
        <p:spPr>
          <a:xfrm flipH="1">
            <a:off x="5733175" y="3720076"/>
            <a:ext cx="146400" cy="34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5"/>
          <p:cNvSpPr txBox="1"/>
          <p:nvPr/>
        </p:nvSpPr>
        <p:spPr>
          <a:xfrm>
            <a:off x="5325625" y="4062976"/>
            <a:ext cx="8151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Virtual photon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5" name="Google Shape;85;p15"/>
          <p:cNvCxnSpPr>
            <a:endCxn id="86" idx="0"/>
          </p:cNvCxnSpPr>
          <p:nvPr/>
        </p:nvCxnSpPr>
        <p:spPr>
          <a:xfrm>
            <a:off x="6821508" y="3720300"/>
            <a:ext cx="180300" cy="39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>
            <a:endCxn id="86" idx="0"/>
          </p:cNvCxnSpPr>
          <p:nvPr/>
        </p:nvCxnSpPr>
        <p:spPr>
          <a:xfrm flipH="1">
            <a:off x="7001808" y="3720300"/>
            <a:ext cx="235200" cy="39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6318258" y="4111500"/>
            <a:ext cx="1367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Small size configuration (SSC),​ ρ</a:t>
            </a:r>
            <a:r>
              <a:rPr baseline="30000"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, is the nuclear cross section​ escapes interactions with the nucleus​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7146900" y="681850"/>
            <a:ext cx="489900" cy="19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175" y="2488975"/>
            <a:ext cx="3697850" cy="21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Nuclear TMDs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81650" y="763125"/>
            <a:ext cx="5815500" cy="3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172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E12-06-106A: nTMDs study uses the same CT running conditions except the beam polarization, and aims to explore​: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Fragmentation functions in nuclei​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Nuclear asymmetries at the partonic level​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Missing part of nuclear effects description​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64700" lvl="0" marL="172800" rtl="0" algn="l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Goal: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Measure the cos and sin modulations for p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T</a:t>
            </a:r>
            <a:endParaRPr baseline="-25000"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Mesure multiplicity ratios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For both charged pions and kaons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Accesses transport coefficient at parton level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725" y="647400"/>
            <a:ext cx="2705209" cy="19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650" y="2479225"/>
            <a:ext cx="2110800" cy="22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7524325" y="4272600"/>
            <a:ext cx="1569300" cy="312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Projected statistical error bars for sin and cos moments</a:t>
            </a:r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7712100" y="2629950"/>
            <a:ext cx="1381500" cy="2463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Ratio of sin asymmetries nuclei to nucleon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1" name="Google Shape;101;p16"/>
          <p:cNvCxnSpPr>
            <a:stCxn id="99" idx="0"/>
          </p:cNvCxnSpPr>
          <p:nvPr/>
        </p:nvCxnSpPr>
        <p:spPr>
          <a:xfrm rot="10800000">
            <a:off x="7084975" y="3960600"/>
            <a:ext cx="1224000" cy="312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6"/>
          <p:cNvCxnSpPr>
            <a:stCxn id="100" idx="0"/>
          </p:cNvCxnSpPr>
          <p:nvPr/>
        </p:nvCxnSpPr>
        <p:spPr>
          <a:xfrm rot="10800000">
            <a:off x="7366650" y="2210550"/>
            <a:ext cx="1036200" cy="419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950" y="1837725"/>
            <a:ext cx="3701873" cy="288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Run Configuration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13250" y="647400"/>
            <a:ext cx="9144000" cy="207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164700" lvl="0" marL="28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RG-D experiments ran with: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10.54 GeV polarized beam with </a:t>
            </a: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I= 5–175 nA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for luminosity scans and production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Standard CLAS12 configuration with FT-OFF and three layers of FMT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Three target configurations, LD2, CxC, and CuSn, used with Inbending and Outbending torus magnet setup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New cryogenic LD2 and the nuclear-foil flag assembly centered at -5 cm for each configuration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64700" lvl="0" marL="280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Main run hiccups: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Faraday Cup vacuum contamination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393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Moller cone sagging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75" y="2844926"/>
            <a:ext cx="4119449" cy="183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>
            <a:stCxn id="113" idx="2"/>
          </p:cNvCxnSpPr>
          <p:nvPr/>
        </p:nvCxnSpPr>
        <p:spPr>
          <a:xfrm>
            <a:off x="5890950" y="3758850"/>
            <a:ext cx="238800" cy="4146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7"/>
          <p:cNvSpPr txBox="1"/>
          <p:nvPr/>
        </p:nvSpPr>
        <p:spPr>
          <a:xfrm>
            <a:off x="5564400" y="3419850"/>
            <a:ext cx="653100" cy="339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LD2 entrance window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4" name="Google Shape;114;p17"/>
          <p:cNvCxnSpPr>
            <a:stCxn id="115" idx="2"/>
          </p:cNvCxnSpPr>
          <p:nvPr/>
        </p:nvCxnSpPr>
        <p:spPr>
          <a:xfrm>
            <a:off x="6335125" y="3313063"/>
            <a:ext cx="133500" cy="7188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7"/>
          <p:cNvSpPr txBox="1"/>
          <p:nvPr/>
        </p:nvSpPr>
        <p:spPr>
          <a:xfrm>
            <a:off x="6025075" y="3061663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LD2 exit window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6" name="Google Shape;116;p17"/>
          <p:cNvCxnSpPr>
            <a:stCxn id="117" idx="3"/>
          </p:cNvCxnSpPr>
          <p:nvPr/>
        </p:nvCxnSpPr>
        <p:spPr>
          <a:xfrm>
            <a:off x="6532600" y="2697450"/>
            <a:ext cx="262800" cy="471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7"/>
          <p:cNvSpPr txBox="1"/>
          <p:nvPr/>
        </p:nvSpPr>
        <p:spPr>
          <a:xfrm>
            <a:off x="5912500" y="2571750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 target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18" name="Google Shape;118;p17"/>
          <p:cNvCxnSpPr>
            <a:stCxn id="119" idx="1"/>
          </p:cNvCxnSpPr>
          <p:nvPr/>
        </p:nvCxnSpPr>
        <p:spPr>
          <a:xfrm flipH="1">
            <a:off x="7144000" y="2496550"/>
            <a:ext cx="186600" cy="6060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7"/>
          <p:cNvSpPr txBox="1"/>
          <p:nvPr/>
        </p:nvSpPr>
        <p:spPr>
          <a:xfrm>
            <a:off x="7330600" y="2370850"/>
            <a:ext cx="6201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Sn</a:t>
            </a: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target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20" name="Google Shape;120;p17"/>
          <p:cNvCxnSpPr>
            <a:stCxn id="121" idx="2"/>
          </p:cNvCxnSpPr>
          <p:nvPr/>
        </p:nvCxnSpPr>
        <p:spPr>
          <a:xfrm flipH="1">
            <a:off x="8138300" y="3564475"/>
            <a:ext cx="12600" cy="590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7"/>
          <p:cNvSpPr txBox="1"/>
          <p:nvPr/>
        </p:nvSpPr>
        <p:spPr>
          <a:xfrm>
            <a:off x="7717550" y="3313075"/>
            <a:ext cx="866700" cy="251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Scattering chamber entrance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Status: DC Alignment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110750" y="731700"/>
            <a:ext cx="4926000" cy="39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Alignment: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DC alignment using zero-field run is completed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32449" lvl="0" marL="208799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Plots show tracks: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434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Fit residuals (colored points) and vertex residuals (black symbols) vs. θ bin.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9434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Different symbols (circle, square, triangle, etc.) represent different φ bins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9434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Colors denote different superlayers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9434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Y-axis represents θ bins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29" name="Google Shape;129;p18"/>
          <p:cNvSpPr txBox="1"/>
          <p:nvPr/>
        </p:nvSpPr>
        <p:spPr>
          <a:xfrm>
            <a:off x="5221325" y="656200"/>
            <a:ext cx="8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Nominal geometry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8074200" y="656200"/>
            <a:ext cx="8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Final alignment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2629" t="0"/>
          <a:stretch/>
        </p:blipFill>
        <p:spPr>
          <a:xfrm>
            <a:off x="6533988" y="970100"/>
            <a:ext cx="1041425" cy="371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6647776" y="656200"/>
            <a:ext cx="89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First+Second alignment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512" y="1003698"/>
            <a:ext cx="1069525" cy="371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7650" y="1036250"/>
            <a:ext cx="1041425" cy="358253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154700" y="4099025"/>
            <a:ext cx="402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Thanks to R. De Vita and M. Maynes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</a:t>
            </a:r>
            <a:r>
              <a:rPr lang="fr"/>
              <a:t>Status</a:t>
            </a:r>
            <a:r>
              <a:rPr lang="fr"/>
              <a:t>: </a:t>
            </a:r>
            <a:r>
              <a:rPr lang="fr"/>
              <a:t>FMT Alignment</a:t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42" name="Google Shape;142;p19"/>
          <p:cNvSpPr txBox="1"/>
          <p:nvPr/>
        </p:nvSpPr>
        <p:spPr>
          <a:xfrm>
            <a:off x="154700" y="4099025"/>
            <a:ext cx="402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 b="48286" l="0" r="0" t="0"/>
          <a:stretch/>
        </p:blipFill>
        <p:spPr>
          <a:xfrm>
            <a:off x="189550" y="1752175"/>
            <a:ext cx="8764902" cy="2926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154700" y="739975"/>
            <a:ext cx="86754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5301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●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f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inal FMT alignment constants were extracted using the zero-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field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and cosmic runs, and uploaded for layers 2 and 3 (</a:t>
            </a:r>
            <a:r>
              <a:rPr i="1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layer 1 disk was not functional in RG-D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Thanks to Y. Gotra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Status: Calibration Summary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110750" y="731700"/>
            <a:ext cx="8870100" cy="39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Beam offsets: transverse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Y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positions for FD and CD were calibrated and CVT z-offset was adjusted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RF calibration is done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FTOF and CTOF calibrations are almost finalized depending on the to-be-produced timelines after the latest iterations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RICH: time calibration is finalized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LTCC: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calibration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of the per-sector number of photoelectrons is completed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ECal: time residual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offsets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were updated for IB and OB datasets (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awaits timelines check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)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CND calibration is almost finalized depending on the to-be-produced timelines after the latest iterations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HTCC and DC calibrations are in progress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Thanks to the CalCom group support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Processing Summary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0" y="647400"/>
            <a:ext cx="9005700" cy="39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monitoring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The first three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timelines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for RG-D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datasets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were done online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September 4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Pass0v4 was processed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after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the final DC alignment, beam offsets, and CVT z-offset adjustment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1649" lvl="2" marL="9036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■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sz="15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here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1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59" name="Google Shape;159;p21"/>
          <p:cNvSpPr txBox="1"/>
          <p:nvPr/>
        </p:nvSpPr>
        <p:spPr>
          <a:xfrm>
            <a:off x="0" y="4232850"/>
            <a:ext cx="80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8350" lvl="0" marL="280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700"/>
              <a:buFont typeface="Nunito"/>
              <a:buChar char="●"/>
            </a:pPr>
            <a:r>
              <a:rPr lang="fr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 more details, please visit the RG-D analysis </a:t>
            </a:r>
            <a:r>
              <a:rPr lang="fr" sz="1700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wikipage</a:t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825" y="2020475"/>
            <a:ext cx="7129748" cy="23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Processing Summary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0" y="647400"/>
            <a:ext cx="9005700" cy="39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monitoring: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October 14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Pass0v5: Pass0v4 conditions + first-round of FTOF and CTOF, and partial ECal energy calibrations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2" marL="9036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sz="1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here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2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168" name="Google Shape;168;p22"/>
          <p:cNvSpPr txBox="1"/>
          <p:nvPr/>
        </p:nvSpPr>
        <p:spPr>
          <a:xfrm>
            <a:off x="0" y="4232850"/>
            <a:ext cx="80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8350" lvl="0" marL="280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700"/>
              <a:buFont typeface="Nunito"/>
              <a:buChar char="●"/>
            </a:pPr>
            <a:r>
              <a:rPr lang="fr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 more details, please visit the RG-D analysis </a:t>
            </a:r>
            <a:r>
              <a:rPr lang="fr" sz="1700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wikipage</a:t>
            </a:r>
            <a:endParaRPr/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350" y="1753401"/>
            <a:ext cx="7914752" cy="256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Processing Summary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0" y="647400"/>
            <a:ext cx="9005700" cy="39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164700" lvl="0" marL="280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Timelines monitoring: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152000" lvl="1" marL="486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October 23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Pass0v6: Pass0v5 conditions + first round of RF calibration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2" marL="9036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■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Timelines are available </a:t>
            </a:r>
            <a:r>
              <a:rPr lang="fr" sz="1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here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75" y="1465250"/>
            <a:ext cx="8361923" cy="27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0" y="4232850"/>
            <a:ext cx="805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8350" lvl="0" marL="280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700"/>
              <a:buFont typeface="Nunito"/>
              <a:buChar char="●"/>
            </a:pPr>
            <a:r>
              <a:rPr lang="fr"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 more details, please visit the RG-D analysis </a:t>
            </a:r>
            <a:r>
              <a:rPr lang="fr" sz="1700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wikipage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98200" y="668025"/>
            <a:ext cx="8951700" cy="13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Goal: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Check whether all s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ectors are well aligned in Vx, Vy and Vz distributions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Could sector-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independent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cuts on Vx, Vy and Vz be applied? 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  <a:p>
            <a:pPr indent="-171374" lvl="1" marL="414000" rtl="0" algn="l">
              <a:spcBef>
                <a:spcPts val="0"/>
              </a:spcBef>
              <a:spcAft>
                <a:spcPts val="0"/>
              </a:spcAft>
              <a:buSzPts val="1338"/>
              <a:buFont typeface="Nunito"/>
              <a:buChar char="○"/>
            </a:pPr>
            <a:r>
              <a:rPr lang="fr" sz="1538">
                <a:latin typeface="Nunito"/>
                <a:ea typeface="Nunito"/>
                <a:cs typeface="Nunito"/>
                <a:sym typeface="Nunito"/>
              </a:rPr>
              <a:t>Reduce the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contamination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for the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target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configuration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with</a:t>
            </a:r>
            <a:r>
              <a:rPr lang="fr" sz="1538">
                <a:latin typeface="Nunito"/>
                <a:ea typeface="Nunito"/>
                <a:cs typeface="Nunito"/>
                <a:sym typeface="Nunito"/>
              </a:rPr>
              <a:t> two different foils, Cu and Sn</a:t>
            </a:r>
            <a:endParaRPr sz="1538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86" name="Google Shape;1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900" y="1884050"/>
            <a:ext cx="3721801" cy="283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75" y="1884050"/>
            <a:ext cx="3721801" cy="2831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Studies: Transverse Components </a:t>
            </a:r>
            <a:endParaRPr/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0" y="723600"/>
            <a:ext cx="9093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Get rid of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sector-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dependent cuts for Vx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25" y="1055150"/>
            <a:ext cx="4421374" cy="364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8499"/>
            <a:ext cx="4521899" cy="35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Studies: Transverse Components </a:t>
            </a:r>
            <a:endParaRPr/>
          </a:p>
        </p:txBody>
      </p:sp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00" y="1054800"/>
            <a:ext cx="4420799" cy="3643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0" y="723600"/>
            <a:ext cx="9093900" cy="1108500"/>
          </a:xfrm>
          <a:prstGeom prst="rect">
            <a:avLst/>
          </a:prstGeom>
        </p:spPr>
        <p:txBody>
          <a:bodyPr anchorCtr="0" anchor="t" bIns="0" lIns="90000" spcFirstLastPara="1" rIns="0" wrap="square" tIns="0">
            <a:normAutofit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Get rid of sector-dependent cuts for Vy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9600"/>
            <a:ext cx="4521600" cy="357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9800"/>
            <a:ext cx="5090500" cy="380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Vertex Studies: z-Vertex</a:t>
            </a:r>
            <a:endParaRPr/>
          </a:p>
        </p:txBody>
      </p:sp>
      <p:sp>
        <p:nvSpPr>
          <p:cNvPr id="212" name="Google Shape;212;p2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cxnSp>
        <p:nvCxnSpPr>
          <p:cNvPr id="213" name="Google Shape;213;p27"/>
          <p:cNvCxnSpPr/>
          <p:nvPr/>
        </p:nvCxnSpPr>
        <p:spPr>
          <a:xfrm>
            <a:off x="1048775" y="4433775"/>
            <a:ext cx="9861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7"/>
          <p:cNvCxnSpPr/>
          <p:nvPr/>
        </p:nvCxnSpPr>
        <p:spPr>
          <a:xfrm>
            <a:off x="2072450" y="4433775"/>
            <a:ext cx="8934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7"/>
          <p:cNvSpPr txBox="1"/>
          <p:nvPr/>
        </p:nvSpPr>
        <p:spPr>
          <a:xfrm>
            <a:off x="825225" y="4502925"/>
            <a:ext cx="11994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Empty LD2 cell</a:t>
            </a:r>
            <a:endParaRPr sz="1300">
              <a:solidFill>
                <a:srgbClr val="6AA84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2051300" y="4502925"/>
            <a:ext cx="17043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CC0000"/>
                </a:solidFill>
                <a:latin typeface="Nunito"/>
                <a:ea typeface="Nunito"/>
                <a:cs typeface="Nunito"/>
                <a:sym typeface="Nunito"/>
              </a:rPr>
              <a:t>Nuclear-foil</a:t>
            </a:r>
            <a:endParaRPr sz="1300">
              <a:solidFill>
                <a:srgbClr val="CC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5090500" y="678800"/>
            <a:ext cx="4038900" cy="23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19434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Fits: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Fit the empty LD2 cell and nuclear-foil regions with double gaussians and first-order polynomial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Separate the two different foils, Cu and Sn from each other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Same study is performed for carbon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Similar study is underway for hadrons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18" name="Google Shape;218;p27"/>
          <p:cNvGraphicFramePr/>
          <p:nvPr/>
        </p:nvGraphicFramePr>
        <p:xfrm>
          <a:off x="5623900" y="315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{D7076204-A0CC-4167-BE98-5283F47F7B22}</a:tableStyleId>
              </a:tblPr>
              <a:tblGrid>
                <a:gridCol w="1661850"/>
                <a:gridCol w="1661850"/>
              </a:tblGrid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Target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z</a:t>
                      </a: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-Vertex (cm)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LD2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</a:t>
                      </a: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-20,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</a:t>
                      </a: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-10.784,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Cu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</a:t>
                      </a: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-11.463, -6.576]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Sn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2"/>
                          </a:solidFill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[-6.137, 5]</a:t>
                      </a:r>
                      <a:endParaRPr>
                        <a:solidFill>
                          <a:schemeClr val="dk2"/>
                        </a:solidFill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Analysis Study: Particle IDentification</a:t>
            </a:r>
            <a:endParaRPr/>
          </a:p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225" name="Google Shape;225;p28"/>
          <p:cNvSpPr txBox="1"/>
          <p:nvPr/>
        </p:nvSpPr>
        <p:spPr>
          <a:xfrm>
            <a:off x="60500" y="712825"/>
            <a:ext cx="20262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3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20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lectron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11 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Status&lt; 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-5 &lt; chi2pid &lt; 5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50" y="781900"/>
            <a:ext cx="4858577" cy="30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55" y="1843550"/>
            <a:ext cx="3621245" cy="28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/>
        </p:nvSpPr>
        <p:spPr>
          <a:xfrm>
            <a:off x="2164025" y="712825"/>
            <a:ext cx="21378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3399" lvl="0" marL="2087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0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Charged pions, π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±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 (+/-) = (+/-) 211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39300" lvl="1" marL="34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CT Study: Kinematical Cuts</a:t>
            </a:r>
            <a:endParaRPr/>
          </a:p>
        </p:txBody>
      </p:sp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235" name="Google Shape;235;p29"/>
          <p:cNvSpPr txBox="1"/>
          <p:nvPr/>
        </p:nvSpPr>
        <p:spPr>
          <a:xfrm>
            <a:off x="122400" y="694000"/>
            <a:ext cx="8899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E - E’: virtual photon(γ*) energy in the Lab frame,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-(P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e’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4EE’sin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(θ/2): photon virtuality,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t= (P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γ*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momentum transfer square,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(P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P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γ*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-Q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M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+ 2M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</a:t>
            </a:r>
            <a:r>
              <a:rPr lang="fr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invariant mass squared in (γ*, p) center of mass (CM).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52000" lvl="0" marL="172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●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Kinematical cuts: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W&gt; 2 GeV ↦ avoid resonance region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baseline="-25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= E</a:t>
            </a:r>
            <a:r>
              <a:rPr baseline="-25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/</a:t>
            </a:r>
            <a:r>
              <a:rPr lang="fr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ν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&gt; 0.9 ↦ select elastic channel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-t &gt; 0.1 GeV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↦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exclude coherent production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301" lvl="1" marL="378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○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-t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&lt; 0.5 GeV</a:t>
            </a:r>
            <a:r>
              <a:rPr baseline="30000"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↦ select diffractive process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6" name="Google Shape;2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976" y="1871500"/>
            <a:ext cx="3522025" cy="27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CT Study: Two-pion Invariant Mass</a:t>
            </a:r>
            <a:endParaRPr/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725" y="647400"/>
            <a:ext cx="6374426" cy="406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625" y="1657125"/>
            <a:ext cx="4063649" cy="30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75" y="1613996"/>
            <a:ext cx="4064399" cy="3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CT Study: Two-pion Invariant Mass</a:t>
            </a:r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0" y="647400"/>
            <a:ext cx="9144000" cy="9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879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Fit the invariant mass shapes for the two-oppositely charged pions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with a Breit-Wigner and three-order polynomial function (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the latter will be replaced with the simulated background shape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)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Extract ρ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yield by integrating the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background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-subtracted BW within a 3σ range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sp>
        <p:nvSpPr>
          <p:cNvPr id="253" name="Google Shape;253;p31"/>
          <p:cNvSpPr txBox="1"/>
          <p:nvPr/>
        </p:nvSpPr>
        <p:spPr>
          <a:xfrm>
            <a:off x="1055075" y="447780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Carbon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31"/>
          <p:cNvSpPr txBox="1"/>
          <p:nvPr/>
        </p:nvSpPr>
        <p:spPr>
          <a:xfrm>
            <a:off x="5208000" y="4477800"/>
            <a:ext cx="1859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 sz="1600">
                <a:solidFill>
                  <a:srgbClr val="38761D"/>
                </a:solidFill>
                <a:latin typeface="Nunito"/>
                <a:ea typeface="Nunito"/>
                <a:cs typeface="Nunito"/>
                <a:sym typeface="Nunito"/>
              </a:rPr>
              <a:t> data</a:t>
            </a:r>
            <a:endParaRPr sz="1600">
              <a:solidFill>
                <a:srgbClr val="38761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RG-D Color Transparency Study</a:t>
            </a:r>
            <a:endParaRPr/>
          </a:p>
        </p:txBody>
      </p:sp>
      <p:sp>
        <p:nvSpPr>
          <p:cNvPr id="260" name="Google Shape;260;p32"/>
          <p:cNvSpPr txBox="1"/>
          <p:nvPr>
            <p:ph idx="1" type="body"/>
          </p:nvPr>
        </p:nvSpPr>
        <p:spPr>
          <a:xfrm>
            <a:off x="94225" y="794500"/>
            <a:ext cx="4176300" cy="38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200699" lvl="0" marL="208799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Extract the nuclear transparency: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= 5 cm: LD2 thickness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CxC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= 0.4 cm: is CxC thickness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LD2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=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0.164 g/cm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LD2 density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0" marL="2087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ρ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=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2.2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g/cm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: carbon density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ngoing 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nalysis by M. Maynes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62" name="Google Shape;262;p32"/>
          <p:cNvPicPr preferRelativeResize="0"/>
          <p:nvPr/>
        </p:nvPicPr>
        <p:blipFill rotWithShape="1">
          <a:blip r:embed="rId3">
            <a:alphaModFix/>
          </a:blip>
          <a:srcRect b="0" l="764" r="0" t="0"/>
          <a:stretch/>
        </p:blipFill>
        <p:spPr>
          <a:xfrm>
            <a:off x="4138675" y="889175"/>
            <a:ext cx="4934549" cy="34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800" y="1142500"/>
            <a:ext cx="2117975" cy="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nTMDs Studies: Positively-charged Pion</a:t>
            </a:r>
            <a:endParaRPr/>
          </a:p>
        </p:txBody>
      </p:sp>
      <p:sp>
        <p:nvSpPr>
          <p:cNvPr id="269" name="Google Shape;269;p33"/>
          <p:cNvSpPr txBox="1"/>
          <p:nvPr>
            <p:ph idx="1" type="body"/>
          </p:nvPr>
        </p:nvSpPr>
        <p:spPr>
          <a:xfrm>
            <a:off x="41650" y="687700"/>
            <a:ext cx="8964300" cy="17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0069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Ongoing simulation efforts: preliminary results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8001" lvl="1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Simulations are produced using </a:t>
            </a:r>
            <a:r>
              <a:rPr lang="fr" sz="1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modified version of Pythia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8001" lvl="1" marL="45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Comparing experimental data to simulation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71" name="Google Shape;27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38" y="1530800"/>
            <a:ext cx="3455475" cy="25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3"/>
          <p:cNvSpPr txBox="1"/>
          <p:nvPr/>
        </p:nvSpPr>
        <p:spPr>
          <a:xfrm>
            <a:off x="2524625" y="4042350"/>
            <a:ext cx="8352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Q</a:t>
            </a:r>
            <a:r>
              <a:rPr baseline="30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 [GeV</a:t>
            </a:r>
            <a:r>
              <a:rPr baseline="30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</a:t>
            </a: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]</a:t>
            </a:r>
            <a:endParaRPr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1807725" y="231740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274" name="Google Shape;27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875" y="1530800"/>
            <a:ext cx="3539670" cy="25419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3"/>
          <p:cNvSpPr txBox="1"/>
          <p:nvPr/>
        </p:nvSpPr>
        <p:spPr>
          <a:xfrm>
            <a:off x="6466325" y="4042350"/>
            <a:ext cx="3123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z</a:t>
            </a:r>
            <a:r>
              <a:rPr baseline="-25000" lang="fr" sz="13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h</a:t>
            </a:r>
            <a:endParaRPr baseline="-25000" sz="13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76" name="Google Shape;276;p33"/>
          <p:cNvSpPr txBox="1"/>
          <p:nvPr/>
        </p:nvSpPr>
        <p:spPr>
          <a:xfrm>
            <a:off x="5470775" y="2317400"/>
            <a:ext cx="597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38761D"/>
                </a:solidFill>
                <a:latin typeface="Nunito Medium"/>
                <a:ea typeface="Nunito Medium"/>
                <a:cs typeface="Nunito Medium"/>
                <a:sym typeface="Nunito Medium"/>
              </a:rPr>
              <a:t>LD2</a:t>
            </a:r>
            <a:endParaRPr sz="1800">
              <a:solidFill>
                <a:srgbClr val="38761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3579900" y="1152200"/>
            <a:ext cx="5564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by D. Matamoros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41650" y="4364775"/>
            <a:ext cx="628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Parallel nTMDs analysis for charged pions by </a:t>
            </a:r>
            <a:r>
              <a:rPr lang="fr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S. Shrestha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nTMDs Studies: K-short Channel</a:t>
            </a:r>
            <a:endParaRPr/>
          </a:p>
        </p:txBody>
      </p:sp>
      <p:sp>
        <p:nvSpPr>
          <p:cNvPr id="284" name="Google Shape;284;p34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575" y="699363"/>
            <a:ext cx="4932625" cy="37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41650" y="841550"/>
            <a:ext cx="4034100" cy="3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192127" lvl="0" marL="208799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First look at the K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channel to extract multiplicity ratios and azimuthal asymmetries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0856" lvl="1" marL="414000" rtl="0" algn="l">
              <a:spcBef>
                <a:spcPts val="100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8">
                <a:latin typeface="Nunito"/>
                <a:ea typeface="Nunito"/>
                <a:cs typeface="Nunito"/>
                <a:sym typeface="Nunito"/>
              </a:rPr>
              <a:t>In-progress studies to improve the two-pion invariant mass reconstruction in the mass region of interest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92127" lvl="0" marL="208799" rtl="0" algn="l">
              <a:spcBef>
                <a:spcPts val="1200"/>
              </a:spcBef>
              <a:spcAft>
                <a:spcPts val="0"/>
              </a:spcAft>
              <a:buSzPct val="1000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Kinematical cuts: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100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W&gt; 2 GeV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&gt;1 GeV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&lt; 0.7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0379" lvl="1" marL="414000" rtl="0" algn="l">
              <a:spcBef>
                <a:spcPts val="0"/>
              </a:spcBef>
              <a:spcAft>
                <a:spcPts val="0"/>
              </a:spcAft>
              <a:buSzPct val="1000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|ΔVz| &lt; 3 cm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7567675" y="4477825"/>
            <a:ext cx="146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by M. Ouillon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Summary and Outlook</a:t>
            </a:r>
            <a:endParaRPr/>
          </a:p>
        </p:txBody>
      </p:sp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275" y="673500"/>
            <a:ext cx="9325800" cy="39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9749" lvl="0" marL="208799" rtl="0" algn="l">
              <a:spcBef>
                <a:spcPts val="0"/>
              </a:spcBef>
              <a:spcAft>
                <a:spcPts val="0"/>
              </a:spcAft>
              <a:buSzPts val="2100"/>
              <a:buFont typeface="Nunito"/>
              <a:buChar char="●"/>
            </a:pPr>
            <a:r>
              <a:rPr lang="fr" sz="2100">
                <a:latin typeface="Nunito"/>
                <a:ea typeface="Nunito"/>
                <a:cs typeface="Nunito"/>
                <a:sym typeface="Nunito"/>
              </a:rPr>
              <a:t>Calibration is progressing as planned within the three-month </a:t>
            </a:r>
            <a:r>
              <a:rPr lang="fr" sz="2100">
                <a:latin typeface="Nunito"/>
                <a:ea typeface="Nunito"/>
                <a:cs typeface="Nunito"/>
                <a:sym typeface="Nunito"/>
              </a:rPr>
              <a:t>timeframe: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RF, LTCC, and RICH calibrations are completed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DC and HTCC calibrations are underway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FTOF, CTOF, ECal, and CND are almost done depending on the to-be-produced timelines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New AI network will be trained after finalizing the DC calibration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19749" lvl="0" marL="208799" rtl="0" algn="l">
              <a:spcBef>
                <a:spcPts val="0"/>
              </a:spcBef>
              <a:spcAft>
                <a:spcPts val="0"/>
              </a:spcAft>
              <a:buSzPts val="2100"/>
              <a:buFont typeface="Nunito"/>
              <a:buChar char="●"/>
            </a:pPr>
            <a:r>
              <a:rPr lang="fr" sz="2100">
                <a:latin typeface="Nunito"/>
                <a:ea typeface="Nunito"/>
                <a:cs typeface="Nunito"/>
                <a:sym typeface="Nunito"/>
              </a:rPr>
              <a:t>Developing analysis tools for CT and nTMDs studies to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improve vertex cuts and corrections, if needed, due to any observed angular dependencies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implement fiducial cuts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perform background merging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use the  ρ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event generator for its two-pion invariant mass background subtraction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extract the CT signal for Cu and Sn in addition to C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improve the K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identification method and extract its preliminary asymmetry results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187999" lvl="1" marL="414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obtain the preliminary asymmetry results for charged pions nTMDs studies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35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Backup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fr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CT Study: </a:t>
            </a:r>
            <a:r>
              <a:rPr lang="fr"/>
              <a:t>Two-pion Invariant Mass</a:t>
            </a:r>
            <a:endParaRPr/>
          </a:p>
        </p:txBody>
      </p:sp>
      <p:sp>
        <p:nvSpPr>
          <p:cNvPr id="306" name="Google Shape;306;p37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210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7" name="Google Shape;3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850" y="1212075"/>
            <a:ext cx="6713023" cy="3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7"/>
          <p:cNvSpPr/>
          <p:nvPr/>
        </p:nvSpPr>
        <p:spPr>
          <a:xfrm>
            <a:off x="7540025" y="4408725"/>
            <a:ext cx="389400" cy="29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76200" y="647400"/>
            <a:ext cx="91818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19749" lvl="0" marL="2087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unito"/>
              <a:buChar char="●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Our event generator incorporates the measured cross sections by Cassel et 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al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. for the electroproduction of ρ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and the three main background processes </a:t>
            </a:r>
            <a:endParaRPr sz="2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37"/>
          <p:cNvSpPr/>
          <p:nvPr/>
        </p:nvSpPr>
        <p:spPr>
          <a:xfrm>
            <a:off x="8100650" y="4471525"/>
            <a:ext cx="369900" cy="2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