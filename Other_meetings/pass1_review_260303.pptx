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Nunito"/>
      <p:regular r:id="rId66"/>
      <p:bold r:id="rId67"/>
      <p:italic r:id="rId68"/>
      <p:boldItalic r:id="rId69"/>
    </p:embeddedFont>
    <p:embeddedFont>
      <p:font typeface="Roboto Mono Light"/>
      <p:regular r:id="rId70"/>
      <p:bold r:id="rId71"/>
      <p:italic r:id="rId72"/>
      <p:boldItalic r:id="rId73"/>
    </p:embeddedFont>
    <p:embeddedFont>
      <p:font typeface="Nunito Light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EC0371-19BD-4891-9C39-70889C5E0B8A}">
  <a:tblStyle styleId="{88EC0371-19BD-4891-9C39-70889C5E0B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Light-boldItalic.fntdata"/><Relationship Id="rId72" Type="http://schemas.openxmlformats.org/officeDocument/2006/relationships/font" Target="fonts/RobotoMonoLight-italic.fntdata"/><Relationship Id="rId31" Type="http://schemas.openxmlformats.org/officeDocument/2006/relationships/slide" Target="slides/slide25.xml"/><Relationship Id="rId75" Type="http://schemas.openxmlformats.org/officeDocument/2006/relationships/font" Target="fonts/NunitoLight-bold.fntdata"/><Relationship Id="rId30" Type="http://schemas.openxmlformats.org/officeDocument/2006/relationships/slide" Target="slides/slide24.xml"/><Relationship Id="rId74" Type="http://schemas.openxmlformats.org/officeDocument/2006/relationships/font" Target="fonts/NunitoLight-regular.fntdata"/><Relationship Id="rId33" Type="http://schemas.openxmlformats.org/officeDocument/2006/relationships/slide" Target="slides/slide27.xml"/><Relationship Id="rId77" Type="http://schemas.openxmlformats.org/officeDocument/2006/relationships/font" Target="fonts/NunitoLight-boldItalic.fntdata"/><Relationship Id="rId32" Type="http://schemas.openxmlformats.org/officeDocument/2006/relationships/slide" Target="slides/slide26.xml"/><Relationship Id="rId76" Type="http://schemas.openxmlformats.org/officeDocument/2006/relationships/font" Target="fonts/NunitoLight-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Light-bold.fntdata"/><Relationship Id="rId70" Type="http://schemas.openxmlformats.org/officeDocument/2006/relationships/font" Target="fonts/RobotoMonoLight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Nuni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Nunito-italic.fntdata"/><Relationship Id="rId23" Type="http://schemas.openxmlformats.org/officeDocument/2006/relationships/slide" Target="slides/slide17.xml"/><Relationship Id="rId67" Type="http://schemas.openxmlformats.org/officeDocument/2006/relationships/font" Target="fonts/Nuni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Nuni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8fef562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8fef562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8fef5623c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8fef5623c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824efc00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824efc00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00ab3e65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00ab3e65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824efc0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824efc0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824efc00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824efc00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8fef5623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8fef5623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2ee8b038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2ee8b03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2ee8b038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2ee8b038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2ee8b038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2ee8b038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2ee8b038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2ee8b038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8fef5623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8fef5623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8fef5623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8fef5623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8fef5623c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8fef5623c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8fef5623c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8fef5623c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8fef5623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8fef5623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8fef5623c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8fef5623c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8fef5623c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8fef5623c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8fef5623c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8fef5623c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8fef5623c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8fef5623c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8fef5623c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8fef5623c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8fef5623c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8fef5623c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8fef5623c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8fef5623c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8fef5623c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58fef5623c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8fef5623c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8fef5623c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8fef5623c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8fef5623c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8fef5623c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8fef5623c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605606f4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605606f4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8fef5623c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8fef5623c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605606f4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605606f4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8fef5623c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8fef5623c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8fef5623c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8fef5623c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8fef5623c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8fef5623c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8fef5623c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58fef5623c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8fef5623c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8fef5623c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62dafba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62dafba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62dafb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62dafb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62dafba5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362dafba5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8fef5623c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8fef5623c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8fef5623c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8fef5623c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364c5b808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364c5b80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64c5b808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64c5b808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364ce6fb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364ce6fb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364ce6fb5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364ce6fb5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64ce6fb5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364ce6fb5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8fef5623c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58fef5623c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8fef5623c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8fef5623c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8fef5623c_1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8fef5623c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58fef5623c_1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58fef5623c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8fef5623c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8fef5623c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8fef5623c_1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58fef5623c_1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58fef5623c_1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58fef5623c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8fef5623c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8fef5623c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8fef5623c_1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58fef5623c_1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8fef5623c_1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8fef5623c_1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3605606f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3605606f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3605606f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3605606f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605606f4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3605606f4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0" y="647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Light"/>
              <a:buChar char="●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0" y="647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Light"/>
              <a:buChar char="●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de.jlab.org/ouillon/RG-D_background_merg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lab.in2p3.fr/dupre/sidis_mc/" TargetMode="External"/><Relationship Id="rId4" Type="http://schemas.openxmlformats.org/officeDocument/2006/relationships/hyperlink" Target="https://github.com/JeffersonLab/coatjava/blob/development/bin/bg-merge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lab.in2p3.fr/dupre/sidis_mc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indico.jlab.org/event/829/contributions/14283/attachments/10774/16319/ABRIDGED_%20Photon%20Classification%20with%20AI%20at%20CLAS12.pdf" TargetMode="External"/><Relationship Id="rId4" Type="http://schemas.openxmlformats.org/officeDocument/2006/relationships/hyperlink" Target="https://indico.jlab.org/event/829/contributions/14283/attachments/10774/16319/ABRIDGED_%20Photon%20Classification%20with%20AI%20at%20CLAS12.pdf" TargetMode="External"/><Relationship Id="rId5" Type="http://schemas.openxmlformats.org/officeDocument/2006/relationships/hyperlink" Target="https://indico.jlab.org/event/829/contributions/14283/attachments/10774/16319/ABRIDGED_%20Photon%20Classification%20with%20AI%20at%20CLAS12.pdf" TargetMode="External"/><Relationship Id="rId6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6.png"/><Relationship Id="rId4" Type="http://schemas.openxmlformats.org/officeDocument/2006/relationships/image" Target="../media/image3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0.png"/><Relationship Id="rId4" Type="http://schemas.openxmlformats.org/officeDocument/2006/relationships/image" Target="../media/image5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png"/><Relationship Id="rId4" Type="http://schemas.openxmlformats.org/officeDocument/2006/relationships/image" Target="../media/image5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0" y="156575"/>
            <a:ext cx="8520600" cy="16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00">
                <a:solidFill>
                  <a:srgbClr val="434343"/>
                </a:solidFill>
              </a:rPr>
              <a:t>Stuffs for Pass1 review</a:t>
            </a:r>
            <a:endParaRPr sz="4000">
              <a:solidFill>
                <a:srgbClr val="434343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MC vs Data efficiency: LD2</a:t>
            </a:r>
            <a:endParaRPr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Background merging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0" y="647400"/>
            <a:ext cx="9111900" cy="4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Goal: Study DC efficiency vs. current for simulation and data using AI-assisted and conventional tracking (CV)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RG-D has three target configurations: LD2, CxC and CuSn           	 ⇒ Focus on LD2 first then CuSn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First step: extract background events using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 sz="1800"/>
              <a:t>two current settings: 50 and 60 nA, torus field: 1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 sz="1800"/>
              <a:t>trigger-filter to extract background events based on the trigger bitmask: 0x0000008000000000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 sz="1800"/>
              <a:t>Extract background events for 25 and 62 runs for 50 nA and 60 nA respectively.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This </a:t>
            </a:r>
            <a:r>
              <a:rPr lang="fr" u="sng">
                <a:solidFill>
                  <a:schemeClr val="hlink"/>
                </a:solidFill>
                <a:hlinkClick r:id="rId3"/>
              </a:rPr>
              <a:t>gitlab repository</a:t>
            </a:r>
            <a:r>
              <a:rPr lang="fr"/>
              <a:t> contains the code to generate the background files and to merge it with the simulation: </a:t>
            </a:r>
            <a:endParaRPr sz="2000"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34343"/>
                </a:solidFill>
              </a:rPr>
              <a:t>Simulation vs.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0" y="647400"/>
            <a:ext cx="8520600" cy="3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Generated</a:t>
            </a:r>
            <a:r>
              <a:rPr lang="fr" sz="2200"/>
              <a:t> SIDIS events with a modified Pythia-based </a:t>
            </a:r>
            <a:r>
              <a:rPr lang="fr" sz="2200" u="sng">
                <a:solidFill>
                  <a:schemeClr val="hlink"/>
                </a:solidFill>
                <a:hlinkClick r:id="rId3"/>
              </a:rPr>
              <a:t>event generator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Used 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GEMC 5.11 with inbending configuration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COATJAVA: 12.0.4t for real data and simulation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AI-assisted reconstruction with the newly trained network of one </a:t>
            </a:r>
            <a:r>
              <a:rPr lang="fr" sz="2200"/>
              <a:t>LD2 outbending run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Merged </a:t>
            </a:r>
            <a:r>
              <a:rPr lang="fr" sz="2200"/>
              <a:t>background and simulation events with </a:t>
            </a:r>
            <a:r>
              <a:rPr lang="fr" sz="2000" u="sng">
                <a:solidFill>
                  <a:schemeClr val="hlink"/>
                </a:solidFill>
                <a:hlinkClick r:id="rId4"/>
              </a:rPr>
              <a:t>bg-merger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Reconstruction d</a:t>
            </a:r>
            <a:r>
              <a:rPr lang="fr" sz="2200"/>
              <a:t>one with and without denoising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Comparison performed for LD2</a:t>
            </a:r>
            <a:r>
              <a:rPr lang="fr" sz="2200"/>
              <a:t> l</a:t>
            </a:r>
            <a:r>
              <a:rPr lang="fr" sz="2200"/>
              <a:t>uminosity scan runs taken with beam currents of 5, 20, 35, 50, 75 &amp; 100 nA</a:t>
            </a:r>
            <a:endParaRPr sz="2200"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00" y="647400"/>
            <a:ext cx="8041928" cy="4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19" y="647400"/>
            <a:ext cx="8041933" cy="4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fr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Data: 25 April</a:t>
            </a:r>
            <a:endParaRPr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0" y="3279025"/>
            <a:ext cx="9114600" cy="15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-"/>
            </a:pPr>
            <a:r>
              <a:rPr lang="fr" sz="2200"/>
              <a:t>Slope of the simulation is lower than the data, as expected!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-"/>
            </a:pPr>
            <a:r>
              <a:rPr lang="fr" sz="2200"/>
              <a:t>Smaller difference between MC and Data </a:t>
            </a:r>
            <a:r>
              <a:rPr lang="fr" sz="2200"/>
              <a:t>(</a:t>
            </a:r>
            <a:r>
              <a:rPr i="1" lang="fr" sz="2000"/>
              <a:t>approx. 18/4% for positive/ negative</a:t>
            </a:r>
            <a:r>
              <a:rPr lang="fr" sz="2200"/>
              <a:t>) compared</a:t>
            </a:r>
            <a:r>
              <a:rPr lang="fr" sz="2200"/>
              <a:t> to the former study with fall 2023 AI-network </a:t>
            </a:r>
            <a:endParaRPr sz="2900"/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437100" y="1501688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437100" y="2370363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00" y="1160453"/>
            <a:ext cx="6531550" cy="9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100" y="2140800"/>
            <a:ext cx="6660314" cy="9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7921950" y="12585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7921950" y="21408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0" y="647400"/>
            <a:ext cx="91146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-"/>
            </a:pPr>
            <a:r>
              <a:rPr lang="fr" sz="2200"/>
              <a:t>OB LD2 AI-network with denoising:</a:t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7783525" y="1078925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MC vs Data efficiency: CuSn</a:t>
            </a:r>
            <a:endParaRPr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Background Merging</a:t>
            </a:r>
            <a:r>
              <a:rPr lang="fr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0" y="647400"/>
            <a:ext cx="9144000" cy="40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800"/>
              <a:buChar char="●"/>
            </a:pPr>
            <a:r>
              <a:rPr lang="fr">
                <a:solidFill>
                  <a:srgbClr val="404040"/>
                </a:solidFill>
              </a:rPr>
              <a:t>Goal: Study DC efficiency vs. current for simulation and data using AI-assisted and conventional tracking (CV)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Char char="●"/>
            </a:pPr>
            <a:r>
              <a:rPr lang="fr">
                <a:solidFill>
                  <a:srgbClr val="404040"/>
                </a:solidFill>
              </a:rPr>
              <a:t>Focus on CuSn this time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Char char="●"/>
            </a:pPr>
            <a:r>
              <a:rPr lang="fr">
                <a:solidFill>
                  <a:srgbClr val="404040"/>
                </a:solidFill>
              </a:rPr>
              <a:t>Currents: </a:t>
            </a:r>
            <a:endParaRPr>
              <a:solidFill>
                <a:srgbClr val="404040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○"/>
            </a:pPr>
            <a:r>
              <a:rPr lang="fr" sz="1800">
                <a:solidFill>
                  <a:srgbClr val="404040"/>
                </a:solidFill>
              </a:rPr>
              <a:t>Simulation: 90, 95, 100, 110, 130, 150, and 175 nA</a:t>
            </a:r>
            <a:endParaRPr sz="1800">
              <a:solidFill>
                <a:srgbClr val="404040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○"/>
            </a:pPr>
            <a:r>
              <a:rPr lang="fr" sz="1800">
                <a:solidFill>
                  <a:srgbClr val="404040"/>
                </a:solidFill>
              </a:rPr>
              <a:t>Data: 100, 110, 130, 150, 175 nA</a:t>
            </a:r>
            <a:endParaRPr sz="1800"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Char char="●"/>
            </a:pPr>
            <a:r>
              <a:rPr lang="fr">
                <a:solidFill>
                  <a:srgbClr val="404040"/>
                </a:solidFill>
              </a:rPr>
              <a:t>Generate background events for all of them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Char char="●"/>
            </a:pPr>
            <a:r>
              <a:rPr lang="fr"/>
              <a:t>Generated SIDIS events with a modified Pythia-based </a:t>
            </a:r>
            <a:r>
              <a:rPr lang="fr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event generator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Char char="●"/>
            </a:pPr>
            <a:r>
              <a:rPr lang="fr"/>
              <a:t>Used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○"/>
            </a:pPr>
            <a:r>
              <a:rPr lang="fr" sz="1800"/>
              <a:t>GEMC 5.11 with inbending configuration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○"/>
            </a:pPr>
            <a:r>
              <a:rPr lang="fr" sz="1800"/>
              <a:t>COATJAVA: 12.0.4t for real data and simulation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○"/>
            </a:pPr>
            <a:r>
              <a:rPr lang="fr" sz="1800"/>
              <a:t>AI-assisted reconstruction with the newly trained network of one LD2 outbending run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375" y="718250"/>
            <a:ext cx="7415327" cy="414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00"/>
            <a:ext cx="7496755" cy="419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0" y="3424450"/>
            <a:ext cx="91440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Bigger difference between MC and Data (</a:t>
            </a:r>
            <a:r>
              <a:rPr i="1"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approx. 20/52% for positive/negative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) compared to LD2 case. </a:t>
            </a:r>
            <a:endParaRPr sz="29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437100" y="1501688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437100" y="2370363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7921950" y="12585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7921950" y="21408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14700" y="647400"/>
            <a:ext cx="91146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OB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LD2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AI-network with denoising:</a:t>
            </a:r>
            <a:endParaRPr>
              <a:solidFill>
                <a:srgbClr val="404040"/>
              </a:solidFill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539" y="1118752"/>
            <a:ext cx="5861811" cy="9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/>
          <p:nvPr/>
        </p:nvSpPr>
        <p:spPr>
          <a:xfrm>
            <a:off x="7322700" y="111875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550" y="2160076"/>
            <a:ext cx="6013239" cy="9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Data efficiency vs occupancy: LD2 vs CuSn </a:t>
            </a:r>
            <a:endParaRPr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23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Data LD</a:t>
            </a:r>
            <a:r>
              <a:rPr lang="fr" sz="2300">
                <a:solidFill>
                  <a:srgbClr val="404040"/>
                </a:solidFill>
              </a:rPr>
              <a:t>2 vs Cusn </a:t>
            </a:r>
            <a:r>
              <a:rPr lang="fr" sz="23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using DC occupancy</a:t>
            </a:r>
            <a:endParaRPr sz="1850"/>
          </a:p>
        </p:txBody>
      </p:sp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0" y="647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>
                <a:latin typeface="Nunito Light"/>
                <a:ea typeface="Nunito Light"/>
                <a:cs typeface="Nunito Light"/>
                <a:sym typeface="Nunito Light"/>
              </a:rPr>
              <a:t>Using the decoded files of Pass0v8</a:t>
            </a:r>
            <a:r>
              <a:rPr lang="fr"/>
              <a:t>, extract the DC occupancy for a run (20 files): </a:t>
            </a:r>
            <a:r>
              <a:rPr lang="fr">
                <a:latin typeface="Nunito Light"/>
                <a:ea typeface="Nunito Light"/>
                <a:cs typeface="Nunito Light"/>
                <a:sym typeface="Nunito Light"/>
              </a:rPr>
              <a:t> </a:t>
            </a:r>
            <a:endParaRPr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Select the </a:t>
            </a:r>
            <a:r>
              <a:rPr lang="fr"/>
              <a:t>random</a:t>
            </a:r>
            <a:r>
              <a:rPr lang="fr"/>
              <a:t> events with the trigger (if RUN::config:trigger &amp; 0x0000008000000000 = true)</a:t>
            </a:r>
            <a:endParaRPr/>
          </a:p>
          <a:p>
            <a:pPr indent="-211300" lvl="1" marL="414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DC occupancy per event = (</a:t>
            </a:r>
            <a:r>
              <a:rPr lang="fr"/>
              <a:t>number of hits in the DC::tdc bank)</a:t>
            </a:r>
            <a:r>
              <a:rPr lang="fr"/>
              <a:t> / (6 x 6 x 6 x 112)</a:t>
            </a:r>
            <a:endParaRPr/>
          </a:p>
          <a:p>
            <a:pPr indent="-211300" lvl="1" marL="414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6 sectors, 6 superlayers, 6 layers, 112 wires</a:t>
            </a:r>
            <a:endParaRPr/>
          </a:p>
          <a:p>
            <a:pPr indent="-211300" lvl="1" marL="414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Take the average of the 20 files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0" y="2143500"/>
            <a:ext cx="4572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Light"/>
              <a:buChar char="●"/>
            </a:pP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Compute the DC occupancy for the runs 18318, 18319, 18321, 18324, 18325:</a:t>
            </a:r>
            <a:endParaRPr sz="18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018318 | 5 nA     → Average occupancy: 0.37%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018319 | 20 nA   → Average occupancy: 1.28%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018321 | 35 nA   → Average occupancy: 2.06%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018324 | 50 nA   → Average occupancy: 2.73%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018325 | 75 nA   → Average occupancy: 4.17%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018326 | 100 nA → Average occupancy: 5.67%</a:t>
            </a:r>
            <a:endParaRPr sz="1300"/>
          </a:p>
        </p:txBody>
      </p:sp>
      <p:sp>
        <p:nvSpPr>
          <p:cNvPr id="173" name="Google Shape;173;p27"/>
          <p:cNvSpPr txBox="1"/>
          <p:nvPr/>
        </p:nvSpPr>
        <p:spPr>
          <a:xfrm>
            <a:off x="4572000" y="2143500"/>
            <a:ext cx="4572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Light"/>
              <a:buChar char="●"/>
            </a:pP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Compute the DC occupancy for the runs 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18348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, 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18394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, 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18354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, 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18372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, </a:t>
            </a:r>
            <a:r>
              <a:rPr lang="fr" sz="18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18373:</a:t>
            </a:r>
            <a:endParaRPr sz="18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018348 | 100nA -&gt; Average occupancy: 3.35%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018394 | 110nA -&gt; Average occupancy: 2.68%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018354 | 130nA -&gt; Average occupancy: 4.01%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018372 | 150nA -&gt; Average occupancy: 4.95%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0495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Font typeface="Nunito Light"/>
              <a:buChar char="○"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Run: 018373 | 175nA -&gt; Average occupancy: 5.67%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300">
                <a:solidFill>
                  <a:srgbClr val="404040"/>
                </a:solidFill>
              </a:rPr>
              <a:t>Efficiency Results for Data LD2 vs Cusn using DC occupancy</a:t>
            </a:r>
            <a:endParaRPr/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25" y="647400"/>
            <a:ext cx="7924152" cy="44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MC vs </a:t>
            </a: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Data efficiency vs occupancy: LD2 </a:t>
            </a:r>
            <a:endParaRPr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300">
                <a:solidFill>
                  <a:srgbClr val="404040"/>
                </a:solidFill>
              </a:rPr>
              <a:t>Efficiency Results for MC vs Data LD2 using DC occupancy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0" y="647400"/>
            <a:ext cx="9144000" cy="44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We already have the occupancy for the data and we can get </a:t>
            </a:r>
            <a:r>
              <a:rPr lang="fr"/>
              <a:t>the occupancy for the simulation in a similar way: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Extract the occupancy for a run at 50 nA and another one at 60 nA (18548 and 18653)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Run: 018548 | 50 nA </a:t>
            </a:r>
            <a:r>
              <a:rPr lang="fr" sz="1300"/>
              <a:t>→ </a:t>
            </a:r>
            <a:r>
              <a:rPr lang="fr"/>
              <a:t>Average occupancy: 2.77%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Run: 018653 | 60 nA </a:t>
            </a:r>
            <a:r>
              <a:rPr lang="fr" sz="1300"/>
              <a:t>→ </a:t>
            </a:r>
            <a:r>
              <a:rPr lang="fr"/>
              <a:t>Average occupancy: 3.02%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The occupancy at 0 nA is 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Then use the command: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latin typeface="Roboto Mono Light"/>
                <a:ea typeface="Roboto Mono Light"/>
                <a:cs typeface="Roboto Mono Light"/>
                <a:sym typeface="Roboto Mono Light"/>
              </a:rPr>
              <a:t>./bin/aiTracking -histo 1 -lumi "0:data,50:data,60:data" SimLD2Den4_occupancy/0nA_SimLD2Den_histo.hipo SimLD2Den4_occupancy/50nA_SimLD2Den_histo.hipo SimLD2Den4_occupancy/60nA_SimLD2Den_histo.hipo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latin typeface="Roboto Mono Light"/>
                <a:ea typeface="Roboto Mono Light"/>
                <a:cs typeface="Roboto Mono Light"/>
                <a:sym typeface="Roboto Mono Light"/>
              </a:rPr>
              <a:t>./bin/aiTracking -histo 1 -lumi "0:data,2.77:data,3.02:data" SimLD2Den4_occupancy/0nA_SimLD2Den_histo.hipo SimLD2Den4_occupancy/50nA_SimLD2Den_histo.hipo SimLD2Den4_occupancy/60nA_SimLD2Den_histo.hipo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300">
                <a:solidFill>
                  <a:srgbClr val="404040"/>
                </a:solidFill>
              </a:rPr>
              <a:t>Efficiency Results for MC vs Data LD2 using DC occupancy</a:t>
            </a:r>
            <a:endParaRPr/>
          </a:p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850" y="603000"/>
            <a:ext cx="7457674" cy="41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MC vs Data efficiency vs occupancy: CuSn </a:t>
            </a:r>
            <a:endParaRPr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300">
                <a:solidFill>
                  <a:srgbClr val="404040"/>
                </a:solidFill>
              </a:rPr>
              <a:t>Efficiency Results for MC vs Data CuSn using DC occupancy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0" y="647400"/>
            <a:ext cx="9144000" cy="44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We already have the occupancy for the data and we can get the occupancy for the simulation in a similar way:</a:t>
            </a:r>
            <a:endParaRPr/>
          </a:p>
          <a:p>
            <a:pPr indent="-211300" lvl="1" marL="414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Extract the occupancy for a run at 90 nA and another one at 95 nA and 100 nA (</a:t>
            </a:r>
            <a:r>
              <a:rPr lang="fr"/>
              <a:t>18628, 18669</a:t>
            </a:r>
            <a:r>
              <a:rPr lang="fr"/>
              <a:t> and </a:t>
            </a:r>
            <a:r>
              <a:rPr lang="fr"/>
              <a:t>19065</a:t>
            </a:r>
            <a:r>
              <a:rPr lang="fr"/>
              <a:t>) </a:t>
            </a:r>
            <a:endParaRPr/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CuSn Run: 018628 | 90nA   </a:t>
            </a:r>
            <a:r>
              <a:rPr lang="fr" sz="1300"/>
              <a:t>→ </a:t>
            </a:r>
            <a:r>
              <a:rPr lang="fr"/>
              <a:t>Average occupancy: 2.21%</a:t>
            </a:r>
            <a:endParaRPr/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CuSn Run: 018669 | 95nA   </a:t>
            </a:r>
            <a:r>
              <a:rPr lang="fr" sz="1300"/>
              <a:t>→ </a:t>
            </a:r>
            <a:r>
              <a:rPr lang="fr"/>
              <a:t>Average occupancy: 2.42%</a:t>
            </a:r>
            <a:endParaRPr/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CuSn Run: 019065 | 100nA </a:t>
            </a:r>
            <a:r>
              <a:rPr lang="fr" sz="1300"/>
              <a:t>→ </a:t>
            </a:r>
            <a:r>
              <a:rPr lang="fr"/>
              <a:t>Average occupancy: 2.51% </a:t>
            </a:r>
            <a:endParaRPr/>
          </a:p>
          <a:p>
            <a:pPr indent="-211300" lvl="1" marL="414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The occupancy at 0 nA is 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/>
              <a:t>Then use the command: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latin typeface="Roboto Mono Light"/>
                <a:ea typeface="Roboto Mono Light"/>
                <a:cs typeface="Roboto Mono Light"/>
                <a:sym typeface="Roboto Mono Light"/>
              </a:rPr>
              <a:t>./bin/aiTracking -histo 1 -lumi "0:data,2.21:data,2.42:data,2.51:data,2.68:data,4.01:data,4.95:data,5.67:data" SimCuSnDen_occupancy/0nA_SimCuSnDen_histo.hipo SimCuSnDen_occupancy/90nA_SimCuSnDen_histo.hipo SimCuSnDen_occupancy/95nA_SimCuSnDen_histo.hipo SimCuSnDen_occupancy/100nA_SimCuSnDen_histo.hipo SimCuSnDen_occupancy/110nA_DataCuSnDen_histo.hipo SimCuSnDen_occupancy/130nA_SimCuSnDen_histo.hipo SimCuSnDen_occupancy/150nA_SimCuSnDen_histo.hipo SimCuSnDen_occupancy/175nA_DataCuSnDen_histo.hipo</a:t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300">
                <a:solidFill>
                  <a:srgbClr val="404040"/>
                </a:solidFill>
              </a:rPr>
              <a:t>Efficiency Results for MC vs Data CuSn using DC occupancy</a:t>
            </a:r>
            <a:endParaRPr/>
          </a:p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475" y="686750"/>
            <a:ext cx="7457674" cy="41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Timelines cross check</a:t>
            </a:r>
            <a:endParaRPr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 FD normalized yield</a:t>
            </a:r>
            <a:endParaRPr/>
          </a:p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0" y="647400"/>
            <a:ext cx="9144000" cy="40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Issue: Spikes observed in the electron FD normalized yield timelines in clas12mon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Limited data for pass0 (max 40 files cooked for pass0v11)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Charge is given for an entire run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Mismatch between number of processed files and charge creates artificial spikes</a:t>
            </a:r>
            <a:endParaRPr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52069"/>
            <a:ext cx="9144003" cy="3094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 FD normalized yield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0" y="647400"/>
            <a:ext cx="9144000" cy="3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Try to fix the electron FD normalized yield timeline: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Instead of dividing by the total charged for the run, divide by the charge normalized by the number of files cooked: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Cuts used: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pid = 11 status &lt; 0 and 2000 &lt; |status| &lt; 4000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REC::Calorimeter::sector variable need to be between 1 and 6 for the precalo or inner or outer.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Vz cut depend of the target and the magnetic field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-5 &lt; chi2pid &lt; 5 </a:t>
            </a:r>
            <a:endParaRPr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825" y="1391750"/>
            <a:ext cx="4758799" cy="129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 FD normalized yield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0" y="6474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Try to fix the electron FD normalized yield timeline: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Instead of dividing by the total charged for the run, divide by the charge normalized by the number of files cooked:</a:t>
            </a:r>
            <a:endParaRPr/>
          </a:p>
        </p:txBody>
      </p:sp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50" name="Google Shape;25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3758"/>
            <a:ext cx="9144003" cy="3589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Electron-π</a:t>
            </a:r>
            <a:r>
              <a:rPr baseline="30000" lang="fr"/>
              <a:t>-</a:t>
            </a:r>
            <a:r>
              <a:rPr lang="fr"/>
              <a:t> FD normalized yield</a:t>
            </a:r>
            <a:endParaRPr/>
          </a:p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0" y="647400"/>
            <a:ext cx="91440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Produce the same timelines for electron and </a:t>
            </a:r>
            <a:r>
              <a:rPr lang="fr">
                <a:solidFill>
                  <a:schemeClr val="dk2"/>
                </a:solidFill>
              </a:rPr>
              <a:t>π</a:t>
            </a:r>
            <a:r>
              <a:rPr baseline="30000" lang="fr">
                <a:solidFill>
                  <a:schemeClr val="dk2"/>
                </a:solidFill>
              </a:rPr>
              <a:t>-</a:t>
            </a:r>
            <a:r>
              <a:rPr lang="fr"/>
              <a:t>: Cuts: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Same as before for the electron + pid = 211, 2000 &lt; |status| &lt; 4000, and -10 &lt; chi2pid &lt; 10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REC::Calorimeter::sector variable need to be between 1 and 6 for the precalo or inner or outer.</a:t>
            </a:r>
            <a:endParaRPr/>
          </a:p>
        </p:txBody>
      </p:sp>
      <p:sp>
        <p:nvSpPr>
          <p:cNvPr id="257" name="Google Shape;257;p3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3591"/>
            <a:ext cx="9144003" cy="3629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Electron-π</a:t>
            </a:r>
            <a:r>
              <a:rPr baseline="30000" lang="fr"/>
              <a:t>+</a:t>
            </a:r>
            <a:r>
              <a:rPr lang="fr"/>
              <a:t> FD normalized yield</a:t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0" y="647400"/>
            <a:ext cx="91440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Produce the same timelines for electron and </a:t>
            </a:r>
            <a:r>
              <a:rPr lang="fr">
                <a:solidFill>
                  <a:schemeClr val="dk2"/>
                </a:solidFill>
              </a:rPr>
              <a:t>π</a:t>
            </a:r>
            <a:r>
              <a:rPr baseline="30000" lang="fr">
                <a:solidFill>
                  <a:schemeClr val="dk2"/>
                </a:solidFill>
              </a:rPr>
              <a:t>+</a:t>
            </a:r>
            <a:r>
              <a:rPr lang="fr"/>
              <a:t>: Cuts: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Same as before for the electron + pid = -211, 2000 &lt; |status| &lt; 4000, and -10 &lt; chi2pid &lt; 10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REC::Calorimeter::sector variable need to be between 1 and 6 for the precalo or inner or outer.</a:t>
            </a:r>
            <a:endParaRPr/>
          </a:p>
        </p:txBody>
      </p:sp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66" name="Google Shape;2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3587"/>
            <a:ext cx="9143997" cy="3629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Electron-π</a:t>
            </a:r>
            <a:r>
              <a:rPr baseline="30000" lang="fr"/>
              <a:t>0</a:t>
            </a:r>
            <a:r>
              <a:rPr lang="fr"/>
              <a:t> FD normalized yield</a:t>
            </a:r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0" y="647400"/>
            <a:ext cx="91440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Produce the same timelines for electron and </a:t>
            </a:r>
            <a:r>
              <a:rPr lang="fr">
                <a:solidFill>
                  <a:schemeClr val="dk2"/>
                </a:solidFill>
              </a:rPr>
              <a:t>π</a:t>
            </a:r>
            <a:r>
              <a:rPr baseline="30000" lang="fr">
                <a:solidFill>
                  <a:schemeClr val="dk2"/>
                </a:solidFill>
              </a:rPr>
              <a:t>0</a:t>
            </a:r>
            <a:r>
              <a:rPr lang="fr"/>
              <a:t>: Cuts: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Same as before for the electron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For the photon: pid = 22 and </a:t>
            </a:r>
            <a:r>
              <a:rPr lang="fr"/>
              <a:t>2000 &lt; |status| &lt; 4000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For π</a:t>
            </a:r>
            <a:r>
              <a:rPr baseline="30000" lang="fr"/>
              <a:t>0</a:t>
            </a:r>
            <a:r>
              <a:rPr lang="fr"/>
              <a:t> candidates: 0.07 &lt; Mᵧᵧ &lt; 0.2 GeV </a:t>
            </a:r>
            <a:endParaRPr/>
          </a:p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00" y="1708900"/>
            <a:ext cx="8641377" cy="34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Electron-ρ</a:t>
            </a:r>
            <a:r>
              <a:rPr baseline="30000" lang="fr"/>
              <a:t>0</a:t>
            </a:r>
            <a:r>
              <a:rPr lang="fr"/>
              <a:t> FD normalized yield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0" y="541300"/>
            <a:ext cx="91440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Produce the same timelines for electron and</a:t>
            </a:r>
            <a:r>
              <a:rPr lang="fr"/>
              <a:t> ρ</a:t>
            </a:r>
            <a:r>
              <a:rPr baseline="30000" lang="fr">
                <a:solidFill>
                  <a:schemeClr val="dk2"/>
                </a:solidFill>
              </a:rPr>
              <a:t>0</a:t>
            </a:r>
            <a:r>
              <a:rPr lang="fr"/>
              <a:t>: </a:t>
            </a:r>
            <a:endParaRPr/>
          </a:p>
          <a:p>
            <a:pPr indent="-204950" lvl="1" marL="4140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/>
              <a:t>Same as before for the electron </a:t>
            </a:r>
            <a:endParaRPr sz="1300"/>
          </a:p>
          <a:p>
            <a:pPr indent="-204950" lvl="1" marL="4140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/>
              <a:t>For the π</a:t>
            </a:r>
            <a:r>
              <a:rPr baseline="30000" lang="fr" sz="1300"/>
              <a:t>-</a:t>
            </a:r>
            <a:r>
              <a:rPr lang="fr" sz="1300"/>
              <a:t>: </a:t>
            </a:r>
            <a:r>
              <a:rPr lang="fr" sz="1300"/>
              <a:t>pid = 211, 2000 &lt; |status| &lt; 4000, |chi2pid|&lt;10, and Vz depend on the target. Same cuts for </a:t>
            </a:r>
            <a:r>
              <a:rPr lang="fr" sz="1300"/>
              <a:t>π</a:t>
            </a:r>
            <a:r>
              <a:rPr baseline="30000" lang="fr" sz="1300"/>
              <a:t>+</a:t>
            </a:r>
            <a:r>
              <a:rPr lang="fr" sz="1300"/>
              <a:t>: pid = 211</a:t>
            </a:r>
            <a:endParaRPr sz="1300"/>
          </a:p>
          <a:p>
            <a:pPr indent="-204950" lvl="1" marL="4140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/>
              <a:t>For ρ</a:t>
            </a:r>
            <a:r>
              <a:rPr baseline="30000" lang="fr" sz="1300"/>
              <a:t>0</a:t>
            </a:r>
            <a:r>
              <a:rPr lang="fr" sz="1300"/>
              <a:t> candidates: Q</a:t>
            </a:r>
            <a:r>
              <a:rPr baseline="30000" lang="fr" sz="1300"/>
              <a:t>2 </a:t>
            </a:r>
            <a:r>
              <a:rPr lang="fr" sz="1300"/>
              <a:t>&gt; 1 GeV</a:t>
            </a:r>
            <a:r>
              <a:rPr baseline="30000" lang="fr" sz="1300"/>
              <a:t>2</a:t>
            </a:r>
            <a:r>
              <a:rPr lang="fr" sz="1300"/>
              <a:t>, W &gt; 2 GeV, 0.1 &lt; -t &lt; 0.5 GeV</a:t>
            </a:r>
            <a:r>
              <a:rPr baseline="30000" lang="fr" sz="1300"/>
              <a:t>2</a:t>
            </a:r>
            <a:r>
              <a:rPr lang="fr" sz="1300"/>
              <a:t> and z &gt; 0.8</a:t>
            </a:r>
            <a:endParaRPr sz="1300"/>
          </a:p>
        </p:txBody>
      </p:sp>
      <p:sp>
        <p:nvSpPr>
          <p:cNvPr id="281" name="Google Shape;281;p4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6978"/>
            <a:ext cx="9144003" cy="3616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Timeline: accumulated charge per target</a:t>
            </a:r>
            <a:endParaRPr/>
          </a:p>
        </p:txBody>
      </p:sp>
      <p:sp>
        <p:nvSpPr>
          <p:cNvPr id="288" name="Google Shape;288;p4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89" name="Google Shape;28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0794"/>
            <a:ext cx="9144003" cy="350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Timeline: accumulated charge per target v2</a:t>
            </a:r>
            <a:endParaRPr/>
          </a:p>
        </p:txBody>
      </p:sp>
      <p:sp>
        <p:nvSpPr>
          <p:cNvPr id="295" name="Google Shape;295;p4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96" name="Google Shape;2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3775"/>
            <a:ext cx="9144003" cy="36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SIDIS </a:t>
            </a: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0 </a:t>
            </a: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analysis</a:t>
            </a:r>
            <a:endParaRPr sz="4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SIDIS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308" name="Google Shape;308;p4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>
            <a:off x="0" y="647400"/>
            <a:ext cx="9144000" cy="40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Event selection: trigger electron + photons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Cuts for the electron: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pid = 11 status &lt; 0 and 2000 &lt; |status| &lt; 4000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Vz cut depend of the target and the magnetic field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-5 &lt; chi2pid &lt;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25" y="1922500"/>
            <a:ext cx="3982900" cy="321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625" y="1922500"/>
            <a:ext cx="3964729" cy="32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SIDIS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317" name="Google Shape;317;p4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0" y="6474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Photon cuts: E &gt; 0.2 GeV, EPCal &gt; 0 GeV and 5&lt;</a:t>
            </a:r>
            <a:r>
              <a:rPr lang="fr"/>
              <a:t>𝜃</a:t>
            </a:r>
            <a:r>
              <a:rPr baseline="-25000" lang="fr"/>
              <a:t>e</a:t>
            </a:r>
            <a:r>
              <a:rPr lang="fr"/>
              <a:t>&lt;35 deg and </a:t>
            </a:r>
            <a:r>
              <a:rPr lang="fr">
                <a:solidFill>
                  <a:srgbClr val="404040"/>
                </a:solidFill>
              </a:rPr>
              <a:t>AI response &gt; 0.78</a:t>
            </a:r>
            <a:r>
              <a:rPr lang="f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Use the AI develop by </a:t>
            </a:r>
            <a:r>
              <a:rPr lang="fr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Gregory Matousek</a:t>
            </a:r>
            <a:r>
              <a:rPr lang="fr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 </a:t>
            </a:r>
            <a:r>
              <a:rPr lang="fr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Photon Classification with AI at CLAS12</a:t>
            </a:r>
            <a:r>
              <a:rPr lang="fr"/>
              <a:t> for the photon identification</a:t>
            </a:r>
            <a:endParaRPr/>
          </a:p>
        </p:txBody>
      </p:sp>
      <p:pic>
        <p:nvPicPr>
          <p:cNvPr id="319" name="Google Shape;319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6175" y="1286338"/>
            <a:ext cx="5041400" cy="385717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7"/>
          <p:cNvSpPr txBox="1"/>
          <p:nvPr/>
        </p:nvSpPr>
        <p:spPr>
          <a:xfrm>
            <a:off x="174000" y="1613513"/>
            <a:ext cx="2674200" cy="3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8600" lvl="0" marL="244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●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Photon cuts CV: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pid = 22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E &gt; 0.6 GeV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1.57077 &lt; Δt &lt; 1.68663 ns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θ</a:t>
            </a:r>
            <a:r>
              <a:rPr baseline="-25000"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eγ </a:t>
            </a: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&gt; 8 deg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●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Photon cuts AI: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pid = 22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E &gt; 0.2 GeV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E</a:t>
            </a:r>
            <a:r>
              <a:rPr baseline="-25000"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PCAL</a:t>
            </a: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&gt; 0 GeV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AI response &gt; 0.78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●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Kinematical cuts: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Q</a:t>
            </a:r>
            <a:r>
              <a:rPr baseline="30000"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2</a:t>
            </a: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&gt; 1 GeV</a:t>
            </a:r>
            <a:r>
              <a:rPr baseline="30000"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2</a:t>
            </a:r>
            <a:endParaRPr baseline="30000"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W &gt; 2 GeV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0.3 &lt; z</a:t>
            </a:r>
            <a:r>
              <a:rPr baseline="-25000"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h</a:t>
            </a: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&lt; 0.7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1986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Light"/>
              <a:buChar char="○"/>
            </a:pPr>
            <a:r>
              <a:rPr lang="fr" sz="12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y &lt; 0.9</a:t>
            </a:r>
            <a:endParaRPr sz="12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SIDIS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326" name="Google Shape;326;p4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7" name="Google Shape;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475" y="647400"/>
            <a:ext cx="5263847" cy="41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8"/>
          <p:cNvSpPr txBox="1"/>
          <p:nvPr/>
        </p:nvSpPr>
        <p:spPr>
          <a:xfrm>
            <a:off x="0" y="647400"/>
            <a:ext cx="3653700" cy="4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4000" lvl="0" marL="244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 Light"/>
              <a:buChar char="●"/>
            </a:pPr>
            <a:r>
              <a:rPr lang="fr" sz="16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Comparison of the invariant mass of the two photons for all the targets for outbending runs</a:t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0" marL="244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●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Photon cuts AI: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pid = 22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E &gt; 0.2 GeV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E</a:t>
            </a:r>
            <a:r>
              <a:rPr baseline="-25000"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PCAL</a:t>
            </a: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&gt; 0 GeV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AI response &gt; 0.78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●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Kinematical cuts: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Q</a:t>
            </a:r>
            <a:r>
              <a:rPr baseline="30000"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2</a:t>
            </a: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&gt; 1 GeV</a:t>
            </a:r>
            <a:r>
              <a:rPr baseline="30000"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2</a:t>
            </a:r>
            <a:endParaRPr baseline="300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W &gt; 2 GeV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0.3 &lt; z</a:t>
            </a:r>
            <a:r>
              <a:rPr baseline="-25000"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h</a:t>
            </a: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&lt; 0.7</a:t>
            </a:r>
            <a:endParaRPr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11300" lvl="1" marL="41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Light"/>
              <a:buChar char="○"/>
            </a:pPr>
            <a:r>
              <a:rPr lang="fr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y &lt; 0.9</a:t>
            </a:r>
            <a:endParaRPr sz="1600"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SIDIS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334" name="Google Shape;334;p4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5" name="Google Shape;3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400" y="676625"/>
            <a:ext cx="5349352" cy="423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9"/>
          <p:cNvSpPr txBox="1"/>
          <p:nvPr/>
        </p:nvSpPr>
        <p:spPr>
          <a:xfrm>
            <a:off x="0" y="647400"/>
            <a:ext cx="3653700" cy="4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4000" lvl="0" marL="244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 Light"/>
              <a:buChar char="●"/>
            </a:pPr>
            <a:r>
              <a:rPr lang="fr" sz="16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To </a:t>
            </a:r>
            <a:r>
              <a:rPr lang="fr" sz="16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subtract</a:t>
            </a:r>
            <a:r>
              <a:rPr lang="fr" sz="16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 the background bellow the pick, we use the event mixing method</a:t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240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 Light"/>
              <a:buChar char="●"/>
            </a:pPr>
            <a:r>
              <a:rPr lang="fr" sz="16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Mixing all the photons for a event A with all the photons in the next 20 events.</a:t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0404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-224000" lvl="0" marL="244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 Light"/>
              <a:buChar char="●"/>
            </a:pPr>
            <a:r>
              <a:rPr lang="fr" sz="1600">
                <a:solidFill>
                  <a:srgbClr val="404040"/>
                </a:solidFill>
                <a:latin typeface="Nunito Light"/>
                <a:ea typeface="Nunito Light"/>
                <a:cs typeface="Nunito Light"/>
                <a:sym typeface="Nunito Light"/>
              </a:rPr>
              <a:t>Same cuts as before</a:t>
            </a:r>
            <a:endParaRPr sz="1800"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color transparency</a:t>
            </a:r>
            <a:r>
              <a:rPr baseline="30000"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analysis</a:t>
            </a:r>
            <a:endParaRPr sz="4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Color </a:t>
            </a:r>
            <a:r>
              <a:rPr lang="fr"/>
              <a:t>transparency</a:t>
            </a:r>
            <a:r>
              <a:rPr lang="fr"/>
              <a:t> </a:t>
            </a:r>
            <a:endParaRPr/>
          </a:p>
        </p:txBody>
      </p:sp>
      <p:sp>
        <p:nvSpPr>
          <p:cNvPr id="348" name="Google Shape;348;p51"/>
          <p:cNvSpPr txBox="1"/>
          <p:nvPr>
            <p:ph idx="1" type="body"/>
          </p:nvPr>
        </p:nvSpPr>
        <p:spPr>
          <a:xfrm>
            <a:off x="0" y="647400"/>
            <a:ext cx="3292800" cy="3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Cuts: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Electron: pid = 11, status &lt; 0 and 2000 &lt;= |status| &lt; 4000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|chi2pid|&lt;5 and Vz cuts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Pions: pid=+/-211 </a:t>
            </a:r>
            <a:r>
              <a:rPr lang="fr"/>
              <a:t>|chi2pid| &lt; 10 and Vz cuts</a:t>
            </a:r>
            <a:r>
              <a:rPr lang="fr"/>
              <a:t> (pions can be in the central, is it ok?)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Kinematical cuts: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W&gt;2 GeV, 0.9&lt;zh&lt;1, 0.1&lt;-t&lt;0.5 GeV2 and lc &lt; 1 fm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50" name="Google Shape;3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399" y="708825"/>
            <a:ext cx="5613773" cy="4303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Color transparency </a:t>
            </a:r>
            <a:endParaRPr/>
          </a:p>
        </p:txBody>
      </p:sp>
      <p:sp>
        <p:nvSpPr>
          <p:cNvPr id="356" name="Google Shape;356;p52"/>
          <p:cNvSpPr txBox="1"/>
          <p:nvPr>
            <p:ph idx="1" type="body"/>
          </p:nvPr>
        </p:nvSpPr>
        <p:spPr>
          <a:xfrm>
            <a:off x="0" y="647400"/>
            <a:ext cx="3292800" cy="3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Cuts: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Electron: pid = 11, status &lt; 0 and 2000 &lt;= |status| &lt; 4000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|chi2pid|&lt;5 and Vz cuts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Pions: pid=+/-211 |chi2pid| &lt; 10 and Vz cuts (pions can be in the central, is it ok?)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Kinematical cuts: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W&gt;2 GeV, 0.9&lt;zh&lt;1, 0.1&lt;-t&lt;0.5 GeV2 and lc &lt; 1 fm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58" name="Google Shape;35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300" y="692500"/>
            <a:ext cx="5554698" cy="42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Vz</a:t>
            </a:r>
            <a:r>
              <a:rPr baseline="30000"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analysis</a:t>
            </a:r>
            <a:endParaRPr sz="4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4" name="Google Shape;36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Outbending </a:t>
            </a:r>
            <a:r>
              <a:rPr lang="fr"/>
              <a:t>LD2:</a:t>
            </a:r>
            <a:r>
              <a:rPr lang="fr"/>
              <a:t> Electron </a:t>
            </a:r>
            <a:endParaRPr/>
          </a:p>
        </p:txBody>
      </p:sp>
      <p:sp>
        <p:nvSpPr>
          <p:cNvPr id="370" name="Google Shape;370;p5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1" name="Google Shape;371;p54"/>
          <p:cNvSpPr txBox="1"/>
          <p:nvPr/>
        </p:nvSpPr>
        <p:spPr>
          <a:xfrm>
            <a:off x="6044450" y="1043925"/>
            <a:ext cx="2816100" cy="3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cuts at -15cm and 5 cm for both inbending and outbending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2" name="Google Shape;37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50" y="595050"/>
            <a:ext cx="5733990" cy="419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Outbending CxC: Electron </a:t>
            </a:r>
            <a:endParaRPr/>
          </a:p>
        </p:txBody>
      </p:sp>
      <p:sp>
        <p:nvSpPr>
          <p:cNvPr id="378" name="Google Shape;378;p5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5655875" y="647400"/>
            <a:ext cx="3488100" cy="3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Fit the empty LD2 cell with: </a:t>
            </a:r>
            <a:endParaRPr sz="15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And fit the carbon foils with a double gaussian and f</a:t>
            </a:r>
            <a:r>
              <a:rPr lang="fr" sz="15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irst-order polynomial:</a:t>
            </a:r>
            <a:endParaRPr sz="15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To separate the LD2 exit window from the first target, cut at 3σ</a:t>
            </a:r>
            <a:r>
              <a:rPr baseline="-25000"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LD2 exit</a:t>
            </a: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: -10.56 cm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To separate the second foil from the window of the scattering chamber, cut: 5 cm 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80" name="Google Shape;38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3200"/>
            <a:ext cx="5655875" cy="418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7125" y="996175"/>
            <a:ext cx="3397402" cy="4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5875" y="1967975"/>
            <a:ext cx="3488098" cy="50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Outbending CuSn: Electron </a:t>
            </a:r>
            <a:endParaRPr/>
          </a:p>
        </p:txBody>
      </p:sp>
      <p:sp>
        <p:nvSpPr>
          <p:cNvPr id="388" name="Google Shape;388;p5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5798275" y="647400"/>
            <a:ext cx="3320400" cy="4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Fit the empty LD2 cell and nuclear-foil regions with double gaussians and first-order polynomial:</a:t>
            </a:r>
            <a:endParaRPr sz="15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To separate the LD2 exit window from the Cu foil, cut at 3σ</a:t>
            </a:r>
            <a:r>
              <a:rPr baseline="-25000"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LD2 exit</a:t>
            </a: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: </a:t>
            </a: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-10.55 cm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To separate the Cu foil from the Sn, cut at 3σ</a:t>
            </a:r>
            <a:r>
              <a:rPr baseline="-25000"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Cu</a:t>
            </a: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: -6.62 cm 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To separate the Sn foil from the Cu, cut at 3σ</a:t>
            </a:r>
            <a:r>
              <a:rPr baseline="-25000"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Sn</a:t>
            </a: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: -6.21 cm </a:t>
            </a:r>
            <a:endParaRPr sz="1300">
              <a:solidFill>
                <a:srgbClr val="434343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300">
                <a:solidFill>
                  <a:srgbClr val="434343"/>
                </a:solidFill>
                <a:latin typeface="Nunito Light"/>
                <a:ea typeface="Nunito Light"/>
                <a:cs typeface="Nunito Light"/>
                <a:sym typeface="Nunito Light"/>
              </a:rPr>
              <a:t>To separate the Sn foil from the window of the scattering chamber, cut: 5 cm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90" name="Google Shape;39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00" y="811950"/>
            <a:ext cx="5655875" cy="418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3600" y="1483845"/>
            <a:ext cx="3295076" cy="498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600" y="1982225"/>
            <a:ext cx="3320399" cy="556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Vz fit: CxC</a:t>
            </a:r>
            <a:endParaRPr/>
          </a:p>
        </p:txBody>
      </p:sp>
      <p:sp>
        <p:nvSpPr>
          <p:cNvPr id="398" name="Google Shape;398;p5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99" name="Google Shape;39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9525" y="647400"/>
            <a:ext cx="4492150" cy="399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800" y="673600"/>
            <a:ext cx="4492149" cy="3937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Vz fit: Cu</a:t>
            </a:r>
            <a:endParaRPr/>
          </a:p>
        </p:txBody>
      </p:sp>
      <p:sp>
        <p:nvSpPr>
          <p:cNvPr id="406" name="Google Shape;406;p5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07" name="Google Shape;40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4632446" cy="384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47401"/>
            <a:ext cx="4471475" cy="35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Vz fit: Sn</a:t>
            </a:r>
            <a:endParaRPr/>
          </a:p>
        </p:txBody>
      </p:sp>
      <p:sp>
        <p:nvSpPr>
          <p:cNvPr id="414" name="Google Shape;414;p5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15" name="Google Shape;41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4509724" cy="358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725" y="647400"/>
            <a:ext cx="4509726" cy="361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DC problematic runs</a:t>
            </a:r>
            <a:r>
              <a:rPr baseline="30000"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analysis</a:t>
            </a:r>
            <a:endParaRPr sz="4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2" name="Google Shape;42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DC problematic runs</a:t>
            </a:r>
            <a:endParaRPr/>
          </a:p>
        </p:txBody>
      </p:sp>
      <p:sp>
        <p:nvSpPr>
          <p:cNvPr id="428" name="Google Shape;428;p6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p61"/>
          <p:cNvSpPr txBox="1"/>
          <p:nvPr>
            <p:ph idx="1" type="body"/>
          </p:nvPr>
        </p:nvSpPr>
        <p:spPr>
          <a:xfrm>
            <a:off x="0" y="647400"/>
            <a:ext cx="9144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Runs: 18358, 18359, 18360, 18361, 18362, 18363, 18364, 18365, 18366, 18368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Electron: pid = 11, status &lt; 0 and -9.22 &lt; Vz &lt; 5 cm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0" y="1398300"/>
            <a:ext cx="4181052" cy="36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6950" y="1398300"/>
            <a:ext cx="4275427" cy="374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DC problematic runs</a:t>
            </a:r>
            <a:endParaRPr/>
          </a:p>
        </p:txBody>
      </p:sp>
      <p:sp>
        <p:nvSpPr>
          <p:cNvPr id="437" name="Google Shape;437;p6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8" name="Google Shape;438;p62"/>
          <p:cNvSpPr txBox="1"/>
          <p:nvPr>
            <p:ph idx="1" type="body"/>
          </p:nvPr>
        </p:nvSpPr>
        <p:spPr>
          <a:xfrm>
            <a:off x="0" y="647400"/>
            <a:ext cx="9144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Runs: 18358, 18359, 18360, 18361, 18362, 18363, 18364, 18365, 18366, 18368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Electron: pid = 11, status &lt; 0 and -9.22 &lt; Vz &lt; 5 cm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9" name="Google Shape;43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10" y="1351700"/>
            <a:ext cx="4148793" cy="36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901" y="1479800"/>
            <a:ext cx="4212925" cy="3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DC problematic runs</a:t>
            </a:r>
            <a:endParaRPr/>
          </a:p>
        </p:txBody>
      </p:sp>
      <p:sp>
        <p:nvSpPr>
          <p:cNvPr id="446" name="Google Shape;446;p6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7" name="Google Shape;447;p63"/>
          <p:cNvSpPr txBox="1"/>
          <p:nvPr>
            <p:ph idx="1" type="body"/>
          </p:nvPr>
        </p:nvSpPr>
        <p:spPr>
          <a:xfrm>
            <a:off x="0" y="647400"/>
            <a:ext cx="9144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Runs: 18358, 18359, 18360, 18361, 18362, 18363, 18364, 18365, 18366, 18368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Electron: pid = 11, status &lt; 0 and -9.22 &lt; Vz &lt; 5 cm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00" y="1557150"/>
            <a:ext cx="3850475" cy="344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375" y="1550700"/>
            <a:ext cx="3850475" cy="344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DC problematic runs</a:t>
            </a:r>
            <a:endParaRPr/>
          </a:p>
        </p:txBody>
      </p:sp>
      <p:sp>
        <p:nvSpPr>
          <p:cNvPr id="455" name="Google Shape;455;p6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6" name="Google Shape;456;p64"/>
          <p:cNvSpPr txBox="1"/>
          <p:nvPr>
            <p:ph idx="1" type="body"/>
          </p:nvPr>
        </p:nvSpPr>
        <p:spPr>
          <a:xfrm>
            <a:off x="0" y="647400"/>
            <a:ext cx="9144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Runs: 18358, 18359, 18360, 18361, 18362, 18363, 18364, 18365, 18366, 18368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Electron: pid = 11, status &lt; 0 and -9.22 &lt; Vz &lt; 5 cm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7" name="Google Shape;45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00" y="1550700"/>
            <a:ext cx="3956173" cy="3440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373" y="1550700"/>
            <a:ext cx="3902456" cy="344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Triggers</a:t>
            </a:r>
            <a:r>
              <a:rPr baseline="30000"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analysis</a:t>
            </a:r>
            <a:endParaRPr sz="4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4" name="Google Shape;464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Trigger analysis</a:t>
            </a:r>
            <a:endParaRPr/>
          </a:p>
        </p:txBody>
      </p:sp>
      <p:sp>
        <p:nvSpPr>
          <p:cNvPr id="470" name="Google Shape;470;p6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1" name="Google Shape;471;p66"/>
          <p:cNvSpPr txBox="1"/>
          <p:nvPr>
            <p:ph idx="1" type="body"/>
          </p:nvPr>
        </p:nvSpPr>
        <p:spPr>
          <a:xfrm>
            <a:off x="0" y="647400"/>
            <a:ext cx="85206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Look at the effect of the trigger in LD2 outbending.</a:t>
            </a:r>
            <a:endParaRPr sz="2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72" name="Google Shape;472;p66"/>
          <p:cNvGraphicFramePr/>
          <p:nvPr/>
        </p:nvGraphicFramePr>
        <p:xfrm>
          <a:off x="63225" y="121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{88EC0371-19BD-4891-9C39-70889C5E0B8A}</a:tableStyleId>
              </a:tblPr>
              <a:tblGrid>
                <a:gridCol w="2293075"/>
                <a:gridCol w="229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runs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triggers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18432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rgd_v2.2_Q2_2.5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18431,18423,22,21,20,19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rgd_v1.0_no_DC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18430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rgd_v2.1_no_DC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18429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rgd_v2.0_no_DC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18433,34,35,36,37,38,39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rgd_out_v1.0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18528,29,30,32,33,35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rgd_out_v2.1_Q2_1.2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73" name="Google Shape;4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575" y="1219725"/>
            <a:ext cx="4189824" cy="325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Trigger analysis</a:t>
            </a:r>
            <a:endParaRPr/>
          </a:p>
        </p:txBody>
      </p:sp>
      <p:sp>
        <p:nvSpPr>
          <p:cNvPr id="479" name="Google Shape;479;p6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80" name="Google Shape;4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27675"/>
            <a:ext cx="4488200" cy="35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475" y="1127675"/>
            <a:ext cx="4723523" cy="366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Trigger analysis pi minus</a:t>
            </a:r>
            <a:endParaRPr/>
          </a:p>
        </p:txBody>
      </p:sp>
      <p:sp>
        <p:nvSpPr>
          <p:cNvPr id="487" name="Google Shape;487;p6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88" name="Google Shape;4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1399"/>
            <a:ext cx="4435725" cy="348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5723" y="1032575"/>
            <a:ext cx="4708280" cy="365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Trigger analysis pi plus</a:t>
            </a:r>
            <a:endParaRPr/>
          </a:p>
        </p:txBody>
      </p:sp>
      <p:sp>
        <p:nvSpPr>
          <p:cNvPr id="495" name="Google Shape;495;p6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96" name="Google Shape;4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2475"/>
            <a:ext cx="4572000" cy="354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722475"/>
            <a:ext cx="4572000" cy="354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Data/Time estimate</a:t>
            </a:r>
            <a:endParaRPr sz="4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3" name="Google Shape;503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1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clara-ana-log output</a:t>
            </a:r>
            <a:endParaRPr/>
          </a:p>
        </p:txBody>
      </p:sp>
      <p:sp>
        <p:nvSpPr>
          <p:cNvPr id="509" name="Google Shape;509;p7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10" name="Google Shape;51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25" y="741825"/>
            <a:ext cx="5104936" cy="4191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1"/>
          <p:cNvSpPr txBox="1"/>
          <p:nvPr/>
        </p:nvSpPr>
        <p:spPr>
          <a:xfrm>
            <a:off x="5251850" y="683050"/>
            <a:ext cx="3827700" cy="4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Pass0v11: </a:t>
            </a:r>
            <a:endParaRPr sz="90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Flavor Fail: </a:t>
            </a:r>
            <a:b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</a:br>
            <a: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farm23 0.09% (8/8429) (8421) farm19 0.02% (3/13537) (13534) farm18 0.04% (1/2229) (2228) farm16 N/A farm14 N/A</a:t>
            </a:r>
            <a:endParaRPr sz="90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Time for each engine:</a:t>
            </a:r>
            <a:b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</a:br>
            <a:r>
              <a:rPr lang="fr" sz="9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BAND: 0.06 ms 0.01% | BAND: 0.06 ms 0.01% CND: 0.84 ms 0.11% | CND: 0.84 ms 0.11% CTOF: 4.42 ms 0.58% | CTOF: 4.42 ms 0.58% CVTFP: 356.01 ms 46.83% | CVTFP: 356.01 ms 46.83% CVTSP: 90.39 ms 11.89% | CVTSP: 90.39 ms 11.89% DCCR: 14.87 ms 1.96% | DCCR: 14.87 ms 1.96% DCHAI: 62.62 ms 8.24% | DCHAI: 62.62 ms 8.24% DCHB: 0.11 ms 0.01% | DCHB: 0.11 ms 0.01% DCTB: 168.01 ms 22.10% | DCTB: 168.01 ms 22.10% EBHB: 1.17 ms 0.15% | EBHB: 1.17 ms 0.15% EBTB: 1.72 ms 0.23% | EBTB: 1.72 ms 0.23% EC: 2.07 ms 0.27% | EC: 2.07 ms 0.27% FMT: 4.70 ms 0.62% | FMT: 4.70 ms 0.62% FTCAL: 0.04 ms 0.01% | FTCAL: 0.04 ms 0.01% FTEB: 0.03 ms 0.00% | FTEB: 0.03 ms 0.00% FTHODO: 0.03 ms 0.00% | FTHODO: 0.03 ms 0.00% FTOFHB: 2.75 ms 0.36% | FTOFHB: 2.75 ms 0.36% FTOFTB: 2.82 ms 0.37% | FTOFTB: 2.82 ms 0.37% FTTRK: 0.20 ms 0.03% | FTTRK: 0.20 ms 0.03% HTCC: 0.10 ms 0.01% | HTCC: 0.10 ms 0.01% LTCC: 0.08 ms 0.01% | LTCC: 0.08 ms 0.01% MAGFIELDS: 0.04 ms 0.00% | MAGFIELDS: 0.04 ms 0.00% MLTD: 35.35 ms 4.65% | MLTD: 35.35 ms 4.65% RASTER: 0.03 ms 0.00% | RASTER: 0.03 ms 0.00% READER: 0.13 ms 0.02% | READER: 0.13 ms 0.02% RICH: 7.03 ms 0.92% | RICH: 7.03 ms 0.92% RTPC: 0.05 ms 0.01% | RTPC: 0.05 ms 0.01% WRITER: 4.61 ms 0.61% | WRITER: 4.61 ms 0.61%</a:t>
            </a:r>
            <a:endParaRPr sz="90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size</a:t>
            </a:r>
            <a:endParaRPr/>
          </a:p>
        </p:txBody>
      </p:sp>
      <p:sp>
        <p:nvSpPr>
          <p:cNvPr id="517" name="Google Shape;517;p72"/>
          <p:cNvSpPr txBox="1"/>
          <p:nvPr>
            <p:ph idx="1" type="body"/>
          </p:nvPr>
        </p:nvSpPr>
        <p:spPr>
          <a:xfrm>
            <a:off x="0" y="647400"/>
            <a:ext cx="9144000" cy="4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8600" lvl="0" marL="244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Total events: 40,164,051,428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Total number of EVIO files: 573,493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Number of runs: 619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Number of events per EVIO file: approx. 74,000</a:t>
            </a:r>
            <a:endParaRPr sz="1200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9D18E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Size of raw file (2GB)  	1146 TB on mss (2GB x 573,493)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Size of decoded files:   	442TB decoded pass0v11: 19.1TB for 619*40 files, for 573,493 → 573,493*19.1/(619*40)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Size of DST files:       	172TB based on run 18542 → 12GB → 573,493*12/40 = 172000GB</a:t>
            </a:r>
            <a:endParaRPr sz="1200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Size skim forward:            11:X+:X-:Xn                                                                      </a:t>
            </a:r>
            <a:r>
              <a:rPr lang="fr" sz="1200">
                <a:solidFill>
                  <a:srgbClr val="404040"/>
                </a:solidFill>
              </a:rPr>
              <a:t>143TB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Total: Size skim forward: 11:X+:X-:Xn &amp;&amp; Q2 &gt; 0.7 GeV</a:t>
            </a:r>
            <a:r>
              <a:rPr baseline="30000" lang="fr" sz="1200">
                <a:solidFill>
                  <a:srgbClr val="404040"/>
                </a:solidFill>
              </a:rPr>
              <a:t>2</a:t>
            </a:r>
            <a:r>
              <a:rPr lang="fr" sz="1200">
                <a:solidFill>
                  <a:srgbClr val="404040"/>
                </a:solidFill>
              </a:rPr>
              <a:t> &amp;&amp; W &gt; 1.8 GeV       </a:t>
            </a:r>
            <a:r>
              <a:rPr lang="fr" sz="1200">
                <a:solidFill>
                  <a:srgbClr val="404040"/>
                </a:solidFill>
              </a:rPr>
              <a:t>98.9TB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Total: Size skim forward: 11:X+:X-:Xn &amp;&amp; Q2 &gt; 0.7 GeV</a:t>
            </a:r>
            <a:r>
              <a:rPr baseline="30000" lang="fr" sz="1200">
                <a:solidFill>
                  <a:srgbClr val="404040"/>
                </a:solidFill>
              </a:rPr>
              <a:t>2</a:t>
            </a:r>
            <a:r>
              <a:rPr lang="fr" sz="1200">
                <a:solidFill>
                  <a:srgbClr val="404040"/>
                </a:solidFill>
              </a:rPr>
              <a:t> &amp;&amp; W &gt; 1.7 GeV       100.3TB</a:t>
            </a:r>
            <a:endParaRPr sz="1200">
              <a:solidFill>
                <a:srgbClr val="404040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rgbClr val="404040"/>
                </a:solidFill>
              </a:rPr>
              <a:t>Total: Size </a:t>
            </a:r>
            <a:r>
              <a:rPr lang="fr" sz="1200">
                <a:solidFill>
                  <a:srgbClr val="404040"/>
                </a:solidFill>
              </a:rPr>
              <a:t>J</a:t>
            </a:r>
            <a:r>
              <a:rPr lang="fr" sz="1200">
                <a:solidFill>
                  <a:srgbClr val="404040"/>
                </a:solidFill>
              </a:rPr>
              <a:t>PSITCS:                                                                                                     </a:t>
            </a:r>
            <a:r>
              <a:rPr lang="fr" sz="1200">
                <a:solidFill>
                  <a:srgbClr val="404040"/>
                </a:solidFill>
              </a:rPr>
              <a:t>2.7TB</a:t>
            </a:r>
            <a:r>
              <a:rPr lang="fr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198600" lvl="0" marL="24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3C47D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Removing the RICH bank (RICH::Particle, RICH::Ring, RICH::tdc) and REC::Caloextra and REC::ScintaExtra lead to a 29% reduction</a:t>
            </a:r>
            <a:endParaRPr sz="1200">
              <a:solidFill>
                <a:schemeClr val="dk1"/>
              </a:solidFill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○"/>
            </a:pPr>
            <a:r>
              <a:rPr lang="fr" sz="1200">
                <a:solidFill>
                  <a:srgbClr val="404040"/>
                </a:solidFill>
              </a:rPr>
              <a:t>11:X+:X-:Xn                                                                            102TB   </a:t>
            </a:r>
            <a:endParaRPr sz="1200">
              <a:solidFill>
                <a:srgbClr val="404040"/>
              </a:solidFill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○"/>
            </a:pPr>
            <a:r>
              <a:rPr lang="fr" sz="1200">
                <a:solidFill>
                  <a:srgbClr val="404040"/>
                </a:solidFill>
              </a:rPr>
              <a:t>11:X+:X-:Xn &amp;&amp; Q2 &gt; 0.7 GeV</a:t>
            </a:r>
            <a:r>
              <a:rPr baseline="30000" lang="fr" sz="1200">
                <a:solidFill>
                  <a:srgbClr val="404040"/>
                </a:solidFill>
              </a:rPr>
              <a:t>2</a:t>
            </a:r>
            <a:r>
              <a:rPr lang="fr" sz="1200">
                <a:solidFill>
                  <a:srgbClr val="404040"/>
                </a:solidFill>
              </a:rPr>
              <a:t> &amp;&amp; W &gt; 1.8 GeV               70.2TB</a:t>
            </a:r>
            <a:endParaRPr sz="1200">
              <a:solidFill>
                <a:srgbClr val="404040"/>
              </a:solidFill>
            </a:endParaRPr>
          </a:p>
          <a:p>
            <a:pPr indent="-198600" lvl="1" marL="41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Char char="○"/>
            </a:pPr>
            <a:r>
              <a:rPr lang="fr" sz="1200">
                <a:solidFill>
                  <a:srgbClr val="404040"/>
                </a:solidFill>
              </a:rPr>
              <a:t>11:X+:X-:Xn &amp;&amp; Q2 &gt; 0.7 GeV</a:t>
            </a:r>
            <a:r>
              <a:rPr baseline="30000" lang="fr" sz="1200">
                <a:solidFill>
                  <a:srgbClr val="404040"/>
                </a:solidFill>
              </a:rPr>
              <a:t>2</a:t>
            </a:r>
            <a:r>
              <a:rPr lang="fr" sz="1200">
                <a:solidFill>
                  <a:srgbClr val="404040"/>
                </a:solidFill>
              </a:rPr>
              <a:t> &amp;&amp; W &gt; 1.7 GeV            71.2TB          </a:t>
            </a:r>
            <a:endParaRPr sz="12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8" name="Google Shape;518;p7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