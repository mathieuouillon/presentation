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package/2006/relationships/metadata/extended-properties" Target="docProps/app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3"/>
  </p:notesMasterIdLst>
  <p:handoutMasterIdLst>
    <p:handoutMasterId r:id="rId34"/>
  </p:handoutMasterIdLst>
  <p:sldIdLst>
    <p:sldId id="256" r:id="rId2"/>
    <p:sldId id="335" r:id="rId3"/>
    <p:sldId id="336" r:id="rId4"/>
    <p:sldId id="337" r:id="rId5"/>
    <p:sldId id="338" r:id="rId6"/>
    <p:sldId id="339" r:id="rId7"/>
    <p:sldId id="340" r:id="rId8"/>
    <p:sldId id="341" r:id="rId9"/>
    <p:sldId id="342" r:id="rId10"/>
    <p:sldId id="343" r:id="rId11"/>
    <p:sldId id="344" r:id="rId12"/>
    <p:sldId id="345" r:id="rId13"/>
    <p:sldId id="346" r:id="rId14"/>
    <p:sldId id="347" r:id="rId15"/>
    <p:sldId id="352" r:id="rId16"/>
    <p:sldId id="353" r:id="rId17"/>
    <p:sldId id="354" r:id="rId18"/>
    <p:sldId id="365" r:id="rId19"/>
    <p:sldId id="355" r:id="rId20"/>
    <p:sldId id="362" r:id="rId21"/>
    <p:sldId id="350" r:id="rId22"/>
    <p:sldId id="356" r:id="rId23"/>
    <p:sldId id="357" r:id="rId24"/>
    <p:sldId id="351" r:id="rId25"/>
    <p:sldId id="358" r:id="rId26"/>
    <p:sldId id="359" r:id="rId27"/>
    <p:sldId id="364" r:id="rId28"/>
    <p:sldId id="360" r:id="rId29"/>
    <p:sldId id="363" r:id="rId30"/>
    <p:sldId id="361" r:id="rId31"/>
    <p:sldId id="33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BD1C603-28A2-1340-9515-120EA66DFE1A}">
          <p14:sldIdLst>
            <p14:sldId id="256"/>
            <p14:sldId id="335"/>
            <p14:sldId id="336"/>
            <p14:sldId id="337"/>
            <p14:sldId id="338"/>
            <p14:sldId id="339"/>
            <p14:sldId id="340"/>
            <p14:sldId id="341"/>
            <p14:sldId id="342"/>
            <p14:sldId id="343"/>
            <p14:sldId id="344"/>
            <p14:sldId id="345"/>
            <p14:sldId id="346"/>
            <p14:sldId id="347"/>
            <p14:sldId id="352"/>
            <p14:sldId id="353"/>
            <p14:sldId id="354"/>
            <p14:sldId id="365"/>
            <p14:sldId id="355"/>
            <p14:sldId id="362"/>
            <p14:sldId id="350"/>
            <p14:sldId id="356"/>
            <p14:sldId id="357"/>
            <p14:sldId id="351"/>
            <p14:sldId id="358"/>
            <p14:sldId id="359"/>
            <p14:sldId id="364"/>
            <p14:sldId id="360"/>
            <p14:sldId id="363"/>
            <p14:sldId id="361"/>
            <p14:sldId id="33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sué Meneses Díaz" initials="JMD" lastIdx="1" clrIdx="0">
    <p:extLst>
      <p:ext uri="{19B8F6BF-5375-455C-9EA6-DF929625EA0E}">
        <p15:presenceInfo xmlns:p15="http://schemas.microsoft.com/office/powerpoint/2012/main" userId="b04c2315aa3d412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643"/>
    <a:srgbClr val="23373B"/>
    <a:srgbClr val="304D59"/>
    <a:srgbClr val="00315F"/>
    <a:srgbClr val="262626"/>
    <a:srgbClr val="FAFAFA"/>
    <a:srgbClr val="FFFFFF"/>
    <a:srgbClr val="243A45"/>
    <a:srgbClr val="98B6C2"/>
    <a:srgbClr val="ADADA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1" autoAdjust="0"/>
    <p:restoredTop sz="94637" autoAdjust="0"/>
  </p:normalViewPr>
  <p:slideViewPr>
    <p:cSldViewPr snapToGrid="0" snapToObjects="1">
      <p:cViewPr varScale="1">
        <p:scale>
          <a:sx n="127" d="100"/>
          <a:sy n="127" d="100"/>
        </p:scale>
        <p:origin x="1016" y="19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10494"/>
    </p:cViewPr>
  </p:sorterViewPr>
  <p:notesViewPr>
    <p:cSldViewPr snapToGrid="0" snapToObjects="1">
      <p:cViewPr varScale="1">
        <p:scale>
          <a:sx n="66" d="100"/>
          <a:sy n="66" d="100"/>
        </p:scale>
        <p:origin x="306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0EDF28E-8800-4B7E-93CE-9140A17976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4F043AF5-1FB9-40F2-A50C-00F64C47C8E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A0510DC-4C2A-4F6F-9501-4E7F5F169603}" type="datetimeFigureOut">
              <a:rPr lang="es-CL" smtClean="0"/>
              <a:t>02-06-26</a:t>
            </a:fld>
            <a:endParaRPr lang="es-CL"/>
          </a:p>
        </p:txBody>
      </p:sp>
      <p:sp>
        <p:nvSpPr>
          <p:cNvPr id="4" name="Marcador de pie de página 3">
            <a:extLst>
              <a:ext uri="{FF2B5EF4-FFF2-40B4-BE49-F238E27FC236}">
                <a16:creationId xmlns:a16="http://schemas.microsoft.com/office/drawing/2014/main" id="{59BC3DD2-F926-44DF-82AE-6BA853059A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42F9B4BF-E6EE-4D98-BCE0-35D9588A1C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262CA5F-72BF-4704-8861-7B23D0958B13}" type="slidenum">
              <a:rPr lang="es-CL" smtClean="0"/>
              <a:t>‹#›</a:t>
            </a:fld>
            <a:endParaRPr lang="es-CL"/>
          </a:p>
        </p:txBody>
      </p:sp>
    </p:spTree>
    <p:extLst>
      <p:ext uri="{BB962C8B-B14F-4D97-AF65-F5344CB8AC3E}">
        <p14:creationId xmlns:p14="http://schemas.microsoft.com/office/powerpoint/2010/main" val="78931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49D9A3-6AD0-4C7D-A17B-441070370095}" type="datetimeFigureOut">
              <a:rPr lang="es-CL" smtClean="0"/>
              <a:t>02-06-26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5FC93-B29F-41F1-A4D9-E7914667CA34}" type="slidenum">
              <a:rPr lang="es-CL" smtClean="0"/>
              <a:t>‹#›</a:t>
            </a:fld>
            <a:endParaRPr lang="es-CL"/>
          </a:p>
        </p:txBody>
      </p:sp>
    </p:spTree>
    <p:extLst>
      <p:ext uri="{BB962C8B-B14F-4D97-AF65-F5344CB8AC3E}">
        <p14:creationId xmlns:p14="http://schemas.microsoft.com/office/powerpoint/2010/main" val="377268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BA45FC93-B29F-41F1-A4D9-E7914667CA34}" type="slidenum">
              <a:rPr lang="es-CL" smtClean="0"/>
              <a:t>1</a:t>
            </a:fld>
            <a:endParaRPr lang="es-CL"/>
          </a:p>
        </p:txBody>
      </p:sp>
    </p:spTree>
    <p:extLst>
      <p:ext uri="{BB962C8B-B14F-4D97-AF65-F5344CB8AC3E}">
        <p14:creationId xmlns:p14="http://schemas.microsoft.com/office/powerpoint/2010/main" val="38055791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AFAFA"/>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11" name="Rectángulo 10">
            <a:extLst>
              <a:ext uri="{FF2B5EF4-FFF2-40B4-BE49-F238E27FC236}">
                <a16:creationId xmlns:a16="http://schemas.microsoft.com/office/drawing/2014/main" id="{2C680E2D-A060-426E-80B4-6B882581BABF}"/>
              </a:ext>
            </a:extLst>
          </p:cNvPr>
          <p:cNvSpPr/>
          <p:nvPr userDrawn="1"/>
        </p:nvSpPr>
        <p:spPr>
          <a:xfrm>
            <a:off x="0" y="-28414"/>
            <a:ext cx="12192000" cy="1321437"/>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pic>
        <p:nvPicPr>
          <p:cNvPr id="8" name="Picture 7" descr="A blue background with white text and a white logo&#10;&#10;AI-generated content may be incorrect.">
            <a:extLst>
              <a:ext uri="{FF2B5EF4-FFF2-40B4-BE49-F238E27FC236}">
                <a16:creationId xmlns:a16="http://schemas.microsoft.com/office/drawing/2014/main" id="{550513C9-FE37-ABDB-DC73-3268493D8E01}"/>
              </a:ext>
            </a:extLst>
          </p:cNvPr>
          <p:cNvPicPr>
            <a:picLocks noChangeAspect="1"/>
          </p:cNvPicPr>
          <p:nvPr userDrawn="1"/>
        </p:nvPicPr>
        <p:blipFill>
          <a:blip r:embed="rId2"/>
          <a:srcRect l="-1" r="28388"/>
          <a:stretch>
            <a:fillRect/>
          </a:stretch>
        </p:blipFill>
        <p:spPr>
          <a:xfrm>
            <a:off x="5422107" y="-30370"/>
            <a:ext cx="6777036" cy="6905800"/>
          </a:xfrm>
          <a:prstGeom prst="rect">
            <a:avLst/>
          </a:prstGeom>
        </p:spPr>
      </p:pic>
      <p:sp>
        <p:nvSpPr>
          <p:cNvPr id="9" name="Trapezoid 8">
            <a:extLst>
              <a:ext uri="{FF2B5EF4-FFF2-40B4-BE49-F238E27FC236}">
                <a16:creationId xmlns:a16="http://schemas.microsoft.com/office/drawing/2014/main" id="{B1728B86-6592-DDFF-0871-A958EF66574A}"/>
              </a:ext>
            </a:extLst>
          </p:cNvPr>
          <p:cNvSpPr/>
          <p:nvPr userDrawn="1"/>
        </p:nvSpPr>
        <p:spPr>
          <a:xfrm rot="10800000">
            <a:off x="3610050" y="-47801"/>
            <a:ext cx="4562400" cy="6905800"/>
          </a:xfrm>
          <a:prstGeom prst="trapezoid">
            <a:avLst/>
          </a:prstGeom>
          <a:solidFill>
            <a:srgbClr val="FAFAFA"/>
          </a:solidFill>
          <a:ln>
            <a:solidFill>
              <a:srgbClr val="FAFA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00046" y="2064502"/>
            <a:ext cx="10363200" cy="974724"/>
          </a:xfrm>
          <a:prstGeom prst="rect">
            <a:avLst/>
          </a:prstGeom>
        </p:spPr>
        <p:txBody>
          <a:bodyPr/>
          <a:lstStyle>
            <a:lvl1pPr algn="l">
              <a:defRPr b="0" i="0">
                <a:solidFill>
                  <a:srgbClr val="304D59"/>
                </a:solidFill>
                <a:latin typeface="Fira Sans" panose="020B0503050000020004" pitchFamily="34" charset="0"/>
                <a:ea typeface="Fira Sans" panose="020B0503050000020004" pitchFamily="34" charset="0"/>
              </a:defRPr>
            </a:lvl1pPr>
          </a:lstStyle>
          <a:p>
            <a:r>
              <a:rPr lang="en-US" dirty="0"/>
              <a:t>Click to edit Master title style</a:t>
            </a:r>
          </a:p>
        </p:txBody>
      </p:sp>
      <p:sp>
        <p:nvSpPr>
          <p:cNvPr id="3" name="Subtitle 2"/>
          <p:cNvSpPr>
            <a:spLocks noGrp="1"/>
          </p:cNvSpPr>
          <p:nvPr>
            <p:ph type="subTitle" idx="1"/>
          </p:nvPr>
        </p:nvSpPr>
        <p:spPr>
          <a:xfrm>
            <a:off x="400046" y="3819652"/>
            <a:ext cx="8534400" cy="670705"/>
          </a:xfrm>
        </p:spPr>
        <p:txBody>
          <a:bodyPr>
            <a:normAutofit/>
          </a:bodyPr>
          <a:lstStyle>
            <a:lvl1pPr marL="0" indent="0" algn="l">
              <a:buNone/>
              <a:defRPr sz="2400">
                <a:solidFill>
                  <a:srgbClr val="304D59"/>
                </a:solidFill>
                <a:latin typeface="Fira Sans" panose="020B0503050000020004" pitchFamily="34" charset="0"/>
                <a:ea typeface="Fira Sans" panose="020B05030500000200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r>
              <a:rPr lang="en-US"/>
              <a:t>Group meeting</a:t>
            </a:r>
          </a:p>
        </p:txBody>
      </p:sp>
      <p:sp>
        <p:nvSpPr>
          <p:cNvPr id="4" name="Date Placeholder 3"/>
          <p:cNvSpPr>
            <a:spLocks noGrp="1"/>
          </p:cNvSpPr>
          <p:nvPr>
            <p:ph type="dt" sz="half" idx="10"/>
          </p:nvPr>
        </p:nvSpPr>
        <p:spPr/>
        <p:txBody>
          <a:bodyPr/>
          <a:lstStyle/>
          <a:p>
            <a:r>
              <a:rPr lang="en-US"/>
              <a:t>06/02/26</a:t>
            </a:r>
            <a:endParaRPr lang="en-US" dirty="0"/>
          </a:p>
        </p:txBody>
      </p:sp>
    </p:spTree>
    <p:extLst>
      <p:ext uri="{BB962C8B-B14F-4D97-AF65-F5344CB8AC3E}">
        <p14:creationId xmlns:p14="http://schemas.microsoft.com/office/powerpoint/2010/main" val="144435751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47360" y="16635"/>
            <a:ext cx="9496425" cy="897765"/>
          </a:xfrm>
          <a:prstGeom prst="rect">
            <a:avLst/>
          </a:prstGeom>
        </p:spPr>
        <p:txBody>
          <a:bodyPr/>
          <a:lstStyle>
            <a:lvl1pPr algn="l">
              <a:defRPr b="0" i="0" cap="small" baseline="0">
                <a:latin typeface="Fira Sans" panose="020B0503050000020004" pitchFamily="34" charset="0"/>
                <a:ea typeface="Fira Sans" panose="020B0503050000020004" pitchFamily="34" charset="0"/>
              </a:defRPr>
            </a:lvl1pPr>
          </a:lstStyle>
          <a:p>
            <a:r>
              <a:rPr lang="en-US" dirty="0"/>
              <a:t>Click to edit Master title style</a:t>
            </a:r>
          </a:p>
        </p:txBody>
      </p:sp>
      <p:sp>
        <p:nvSpPr>
          <p:cNvPr id="3" name="Content Placeholder 2"/>
          <p:cNvSpPr>
            <a:spLocks noGrp="1"/>
          </p:cNvSpPr>
          <p:nvPr>
            <p:ph idx="1"/>
          </p:nvPr>
        </p:nvSpPr>
        <p:spPr>
          <a:xfrm>
            <a:off x="109982" y="1032481"/>
            <a:ext cx="11922474" cy="5087667"/>
          </a:xfrm>
        </p:spPr>
        <p:txBody>
          <a:bodyPr>
            <a:normAutofit/>
          </a:bodyPr>
          <a:lstStyle>
            <a:lvl1pPr>
              <a:defRPr sz="2400" b="0" i="0">
                <a:latin typeface="Fira Sans Light" panose="020B0403050000020004" pitchFamily="34" charset="0"/>
                <a:ea typeface="Fira Sans Light" panose="020B0403050000020004" pitchFamily="34" charset="0"/>
              </a:defRPr>
            </a:lvl1pPr>
            <a:lvl2pPr>
              <a:defRPr sz="2000" b="0" i="0">
                <a:latin typeface="Fira Sans Light" panose="020B0403050000020004" pitchFamily="34" charset="0"/>
                <a:ea typeface="Fira Sans Light" panose="020B0403050000020004" pitchFamily="34" charset="0"/>
              </a:defRPr>
            </a:lvl2pPr>
            <a:lvl3pPr>
              <a:defRPr sz="1800" b="0" i="0">
                <a:latin typeface="Fira Sans Light" panose="020B0403050000020004" pitchFamily="34" charset="0"/>
                <a:ea typeface="Fira Sans Light" panose="020B0403050000020004" pitchFamily="34" charset="0"/>
              </a:defRPr>
            </a:lvl3pPr>
            <a:lvl4pPr>
              <a:defRPr sz="1600" b="0" i="0">
                <a:latin typeface="Fira Sans Light" panose="020B0403050000020004" pitchFamily="34" charset="0"/>
                <a:ea typeface="Fira Sans Light" panose="020B0403050000020004" pitchFamily="34" charset="0"/>
              </a:defRPr>
            </a:lvl4pPr>
            <a:lvl5pPr>
              <a:defRPr sz="1600" b="0" i="0">
                <a:latin typeface="Fira Sans Light" panose="020B0403050000020004" pitchFamily="34" charset="0"/>
                <a:ea typeface="Fira Sans Light" panose="020B04030500000200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600" y="6452993"/>
            <a:ext cx="2844800" cy="365125"/>
          </a:xfrm>
        </p:spPr>
        <p:txBody>
          <a:bodyPr/>
          <a:lstStyle/>
          <a:p>
            <a:r>
              <a:rPr lang="en-US"/>
              <a:t>06/02/26</a:t>
            </a:r>
            <a:endParaRPr lang="en-US" dirty="0"/>
          </a:p>
        </p:txBody>
      </p:sp>
      <p:sp>
        <p:nvSpPr>
          <p:cNvPr id="5" name="Footer Placeholder 4"/>
          <p:cNvSpPr>
            <a:spLocks noGrp="1"/>
          </p:cNvSpPr>
          <p:nvPr>
            <p:ph type="ftr" sz="quarter" idx="11"/>
          </p:nvPr>
        </p:nvSpPr>
        <p:spPr>
          <a:xfrm>
            <a:off x="4165600" y="6452993"/>
            <a:ext cx="3860800" cy="365125"/>
          </a:xfrm>
        </p:spPr>
        <p:txBody>
          <a:bodyPr/>
          <a:lstStyle/>
          <a:p>
            <a:r>
              <a:rPr lang="en-US"/>
              <a:t>Group meeting</a:t>
            </a:r>
          </a:p>
        </p:txBody>
      </p:sp>
      <p:sp>
        <p:nvSpPr>
          <p:cNvPr id="6" name="Slide Number Placeholder 5"/>
          <p:cNvSpPr>
            <a:spLocks noGrp="1"/>
          </p:cNvSpPr>
          <p:nvPr>
            <p:ph type="sldNum" sz="quarter" idx="12"/>
          </p:nvPr>
        </p:nvSpPr>
        <p:spPr>
          <a:xfrm>
            <a:off x="8737600" y="6452993"/>
            <a:ext cx="2844800" cy="365125"/>
          </a:xfrm>
        </p:spPr>
        <p:txBody>
          <a:bodyPr/>
          <a:lstStyle/>
          <a:p>
            <a:fld id="{C5EF2332-01BF-834F-8236-50238282D533}" type="slidenum">
              <a:rPr lang="en-US" smtClean="0"/>
              <a:t>‹#›</a:t>
            </a:fld>
            <a:endParaRPr lang="en-US"/>
          </a:p>
        </p:txBody>
      </p:sp>
      <p:cxnSp>
        <p:nvCxnSpPr>
          <p:cNvPr id="9" name="Straight Connector 8">
            <a:extLst>
              <a:ext uri="{FF2B5EF4-FFF2-40B4-BE49-F238E27FC236}">
                <a16:creationId xmlns:a16="http://schemas.microsoft.com/office/drawing/2014/main" id="{60EAA4C7-D0B6-0DE2-E030-4ACD062DD5B1}"/>
              </a:ext>
            </a:extLst>
          </p:cNvPr>
          <p:cNvCxnSpPr/>
          <p:nvPr userDrawn="1"/>
        </p:nvCxnSpPr>
        <p:spPr>
          <a:xfrm>
            <a:off x="159543" y="6386948"/>
            <a:ext cx="11872913" cy="0"/>
          </a:xfrm>
          <a:prstGeom prst="line">
            <a:avLst/>
          </a:prstGeom>
          <a:ln w="12700">
            <a:solidFill>
              <a:srgbClr val="00315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882595"/>
          </a:xfrm>
          <a:prstGeom prst="rect">
            <a:avLst/>
          </a:prstGeom>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608400" y="1249200"/>
            <a:ext cx="5384800" cy="4860000"/>
          </a:xfrm>
        </p:spPr>
        <p:txBody>
          <a:bodyPr>
            <a:normAutofit/>
          </a:bodyPr>
          <a:lstStyle>
            <a:lvl1pPr>
              <a:defRPr sz="2400">
                <a:solidFill>
                  <a:srgbClr val="23373B"/>
                </a:solidFill>
                <a:latin typeface="Fira Sans Light" panose="020B0403050000020004" pitchFamily="34" charset="0"/>
                <a:ea typeface="Fira Sans Light" panose="020B0403050000020004" pitchFamily="34" charset="0"/>
              </a:defRPr>
            </a:lvl1pPr>
            <a:lvl2pPr>
              <a:defRPr sz="2000">
                <a:latin typeface="Fira Sans Light" panose="020B0403050000020004" pitchFamily="34" charset="0"/>
                <a:ea typeface="Fira Sans Light" panose="020B0403050000020004" pitchFamily="34" charset="0"/>
              </a:defRPr>
            </a:lvl2pPr>
            <a:lvl3pPr>
              <a:defRPr sz="1800">
                <a:latin typeface="Fira Sans Light" panose="020B0403050000020004" pitchFamily="34" charset="0"/>
                <a:ea typeface="Fira Sans Light" panose="020B0403050000020004" pitchFamily="34" charset="0"/>
              </a:defRPr>
            </a:lvl3pPr>
            <a:lvl4pPr>
              <a:defRPr sz="1600">
                <a:latin typeface="Fira Sans Light" panose="020B0403050000020004" pitchFamily="34" charset="0"/>
                <a:ea typeface="Fira Sans Light" panose="020B0403050000020004" pitchFamily="34" charset="0"/>
              </a:defRPr>
            </a:lvl4pPr>
            <a:lvl5pPr>
              <a:defRPr sz="1600">
                <a:latin typeface="Fira Sans Light" panose="020B0403050000020004" pitchFamily="34" charset="0"/>
                <a:ea typeface="Fira Sans Light" panose="020B04030500000200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249200"/>
            <a:ext cx="5384800" cy="4860000"/>
          </a:xfrm>
        </p:spPr>
        <p:txBody>
          <a:bodyPr>
            <a:normAutofit/>
          </a:bodyPr>
          <a:lstStyle>
            <a:lvl1pPr>
              <a:defRPr sz="2400">
                <a:latin typeface="Fira Sans Light" panose="020B0403050000020004" pitchFamily="34" charset="0"/>
                <a:ea typeface="Fira Sans Light" panose="020B0403050000020004" pitchFamily="34" charset="0"/>
              </a:defRPr>
            </a:lvl1pPr>
            <a:lvl2pPr>
              <a:defRPr sz="2000">
                <a:latin typeface="Fira Sans Light" panose="020B0403050000020004" pitchFamily="34" charset="0"/>
                <a:ea typeface="Fira Sans Light" panose="020B0403050000020004" pitchFamily="34" charset="0"/>
              </a:defRPr>
            </a:lvl2pPr>
            <a:lvl3pPr>
              <a:defRPr sz="1800">
                <a:latin typeface="Fira Sans Light" panose="020B0403050000020004" pitchFamily="34" charset="0"/>
                <a:ea typeface="Fira Sans Light" panose="020B0403050000020004" pitchFamily="34" charset="0"/>
              </a:defRPr>
            </a:lvl3pPr>
            <a:lvl4pPr>
              <a:defRPr sz="1600">
                <a:latin typeface="Fira Sans Light" panose="020B0403050000020004" pitchFamily="34" charset="0"/>
                <a:ea typeface="Fira Sans Light" panose="020B0403050000020004" pitchFamily="34" charset="0"/>
              </a:defRPr>
            </a:lvl4pPr>
            <a:lvl5pPr>
              <a:defRPr sz="1600">
                <a:latin typeface="Fira Sans Light" panose="020B0403050000020004" pitchFamily="34" charset="0"/>
                <a:ea typeface="Fira Sans Light" panose="020B04030500000200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r>
              <a:rPr lang="en-US"/>
              <a:t>06/02/26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23373B"/>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t>06/02/26</a:t>
            </a:r>
          </a:p>
        </p:txBody>
      </p:sp>
      <p:sp>
        <p:nvSpPr>
          <p:cNvPr id="5" name="Footer Placeholder 4"/>
          <p:cNvSpPr>
            <a:spLocks noGrp="1"/>
          </p:cNvSpPr>
          <p:nvPr>
            <p:ph type="ftr" sz="quarter" idx="11"/>
          </p:nvPr>
        </p:nvSpPr>
        <p:spPr/>
        <p:txBody>
          <a:bodyPr/>
          <a:lstStyle/>
          <a:p>
            <a:r>
              <a:rPr lang="en-US"/>
              <a:t>Group meeting</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Rectángulo 6">
            <a:extLst>
              <a:ext uri="{FF2B5EF4-FFF2-40B4-BE49-F238E27FC236}">
                <a16:creationId xmlns:a16="http://schemas.microsoft.com/office/drawing/2014/main" id="{C56EC933-7FF6-4AA7-971B-A9B1C1A350E7}"/>
              </a:ext>
            </a:extLst>
          </p:cNvPr>
          <p:cNvSpPr/>
          <p:nvPr userDrawn="1"/>
        </p:nvSpPr>
        <p:spPr>
          <a:xfrm>
            <a:off x="0" y="-28413"/>
            <a:ext cx="12192000" cy="974724"/>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Tree>
    <p:extLst>
      <p:ext uri="{BB962C8B-B14F-4D97-AF65-F5344CB8AC3E}">
        <p14:creationId xmlns:p14="http://schemas.microsoft.com/office/powerpoint/2010/main" val="107306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inverted colors">
    <p:bg>
      <p:bgPr>
        <a:solidFill>
          <a:srgbClr val="23373B"/>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t>06/02/26</a:t>
            </a:r>
          </a:p>
        </p:txBody>
      </p:sp>
      <p:sp>
        <p:nvSpPr>
          <p:cNvPr id="5" name="Footer Placeholder 4"/>
          <p:cNvSpPr>
            <a:spLocks noGrp="1"/>
          </p:cNvSpPr>
          <p:nvPr>
            <p:ph type="ftr" sz="quarter" idx="11"/>
          </p:nvPr>
        </p:nvSpPr>
        <p:spPr/>
        <p:txBody>
          <a:bodyPr/>
          <a:lstStyle/>
          <a:p>
            <a:r>
              <a:rPr lang="en-US"/>
              <a:t>Group meeting</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Rectángulo 6">
            <a:extLst>
              <a:ext uri="{FF2B5EF4-FFF2-40B4-BE49-F238E27FC236}">
                <a16:creationId xmlns:a16="http://schemas.microsoft.com/office/drawing/2014/main" id="{C56EC933-7FF6-4AA7-971B-A9B1C1A350E7}"/>
              </a:ext>
            </a:extLst>
          </p:cNvPr>
          <p:cNvSpPr/>
          <p:nvPr userDrawn="1"/>
        </p:nvSpPr>
        <p:spPr>
          <a:xfrm>
            <a:off x="0" y="-28413"/>
            <a:ext cx="12192000" cy="1500186"/>
          </a:xfrm>
          <a:prstGeom prst="rect">
            <a:avLst/>
          </a:prstGeom>
          <a:solidFill>
            <a:srgbClr val="23373B"/>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Tree>
    <p:extLst>
      <p:ext uri="{BB962C8B-B14F-4D97-AF65-F5344CB8AC3E}">
        <p14:creationId xmlns:p14="http://schemas.microsoft.com/office/powerpoint/2010/main" val="4167477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wo columns with two subtitle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599" y="919716"/>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596599"/>
            <a:ext cx="5386917" cy="452956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919716"/>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1596599"/>
            <a:ext cx="5389033" cy="452956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06/02/26</a:t>
            </a:r>
          </a:p>
        </p:txBody>
      </p:sp>
      <p:sp>
        <p:nvSpPr>
          <p:cNvPr id="8" name="Footer Placeholder 7"/>
          <p:cNvSpPr>
            <a:spLocks noGrp="1"/>
          </p:cNvSpPr>
          <p:nvPr>
            <p:ph type="ftr" sz="quarter" idx="11"/>
          </p:nvPr>
        </p:nvSpPr>
        <p:spPr/>
        <p:txBody>
          <a:bodyPr/>
          <a:lstStyle/>
          <a:p>
            <a:r>
              <a:rPr lang="en-US"/>
              <a:t>Group meeting</a:t>
            </a:r>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0" name="Title 1">
            <a:extLst>
              <a:ext uri="{FF2B5EF4-FFF2-40B4-BE49-F238E27FC236}">
                <a16:creationId xmlns:a16="http://schemas.microsoft.com/office/drawing/2014/main" id="{98049B74-EB33-49E5-A21C-5BC17B1D48D9}"/>
              </a:ext>
            </a:extLst>
          </p:cNvPr>
          <p:cNvSpPr>
            <a:spLocks noGrp="1"/>
          </p:cNvSpPr>
          <p:nvPr>
            <p:ph type="title"/>
          </p:nvPr>
        </p:nvSpPr>
        <p:spPr>
          <a:xfrm>
            <a:off x="609600" y="-3658"/>
            <a:ext cx="10972800" cy="886253"/>
          </a:xfrm>
          <a:prstGeom prst="rect">
            <a:avLst/>
          </a:prstGeo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lumn and imagen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09600" y="939802"/>
            <a:ext cx="4011084" cy="52083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r>
              <a:rPr lang="en-US"/>
              <a:t>06/02/26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ext Placeholder 3">
            <a:extLst>
              <a:ext uri="{FF2B5EF4-FFF2-40B4-BE49-F238E27FC236}">
                <a16:creationId xmlns:a16="http://schemas.microsoft.com/office/drawing/2014/main" id="{765B64F9-9C06-4BFC-9CC7-D62D4572BDE4}"/>
              </a:ext>
            </a:extLst>
          </p:cNvPr>
          <p:cNvSpPr>
            <a:spLocks noGrp="1"/>
          </p:cNvSpPr>
          <p:nvPr>
            <p:ph type="body" sz="half" idx="13"/>
          </p:nvPr>
        </p:nvSpPr>
        <p:spPr>
          <a:xfrm>
            <a:off x="4773085" y="5193412"/>
            <a:ext cx="6809314" cy="93275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1" name="Marcador de posición de imagen 7">
            <a:extLst>
              <a:ext uri="{FF2B5EF4-FFF2-40B4-BE49-F238E27FC236}">
                <a16:creationId xmlns:a16="http://schemas.microsoft.com/office/drawing/2014/main" id="{D74A7F3F-C231-4039-8494-F902CE8BAA4B}"/>
              </a:ext>
            </a:extLst>
          </p:cNvPr>
          <p:cNvSpPr>
            <a:spLocks noGrp="1"/>
          </p:cNvSpPr>
          <p:nvPr>
            <p:ph type="pic" sz="quarter" idx="14"/>
          </p:nvPr>
        </p:nvSpPr>
        <p:spPr>
          <a:xfrm>
            <a:off x="4773085" y="949968"/>
            <a:ext cx="6809315" cy="4176069"/>
          </a:xfrm>
        </p:spPr>
        <p:txBody>
          <a:bodyPr/>
          <a:lstStyle/>
          <a:p>
            <a:endParaRPr lang="es-CL"/>
          </a:p>
        </p:txBody>
      </p:sp>
    </p:spTree>
    <p:extLst>
      <p:ext uri="{BB962C8B-B14F-4D97-AF65-F5344CB8AC3E}">
        <p14:creationId xmlns:p14="http://schemas.microsoft.com/office/powerpoint/2010/main" val="1931021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a:t>06/02/26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0" name="Text Placeholder 2">
            <a:extLst>
              <a:ext uri="{FF2B5EF4-FFF2-40B4-BE49-F238E27FC236}">
                <a16:creationId xmlns:a16="http://schemas.microsoft.com/office/drawing/2014/main" id="{927CDD9A-B6E8-4A23-A02E-1FA68D59E228}"/>
              </a:ext>
            </a:extLst>
          </p:cNvPr>
          <p:cNvSpPr>
            <a:spLocks noGrp="1"/>
          </p:cNvSpPr>
          <p:nvPr>
            <p:ph type="body" idx="1"/>
          </p:nvPr>
        </p:nvSpPr>
        <p:spPr>
          <a:xfrm>
            <a:off x="614743" y="929959"/>
            <a:ext cx="1096765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7" name="Text Placeholder 3">
            <a:extLst>
              <a:ext uri="{FF2B5EF4-FFF2-40B4-BE49-F238E27FC236}">
                <a16:creationId xmlns:a16="http://schemas.microsoft.com/office/drawing/2014/main" id="{959A52E2-E196-4AD5-BE25-3CACC715C005}"/>
              </a:ext>
            </a:extLst>
          </p:cNvPr>
          <p:cNvSpPr>
            <a:spLocks noGrp="1"/>
          </p:cNvSpPr>
          <p:nvPr>
            <p:ph type="body" sz="half" idx="2"/>
          </p:nvPr>
        </p:nvSpPr>
        <p:spPr>
          <a:xfrm>
            <a:off x="609600" y="1617085"/>
            <a:ext cx="10972799" cy="44889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two column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a:t>06/02/26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14" name="Title 1">
            <a:extLst>
              <a:ext uri="{FF2B5EF4-FFF2-40B4-BE49-F238E27FC236}">
                <a16:creationId xmlns:a16="http://schemas.microsoft.com/office/drawing/2014/main" id="{6B196154-C9D3-4C78-BECE-D10919688410}"/>
              </a:ext>
            </a:extLst>
          </p:cNvPr>
          <p:cNvSpPr>
            <a:spLocks noGrp="1"/>
          </p:cNvSpPr>
          <p:nvPr>
            <p:ph type="title"/>
          </p:nvPr>
        </p:nvSpPr>
        <p:spPr>
          <a:xfrm>
            <a:off x="609600" y="-3658"/>
            <a:ext cx="10972800" cy="886253"/>
          </a:xfrm>
          <a:prstGeom prst="rect">
            <a:avLst/>
          </a:prstGeom>
        </p:spPr>
        <p:txBody>
          <a:bodyPr/>
          <a:lstStyle>
            <a:lvl1pPr>
              <a:defRPr u="none"/>
            </a:lvl1pPr>
          </a:lstStyle>
          <a:p>
            <a:r>
              <a:rPr lang="en-US" dirty="0"/>
              <a:t>Click to edit Master title style</a:t>
            </a:r>
          </a:p>
        </p:txBody>
      </p:sp>
      <p:sp>
        <p:nvSpPr>
          <p:cNvPr id="10" name="Text Placeholder 2">
            <a:extLst>
              <a:ext uri="{FF2B5EF4-FFF2-40B4-BE49-F238E27FC236}">
                <a16:creationId xmlns:a16="http://schemas.microsoft.com/office/drawing/2014/main" id="{927CDD9A-B6E8-4A23-A02E-1FA68D59E228}"/>
              </a:ext>
            </a:extLst>
          </p:cNvPr>
          <p:cNvSpPr>
            <a:spLocks noGrp="1"/>
          </p:cNvSpPr>
          <p:nvPr>
            <p:ph type="body" idx="1"/>
          </p:nvPr>
        </p:nvSpPr>
        <p:spPr>
          <a:xfrm>
            <a:off x="614743" y="929959"/>
            <a:ext cx="1096765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7" name="Text Placeholder 3">
            <a:extLst>
              <a:ext uri="{FF2B5EF4-FFF2-40B4-BE49-F238E27FC236}">
                <a16:creationId xmlns:a16="http://schemas.microsoft.com/office/drawing/2014/main" id="{959A52E2-E196-4AD5-BE25-3CACC715C005}"/>
              </a:ext>
            </a:extLst>
          </p:cNvPr>
          <p:cNvSpPr>
            <a:spLocks noGrp="1"/>
          </p:cNvSpPr>
          <p:nvPr>
            <p:ph type="body" sz="half" idx="2"/>
          </p:nvPr>
        </p:nvSpPr>
        <p:spPr>
          <a:xfrm>
            <a:off x="609599" y="1617085"/>
            <a:ext cx="5408022" cy="4502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Text Placeholder 3">
            <a:extLst>
              <a:ext uri="{FF2B5EF4-FFF2-40B4-BE49-F238E27FC236}">
                <a16:creationId xmlns:a16="http://schemas.microsoft.com/office/drawing/2014/main" id="{C37F2929-6A18-4BAD-AA36-EE60744758F0}"/>
              </a:ext>
            </a:extLst>
          </p:cNvPr>
          <p:cNvSpPr>
            <a:spLocks noGrp="1"/>
          </p:cNvSpPr>
          <p:nvPr>
            <p:ph type="body" sz="half" idx="13"/>
          </p:nvPr>
        </p:nvSpPr>
        <p:spPr>
          <a:xfrm>
            <a:off x="6174379" y="1617085"/>
            <a:ext cx="5408022" cy="44889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117577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06/02/26</a:t>
            </a:r>
          </a:p>
        </p:txBody>
      </p:sp>
      <p:sp>
        <p:nvSpPr>
          <p:cNvPr id="6" name="Footer Placeholder 5"/>
          <p:cNvSpPr>
            <a:spLocks noGrp="1"/>
          </p:cNvSpPr>
          <p:nvPr>
            <p:ph type="ftr" sz="quarter" idx="11"/>
          </p:nvPr>
        </p:nvSpPr>
        <p:spPr/>
        <p:txBody>
          <a:bodyPr/>
          <a:lstStyle/>
          <a:p>
            <a:r>
              <a:rPr lang="en-US"/>
              <a:t>Group meeting</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Rectángulo 7">
            <a:extLst>
              <a:ext uri="{FF2B5EF4-FFF2-40B4-BE49-F238E27FC236}">
                <a16:creationId xmlns:a16="http://schemas.microsoft.com/office/drawing/2014/main" id="{8962BEB1-7B29-4BAC-8B48-10A147F1A42A}"/>
              </a:ext>
            </a:extLst>
          </p:cNvPr>
          <p:cNvSpPr/>
          <p:nvPr userDrawn="1"/>
        </p:nvSpPr>
        <p:spPr>
          <a:xfrm>
            <a:off x="0" y="0"/>
            <a:ext cx="12192000" cy="949569"/>
          </a:xfrm>
          <a:prstGeom prst="rect">
            <a:avLst/>
          </a:prstGeom>
          <a:solidFill>
            <a:srgbClr val="FAFAFA"/>
          </a:solidFill>
          <a:ln>
            <a:solidFill>
              <a:srgbClr val="FAFAFA"/>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L" dirty="0"/>
          </a:p>
        </p:txBody>
      </p:sp>
      <p:sp>
        <p:nvSpPr>
          <p:cNvPr id="9" name="Picture Placeholder 2">
            <a:extLst>
              <a:ext uri="{FF2B5EF4-FFF2-40B4-BE49-F238E27FC236}">
                <a16:creationId xmlns:a16="http://schemas.microsoft.com/office/drawing/2014/main" id="{8D9C7531-5490-48CC-82EC-3580AEA6AEAF}"/>
              </a:ext>
            </a:extLst>
          </p:cNvPr>
          <p:cNvSpPr>
            <a:spLocks noGrp="1"/>
          </p:cNvSpPr>
          <p:nvPr>
            <p:ph type="pic" idx="1"/>
          </p:nvPr>
        </p:nvSpPr>
        <p:spPr>
          <a:xfrm>
            <a:off x="2389717" y="612774"/>
            <a:ext cx="7315200" cy="468058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a:t>06/02/26</a:t>
            </a:r>
          </a:p>
        </p:txBody>
      </p:sp>
      <p:sp>
        <p:nvSpPr>
          <p:cNvPr id="4" name="Footer Placeholder 3"/>
          <p:cNvSpPr>
            <a:spLocks noGrp="1"/>
          </p:cNvSpPr>
          <p:nvPr>
            <p:ph type="ftr" sz="quarter" idx="11"/>
          </p:nvPr>
        </p:nvSpPr>
        <p:spPr/>
        <p:txBody>
          <a:bodyPr/>
          <a:lstStyle/>
          <a:p>
            <a:r>
              <a:rPr lang="en-US"/>
              <a:t>Group meeting</a:t>
            </a:r>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1AF30ABA-6BFD-4C8C-A4E2-2A730B48E388}"/>
              </a:ext>
            </a:extLst>
          </p:cNvPr>
          <p:cNvSpPr>
            <a:spLocks noGrp="1"/>
          </p:cNvSpPr>
          <p:nvPr>
            <p:ph type="title"/>
          </p:nvPr>
        </p:nvSpPr>
        <p:spPr>
          <a:xfrm>
            <a:off x="609600" y="-3658"/>
            <a:ext cx="10972800" cy="886253"/>
          </a:xfrm>
          <a:prstGeom prst="rect">
            <a:avLst/>
          </a:prstGeom>
        </p:spPr>
        <p:txBody>
          <a:bodyPr/>
          <a:lstStyle>
            <a:lvl1pPr algn="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lean sl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06/02/26</a:t>
            </a:r>
          </a:p>
        </p:txBody>
      </p:sp>
      <p:sp>
        <p:nvSpPr>
          <p:cNvPr id="3" name="Footer Placeholder 2"/>
          <p:cNvSpPr>
            <a:spLocks noGrp="1"/>
          </p:cNvSpPr>
          <p:nvPr>
            <p:ph type="ftr" sz="quarter" idx="11"/>
          </p:nvPr>
        </p:nvSpPr>
        <p:spPr/>
        <p:txBody>
          <a:bodyPr/>
          <a:lstStyle/>
          <a:p>
            <a:r>
              <a:rPr lang="en-US"/>
              <a:t>Group meeting</a:t>
            </a:r>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8157" y="1463041"/>
            <a:ext cx="11374243" cy="46631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Fira Sans" panose="020B0503050000020004" pitchFamily="34" charset="0"/>
                <a:ea typeface="Fira Sans" panose="020B0503050000020004" pitchFamily="34" charset="0"/>
              </a:defRPr>
            </a:lvl1pPr>
          </a:lstStyle>
          <a:p>
            <a:r>
              <a:rPr lang="en-US"/>
              <a:t>06/02/26</a:t>
            </a:r>
            <a:endParaRPr lang="en-US" dirty="0">
              <a:latin typeface="Fira Sans" panose="020B0503050000020004" pitchFamily="34" charset="0"/>
              <a:ea typeface="Fira Sans" panose="020B0503050000020004" pitchFamily="34" charset="0"/>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Fira Sans" panose="020B0503050000020004" pitchFamily="34" charset="0"/>
                <a:ea typeface="Fira Sans" panose="020B0503050000020004" pitchFamily="34" charset="0"/>
              </a:defRPr>
            </a:lvl1pPr>
          </a:lstStyle>
          <a:p>
            <a:r>
              <a:rPr lang="en-US" dirty="0"/>
              <a:t>Group meeting</a:t>
            </a:r>
            <a:endParaRPr lang="en-US" dirty="0">
              <a:latin typeface="Fira Sans" panose="020B0503050000020004" pitchFamily="34" charset="0"/>
              <a:ea typeface="Fira Sans" panose="020B0503050000020004" pitchFamily="34" charset="0"/>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Fira Sans" panose="020B0503050000020004" pitchFamily="34" charset="0"/>
                <a:ea typeface="Fira Sans" panose="020B0503050000020004" pitchFamily="34" charset="0"/>
              </a:defRPr>
            </a:lvl1pPr>
          </a:lstStyle>
          <a:p>
            <a:fld id="{C5EF2332-01BF-834F-8236-50238282D533}" type="slidenum">
              <a:rPr lang="en-US" smtClean="0"/>
              <a:pPr/>
              <a:t>‹#›</a:t>
            </a:fld>
            <a:endParaRPr lang="en-US" dirty="0">
              <a:latin typeface="Fira Sans" panose="020B0503050000020004" pitchFamily="34" charset="0"/>
              <a:ea typeface="Fira Sans" panose="020B0503050000020004" pitchFamily="34" charset="0"/>
            </a:endParaRPr>
          </a:p>
        </p:txBody>
      </p:sp>
      <p:sp>
        <p:nvSpPr>
          <p:cNvPr id="10" name="Title Placeholder 1">
            <a:extLst>
              <a:ext uri="{FF2B5EF4-FFF2-40B4-BE49-F238E27FC236}">
                <a16:creationId xmlns:a16="http://schemas.microsoft.com/office/drawing/2014/main" id="{F72AA3B3-8196-4D73-8E74-BE65D0B261E3}"/>
              </a:ext>
            </a:extLst>
          </p:cNvPr>
          <p:cNvSpPr>
            <a:spLocks noGrp="1"/>
          </p:cNvSpPr>
          <p:nvPr>
            <p:ph type="title"/>
          </p:nvPr>
        </p:nvSpPr>
        <p:spPr>
          <a:xfrm>
            <a:off x="1629756" y="1"/>
            <a:ext cx="9410700" cy="930340"/>
          </a:xfrm>
          <a:prstGeom prst="rect">
            <a:avLst/>
          </a:prstGeom>
        </p:spPr>
        <p:txBody>
          <a:bodyPr vert="horz" lIns="91440" tIns="45720" rIns="91440" bIns="45720" rtlCol="0" anchor="ctr">
            <a:normAutofit/>
          </a:bodyPr>
          <a:lstStyle/>
          <a:p>
            <a:endParaRPr lang="en-US" dirty="0"/>
          </a:p>
        </p:txBody>
      </p:sp>
      <p:pic>
        <p:nvPicPr>
          <p:cNvPr id="8" name="Picture 7" descr="A blue background with white text and a white circle&#10;&#10;AI-generated content may be incorrect.">
            <a:extLst>
              <a:ext uri="{FF2B5EF4-FFF2-40B4-BE49-F238E27FC236}">
                <a16:creationId xmlns:a16="http://schemas.microsoft.com/office/drawing/2014/main" id="{8EB0ECAC-F4C3-9F09-0CD7-41F0101D8FE5}"/>
              </a:ext>
            </a:extLst>
          </p:cNvPr>
          <p:cNvPicPr>
            <a:picLocks noChangeAspect="1"/>
          </p:cNvPicPr>
          <p:nvPr userDrawn="1"/>
        </p:nvPicPr>
        <p:blipFill>
          <a:blip r:embed="rId14">
            <a:extLst>
              <a:ext uri="{BEBA8EAE-BF5A-486C-A8C5-ECC9F3942E4B}">
                <a14:imgProps xmlns:a14="http://schemas.microsoft.com/office/drawing/2010/main">
                  <a14:imgLayer r:embed="rId15">
                    <a14:imgEffect>
                      <a14:sharpenSoften amount="50000"/>
                    </a14:imgEffect>
                  </a14:imgLayer>
                </a14:imgProps>
              </a:ext>
            </a:extLst>
          </a:blip>
          <a:srcRect b="24538"/>
          <a:stretch>
            <a:fillRect/>
          </a:stretch>
        </p:blipFill>
        <p:spPr>
          <a:xfrm>
            <a:off x="208157" y="1"/>
            <a:ext cx="1421599" cy="930340"/>
          </a:xfrm>
          <a:prstGeom prst="rect">
            <a:avLst/>
          </a:prstGeom>
          <a:effectLst/>
        </p:spPr>
      </p:pic>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62" r:id="rId5"/>
    <p:sldLayoutId id="2147483653" r:id="rId6"/>
    <p:sldLayoutId id="2147483660" r:id="rId7"/>
    <p:sldLayoutId id="2147483656" r:id="rId8"/>
    <p:sldLayoutId id="2147483661" r:id="rId9"/>
    <p:sldLayoutId id="2147483657" r:id="rId10"/>
    <p:sldLayoutId id="2147483654" r:id="rId11"/>
    <p:sldLayoutId id="2147483655" r:id="rId12"/>
  </p:sldLayoutIdLst>
  <p:hf hdr="0"/>
  <p:txStyles>
    <p:titleStyle>
      <a:lvl1pPr algn="l" defTabSz="457200" rtl="0" eaLnBrk="1" latinLnBrk="0" hangingPunct="1">
        <a:spcBef>
          <a:spcPct val="0"/>
        </a:spcBef>
        <a:buNone/>
        <a:defRPr sz="3200" b="0" i="0" kern="1200">
          <a:solidFill>
            <a:srgbClr val="00315F"/>
          </a:solidFill>
          <a:latin typeface="Fira Sans" panose="020B0503050000020004" pitchFamily="34" charset="0"/>
          <a:ea typeface="Fira Sans" panose="020B0503050000020004" pitchFamily="34" charset="0"/>
          <a:cs typeface="+mj-cs"/>
        </a:defRPr>
      </a:lvl1pPr>
    </p:titleStyle>
    <p:bodyStyle>
      <a:lvl1pPr marL="342900" indent="-342900" algn="l" defTabSz="457200" rtl="0" eaLnBrk="1" latinLnBrk="0" hangingPunct="1">
        <a:spcBef>
          <a:spcPct val="20000"/>
        </a:spcBef>
        <a:buFont typeface="Arial"/>
        <a:buChar char="•"/>
        <a:defRPr sz="2400" b="0" i="0" kern="1200">
          <a:solidFill>
            <a:srgbClr val="243643"/>
          </a:solidFill>
          <a:latin typeface="Fira Sans" panose="020B0503050000020004" pitchFamily="34" charset="0"/>
          <a:ea typeface="Fira Sans" panose="020B0503050000020004" pitchFamily="34" charset="0"/>
          <a:cs typeface="+mn-cs"/>
        </a:defRPr>
      </a:lvl1pPr>
      <a:lvl2pPr marL="742950" indent="-285750" algn="l" defTabSz="457200" rtl="0" eaLnBrk="1" latinLnBrk="0" hangingPunct="1">
        <a:spcBef>
          <a:spcPct val="20000"/>
        </a:spcBef>
        <a:buFont typeface="Arial"/>
        <a:buChar char="–"/>
        <a:defRPr sz="2000" b="0" i="0" kern="1200">
          <a:solidFill>
            <a:srgbClr val="243643"/>
          </a:solidFill>
          <a:latin typeface="Fira Sans" panose="020B0503050000020004" pitchFamily="34" charset="0"/>
          <a:ea typeface="Fira Sans" panose="020B0503050000020004" pitchFamily="34" charset="0"/>
          <a:cs typeface="+mn-cs"/>
        </a:defRPr>
      </a:lvl2pPr>
      <a:lvl3pPr marL="1143000" indent="-228600" algn="l" defTabSz="457200" rtl="0" eaLnBrk="1" latinLnBrk="0" hangingPunct="1">
        <a:spcBef>
          <a:spcPct val="20000"/>
        </a:spcBef>
        <a:buFont typeface="Arial"/>
        <a:buChar char="•"/>
        <a:defRPr sz="1800" b="0" i="0" kern="1200">
          <a:solidFill>
            <a:srgbClr val="243643"/>
          </a:solidFill>
          <a:latin typeface="Fira Sans" panose="020B0503050000020004" pitchFamily="34" charset="0"/>
          <a:ea typeface="Fira Sans" panose="020B0503050000020004" pitchFamily="34" charset="0"/>
          <a:cs typeface="+mn-cs"/>
        </a:defRPr>
      </a:lvl3pPr>
      <a:lvl4pPr marL="1600200" indent="-228600" algn="l" defTabSz="457200" rtl="0" eaLnBrk="1" latinLnBrk="0" hangingPunct="1">
        <a:spcBef>
          <a:spcPct val="20000"/>
        </a:spcBef>
        <a:buFont typeface="Arial"/>
        <a:buChar char="–"/>
        <a:defRPr sz="1600" b="0" i="0" kern="1200">
          <a:solidFill>
            <a:srgbClr val="243643"/>
          </a:solidFill>
          <a:latin typeface="Fira Sans" panose="020B0503050000020004" pitchFamily="34" charset="0"/>
          <a:ea typeface="Fira Sans" panose="020B0503050000020004" pitchFamily="34" charset="0"/>
          <a:cs typeface="+mn-cs"/>
        </a:defRPr>
      </a:lvl4pPr>
      <a:lvl5pPr marL="2057400" indent="-228600" algn="l" defTabSz="457200" rtl="0" eaLnBrk="1" latinLnBrk="0" hangingPunct="1">
        <a:spcBef>
          <a:spcPct val="20000"/>
        </a:spcBef>
        <a:buFont typeface="Arial"/>
        <a:buChar char="»"/>
        <a:defRPr sz="1600" b="0" i="0" kern="1200">
          <a:solidFill>
            <a:srgbClr val="243643"/>
          </a:solidFill>
          <a:latin typeface="Fira Sans" panose="020B0503050000020004" pitchFamily="34" charset="0"/>
          <a:ea typeface="Fira Sans" panose="020B0503050000020004" pitchFamily="34"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33385"/>
            <a:ext cx="6978580" cy="2234317"/>
          </a:xfrm>
        </p:spPr>
        <p:txBody>
          <a:bodyPr>
            <a:normAutofit/>
          </a:bodyPr>
          <a:lstStyle/>
          <a:p>
            <a:pPr lvl="0" algn="l"/>
            <a:r>
              <a:rPr lang="en-US" sz="7200" cap="small" dirty="0">
                <a:latin typeface="Fira Sans" panose="020B0503050000020004" pitchFamily="34" charset="0"/>
                <a:ea typeface="Fira Sans" panose="020B0503050000020004" pitchFamily="34" charset="0"/>
              </a:rPr>
              <a:t>Group meeting</a:t>
            </a:r>
            <a:endParaRPr sz="7200" cap="small" dirty="0">
              <a:latin typeface="Fira Sans" panose="020B0503050000020004" pitchFamily="34" charset="0"/>
              <a:ea typeface="Fira Sans" panose="020B0503050000020004" pitchFamily="34" charset="0"/>
            </a:endParaRPr>
          </a:p>
        </p:txBody>
      </p:sp>
      <p:sp>
        <p:nvSpPr>
          <p:cNvPr id="3" name="Subtitle 2"/>
          <p:cNvSpPr>
            <a:spLocks noGrp="1"/>
          </p:cNvSpPr>
          <p:nvPr>
            <p:ph type="subTitle" idx="1"/>
          </p:nvPr>
        </p:nvSpPr>
        <p:spPr>
          <a:xfrm>
            <a:off x="457200" y="4069887"/>
            <a:ext cx="6873240" cy="676127"/>
          </a:xfrm>
        </p:spPr>
        <p:txBody>
          <a:bodyPr>
            <a:normAutofit/>
          </a:bodyPr>
          <a:lstStyle/>
          <a:p>
            <a:pPr marL="0" lvl="0" indent="0">
              <a:buNone/>
            </a:pPr>
            <a:r>
              <a:rPr lang="es-MX" dirty="0">
                <a:latin typeface="Fira Sans" panose="020B0503050000020004" pitchFamily="34" charset="0"/>
                <a:ea typeface="Fira Sans" panose="020B0503050000020004" pitchFamily="34" charset="0"/>
              </a:rPr>
              <a:t>Mathieu Ouillon (Mississippi State University)</a:t>
            </a:r>
            <a:endParaRPr dirty="0">
              <a:latin typeface="Fira Sans" panose="020B0503050000020004" pitchFamily="34" charset="0"/>
              <a:ea typeface="Fira Sans" panose="020B0503050000020004" pitchFamily="34" charset="0"/>
            </a:endParaRPr>
          </a:p>
        </p:txBody>
      </p:sp>
      <p:sp>
        <p:nvSpPr>
          <p:cNvPr id="5" name="Date Placeholder 3">
            <a:extLst>
              <a:ext uri="{FF2B5EF4-FFF2-40B4-BE49-F238E27FC236}">
                <a16:creationId xmlns:a16="http://schemas.microsoft.com/office/drawing/2014/main" id="{0D63A573-154D-7B40-5738-504DAF2B226D}"/>
              </a:ext>
            </a:extLst>
          </p:cNvPr>
          <p:cNvSpPr txBox="1">
            <a:spLocks/>
          </p:cNvSpPr>
          <p:nvPr/>
        </p:nvSpPr>
        <p:spPr>
          <a:xfrm>
            <a:off x="457200" y="4746014"/>
            <a:ext cx="2075717"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l" defTabSz="457200" rtl="0" eaLnBrk="1" latinLnBrk="0" hangingPunct="1">
              <a:spcBef>
                <a:spcPct val="20000"/>
              </a:spcBef>
              <a:buFont typeface="Arial"/>
              <a:buNone/>
            </a:pPr>
            <a:r>
              <a:rPr lang="es-CL" sz="2000" kern="1200" noProof="0" dirty="0">
                <a:solidFill>
                  <a:srgbClr val="304D59"/>
                </a:solidFill>
                <a:latin typeface="Fira Sans" panose="020B0503050000020004" pitchFamily="34" charset="0"/>
                <a:ea typeface="Fira Sans" panose="020B0503050000020004" pitchFamily="34" charset="0"/>
              </a:rPr>
              <a:t>06/02/26</a:t>
            </a:r>
          </a:p>
        </p:txBody>
      </p:sp>
    </p:spTree>
  </p:cSld>
  <p:clrMapOvr>
    <a:masterClrMapping/>
  </p:clrMapOvr>
  <mc:AlternateContent xmlns:mc="http://schemas.openxmlformats.org/markup-compatibility/2006" xmlns:p14="http://schemas.microsoft.com/office/powerpoint/2010/main">
    <mc:Choice Requires="p14">
      <p:transition spd="slow" p14:dur="2000" advTm="13319"/>
    </mc:Choice>
    <mc:Fallback xmlns="">
      <p:transition spd="slow" advTm="133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21DEE-22C9-7031-D658-E0B764650CD4}"/>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3A90E175-4471-897D-0352-0615CEECD9AB}"/>
              </a:ext>
            </a:extLst>
          </p:cNvPr>
          <p:cNvSpPr>
            <a:spLocks noGrp="1"/>
          </p:cNvSpPr>
          <p:nvPr>
            <p:ph idx="1"/>
          </p:nvPr>
        </p:nvSpPr>
        <p:spPr>
          <a:xfrm>
            <a:off x="109982" y="1032481"/>
            <a:ext cx="11922474" cy="548981"/>
          </a:xfrm>
        </p:spPr>
        <p:txBody>
          <a:bodyPr>
            <a:normAutofit/>
          </a:bodyPr>
          <a:lstStyle/>
          <a:p>
            <a:pPr marL="57150" indent="0">
              <a:buNone/>
            </a:pPr>
            <a:r>
              <a:rPr lang="en-US" sz="2000" dirty="0"/>
              <a:t>Try to understand the shift in the </a:t>
            </a:r>
            <a:r>
              <a:rPr lang="en-US" sz="2000" dirty="0" err="1"/>
              <a:t>Vz</a:t>
            </a:r>
            <a:r>
              <a:rPr lang="en-US" sz="2000" dirty="0"/>
              <a:t> distribution for pion that I see in simulation: </a:t>
            </a: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F516DE40-634B-6437-8CC3-0FD061C7F117}"/>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24CE86C5-59DE-A182-C626-DDC5A88367CF}"/>
              </a:ext>
            </a:extLst>
          </p:cNvPr>
          <p:cNvSpPr>
            <a:spLocks noGrp="1"/>
          </p:cNvSpPr>
          <p:nvPr>
            <p:ph type="sldNum" sz="quarter" idx="12"/>
          </p:nvPr>
        </p:nvSpPr>
        <p:spPr/>
        <p:txBody>
          <a:bodyPr/>
          <a:lstStyle/>
          <a:p>
            <a:fld id="{C5EF2332-01BF-834F-8236-50238282D533}" type="slidenum">
              <a:rPr lang="en-US" smtClean="0"/>
              <a:t>2</a:t>
            </a:fld>
            <a:endParaRPr lang="en-US"/>
          </a:p>
        </p:txBody>
      </p:sp>
      <p:sp>
        <p:nvSpPr>
          <p:cNvPr id="5" name="Footer Placeholder 4">
            <a:extLst>
              <a:ext uri="{FF2B5EF4-FFF2-40B4-BE49-F238E27FC236}">
                <a16:creationId xmlns:a16="http://schemas.microsoft.com/office/drawing/2014/main" id="{E6A2E877-994F-075F-5795-58873E76BAE0}"/>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90DC5E13-9CF2-700D-BE8D-F65C3CE49121}"/>
              </a:ext>
            </a:extLst>
          </p:cNvPr>
          <p:cNvPicPr>
            <a:picLocks noChangeAspect="1"/>
          </p:cNvPicPr>
          <p:nvPr/>
        </p:nvPicPr>
        <p:blipFill>
          <a:blip r:embed="rId2"/>
          <a:stretch>
            <a:fillRect/>
          </a:stretch>
        </p:blipFill>
        <p:spPr>
          <a:xfrm>
            <a:off x="1345853" y="1581462"/>
            <a:ext cx="9093891" cy="4071193"/>
          </a:xfrm>
          <a:prstGeom prst="rect">
            <a:avLst/>
          </a:prstGeom>
        </p:spPr>
      </p:pic>
    </p:spTree>
    <p:extLst>
      <p:ext uri="{BB962C8B-B14F-4D97-AF65-F5344CB8AC3E}">
        <p14:creationId xmlns:p14="http://schemas.microsoft.com/office/powerpoint/2010/main" val="2136463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5FE66-4E0E-FAF1-3D43-71DAF346B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4CF8B-B416-71E5-DC05-C5F21FFADEDE}"/>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1F9BB973-E02C-5810-EB35-6999FDDB0E51}"/>
              </a:ext>
            </a:extLst>
          </p:cNvPr>
          <p:cNvSpPr>
            <a:spLocks noGrp="1"/>
          </p:cNvSpPr>
          <p:nvPr>
            <p:ph idx="1"/>
          </p:nvPr>
        </p:nvSpPr>
        <p:spPr>
          <a:xfrm>
            <a:off x="109982" y="1032481"/>
            <a:ext cx="11922474" cy="4088159"/>
          </a:xfrm>
        </p:spPr>
        <p:txBody>
          <a:bodyPr>
            <a:normAutofit/>
          </a:bodyPr>
          <a:lstStyle/>
          <a:p>
            <a:pPr marL="57150" indent="0">
              <a:buNone/>
            </a:pPr>
            <a:r>
              <a:rPr lang="en-US" sz="2000" dirty="0"/>
              <a:t>I discuss with Raffaella, and her first idea was: the shift could come from pion decay into muon: </a:t>
            </a:r>
          </a:p>
          <a:p>
            <a:pPr marL="400050">
              <a:buFontTx/>
              <a:buChar char="-"/>
            </a:pPr>
            <a:r>
              <a:rPr lang="en-US" sz="2000" dirty="0"/>
              <a:t>A muon would be reconstructed as pion by COATJAVA</a:t>
            </a:r>
          </a:p>
          <a:p>
            <a:pPr marL="400050">
              <a:buFontTx/>
              <a:buChar char="-"/>
            </a:pPr>
            <a:r>
              <a:rPr lang="en-US" sz="2000" dirty="0"/>
              <a:t>That would shift in one direction the </a:t>
            </a:r>
            <a:r>
              <a:rPr lang="en-US" sz="2000" dirty="0" err="1"/>
              <a:t>Vz</a:t>
            </a:r>
            <a:r>
              <a:rPr lang="en-US" sz="2000" dirty="0"/>
              <a:t> of the reconstructed pion (that is a muon in reality)</a:t>
            </a:r>
          </a:p>
          <a:p>
            <a:pPr marL="400050">
              <a:buFontTx/>
              <a:buChar char="-"/>
            </a:pPr>
            <a:r>
              <a:rPr lang="en-US" sz="2000" dirty="0"/>
              <a:t>To check that I have generated single pion and single muon event (using particle gun from GEMC)</a:t>
            </a:r>
          </a:p>
          <a:p>
            <a:pPr marL="400050">
              <a:buFontTx/>
              <a:buChar char="-"/>
            </a:pPr>
            <a:r>
              <a:rPr lang="en-US" sz="2000" dirty="0"/>
              <a:t>And we can compare </a:t>
            </a:r>
            <a:r>
              <a:rPr lang="en-US" sz="2000" dirty="0" err="1"/>
              <a:t>Vz</a:t>
            </a:r>
            <a:r>
              <a:rPr lang="en-US" sz="2000" dirty="0"/>
              <a:t> distribution for low momentum reconstructed pion for truth pion and truth muon, if the shift come from the pion decay into muon then the shift should be visible only for truth </a:t>
            </a:r>
            <a:r>
              <a:rPr lang="en-US" sz="2000" dirty="0" err="1"/>
              <a:t>pions</a:t>
            </a:r>
            <a:endParaRPr lang="en-US" sz="2000" dirty="0"/>
          </a:p>
          <a:p>
            <a:pPr marL="400050">
              <a:buFontTx/>
              <a:buChar char="-"/>
            </a:pP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F9FF3F53-3A2C-22C8-5752-526C784361CC}"/>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A0601811-047C-8E9E-AF4F-9647C6CC6EE5}"/>
              </a:ext>
            </a:extLst>
          </p:cNvPr>
          <p:cNvSpPr>
            <a:spLocks noGrp="1"/>
          </p:cNvSpPr>
          <p:nvPr>
            <p:ph type="sldNum" sz="quarter" idx="12"/>
          </p:nvPr>
        </p:nvSpPr>
        <p:spPr/>
        <p:txBody>
          <a:bodyPr/>
          <a:lstStyle/>
          <a:p>
            <a:fld id="{C5EF2332-01BF-834F-8236-50238282D533}" type="slidenum">
              <a:rPr lang="en-US" smtClean="0"/>
              <a:t>3</a:t>
            </a:fld>
            <a:endParaRPr lang="en-US"/>
          </a:p>
        </p:txBody>
      </p:sp>
      <p:sp>
        <p:nvSpPr>
          <p:cNvPr id="5" name="Footer Placeholder 4">
            <a:extLst>
              <a:ext uri="{FF2B5EF4-FFF2-40B4-BE49-F238E27FC236}">
                <a16:creationId xmlns:a16="http://schemas.microsoft.com/office/drawing/2014/main" id="{29C33A46-D0D7-61A0-5C77-8EEB02F1D2A0}"/>
              </a:ext>
            </a:extLst>
          </p:cNvPr>
          <p:cNvSpPr>
            <a:spLocks noGrp="1"/>
          </p:cNvSpPr>
          <p:nvPr>
            <p:ph type="ftr" sz="quarter" idx="11"/>
          </p:nvPr>
        </p:nvSpPr>
        <p:spPr/>
        <p:txBody>
          <a:bodyPr/>
          <a:lstStyle/>
          <a:p>
            <a:r>
              <a:rPr lang="en-US"/>
              <a:t>Group meeting</a:t>
            </a:r>
          </a:p>
        </p:txBody>
      </p:sp>
    </p:spTree>
    <p:extLst>
      <p:ext uri="{BB962C8B-B14F-4D97-AF65-F5344CB8AC3E}">
        <p14:creationId xmlns:p14="http://schemas.microsoft.com/office/powerpoint/2010/main" val="2233934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4ABA3-FC8F-F7ED-BD51-71BE90147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8B62D-C364-D56D-DFFB-64CCA3C4E2A8}"/>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2BD1CD31-BCF3-0961-E903-59379CA99310}"/>
              </a:ext>
            </a:extLst>
          </p:cNvPr>
          <p:cNvSpPr>
            <a:spLocks noGrp="1"/>
          </p:cNvSpPr>
          <p:nvPr>
            <p:ph idx="1"/>
          </p:nvPr>
        </p:nvSpPr>
        <p:spPr>
          <a:xfrm>
            <a:off x="109982" y="1032481"/>
            <a:ext cx="11922474" cy="4088159"/>
          </a:xfrm>
        </p:spPr>
        <p:txBody>
          <a:bodyPr>
            <a:normAutofit/>
          </a:bodyPr>
          <a:lstStyle/>
          <a:p>
            <a:pPr marL="57150" indent="0">
              <a:buNone/>
            </a:pPr>
            <a:r>
              <a:rPr lang="en-US" sz="2000" dirty="0"/>
              <a:t>I discuss with Raffaella, and her first idea was: the shift could come from pion decay into muon:</a:t>
            </a:r>
          </a:p>
          <a:p>
            <a:pPr marL="57150" indent="0">
              <a:buNone/>
            </a:pPr>
            <a:r>
              <a:rPr lang="en-US" sz="2000" dirty="0"/>
              <a:t>- So, the shift is here for both muon and pion: so the pion decay is not the reason for that</a:t>
            </a:r>
          </a:p>
          <a:p>
            <a:pPr marL="57150" indent="0">
              <a:buNone/>
            </a:pPr>
            <a:r>
              <a:rPr lang="en-US" sz="2000" dirty="0"/>
              <a:t> </a:t>
            </a:r>
          </a:p>
          <a:p>
            <a:pPr marL="400050">
              <a:buFontTx/>
              <a:buChar char="-"/>
            </a:pP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4970B902-4114-B182-CBD9-76D21219ED82}"/>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493F0E8A-9B76-4BC4-F570-BADEC8DAF5F7}"/>
              </a:ext>
            </a:extLst>
          </p:cNvPr>
          <p:cNvSpPr>
            <a:spLocks noGrp="1"/>
          </p:cNvSpPr>
          <p:nvPr>
            <p:ph type="sldNum" sz="quarter" idx="12"/>
          </p:nvPr>
        </p:nvSpPr>
        <p:spPr/>
        <p:txBody>
          <a:bodyPr/>
          <a:lstStyle/>
          <a:p>
            <a:fld id="{C5EF2332-01BF-834F-8236-50238282D533}" type="slidenum">
              <a:rPr lang="en-US" smtClean="0"/>
              <a:t>4</a:t>
            </a:fld>
            <a:endParaRPr lang="en-US"/>
          </a:p>
        </p:txBody>
      </p:sp>
      <p:sp>
        <p:nvSpPr>
          <p:cNvPr id="5" name="Footer Placeholder 4">
            <a:extLst>
              <a:ext uri="{FF2B5EF4-FFF2-40B4-BE49-F238E27FC236}">
                <a16:creationId xmlns:a16="http://schemas.microsoft.com/office/drawing/2014/main" id="{8665BE66-CF76-115A-1BAA-95944939E7E7}"/>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E6DB7A75-F6A4-BE39-3919-49DBA163450D}"/>
              </a:ext>
            </a:extLst>
          </p:cNvPr>
          <p:cNvPicPr>
            <a:picLocks noChangeAspect="1"/>
          </p:cNvPicPr>
          <p:nvPr/>
        </p:nvPicPr>
        <p:blipFill>
          <a:blip r:embed="rId2"/>
          <a:stretch>
            <a:fillRect/>
          </a:stretch>
        </p:blipFill>
        <p:spPr>
          <a:xfrm>
            <a:off x="159544" y="1804318"/>
            <a:ext cx="5296376" cy="4013050"/>
          </a:xfrm>
          <a:prstGeom prst="rect">
            <a:avLst/>
          </a:prstGeom>
        </p:spPr>
      </p:pic>
      <p:pic>
        <p:nvPicPr>
          <p:cNvPr id="8" name="Picture 7">
            <a:extLst>
              <a:ext uri="{FF2B5EF4-FFF2-40B4-BE49-F238E27FC236}">
                <a16:creationId xmlns:a16="http://schemas.microsoft.com/office/drawing/2014/main" id="{A9F72D93-7134-339C-2B7A-32FA0807788F}"/>
              </a:ext>
            </a:extLst>
          </p:cNvPr>
          <p:cNvPicPr>
            <a:picLocks noChangeAspect="1"/>
          </p:cNvPicPr>
          <p:nvPr/>
        </p:nvPicPr>
        <p:blipFill>
          <a:blip r:embed="rId3"/>
          <a:stretch>
            <a:fillRect/>
          </a:stretch>
        </p:blipFill>
        <p:spPr>
          <a:xfrm>
            <a:off x="5690829" y="1804318"/>
            <a:ext cx="5452956" cy="3980366"/>
          </a:xfrm>
          <a:prstGeom prst="rect">
            <a:avLst/>
          </a:prstGeom>
        </p:spPr>
      </p:pic>
      <p:pic>
        <p:nvPicPr>
          <p:cNvPr id="9" name="Picture 8">
            <a:extLst>
              <a:ext uri="{FF2B5EF4-FFF2-40B4-BE49-F238E27FC236}">
                <a16:creationId xmlns:a16="http://schemas.microsoft.com/office/drawing/2014/main" id="{E7D15B2B-DED5-5803-040C-521825CCE082}"/>
              </a:ext>
            </a:extLst>
          </p:cNvPr>
          <p:cNvPicPr>
            <a:picLocks noChangeAspect="1"/>
          </p:cNvPicPr>
          <p:nvPr/>
        </p:nvPicPr>
        <p:blipFill>
          <a:blip r:embed="rId4"/>
          <a:stretch>
            <a:fillRect/>
          </a:stretch>
        </p:blipFill>
        <p:spPr>
          <a:xfrm>
            <a:off x="1048215" y="5671906"/>
            <a:ext cx="4413808" cy="690794"/>
          </a:xfrm>
          <a:prstGeom prst="rect">
            <a:avLst/>
          </a:prstGeom>
        </p:spPr>
      </p:pic>
      <p:pic>
        <p:nvPicPr>
          <p:cNvPr id="10" name="Picture 9">
            <a:extLst>
              <a:ext uri="{FF2B5EF4-FFF2-40B4-BE49-F238E27FC236}">
                <a16:creationId xmlns:a16="http://schemas.microsoft.com/office/drawing/2014/main" id="{B7105730-ECBB-D464-64CD-428F7A461601}"/>
              </a:ext>
            </a:extLst>
          </p:cNvPr>
          <p:cNvPicPr>
            <a:picLocks noChangeAspect="1"/>
          </p:cNvPicPr>
          <p:nvPr/>
        </p:nvPicPr>
        <p:blipFill>
          <a:blip r:embed="rId4"/>
          <a:stretch>
            <a:fillRect/>
          </a:stretch>
        </p:blipFill>
        <p:spPr>
          <a:xfrm>
            <a:off x="6618435" y="5608988"/>
            <a:ext cx="4413808" cy="638558"/>
          </a:xfrm>
          <a:prstGeom prst="rect">
            <a:avLst/>
          </a:prstGeom>
        </p:spPr>
      </p:pic>
      <p:pic>
        <p:nvPicPr>
          <p:cNvPr id="11" name="Picture 10">
            <a:extLst>
              <a:ext uri="{FF2B5EF4-FFF2-40B4-BE49-F238E27FC236}">
                <a16:creationId xmlns:a16="http://schemas.microsoft.com/office/drawing/2014/main" id="{585CA0EA-9B51-C741-FFA4-C963BF5C8FD1}"/>
              </a:ext>
            </a:extLst>
          </p:cNvPr>
          <p:cNvPicPr>
            <a:picLocks noChangeAspect="1"/>
          </p:cNvPicPr>
          <p:nvPr/>
        </p:nvPicPr>
        <p:blipFill>
          <a:blip r:embed="rId5"/>
          <a:stretch>
            <a:fillRect/>
          </a:stretch>
        </p:blipFill>
        <p:spPr>
          <a:xfrm>
            <a:off x="11032242" y="2187064"/>
            <a:ext cx="1049775" cy="3103011"/>
          </a:xfrm>
          <a:prstGeom prst="rect">
            <a:avLst/>
          </a:prstGeom>
        </p:spPr>
      </p:pic>
    </p:spTree>
    <p:extLst>
      <p:ext uri="{BB962C8B-B14F-4D97-AF65-F5344CB8AC3E}">
        <p14:creationId xmlns:p14="http://schemas.microsoft.com/office/powerpoint/2010/main" val="3265752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845F8-AB90-0D94-E3C0-5A443446A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8063F-1621-FD41-019A-27C0AAF898FD}"/>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37052186-E6C6-8A6B-195E-3D4C16617084}"/>
              </a:ext>
            </a:extLst>
          </p:cNvPr>
          <p:cNvSpPr>
            <a:spLocks noGrp="1"/>
          </p:cNvSpPr>
          <p:nvPr>
            <p:ph idx="1"/>
          </p:nvPr>
        </p:nvSpPr>
        <p:spPr>
          <a:xfrm>
            <a:off x="109982" y="1032481"/>
            <a:ext cx="11922474" cy="4088159"/>
          </a:xfrm>
        </p:spPr>
        <p:txBody>
          <a:bodyPr>
            <a:normAutofit/>
          </a:bodyPr>
          <a:lstStyle/>
          <a:p>
            <a:pPr marL="57150" indent="0">
              <a:buNone/>
            </a:pPr>
            <a:r>
              <a:rPr lang="en-US" sz="2000" dirty="0"/>
              <a:t>I discuss with Raffaella, and her first idea was: the shift could come from pion decay into muon:</a:t>
            </a:r>
          </a:p>
          <a:p>
            <a:pPr marL="57150" indent="0">
              <a:buNone/>
            </a:pPr>
            <a:r>
              <a:rPr lang="en-US" sz="2000" dirty="0"/>
              <a:t>- So, the shift is here for both muon and pion: so the pion decay is not the reason for that</a:t>
            </a:r>
          </a:p>
          <a:p>
            <a:pPr marL="57150" indent="0">
              <a:buNone/>
            </a:pPr>
            <a:r>
              <a:rPr lang="en-US" sz="2000" dirty="0"/>
              <a:t> </a:t>
            </a:r>
          </a:p>
          <a:p>
            <a:pPr marL="400050">
              <a:buFontTx/>
              <a:buChar char="-"/>
            </a:pP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45B3A0AB-A323-0C0A-2791-BBA9C362FBDF}"/>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D43A7C90-A6A0-B9BB-8210-66BE5EB372B9}"/>
              </a:ext>
            </a:extLst>
          </p:cNvPr>
          <p:cNvSpPr>
            <a:spLocks noGrp="1"/>
          </p:cNvSpPr>
          <p:nvPr>
            <p:ph type="sldNum" sz="quarter" idx="12"/>
          </p:nvPr>
        </p:nvSpPr>
        <p:spPr/>
        <p:txBody>
          <a:bodyPr/>
          <a:lstStyle/>
          <a:p>
            <a:fld id="{C5EF2332-01BF-834F-8236-50238282D533}" type="slidenum">
              <a:rPr lang="en-US" smtClean="0"/>
              <a:t>5</a:t>
            </a:fld>
            <a:endParaRPr lang="en-US"/>
          </a:p>
        </p:txBody>
      </p:sp>
      <p:sp>
        <p:nvSpPr>
          <p:cNvPr id="5" name="Footer Placeholder 4">
            <a:extLst>
              <a:ext uri="{FF2B5EF4-FFF2-40B4-BE49-F238E27FC236}">
                <a16:creationId xmlns:a16="http://schemas.microsoft.com/office/drawing/2014/main" id="{C51A80ED-744F-952D-7AF4-E06646776399}"/>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284514C9-6746-CFEE-9829-4953612DD6DC}"/>
              </a:ext>
            </a:extLst>
          </p:cNvPr>
          <p:cNvPicPr>
            <a:picLocks noChangeAspect="1"/>
          </p:cNvPicPr>
          <p:nvPr/>
        </p:nvPicPr>
        <p:blipFill>
          <a:blip r:embed="rId2"/>
          <a:stretch>
            <a:fillRect/>
          </a:stretch>
        </p:blipFill>
        <p:spPr>
          <a:xfrm>
            <a:off x="159544" y="1804318"/>
            <a:ext cx="5296376" cy="4013050"/>
          </a:xfrm>
          <a:prstGeom prst="rect">
            <a:avLst/>
          </a:prstGeom>
        </p:spPr>
      </p:pic>
      <p:pic>
        <p:nvPicPr>
          <p:cNvPr id="8" name="Picture 7">
            <a:extLst>
              <a:ext uri="{FF2B5EF4-FFF2-40B4-BE49-F238E27FC236}">
                <a16:creationId xmlns:a16="http://schemas.microsoft.com/office/drawing/2014/main" id="{0898372A-4536-47E0-DFCB-6B872720C116}"/>
              </a:ext>
            </a:extLst>
          </p:cNvPr>
          <p:cNvPicPr>
            <a:picLocks noChangeAspect="1"/>
          </p:cNvPicPr>
          <p:nvPr/>
        </p:nvPicPr>
        <p:blipFill>
          <a:blip r:embed="rId3"/>
          <a:stretch>
            <a:fillRect/>
          </a:stretch>
        </p:blipFill>
        <p:spPr>
          <a:xfrm>
            <a:off x="5690829" y="1804318"/>
            <a:ext cx="5452956" cy="3980366"/>
          </a:xfrm>
          <a:prstGeom prst="rect">
            <a:avLst/>
          </a:prstGeom>
        </p:spPr>
      </p:pic>
      <p:pic>
        <p:nvPicPr>
          <p:cNvPr id="9" name="Picture 8">
            <a:extLst>
              <a:ext uri="{FF2B5EF4-FFF2-40B4-BE49-F238E27FC236}">
                <a16:creationId xmlns:a16="http://schemas.microsoft.com/office/drawing/2014/main" id="{D3C3400F-D1A2-BC4D-09BE-0C64FE92C10B}"/>
              </a:ext>
            </a:extLst>
          </p:cNvPr>
          <p:cNvPicPr>
            <a:picLocks noChangeAspect="1"/>
          </p:cNvPicPr>
          <p:nvPr/>
        </p:nvPicPr>
        <p:blipFill>
          <a:blip r:embed="rId4"/>
          <a:stretch>
            <a:fillRect/>
          </a:stretch>
        </p:blipFill>
        <p:spPr>
          <a:xfrm>
            <a:off x="1048215" y="5671906"/>
            <a:ext cx="4413808" cy="690794"/>
          </a:xfrm>
          <a:prstGeom prst="rect">
            <a:avLst/>
          </a:prstGeom>
        </p:spPr>
      </p:pic>
      <p:pic>
        <p:nvPicPr>
          <p:cNvPr id="10" name="Picture 9">
            <a:extLst>
              <a:ext uri="{FF2B5EF4-FFF2-40B4-BE49-F238E27FC236}">
                <a16:creationId xmlns:a16="http://schemas.microsoft.com/office/drawing/2014/main" id="{2B4FEF0B-66EC-F1DB-B704-DD429B89F76F}"/>
              </a:ext>
            </a:extLst>
          </p:cNvPr>
          <p:cNvPicPr>
            <a:picLocks noChangeAspect="1"/>
          </p:cNvPicPr>
          <p:nvPr/>
        </p:nvPicPr>
        <p:blipFill>
          <a:blip r:embed="rId4"/>
          <a:stretch>
            <a:fillRect/>
          </a:stretch>
        </p:blipFill>
        <p:spPr>
          <a:xfrm>
            <a:off x="6618435" y="5608988"/>
            <a:ext cx="4413808" cy="638558"/>
          </a:xfrm>
          <a:prstGeom prst="rect">
            <a:avLst/>
          </a:prstGeom>
        </p:spPr>
      </p:pic>
    </p:spTree>
    <p:extLst>
      <p:ext uri="{BB962C8B-B14F-4D97-AF65-F5344CB8AC3E}">
        <p14:creationId xmlns:p14="http://schemas.microsoft.com/office/powerpoint/2010/main" val="508319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EB9B1-2282-51B0-424F-743A0B60C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F2D63-BAEE-2701-B63F-FC57BA7D9DBB}"/>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97281839-6AB5-934A-7BC1-3CBE4B397347}"/>
              </a:ext>
            </a:extLst>
          </p:cNvPr>
          <p:cNvSpPr>
            <a:spLocks noGrp="1"/>
          </p:cNvSpPr>
          <p:nvPr>
            <p:ph idx="1"/>
          </p:nvPr>
        </p:nvSpPr>
        <p:spPr>
          <a:xfrm>
            <a:off x="109982" y="1032481"/>
            <a:ext cx="11922474" cy="4088159"/>
          </a:xfrm>
        </p:spPr>
        <p:txBody>
          <a:bodyPr>
            <a:normAutofit/>
          </a:bodyPr>
          <a:lstStyle/>
          <a:p>
            <a:pPr marL="57150" indent="0">
              <a:buNone/>
            </a:pPr>
            <a:r>
              <a:rPr lang="en-US" sz="2000" dirty="0"/>
              <a:t>I discuss with Raffaella, and her first idea was: the shift could come from pion decay into muon:</a:t>
            </a:r>
          </a:p>
          <a:p>
            <a:pPr marL="57150" indent="0">
              <a:buNone/>
            </a:pPr>
            <a:r>
              <a:rPr lang="en-US" sz="2000" dirty="0"/>
              <a:t>- So, the shift is here for both muon and pion: so the pion decay is not the reason for that</a:t>
            </a:r>
          </a:p>
          <a:p>
            <a:pPr marL="57150" indent="0">
              <a:buNone/>
            </a:pPr>
            <a:r>
              <a:rPr lang="en-US" sz="2000" dirty="0"/>
              <a:t> </a:t>
            </a:r>
          </a:p>
          <a:p>
            <a:pPr marL="400050">
              <a:buFontTx/>
              <a:buChar char="-"/>
            </a:pP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B8976BE0-15B4-806D-38AC-5CD19975565B}"/>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F8A922F8-BE52-E941-661E-901092BE3C0D}"/>
              </a:ext>
            </a:extLst>
          </p:cNvPr>
          <p:cNvSpPr>
            <a:spLocks noGrp="1"/>
          </p:cNvSpPr>
          <p:nvPr>
            <p:ph type="sldNum" sz="quarter" idx="12"/>
          </p:nvPr>
        </p:nvSpPr>
        <p:spPr/>
        <p:txBody>
          <a:bodyPr/>
          <a:lstStyle/>
          <a:p>
            <a:fld id="{C5EF2332-01BF-834F-8236-50238282D533}" type="slidenum">
              <a:rPr lang="en-US" smtClean="0"/>
              <a:t>6</a:t>
            </a:fld>
            <a:endParaRPr lang="en-US"/>
          </a:p>
        </p:txBody>
      </p:sp>
      <p:sp>
        <p:nvSpPr>
          <p:cNvPr id="5" name="Footer Placeholder 4">
            <a:extLst>
              <a:ext uri="{FF2B5EF4-FFF2-40B4-BE49-F238E27FC236}">
                <a16:creationId xmlns:a16="http://schemas.microsoft.com/office/drawing/2014/main" id="{B8B4E2DE-E7DA-E439-D8F7-A8ECCC8FC718}"/>
              </a:ext>
            </a:extLst>
          </p:cNvPr>
          <p:cNvSpPr>
            <a:spLocks noGrp="1"/>
          </p:cNvSpPr>
          <p:nvPr>
            <p:ph type="ftr" sz="quarter" idx="11"/>
          </p:nvPr>
        </p:nvSpPr>
        <p:spPr/>
        <p:txBody>
          <a:bodyPr/>
          <a:lstStyle/>
          <a:p>
            <a:r>
              <a:rPr lang="en-US"/>
              <a:t>Group meeting</a:t>
            </a:r>
          </a:p>
        </p:txBody>
      </p:sp>
      <p:pic>
        <p:nvPicPr>
          <p:cNvPr id="9" name="Picture 8">
            <a:extLst>
              <a:ext uri="{FF2B5EF4-FFF2-40B4-BE49-F238E27FC236}">
                <a16:creationId xmlns:a16="http://schemas.microsoft.com/office/drawing/2014/main" id="{6B703820-6EDB-1493-999F-DE35AA230E77}"/>
              </a:ext>
            </a:extLst>
          </p:cNvPr>
          <p:cNvPicPr>
            <a:picLocks noChangeAspect="1"/>
          </p:cNvPicPr>
          <p:nvPr/>
        </p:nvPicPr>
        <p:blipFill>
          <a:blip r:embed="rId2"/>
          <a:stretch>
            <a:fillRect/>
          </a:stretch>
        </p:blipFill>
        <p:spPr>
          <a:xfrm>
            <a:off x="1048215" y="5671906"/>
            <a:ext cx="4413808" cy="690794"/>
          </a:xfrm>
          <a:prstGeom prst="rect">
            <a:avLst/>
          </a:prstGeom>
        </p:spPr>
      </p:pic>
      <p:pic>
        <p:nvPicPr>
          <p:cNvPr id="11" name="Picture 10">
            <a:extLst>
              <a:ext uri="{FF2B5EF4-FFF2-40B4-BE49-F238E27FC236}">
                <a16:creationId xmlns:a16="http://schemas.microsoft.com/office/drawing/2014/main" id="{7F61EBC2-896A-1E41-C7BD-AE17FFF74784}"/>
              </a:ext>
            </a:extLst>
          </p:cNvPr>
          <p:cNvPicPr>
            <a:picLocks noChangeAspect="1"/>
          </p:cNvPicPr>
          <p:nvPr/>
        </p:nvPicPr>
        <p:blipFill>
          <a:blip r:embed="rId3"/>
          <a:stretch>
            <a:fillRect/>
          </a:stretch>
        </p:blipFill>
        <p:spPr>
          <a:xfrm>
            <a:off x="1048214" y="2295005"/>
            <a:ext cx="4413807" cy="3491812"/>
          </a:xfrm>
          <a:prstGeom prst="rect">
            <a:avLst/>
          </a:prstGeom>
        </p:spPr>
      </p:pic>
      <p:pic>
        <p:nvPicPr>
          <p:cNvPr id="12" name="Picture 11">
            <a:extLst>
              <a:ext uri="{FF2B5EF4-FFF2-40B4-BE49-F238E27FC236}">
                <a16:creationId xmlns:a16="http://schemas.microsoft.com/office/drawing/2014/main" id="{A943C610-CB64-E7B8-DDEC-A593268197AC}"/>
              </a:ext>
            </a:extLst>
          </p:cNvPr>
          <p:cNvPicPr>
            <a:picLocks noChangeAspect="1"/>
          </p:cNvPicPr>
          <p:nvPr/>
        </p:nvPicPr>
        <p:blipFill>
          <a:blip r:embed="rId4"/>
          <a:stretch>
            <a:fillRect/>
          </a:stretch>
        </p:blipFill>
        <p:spPr>
          <a:xfrm>
            <a:off x="2527300" y="1719122"/>
            <a:ext cx="1854200" cy="584200"/>
          </a:xfrm>
          <a:prstGeom prst="rect">
            <a:avLst/>
          </a:prstGeom>
        </p:spPr>
      </p:pic>
      <p:pic>
        <p:nvPicPr>
          <p:cNvPr id="13" name="Picture 12">
            <a:extLst>
              <a:ext uri="{FF2B5EF4-FFF2-40B4-BE49-F238E27FC236}">
                <a16:creationId xmlns:a16="http://schemas.microsoft.com/office/drawing/2014/main" id="{1B96069A-D561-62CC-5F28-70A8849DBF06}"/>
              </a:ext>
            </a:extLst>
          </p:cNvPr>
          <p:cNvPicPr>
            <a:picLocks noChangeAspect="1"/>
          </p:cNvPicPr>
          <p:nvPr/>
        </p:nvPicPr>
        <p:blipFill>
          <a:blip r:embed="rId5"/>
          <a:stretch>
            <a:fillRect/>
          </a:stretch>
        </p:blipFill>
        <p:spPr>
          <a:xfrm>
            <a:off x="419691" y="2303322"/>
            <a:ext cx="599300" cy="1245913"/>
          </a:xfrm>
          <a:prstGeom prst="rect">
            <a:avLst/>
          </a:prstGeom>
        </p:spPr>
      </p:pic>
      <p:pic>
        <p:nvPicPr>
          <p:cNvPr id="14" name="Picture 13">
            <a:extLst>
              <a:ext uri="{FF2B5EF4-FFF2-40B4-BE49-F238E27FC236}">
                <a16:creationId xmlns:a16="http://schemas.microsoft.com/office/drawing/2014/main" id="{6CF7070C-D36A-341C-9F17-8AE5D488E892}"/>
              </a:ext>
            </a:extLst>
          </p:cNvPr>
          <p:cNvPicPr>
            <a:picLocks noChangeAspect="1"/>
          </p:cNvPicPr>
          <p:nvPr/>
        </p:nvPicPr>
        <p:blipFill>
          <a:blip r:embed="rId6"/>
          <a:stretch>
            <a:fillRect/>
          </a:stretch>
        </p:blipFill>
        <p:spPr>
          <a:xfrm>
            <a:off x="6374310" y="2061925"/>
            <a:ext cx="4680760" cy="4345921"/>
          </a:xfrm>
          <a:prstGeom prst="rect">
            <a:avLst/>
          </a:prstGeom>
        </p:spPr>
      </p:pic>
      <p:pic>
        <p:nvPicPr>
          <p:cNvPr id="15" name="Picture 14">
            <a:extLst>
              <a:ext uri="{FF2B5EF4-FFF2-40B4-BE49-F238E27FC236}">
                <a16:creationId xmlns:a16="http://schemas.microsoft.com/office/drawing/2014/main" id="{5C8BF1C9-9B44-840F-9776-24294F86CE8B}"/>
              </a:ext>
            </a:extLst>
          </p:cNvPr>
          <p:cNvPicPr>
            <a:picLocks noChangeAspect="1"/>
          </p:cNvPicPr>
          <p:nvPr/>
        </p:nvPicPr>
        <p:blipFill>
          <a:blip r:embed="rId7"/>
          <a:stretch>
            <a:fillRect/>
          </a:stretch>
        </p:blipFill>
        <p:spPr>
          <a:xfrm>
            <a:off x="5786042" y="2061925"/>
            <a:ext cx="609530" cy="1170940"/>
          </a:xfrm>
          <a:prstGeom prst="rect">
            <a:avLst/>
          </a:prstGeom>
        </p:spPr>
      </p:pic>
    </p:spTree>
    <p:extLst>
      <p:ext uri="{BB962C8B-B14F-4D97-AF65-F5344CB8AC3E}">
        <p14:creationId xmlns:p14="http://schemas.microsoft.com/office/powerpoint/2010/main" val="1762156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0D96C-0A0F-74AE-FF27-26870F303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40807-B7CD-8859-D3B9-CE2623B257D7}"/>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9287EC07-D94A-CD54-A8B2-62E903D7210A}"/>
              </a:ext>
            </a:extLst>
          </p:cNvPr>
          <p:cNvSpPr>
            <a:spLocks noGrp="1"/>
          </p:cNvSpPr>
          <p:nvPr>
            <p:ph idx="1"/>
          </p:nvPr>
        </p:nvSpPr>
        <p:spPr>
          <a:xfrm>
            <a:off x="109982" y="1032481"/>
            <a:ext cx="11922474" cy="4088159"/>
          </a:xfrm>
        </p:spPr>
        <p:txBody>
          <a:bodyPr>
            <a:normAutofit/>
          </a:bodyPr>
          <a:lstStyle/>
          <a:p>
            <a:pPr marL="57150" indent="0">
              <a:buNone/>
            </a:pPr>
            <a:r>
              <a:rPr lang="en-US" sz="2000" dirty="0"/>
              <a:t>After that, I check the track quality variables:</a:t>
            </a:r>
          </a:p>
          <a:p>
            <a:pPr marL="400050">
              <a:buFontTx/>
              <a:buChar char="-"/>
            </a:pPr>
            <a:r>
              <a:rPr lang="en-US" sz="2000" dirty="0"/>
              <a:t>For low momentum </a:t>
            </a:r>
            <a:r>
              <a:rPr lang="en-US" sz="2000" dirty="0" err="1"/>
              <a:t>pions</a:t>
            </a:r>
            <a:r>
              <a:rPr lang="en-US" sz="2000" dirty="0"/>
              <a:t> (blue)</a:t>
            </a:r>
          </a:p>
          <a:p>
            <a:pPr marL="400050">
              <a:buFontTx/>
              <a:buChar char="-"/>
            </a:pPr>
            <a:r>
              <a:rPr lang="en-US" sz="2000" dirty="0"/>
              <a:t>For high momentum </a:t>
            </a:r>
            <a:r>
              <a:rPr lang="en-US" sz="2000" dirty="0" err="1"/>
              <a:t>pions</a:t>
            </a:r>
            <a:r>
              <a:rPr lang="en-US" sz="2000" dirty="0"/>
              <a:t> (red) </a:t>
            </a:r>
          </a:p>
          <a:p>
            <a:pPr marL="57150" indent="0">
              <a:buNone/>
            </a:pPr>
            <a:r>
              <a:rPr lang="en-US" sz="2000" dirty="0"/>
              <a:t> </a:t>
            </a:r>
          </a:p>
          <a:p>
            <a:pPr marL="400050">
              <a:buFontTx/>
              <a:buChar char="-"/>
            </a:pP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1B6C51D1-D6DE-7D1A-0890-604F3EE47AFD}"/>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37B5DF7F-68D0-A1A0-5F4D-279B23D18995}"/>
              </a:ext>
            </a:extLst>
          </p:cNvPr>
          <p:cNvSpPr>
            <a:spLocks noGrp="1"/>
          </p:cNvSpPr>
          <p:nvPr>
            <p:ph type="sldNum" sz="quarter" idx="12"/>
          </p:nvPr>
        </p:nvSpPr>
        <p:spPr/>
        <p:txBody>
          <a:bodyPr/>
          <a:lstStyle/>
          <a:p>
            <a:fld id="{C5EF2332-01BF-834F-8236-50238282D533}" type="slidenum">
              <a:rPr lang="en-US" smtClean="0"/>
              <a:t>7</a:t>
            </a:fld>
            <a:endParaRPr lang="en-US"/>
          </a:p>
        </p:txBody>
      </p:sp>
      <p:sp>
        <p:nvSpPr>
          <p:cNvPr id="5" name="Footer Placeholder 4">
            <a:extLst>
              <a:ext uri="{FF2B5EF4-FFF2-40B4-BE49-F238E27FC236}">
                <a16:creationId xmlns:a16="http://schemas.microsoft.com/office/drawing/2014/main" id="{26E53B5B-A298-B669-BD20-50A91D01653B}"/>
              </a:ext>
            </a:extLst>
          </p:cNvPr>
          <p:cNvSpPr>
            <a:spLocks noGrp="1"/>
          </p:cNvSpPr>
          <p:nvPr>
            <p:ph type="ftr" sz="quarter" idx="11"/>
          </p:nvPr>
        </p:nvSpPr>
        <p:spPr/>
        <p:txBody>
          <a:bodyPr/>
          <a:lstStyle/>
          <a:p>
            <a:r>
              <a:rPr lang="en-US"/>
              <a:t>Group meeting</a:t>
            </a:r>
          </a:p>
        </p:txBody>
      </p:sp>
      <p:pic>
        <p:nvPicPr>
          <p:cNvPr id="8" name="Picture 7">
            <a:extLst>
              <a:ext uri="{FF2B5EF4-FFF2-40B4-BE49-F238E27FC236}">
                <a16:creationId xmlns:a16="http://schemas.microsoft.com/office/drawing/2014/main" id="{9781D396-9965-A46C-FE25-37EB84649028}"/>
              </a:ext>
            </a:extLst>
          </p:cNvPr>
          <p:cNvPicPr>
            <a:picLocks noChangeAspect="1"/>
          </p:cNvPicPr>
          <p:nvPr/>
        </p:nvPicPr>
        <p:blipFill>
          <a:blip r:embed="rId2"/>
          <a:stretch>
            <a:fillRect/>
          </a:stretch>
        </p:blipFill>
        <p:spPr>
          <a:xfrm>
            <a:off x="6395572" y="1171773"/>
            <a:ext cx="5729543" cy="4514454"/>
          </a:xfrm>
          <a:prstGeom prst="rect">
            <a:avLst/>
          </a:prstGeom>
        </p:spPr>
      </p:pic>
      <p:pic>
        <p:nvPicPr>
          <p:cNvPr id="10" name="Picture 9">
            <a:extLst>
              <a:ext uri="{FF2B5EF4-FFF2-40B4-BE49-F238E27FC236}">
                <a16:creationId xmlns:a16="http://schemas.microsoft.com/office/drawing/2014/main" id="{7F23B337-BFDE-6856-2009-2A1A5EA1CF76}"/>
              </a:ext>
            </a:extLst>
          </p:cNvPr>
          <p:cNvPicPr>
            <a:picLocks noChangeAspect="1"/>
          </p:cNvPicPr>
          <p:nvPr/>
        </p:nvPicPr>
        <p:blipFill>
          <a:blip r:embed="rId3"/>
          <a:stretch>
            <a:fillRect/>
          </a:stretch>
        </p:blipFill>
        <p:spPr>
          <a:xfrm>
            <a:off x="215392" y="2262303"/>
            <a:ext cx="5880608" cy="4015209"/>
          </a:xfrm>
          <a:prstGeom prst="rect">
            <a:avLst/>
          </a:prstGeom>
        </p:spPr>
      </p:pic>
    </p:spTree>
    <p:extLst>
      <p:ext uri="{BB962C8B-B14F-4D97-AF65-F5344CB8AC3E}">
        <p14:creationId xmlns:p14="http://schemas.microsoft.com/office/powerpoint/2010/main" val="260845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25D87-2BD3-3A44-D1DB-4D09D7F49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0C357-2477-DA58-85BD-6FBEA7BEEDC3}"/>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0558ECFD-31AE-3943-35D5-F775F5EE1CF5}"/>
              </a:ext>
            </a:extLst>
          </p:cNvPr>
          <p:cNvSpPr>
            <a:spLocks noGrp="1"/>
          </p:cNvSpPr>
          <p:nvPr>
            <p:ph idx="1"/>
          </p:nvPr>
        </p:nvSpPr>
        <p:spPr>
          <a:xfrm>
            <a:off x="109982" y="1032481"/>
            <a:ext cx="11922474" cy="4088159"/>
          </a:xfrm>
        </p:spPr>
        <p:txBody>
          <a:bodyPr>
            <a:normAutofit/>
          </a:bodyPr>
          <a:lstStyle/>
          <a:p>
            <a:pPr marL="57150" indent="0">
              <a:buNone/>
            </a:pPr>
            <a:r>
              <a:rPr lang="en-US" sz="2000" dirty="0"/>
              <a:t>After that, I check the track quality variables:</a:t>
            </a:r>
          </a:p>
          <a:p>
            <a:pPr marL="400050">
              <a:buFontTx/>
              <a:buChar char="-"/>
            </a:pPr>
            <a:r>
              <a:rPr lang="en-US" sz="2000" dirty="0"/>
              <a:t>For low momentum </a:t>
            </a:r>
            <a:r>
              <a:rPr lang="en-US" sz="2000" dirty="0" err="1"/>
              <a:t>pions</a:t>
            </a:r>
            <a:r>
              <a:rPr lang="en-US" sz="2000" dirty="0"/>
              <a:t> (blue)</a:t>
            </a:r>
          </a:p>
          <a:p>
            <a:pPr marL="400050">
              <a:buFontTx/>
              <a:buChar char="-"/>
            </a:pPr>
            <a:r>
              <a:rPr lang="en-US" sz="2000" dirty="0"/>
              <a:t>For high momentum </a:t>
            </a:r>
            <a:r>
              <a:rPr lang="en-US" sz="2000" dirty="0" err="1"/>
              <a:t>pions</a:t>
            </a:r>
            <a:r>
              <a:rPr lang="en-US" sz="2000" dirty="0"/>
              <a:t> (red) </a:t>
            </a:r>
          </a:p>
          <a:p>
            <a:pPr marL="57150" indent="0">
              <a:buNone/>
            </a:pPr>
            <a:r>
              <a:rPr lang="en-US" sz="2000" dirty="0"/>
              <a:t> </a:t>
            </a:r>
          </a:p>
          <a:p>
            <a:pPr marL="400050">
              <a:buFontTx/>
              <a:buChar char="-"/>
            </a:pP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9F60022F-3FC5-04B7-F8F6-FFC7A4C9A850}"/>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358982D5-FD60-3A77-6692-0C33630403CD}"/>
              </a:ext>
            </a:extLst>
          </p:cNvPr>
          <p:cNvSpPr>
            <a:spLocks noGrp="1"/>
          </p:cNvSpPr>
          <p:nvPr>
            <p:ph type="sldNum" sz="quarter" idx="12"/>
          </p:nvPr>
        </p:nvSpPr>
        <p:spPr/>
        <p:txBody>
          <a:bodyPr/>
          <a:lstStyle/>
          <a:p>
            <a:fld id="{C5EF2332-01BF-834F-8236-50238282D533}" type="slidenum">
              <a:rPr lang="en-US" smtClean="0"/>
              <a:t>8</a:t>
            </a:fld>
            <a:endParaRPr lang="en-US"/>
          </a:p>
        </p:txBody>
      </p:sp>
      <p:sp>
        <p:nvSpPr>
          <p:cNvPr id="5" name="Footer Placeholder 4">
            <a:extLst>
              <a:ext uri="{FF2B5EF4-FFF2-40B4-BE49-F238E27FC236}">
                <a16:creationId xmlns:a16="http://schemas.microsoft.com/office/drawing/2014/main" id="{FE6E0B91-DB0C-9668-D506-2DA1C3ACA6C1}"/>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6412C465-C3D5-3F60-4058-8E208B0C541B}"/>
              </a:ext>
            </a:extLst>
          </p:cNvPr>
          <p:cNvPicPr>
            <a:picLocks noChangeAspect="1"/>
          </p:cNvPicPr>
          <p:nvPr/>
        </p:nvPicPr>
        <p:blipFill>
          <a:blip r:embed="rId2"/>
          <a:stretch>
            <a:fillRect/>
          </a:stretch>
        </p:blipFill>
        <p:spPr>
          <a:xfrm>
            <a:off x="7359741" y="16635"/>
            <a:ext cx="4672715" cy="6858000"/>
          </a:xfrm>
          <a:prstGeom prst="rect">
            <a:avLst/>
          </a:prstGeom>
        </p:spPr>
      </p:pic>
      <p:pic>
        <p:nvPicPr>
          <p:cNvPr id="9" name="Picture 8">
            <a:extLst>
              <a:ext uri="{FF2B5EF4-FFF2-40B4-BE49-F238E27FC236}">
                <a16:creationId xmlns:a16="http://schemas.microsoft.com/office/drawing/2014/main" id="{B7130F8F-37FC-09BB-EDD5-DF9A04E7F3D6}"/>
              </a:ext>
            </a:extLst>
          </p:cNvPr>
          <p:cNvPicPr>
            <a:picLocks noChangeAspect="1"/>
          </p:cNvPicPr>
          <p:nvPr/>
        </p:nvPicPr>
        <p:blipFill>
          <a:blip r:embed="rId3"/>
          <a:stretch>
            <a:fillRect/>
          </a:stretch>
        </p:blipFill>
        <p:spPr>
          <a:xfrm>
            <a:off x="1118613" y="2251433"/>
            <a:ext cx="5410994" cy="3915533"/>
          </a:xfrm>
          <a:prstGeom prst="rect">
            <a:avLst/>
          </a:prstGeom>
        </p:spPr>
      </p:pic>
    </p:spTree>
    <p:extLst>
      <p:ext uri="{BB962C8B-B14F-4D97-AF65-F5344CB8AC3E}">
        <p14:creationId xmlns:p14="http://schemas.microsoft.com/office/powerpoint/2010/main" val="2549934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59852-EB51-5B0C-8C0A-A6D7F3790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58B52-0C2C-912A-71B6-CD200BAF078A}"/>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8CCD0592-CDE8-818B-00E4-23E12CD4075F}"/>
              </a:ext>
            </a:extLst>
          </p:cNvPr>
          <p:cNvSpPr>
            <a:spLocks noGrp="1"/>
          </p:cNvSpPr>
          <p:nvPr>
            <p:ph idx="1"/>
          </p:nvPr>
        </p:nvSpPr>
        <p:spPr>
          <a:xfrm>
            <a:off x="109982" y="1032481"/>
            <a:ext cx="11922474" cy="4088159"/>
          </a:xfrm>
        </p:spPr>
        <p:txBody>
          <a:bodyPr>
            <a:normAutofit/>
          </a:bodyPr>
          <a:lstStyle/>
          <a:p>
            <a:pPr marL="57150" indent="0">
              <a:buNone/>
            </a:pPr>
            <a:r>
              <a:rPr lang="en-US" sz="2000" dirty="0"/>
              <a:t>After that, I check the track quality variables:</a:t>
            </a:r>
          </a:p>
          <a:p>
            <a:pPr marL="400050">
              <a:buFontTx/>
              <a:buChar char="-"/>
            </a:pPr>
            <a:r>
              <a:rPr lang="en-US" sz="2000" dirty="0"/>
              <a:t>For low momentum </a:t>
            </a:r>
            <a:r>
              <a:rPr lang="en-US" sz="2000" dirty="0" err="1"/>
              <a:t>pions</a:t>
            </a:r>
            <a:r>
              <a:rPr lang="en-US" sz="2000" dirty="0"/>
              <a:t> (blue)</a:t>
            </a:r>
          </a:p>
          <a:p>
            <a:pPr marL="400050">
              <a:buFontTx/>
              <a:buChar char="-"/>
            </a:pPr>
            <a:r>
              <a:rPr lang="en-US" sz="2000" dirty="0"/>
              <a:t>For high momentum </a:t>
            </a:r>
            <a:r>
              <a:rPr lang="en-US" sz="2000" dirty="0" err="1"/>
              <a:t>pions</a:t>
            </a:r>
            <a:r>
              <a:rPr lang="en-US" sz="2000" dirty="0"/>
              <a:t> (red) </a:t>
            </a:r>
          </a:p>
          <a:p>
            <a:pPr marL="57150" indent="0">
              <a:buNone/>
            </a:pPr>
            <a:r>
              <a:rPr lang="en-US" sz="2000" dirty="0"/>
              <a:t> </a:t>
            </a:r>
          </a:p>
          <a:p>
            <a:pPr marL="400050">
              <a:buFontTx/>
              <a:buChar char="-"/>
            </a:pP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D28EEE94-C823-1EA8-8AEF-B73920B52F02}"/>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48591B69-E89B-3011-C7DC-81B6787DFAB6}"/>
              </a:ext>
            </a:extLst>
          </p:cNvPr>
          <p:cNvSpPr>
            <a:spLocks noGrp="1"/>
          </p:cNvSpPr>
          <p:nvPr>
            <p:ph type="sldNum" sz="quarter" idx="12"/>
          </p:nvPr>
        </p:nvSpPr>
        <p:spPr/>
        <p:txBody>
          <a:bodyPr/>
          <a:lstStyle/>
          <a:p>
            <a:fld id="{C5EF2332-01BF-834F-8236-50238282D533}" type="slidenum">
              <a:rPr lang="en-US" smtClean="0"/>
              <a:t>9</a:t>
            </a:fld>
            <a:endParaRPr lang="en-US"/>
          </a:p>
        </p:txBody>
      </p:sp>
      <p:sp>
        <p:nvSpPr>
          <p:cNvPr id="5" name="Footer Placeholder 4">
            <a:extLst>
              <a:ext uri="{FF2B5EF4-FFF2-40B4-BE49-F238E27FC236}">
                <a16:creationId xmlns:a16="http://schemas.microsoft.com/office/drawing/2014/main" id="{1807D061-8741-2810-506D-46EE72511B39}"/>
              </a:ext>
            </a:extLst>
          </p:cNvPr>
          <p:cNvSpPr>
            <a:spLocks noGrp="1"/>
          </p:cNvSpPr>
          <p:nvPr>
            <p:ph type="ftr" sz="quarter" idx="11"/>
          </p:nvPr>
        </p:nvSpPr>
        <p:spPr/>
        <p:txBody>
          <a:bodyPr/>
          <a:lstStyle/>
          <a:p>
            <a:r>
              <a:rPr lang="en-US"/>
              <a:t>Group meeting</a:t>
            </a:r>
          </a:p>
        </p:txBody>
      </p:sp>
      <p:pic>
        <p:nvPicPr>
          <p:cNvPr id="8" name="Picture 7">
            <a:extLst>
              <a:ext uri="{FF2B5EF4-FFF2-40B4-BE49-F238E27FC236}">
                <a16:creationId xmlns:a16="http://schemas.microsoft.com/office/drawing/2014/main" id="{D2EF1A20-85C0-913A-FC3E-2FCE0B9DD3D6}"/>
              </a:ext>
            </a:extLst>
          </p:cNvPr>
          <p:cNvPicPr>
            <a:picLocks noChangeAspect="1"/>
          </p:cNvPicPr>
          <p:nvPr/>
        </p:nvPicPr>
        <p:blipFill>
          <a:blip r:embed="rId2"/>
          <a:stretch>
            <a:fillRect/>
          </a:stretch>
        </p:blipFill>
        <p:spPr>
          <a:xfrm>
            <a:off x="7475476" y="167640"/>
            <a:ext cx="4391870" cy="6111240"/>
          </a:xfrm>
          <a:prstGeom prst="rect">
            <a:avLst/>
          </a:prstGeom>
        </p:spPr>
      </p:pic>
      <p:pic>
        <p:nvPicPr>
          <p:cNvPr id="10" name="Picture 9">
            <a:extLst>
              <a:ext uri="{FF2B5EF4-FFF2-40B4-BE49-F238E27FC236}">
                <a16:creationId xmlns:a16="http://schemas.microsoft.com/office/drawing/2014/main" id="{582338F7-02A4-2B20-5838-AFC5E2376A42}"/>
              </a:ext>
            </a:extLst>
          </p:cNvPr>
          <p:cNvPicPr>
            <a:picLocks noChangeAspect="1"/>
          </p:cNvPicPr>
          <p:nvPr/>
        </p:nvPicPr>
        <p:blipFill>
          <a:blip r:embed="rId3"/>
          <a:stretch>
            <a:fillRect/>
          </a:stretch>
        </p:blipFill>
        <p:spPr>
          <a:xfrm>
            <a:off x="2002307" y="2522219"/>
            <a:ext cx="5428435" cy="3674511"/>
          </a:xfrm>
          <a:prstGeom prst="rect">
            <a:avLst/>
          </a:prstGeom>
        </p:spPr>
      </p:pic>
    </p:spTree>
    <p:extLst>
      <p:ext uri="{BB962C8B-B14F-4D97-AF65-F5344CB8AC3E}">
        <p14:creationId xmlns:p14="http://schemas.microsoft.com/office/powerpoint/2010/main" val="968840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BE5B4-BC3D-F5AF-4233-9207E45D3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28487-741F-FCA8-EC83-FC759F05391F}"/>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283572F5-0BC5-ED2D-70B0-399C6324FE75}"/>
              </a:ext>
            </a:extLst>
          </p:cNvPr>
          <p:cNvSpPr>
            <a:spLocks noGrp="1"/>
          </p:cNvSpPr>
          <p:nvPr>
            <p:ph idx="1"/>
          </p:nvPr>
        </p:nvSpPr>
        <p:spPr>
          <a:xfrm>
            <a:off x="109982" y="1032481"/>
            <a:ext cx="11922474" cy="4088159"/>
          </a:xfrm>
        </p:spPr>
        <p:txBody>
          <a:bodyPr>
            <a:normAutofit/>
          </a:bodyPr>
          <a:lstStyle/>
          <a:p>
            <a:pPr marL="57150" indent="0">
              <a:buNone/>
            </a:pPr>
            <a:r>
              <a:rPr lang="en-US" sz="2000" dirty="0"/>
              <a:t>After that, I check the track quality variables:</a:t>
            </a:r>
          </a:p>
          <a:p>
            <a:pPr marL="400050">
              <a:buFontTx/>
              <a:buChar char="-"/>
            </a:pPr>
            <a:r>
              <a:rPr lang="en-US" sz="2000" dirty="0"/>
              <a:t>For low momentum </a:t>
            </a:r>
            <a:r>
              <a:rPr lang="en-US" sz="2000" dirty="0" err="1"/>
              <a:t>pions</a:t>
            </a:r>
            <a:r>
              <a:rPr lang="en-US" sz="2000" dirty="0"/>
              <a:t> (blue)</a:t>
            </a:r>
          </a:p>
          <a:p>
            <a:pPr marL="400050">
              <a:buFontTx/>
              <a:buChar char="-"/>
            </a:pPr>
            <a:r>
              <a:rPr lang="en-US" sz="2000" dirty="0"/>
              <a:t>For high momentum </a:t>
            </a:r>
            <a:r>
              <a:rPr lang="en-US" sz="2000" dirty="0" err="1"/>
              <a:t>pions</a:t>
            </a:r>
            <a:r>
              <a:rPr lang="en-US" sz="2000" dirty="0"/>
              <a:t> (red) </a:t>
            </a:r>
          </a:p>
          <a:p>
            <a:pPr marL="400050">
              <a:buFontTx/>
              <a:buChar char="-"/>
            </a:pPr>
            <a:r>
              <a:rPr lang="en-US" sz="2000" dirty="0"/>
              <a:t>Can also look at the covariance matrix generated by the Kalman Filter</a:t>
            </a:r>
          </a:p>
          <a:p>
            <a:pPr marL="400050">
              <a:buFontTx/>
              <a:buChar char="-"/>
            </a:pP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51225B02-7E78-976B-21E8-C90988A3CB41}"/>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5F94D5C9-A3A2-E628-6A2C-6B1BBE8E3F32}"/>
              </a:ext>
            </a:extLst>
          </p:cNvPr>
          <p:cNvSpPr>
            <a:spLocks noGrp="1"/>
          </p:cNvSpPr>
          <p:nvPr>
            <p:ph type="sldNum" sz="quarter" idx="12"/>
          </p:nvPr>
        </p:nvSpPr>
        <p:spPr/>
        <p:txBody>
          <a:bodyPr/>
          <a:lstStyle/>
          <a:p>
            <a:fld id="{C5EF2332-01BF-834F-8236-50238282D533}" type="slidenum">
              <a:rPr lang="en-US" smtClean="0"/>
              <a:t>10</a:t>
            </a:fld>
            <a:endParaRPr lang="en-US"/>
          </a:p>
        </p:txBody>
      </p:sp>
      <p:sp>
        <p:nvSpPr>
          <p:cNvPr id="5" name="Footer Placeholder 4">
            <a:extLst>
              <a:ext uri="{FF2B5EF4-FFF2-40B4-BE49-F238E27FC236}">
                <a16:creationId xmlns:a16="http://schemas.microsoft.com/office/drawing/2014/main" id="{58D6BE97-4AC0-CE49-E1A4-AFA529E92491}"/>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93CAE282-E61B-2262-04E4-1E00EF04A2CF}"/>
              </a:ext>
            </a:extLst>
          </p:cNvPr>
          <p:cNvPicPr>
            <a:picLocks noChangeAspect="1"/>
          </p:cNvPicPr>
          <p:nvPr/>
        </p:nvPicPr>
        <p:blipFill>
          <a:blip r:embed="rId2"/>
          <a:stretch>
            <a:fillRect/>
          </a:stretch>
        </p:blipFill>
        <p:spPr>
          <a:xfrm>
            <a:off x="8773153" y="0"/>
            <a:ext cx="3387934" cy="6858000"/>
          </a:xfrm>
          <a:prstGeom prst="rect">
            <a:avLst/>
          </a:prstGeom>
        </p:spPr>
      </p:pic>
      <p:pic>
        <p:nvPicPr>
          <p:cNvPr id="9" name="Picture 8">
            <a:extLst>
              <a:ext uri="{FF2B5EF4-FFF2-40B4-BE49-F238E27FC236}">
                <a16:creationId xmlns:a16="http://schemas.microsoft.com/office/drawing/2014/main" id="{2CF66D28-2919-3814-5C75-9B7FBEA81371}"/>
              </a:ext>
            </a:extLst>
          </p:cNvPr>
          <p:cNvPicPr>
            <a:picLocks noChangeAspect="1"/>
          </p:cNvPicPr>
          <p:nvPr/>
        </p:nvPicPr>
        <p:blipFill>
          <a:blip r:embed="rId3"/>
          <a:stretch>
            <a:fillRect/>
          </a:stretch>
        </p:blipFill>
        <p:spPr>
          <a:xfrm>
            <a:off x="159544" y="2858880"/>
            <a:ext cx="4311256" cy="3058188"/>
          </a:xfrm>
          <a:prstGeom prst="rect">
            <a:avLst/>
          </a:prstGeom>
        </p:spPr>
      </p:pic>
      <p:pic>
        <p:nvPicPr>
          <p:cNvPr id="12" name="Picture 11">
            <a:extLst>
              <a:ext uri="{FF2B5EF4-FFF2-40B4-BE49-F238E27FC236}">
                <a16:creationId xmlns:a16="http://schemas.microsoft.com/office/drawing/2014/main" id="{434A599A-81A9-244F-3268-2C5A7CB5B124}"/>
              </a:ext>
            </a:extLst>
          </p:cNvPr>
          <p:cNvPicPr>
            <a:picLocks noChangeAspect="1"/>
          </p:cNvPicPr>
          <p:nvPr/>
        </p:nvPicPr>
        <p:blipFill>
          <a:blip r:embed="rId4"/>
          <a:stretch>
            <a:fillRect/>
          </a:stretch>
        </p:blipFill>
        <p:spPr>
          <a:xfrm>
            <a:off x="4470800" y="2858879"/>
            <a:ext cx="4110566" cy="3058189"/>
          </a:xfrm>
          <a:prstGeom prst="rect">
            <a:avLst/>
          </a:prstGeom>
        </p:spPr>
      </p:pic>
    </p:spTree>
    <p:extLst>
      <p:ext uri="{BB962C8B-B14F-4D97-AF65-F5344CB8AC3E}">
        <p14:creationId xmlns:p14="http://schemas.microsoft.com/office/powerpoint/2010/main" val="554748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11392-BB43-442B-3C70-177E6EE76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211F5-C682-42E0-4492-6316F06C16A1}"/>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44089AB8-69F9-B359-1236-449E76B82526}"/>
              </a:ext>
            </a:extLst>
          </p:cNvPr>
          <p:cNvSpPr>
            <a:spLocks noGrp="1"/>
          </p:cNvSpPr>
          <p:nvPr>
            <p:ph idx="1"/>
          </p:nvPr>
        </p:nvSpPr>
        <p:spPr>
          <a:xfrm>
            <a:off x="109982" y="1032481"/>
            <a:ext cx="11922474" cy="4088159"/>
          </a:xfrm>
        </p:spPr>
        <p:txBody>
          <a:bodyPr>
            <a:normAutofit/>
          </a:bodyPr>
          <a:lstStyle/>
          <a:p>
            <a:pPr marL="57150" indent="0">
              <a:buNone/>
            </a:pPr>
            <a:r>
              <a:rPr lang="en-US" sz="2000" dirty="0"/>
              <a:t>After that, I check the track quality variables:</a:t>
            </a:r>
          </a:p>
          <a:p>
            <a:pPr marL="400050">
              <a:buFontTx/>
              <a:buChar char="-"/>
            </a:pPr>
            <a:r>
              <a:rPr lang="en-US" sz="2000" dirty="0"/>
              <a:t>For low momentum </a:t>
            </a:r>
            <a:r>
              <a:rPr lang="en-US" sz="2000" dirty="0" err="1"/>
              <a:t>pions</a:t>
            </a:r>
            <a:r>
              <a:rPr lang="en-US" sz="2000" dirty="0"/>
              <a:t> (blue)</a:t>
            </a:r>
          </a:p>
          <a:p>
            <a:pPr marL="400050">
              <a:buFontTx/>
              <a:buChar char="-"/>
            </a:pPr>
            <a:r>
              <a:rPr lang="en-US" sz="2000" dirty="0"/>
              <a:t>For high momentum </a:t>
            </a:r>
            <a:r>
              <a:rPr lang="en-US" sz="2000" dirty="0" err="1"/>
              <a:t>pions</a:t>
            </a:r>
            <a:r>
              <a:rPr lang="en-US" sz="2000" dirty="0"/>
              <a:t> (red) </a:t>
            </a: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64B92C00-8AC0-931D-90A2-DD476B207FEA}"/>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A60683F5-5842-E8D9-56BC-A7AE6F2481B5}"/>
              </a:ext>
            </a:extLst>
          </p:cNvPr>
          <p:cNvSpPr>
            <a:spLocks noGrp="1"/>
          </p:cNvSpPr>
          <p:nvPr>
            <p:ph type="sldNum" sz="quarter" idx="12"/>
          </p:nvPr>
        </p:nvSpPr>
        <p:spPr/>
        <p:txBody>
          <a:bodyPr/>
          <a:lstStyle/>
          <a:p>
            <a:fld id="{C5EF2332-01BF-834F-8236-50238282D533}" type="slidenum">
              <a:rPr lang="en-US" smtClean="0"/>
              <a:t>11</a:t>
            </a:fld>
            <a:endParaRPr lang="en-US"/>
          </a:p>
        </p:txBody>
      </p:sp>
      <p:sp>
        <p:nvSpPr>
          <p:cNvPr id="5" name="Footer Placeholder 4">
            <a:extLst>
              <a:ext uri="{FF2B5EF4-FFF2-40B4-BE49-F238E27FC236}">
                <a16:creationId xmlns:a16="http://schemas.microsoft.com/office/drawing/2014/main" id="{29C7C36B-DBA6-B48A-5385-5E8D62DF10DC}"/>
              </a:ext>
            </a:extLst>
          </p:cNvPr>
          <p:cNvSpPr>
            <a:spLocks noGrp="1"/>
          </p:cNvSpPr>
          <p:nvPr>
            <p:ph type="ftr" sz="quarter" idx="11"/>
          </p:nvPr>
        </p:nvSpPr>
        <p:spPr/>
        <p:txBody>
          <a:bodyPr/>
          <a:lstStyle/>
          <a:p>
            <a:r>
              <a:rPr lang="en-US"/>
              <a:t>Group meeting</a:t>
            </a:r>
          </a:p>
        </p:txBody>
      </p:sp>
      <p:pic>
        <p:nvPicPr>
          <p:cNvPr id="8" name="Picture 7">
            <a:extLst>
              <a:ext uri="{FF2B5EF4-FFF2-40B4-BE49-F238E27FC236}">
                <a16:creationId xmlns:a16="http://schemas.microsoft.com/office/drawing/2014/main" id="{4B7A3CA5-592E-4518-6933-0B6B0D6F56FE}"/>
              </a:ext>
            </a:extLst>
          </p:cNvPr>
          <p:cNvPicPr>
            <a:picLocks noChangeAspect="1"/>
          </p:cNvPicPr>
          <p:nvPr/>
        </p:nvPicPr>
        <p:blipFill>
          <a:blip r:embed="rId2"/>
          <a:stretch>
            <a:fillRect/>
          </a:stretch>
        </p:blipFill>
        <p:spPr>
          <a:xfrm>
            <a:off x="4255475" y="1454025"/>
            <a:ext cx="3631487" cy="5059680"/>
          </a:xfrm>
          <a:prstGeom prst="rect">
            <a:avLst/>
          </a:prstGeom>
        </p:spPr>
      </p:pic>
      <p:pic>
        <p:nvPicPr>
          <p:cNvPr id="10" name="Picture 9">
            <a:extLst>
              <a:ext uri="{FF2B5EF4-FFF2-40B4-BE49-F238E27FC236}">
                <a16:creationId xmlns:a16="http://schemas.microsoft.com/office/drawing/2014/main" id="{C7FF1EDA-FBFE-8BFE-33A7-8D485DF5D927}"/>
              </a:ext>
            </a:extLst>
          </p:cNvPr>
          <p:cNvPicPr>
            <a:picLocks noChangeAspect="1"/>
          </p:cNvPicPr>
          <p:nvPr/>
        </p:nvPicPr>
        <p:blipFill>
          <a:blip r:embed="rId3"/>
          <a:stretch>
            <a:fillRect/>
          </a:stretch>
        </p:blipFill>
        <p:spPr>
          <a:xfrm>
            <a:off x="7890037" y="928245"/>
            <a:ext cx="4191981" cy="5943600"/>
          </a:xfrm>
          <a:prstGeom prst="rect">
            <a:avLst/>
          </a:prstGeom>
        </p:spPr>
      </p:pic>
    </p:spTree>
    <p:extLst>
      <p:ext uri="{BB962C8B-B14F-4D97-AF65-F5344CB8AC3E}">
        <p14:creationId xmlns:p14="http://schemas.microsoft.com/office/powerpoint/2010/main" val="3458718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CD9FA-A19F-640B-3980-18468E751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4C4C6-C30B-7164-BE9B-E3D70B4D7819}"/>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EC1E97E3-01CC-313D-6195-735F425FB695}"/>
              </a:ext>
            </a:extLst>
          </p:cNvPr>
          <p:cNvSpPr>
            <a:spLocks noGrp="1"/>
          </p:cNvSpPr>
          <p:nvPr>
            <p:ph idx="1"/>
          </p:nvPr>
        </p:nvSpPr>
        <p:spPr>
          <a:xfrm>
            <a:off x="109982" y="1032481"/>
            <a:ext cx="4987798" cy="4088159"/>
          </a:xfrm>
        </p:spPr>
        <p:txBody>
          <a:bodyPr>
            <a:normAutofit/>
          </a:bodyPr>
          <a:lstStyle/>
          <a:p>
            <a:pPr marL="57150" indent="0">
              <a:buNone/>
            </a:pPr>
            <a:r>
              <a:rPr lang="en-US" sz="2000" dirty="0"/>
              <a:t>After that, I check the track quality variables:</a:t>
            </a:r>
          </a:p>
          <a:p>
            <a:pPr marL="400050">
              <a:buFontTx/>
              <a:buChar char="-"/>
            </a:pPr>
            <a:r>
              <a:rPr lang="en-US" sz="2000" dirty="0"/>
              <a:t>For low momentum </a:t>
            </a:r>
            <a:r>
              <a:rPr lang="en-US" sz="2000" dirty="0" err="1"/>
              <a:t>pions</a:t>
            </a:r>
            <a:r>
              <a:rPr lang="en-US" sz="2000" dirty="0"/>
              <a:t> (blue)</a:t>
            </a:r>
          </a:p>
          <a:p>
            <a:pPr marL="400050">
              <a:buFontTx/>
              <a:buChar char="-"/>
            </a:pPr>
            <a:r>
              <a:rPr lang="en-US" sz="2000" dirty="0"/>
              <a:t>For high momentum </a:t>
            </a:r>
            <a:r>
              <a:rPr lang="en-US" sz="2000" dirty="0" err="1"/>
              <a:t>pions</a:t>
            </a:r>
            <a:r>
              <a:rPr lang="en-US" sz="2000" dirty="0"/>
              <a:t> (red) </a:t>
            </a:r>
          </a:p>
          <a:p>
            <a:pPr marL="400050">
              <a:buFontTx/>
              <a:buChar char="-"/>
            </a:pPr>
            <a:endParaRPr lang="en-US" sz="2000" dirty="0">
              <a:latin typeface="Fira Sans Light" panose="020B0403050000020004" pitchFamily="34" charset="0"/>
              <a:ea typeface="Fira Sans Light" panose="020B0403050000020004" pitchFamily="34" charset="0"/>
            </a:endParaRPr>
          </a:p>
          <a:p>
            <a:pPr marL="400050">
              <a:buFontTx/>
              <a:buChar char="-"/>
            </a:pPr>
            <a:r>
              <a:rPr lang="en-US" sz="2000" dirty="0"/>
              <a:t>So, the only difference between low and high momentum </a:t>
            </a:r>
            <a:r>
              <a:rPr lang="en-US" sz="2000" dirty="0" err="1"/>
              <a:t>pions</a:t>
            </a:r>
            <a:r>
              <a:rPr lang="en-US" sz="2000" dirty="0"/>
              <a:t> that could explain the shift in </a:t>
            </a:r>
            <a:r>
              <a:rPr lang="en-US" sz="2000" dirty="0" err="1"/>
              <a:t>Vz</a:t>
            </a:r>
            <a:r>
              <a:rPr lang="en-US" sz="2000" dirty="0"/>
              <a:t> is the worse resolution in </a:t>
            </a:r>
            <a:r>
              <a:rPr lang="en-US" sz="2000" dirty="0" err="1"/>
              <a:t>σ</a:t>
            </a:r>
            <a:r>
              <a:rPr lang="en-US" sz="2000" baseline="-25000" dirty="0" err="1"/>
              <a:t>θ</a:t>
            </a: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6A666FDF-659D-A750-EAAA-2FE610C69CAF}"/>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79946BBF-C181-D402-4821-465B5241C41A}"/>
              </a:ext>
            </a:extLst>
          </p:cNvPr>
          <p:cNvSpPr>
            <a:spLocks noGrp="1"/>
          </p:cNvSpPr>
          <p:nvPr>
            <p:ph type="sldNum" sz="quarter" idx="12"/>
          </p:nvPr>
        </p:nvSpPr>
        <p:spPr/>
        <p:txBody>
          <a:bodyPr/>
          <a:lstStyle/>
          <a:p>
            <a:fld id="{C5EF2332-01BF-834F-8236-50238282D533}" type="slidenum">
              <a:rPr lang="en-US" smtClean="0"/>
              <a:t>12</a:t>
            </a:fld>
            <a:endParaRPr lang="en-US"/>
          </a:p>
        </p:txBody>
      </p:sp>
      <p:sp>
        <p:nvSpPr>
          <p:cNvPr id="5" name="Footer Placeholder 4">
            <a:extLst>
              <a:ext uri="{FF2B5EF4-FFF2-40B4-BE49-F238E27FC236}">
                <a16:creationId xmlns:a16="http://schemas.microsoft.com/office/drawing/2014/main" id="{EBD8B405-9A47-595B-1AA5-3A301CD3D292}"/>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0FF47685-D8B6-37C9-917F-BB478A07574A}"/>
              </a:ext>
            </a:extLst>
          </p:cNvPr>
          <p:cNvPicPr>
            <a:picLocks noChangeAspect="1"/>
          </p:cNvPicPr>
          <p:nvPr/>
        </p:nvPicPr>
        <p:blipFill>
          <a:blip r:embed="rId2"/>
          <a:stretch>
            <a:fillRect/>
          </a:stretch>
        </p:blipFill>
        <p:spPr>
          <a:xfrm>
            <a:off x="4956345" y="914400"/>
            <a:ext cx="6187440" cy="4816684"/>
          </a:xfrm>
          <a:prstGeom prst="rect">
            <a:avLst/>
          </a:prstGeom>
        </p:spPr>
      </p:pic>
      <p:pic>
        <p:nvPicPr>
          <p:cNvPr id="9" name="Picture 8">
            <a:extLst>
              <a:ext uri="{FF2B5EF4-FFF2-40B4-BE49-F238E27FC236}">
                <a16:creationId xmlns:a16="http://schemas.microsoft.com/office/drawing/2014/main" id="{CBB83C5A-4013-E8B6-5FE3-09FE24784839}"/>
              </a:ext>
            </a:extLst>
          </p:cNvPr>
          <p:cNvPicPr>
            <a:picLocks noChangeAspect="1"/>
          </p:cNvPicPr>
          <p:nvPr/>
        </p:nvPicPr>
        <p:blipFill>
          <a:blip r:embed="rId3"/>
          <a:stretch>
            <a:fillRect/>
          </a:stretch>
        </p:blipFill>
        <p:spPr>
          <a:xfrm>
            <a:off x="5929630" y="5486400"/>
            <a:ext cx="5208058" cy="723900"/>
          </a:xfrm>
          <a:prstGeom prst="rect">
            <a:avLst/>
          </a:prstGeom>
        </p:spPr>
      </p:pic>
      <p:pic>
        <p:nvPicPr>
          <p:cNvPr id="11" name="Picture 10">
            <a:extLst>
              <a:ext uri="{FF2B5EF4-FFF2-40B4-BE49-F238E27FC236}">
                <a16:creationId xmlns:a16="http://schemas.microsoft.com/office/drawing/2014/main" id="{DD0E0C68-BB42-E5A4-E434-2AB225A0E548}"/>
              </a:ext>
            </a:extLst>
          </p:cNvPr>
          <p:cNvPicPr>
            <a:picLocks noChangeAspect="1"/>
          </p:cNvPicPr>
          <p:nvPr/>
        </p:nvPicPr>
        <p:blipFill>
          <a:blip r:embed="rId4"/>
          <a:stretch>
            <a:fillRect/>
          </a:stretch>
        </p:blipFill>
        <p:spPr>
          <a:xfrm>
            <a:off x="11026140" y="2063750"/>
            <a:ext cx="914400" cy="2273300"/>
          </a:xfrm>
          <a:prstGeom prst="rect">
            <a:avLst/>
          </a:prstGeom>
        </p:spPr>
      </p:pic>
    </p:spTree>
    <p:extLst>
      <p:ext uri="{BB962C8B-B14F-4D97-AF65-F5344CB8AC3E}">
        <p14:creationId xmlns:p14="http://schemas.microsoft.com/office/powerpoint/2010/main" val="2009031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194A8-E4CA-EE26-FA70-52F2FA02C07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B69863C-F1ED-A928-D76F-89CA542ECF5C}"/>
              </a:ext>
            </a:extLst>
          </p:cNvPr>
          <p:cNvPicPr>
            <a:picLocks noChangeAspect="1"/>
          </p:cNvPicPr>
          <p:nvPr/>
        </p:nvPicPr>
        <p:blipFill>
          <a:blip r:embed="rId2"/>
          <a:stretch>
            <a:fillRect/>
          </a:stretch>
        </p:blipFill>
        <p:spPr>
          <a:xfrm>
            <a:off x="5929629" y="1277148"/>
            <a:ext cx="5208057" cy="4209252"/>
          </a:xfrm>
          <a:prstGeom prst="rect">
            <a:avLst/>
          </a:prstGeom>
        </p:spPr>
      </p:pic>
      <p:sp>
        <p:nvSpPr>
          <p:cNvPr id="2" name="Title 1">
            <a:extLst>
              <a:ext uri="{FF2B5EF4-FFF2-40B4-BE49-F238E27FC236}">
                <a16:creationId xmlns:a16="http://schemas.microsoft.com/office/drawing/2014/main" id="{5A0E7572-0D27-DD67-69A5-A606722ECC58}"/>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F38B3014-C2CD-D86F-AED9-8474F33657D7}"/>
              </a:ext>
            </a:extLst>
          </p:cNvPr>
          <p:cNvSpPr>
            <a:spLocks noGrp="1"/>
          </p:cNvSpPr>
          <p:nvPr>
            <p:ph idx="1"/>
          </p:nvPr>
        </p:nvSpPr>
        <p:spPr>
          <a:xfrm>
            <a:off x="109982" y="1032481"/>
            <a:ext cx="4987798" cy="4088159"/>
          </a:xfrm>
        </p:spPr>
        <p:txBody>
          <a:bodyPr>
            <a:normAutofit/>
          </a:bodyPr>
          <a:lstStyle/>
          <a:p>
            <a:pPr marL="57150" indent="0">
              <a:buNone/>
            </a:pPr>
            <a:r>
              <a:rPr lang="en-US" sz="2000" dirty="0"/>
              <a:t>After that, I check the track quality variables:</a:t>
            </a:r>
          </a:p>
          <a:p>
            <a:pPr marL="400050">
              <a:buFontTx/>
              <a:buChar char="-"/>
            </a:pPr>
            <a:r>
              <a:rPr lang="en-US" sz="2000" dirty="0"/>
              <a:t>For low momentum </a:t>
            </a:r>
            <a:r>
              <a:rPr lang="en-US" sz="2000" dirty="0" err="1"/>
              <a:t>pions</a:t>
            </a:r>
            <a:r>
              <a:rPr lang="en-US" sz="2000" dirty="0"/>
              <a:t> (blue)</a:t>
            </a:r>
          </a:p>
          <a:p>
            <a:pPr marL="400050">
              <a:buFontTx/>
              <a:buChar char="-"/>
            </a:pPr>
            <a:r>
              <a:rPr lang="en-US" sz="2000" dirty="0"/>
              <a:t>For high momentum </a:t>
            </a:r>
            <a:r>
              <a:rPr lang="en-US" sz="2000" dirty="0" err="1"/>
              <a:t>pions</a:t>
            </a:r>
            <a:r>
              <a:rPr lang="en-US" sz="2000" dirty="0"/>
              <a:t> (red) </a:t>
            </a:r>
          </a:p>
          <a:p>
            <a:pPr marL="400050">
              <a:buFontTx/>
              <a:buChar char="-"/>
            </a:pPr>
            <a:endParaRPr lang="en-US" sz="2000" dirty="0">
              <a:latin typeface="Fira Sans Light" panose="020B0403050000020004" pitchFamily="34" charset="0"/>
              <a:ea typeface="Fira Sans Light" panose="020B0403050000020004" pitchFamily="34" charset="0"/>
            </a:endParaRPr>
          </a:p>
          <a:p>
            <a:pPr marL="400050">
              <a:buFontTx/>
              <a:buChar char="-"/>
            </a:pPr>
            <a:r>
              <a:rPr lang="en-US" sz="2000" dirty="0"/>
              <a:t>So, the only difference between low and high momentum </a:t>
            </a:r>
            <a:r>
              <a:rPr lang="en-US" sz="2000" dirty="0" err="1"/>
              <a:t>pions</a:t>
            </a:r>
            <a:r>
              <a:rPr lang="en-US" sz="2000" dirty="0"/>
              <a:t> that could explain the shift in </a:t>
            </a:r>
            <a:r>
              <a:rPr lang="en-US" sz="2000" dirty="0" err="1"/>
              <a:t>Vz</a:t>
            </a:r>
            <a:r>
              <a:rPr lang="en-US" sz="2000" dirty="0"/>
              <a:t> is the worse resolution in </a:t>
            </a:r>
            <a:r>
              <a:rPr lang="en-US" sz="2000" dirty="0" err="1"/>
              <a:t>σ</a:t>
            </a:r>
            <a:r>
              <a:rPr lang="en-US" sz="2000" baseline="-25000" dirty="0" err="1"/>
              <a:t>θ</a:t>
            </a: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EA08AA74-090F-9DC0-2D83-008B9F0F0E76}"/>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72E0027D-8202-D1DD-5659-A1F5F2CE0B9D}"/>
              </a:ext>
            </a:extLst>
          </p:cNvPr>
          <p:cNvSpPr>
            <a:spLocks noGrp="1"/>
          </p:cNvSpPr>
          <p:nvPr>
            <p:ph type="sldNum" sz="quarter" idx="12"/>
          </p:nvPr>
        </p:nvSpPr>
        <p:spPr/>
        <p:txBody>
          <a:bodyPr/>
          <a:lstStyle/>
          <a:p>
            <a:fld id="{C5EF2332-01BF-834F-8236-50238282D533}" type="slidenum">
              <a:rPr lang="en-US" smtClean="0"/>
              <a:t>13</a:t>
            </a:fld>
            <a:endParaRPr lang="en-US"/>
          </a:p>
        </p:txBody>
      </p:sp>
      <p:sp>
        <p:nvSpPr>
          <p:cNvPr id="5" name="Footer Placeholder 4">
            <a:extLst>
              <a:ext uri="{FF2B5EF4-FFF2-40B4-BE49-F238E27FC236}">
                <a16:creationId xmlns:a16="http://schemas.microsoft.com/office/drawing/2014/main" id="{6D405CE2-ECC4-0ACA-679B-386AA06800F1}"/>
              </a:ext>
            </a:extLst>
          </p:cNvPr>
          <p:cNvSpPr>
            <a:spLocks noGrp="1"/>
          </p:cNvSpPr>
          <p:nvPr>
            <p:ph type="ftr" sz="quarter" idx="11"/>
          </p:nvPr>
        </p:nvSpPr>
        <p:spPr/>
        <p:txBody>
          <a:bodyPr/>
          <a:lstStyle/>
          <a:p>
            <a:r>
              <a:rPr lang="en-US"/>
              <a:t>Group meeting</a:t>
            </a:r>
          </a:p>
        </p:txBody>
      </p:sp>
      <p:pic>
        <p:nvPicPr>
          <p:cNvPr id="9" name="Picture 8">
            <a:extLst>
              <a:ext uri="{FF2B5EF4-FFF2-40B4-BE49-F238E27FC236}">
                <a16:creationId xmlns:a16="http://schemas.microsoft.com/office/drawing/2014/main" id="{788989C9-B923-33F7-A073-E9E090D04EE9}"/>
              </a:ext>
            </a:extLst>
          </p:cNvPr>
          <p:cNvPicPr>
            <a:picLocks noChangeAspect="1"/>
          </p:cNvPicPr>
          <p:nvPr/>
        </p:nvPicPr>
        <p:blipFill>
          <a:blip r:embed="rId3"/>
          <a:stretch>
            <a:fillRect/>
          </a:stretch>
        </p:blipFill>
        <p:spPr>
          <a:xfrm>
            <a:off x="5929630" y="5486400"/>
            <a:ext cx="5208058" cy="723900"/>
          </a:xfrm>
          <a:prstGeom prst="rect">
            <a:avLst/>
          </a:prstGeom>
        </p:spPr>
      </p:pic>
      <p:pic>
        <p:nvPicPr>
          <p:cNvPr id="11" name="Picture 10">
            <a:extLst>
              <a:ext uri="{FF2B5EF4-FFF2-40B4-BE49-F238E27FC236}">
                <a16:creationId xmlns:a16="http://schemas.microsoft.com/office/drawing/2014/main" id="{13CED3E2-FDF2-CF10-05B5-C0BFAC28AF5A}"/>
              </a:ext>
            </a:extLst>
          </p:cNvPr>
          <p:cNvPicPr>
            <a:picLocks noChangeAspect="1"/>
          </p:cNvPicPr>
          <p:nvPr/>
        </p:nvPicPr>
        <p:blipFill>
          <a:blip r:embed="rId4"/>
          <a:stretch>
            <a:fillRect/>
          </a:stretch>
        </p:blipFill>
        <p:spPr>
          <a:xfrm>
            <a:off x="11026140" y="2063750"/>
            <a:ext cx="914400" cy="2273300"/>
          </a:xfrm>
          <a:prstGeom prst="rect">
            <a:avLst/>
          </a:prstGeom>
        </p:spPr>
      </p:pic>
      <p:pic>
        <p:nvPicPr>
          <p:cNvPr id="10" name="Picture 9">
            <a:extLst>
              <a:ext uri="{FF2B5EF4-FFF2-40B4-BE49-F238E27FC236}">
                <a16:creationId xmlns:a16="http://schemas.microsoft.com/office/drawing/2014/main" id="{2874947E-97D4-4356-058F-294A098E2071}"/>
              </a:ext>
            </a:extLst>
          </p:cNvPr>
          <p:cNvPicPr>
            <a:picLocks noChangeAspect="1"/>
          </p:cNvPicPr>
          <p:nvPr/>
        </p:nvPicPr>
        <p:blipFill>
          <a:blip r:embed="rId5"/>
          <a:stretch>
            <a:fillRect/>
          </a:stretch>
        </p:blipFill>
        <p:spPr>
          <a:xfrm>
            <a:off x="5563870" y="1535430"/>
            <a:ext cx="469900" cy="876300"/>
          </a:xfrm>
          <a:prstGeom prst="rect">
            <a:avLst/>
          </a:prstGeom>
        </p:spPr>
      </p:pic>
      <p:pic>
        <p:nvPicPr>
          <p:cNvPr id="12" name="Picture 11">
            <a:extLst>
              <a:ext uri="{FF2B5EF4-FFF2-40B4-BE49-F238E27FC236}">
                <a16:creationId xmlns:a16="http://schemas.microsoft.com/office/drawing/2014/main" id="{11C2A92A-F125-E352-EB0A-186ADB730C6E}"/>
              </a:ext>
            </a:extLst>
          </p:cNvPr>
          <p:cNvPicPr>
            <a:picLocks noChangeAspect="1"/>
          </p:cNvPicPr>
          <p:nvPr/>
        </p:nvPicPr>
        <p:blipFill>
          <a:blip r:embed="rId6"/>
          <a:stretch>
            <a:fillRect/>
          </a:stretch>
        </p:blipFill>
        <p:spPr>
          <a:xfrm>
            <a:off x="8095506" y="903354"/>
            <a:ext cx="1086593" cy="425189"/>
          </a:xfrm>
          <a:prstGeom prst="rect">
            <a:avLst/>
          </a:prstGeom>
        </p:spPr>
      </p:pic>
    </p:spTree>
    <p:extLst>
      <p:ext uri="{BB962C8B-B14F-4D97-AF65-F5344CB8AC3E}">
        <p14:creationId xmlns:p14="http://schemas.microsoft.com/office/powerpoint/2010/main" val="1998549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DED3B-7F36-D490-E6EC-52F8BA364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B349A-6F9D-EA4B-83BD-6CEDFCD3C51A}"/>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F69F05F0-F52F-9A4B-7B7F-37C8E1CA8214}"/>
              </a:ext>
            </a:extLst>
          </p:cNvPr>
          <p:cNvSpPr>
            <a:spLocks noGrp="1"/>
          </p:cNvSpPr>
          <p:nvPr>
            <p:ph idx="1"/>
          </p:nvPr>
        </p:nvSpPr>
        <p:spPr>
          <a:xfrm>
            <a:off x="109982" y="1032481"/>
            <a:ext cx="11845798" cy="4088159"/>
          </a:xfrm>
        </p:spPr>
        <p:txBody>
          <a:bodyPr>
            <a:normAutofit/>
          </a:bodyPr>
          <a:lstStyle/>
          <a:p>
            <a:pPr marL="57150" indent="0">
              <a:buNone/>
            </a:pPr>
            <a:r>
              <a:rPr lang="en-US" sz="2000" dirty="0"/>
              <a:t>After that, I discuss again with Raffaella: she ruled out the pion decay</a:t>
            </a:r>
          </a:p>
          <a:p>
            <a:pPr marL="57150" indent="0">
              <a:buNone/>
            </a:pPr>
            <a:r>
              <a:rPr lang="en-US" sz="2000" dirty="0">
                <a:latin typeface="Fira Sans Light" panose="020B0403050000020004" pitchFamily="34" charset="0"/>
                <a:ea typeface="Fira Sans Light" panose="020B0403050000020004" pitchFamily="34" charset="0"/>
              </a:rPr>
              <a:t>The other possibility to explain the shift would be</a:t>
            </a:r>
            <a:r>
              <a:rPr lang="en-US" sz="2000" dirty="0"/>
              <a:t>: </a:t>
            </a:r>
          </a:p>
          <a:p>
            <a:pPr marL="400050">
              <a:buFontTx/>
              <a:buChar char="-"/>
            </a:pPr>
            <a:r>
              <a:rPr lang="en-US" sz="2000" dirty="0"/>
              <a:t>issue in the reconstruction</a:t>
            </a:r>
          </a:p>
          <a:p>
            <a:pPr marL="400050">
              <a:buFontTx/>
              <a:buChar char="-"/>
            </a:pPr>
            <a:r>
              <a:rPr lang="en-US" sz="2000" dirty="0"/>
              <a:t>or energy loss high enough to significantly shift the </a:t>
            </a:r>
            <a:r>
              <a:rPr lang="en-US" sz="2000" dirty="0" err="1"/>
              <a:t>Vz</a:t>
            </a:r>
            <a:r>
              <a:rPr lang="en-US" sz="2000" dirty="0"/>
              <a:t> </a:t>
            </a:r>
            <a:endParaRPr lang="en-US" sz="2000" dirty="0">
              <a:latin typeface="Fira Sans Light" panose="020B0403050000020004" pitchFamily="34" charset="0"/>
              <a:ea typeface="Fira Sans Light" panose="020B0403050000020004" pitchFamily="34" charset="0"/>
            </a:endParaRPr>
          </a:p>
          <a:p>
            <a:pPr lvl="1"/>
            <a:endParaRPr lang="en-US" sz="1800"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C9367366-4A4D-9295-9F19-29335BFE43CD}"/>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13E84B6A-4362-664C-69C5-FCC829FBDB37}"/>
              </a:ext>
            </a:extLst>
          </p:cNvPr>
          <p:cNvSpPr>
            <a:spLocks noGrp="1"/>
          </p:cNvSpPr>
          <p:nvPr>
            <p:ph type="sldNum" sz="quarter" idx="12"/>
          </p:nvPr>
        </p:nvSpPr>
        <p:spPr/>
        <p:txBody>
          <a:bodyPr/>
          <a:lstStyle/>
          <a:p>
            <a:fld id="{C5EF2332-01BF-834F-8236-50238282D533}" type="slidenum">
              <a:rPr lang="en-US" smtClean="0"/>
              <a:t>14</a:t>
            </a:fld>
            <a:endParaRPr lang="en-US"/>
          </a:p>
        </p:txBody>
      </p:sp>
      <p:sp>
        <p:nvSpPr>
          <p:cNvPr id="5" name="Footer Placeholder 4">
            <a:extLst>
              <a:ext uri="{FF2B5EF4-FFF2-40B4-BE49-F238E27FC236}">
                <a16:creationId xmlns:a16="http://schemas.microsoft.com/office/drawing/2014/main" id="{90E024D9-7182-C1E4-3032-F50CEB53ED3E}"/>
              </a:ext>
            </a:extLst>
          </p:cNvPr>
          <p:cNvSpPr>
            <a:spLocks noGrp="1"/>
          </p:cNvSpPr>
          <p:nvPr>
            <p:ph type="ftr" sz="quarter" idx="11"/>
          </p:nvPr>
        </p:nvSpPr>
        <p:spPr/>
        <p:txBody>
          <a:bodyPr/>
          <a:lstStyle/>
          <a:p>
            <a:r>
              <a:rPr lang="en-US"/>
              <a:t>Group meeting</a:t>
            </a:r>
          </a:p>
        </p:txBody>
      </p:sp>
      <p:pic>
        <p:nvPicPr>
          <p:cNvPr id="15" name="Picture 14">
            <a:extLst>
              <a:ext uri="{FF2B5EF4-FFF2-40B4-BE49-F238E27FC236}">
                <a16:creationId xmlns:a16="http://schemas.microsoft.com/office/drawing/2014/main" id="{29CA2F3E-74D8-7448-828F-AC89679E7E8C}"/>
              </a:ext>
            </a:extLst>
          </p:cNvPr>
          <p:cNvPicPr>
            <a:picLocks noChangeAspect="1"/>
          </p:cNvPicPr>
          <p:nvPr/>
        </p:nvPicPr>
        <p:blipFill>
          <a:blip r:embed="rId2"/>
          <a:stretch>
            <a:fillRect/>
          </a:stretch>
        </p:blipFill>
        <p:spPr>
          <a:xfrm>
            <a:off x="731117" y="2478822"/>
            <a:ext cx="10723315" cy="4362543"/>
          </a:xfrm>
          <a:prstGeom prst="rect">
            <a:avLst/>
          </a:prstGeom>
        </p:spPr>
      </p:pic>
      <p:sp>
        <p:nvSpPr>
          <p:cNvPr id="14" name="TextBox 13">
            <a:extLst>
              <a:ext uri="{FF2B5EF4-FFF2-40B4-BE49-F238E27FC236}">
                <a16:creationId xmlns:a16="http://schemas.microsoft.com/office/drawing/2014/main" id="{9FCF57D5-9FE6-390E-9474-F19B84B1E278}"/>
              </a:ext>
            </a:extLst>
          </p:cNvPr>
          <p:cNvSpPr txBox="1"/>
          <p:nvPr/>
        </p:nvSpPr>
        <p:spPr>
          <a:xfrm>
            <a:off x="8449187" y="4578266"/>
            <a:ext cx="2268570" cy="369332"/>
          </a:xfrm>
          <a:prstGeom prst="rect">
            <a:avLst/>
          </a:prstGeom>
          <a:noFill/>
        </p:spPr>
        <p:txBody>
          <a:bodyPr wrap="none" rtlCol="0">
            <a:spAutoFit/>
          </a:bodyPr>
          <a:lstStyle/>
          <a:p>
            <a:r>
              <a:rPr lang="en-US" dirty="0">
                <a:latin typeface="Fira Sans Light" panose="020B0403050000020004" pitchFamily="34" charset="0"/>
                <a:ea typeface="Fira Sans Light" panose="020B0403050000020004" pitchFamily="34" charset="0"/>
              </a:rPr>
              <a:t>True MC momentum</a:t>
            </a:r>
          </a:p>
        </p:txBody>
      </p:sp>
    </p:spTree>
    <p:extLst>
      <p:ext uri="{BB962C8B-B14F-4D97-AF65-F5344CB8AC3E}">
        <p14:creationId xmlns:p14="http://schemas.microsoft.com/office/powerpoint/2010/main" val="3381233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6CE7C-405A-2F05-C164-C1D76BAAA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9755D-5129-B372-2B5D-6B4980382761}"/>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DE43EE06-E221-34CC-BA07-2B45FB2FF960}"/>
              </a:ext>
            </a:extLst>
          </p:cNvPr>
          <p:cNvSpPr>
            <a:spLocks noGrp="1"/>
          </p:cNvSpPr>
          <p:nvPr>
            <p:ph idx="1"/>
          </p:nvPr>
        </p:nvSpPr>
        <p:spPr>
          <a:xfrm>
            <a:off x="109982" y="1032481"/>
            <a:ext cx="11845798" cy="697259"/>
          </a:xfrm>
        </p:spPr>
        <p:txBody>
          <a:bodyPr>
            <a:normAutofit/>
          </a:bodyPr>
          <a:lstStyle/>
          <a:p>
            <a:pPr marL="57150" indent="0">
              <a:buNone/>
            </a:pPr>
            <a:r>
              <a:rPr lang="en-US" sz="2000" dirty="0"/>
              <a:t>To see if it is energy loss, plot the truth momentum at the vertex and truth momentum at DC R1:</a:t>
            </a:r>
          </a:p>
        </p:txBody>
      </p:sp>
      <p:sp>
        <p:nvSpPr>
          <p:cNvPr id="4" name="Date Placeholder 3">
            <a:extLst>
              <a:ext uri="{FF2B5EF4-FFF2-40B4-BE49-F238E27FC236}">
                <a16:creationId xmlns:a16="http://schemas.microsoft.com/office/drawing/2014/main" id="{381C0F4B-5159-AFEB-6CEC-43E2E4D45291}"/>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A0333EAD-EB7D-2103-9923-4677BAAB5E5B}"/>
              </a:ext>
            </a:extLst>
          </p:cNvPr>
          <p:cNvSpPr>
            <a:spLocks noGrp="1"/>
          </p:cNvSpPr>
          <p:nvPr>
            <p:ph type="sldNum" sz="quarter" idx="12"/>
          </p:nvPr>
        </p:nvSpPr>
        <p:spPr/>
        <p:txBody>
          <a:bodyPr/>
          <a:lstStyle/>
          <a:p>
            <a:fld id="{C5EF2332-01BF-834F-8236-50238282D533}" type="slidenum">
              <a:rPr lang="en-US" smtClean="0"/>
              <a:t>15</a:t>
            </a:fld>
            <a:endParaRPr lang="en-US"/>
          </a:p>
        </p:txBody>
      </p:sp>
      <p:sp>
        <p:nvSpPr>
          <p:cNvPr id="5" name="Footer Placeholder 4">
            <a:extLst>
              <a:ext uri="{FF2B5EF4-FFF2-40B4-BE49-F238E27FC236}">
                <a16:creationId xmlns:a16="http://schemas.microsoft.com/office/drawing/2014/main" id="{078D9C99-C33C-AB98-6772-8346D1E73766}"/>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E4B0050E-3ADC-3C07-F139-03B5B4A14A8F}"/>
              </a:ext>
            </a:extLst>
          </p:cNvPr>
          <p:cNvPicPr>
            <a:picLocks noChangeAspect="1"/>
          </p:cNvPicPr>
          <p:nvPr/>
        </p:nvPicPr>
        <p:blipFill>
          <a:blip r:embed="rId2"/>
          <a:stretch>
            <a:fillRect/>
          </a:stretch>
        </p:blipFill>
        <p:spPr>
          <a:xfrm>
            <a:off x="109982" y="1847821"/>
            <a:ext cx="6034304" cy="4195492"/>
          </a:xfrm>
          <a:prstGeom prst="rect">
            <a:avLst/>
          </a:prstGeom>
        </p:spPr>
      </p:pic>
    </p:spTree>
    <p:extLst>
      <p:ext uri="{BB962C8B-B14F-4D97-AF65-F5344CB8AC3E}">
        <p14:creationId xmlns:p14="http://schemas.microsoft.com/office/powerpoint/2010/main" val="2331141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88D2C-C4D5-1D96-FFF2-A2C1E6568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93D8A-EC2B-421A-9E07-4C339BF8C3F6}"/>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AB870613-60D7-814F-7DC1-AAEB7A8D40BE}"/>
              </a:ext>
            </a:extLst>
          </p:cNvPr>
          <p:cNvSpPr>
            <a:spLocks noGrp="1"/>
          </p:cNvSpPr>
          <p:nvPr>
            <p:ph idx="1"/>
          </p:nvPr>
        </p:nvSpPr>
        <p:spPr>
          <a:xfrm>
            <a:off x="109982" y="1032481"/>
            <a:ext cx="11845798" cy="697259"/>
          </a:xfrm>
        </p:spPr>
        <p:txBody>
          <a:bodyPr>
            <a:normAutofit fontScale="92500" lnSpcReduction="10000"/>
          </a:bodyPr>
          <a:lstStyle/>
          <a:p>
            <a:pPr marL="57150" indent="0">
              <a:buNone/>
            </a:pPr>
            <a:r>
              <a:rPr lang="en-US" sz="2000" dirty="0"/>
              <a:t>To see if it is energy loss, plot the truth momentum at the vertex and truth momentum at DC R1:</a:t>
            </a:r>
          </a:p>
          <a:p>
            <a:pPr marL="57150" indent="0">
              <a:buNone/>
            </a:pPr>
            <a:r>
              <a:rPr lang="en-US" sz="2000" dirty="0"/>
              <a:t>Loss up to 1.5% of the momentum due to energy loss</a:t>
            </a:r>
          </a:p>
        </p:txBody>
      </p:sp>
      <p:sp>
        <p:nvSpPr>
          <p:cNvPr id="4" name="Date Placeholder 3">
            <a:extLst>
              <a:ext uri="{FF2B5EF4-FFF2-40B4-BE49-F238E27FC236}">
                <a16:creationId xmlns:a16="http://schemas.microsoft.com/office/drawing/2014/main" id="{9DA149E5-0D65-40E8-4139-0CAACD4D62A3}"/>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79A91A38-4957-1D4D-CA51-B4EC5AF9D39D}"/>
              </a:ext>
            </a:extLst>
          </p:cNvPr>
          <p:cNvSpPr>
            <a:spLocks noGrp="1"/>
          </p:cNvSpPr>
          <p:nvPr>
            <p:ph type="sldNum" sz="quarter" idx="12"/>
          </p:nvPr>
        </p:nvSpPr>
        <p:spPr/>
        <p:txBody>
          <a:bodyPr/>
          <a:lstStyle/>
          <a:p>
            <a:fld id="{C5EF2332-01BF-834F-8236-50238282D533}" type="slidenum">
              <a:rPr lang="en-US" smtClean="0"/>
              <a:t>16</a:t>
            </a:fld>
            <a:endParaRPr lang="en-US"/>
          </a:p>
        </p:txBody>
      </p:sp>
      <p:sp>
        <p:nvSpPr>
          <p:cNvPr id="5" name="Footer Placeholder 4">
            <a:extLst>
              <a:ext uri="{FF2B5EF4-FFF2-40B4-BE49-F238E27FC236}">
                <a16:creationId xmlns:a16="http://schemas.microsoft.com/office/drawing/2014/main" id="{E90B9E41-00F8-5590-4DFA-C8BBCFCEBFE7}"/>
              </a:ext>
            </a:extLst>
          </p:cNvPr>
          <p:cNvSpPr>
            <a:spLocks noGrp="1"/>
          </p:cNvSpPr>
          <p:nvPr>
            <p:ph type="ftr" sz="quarter" idx="11"/>
          </p:nvPr>
        </p:nvSpPr>
        <p:spPr/>
        <p:txBody>
          <a:bodyPr/>
          <a:lstStyle/>
          <a:p>
            <a:r>
              <a:rPr lang="en-US"/>
              <a:t>Group meeting</a:t>
            </a:r>
          </a:p>
        </p:txBody>
      </p:sp>
      <p:pic>
        <p:nvPicPr>
          <p:cNvPr id="8" name="Picture 7">
            <a:extLst>
              <a:ext uri="{FF2B5EF4-FFF2-40B4-BE49-F238E27FC236}">
                <a16:creationId xmlns:a16="http://schemas.microsoft.com/office/drawing/2014/main" id="{E873EC74-17AD-B003-6222-E32AC715CC60}"/>
              </a:ext>
            </a:extLst>
          </p:cNvPr>
          <p:cNvPicPr>
            <a:picLocks noChangeAspect="1"/>
          </p:cNvPicPr>
          <p:nvPr/>
        </p:nvPicPr>
        <p:blipFill>
          <a:blip r:embed="rId2"/>
          <a:stretch>
            <a:fillRect/>
          </a:stretch>
        </p:blipFill>
        <p:spPr>
          <a:xfrm>
            <a:off x="0" y="1866326"/>
            <a:ext cx="11895244" cy="4450080"/>
          </a:xfrm>
          <a:prstGeom prst="rect">
            <a:avLst/>
          </a:prstGeom>
        </p:spPr>
      </p:pic>
    </p:spTree>
    <p:extLst>
      <p:ext uri="{BB962C8B-B14F-4D97-AF65-F5344CB8AC3E}">
        <p14:creationId xmlns:p14="http://schemas.microsoft.com/office/powerpoint/2010/main" val="4008134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0026-EEA5-17E2-EE43-B077D5F1F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D7470-0D69-8B65-C1F4-51E177B04D29}"/>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7628DC25-4077-3B8D-9700-8B5ABDA1AAA0}"/>
              </a:ext>
            </a:extLst>
          </p:cNvPr>
          <p:cNvSpPr>
            <a:spLocks noGrp="1"/>
          </p:cNvSpPr>
          <p:nvPr>
            <p:ph idx="1"/>
          </p:nvPr>
        </p:nvSpPr>
        <p:spPr>
          <a:xfrm>
            <a:off x="0" y="1032481"/>
            <a:ext cx="3454398" cy="5055387"/>
          </a:xfrm>
        </p:spPr>
        <p:txBody>
          <a:bodyPr>
            <a:normAutofit lnSpcReduction="10000"/>
          </a:bodyPr>
          <a:lstStyle/>
          <a:p>
            <a:pPr marL="57150" indent="0">
              <a:buNone/>
            </a:pPr>
            <a:r>
              <a:rPr lang="en-US" sz="2000" dirty="0"/>
              <a:t>If I swim the </a:t>
            </a:r>
            <a:r>
              <a:rPr lang="en-US" sz="2000" dirty="0" err="1"/>
              <a:t>pions</a:t>
            </a:r>
            <a:r>
              <a:rPr lang="en-US" sz="2000" dirty="0"/>
              <a:t> from DC R1 using the truth momentum and position:</a:t>
            </a:r>
          </a:p>
          <a:p>
            <a:pPr marL="57150" indent="0">
              <a:buNone/>
            </a:pPr>
            <a:endParaRPr lang="en-US" sz="2000" dirty="0"/>
          </a:p>
          <a:p>
            <a:pPr marL="57150" indent="0">
              <a:buNone/>
            </a:pPr>
            <a:r>
              <a:rPr lang="en-US" sz="2000" dirty="0"/>
              <a:t>Shift is much smaller if I use the truth momentum even with energy loss</a:t>
            </a:r>
          </a:p>
          <a:p>
            <a:pPr marL="57150" indent="0">
              <a:buNone/>
            </a:pPr>
            <a:endParaRPr lang="en-US" sz="2000" dirty="0"/>
          </a:p>
          <a:p>
            <a:pPr marL="57150" indent="0">
              <a:buNone/>
            </a:pPr>
            <a:r>
              <a:rPr lang="en-US" sz="2000" dirty="0"/>
              <a:t>So, I don’t think energy loss is the main reason for the shift </a:t>
            </a:r>
          </a:p>
          <a:p>
            <a:pPr marL="57150" indent="0">
              <a:buNone/>
            </a:pPr>
            <a:endParaRPr lang="en-US" sz="2000" dirty="0"/>
          </a:p>
          <a:p>
            <a:pPr marL="57150" indent="0">
              <a:buNone/>
            </a:pPr>
            <a:r>
              <a:rPr lang="en-US" sz="2000" dirty="0"/>
              <a:t>So, either the momentum reconstructed in region 1 is wrong, or the swimming is wrong</a:t>
            </a:r>
          </a:p>
        </p:txBody>
      </p:sp>
      <p:sp>
        <p:nvSpPr>
          <p:cNvPr id="4" name="Date Placeholder 3">
            <a:extLst>
              <a:ext uri="{FF2B5EF4-FFF2-40B4-BE49-F238E27FC236}">
                <a16:creationId xmlns:a16="http://schemas.microsoft.com/office/drawing/2014/main" id="{811445D4-85F6-DE22-BF17-E87319C6176D}"/>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DBE439FE-48CF-78F6-6AD9-A6126DA03C99}"/>
              </a:ext>
            </a:extLst>
          </p:cNvPr>
          <p:cNvSpPr>
            <a:spLocks noGrp="1"/>
          </p:cNvSpPr>
          <p:nvPr>
            <p:ph type="sldNum" sz="quarter" idx="12"/>
          </p:nvPr>
        </p:nvSpPr>
        <p:spPr/>
        <p:txBody>
          <a:bodyPr/>
          <a:lstStyle/>
          <a:p>
            <a:fld id="{C5EF2332-01BF-834F-8236-50238282D533}" type="slidenum">
              <a:rPr lang="en-US" smtClean="0"/>
              <a:t>17</a:t>
            </a:fld>
            <a:endParaRPr lang="en-US"/>
          </a:p>
        </p:txBody>
      </p:sp>
      <p:sp>
        <p:nvSpPr>
          <p:cNvPr id="5" name="Footer Placeholder 4">
            <a:extLst>
              <a:ext uri="{FF2B5EF4-FFF2-40B4-BE49-F238E27FC236}">
                <a16:creationId xmlns:a16="http://schemas.microsoft.com/office/drawing/2014/main" id="{122C475C-8E82-665E-1A9E-6DD43E4FDFAD}"/>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3462331D-6FB6-5C6F-5DB9-87F55273E141}"/>
              </a:ext>
            </a:extLst>
          </p:cNvPr>
          <p:cNvPicPr>
            <a:picLocks noChangeAspect="1"/>
          </p:cNvPicPr>
          <p:nvPr/>
        </p:nvPicPr>
        <p:blipFill>
          <a:blip r:embed="rId2"/>
          <a:stretch>
            <a:fillRect/>
          </a:stretch>
        </p:blipFill>
        <p:spPr>
          <a:xfrm>
            <a:off x="3454399" y="699856"/>
            <a:ext cx="8714311" cy="5753137"/>
          </a:xfrm>
          <a:prstGeom prst="rect">
            <a:avLst/>
          </a:prstGeom>
        </p:spPr>
      </p:pic>
    </p:spTree>
    <p:extLst>
      <p:ext uri="{BB962C8B-B14F-4D97-AF65-F5344CB8AC3E}">
        <p14:creationId xmlns:p14="http://schemas.microsoft.com/office/powerpoint/2010/main" val="1599649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D4C3-2462-4187-48A6-1B95B007D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E59F2-F46E-2BC4-753B-F79B234A9C08}"/>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4524D623-2409-4D54-9A7A-221A2AAD2B82}"/>
              </a:ext>
            </a:extLst>
          </p:cNvPr>
          <p:cNvSpPr>
            <a:spLocks noGrp="1"/>
          </p:cNvSpPr>
          <p:nvPr>
            <p:ph idx="1"/>
          </p:nvPr>
        </p:nvSpPr>
        <p:spPr>
          <a:xfrm>
            <a:off x="0" y="1032481"/>
            <a:ext cx="3454398" cy="5055387"/>
          </a:xfrm>
        </p:spPr>
        <p:txBody>
          <a:bodyPr>
            <a:normAutofit lnSpcReduction="10000"/>
          </a:bodyPr>
          <a:lstStyle/>
          <a:p>
            <a:pPr marL="57150" indent="0">
              <a:buNone/>
            </a:pPr>
            <a:r>
              <a:rPr lang="en-US" sz="2000" dirty="0"/>
              <a:t>If I swim the </a:t>
            </a:r>
            <a:r>
              <a:rPr lang="en-US" sz="2000" dirty="0" err="1"/>
              <a:t>pions</a:t>
            </a:r>
            <a:r>
              <a:rPr lang="en-US" sz="2000" dirty="0"/>
              <a:t> from DC R1 using the truth momentum and position:</a:t>
            </a:r>
          </a:p>
          <a:p>
            <a:pPr marL="57150" indent="0">
              <a:buNone/>
            </a:pPr>
            <a:endParaRPr lang="en-US" sz="2000" dirty="0"/>
          </a:p>
          <a:p>
            <a:pPr marL="57150" indent="0">
              <a:buNone/>
            </a:pPr>
            <a:r>
              <a:rPr lang="en-US" sz="2000" dirty="0"/>
              <a:t>Shift is much smaller if I use the truth momentum even with energy loss</a:t>
            </a:r>
          </a:p>
          <a:p>
            <a:pPr marL="57150" indent="0">
              <a:buNone/>
            </a:pPr>
            <a:endParaRPr lang="en-US" sz="2000" dirty="0"/>
          </a:p>
          <a:p>
            <a:pPr marL="57150" indent="0">
              <a:buNone/>
            </a:pPr>
            <a:r>
              <a:rPr lang="en-US" sz="2000" dirty="0"/>
              <a:t>So, I don’t think energy loss is the main reason for the shift </a:t>
            </a:r>
          </a:p>
          <a:p>
            <a:pPr marL="57150" indent="0">
              <a:buNone/>
            </a:pPr>
            <a:endParaRPr lang="en-US" sz="2000" dirty="0"/>
          </a:p>
          <a:p>
            <a:pPr marL="57150" indent="0">
              <a:buNone/>
            </a:pPr>
            <a:r>
              <a:rPr lang="en-US" sz="2000" dirty="0"/>
              <a:t>So, either the momentum reconstructed in region 1 is wrong, or the swimming is wrong</a:t>
            </a:r>
          </a:p>
        </p:txBody>
      </p:sp>
      <p:sp>
        <p:nvSpPr>
          <p:cNvPr id="4" name="Date Placeholder 3">
            <a:extLst>
              <a:ext uri="{FF2B5EF4-FFF2-40B4-BE49-F238E27FC236}">
                <a16:creationId xmlns:a16="http://schemas.microsoft.com/office/drawing/2014/main" id="{FE996B62-BF68-3C0A-3BDD-E78D15FC5849}"/>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E48399DB-3C28-82B8-2D82-A625A2D516C0}"/>
              </a:ext>
            </a:extLst>
          </p:cNvPr>
          <p:cNvSpPr>
            <a:spLocks noGrp="1"/>
          </p:cNvSpPr>
          <p:nvPr>
            <p:ph type="sldNum" sz="quarter" idx="12"/>
          </p:nvPr>
        </p:nvSpPr>
        <p:spPr/>
        <p:txBody>
          <a:bodyPr/>
          <a:lstStyle/>
          <a:p>
            <a:fld id="{C5EF2332-01BF-834F-8236-50238282D533}" type="slidenum">
              <a:rPr lang="en-US" smtClean="0"/>
              <a:t>18</a:t>
            </a:fld>
            <a:endParaRPr lang="en-US"/>
          </a:p>
        </p:txBody>
      </p:sp>
      <p:sp>
        <p:nvSpPr>
          <p:cNvPr id="5" name="Footer Placeholder 4">
            <a:extLst>
              <a:ext uri="{FF2B5EF4-FFF2-40B4-BE49-F238E27FC236}">
                <a16:creationId xmlns:a16="http://schemas.microsoft.com/office/drawing/2014/main" id="{BC3C1193-1889-4C87-98FC-58D21AB4ED98}"/>
              </a:ext>
            </a:extLst>
          </p:cNvPr>
          <p:cNvSpPr>
            <a:spLocks noGrp="1"/>
          </p:cNvSpPr>
          <p:nvPr>
            <p:ph type="ftr" sz="quarter" idx="11"/>
          </p:nvPr>
        </p:nvSpPr>
        <p:spPr/>
        <p:txBody>
          <a:bodyPr/>
          <a:lstStyle/>
          <a:p>
            <a:r>
              <a:rPr lang="en-US"/>
              <a:t>Group meeting</a:t>
            </a:r>
          </a:p>
        </p:txBody>
      </p:sp>
      <p:pic>
        <p:nvPicPr>
          <p:cNvPr id="7" name="Picture 6">
            <a:extLst>
              <a:ext uri="{FF2B5EF4-FFF2-40B4-BE49-F238E27FC236}">
                <a16:creationId xmlns:a16="http://schemas.microsoft.com/office/drawing/2014/main" id="{8FA64CEC-F0B1-3A18-50A6-F7C833B621C4}"/>
              </a:ext>
            </a:extLst>
          </p:cNvPr>
          <p:cNvPicPr>
            <a:picLocks noChangeAspect="1"/>
          </p:cNvPicPr>
          <p:nvPr/>
        </p:nvPicPr>
        <p:blipFill>
          <a:blip r:embed="rId2"/>
          <a:stretch>
            <a:fillRect/>
          </a:stretch>
        </p:blipFill>
        <p:spPr>
          <a:xfrm>
            <a:off x="3454399" y="707476"/>
            <a:ext cx="8714311" cy="5753137"/>
          </a:xfrm>
          <a:prstGeom prst="rect">
            <a:avLst/>
          </a:prstGeom>
        </p:spPr>
      </p:pic>
      <p:pic>
        <p:nvPicPr>
          <p:cNvPr id="9" name="Picture 8">
            <a:extLst>
              <a:ext uri="{FF2B5EF4-FFF2-40B4-BE49-F238E27FC236}">
                <a16:creationId xmlns:a16="http://schemas.microsoft.com/office/drawing/2014/main" id="{B1DC4BB8-5456-4E0B-52FD-BE22D2C7A3B1}"/>
              </a:ext>
            </a:extLst>
          </p:cNvPr>
          <p:cNvPicPr>
            <a:picLocks noChangeAspect="1"/>
          </p:cNvPicPr>
          <p:nvPr/>
        </p:nvPicPr>
        <p:blipFill>
          <a:blip r:embed="rId3"/>
          <a:stretch>
            <a:fillRect/>
          </a:stretch>
        </p:blipFill>
        <p:spPr>
          <a:xfrm>
            <a:off x="7589520" y="720195"/>
            <a:ext cx="4066727" cy="2952645"/>
          </a:xfrm>
          <a:prstGeom prst="rect">
            <a:avLst/>
          </a:prstGeom>
        </p:spPr>
      </p:pic>
      <p:sp>
        <p:nvSpPr>
          <p:cNvPr id="8" name="Rectangle 7">
            <a:extLst>
              <a:ext uri="{FF2B5EF4-FFF2-40B4-BE49-F238E27FC236}">
                <a16:creationId xmlns:a16="http://schemas.microsoft.com/office/drawing/2014/main" id="{7D507A36-D37E-3E02-8A06-B75734B9E0F3}"/>
              </a:ext>
            </a:extLst>
          </p:cNvPr>
          <p:cNvSpPr/>
          <p:nvPr/>
        </p:nvSpPr>
        <p:spPr>
          <a:xfrm>
            <a:off x="7589520" y="3672840"/>
            <a:ext cx="4066727" cy="2780153"/>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759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E9953-21E4-BBC4-57D5-D52DFF2F6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8AAD8-D072-0C0B-8B16-1E55A4685CF1}"/>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175341EC-7FF9-7321-4B3D-0F14A4155EE6}"/>
              </a:ext>
            </a:extLst>
          </p:cNvPr>
          <p:cNvSpPr>
            <a:spLocks noGrp="1"/>
          </p:cNvSpPr>
          <p:nvPr>
            <p:ph idx="1"/>
          </p:nvPr>
        </p:nvSpPr>
        <p:spPr>
          <a:xfrm>
            <a:off x="175260" y="1032481"/>
            <a:ext cx="11658600" cy="5055387"/>
          </a:xfrm>
        </p:spPr>
        <p:txBody>
          <a:bodyPr>
            <a:normAutofit/>
          </a:bodyPr>
          <a:lstStyle/>
          <a:p>
            <a:pPr marL="57150" indent="0">
              <a:buNone/>
            </a:pPr>
            <a:r>
              <a:rPr lang="en-US" sz="2000" dirty="0"/>
              <a:t>Using LD2 data:</a:t>
            </a:r>
            <a:endParaRPr lang="el-GR" sz="2000" dirty="0"/>
          </a:p>
          <a:p>
            <a:pPr marL="57150" indent="0">
              <a:buNone/>
            </a:pPr>
            <a:r>
              <a:rPr lang="el-GR" sz="2000" dirty="0"/>
              <a:t> - π⁺ </a:t>
            </a:r>
            <a:r>
              <a:rPr lang="en-US" sz="2000" dirty="0"/>
              <a:t>momentum-cut impact (forward-detector </a:t>
            </a:r>
            <a:r>
              <a:rPr lang="en-US" sz="2000" dirty="0" err="1"/>
              <a:t>pions</a:t>
            </a:r>
            <a:r>
              <a:rPr lang="en-US" sz="2000" dirty="0"/>
              <a:t> = 541937):</a:t>
            </a:r>
          </a:p>
          <a:p>
            <a:pPr marL="57150" indent="0">
              <a:buNone/>
            </a:pPr>
            <a:r>
              <a:rPr lang="en-US" sz="2000" dirty="0"/>
              <a:t>     p &lt; 0.3 GeV -&gt; lost 8024 (1.48%), kept 533913</a:t>
            </a:r>
          </a:p>
          <a:p>
            <a:pPr marL="57150" indent="0">
              <a:buNone/>
            </a:pPr>
            <a:r>
              <a:rPr lang="en-US" sz="2000" dirty="0"/>
              <a:t>     p &lt; 0.5 GeV -&gt; lost 39972 (7.38%), kept 501965</a:t>
            </a:r>
          </a:p>
          <a:p>
            <a:pPr marL="57150" indent="0">
              <a:buNone/>
            </a:pPr>
            <a:r>
              <a:rPr lang="en-US" sz="2000" dirty="0"/>
              <a:t>     p &lt; 0.7 GeV -&gt; lost 115204 (21.26%), kept 426733</a:t>
            </a:r>
          </a:p>
          <a:p>
            <a:pPr marL="57150" indent="0">
              <a:buNone/>
            </a:pPr>
            <a:r>
              <a:rPr lang="en-US" sz="2000" dirty="0"/>
              <a:t>     p &lt; 1.0 GeV -&gt; lost 242743 (44.79%), kept 299194</a:t>
            </a:r>
          </a:p>
          <a:p>
            <a:pPr marL="57150" indent="0">
              <a:buNone/>
            </a:pPr>
            <a:r>
              <a:rPr lang="en-US" sz="2000" dirty="0"/>
              <a:t> - </a:t>
            </a:r>
            <a:r>
              <a:rPr lang="el-GR" sz="2000" dirty="0"/>
              <a:t>π⁻ </a:t>
            </a:r>
            <a:r>
              <a:rPr lang="en-US" sz="2000" dirty="0"/>
              <a:t>momentum-cut impact (forward-detector </a:t>
            </a:r>
            <a:r>
              <a:rPr lang="en-US" sz="2000" dirty="0" err="1"/>
              <a:t>pions</a:t>
            </a:r>
            <a:r>
              <a:rPr lang="en-US" sz="2000" dirty="0"/>
              <a:t> = 751348):</a:t>
            </a:r>
          </a:p>
          <a:p>
            <a:pPr marL="57150" indent="0">
              <a:buNone/>
            </a:pPr>
            <a:r>
              <a:rPr lang="en-US" sz="2000" dirty="0"/>
              <a:t>     p &lt; 0.3 GeV -&gt; lost 1 (0.00%), kept 751347</a:t>
            </a:r>
          </a:p>
          <a:p>
            <a:pPr marL="57150" indent="0">
              <a:buNone/>
            </a:pPr>
            <a:r>
              <a:rPr lang="en-US" sz="2000" dirty="0"/>
              <a:t>     p &lt; 0.5 GeV -&gt; lost 54885 (7.30%), kept 696463</a:t>
            </a:r>
          </a:p>
          <a:p>
            <a:pPr marL="57150" indent="0">
              <a:buNone/>
            </a:pPr>
            <a:r>
              <a:rPr lang="en-US" sz="2000" dirty="0"/>
              <a:t>     p &lt; 0.7 GeV -&gt; lost 190114 (25.30%), kept 561234</a:t>
            </a:r>
          </a:p>
          <a:p>
            <a:pPr marL="57150" indent="0">
              <a:buNone/>
            </a:pPr>
            <a:r>
              <a:rPr lang="en-US" sz="2000" dirty="0"/>
              <a:t>     p &lt; 1.0 GeV -&gt; lost 368621 (49.06%), kept 382727 </a:t>
            </a:r>
          </a:p>
          <a:p>
            <a:pPr marL="57150" indent="0">
              <a:buNone/>
            </a:pPr>
            <a:endParaRPr lang="en-US" sz="2000" dirty="0"/>
          </a:p>
          <a:p>
            <a:pPr marL="57150" indent="0">
              <a:buNone/>
            </a:pPr>
            <a:r>
              <a:rPr lang="en-US" sz="2000" dirty="0"/>
              <a:t>We can not cut at 1 GeV, 0.5 would be possible</a:t>
            </a:r>
          </a:p>
        </p:txBody>
      </p:sp>
      <p:sp>
        <p:nvSpPr>
          <p:cNvPr id="4" name="Date Placeholder 3">
            <a:extLst>
              <a:ext uri="{FF2B5EF4-FFF2-40B4-BE49-F238E27FC236}">
                <a16:creationId xmlns:a16="http://schemas.microsoft.com/office/drawing/2014/main" id="{93D18FFB-B9E6-040E-5A13-61D072BA72AB}"/>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A1A1499B-ED9F-0F6C-CF89-C9B732CAA2F6}"/>
              </a:ext>
            </a:extLst>
          </p:cNvPr>
          <p:cNvSpPr>
            <a:spLocks noGrp="1"/>
          </p:cNvSpPr>
          <p:nvPr>
            <p:ph type="sldNum" sz="quarter" idx="12"/>
          </p:nvPr>
        </p:nvSpPr>
        <p:spPr/>
        <p:txBody>
          <a:bodyPr/>
          <a:lstStyle/>
          <a:p>
            <a:fld id="{C5EF2332-01BF-834F-8236-50238282D533}" type="slidenum">
              <a:rPr lang="en-US" smtClean="0"/>
              <a:t>19</a:t>
            </a:fld>
            <a:endParaRPr lang="en-US"/>
          </a:p>
        </p:txBody>
      </p:sp>
      <p:sp>
        <p:nvSpPr>
          <p:cNvPr id="5" name="Footer Placeholder 4">
            <a:extLst>
              <a:ext uri="{FF2B5EF4-FFF2-40B4-BE49-F238E27FC236}">
                <a16:creationId xmlns:a16="http://schemas.microsoft.com/office/drawing/2014/main" id="{87783907-A083-9FE2-7F3B-8E0C22B3727D}"/>
              </a:ext>
            </a:extLst>
          </p:cNvPr>
          <p:cNvSpPr>
            <a:spLocks noGrp="1"/>
          </p:cNvSpPr>
          <p:nvPr>
            <p:ph type="ftr" sz="quarter" idx="11"/>
          </p:nvPr>
        </p:nvSpPr>
        <p:spPr/>
        <p:txBody>
          <a:bodyPr/>
          <a:lstStyle/>
          <a:p>
            <a:r>
              <a:rPr lang="en-US"/>
              <a:t>Group meeting</a:t>
            </a:r>
          </a:p>
        </p:txBody>
      </p:sp>
    </p:spTree>
    <p:extLst>
      <p:ext uri="{BB962C8B-B14F-4D97-AF65-F5344CB8AC3E}">
        <p14:creationId xmlns:p14="http://schemas.microsoft.com/office/powerpoint/2010/main" val="303590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63B57-88D0-A4F5-9E9F-F4646088A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A5E17-4F92-FB26-FA82-F3D8A25BCE83}"/>
              </a:ext>
            </a:extLst>
          </p:cNvPr>
          <p:cNvSpPr>
            <a:spLocks noGrp="1"/>
          </p:cNvSpPr>
          <p:nvPr>
            <p:ph type="title"/>
          </p:nvPr>
        </p:nvSpPr>
        <p:spPr/>
        <p:txBody>
          <a:bodyPr/>
          <a:lstStyle/>
          <a:p>
            <a:r>
              <a:rPr lang="en-US" cap="small" dirty="0"/>
              <a:t>RG-D: MC Pion </a:t>
            </a:r>
          </a:p>
        </p:txBody>
      </p:sp>
      <p:sp>
        <p:nvSpPr>
          <p:cNvPr id="3" name="Content Placeholder 2">
            <a:extLst>
              <a:ext uri="{FF2B5EF4-FFF2-40B4-BE49-F238E27FC236}">
                <a16:creationId xmlns:a16="http://schemas.microsoft.com/office/drawing/2014/main" id="{A7F4D7C8-7B50-4257-974C-F40232214B97}"/>
              </a:ext>
            </a:extLst>
          </p:cNvPr>
          <p:cNvSpPr>
            <a:spLocks noGrp="1"/>
          </p:cNvSpPr>
          <p:nvPr>
            <p:ph idx="1"/>
          </p:nvPr>
        </p:nvSpPr>
        <p:spPr>
          <a:xfrm>
            <a:off x="175260" y="1032481"/>
            <a:ext cx="11658600" cy="5055387"/>
          </a:xfrm>
        </p:spPr>
        <p:txBody>
          <a:bodyPr>
            <a:normAutofit fontScale="92500"/>
          </a:bodyPr>
          <a:lstStyle/>
          <a:p>
            <a:pPr marL="57150" indent="0">
              <a:buNone/>
            </a:pPr>
            <a:r>
              <a:rPr lang="en-US" dirty="0"/>
              <a:t>So, all this analysis is to estimate the contamination in the </a:t>
            </a:r>
            <a:r>
              <a:rPr lang="en-US" dirty="0" err="1"/>
              <a:t>CuSn</a:t>
            </a:r>
            <a:r>
              <a:rPr lang="en-US" dirty="0"/>
              <a:t> target</a:t>
            </a:r>
          </a:p>
          <a:p>
            <a:pPr marL="57150" indent="0">
              <a:buNone/>
            </a:pPr>
            <a:r>
              <a:rPr lang="en-US" dirty="0"/>
              <a:t>I am not sure how to do that, if the simulation and data are too different</a:t>
            </a:r>
          </a:p>
          <a:p>
            <a:pPr marL="57150" indent="0">
              <a:buNone/>
            </a:pPr>
            <a:r>
              <a:rPr lang="en-US" dirty="0"/>
              <a:t>The correction I have develop on data correct for the effect we see in simulation too. </a:t>
            </a:r>
          </a:p>
          <a:p>
            <a:pPr marL="57150" indent="0">
              <a:buNone/>
            </a:pPr>
            <a:endParaRPr lang="en-US" dirty="0"/>
          </a:p>
          <a:p>
            <a:pPr marL="57150" indent="0">
              <a:buNone/>
            </a:pPr>
            <a:r>
              <a:rPr lang="en-US" dirty="0"/>
              <a:t>My idea would be to find a way to get the contamination from data and not rely on simulation at all. The main issue is I have not idea how to do that.</a:t>
            </a:r>
          </a:p>
          <a:p>
            <a:pPr marL="57150" indent="0">
              <a:buNone/>
            </a:pPr>
            <a:r>
              <a:rPr lang="en-US" dirty="0"/>
              <a:t>Maybe find a process that is really different between Cu and Sn? </a:t>
            </a:r>
          </a:p>
          <a:p>
            <a:pPr marL="57150" indent="0">
              <a:buNone/>
            </a:pPr>
            <a:r>
              <a:rPr lang="en-US" dirty="0"/>
              <a:t>For the contamination: is getting the contamination from electron enough? it will tell us the number of event that come from the wrong target. </a:t>
            </a:r>
          </a:p>
          <a:p>
            <a:pPr marL="57150" indent="0">
              <a:buNone/>
            </a:pPr>
            <a:endParaRPr lang="en-US" dirty="0"/>
          </a:p>
          <a:p>
            <a:pPr marL="57150" indent="0">
              <a:buNone/>
            </a:pPr>
            <a:r>
              <a:rPr lang="en-US" dirty="0"/>
              <a:t>One thing that we learn from that study on simulation is that pion below 0.7 GeV can’t be reconstruct in the forward detector. If there is some low momentum pion (0.3 to 0.5), then the momentum is wrong by 0.2 to 0.4 GeV at least.</a:t>
            </a:r>
          </a:p>
        </p:txBody>
      </p:sp>
      <p:sp>
        <p:nvSpPr>
          <p:cNvPr id="4" name="Date Placeholder 3">
            <a:extLst>
              <a:ext uri="{FF2B5EF4-FFF2-40B4-BE49-F238E27FC236}">
                <a16:creationId xmlns:a16="http://schemas.microsoft.com/office/drawing/2014/main" id="{B54B907E-C6F6-7099-5A6C-C82346354F59}"/>
              </a:ext>
            </a:extLst>
          </p:cNvPr>
          <p:cNvSpPr>
            <a:spLocks noGrp="1"/>
          </p:cNvSpPr>
          <p:nvPr>
            <p:ph type="dt" sz="half" idx="10"/>
          </p:nvPr>
        </p:nvSpPr>
        <p:spPr/>
        <p:txBody>
          <a:bodyPr/>
          <a:lstStyle/>
          <a:p>
            <a:r>
              <a:rPr lang="en-US"/>
              <a:t>06/02/26</a:t>
            </a:r>
            <a:endParaRPr lang="en-US" dirty="0"/>
          </a:p>
        </p:txBody>
      </p:sp>
      <p:sp>
        <p:nvSpPr>
          <p:cNvPr id="6" name="Slide Number Placeholder 5">
            <a:extLst>
              <a:ext uri="{FF2B5EF4-FFF2-40B4-BE49-F238E27FC236}">
                <a16:creationId xmlns:a16="http://schemas.microsoft.com/office/drawing/2014/main" id="{482D0AD9-6A2B-4E77-FD75-C5152F226DA8}"/>
              </a:ext>
            </a:extLst>
          </p:cNvPr>
          <p:cNvSpPr>
            <a:spLocks noGrp="1"/>
          </p:cNvSpPr>
          <p:nvPr>
            <p:ph type="sldNum" sz="quarter" idx="12"/>
          </p:nvPr>
        </p:nvSpPr>
        <p:spPr/>
        <p:txBody>
          <a:bodyPr/>
          <a:lstStyle/>
          <a:p>
            <a:fld id="{C5EF2332-01BF-834F-8236-50238282D533}" type="slidenum">
              <a:rPr lang="en-US" smtClean="0"/>
              <a:t>20</a:t>
            </a:fld>
            <a:endParaRPr lang="en-US"/>
          </a:p>
        </p:txBody>
      </p:sp>
      <p:sp>
        <p:nvSpPr>
          <p:cNvPr id="5" name="Footer Placeholder 4">
            <a:extLst>
              <a:ext uri="{FF2B5EF4-FFF2-40B4-BE49-F238E27FC236}">
                <a16:creationId xmlns:a16="http://schemas.microsoft.com/office/drawing/2014/main" id="{43A89D1D-45FA-4055-CEB2-655BDA8B6A21}"/>
              </a:ext>
            </a:extLst>
          </p:cNvPr>
          <p:cNvSpPr>
            <a:spLocks noGrp="1"/>
          </p:cNvSpPr>
          <p:nvPr>
            <p:ph type="ftr" sz="quarter" idx="11"/>
          </p:nvPr>
        </p:nvSpPr>
        <p:spPr/>
        <p:txBody>
          <a:bodyPr/>
          <a:lstStyle/>
          <a:p>
            <a:r>
              <a:rPr lang="en-US"/>
              <a:t>Group meeting</a:t>
            </a:r>
          </a:p>
        </p:txBody>
      </p:sp>
    </p:spTree>
    <p:extLst>
      <p:ext uri="{BB962C8B-B14F-4D97-AF65-F5344CB8AC3E}">
        <p14:creationId xmlns:p14="http://schemas.microsoft.com/office/powerpoint/2010/main" val="1539500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4918C-8E33-AB3E-FB61-C8BF59A119D9}"/>
              </a:ext>
            </a:extLst>
          </p:cNvPr>
          <p:cNvSpPr>
            <a:spLocks noGrp="1"/>
          </p:cNvSpPr>
          <p:nvPr>
            <p:ph type="title"/>
          </p:nvPr>
        </p:nvSpPr>
        <p:spPr/>
        <p:txBody>
          <a:bodyPr/>
          <a:lstStyle/>
          <a:p>
            <a:r>
              <a:rPr lang="en-US" dirty="0"/>
              <a:t>RG-D: ᴨ</a:t>
            </a:r>
            <a:r>
              <a:rPr lang="en-US" baseline="30000" dirty="0"/>
              <a:t>0</a:t>
            </a:r>
            <a:r>
              <a:rPr lang="en-US" dirty="0"/>
              <a:t> analysis</a:t>
            </a:r>
            <a:endParaRPr lang="en-US" baseline="30000" dirty="0"/>
          </a:p>
        </p:txBody>
      </p:sp>
      <p:sp>
        <p:nvSpPr>
          <p:cNvPr id="3" name="Content Placeholder 2">
            <a:extLst>
              <a:ext uri="{FF2B5EF4-FFF2-40B4-BE49-F238E27FC236}">
                <a16:creationId xmlns:a16="http://schemas.microsoft.com/office/drawing/2014/main" id="{7CD6AF30-153A-934B-0F6E-1BDDA9E17D28}"/>
              </a:ext>
            </a:extLst>
          </p:cNvPr>
          <p:cNvSpPr>
            <a:spLocks noGrp="1"/>
          </p:cNvSpPr>
          <p:nvPr>
            <p:ph idx="1"/>
          </p:nvPr>
        </p:nvSpPr>
        <p:spPr/>
        <p:txBody>
          <a:bodyPr>
            <a:normAutofit/>
          </a:bodyPr>
          <a:lstStyle/>
          <a:p>
            <a:r>
              <a:rPr lang="en-US" sz="2000" dirty="0"/>
              <a:t>Work on the binning: </a:t>
            </a:r>
          </a:p>
          <a:p>
            <a:pPr lvl="1"/>
            <a:r>
              <a:rPr lang="en-US" dirty="0"/>
              <a:t>binning in 4 kinematic variables: Q², </a:t>
            </a:r>
            <a:r>
              <a:rPr lang="en-US" dirty="0" err="1"/>
              <a:t>x</a:t>
            </a:r>
            <a:r>
              <a:rPr lang="en-US" baseline="-25000" dirty="0" err="1"/>
              <a:t>B</a:t>
            </a:r>
            <a:r>
              <a:rPr lang="en-US" dirty="0"/>
              <a:t>, z, p</a:t>
            </a:r>
            <a:r>
              <a:rPr lang="en-US" baseline="-25000" dirty="0"/>
              <a:t>T</a:t>
            </a:r>
            <a:r>
              <a:rPr lang="en-US" dirty="0"/>
              <a:t>²:</a:t>
            </a:r>
          </a:p>
          <a:p>
            <a:pPr lvl="1"/>
            <a:r>
              <a:rPr lang="en-US" dirty="0"/>
              <a:t>Q² 8 bins, </a:t>
            </a:r>
            <a:r>
              <a:rPr lang="en-US" dirty="0" err="1"/>
              <a:t>xB</a:t>
            </a:r>
            <a:r>
              <a:rPr lang="en-US" dirty="0"/>
              <a:t> 7 bins, z 10 bins and p</a:t>
            </a:r>
            <a:r>
              <a:rPr lang="en-US" baseline="-25000" dirty="0"/>
              <a:t>T</a:t>
            </a:r>
            <a:r>
              <a:rPr lang="en-US" dirty="0"/>
              <a:t>² 8 bins. These values have been arbitrary choose.</a:t>
            </a:r>
          </a:p>
          <a:p>
            <a:pPr lvl="1"/>
            <a:r>
              <a:rPr lang="en-US" dirty="0"/>
              <a:t>Instead of a fixed grid, it partitions 4D space into ~equal-occupancy boxes by greedily splitting the fullest region using KD-Tree (using ROOT https://</a:t>
            </a:r>
            <a:r>
              <a:rPr lang="en-US" dirty="0" err="1"/>
              <a:t>root.cern.ch</a:t>
            </a:r>
            <a:r>
              <a:rPr lang="en-US" dirty="0"/>
              <a:t>/doc/v640/</a:t>
            </a:r>
            <a:r>
              <a:rPr lang="en-US" dirty="0" err="1"/>
              <a:t>classTKDTree.html</a:t>
            </a:r>
            <a:r>
              <a:rPr lang="en-US" dirty="0"/>
              <a:t>)</a:t>
            </a:r>
          </a:p>
          <a:p>
            <a:pPr lvl="1"/>
            <a:r>
              <a:rPr lang="en-US" sz="1800" dirty="0"/>
              <a:t>Strategy: </a:t>
            </a:r>
          </a:p>
          <a:p>
            <a:pPr lvl="2"/>
            <a:r>
              <a:rPr lang="en-US" sz="1600" dirty="0"/>
              <a:t>Start with one leaf (the root) containing all points.</a:t>
            </a:r>
          </a:p>
          <a:p>
            <a:pPr lvl="2"/>
            <a:r>
              <a:rPr lang="en-US" sz="1600" dirty="0"/>
              <a:t>Repeatedly: pick the most-populated leaf, find its widest dimension, split it at the median of the points along that dimension → two leaves with half the points each.</a:t>
            </a:r>
          </a:p>
          <a:p>
            <a:pPr lvl="2"/>
            <a:r>
              <a:rPr lang="en-US" sz="1600" dirty="0"/>
              <a:t>Stop when you reach </a:t>
            </a:r>
            <a:r>
              <a:rPr lang="en-US" sz="1600" dirty="0" err="1"/>
              <a:t>target_bins</a:t>
            </a:r>
            <a:r>
              <a:rPr lang="en-US" sz="1600" dirty="0"/>
              <a:t> leaves.</a:t>
            </a:r>
          </a:p>
          <a:p>
            <a:pPr lvl="1"/>
            <a:r>
              <a:rPr lang="en-US" dirty="0"/>
              <a:t>Result is irregular boxes: for 2 </a:t>
            </a:r>
            <a:r>
              <a:rPr lang="en-US" dirty="0" err="1"/>
              <a:t>differents</a:t>
            </a:r>
            <a:r>
              <a:rPr lang="en-US" sz="1800" dirty="0"/>
              <a:t> Q², </a:t>
            </a:r>
            <a:r>
              <a:rPr lang="en-US" sz="1800" dirty="0" err="1"/>
              <a:t>x</a:t>
            </a:r>
            <a:r>
              <a:rPr lang="en-US" sz="1800" baseline="-25000" dirty="0" err="1"/>
              <a:t>B</a:t>
            </a:r>
            <a:r>
              <a:rPr lang="en-US" sz="1800" baseline="-25000" dirty="0"/>
              <a:t> </a:t>
            </a:r>
            <a:r>
              <a:rPr lang="en-US" sz="1800" dirty="0"/>
              <a:t>bins the z, p</a:t>
            </a:r>
            <a:r>
              <a:rPr lang="en-US" sz="1800" baseline="-25000" dirty="0"/>
              <a:t>T</a:t>
            </a:r>
            <a:r>
              <a:rPr lang="en-US" sz="1800" dirty="0"/>
              <a:t>² will be </a:t>
            </a:r>
            <a:r>
              <a:rPr lang="en-US" sz="1800" dirty="0" err="1"/>
              <a:t>differents</a:t>
            </a:r>
            <a:endParaRPr lang="en-US" sz="1800" dirty="0"/>
          </a:p>
        </p:txBody>
      </p:sp>
      <p:sp>
        <p:nvSpPr>
          <p:cNvPr id="4" name="Date Placeholder 3">
            <a:extLst>
              <a:ext uri="{FF2B5EF4-FFF2-40B4-BE49-F238E27FC236}">
                <a16:creationId xmlns:a16="http://schemas.microsoft.com/office/drawing/2014/main" id="{438FB08C-B791-AC3F-C375-3320F55CEEBA}"/>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D57F93AE-68DA-BEBB-C447-92D8F58E7D4E}"/>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5ED1065A-AC27-6973-EB2E-CE5A595837CA}"/>
              </a:ext>
            </a:extLst>
          </p:cNvPr>
          <p:cNvSpPr>
            <a:spLocks noGrp="1"/>
          </p:cNvSpPr>
          <p:nvPr>
            <p:ph type="sldNum" sz="quarter" idx="12"/>
          </p:nvPr>
        </p:nvSpPr>
        <p:spPr/>
        <p:txBody>
          <a:bodyPr/>
          <a:lstStyle/>
          <a:p>
            <a:fld id="{C5EF2332-01BF-834F-8236-50238282D533}" type="slidenum">
              <a:rPr lang="en-US" smtClean="0"/>
              <a:t>21</a:t>
            </a:fld>
            <a:endParaRPr lang="en-US"/>
          </a:p>
        </p:txBody>
      </p:sp>
    </p:spTree>
    <p:extLst>
      <p:ext uri="{BB962C8B-B14F-4D97-AF65-F5344CB8AC3E}">
        <p14:creationId xmlns:p14="http://schemas.microsoft.com/office/powerpoint/2010/main" val="2994368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B4CD9-B211-C8F2-3BF1-0E18FF808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8D037-033F-D85C-F44A-651BF3C98B4C}"/>
              </a:ext>
            </a:extLst>
          </p:cNvPr>
          <p:cNvSpPr>
            <a:spLocks noGrp="1"/>
          </p:cNvSpPr>
          <p:nvPr>
            <p:ph type="title"/>
          </p:nvPr>
        </p:nvSpPr>
        <p:spPr/>
        <p:txBody>
          <a:bodyPr/>
          <a:lstStyle/>
          <a:p>
            <a:r>
              <a:rPr lang="en-US" dirty="0"/>
              <a:t>RG-D: ᴨ</a:t>
            </a:r>
            <a:r>
              <a:rPr lang="en-US" baseline="30000" dirty="0"/>
              <a:t>0</a:t>
            </a:r>
            <a:r>
              <a:rPr lang="en-US" dirty="0"/>
              <a:t> analysis</a:t>
            </a:r>
            <a:endParaRPr lang="en-US" baseline="30000" dirty="0"/>
          </a:p>
        </p:txBody>
      </p:sp>
      <p:sp>
        <p:nvSpPr>
          <p:cNvPr id="3" name="Content Placeholder 2">
            <a:extLst>
              <a:ext uri="{FF2B5EF4-FFF2-40B4-BE49-F238E27FC236}">
                <a16:creationId xmlns:a16="http://schemas.microsoft.com/office/drawing/2014/main" id="{62BC62A0-174D-19DD-DD0B-C10EA9BA2D55}"/>
              </a:ext>
            </a:extLst>
          </p:cNvPr>
          <p:cNvSpPr>
            <a:spLocks noGrp="1"/>
          </p:cNvSpPr>
          <p:nvPr>
            <p:ph idx="1"/>
          </p:nvPr>
        </p:nvSpPr>
        <p:spPr/>
        <p:txBody>
          <a:bodyPr>
            <a:normAutofit/>
          </a:bodyPr>
          <a:lstStyle/>
          <a:p>
            <a:r>
              <a:rPr lang="en-US" sz="2000" dirty="0"/>
              <a:t>Work on the binning: </a:t>
            </a:r>
          </a:p>
        </p:txBody>
      </p:sp>
      <p:sp>
        <p:nvSpPr>
          <p:cNvPr id="4" name="Date Placeholder 3">
            <a:extLst>
              <a:ext uri="{FF2B5EF4-FFF2-40B4-BE49-F238E27FC236}">
                <a16:creationId xmlns:a16="http://schemas.microsoft.com/office/drawing/2014/main" id="{42A71262-3303-D2D5-3FE9-F6A21CA6E5F6}"/>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307382F0-1BDE-6B27-A591-90A23812DDA4}"/>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3D21CA29-A3BE-9E32-61E8-B221E80AE15F}"/>
              </a:ext>
            </a:extLst>
          </p:cNvPr>
          <p:cNvSpPr>
            <a:spLocks noGrp="1"/>
          </p:cNvSpPr>
          <p:nvPr>
            <p:ph type="sldNum" sz="quarter" idx="12"/>
          </p:nvPr>
        </p:nvSpPr>
        <p:spPr/>
        <p:txBody>
          <a:bodyPr/>
          <a:lstStyle/>
          <a:p>
            <a:fld id="{C5EF2332-01BF-834F-8236-50238282D533}" type="slidenum">
              <a:rPr lang="en-US" smtClean="0"/>
              <a:t>22</a:t>
            </a:fld>
            <a:endParaRPr lang="en-US"/>
          </a:p>
        </p:txBody>
      </p:sp>
      <p:pic>
        <p:nvPicPr>
          <p:cNvPr id="7" name="Picture 6">
            <a:extLst>
              <a:ext uri="{FF2B5EF4-FFF2-40B4-BE49-F238E27FC236}">
                <a16:creationId xmlns:a16="http://schemas.microsoft.com/office/drawing/2014/main" id="{562A27B1-AF84-7DBE-43C0-CAC6A65B44FA}"/>
              </a:ext>
            </a:extLst>
          </p:cNvPr>
          <p:cNvPicPr>
            <a:picLocks noChangeAspect="1"/>
          </p:cNvPicPr>
          <p:nvPr/>
        </p:nvPicPr>
        <p:blipFill>
          <a:blip r:embed="rId2"/>
          <a:srcRect l="-1745" t="72" r="1745" b="-72"/>
          <a:stretch>
            <a:fillRect/>
          </a:stretch>
        </p:blipFill>
        <p:spPr>
          <a:xfrm>
            <a:off x="4888738" y="16635"/>
            <a:ext cx="7178040" cy="6846282"/>
          </a:xfrm>
          <a:prstGeom prst="rect">
            <a:avLst/>
          </a:prstGeom>
        </p:spPr>
      </p:pic>
    </p:spTree>
    <p:extLst>
      <p:ext uri="{BB962C8B-B14F-4D97-AF65-F5344CB8AC3E}">
        <p14:creationId xmlns:p14="http://schemas.microsoft.com/office/powerpoint/2010/main" val="792784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01175-DD7C-E8AE-1F5F-4B0CFBE9C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FE47DA-8D66-826A-E30B-E65835519CF9}"/>
              </a:ext>
            </a:extLst>
          </p:cNvPr>
          <p:cNvSpPr>
            <a:spLocks noGrp="1"/>
          </p:cNvSpPr>
          <p:nvPr>
            <p:ph type="title"/>
          </p:nvPr>
        </p:nvSpPr>
        <p:spPr/>
        <p:txBody>
          <a:bodyPr/>
          <a:lstStyle/>
          <a:p>
            <a:r>
              <a:rPr lang="en-US" dirty="0"/>
              <a:t>RG-D: ᴨ</a:t>
            </a:r>
            <a:r>
              <a:rPr lang="en-US" baseline="30000" dirty="0"/>
              <a:t>0</a:t>
            </a:r>
            <a:r>
              <a:rPr lang="en-US" dirty="0"/>
              <a:t> analysis</a:t>
            </a:r>
            <a:endParaRPr lang="en-US" baseline="30000" dirty="0"/>
          </a:p>
        </p:txBody>
      </p:sp>
      <p:sp>
        <p:nvSpPr>
          <p:cNvPr id="3" name="Content Placeholder 2">
            <a:extLst>
              <a:ext uri="{FF2B5EF4-FFF2-40B4-BE49-F238E27FC236}">
                <a16:creationId xmlns:a16="http://schemas.microsoft.com/office/drawing/2014/main" id="{A6C44390-4805-8279-3B55-41FF6B6E9D84}"/>
              </a:ext>
            </a:extLst>
          </p:cNvPr>
          <p:cNvSpPr>
            <a:spLocks noGrp="1"/>
          </p:cNvSpPr>
          <p:nvPr>
            <p:ph idx="1"/>
          </p:nvPr>
        </p:nvSpPr>
        <p:spPr>
          <a:xfrm>
            <a:off x="109982" y="1032481"/>
            <a:ext cx="4865878" cy="5087667"/>
          </a:xfrm>
        </p:spPr>
        <p:txBody>
          <a:bodyPr>
            <a:normAutofit/>
          </a:bodyPr>
          <a:lstStyle/>
          <a:p>
            <a:r>
              <a:rPr lang="en-US" sz="2000" dirty="0"/>
              <a:t>Work on the binning: </a:t>
            </a:r>
          </a:p>
          <a:p>
            <a:endParaRPr lang="en-US" sz="2000" dirty="0"/>
          </a:p>
          <a:p>
            <a:pPr marL="0" indent="0">
              <a:buNone/>
            </a:pPr>
            <a:r>
              <a:rPr lang="en-US" sz="2000" dirty="0"/>
              <a:t>In total, I have 4480 bins, maybe too much</a:t>
            </a:r>
          </a:p>
        </p:txBody>
      </p:sp>
      <p:sp>
        <p:nvSpPr>
          <p:cNvPr id="4" name="Date Placeholder 3">
            <a:extLst>
              <a:ext uri="{FF2B5EF4-FFF2-40B4-BE49-F238E27FC236}">
                <a16:creationId xmlns:a16="http://schemas.microsoft.com/office/drawing/2014/main" id="{AD856808-AB9E-DB16-0717-CC20D65B97AE}"/>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0C4FF44E-9AA2-F5DF-2797-C1347215B78A}"/>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03B313C3-58AA-447F-B565-34AFA250A475}"/>
              </a:ext>
            </a:extLst>
          </p:cNvPr>
          <p:cNvSpPr>
            <a:spLocks noGrp="1"/>
          </p:cNvSpPr>
          <p:nvPr>
            <p:ph type="sldNum" sz="quarter" idx="12"/>
          </p:nvPr>
        </p:nvSpPr>
        <p:spPr/>
        <p:txBody>
          <a:bodyPr/>
          <a:lstStyle/>
          <a:p>
            <a:fld id="{C5EF2332-01BF-834F-8236-50238282D533}" type="slidenum">
              <a:rPr lang="en-US" smtClean="0"/>
              <a:t>23</a:t>
            </a:fld>
            <a:endParaRPr lang="en-US"/>
          </a:p>
        </p:txBody>
      </p:sp>
      <p:pic>
        <p:nvPicPr>
          <p:cNvPr id="8" name="Picture 7">
            <a:extLst>
              <a:ext uri="{FF2B5EF4-FFF2-40B4-BE49-F238E27FC236}">
                <a16:creationId xmlns:a16="http://schemas.microsoft.com/office/drawing/2014/main" id="{A171F597-3E5D-BB39-81A2-4D4EC791A116}"/>
              </a:ext>
            </a:extLst>
          </p:cNvPr>
          <p:cNvPicPr>
            <a:picLocks noChangeAspect="1"/>
          </p:cNvPicPr>
          <p:nvPr/>
        </p:nvPicPr>
        <p:blipFill>
          <a:blip r:embed="rId2"/>
          <a:stretch>
            <a:fillRect/>
          </a:stretch>
        </p:blipFill>
        <p:spPr>
          <a:xfrm>
            <a:off x="5204461" y="12910"/>
            <a:ext cx="6987540" cy="6845090"/>
          </a:xfrm>
          <a:prstGeom prst="rect">
            <a:avLst/>
          </a:prstGeom>
        </p:spPr>
      </p:pic>
    </p:spTree>
    <p:extLst>
      <p:ext uri="{BB962C8B-B14F-4D97-AF65-F5344CB8AC3E}">
        <p14:creationId xmlns:p14="http://schemas.microsoft.com/office/powerpoint/2010/main" val="3139799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BF63-EA1D-710A-118E-9B403A3849FD}"/>
              </a:ext>
            </a:extLst>
          </p:cNvPr>
          <p:cNvSpPr>
            <a:spLocks noGrp="1"/>
          </p:cNvSpPr>
          <p:nvPr>
            <p:ph type="title"/>
          </p:nvPr>
        </p:nvSpPr>
        <p:spPr/>
        <p:txBody>
          <a:bodyPr/>
          <a:lstStyle/>
          <a:p>
            <a:r>
              <a:rPr lang="en-US" dirty="0"/>
              <a:t>RG-L/ALERT: Physics Timelines</a:t>
            </a:r>
          </a:p>
        </p:txBody>
      </p:sp>
      <p:sp>
        <p:nvSpPr>
          <p:cNvPr id="3" name="Content Placeholder 2">
            <a:extLst>
              <a:ext uri="{FF2B5EF4-FFF2-40B4-BE49-F238E27FC236}">
                <a16:creationId xmlns:a16="http://schemas.microsoft.com/office/drawing/2014/main" id="{CCB7DD3C-2F8B-E1AD-1A9B-F480F797AAE1}"/>
              </a:ext>
            </a:extLst>
          </p:cNvPr>
          <p:cNvSpPr>
            <a:spLocks noGrp="1"/>
          </p:cNvSpPr>
          <p:nvPr>
            <p:ph idx="1"/>
          </p:nvPr>
        </p:nvSpPr>
        <p:spPr/>
        <p:txBody>
          <a:bodyPr/>
          <a:lstStyle/>
          <a:p>
            <a:pPr marL="0" indent="0">
              <a:buNone/>
            </a:pPr>
            <a:r>
              <a:rPr lang="en-US" dirty="0"/>
              <a:t>Last week I produce physics timelines for RG-L, to check the polarization</a:t>
            </a:r>
          </a:p>
        </p:txBody>
      </p:sp>
      <p:sp>
        <p:nvSpPr>
          <p:cNvPr id="4" name="Date Placeholder 3">
            <a:extLst>
              <a:ext uri="{FF2B5EF4-FFF2-40B4-BE49-F238E27FC236}">
                <a16:creationId xmlns:a16="http://schemas.microsoft.com/office/drawing/2014/main" id="{20558743-7197-8816-E7DC-E4ED30A4F30C}"/>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5430CF9E-3255-AC7E-45F1-9C914AEC087E}"/>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B60343FB-BFC7-2DFB-B436-FA0118679124}"/>
              </a:ext>
            </a:extLst>
          </p:cNvPr>
          <p:cNvSpPr>
            <a:spLocks noGrp="1"/>
          </p:cNvSpPr>
          <p:nvPr>
            <p:ph type="sldNum" sz="quarter" idx="12"/>
          </p:nvPr>
        </p:nvSpPr>
        <p:spPr/>
        <p:txBody>
          <a:bodyPr/>
          <a:lstStyle/>
          <a:p>
            <a:fld id="{C5EF2332-01BF-834F-8236-50238282D533}" type="slidenum">
              <a:rPr lang="en-US" smtClean="0"/>
              <a:t>24</a:t>
            </a:fld>
            <a:endParaRPr lang="en-US"/>
          </a:p>
        </p:txBody>
      </p:sp>
      <p:pic>
        <p:nvPicPr>
          <p:cNvPr id="7" name="Picture 6">
            <a:extLst>
              <a:ext uri="{FF2B5EF4-FFF2-40B4-BE49-F238E27FC236}">
                <a16:creationId xmlns:a16="http://schemas.microsoft.com/office/drawing/2014/main" id="{CB873D67-C34C-548F-6ED8-F8C8A3511D34}"/>
              </a:ext>
            </a:extLst>
          </p:cNvPr>
          <p:cNvPicPr>
            <a:picLocks noChangeAspect="1"/>
          </p:cNvPicPr>
          <p:nvPr/>
        </p:nvPicPr>
        <p:blipFill>
          <a:blip r:embed="rId2"/>
          <a:srcRect r="442"/>
          <a:stretch>
            <a:fillRect/>
          </a:stretch>
        </p:blipFill>
        <p:spPr>
          <a:xfrm>
            <a:off x="0" y="1508259"/>
            <a:ext cx="12192000" cy="4317260"/>
          </a:xfrm>
          <a:prstGeom prst="rect">
            <a:avLst/>
          </a:prstGeom>
        </p:spPr>
      </p:pic>
    </p:spTree>
    <p:extLst>
      <p:ext uri="{BB962C8B-B14F-4D97-AF65-F5344CB8AC3E}">
        <p14:creationId xmlns:p14="http://schemas.microsoft.com/office/powerpoint/2010/main" val="3456010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5B433-AC05-9BFF-0F92-220BD21CF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14E49-50AB-53F5-4A06-2A0834603D9B}"/>
              </a:ext>
            </a:extLst>
          </p:cNvPr>
          <p:cNvSpPr>
            <a:spLocks noGrp="1"/>
          </p:cNvSpPr>
          <p:nvPr>
            <p:ph type="title"/>
          </p:nvPr>
        </p:nvSpPr>
        <p:spPr/>
        <p:txBody>
          <a:bodyPr/>
          <a:lstStyle/>
          <a:p>
            <a:r>
              <a:rPr lang="en-US" dirty="0"/>
              <a:t>RG-L/ALERT: Physics Timelines</a:t>
            </a:r>
          </a:p>
        </p:txBody>
      </p:sp>
      <p:sp>
        <p:nvSpPr>
          <p:cNvPr id="3" name="Content Placeholder 2">
            <a:extLst>
              <a:ext uri="{FF2B5EF4-FFF2-40B4-BE49-F238E27FC236}">
                <a16:creationId xmlns:a16="http://schemas.microsoft.com/office/drawing/2014/main" id="{9823075D-C2AE-4629-5F5F-BD989D592CBD}"/>
              </a:ext>
            </a:extLst>
          </p:cNvPr>
          <p:cNvSpPr>
            <a:spLocks noGrp="1"/>
          </p:cNvSpPr>
          <p:nvPr>
            <p:ph idx="1"/>
          </p:nvPr>
        </p:nvSpPr>
        <p:spPr>
          <a:xfrm>
            <a:off x="109982" y="1032481"/>
            <a:ext cx="11922474" cy="1116359"/>
          </a:xfrm>
        </p:spPr>
        <p:txBody>
          <a:bodyPr/>
          <a:lstStyle/>
          <a:p>
            <a:pPr marL="0" indent="0">
              <a:buNone/>
            </a:pPr>
            <a:r>
              <a:rPr lang="en-US" dirty="0"/>
              <a:t>Last week I produce physics timelines for RG-L, to check the polarization</a:t>
            </a:r>
          </a:p>
          <a:p>
            <a:pPr marL="0" indent="0">
              <a:buNone/>
            </a:pPr>
            <a:r>
              <a:rPr lang="en-US" dirty="0"/>
              <a:t>Two problematic regions:</a:t>
            </a:r>
          </a:p>
        </p:txBody>
      </p:sp>
      <p:sp>
        <p:nvSpPr>
          <p:cNvPr id="4" name="Date Placeholder 3">
            <a:extLst>
              <a:ext uri="{FF2B5EF4-FFF2-40B4-BE49-F238E27FC236}">
                <a16:creationId xmlns:a16="http://schemas.microsoft.com/office/drawing/2014/main" id="{CA0FB4A1-8ECB-70EB-B40C-625A77904BB2}"/>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57DBECA7-D2D4-836F-C1A9-AB5EADBD75E0}"/>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05A0A25B-5FE0-9B31-DCE2-3E434E999D1B}"/>
              </a:ext>
            </a:extLst>
          </p:cNvPr>
          <p:cNvSpPr>
            <a:spLocks noGrp="1"/>
          </p:cNvSpPr>
          <p:nvPr>
            <p:ph type="sldNum" sz="quarter" idx="12"/>
          </p:nvPr>
        </p:nvSpPr>
        <p:spPr/>
        <p:txBody>
          <a:bodyPr/>
          <a:lstStyle/>
          <a:p>
            <a:fld id="{C5EF2332-01BF-834F-8236-50238282D533}" type="slidenum">
              <a:rPr lang="en-US" smtClean="0"/>
              <a:t>25</a:t>
            </a:fld>
            <a:endParaRPr lang="en-US"/>
          </a:p>
        </p:txBody>
      </p:sp>
      <p:pic>
        <p:nvPicPr>
          <p:cNvPr id="7" name="Picture 6">
            <a:extLst>
              <a:ext uri="{FF2B5EF4-FFF2-40B4-BE49-F238E27FC236}">
                <a16:creationId xmlns:a16="http://schemas.microsoft.com/office/drawing/2014/main" id="{8B0D8EBD-5966-DEE9-2805-77E5BD872752}"/>
              </a:ext>
            </a:extLst>
          </p:cNvPr>
          <p:cNvPicPr>
            <a:picLocks noChangeAspect="1"/>
          </p:cNvPicPr>
          <p:nvPr/>
        </p:nvPicPr>
        <p:blipFill>
          <a:blip r:embed="rId2"/>
          <a:srcRect r="442"/>
          <a:stretch>
            <a:fillRect/>
          </a:stretch>
        </p:blipFill>
        <p:spPr>
          <a:xfrm>
            <a:off x="0" y="2041659"/>
            <a:ext cx="12192000" cy="4317260"/>
          </a:xfrm>
          <a:prstGeom prst="rect">
            <a:avLst/>
          </a:prstGeom>
        </p:spPr>
      </p:pic>
      <p:sp>
        <p:nvSpPr>
          <p:cNvPr id="8" name="Rectangle 7">
            <a:extLst>
              <a:ext uri="{FF2B5EF4-FFF2-40B4-BE49-F238E27FC236}">
                <a16:creationId xmlns:a16="http://schemas.microsoft.com/office/drawing/2014/main" id="{EE09D848-49CE-1C19-766A-3035E70C19E3}"/>
              </a:ext>
            </a:extLst>
          </p:cNvPr>
          <p:cNvSpPr/>
          <p:nvPr/>
        </p:nvSpPr>
        <p:spPr>
          <a:xfrm>
            <a:off x="868680" y="3063240"/>
            <a:ext cx="2232660" cy="2286000"/>
          </a:xfrm>
          <a:prstGeom prst="rect">
            <a:avLst/>
          </a:prstGeom>
          <a:no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62E0439-2CC6-9A4A-E022-98309206ADB4}"/>
              </a:ext>
            </a:extLst>
          </p:cNvPr>
          <p:cNvSpPr/>
          <p:nvPr/>
        </p:nvSpPr>
        <p:spPr>
          <a:xfrm>
            <a:off x="10652760" y="3096342"/>
            <a:ext cx="1539240" cy="2286000"/>
          </a:xfrm>
          <a:prstGeom prst="rect">
            <a:avLst/>
          </a:prstGeom>
          <a:noFill/>
          <a:ln w="127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2461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DBD80-F3C4-C78E-42CB-B9F70B8A9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90F8C-52D4-83E1-32A2-4D81F26CBC1B}"/>
              </a:ext>
            </a:extLst>
          </p:cNvPr>
          <p:cNvSpPr>
            <a:spLocks noGrp="1"/>
          </p:cNvSpPr>
          <p:nvPr>
            <p:ph type="title"/>
          </p:nvPr>
        </p:nvSpPr>
        <p:spPr/>
        <p:txBody>
          <a:bodyPr/>
          <a:lstStyle/>
          <a:p>
            <a:r>
              <a:rPr lang="en-US" dirty="0"/>
              <a:t>RG-L/ALERT: Physics Timelines</a:t>
            </a:r>
          </a:p>
        </p:txBody>
      </p:sp>
      <p:sp>
        <p:nvSpPr>
          <p:cNvPr id="3" name="Content Placeholder 2">
            <a:extLst>
              <a:ext uri="{FF2B5EF4-FFF2-40B4-BE49-F238E27FC236}">
                <a16:creationId xmlns:a16="http://schemas.microsoft.com/office/drawing/2014/main" id="{41BB3873-EF40-9DD3-4225-3FBC94907470}"/>
              </a:ext>
            </a:extLst>
          </p:cNvPr>
          <p:cNvSpPr>
            <a:spLocks noGrp="1"/>
          </p:cNvSpPr>
          <p:nvPr>
            <p:ph idx="1"/>
          </p:nvPr>
        </p:nvSpPr>
        <p:spPr>
          <a:xfrm>
            <a:off x="109982" y="1032481"/>
            <a:ext cx="12142978" cy="1116359"/>
          </a:xfrm>
        </p:spPr>
        <p:txBody>
          <a:bodyPr>
            <a:normAutofit fontScale="92500"/>
          </a:bodyPr>
          <a:lstStyle/>
          <a:p>
            <a:pPr marL="0" indent="0">
              <a:buNone/>
            </a:pPr>
            <a:r>
              <a:rPr lang="en-US" dirty="0"/>
              <a:t>Last week I produce physics timelines for RG-L, to check the polarization</a:t>
            </a:r>
          </a:p>
          <a:p>
            <a:pPr marL="0" indent="0">
              <a:buNone/>
            </a:pPr>
            <a:r>
              <a:rPr lang="en-US" dirty="0"/>
              <a:t>Look at the HWP status in CCDB vs Mya database: Almost no difference, can’t explain the issue</a:t>
            </a:r>
          </a:p>
        </p:txBody>
      </p:sp>
      <p:sp>
        <p:nvSpPr>
          <p:cNvPr id="4" name="Date Placeholder 3">
            <a:extLst>
              <a:ext uri="{FF2B5EF4-FFF2-40B4-BE49-F238E27FC236}">
                <a16:creationId xmlns:a16="http://schemas.microsoft.com/office/drawing/2014/main" id="{54BE4442-8A2F-E567-A06A-6C7082432BC3}"/>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F8B1A50B-F679-03A6-5545-3514976D9A84}"/>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7BD0F4F1-9682-402D-6147-4340BB44BC7D}"/>
              </a:ext>
            </a:extLst>
          </p:cNvPr>
          <p:cNvSpPr>
            <a:spLocks noGrp="1"/>
          </p:cNvSpPr>
          <p:nvPr>
            <p:ph type="sldNum" sz="quarter" idx="12"/>
          </p:nvPr>
        </p:nvSpPr>
        <p:spPr/>
        <p:txBody>
          <a:bodyPr/>
          <a:lstStyle/>
          <a:p>
            <a:fld id="{C5EF2332-01BF-834F-8236-50238282D533}" type="slidenum">
              <a:rPr lang="en-US" smtClean="0"/>
              <a:t>26</a:t>
            </a:fld>
            <a:endParaRPr lang="en-US"/>
          </a:p>
        </p:txBody>
      </p:sp>
      <p:pic>
        <p:nvPicPr>
          <p:cNvPr id="10" name="Picture 9">
            <a:extLst>
              <a:ext uri="{FF2B5EF4-FFF2-40B4-BE49-F238E27FC236}">
                <a16:creationId xmlns:a16="http://schemas.microsoft.com/office/drawing/2014/main" id="{BE45BD3F-1DAF-CA91-70AD-E59D0DA2C0B5}"/>
              </a:ext>
            </a:extLst>
          </p:cNvPr>
          <p:cNvPicPr>
            <a:picLocks noChangeAspect="1"/>
          </p:cNvPicPr>
          <p:nvPr/>
        </p:nvPicPr>
        <p:blipFill>
          <a:blip r:embed="rId2"/>
          <a:stretch>
            <a:fillRect/>
          </a:stretch>
        </p:blipFill>
        <p:spPr>
          <a:xfrm>
            <a:off x="159544" y="2002257"/>
            <a:ext cx="11582400" cy="4597320"/>
          </a:xfrm>
          <a:prstGeom prst="rect">
            <a:avLst/>
          </a:prstGeom>
        </p:spPr>
      </p:pic>
    </p:spTree>
    <p:extLst>
      <p:ext uri="{BB962C8B-B14F-4D97-AF65-F5344CB8AC3E}">
        <p14:creationId xmlns:p14="http://schemas.microsoft.com/office/powerpoint/2010/main" val="3077256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2832D-1DFB-8CCA-AFF9-985AF7F70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500BC-3519-E52F-ED0A-A828D9373D9D}"/>
              </a:ext>
            </a:extLst>
          </p:cNvPr>
          <p:cNvSpPr>
            <a:spLocks noGrp="1"/>
          </p:cNvSpPr>
          <p:nvPr>
            <p:ph type="title"/>
          </p:nvPr>
        </p:nvSpPr>
        <p:spPr/>
        <p:txBody>
          <a:bodyPr/>
          <a:lstStyle/>
          <a:p>
            <a:r>
              <a:rPr lang="en-US" dirty="0"/>
              <a:t>RG-L/ALERT: Physics Timelines</a:t>
            </a:r>
          </a:p>
        </p:txBody>
      </p:sp>
      <p:sp>
        <p:nvSpPr>
          <p:cNvPr id="3" name="Content Placeholder 2">
            <a:extLst>
              <a:ext uri="{FF2B5EF4-FFF2-40B4-BE49-F238E27FC236}">
                <a16:creationId xmlns:a16="http://schemas.microsoft.com/office/drawing/2014/main" id="{89359B9E-E78E-3467-0B5A-C683BC3B4B19}"/>
              </a:ext>
            </a:extLst>
          </p:cNvPr>
          <p:cNvSpPr>
            <a:spLocks noGrp="1"/>
          </p:cNvSpPr>
          <p:nvPr>
            <p:ph idx="1"/>
          </p:nvPr>
        </p:nvSpPr>
        <p:spPr>
          <a:xfrm>
            <a:off x="109982" y="1032481"/>
            <a:ext cx="11922474" cy="1116359"/>
          </a:xfrm>
        </p:spPr>
        <p:txBody>
          <a:bodyPr/>
          <a:lstStyle/>
          <a:p>
            <a:pPr marL="0" indent="0">
              <a:buNone/>
            </a:pPr>
            <a:r>
              <a:rPr lang="en-US" dirty="0"/>
              <a:t>Last week I produce physics timelines for RG-L, to check the polarization</a:t>
            </a:r>
          </a:p>
          <a:p>
            <a:pPr marL="0" indent="0">
              <a:buNone/>
            </a:pPr>
            <a:r>
              <a:rPr lang="en-US" dirty="0"/>
              <a:t>Same issue with the polarization with the Moller run</a:t>
            </a:r>
          </a:p>
        </p:txBody>
      </p:sp>
      <p:sp>
        <p:nvSpPr>
          <p:cNvPr id="4" name="Date Placeholder 3">
            <a:extLst>
              <a:ext uri="{FF2B5EF4-FFF2-40B4-BE49-F238E27FC236}">
                <a16:creationId xmlns:a16="http://schemas.microsoft.com/office/drawing/2014/main" id="{7C0355BB-C0E8-881D-900E-95475ED71985}"/>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1529A5CD-0B36-CBB8-769E-E866B6966A30}"/>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17BAF9A7-AAC3-42E9-B00A-F74ACB47124F}"/>
              </a:ext>
            </a:extLst>
          </p:cNvPr>
          <p:cNvSpPr>
            <a:spLocks noGrp="1"/>
          </p:cNvSpPr>
          <p:nvPr>
            <p:ph type="sldNum" sz="quarter" idx="12"/>
          </p:nvPr>
        </p:nvSpPr>
        <p:spPr/>
        <p:txBody>
          <a:bodyPr/>
          <a:lstStyle/>
          <a:p>
            <a:fld id="{C5EF2332-01BF-834F-8236-50238282D533}" type="slidenum">
              <a:rPr lang="en-US" smtClean="0"/>
              <a:t>27</a:t>
            </a:fld>
            <a:endParaRPr lang="en-US"/>
          </a:p>
        </p:txBody>
      </p:sp>
      <p:pic>
        <p:nvPicPr>
          <p:cNvPr id="10" name="Picture 9">
            <a:extLst>
              <a:ext uri="{FF2B5EF4-FFF2-40B4-BE49-F238E27FC236}">
                <a16:creationId xmlns:a16="http://schemas.microsoft.com/office/drawing/2014/main" id="{5937A060-BB24-5D65-11F5-1DDCABFDDF53}"/>
              </a:ext>
            </a:extLst>
          </p:cNvPr>
          <p:cNvPicPr>
            <a:picLocks noChangeAspect="1"/>
          </p:cNvPicPr>
          <p:nvPr/>
        </p:nvPicPr>
        <p:blipFill>
          <a:blip r:embed="rId2"/>
          <a:stretch>
            <a:fillRect/>
          </a:stretch>
        </p:blipFill>
        <p:spPr>
          <a:xfrm>
            <a:off x="306044" y="1965960"/>
            <a:ext cx="3921547" cy="4808220"/>
          </a:xfrm>
          <a:prstGeom prst="rect">
            <a:avLst/>
          </a:prstGeom>
        </p:spPr>
      </p:pic>
      <p:pic>
        <p:nvPicPr>
          <p:cNvPr id="11" name="Picture 10">
            <a:extLst>
              <a:ext uri="{FF2B5EF4-FFF2-40B4-BE49-F238E27FC236}">
                <a16:creationId xmlns:a16="http://schemas.microsoft.com/office/drawing/2014/main" id="{989E39DB-29EF-D081-126E-C8C7490F7775}"/>
              </a:ext>
            </a:extLst>
          </p:cNvPr>
          <p:cNvPicPr>
            <a:picLocks noChangeAspect="1"/>
          </p:cNvPicPr>
          <p:nvPr/>
        </p:nvPicPr>
        <p:blipFill>
          <a:blip r:embed="rId3"/>
          <a:stretch>
            <a:fillRect/>
          </a:stretch>
        </p:blipFill>
        <p:spPr>
          <a:xfrm>
            <a:off x="4568339" y="1965960"/>
            <a:ext cx="3875030" cy="4892040"/>
          </a:xfrm>
          <a:prstGeom prst="rect">
            <a:avLst/>
          </a:prstGeom>
        </p:spPr>
      </p:pic>
    </p:spTree>
    <p:extLst>
      <p:ext uri="{BB962C8B-B14F-4D97-AF65-F5344CB8AC3E}">
        <p14:creationId xmlns:p14="http://schemas.microsoft.com/office/powerpoint/2010/main" val="3170646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F019B-9A60-C251-7C1D-8970F455AE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1542C-D323-FB7D-D662-0F7D00757E55}"/>
              </a:ext>
            </a:extLst>
          </p:cNvPr>
          <p:cNvSpPr>
            <a:spLocks noGrp="1"/>
          </p:cNvSpPr>
          <p:nvPr>
            <p:ph type="title"/>
          </p:nvPr>
        </p:nvSpPr>
        <p:spPr/>
        <p:txBody>
          <a:bodyPr/>
          <a:lstStyle/>
          <a:p>
            <a:r>
              <a:rPr lang="en-US" dirty="0"/>
              <a:t>RG-L/ALERT: Physics Timelines</a:t>
            </a:r>
          </a:p>
        </p:txBody>
      </p:sp>
      <p:sp>
        <p:nvSpPr>
          <p:cNvPr id="3" name="Content Placeholder 2">
            <a:extLst>
              <a:ext uri="{FF2B5EF4-FFF2-40B4-BE49-F238E27FC236}">
                <a16:creationId xmlns:a16="http://schemas.microsoft.com/office/drawing/2014/main" id="{D2570014-911D-5D3C-D500-ACA2862A9218}"/>
              </a:ext>
            </a:extLst>
          </p:cNvPr>
          <p:cNvSpPr>
            <a:spLocks noGrp="1"/>
          </p:cNvSpPr>
          <p:nvPr>
            <p:ph idx="1"/>
          </p:nvPr>
        </p:nvSpPr>
        <p:spPr>
          <a:xfrm>
            <a:off x="109982" y="1032481"/>
            <a:ext cx="12142978" cy="1116359"/>
          </a:xfrm>
        </p:spPr>
        <p:txBody>
          <a:bodyPr>
            <a:normAutofit fontScale="92500"/>
          </a:bodyPr>
          <a:lstStyle/>
          <a:p>
            <a:pPr marL="0" indent="0">
              <a:buNone/>
            </a:pPr>
            <a:r>
              <a:rPr lang="en-US" dirty="0"/>
              <a:t>Last week I produce physics timelines for RG-L, to check the polarization</a:t>
            </a:r>
          </a:p>
          <a:p>
            <a:pPr marL="0" indent="0">
              <a:buNone/>
            </a:pPr>
            <a:r>
              <a:rPr lang="en-US" dirty="0"/>
              <a:t>Look at the HWP status in CCDB vs Mya database: Almost no difference, can’t explain the issue</a:t>
            </a:r>
          </a:p>
        </p:txBody>
      </p:sp>
      <p:sp>
        <p:nvSpPr>
          <p:cNvPr id="4" name="Date Placeholder 3">
            <a:extLst>
              <a:ext uri="{FF2B5EF4-FFF2-40B4-BE49-F238E27FC236}">
                <a16:creationId xmlns:a16="http://schemas.microsoft.com/office/drawing/2014/main" id="{825619C8-F1F8-8334-3087-55A605944FC8}"/>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35EC192D-AEEF-DD54-CC1D-F6657FF00BA6}"/>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14A12175-C81B-87C1-A9F2-4ACDE21D304B}"/>
              </a:ext>
            </a:extLst>
          </p:cNvPr>
          <p:cNvSpPr>
            <a:spLocks noGrp="1"/>
          </p:cNvSpPr>
          <p:nvPr>
            <p:ph type="sldNum" sz="quarter" idx="12"/>
          </p:nvPr>
        </p:nvSpPr>
        <p:spPr/>
        <p:txBody>
          <a:bodyPr/>
          <a:lstStyle/>
          <a:p>
            <a:fld id="{C5EF2332-01BF-834F-8236-50238282D533}" type="slidenum">
              <a:rPr lang="en-US" smtClean="0"/>
              <a:t>28</a:t>
            </a:fld>
            <a:endParaRPr lang="en-US"/>
          </a:p>
        </p:txBody>
      </p:sp>
      <p:pic>
        <p:nvPicPr>
          <p:cNvPr id="7" name="Picture 6">
            <a:extLst>
              <a:ext uri="{FF2B5EF4-FFF2-40B4-BE49-F238E27FC236}">
                <a16:creationId xmlns:a16="http://schemas.microsoft.com/office/drawing/2014/main" id="{2E3F2D96-6512-75FA-1326-87CF8FFDEDA0}"/>
              </a:ext>
            </a:extLst>
          </p:cNvPr>
          <p:cNvPicPr>
            <a:picLocks noChangeAspect="1"/>
          </p:cNvPicPr>
          <p:nvPr/>
        </p:nvPicPr>
        <p:blipFill>
          <a:blip r:embed="rId2"/>
          <a:stretch>
            <a:fillRect/>
          </a:stretch>
        </p:blipFill>
        <p:spPr>
          <a:xfrm>
            <a:off x="234061" y="1856333"/>
            <a:ext cx="11723878" cy="4889167"/>
          </a:xfrm>
          <a:prstGeom prst="rect">
            <a:avLst/>
          </a:prstGeom>
        </p:spPr>
      </p:pic>
    </p:spTree>
    <p:extLst>
      <p:ext uri="{BB962C8B-B14F-4D97-AF65-F5344CB8AC3E}">
        <p14:creationId xmlns:p14="http://schemas.microsoft.com/office/powerpoint/2010/main" val="3469082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7D2A9-3D9B-7699-FAE5-E619CAAB9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BFF946-E261-94E7-ADA8-48002D6D3270}"/>
              </a:ext>
            </a:extLst>
          </p:cNvPr>
          <p:cNvSpPr>
            <a:spLocks noGrp="1"/>
          </p:cNvSpPr>
          <p:nvPr>
            <p:ph type="title"/>
          </p:nvPr>
        </p:nvSpPr>
        <p:spPr/>
        <p:txBody>
          <a:bodyPr/>
          <a:lstStyle/>
          <a:p>
            <a:r>
              <a:rPr lang="en-US" dirty="0"/>
              <a:t>RG-L/ALERT: Physics Timelines</a:t>
            </a:r>
          </a:p>
        </p:txBody>
      </p:sp>
      <p:sp>
        <p:nvSpPr>
          <p:cNvPr id="3" name="Content Placeholder 2">
            <a:extLst>
              <a:ext uri="{FF2B5EF4-FFF2-40B4-BE49-F238E27FC236}">
                <a16:creationId xmlns:a16="http://schemas.microsoft.com/office/drawing/2014/main" id="{65F52B20-DC73-FD3D-109A-C54D7C6A720A}"/>
              </a:ext>
            </a:extLst>
          </p:cNvPr>
          <p:cNvSpPr>
            <a:spLocks noGrp="1"/>
          </p:cNvSpPr>
          <p:nvPr>
            <p:ph idx="1"/>
          </p:nvPr>
        </p:nvSpPr>
        <p:spPr>
          <a:xfrm>
            <a:off x="109982" y="1032481"/>
            <a:ext cx="12142978" cy="4918739"/>
          </a:xfrm>
        </p:spPr>
        <p:txBody>
          <a:bodyPr>
            <a:normAutofit/>
          </a:bodyPr>
          <a:lstStyle/>
          <a:p>
            <a:pPr marL="0" indent="0">
              <a:buNone/>
            </a:pPr>
            <a:r>
              <a:rPr lang="en-US" dirty="0"/>
              <a:t>Last week I produce physics timelines for RG-L, to check the polarization</a:t>
            </a:r>
          </a:p>
          <a:p>
            <a:pPr marL="0" indent="0">
              <a:buNone/>
            </a:pPr>
            <a:r>
              <a:rPr lang="en-US" dirty="0"/>
              <a:t>Look at the HWP status in CCDB vs Mya database: Almost no difference, can’t explain the issue</a:t>
            </a:r>
          </a:p>
          <a:p>
            <a:pPr marL="0" indent="0">
              <a:buNone/>
            </a:pPr>
            <a:endParaRPr lang="en-US" dirty="0"/>
          </a:p>
          <a:p>
            <a:pPr marL="0" indent="0">
              <a:buNone/>
            </a:pPr>
            <a:r>
              <a:rPr lang="en-US" dirty="0"/>
              <a:t>I also discuss that with Stepan, and he don’t think the modification of the Wien angle modification can explain the issue. </a:t>
            </a:r>
          </a:p>
          <a:p>
            <a:pPr marL="0" indent="0">
              <a:buNone/>
            </a:pPr>
            <a:r>
              <a:rPr lang="en-US" dirty="0"/>
              <a:t>So, he told me that the best thing to do would be to send an email to expert: Riad Suleiman to ask more details. I send the email yesterday, I hope I will have the answer today or tomorrow.</a:t>
            </a:r>
          </a:p>
        </p:txBody>
      </p:sp>
      <p:sp>
        <p:nvSpPr>
          <p:cNvPr id="4" name="Date Placeholder 3">
            <a:extLst>
              <a:ext uri="{FF2B5EF4-FFF2-40B4-BE49-F238E27FC236}">
                <a16:creationId xmlns:a16="http://schemas.microsoft.com/office/drawing/2014/main" id="{6BC7C797-5271-A5A9-04E7-57824789FC1A}"/>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B1DDCC5C-1976-9459-983B-362C21AB0C6B}"/>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CFA017C3-2E46-46A1-0C20-16B8AABB08F6}"/>
              </a:ext>
            </a:extLst>
          </p:cNvPr>
          <p:cNvSpPr>
            <a:spLocks noGrp="1"/>
          </p:cNvSpPr>
          <p:nvPr>
            <p:ph type="sldNum" sz="quarter" idx="12"/>
          </p:nvPr>
        </p:nvSpPr>
        <p:spPr/>
        <p:txBody>
          <a:bodyPr/>
          <a:lstStyle/>
          <a:p>
            <a:fld id="{C5EF2332-01BF-834F-8236-50238282D533}" type="slidenum">
              <a:rPr lang="en-US" smtClean="0"/>
              <a:t>29</a:t>
            </a:fld>
            <a:endParaRPr lang="en-US"/>
          </a:p>
        </p:txBody>
      </p:sp>
    </p:spTree>
    <p:extLst>
      <p:ext uri="{BB962C8B-B14F-4D97-AF65-F5344CB8AC3E}">
        <p14:creationId xmlns:p14="http://schemas.microsoft.com/office/powerpoint/2010/main" val="2241776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22ACD-8455-A305-4918-9DF506669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4E9DC-1001-8A23-5BEA-4210DD122E8F}"/>
              </a:ext>
            </a:extLst>
          </p:cNvPr>
          <p:cNvSpPr>
            <a:spLocks noGrp="1"/>
          </p:cNvSpPr>
          <p:nvPr>
            <p:ph type="title"/>
          </p:nvPr>
        </p:nvSpPr>
        <p:spPr/>
        <p:txBody>
          <a:bodyPr/>
          <a:lstStyle/>
          <a:p>
            <a:r>
              <a:rPr lang="en-US" dirty="0"/>
              <a:t>Other works</a:t>
            </a:r>
          </a:p>
        </p:txBody>
      </p:sp>
      <p:sp>
        <p:nvSpPr>
          <p:cNvPr id="3" name="Content Placeholder 2">
            <a:extLst>
              <a:ext uri="{FF2B5EF4-FFF2-40B4-BE49-F238E27FC236}">
                <a16:creationId xmlns:a16="http://schemas.microsoft.com/office/drawing/2014/main" id="{2B653921-843B-8094-ACA1-DE4F3FF760FC}"/>
              </a:ext>
            </a:extLst>
          </p:cNvPr>
          <p:cNvSpPr>
            <a:spLocks noGrp="1"/>
          </p:cNvSpPr>
          <p:nvPr>
            <p:ph idx="1"/>
          </p:nvPr>
        </p:nvSpPr>
        <p:spPr>
          <a:xfrm>
            <a:off x="109982" y="1032481"/>
            <a:ext cx="12142978" cy="4644419"/>
          </a:xfrm>
        </p:spPr>
        <p:txBody>
          <a:bodyPr>
            <a:normAutofit/>
          </a:bodyPr>
          <a:lstStyle/>
          <a:p>
            <a:pPr marL="0" indent="0">
              <a:buNone/>
            </a:pPr>
            <a:r>
              <a:rPr lang="en-US" dirty="0"/>
              <a:t>CLAS Collaboration meeting in 3 weeks</a:t>
            </a:r>
          </a:p>
          <a:p>
            <a:pPr marL="0" indent="0">
              <a:buNone/>
            </a:pPr>
            <a:r>
              <a:rPr lang="en-US" dirty="0"/>
              <a:t>I guess I will give the RG-D update? </a:t>
            </a:r>
          </a:p>
          <a:p>
            <a:pPr marL="0" indent="0">
              <a:buNone/>
            </a:pPr>
            <a:r>
              <a:rPr lang="en-US" dirty="0"/>
              <a:t>Should I also give a software talk about the GNN development/implementation?</a:t>
            </a:r>
          </a:p>
          <a:p>
            <a:pPr marL="0" indent="0">
              <a:buNone/>
            </a:pPr>
            <a:endParaRPr lang="en-US" dirty="0"/>
          </a:p>
          <a:p>
            <a:pPr marL="0" indent="0">
              <a:buNone/>
            </a:pPr>
            <a:r>
              <a:rPr lang="en-US" dirty="0"/>
              <a:t>I also need to work a bit on the Student and Post doc meeting </a:t>
            </a:r>
          </a:p>
        </p:txBody>
      </p:sp>
      <p:sp>
        <p:nvSpPr>
          <p:cNvPr id="4" name="Date Placeholder 3">
            <a:extLst>
              <a:ext uri="{FF2B5EF4-FFF2-40B4-BE49-F238E27FC236}">
                <a16:creationId xmlns:a16="http://schemas.microsoft.com/office/drawing/2014/main" id="{3E9CEF6A-5A83-FE60-30BD-98D70472744F}"/>
              </a:ext>
            </a:extLst>
          </p:cNvPr>
          <p:cNvSpPr>
            <a:spLocks noGrp="1"/>
          </p:cNvSpPr>
          <p:nvPr>
            <p:ph type="dt" sz="half" idx="10"/>
          </p:nvPr>
        </p:nvSpPr>
        <p:spPr/>
        <p:txBody>
          <a:bodyPr/>
          <a:lstStyle/>
          <a:p>
            <a:r>
              <a:rPr lang="en-US"/>
              <a:t>06/02/26</a:t>
            </a:r>
            <a:endParaRPr lang="en-US" dirty="0"/>
          </a:p>
        </p:txBody>
      </p:sp>
      <p:sp>
        <p:nvSpPr>
          <p:cNvPr id="5" name="Footer Placeholder 4">
            <a:extLst>
              <a:ext uri="{FF2B5EF4-FFF2-40B4-BE49-F238E27FC236}">
                <a16:creationId xmlns:a16="http://schemas.microsoft.com/office/drawing/2014/main" id="{0BED6FE8-0F9E-2562-CEE7-20193DF3F170}"/>
              </a:ext>
            </a:extLst>
          </p:cNvPr>
          <p:cNvSpPr>
            <a:spLocks noGrp="1"/>
          </p:cNvSpPr>
          <p:nvPr>
            <p:ph type="ftr" sz="quarter" idx="11"/>
          </p:nvPr>
        </p:nvSpPr>
        <p:spPr/>
        <p:txBody>
          <a:bodyPr/>
          <a:lstStyle/>
          <a:p>
            <a:r>
              <a:rPr lang="en-US"/>
              <a:t>Group meeting</a:t>
            </a:r>
          </a:p>
        </p:txBody>
      </p:sp>
      <p:sp>
        <p:nvSpPr>
          <p:cNvPr id="6" name="Slide Number Placeholder 5">
            <a:extLst>
              <a:ext uri="{FF2B5EF4-FFF2-40B4-BE49-F238E27FC236}">
                <a16:creationId xmlns:a16="http://schemas.microsoft.com/office/drawing/2014/main" id="{DFB15CF2-6778-3569-5142-63A7CCE5D0D9}"/>
              </a:ext>
            </a:extLst>
          </p:cNvPr>
          <p:cNvSpPr>
            <a:spLocks noGrp="1"/>
          </p:cNvSpPr>
          <p:nvPr>
            <p:ph type="sldNum" sz="quarter" idx="12"/>
          </p:nvPr>
        </p:nvSpPr>
        <p:spPr/>
        <p:txBody>
          <a:bodyPr/>
          <a:lstStyle/>
          <a:p>
            <a:fld id="{C5EF2332-01BF-834F-8236-50238282D533}" type="slidenum">
              <a:rPr lang="en-US" smtClean="0"/>
              <a:t>30</a:t>
            </a:fld>
            <a:endParaRPr lang="en-US"/>
          </a:p>
        </p:txBody>
      </p:sp>
    </p:spTree>
    <p:extLst>
      <p:ext uri="{BB962C8B-B14F-4D97-AF65-F5344CB8AC3E}">
        <p14:creationId xmlns:p14="http://schemas.microsoft.com/office/powerpoint/2010/main" val="422056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195E4-88D7-69F5-83A6-D0E5C8932B33}"/>
              </a:ext>
            </a:extLst>
          </p:cNvPr>
          <p:cNvSpPr>
            <a:spLocks noGrp="1"/>
          </p:cNvSpPr>
          <p:nvPr>
            <p:ph type="title"/>
          </p:nvPr>
        </p:nvSpPr>
        <p:spPr/>
        <p:txBody>
          <a:bodyPr/>
          <a:lstStyle/>
          <a:p>
            <a:r>
              <a:rPr lang="en-US" cap="small" dirty="0"/>
              <a:t>To do list</a:t>
            </a:r>
          </a:p>
        </p:txBody>
      </p:sp>
      <p:sp>
        <p:nvSpPr>
          <p:cNvPr id="3" name="Content Placeholder 2">
            <a:extLst>
              <a:ext uri="{FF2B5EF4-FFF2-40B4-BE49-F238E27FC236}">
                <a16:creationId xmlns:a16="http://schemas.microsoft.com/office/drawing/2014/main" id="{FF7E2598-B386-02D3-ECE4-6A6D09FB64DA}"/>
              </a:ext>
            </a:extLst>
          </p:cNvPr>
          <p:cNvSpPr>
            <a:spLocks noGrp="1"/>
          </p:cNvSpPr>
          <p:nvPr>
            <p:ph idx="1"/>
          </p:nvPr>
        </p:nvSpPr>
        <p:spPr/>
        <p:txBody>
          <a:bodyPr>
            <a:normAutofit/>
          </a:bodyPr>
          <a:lstStyle/>
          <a:p>
            <a:r>
              <a:rPr lang="en-US" dirty="0">
                <a:latin typeface="Fira Sans Light" panose="020B0403050000020004" pitchFamily="34" charset="0"/>
                <a:ea typeface="Fira Sans Light" panose="020B0403050000020004" pitchFamily="34" charset="0"/>
              </a:rPr>
              <a:t>RG-D:</a:t>
            </a:r>
          </a:p>
          <a:p>
            <a:pPr lvl="1"/>
            <a:r>
              <a:rPr lang="en-US" dirty="0"/>
              <a:t>C</a:t>
            </a:r>
            <a:r>
              <a:rPr lang="en-US" dirty="0">
                <a:latin typeface="Fira Sans Light" panose="020B0403050000020004" pitchFamily="34" charset="0"/>
                <a:ea typeface="Fira Sans Light" panose="020B0403050000020004" pitchFamily="34" charset="0"/>
              </a:rPr>
              <a:t>ontamination study for </a:t>
            </a:r>
            <a:r>
              <a:rPr lang="en-US" dirty="0" err="1">
                <a:latin typeface="Fira Sans Light" panose="020B0403050000020004" pitchFamily="34" charset="0"/>
                <a:ea typeface="Fira Sans Light" panose="020B0403050000020004" pitchFamily="34" charset="0"/>
              </a:rPr>
              <a:t>pions</a:t>
            </a:r>
            <a:r>
              <a:rPr lang="en-US" dirty="0">
                <a:latin typeface="Fira Sans Light" panose="020B0403050000020004" pitchFamily="34" charset="0"/>
                <a:ea typeface="Fira Sans Light" panose="020B0403050000020004" pitchFamily="34" charset="0"/>
              </a:rPr>
              <a:t>/Understanding </a:t>
            </a:r>
            <a:r>
              <a:rPr lang="en-US" dirty="0" err="1">
                <a:latin typeface="Fira Sans Light" panose="020B0403050000020004" pitchFamily="34" charset="0"/>
                <a:ea typeface="Fira Sans Light" panose="020B0403050000020004" pitchFamily="34" charset="0"/>
              </a:rPr>
              <a:t>Vz</a:t>
            </a:r>
            <a:r>
              <a:rPr lang="en-US" dirty="0">
                <a:latin typeface="Fira Sans Light" panose="020B0403050000020004" pitchFamily="34" charset="0"/>
                <a:ea typeface="Fira Sans Light" panose="020B0403050000020004" pitchFamily="34" charset="0"/>
              </a:rPr>
              <a:t> for pion in simulation </a:t>
            </a:r>
          </a:p>
          <a:p>
            <a:pPr lvl="1"/>
            <a:r>
              <a:rPr lang="en-US" dirty="0"/>
              <a:t>Work on the binning</a:t>
            </a:r>
            <a:endParaRPr lang="en-US" dirty="0">
              <a:latin typeface="Fira Sans Light" panose="020B0403050000020004" pitchFamily="34" charset="0"/>
              <a:ea typeface="Fira Sans Light" panose="020B0403050000020004" pitchFamily="34" charset="0"/>
            </a:endParaRPr>
          </a:p>
          <a:p>
            <a:pPr lvl="1"/>
            <a:r>
              <a:rPr lang="en-US" dirty="0">
                <a:latin typeface="Fira Sans Light" panose="020B0403050000020004" pitchFamily="34" charset="0"/>
                <a:ea typeface="Fira Sans Light" panose="020B0403050000020004" pitchFamily="34" charset="0"/>
              </a:rPr>
              <a:t>Continue the work on cos and sin </a:t>
            </a:r>
            <a:r>
              <a:rPr lang="en-US" dirty="0" err="1">
                <a:latin typeface="Fira Sans Light" panose="020B0403050000020004" pitchFamily="34" charset="0"/>
                <a:ea typeface="Fira Sans Light" panose="020B0403050000020004" pitchFamily="34" charset="0"/>
              </a:rPr>
              <a:t>φ</a:t>
            </a:r>
            <a:r>
              <a:rPr lang="en-US" baseline="-25000" dirty="0" err="1">
                <a:latin typeface="Fira Sans Light" panose="020B0403050000020004" pitchFamily="34" charset="0"/>
                <a:ea typeface="Fira Sans Light" panose="020B0403050000020004" pitchFamily="34" charset="0"/>
              </a:rPr>
              <a:t>h</a:t>
            </a:r>
            <a:r>
              <a:rPr lang="en-US" dirty="0">
                <a:latin typeface="Fira Sans Light" panose="020B0403050000020004" pitchFamily="34" charset="0"/>
                <a:ea typeface="Fira Sans Light" panose="020B0403050000020004" pitchFamily="34" charset="0"/>
              </a:rPr>
              <a:t> extraction </a:t>
            </a:r>
          </a:p>
          <a:p>
            <a:pPr lvl="1"/>
            <a:r>
              <a:rPr lang="en-US" dirty="0">
                <a:latin typeface="Fira Sans Light" panose="020B0403050000020004" pitchFamily="34" charset="0"/>
                <a:ea typeface="Fira Sans Light" panose="020B0403050000020004" pitchFamily="34" charset="0"/>
              </a:rPr>
              <a:t>Radiative and acceptance correction</a:t>
            </a:r>
          </a:p>
          <a:p>
            <a:pPr lvl="1"/>
            <a:r>
              <a:rPr lang="en-US" dirty="0">
                <a:latin typeface="Fira Sans Light" panose="020B0403050000020004" pitchFamily="34" charset="0"/>
                <a:ea typeface="Fira Sans Light" panose="020B0403050000020004" pitchFamily="34" charset="0"/>
              </a:rPr>
              <a:t>Background for ρ</a:t>
            </a:r>
            <a:r>
              <a:rPr lang="en-US" baseline="30000" dirty="0">
                <a:latin typeface="Fira Sans Light" panose="020B0403050000020004" pitchFamily="34" charset="0"/>
                <a:ea typeface="Fira Sans Light" panose="020B0403050000020004" pitchFamily="34" charset="0"/>
              </a:rPr>
              <a:t>0</a:t>
            </a:r>
            <a:r>
              <a:rPr lang="en-US" dirty="0">
                <a:latin typeface="Fira Sans Light" panose="020B0403050000020004" pitchFamily="34" charset="0"/>
                <a:ea typeface="Fira Sans Light" panose="020B0403050000020004" pitchFamily="34" charset="0"/>
              </a:rPr>
              <a:t> with simulation for CT analysis</a:t>
            </a:r>
          </a:p>
          <a:p>
            <a:pPr lvl="1"/>
            <a:r>
              <a:rPr lang="en-US" dirty="0"/>
              <a:t>Write README and analysis details about the code </a:t>
            </a:r>
          </a:p>
          <a:p>
            <a:pPr lvl="1"/>
            <a:endParaRPr lang="en-US" dirty="0">
              <a:latin typeface="Fira Sans Light" panose="020B0403050000020004" pitchFamily="34" charset="0"/>
              <a:ea typeface="Fira Sans Light" panose="020B0403050000020004" pitchFamily="34" charset="0"/>
            </a:endParaRPr>
          </a:p>
          <a:p>
            <a:r>
              <a:rPr lang="en-US" dirty="0"/>
              <a:t>ALERT: </a:t>
            </a:r>
          </a:p>
          <a:p>
            <a:pPr lvl="1"/>
            <a:r>
              <a:rPr lang="en-US" dirty="0"/>
              <a:t>Understand the reason for the wrong polarization in the </a:t>
            </a:r>
            <a:r>
              <a:rPr lang="en-US" dirty="0" err="1"/>
              <a:t>timlines</a:t>
            </a:r>
            <a:endParaRPr lang="en-US" dirty="0">
              <a:latin typeface="Fira Sans Light" panose="020B0403050000020004" pitchFamily="34" charset="0"/>
              <a:ea typeface="Fira Sans Light" panose="020B0403050000020004" pitchFamily="34" charset="0"/>
            </a:endParaRPr>
          </a:p>
        </p:txBody>
      </p:sp>
      <p:sp>
        <p:nvSpPr>
          <p:cNvPr id="4" name="Date Placeholder 3">
            <a:extLst>
              <a:ext uri="{FF2B5EF4-FFF2-40B4-BE49-F238E27FC236}">
                <a16:creationId xmlns:a16="http://schemas.microsoft.com/office/drawing/2014/main" id="{7EA120B9-0D55-C183-E2CD-1FE69337A251}"/>
              </a:ext>
            </a:extLst>
          </p:cNvPr>
          <p:cNvSpPr>
            <a:spLocks noGrp="1"/>
          </p:cNvSpPr>
          <p:nvPr>
            <p:ph type="dt" sz="half" idx="10"/>
          </p:nvPr>
        </p:nvSpPr>
        <p:spPr/>
        <p:txBody>
          <a:bodyPr/>
          <a:lstStyle/>
          <a:p>
            <a:r>
              <a:rPr lang="en-US"/>
              <a:t>06/02/26</a:t>
            </a:r>
          </a:p>
        </p:txBody>
      </p:sp>
      <p:sp>
        <p:nvSpPr>
          <p:cNvPr id="6" name="Slide Number Placeholder 5">
            <a:extLst>
              <a:ext uri="{FF2B5EF4-FFF2-40B4-BE49-F238E27FC236}">
                <a16:creationId xmlns:a16="http://schemas.microsoft.com/office/drawing/2014/main" id="{1204FCEA-620F-8086-B86F-5A1E2FD7BAB0}"/>
              </a:ext>
            </a:extLst>
          </p:cNvPr>
          <p:cNvSpPr>
            <a:spLocks noGrp="1"/>
          </p:cNvSpPr>
          <p:nvPr>
            <p:ph type="sldNum" sz="quarter" idx="12"/>
          </p:nvPr>
        </p:nvSpPr>
        <p:spPr/>
        <p:txBody>
          <a:bodyPr/>
          <a:lstStyle/>
          <a:p>
            <a:fld id="{C5EF2332-01BF-834F-8236-50238282D533}" type="slidenum">
              <a:rPr lang="en-US" smtClean="0"/>
              <a:t>31</a:t>
            </a:fld>
            <a:endParaRPr lang="en-US"/>
          </a:p>
        </p:txBody>
      </p:sp>
      <p:sp>
        <p:nvSpPr>
          <p:cNvPr id="5" name="Footer Placeholder 4">
            <a:extLst>
              <a:ext uri="{FF2B5EF4-FFF2-40B4-BE49-F238E27FC236}">
                <a16:creationId xmlns:a16="http://schemas.microsoft.com/office/drawing/2014/main" id="{CAAA86AE-223C-803F-A19B-9CAD39110687}"/>
              </a:ext>
            </a:extLst>
          </p:cNvPr>
          <p:cNvSpPr>
            <a:spLocks noGrp="1"/>
          </p:cNvSpPr>
          <p:nvPr>
            <p:ph type="ftr" sz="quarter" idx="11"/>
          </p:nvPr>
        </p:nvSpPr>
        <p:spPr/>
        <p:txBody>
          <a:bodyPr/>
          <a:lstStyle/>
          <a:p>
            <a:r>
              <a:rPr lang="en-US"/>
              <a:t>Group meeting</a:t>
            </a:r>
          </a:p>
        </p:txBody>
      </p:sp>
    </p:spTree>
    <p:extLst>
      <p:ext uri="{BB962C8B-B14F-4D97-AF65-F5344CB8AC3E}">
        <p14:creationId xmlns:p14="http://schemas.microsoft.com/office/powerpoint/2010/main" val="1754477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5496074-1DCC-FD49-93DA-4F2CC4561AAB}">
  <we:reference id="wa200010001" version="1.0.0.1" store="en-US" storeType="OMEX"/>
  <we:alternateReferences>
    <we:reference id="WA200010001" version="1.0.0.1" store="WA200010001" storeType="OMEX"/>
  </we:alternateReferences>
  <we:properties>
    <we:property name="claude.fileId" value="&quot;fb46c37d-841d-4d0b-b2b7-fe02fdbc604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5C88D9CA-47B6-6A4B-8F47-1A768226DC03}">
  <we:reference id="wa200007297" version="1.5.0.0" store="en-US" storeType="OMEX"/>
  <we:alternateReferences>
    <we:reference id="WA200007297" version="1.5.0.0" store="WA200007297"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19619</TotalTime>
  <Words>1778</Words>
  <Application>Microsoft Macintosh PowerPoint</Application>
  <PresentationFormat>Widescreen</PresentationFormat>
  <Paragraphs>254</Paragraphs>
  <Slides>31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Fira Sans</vt:lpstr>
      <vt:lpstr>Fira Sans Light</vt:lpstr>
      <vt:lpstr>Office Theme</vt:lpstr>
      <vt:lpstr>Group meeting</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MC Pion </vt:lpstr>
      <vt:lpstr>RG-D: ᴨ0 analysis</vt:lpstr>
      <vt:lpstr>RG-D: ᴨ0 analysis</vt:lpstr>
      <vt:lpstr>RG-D: ᴨ0 analysis</vt:lpstr>
      <vt:lpstr>RG-L/ALERT: Physics Timelines</vt:lpstr>
      <vt:lpstr>RG-L/ALERT: Physics Timelines</vt:lpstr>
      <vt:lpstr>RG-L/ALERT: Physics Timelines</vt:lpstr>
      <vt:lpstr>RG-L/ALERT: Physics Timelines</vt:lpstr>
      <vt:lpstr>RG-L/ALERT: Physics Timelines</vt:lpstr>
      <vt:lpstr>RG-L/ALERT: Physics Timelines</vt:lpstr>
      <vt:lpstr>Other works</vt:lpstr>
      <vt:lpstr>To do list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Panorámica</PresentationFormat>
  <Paragraphs>15</Paragraphs>
  <Slides>4</Slides>
  <Notes>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Atomización Ultrasónica. Parámetros y dinámica del fenómeno.</dc:title>
  <dc:creator>Josué D. Meneses Díaz</dc:creator>
  <cp:keywords/>
  <cp:lastModifiedBy>Ouillon, Mathieu</cp:lastModifiedBy>
  <cp:revision>752</cp:revision>
  <dcterms:created xsi:type="dcterms:W3CDTF">2019-12-03T01:04:10Z</dcterms:created>
  <dcterms:modified xsi:type="dcterms:W3CDTF">2026-06-02T19:29:41Z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..\bib\bibliografia.bib</vt:lpwstr>
  </property>
  <property fmtid="{D5CDD505-2E9C-101B-9397-08002B2CF9AE}" pid="3" name="date">
    <vt:lpwstr>26-11-2019</vt:lpwstr>
  </property>
</Properties>
</file>