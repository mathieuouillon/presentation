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ira Sans ExtraLight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Nunito Medium"/>
      <p:regular r:id="rId28"/>
      <p:bold r:id="rId29"/>
      <p:italic r:id="rId30"/>
      <p:boldItalic r:id="rId31"/>
    </p:embeddedFont>
    <p:embeddedFont>
      <p:font typeface="Fira Sans"/>
      <p:regular r:id="rId32"/>
      <p:bold r:id="rId33"/>
      <p:italic r:id="rId34"/>
      <p:boldItalic r:id="rId35"/>
    </p:embeddedFont>
    <p:embeddedFont>
      <p:font typeface="Fira Sans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Light-regular.fntdata"/><Relationship Id="rId22" Type="http://schemas.openxmlformats.org/officeDocument/2006/relationships/font" Target="fonts/FiraSansExtraLight-italic.fntdata"/><Relationship Id="rId21" Type="http://schemas.openxmlformats.org/officeDocument/2006/relationships/font" Target="fonts/FiraSansExtraLight-bold.fntdata"/><Relationship Id="rId24" Type="http://schemas.openxmlformats.org/officeDocument/2006/relationships/font" Target="fonts/Nunito-regular.fntdata"/><Relationship Id="rId23" Type="http://schemas.openxmlformats.org/officeDocument/2006/relationships/font" Target="fonts/FiraSansExtra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NunitoMedium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Medium-boldItalic.fntdata"/><Relationship Id="rId30" Type="http://schemas.openxmlformats.org/officeDocument/2006/relationships/font" Target="fonts/NunitoMedium-italic.fntdata"/><Relationship Id="rId11" Type="http://schemas.openxmlformats.org/officeDocument/2006/relationships/slide" Target="slides/slide6.xml"/><Relationship Id="rId33" Type="http://schemas.openxmlformats.org/officeDocument/2006/relationships/font" Target="fonts/FiraSans-bold.fntdata"/><Relationship Id="rId10" Type="http://schemas.openxmlformats.org/officeDocument/2006/relationships/slide" Target="slides/slide5.xml"/><Relationship Id="rId32" Type="http://schemas.openxmlformats.org/officeDocument/2006/relationships/font" Target="fonts/FiraSans-regular.fntdata"/><Relationship Id="rId13" Type="http://schemas.openxmlformats.org/officeDocument/2006/relationships/slide" Target="slides/slide8.xml"/><Relationship Id="rId35" Type="http://schemas.openxmlformats.org/officeDocument/2006/relationships/font" Target="fonts/FiraSans-boldItalic.fntdata"/><Relationship Id="rId12" Type="http://schemas.openxmlformats.org/officeDocument/2006/relationships/slide" Target="slides/slide7.xml"/><Relationship Id="rId34" Type="http://schemas.openxmlformats.org/officeDocument/2006/relationships/font" Target="fonts/FiraSans-italic.fntdata"/><Relationship Id="rId15" Type="http://schemas.openxmlformats.org/officeDocument/2006/relationships/slide" Target="slides/slide10.xml"/><Relationship Id="rId37" Type="http://schemas.openxmlformats.org/officeDocument/2006/relationships/font" Target="fonts/FiraSansLight-bold.fntdata"/><Relationship Id="rId14" Type="http://schemas.openxmlformats.org/officeDocument/2006/relationships/slide" Target="slides/slide9.xml"/><Relationship Id="rId36" Type="http://schemas.openxmlformats.org/officeDocument/2006/relationships/font" Target="fonts/FiraSansLight-regular.fntdata"/><Relationship Id="rId17" Type="http://schemas.openxmlformats.org/officeDocument/2006/relationships/slide" Target="slides/slide12.xml"/><Relationship Id="rId39" Type="http://schemas.openxmlformats.org/officeDocument/2006/relationships/font" Target="fonts/FiraSans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FiraSans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b208be983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b208be983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b208be983_2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7938ef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57938ef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056429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f056429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f056429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f056429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f0564290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f0564290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f0564290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f0564290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f0564290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f0564290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f0564290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f0564290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f0564290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f0564290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f0564290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f0564290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f0564290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f0564290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f0564290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ef0564290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f0564290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f0564290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f0564290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ef0564290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1903250" y="512675"/>
            <a:ext cx="1910400" cy="96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background with white text and a white logo  AI-generated content may be incorrect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-1" r="28388" t="0"/>
          <a:stretch/>
        </p:blipFill>
        <p:spPr>
          <a:xfrm>
            <a:off x="4066575" y="3500"/>
            <a:ext cx="50774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 rot="10800000">
            <a:off x="2707550" y="75"/>
            <a:ext cx="3421800" cy="5140800"/>
          </a:xfrm>
          <a:prstGeom prst="trapezoid">
            <a:avLst>
              <a:gd fmla="val 25000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300035" y="1548377"/>
            <a:ext cx="7772400" cy="731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2400"/>
              <a:buFont typeface="Fira Sans"/>
              <a:buNone/>
              <a:defRPr b="1">
                <a:solidFill>
                  <a:srgbClr val="304D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00035" y="2864739"/>
            <a:ext cx="6400800" cy="5030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  <a:defRPr sz="1800">
                <a:solidFill>
                  <a:srgbClr val="304D59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65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119657" y="4861300"/>
            <a:ext cx="8904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background with white text and a white circle  AI-generated content may be incorrect."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023" y="-7023"/>
            <a:ext cx="1066199" cy="912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42150" y="4902075"/>
            <a:ext cx="3216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06/29/26 | CLAS Collaboration meeting</a:t>
            </a:r>
            <a:endParaRPr sz="1100">
              <a:solidFill>
                <a:srgbClr val="888888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0"/>
            <a:ext cx="8229600" cy="661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63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3373B"/>
              </a:buClr>
              <a:buSzPts val="1800"/>
              <a:buChar char="•"/>
              <a:defRPr sz="1800">
                <a:solidFill>
                  <a:srgbClr val="23373B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46482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3373B"/>
              </a:buClr>
              <a:buSzPts val="3000"/>
              <a:buFont typeface="Fira Sans"/>
              <a:buNone/>
              <a:defRPr b="1" sz="3000" cap="none">
                <a:solidFill>
                  <a:srgbClr val="2337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-21310"/>
            <a:ext cx="9144000" cy="731043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inverted colors">
  <p:cSld name="Section header inverted colors">
    <p:bg>
      <p:bgPr>
        <a:solidFill>
          <a:srgbClr val="23373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3000"/>
              <a:buFont typeface="Fira Sans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0" y="-21310"/>
            <a:ext cx="9144000" cy="112514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s with two subtitles">
  <p:cSld name="title, two columns with two subtitle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199" y="689787"/>
            <a:ext cx="4040188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197449"/>
            <a:ext cx="4040188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6" y="689787"/>
            <a:ext cx="40417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6" y="1197449"/>
            <a:ext cx="4041775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lumn and imagen with caption">
  <p:cSld name="Title, column and imagen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04851"/>
            <a:ext cx="3008313" cy="3906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3579814" y="3895059"/>
            <a:ext cx="5106986" cy="6995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/>
          <p:nvPr>
            <p:ph idx="3" type="pic"/>
          </p:nvPr>
        </p:nvSpPr>
        <p:spPr>
          <a:xfrm>
            <a:off x="3579814" y="712476"/>
            <a:ext cx="5106986" cy="31320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57200" y="1212814"/>
            <a:ext cx="8229599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two columns">
  <p:cSld name="title, subtitle two 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57199" y="1212814"/>
            <a:ext cx="4056017" cy="33768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8" name="Google Shape;118;p22"/>
          <p:cNvSpPr txBox="1"/>
          <p:nvPr>
            <p:ph idx="3" type="body"/>
          </p:nvPr>
        </p:nvSpPr>
        <p:spPr>
          <a:xfrm>
            <a:off x="4630784" y="1212814"/>
            <a:ext cx="4056017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0" y="0"/>
            <a:ext cx="9144000" cy="712177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>
            <p:ph idx="2" type="pic"/>
          </p:nvPr>
        </p:nvSpPr>
        <p:spPr>
          <a:xfrm>
            <a:off x="1792288" y="459581"/>
            <a:ext cx="5486400" cy="35104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>
              <a:spcBef>
                <a:spcPts val="4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23850" lvl="1" marL="9144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5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»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23850" lvl="5" marL="27432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23850" lvl="6" marL="32004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23850" lvl="7" marL="36576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23850" lvl="8" marL="41148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139" name="Google Shape;139;p26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6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(5 March, 2025)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1097281"/>
            <a:ext cx="8229600" cy="34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059175" y="147484"/>
            <a:ext cx="80847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b="0" i="0" sz="2400" u="none" cap="none" strike="noStrike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ctrTitle"/>
          </p:nvPr>
        </p:nvSpPr>
        <p:spPr>
          <a:xfrm>
            <a:off x="-1" y="1098800"/>
            <a:ext cx="58380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4500"/>
              <a:buFont typeface="Fira Sans"/>
              <a:buNone/>
            </a:pPr>
            <a:r>
              <a:rPr lang="en" sz="3800">
                <a:solidFill>
                  <a:schemeClr val="dk2"/>
                </a:solidFill>
              </a:rPr>
              <a:t>Graph Neural Networks for Track Finding in ALERT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94375" y="2614240"/>
            <a:ext cx="64008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2275"/>
            <a:ext cx="3417775" cy="6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775" y="4557640"/>
            <a:ext cx="1865524" cy="585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Introduction to Graph and Graph Neural Networks</a:t>
            </a:r>
            <a:r>
              <a:rPr lang="en" sz="890">
                <a:solidFill>
                  <a:schemeClr val="dk1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4598450" y="936550"/>
            <a:ext cx="4510200" cy="3880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ALERT is designed to detect recoil nuclei</a:t>
            </a:r>
            <a:endParaRPr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Accurate track finding is crucial for reconstructing particle trajectories and physics kinematics.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Traditional methods (like Multi-Layer Perceptrons, or CNN) struggle in high-multiplicity or noisy environments.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Goal:</a:t>
            </a:r>
            <a:r>
              <a:rPr lang="en"/>
              <a:t> Implement and validate a Graph Neural Network (GNN) approach for robust track finding in ALERT.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Graphs naturally encode arbitrary pairwise relationships between hits.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00" y="905125"/>
            <a:ext cx="4410949" cy="207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51" y="2980875"/>
            <a:ext cx="3067000" cy="21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2313940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23772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44050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265618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40912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41545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42178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42811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43443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44076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44709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468663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55629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56262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584189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636894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Message Passing: The Core of GNNs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5" y="990100"/>
            <a:ext cx="5193975" cy="18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650" y="1057525"/>
            <a:ext cx="3593949" cy="341372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23139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2377220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244050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265618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40912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41545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42178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42811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43443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44076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44709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468663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55629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56262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584189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636894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61950" y="3009050"/>
            <a:ext cx="4788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Light"/>
                <a:ea typeface="Fira Sans Light"/>
                <a:cs typeface="Fira Sans Light"/>
                <a:sym typeface="Fira Sans Light"/>
              </a:rPr>
              <a:t>This allows the network to learn global track structures rather than just local pairwise features, making it highly robust against noise and overlapping tracks. </a:t>
            </a:r>
            <a:endParaRPr sz="170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Edge Classification for Track Finding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0" y="822893"/>
            <a:ext cx="9144000" cy="1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GNN assigns a score e</a:t>
            </a:r>
            <a:r>
              <a:rPr baseline="-25000"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𝑖𝑗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∈ [0, 1] to every edge, indicating the probability that hits 𝑖 and 𝑗 belong to the same particle track. High-scoring edges are kept; connected components in the surviving graph become track candidates.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875" y="1810650"/>
            <a:ext cx="6312670" cy="25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262900" y="4381500"/>
            <a:ext cx="8588400" cy="762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GNN transforms a dense candidate graph (left) into clean track candidates (right) by scoring each edge and keeping only the survivors.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23139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23772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2440500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265618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40912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1545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42178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2811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43443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44076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4709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468663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55629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56262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584189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636894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3/13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Graph Construction and Training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38" name="Google Shape;2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5" y="971025"/>
            <a:ext cx="4371026" cy="14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63" y="2428325"/>
            <a:ext cx="4330550" cy="9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75" y="3404275"/>
            <a:ext cx="4258775" cy="14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3612" y="932175"/>
            <a:ext cx="4414287" cy="212509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/>
        </p:nvSpPr>
        <p:spPr>
          <a:xfrm>
            <a:off x="4571575" y="3141375"/>
            <a:ext cx="4414200" cy="1092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Best validation F1 = 0.985 at epoch 92. Train and validation curves track closely: no overfitting.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" name="Google Shape;244;p3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4203040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0" name="Google Shape;260;p31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4/13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Track-Level Metric Definitions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0" y="905125"/>
            <a:ext cx="90939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Let 𝒯 = {T</a:t>
            </a:r>
            <a:r>
              <a:rPr baseline="-25000"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1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..., T</a:t>
            </a:r>
            <a:r>
              <a:rPr baseline="-25000"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ntrue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} be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true tracks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(MC truth) and ℛ︀ = {R</a:t>
            </a:r>
            <a:r>
              <a:rPr baseline="-25000"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1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..., R</a:t>
            </a:r>
            <a:r>
              <a:rPr baseline="-25000"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nreco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} be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reconstructed tracks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(connected components from thresholded edge scores).</a:t>
            </a:r>
            <a:endParaRPr sz="1800">
              <a:solidFill>
                <a:srgbClr val="33333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All metrics are defined in terms of hit-set overlaps |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ℛ︀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∩ 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𝒯</a:t>
            </a:r>
            <a:r>
              <a:rPr lang="en" sz="1800">
                <a:solidFill>
                  <a:srgbClr val="33333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|.</a:t>
            </a:r>
            <a:endParaRPr sz="1800">
              <a:solidFill>
                <a:srgbClr val="33333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68" name="Google Shape;2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00" y="1952425"/>
            <a:ext cx="8133799" cy="28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4266320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32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" name="Google Shape;285;p32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5/13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Edge Score Separation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93" name="Google Shape;2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5" y="956425"/>
            <a:ext cx="4633298" cy="3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75" y="1011175"/>
            <a:ext cx="4184076" cy="15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4779475" y="2623925"/>
            <a:ext cx="43344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small central overlap at scores 0.3–0.5 is where the classifier is genuinely uncertain: this is what drives the residual fake rate/contamination.</a:t>
            </a:r>
            <a:endParaRPr sz="1800">
              <a:solidFill>
                <a:schemeClr val="dk1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432959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" name="Google Shape;314;p3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6/13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GNN vs MLP: Track-Level Performance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320" name="Google Shape;3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226" y="1011152"/>
            <a:ext cx="6272024" cy="22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4"/>
          <p:cNvSpPr txBox="1"/>
          <p:nvPr/>
        </p:nvSpPr>
        <p:spPr>
          <a:xfrm>
            <a:off x="141575" y="3357100"/>
            <a:ext cx="8790600" cy="1287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</a:t>
            </a:r>
            <a:r>
              <a:rPr baseline="-25000"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events</a:t>
            </a: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= 2823, N</a:t>
            </a:r>
            <a:r>
              <a:rPr baseline="-25000"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true</a:t>
            </a: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= 5704 true tracks.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threshold = 0.1, MLP threshold = 0.2.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GNN finds nearly every true track while producing fewer fake candidates than the MLP.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" name="Google Shape;325;p34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34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0" name="Google Shape;330;p34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439287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34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7/13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Kinematic Uniformity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346" name="Google Shape;3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750" y="789000"/>
            <a:ext cx="4944250" cy="43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 txBox="1"/>
          <p:nvPr/>
        </p:nvSpPr>
        <p:spPr>
          <a:xfrm>
            <a:off x="102550" y="1166250"/>
            <a:ext cx="3807300" cy="1260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Efficiency, completeness, and contamination are flat across momentum 𝑝, polar angle 𝜃, and azimuth 𝜑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445615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8/13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Robustness: Efficiency &amp; Fake Rate vs Multiplicity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128100" y="4024475"/>
            <a:ext cx="8790600" cy="755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GNN: flat at 100% efficiency from 1 to 8 tracks/event. MLP: stuck at ∼ 60% regardless.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7933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fake rate stays 3–5% while MLP climbs to 10–15% at high multiplicity.</a:t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7933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925" y="825400"/>
            <a:ext cx="7572949" cy="31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451943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45827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" name="Google Shape;390;p36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9/13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GNN vs MLP: Inference speed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0" y="835900"/>
            <a:ext cx="7530000" cy="15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Light"/>
                <a:ea typeface="Fira Sans Light"/>
                <a:cs typeface="Fira Sans Light"/>
                <a:sym typeface="Fira Sans Light"/>
              </a:rPr>
              <a:t>Compare the inference speed of GNN vs MLP in COATJAVA:</a:t>
            </a:r>
            <a:endParaRPr sz="180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399" name="Google Shape;3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0" y="1189875"/>
            <a:ext cx="8839200" cy="223462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7"/>
          <p:cNvSpPr txBox="1"/>
          <p:nvPr/>
        </p:nvSpPr>
        <p:spPr>
          <a:xfrm>
            <a:off x="18300" y="3390800"/>
            <a:ext cx="91074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MLP is faster on small event, but GNN is still fast.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 full event take around ~500ms so GNN is 0.16%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Most of the time for the GNN is the model inference. I try smaller models but the efficiency on simulation was lower.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01" name="Google Shape;401;p3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2" name="Google Shape;402;p3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3" name="Google Shape;403;p37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2488540" y="38100"/>
            <a:ext cx="1676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7" name="Google Shape;407;p37"/>
          <p:cNvSpPr/>
          <p:nvPr/>
        </p:nvSpPr>
        <p:spPr>
          <a:xfrm>
            <a:off x="420304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4266320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9" name="Google Shape;409;p37"/>
          <p:cNvSpPr/>
          <p:nvPr/>
        </p:nvSpPr>
        <p:spPr>
          <a:xfrm>
            <a:off x="432959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439287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1" name="Google Shape;411;p37"/>
          <p:cNvSpPr/>
          <p:nvPr/>
        </p:nvSpPr>
        <p:spPr>
          <a:xfrm>
            <a:off x="445615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2" name="Google Shape;412;p37"/>
          <p:cNvSpPr/>
          <p:nvPr/>
        </p:nvSpPr>
        <p:spPr>
          <a:xfrm>
            <a:off x="45194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458271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47983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56746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57379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595365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648070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10/13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GNN vs MLP: Performance on elastic data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425" name="Google Shape;4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150" y="814850"/>
            <a:ext cx="5290875" cy="3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8"/>
          <p:cNvSpPr txBox="1"/>
          <p:nvPr/>
        </p:nvSpPr>
        <p:spPr>
          <a:xfrm>
            <a:off x="0" y="970725"/>
            <a:ext cx="36606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Elastic scattering on deuterium, use polar angle of the electron to compute it momentum and the expected kinematics of the recoil.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Look at the kinematics of the track found by MLP and GNN: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- A track is match when both angular residuals are inside the matching windows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- GNN found more tracks that pass the Helix fitter than MLP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- With no specific phase space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248854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392364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398692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40501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41134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41767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42400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43033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4518999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556293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562621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584189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636894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11/13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GNN vs MLP: Performance on elastic data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51" name="Google Shape;451;p39"/>
          <p:cNvSpPr txBox="1"/>
          <p:nvPr/>
        </p:nvSpPr>
        <p:spPr>
          <a:xfrm>
            <a:off x="0" y="970725"/>
            <a:ext cx="36606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found a bit more tracks than MLP: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Mostly because elastic tracks are easy to find and are in a 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environment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with low background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will give better result in more noisy 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environment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like 10.6 GeV runs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452" name="Google Shape;4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750" y="970725"/>
            <a:ext cx="5178600" cy="372426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248854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392364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398692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40501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41134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41767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42400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43033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4518999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5562939" y="92130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562621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5841899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636894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12/13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>
                <a:latin typeface="Fira Sans Light"/>
                <a:ea typeface="Fira Sans Light"/>
                <a:cs typeface="Fira Sans Light"/>
                <a:sym typeface="Fira Sans Light"/>
              </a:rPr>
              <a:t>Summary and Outlook</a:t>
            </a:r>
            <a:endParaRPr sz="278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77" name="Google Shape;477;p40"/>
          <p:cNvSpPr txBox="1"/>
          <p:nvPr/>
        </p:nvSpPr>
        <p:spPr>
          <a:xfrm>
            <a:off x="0" y="905125"/>
            <a:ext cx="91140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●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Test and implement a GNN for track finding in the ALERT detector: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Train in PyTorch a GNN using simulation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Hyperparameter optimization (Optuna)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Test it on both data and simulation, and 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compare</a:t>
            </a: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it to previous method (MLP)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find 99.9% of the tracks in simulation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find 66% of the elastic tracks in data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○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GNN is slower than MLP, but it is not significantly (0.16% of a standard reconstruction time)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0" marL="18288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Fira Sans Light"/>
              <a:buChar char="●"/>
            </a:pPr>
            <a:r>
              <a:rPr lang="en" sz="1800">
                <a:solidFill>
                  <a:srgbClr val="243643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Have been implemented in COATJAVA with a yaml key to use it</a:t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3643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214630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220958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227286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3" name="Google Shape;483;p40"/>
          <p:cNvSpPr/>
          <p:nvPr/>
        </p:nvSpPr>
        <p:spPr>
          <a:xfrm>
            <a:off x="2488540" y="50800"/>
            <a:ext cx="1397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Training and Testing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392364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5" name="Google Shape;485;p40"/>
          <p:cNvSpPr/>
          <p:nvPr/>
        </p:nvSpPr>
        <p:spPr>
          <a:xfrm>
            <a:off x="3986920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6" name="Google Shape;486;p40"/>
          <p:cNvSpPr/>
          <p:nvPr/>
        </p:nvSpPr>
        <p:spPr>
          <a:xfrm>
            <a:off x="40501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7" name="Google Shape;487;p40"/>
          <p:cNvSpPr/>
          <p:nvPr/>
        </p:nvSpPr>
        <p:spPr>
          <a:xfrm>
            <a:off x="41134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417675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424003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430331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4518999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Elastic 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539529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3" name="Google Shape;493;p40"/>
          <p:cNvSpPr/>
          <p:nvPr/>
        </p:nvSpPr>
        <p:spPr>
          <a:xfrm>
            <a:off x="5458579" y="92130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5674259" y="38100"/>
            <a:ext cx="5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6299099" y="85802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13/13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