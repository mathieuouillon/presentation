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notesSlides/notesSlide3.xml" ContentType="application/vnd.openxmlformats-officedocument.presentationml.notesSlide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35"/>
  </p:notesMasterIdLst>
  <p:sldIdLst>
    <p:sldId id="256" r:id="rId2"/>
    <p:sldId id="258" r:id="rId3"/>
    <p:sldId id="296" r:id="rId4"/>
    <p:sldId id="297" r:id="rId5"/>
    <p:sldId id="325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10" r:id="rId17"/>
    <p:sldId id="311" r:id="rId18"/>
    <p:sldId id="312" r:id="rId19"/>
    <p:sldId id="309" r:id="rId20"/>
    <p:sldId id="326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275" r:id="rId34"/>
  </p:sldIdLst>
  <p:sldSz cx="9144000" cy="5143500" type="screen16x9"/>
  <p:notesSz cx="6858000" cy="9144000"/>
  <p:embeddedFontLst>
    <p:embeddedFont>
      <p:font typeface="Archivo" panose="020B0604020202020204" charset="0"/>
      <p:regular r:id="rId36"/>
      <p:bold r:id="rId37"/>
      <p:italic r:id="rId38"/>
      <p:boldItalic r:id="rId39"/>
    </p:embeddedFont>
    <p:embeddedFont>
      <p:font typeface="Cambria" panose="02040503050406030204" pitchFamily="18" charset="0"/>
      <p:regular r:id="rId40"/>
      <p:bold r:id="rId41"/>
      <p:italic r:id="rId42"/>
      <p:boldItalic r:id="rId43"/>
    </p:embeddedFont>
    <p:embeddedFont>
      <p:font typeface="Cambria Math" panose="02040503050406030204" pitchFamily="18" charset="0"/>
      <p:regular r:id="rId44"/>
    </p:embeddedFont>
    <p:embeddedFont>
      <p:font typeface="Lato" panose="020F0502020204030203" pitchFamily="34" charset="0"/>
      <p:regular r:id="rId45"/>
      <p:bold r:id="rId46"/>
      <p:italic r:id="rId47"/>
      <p:boldItalic r:id="rId48"/>
    </p:embeddedFont>
    <p:embeddedFont>
      <p:font typeface="Libertinus Serif" pitchFamily="50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708"/>
    <a:srgbClr val="009900"/>
    <a:srgbClr val="FFCFCF"/>
    <a:srgbClr val="007BA7"/>
    <a:srgbClr val="2A52BE"/>
    <a:srgbClr val="305CD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85E783-F12D-4EF7-BC51-4BD9C3BC9F5A}">
  <a:tblStyle styleId="{6585E783-F12D-4EF7-BC51-4BD9C3BC9F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22872EF-5BF2-4E2E-BA38-FF97F828879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0" autoAdjust="0"/>
    <p:restoredTop sz="97386" autoAdjust="0"/>
  </p:normalViewPr>
  <p:slideViewPr>
    <p:cSldViewPr snapToGrid="0">
      <p:cViewPr>
        <p:scale>
          <a:sx n="200" d="100"/>
          <a:sy n="200" d="100"/>
        </p:scale>
        <p:origin x="684" y="24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Cambria" panose="02040503050406030204" pitchFamily="18" charset="0"/>
        <a:ea typeface="Cambria" panose="02040503050406030204" pitchFamily="18" charset="0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Cambria" panose="02040503050406030204" pitchFamily="18" charset="0"/>
              <a:ea typeface="Cambria" panose="02040503050406030204" pitchFamily="18" charset="0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3348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Ref idx="1001">
        <a:schemeClr val="bg2"/>
      </p:bgRef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150" y="0"/>
            <a:ext cx="1632300" cy="51534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866900" y="642842"/>
            <a:ext cx="6249900" cy="15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 b="1"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866900" y="2657011"/>
            <a:ext cx="4353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pic>
        <p:nvPicPr>
          <p:cNvPr id="2" name="Google Shape;33;p6">
            <a:extLst>
              <a:ext uri="{FF2B5EF4-FFF2-40B4-BE49-F238E27FC236}">
                <a16:creationId xmlns:a16="http://schemas.microsoft.com/office/drawing/2014/main" id="{1DFF7723-33C7-6312-766D-1C18EC51A27D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0000"/>
          </a:blip>
          <a:srcRect t="86380" r="82151"/>
          <a:stretch/>
        </p:blipFill>
        <p:spPr>
          <a:xfrm>
            <a:off x="1" y="4442975"/>
            <a:ext cx="1632150" cy="7005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EB6BF52-4E62-A926-CE65-C98716FC55F8}"/>
              </a:ext>
            </a:extLst>
          </p:cNvPr>
          <p:cNvCxnSpPr>
            <a:cxnSpLocks/>
          </p:cNvCxnSpPr>
          <p:nvPr userDrawn="1"/>
        </p:nvCxnSpPr>
        <p:spPr>
          <a:xfrm>
            <a:off x="1774479" y="2779414"/>
            <a:ext cx="6695038" cy="0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3347C1BD-FC69-E57D-558E-40F504776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599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11D56-0ADE-481C-8FF2-98F54ED539CA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Ref idx="1001">
        <a:schemeClr val="bg2"/>
      </p:bgRef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/>
          <p:nvPr/>
        </p:nvSpPr>
        <p:spPr>
          <a:xfrm flipH="1">
            <a:off x="-150" y="0"/>
            <a:ext cx="1632300" cy="5153400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1639525" y="445025"/>
            <a:ext cx="6533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32150" y="1477536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2"/>
          </p:nvPr>
        </p:nvSpPr>
        <p:spPr>
          <a:xfrm>
            <a:off x="1632150" y="2372433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3"/>
          </p:nvPr>
        </p:nvSpPr>
        <p:spPr>
          <a:xfrm>
            <a:off x="1639527" y="3267329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4"/>
          </p:nvPr>
        </p:nvSpPr>
        <p:spPr>
          <a:xfrm>
            <a:off x="1639527" y="4162225"/>
            <a:ext cx="67845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5" hasCustomPrompt="1"/>
          </p:nvPr>
        </p:nvSpPr>
        <p:spPr>
          <a:xfrm>
            <a:off x="948600" y="1109725"/>
            <a:ext cx="5652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 u="sng">
                <a:solidFill>
                  <a:schemeClr val="lt2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6" hasCustomPrompt="1"/>
          </p:nvPr>
        </p:nvSpPr>
        <p:spPr>
          <a:xfrm>
            <a:off x="953029" y="2897124"/>
            <a:ext cx="5652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 u="sng">
                <a:solidFill>
                  <a:schemeClr val="lt2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7" hasCustomPrompt="1"/>
          </p:nvPr>
        </p:nvSpPr>
        <p:spPr>
          <a:xfrm>
            <a:off x="948609" y="2003425"/>
            <a:ext cx="5652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 u="sng">
                <a:solidFill>
                  <a:schemeClr val="lt2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8" hasCustomPrompt="1"/>
          </p:nvPr>
        </p:nvSpPr>
        <p:spPr>
          <a:xfrm>
            <a:off x="953034" y="3790824"/>
            <a:ext cx="5652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 b="1" u="sng">
                <a:solidFill>
                  <a:schemeClr val="lt2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9"/>
          </p:nvPr>
        </p:nvSpPr>
        <p:spPr>
          <a:xfrm>
            <a:off x="1632150" y="1128638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3"/>
          </p:nvPr>
        </p:nvSpPr>
        <p:spPr>
          <a:xfrm>
            <a:off x="1632150" y="2024722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4"/>
          </p:nvPr>
        </p:nvSpPr>
        <p:spPr>
          <a:xfrm>
            <a:off x="1639527" y="2920806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5"/>
          </p:nvPr>
        </p:nvSpPr>
        <p:spPr>
          <a:xfrm>
            <a:off x="1639527" y="3816890"/>
            <a:ext cx="6784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pic>
        <p:nvPicPr>
          <p:cNvPr id="2" name="Google Shape;33;p6">
            <a:extLst>
              <a:ext uri="{FF2B5EF4-FFF2-40B4-BE49-F238E27FC236}">
                <a16:creationId xmlns:a16="http://schemas.microsoft.com/office/drawing/2014/main" id="{F102731E-2ED1-12B3-1DD3-95BB3B551C4D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0000"/>
          </a:blip>
          <a:srcRect t="86380" r="82151"/>
          <a:stretch/>
        </p:blipFill>
        <p:spPr>
          <a:xfrm>
            <a:off x="1" y="4442975"/>
            <a:ext cx="1632150" cy="70052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9993E7-3C53-1157-6D20-8B84E33C2E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86599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11D56-0ADE-481C-8FF2-98F54ED539CA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Ref idx="1001">
        <a:schemeClr val="bg2"/>
      </p:bgRef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>
            <a:off x="4762" y="0"/>
            <a:ext cx="9134475" cy="760491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cap="flat" cmpd="sng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0" y="-4528"/>
            <a:ext cx="9134475" cy="760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chemeClr val="bg1">
                    <a:lumMod val="9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2" name="Espace réservé du numéro de diapositive 3">
            <a:extLst>
              <a:ext uri="{FF2B5EF4-FFF2-40B4-BE49-F238E27FC236}">
                <a16:creationId xmlns:a16="http://schemas.microsoft.com/office/drawing/2014/main" id="{A4FEA27B-523C-2860-762F-B0B787A027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1837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11D56-0ADE-481C-8FF2-98F54ED539CA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Ref idx="1001">
        <a:schemeClr val="bg2"/>
      </p:bgRef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5055284" y="32380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1583300" y="32380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5055275" y="26653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1583075" y="26653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sz="24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pic>
        <p:nvPicPr>
          <p:cNvPr id="30" name="Google Shape;30;p5"/>
          <p:cNvPicPr preferRelativeResize="0"/>
          <p:nvPr/>
        </p:nvPicPr>
        <p:blipFill rotWithShape="1">
          <a:blip r:embed="rId2">
            <a:alphaModFix amt="70000"/>
          </a:blip>
          <a:srcRect t="86380"/>
          <a:stretch/>
        </p:blipFill>
        <p:spPr>
          <a:xfrm>
            <a:off x="0" y="4442975"/>
            <a:ext cx="9134475" cy="700526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Ref idx="1001">
        <a:schemeClr val="bg2"/>
      </p:bgRef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rot="10800000">
            <a:off x="0" y="3870900"/>
            <a:ext cx="9144000" cy="1272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sp>
        <p:nvSpPr>
          <p:cNvPr id="47" name="Google Shape;47;p9"/>
          <p:cNvSpPr/>
          <p:nvPr/>
        </p:nvSpPr>
        <p:spPr>
          <a:xfrm rot="10800000">
            <a:off x="0" y="0"/>
            <a:ext cx="9144000" cy="76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Archivo"/>
              <a:sym typeface="Archivo"/>
            </a:endParaRPr>
          </a:p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 amt="70000"/>
          </a:blip>
          <a:srcRect t="10493" b="10485"/>
          <a:stretch/>
        </p:blipFill>
        <p:spPr>
          <a:xfrm rot="10800000">
            <a:off x="9525" y="539501"/>
            <a:ext cx="9134475" cy="406449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2135550" y="16554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65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 rot="10800000">
            <a:off x="0" y="3870900"/>
            <a:ext cx="9144000" cy="12726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pic>
        <p:nvPicPr>
          <p:cNvPr id="78" name="Google Shape;78;p14"/>
          <p:cNvPicPr preferRelativeResize="0"/>
          <p:nvPr/>
        </p:nvPicPr>
        <p:blipFill rotWithShape="1">
          <a:blip r:embed="rId2">
            <a:alphaModFix amt="70000"/>
          </a:blip>
          <a:srcRect t="10493" b="10485"/>
          <a:stretch/>
        </p:blipFill>
        <p:spPr>
          <a:xfrm rot="10800000">
            <a:off x="9525" y="539501"/>
            <a:ext cx="9134475" cy="40644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2539225" y="3100300"/>
            <a:ext cx="53784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1226400" y="1126425"/>
            <a:ext cx="66912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 flipH="1">
            <a:off x="8272200" y="0"/>
            <a:ext cx="871800" cy="5153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 amt="70000"/>
          </a:blip>
          <a:srcRect t="91529"/>
          <a:stretch/>
        </p:blipFill>
        <p:spPr>
          <a:xfrm>
            <a:off x="0" y="-7807"/>
            <a:ext cx="9134475" cy="4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720000" y="1509950"/>
            <a:ext cx="3519600" cy="122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1"/>
          </p:nvPr>
        </p:nvSpPr>
        <p:spPr>
          <a:xfrm>
            <a:off x="720000" y="2739225"/>
            <a:ext cx="35196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5"/>
          <p:cNvSpPr>
            <a:spLocks noGrp="1"/>
          </p:cNvSpPr>
          <p:nvPr>
            <p:ph type="pic" idx="2"/>
          </p:nvPr>
        </p:nvSpPr>
        <p:spPr>
          <a:xfrm>
            <a:off x="5362200" y="427852"/>
            <a:ext cx="2910000" cy="4725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 flipH="1">
            <a:off x="8676000" y="0"/>
            <a:ext cx="468000" cy="5153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2">
            <a:alphaModFix amt="70000"/>
          </a:blip>
          <a:srcRect t="91529"/>
          <a:stretch/>
        </p:blipFill>
        <p:spPr>
          <a:xfrm>
            <a:off x="0" y="-7807"/>
            <a:ext cx="9134475" cy="4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716682" y="1389121"/>
            <a:ext cx="3669900" cy="15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91" name="Google Shape;91;p16"/>
          <p:cNvSpPr txBox="1">
            <a:spLocks noGrp="1"/>
          </p:cNvSpPr>
          <p:nvPr>
            <p:ph type="subTitle" idx="1"/>
          </p:nvPr>
        </p:nvSpPr>
        <p:spPr>
          <a:xfrm>
            <a:off x="716682" y="2949171"/>
            <a:ext cx="3669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 flipH="1">
            <a:off x="0" y="0"/>
            <a:ext cx="468000" cy="5153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2">
            <a:alphaModFix amt="70000"/>
          </a:blip>
          <a:srcRect t="86380"/>
          <a:stretch/>
        </p:blipFill>
        <p:spPr>
          <a:xfrm>
            <a:off x="0" y="4442975"/>
            <a:ext cx="9134475" cy="70052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4398876" y="1501200"/>
            <a:ext cx="4031700" cy="10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1"/>
          </p:nvPr>
        </p:nvSpPr>
        <p:spPr>
          <a:xfrm>
            <a:off x="4399067" y="2562000"/>
            <a:ext cx="40317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 flipH="1">
            <a:off x="0" y="0"/>
            <a:ext cx="468000" cy="5153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 rotWithShape="1">
          <a:blip r:embed="rId2">
            <a:alphaModFix amt="70000"/>
          </a:blip>
          <a:srcRect t="91529"/>
          <a:stretch/>
        </p:blipFill>
        <p:spPr>
          <a:xfrm>
            <a:off x="0" y="-7807"/>
            <a:ext cx="9134475" cy="43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1"/>
          </p:nvPr>
        </p:nvSpPr>
        <p:spPr>
          <a:xfrm>
            <a:off x="1105700" y="1886375"/>
            <a:ext cx="27855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2"/>
          </p:nvPr>
        </p:nvSpPr>
        <p:spPr>
          <a:xfrm>
            <a:off x="5252800" y="1886375"/>
            <a:ext cx="27855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3"/>
          </p:nvPr>
        </p:nvSpPr>
        <p:spPr>
          <a:xfrm>
            <a:off x="1105700" y="3529250"/>
            <a:ext cx="27855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4"/>
          </p:nvPr>
        </p:nvSpPr>
        <p:spPr>
          <a:xfrm>
            <a:off x="5252800" y="3529250"/>
            <a:ext cx="2785500" cy="8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9" name="Google Shape;129;p21"/>
          <p:cNvSpPr txBox="1">
            <a:spLocks noGrp="1"/>
          </p:cNvSpPr>
          <p:nvPr>
            <p:ph type="subTitle" idx="5"/>
          </p:nvPr>
        </p:nvSpPr>
        <p:spPr>
          <a:xfrm>
            <a:off x="1105700" y="1380775"/>
            <a:ext cx="27855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130" name="Google Shape;130;p21"/>
          <p:cNvSpPr txBox="1">
            <a:spLocks noGrp="1"/>
          </p:cNvSpPr>
          <p:nvPr>
            <p:ph type="subTitle" idx="6"/>
          </p:nvPr>
        </p:nvSpPr>
        <p:spPr>
          <a:xfrm>
            <a:off x="1105700" y="3023750"/>
            <a:ext cx="27855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131" name="Google Shape;131;p21"/>
          <p:cNvSpPr txBox="1">
            <a:spLocks noGrp="1"/>
          </p:cNvSpPr>
          <p:nvPr>
            <p:ph type="subTitle" idx="7"/>
          </p:nvPr>
        </p:nvSpPr>
        <p:spPr>
          <a:xfrm>
            <a:off x="5252795" y="1380775"/>
            <a:ext cx="27855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132" name="Google Shape;132;p21"/>
          <p:cNvSpPr txBox="1">
            <a:spLocks noGrp="1"/>
          </p:cNvSpPr>
          <p:nvPr>
            <p:ph type="subTitle" idx="8"/>
          </p:nvPr>
        </p:nvSpPr>
        <p:spPr>
          <a:xfrm>
            <a:off x="5252795" y="3023750"/>
            <a:ext cx="27855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sz="16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/>
          <p:nvPr/>
        </p:nvSpPr>
        <p:spPr>
          <a:xfrm rot="10800000">
            <a:off x="0" y="4793400"/>
            <a:ext cx="9144000" cy="350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sp>
        <p:nvSpPr>
          <p:cNvPr id="151" name="Google Shape;151;p23"/>
          <p:cNvSpPr txBox="1">
            <a:spLocks noGrp="1"/>
          </p:cNvSpPr>
          <p:nvPr>
            <p:ph type="title" hasCustomPrompt="1"/>
          </p:nvPr>
        </p:nvSpPr>
        <p:spPr>
          <a:xfrm>
            <a:off x="2223600" y="539507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dirty="0"/>
              <a:t>xx%</a:t>
            </a:r>
          </a:p>
        </p:txBody>
      </p:sp>
      <p:sp>
        <p:nvSpPr>
          <p:cNvPr id="152" name="Google Shape;152;p23"/>
          <p:cNvSpPr txBox="1">
            <a:spLocks noGrp="1"/>
          </p:cNvSpPr>
          <p:nvPr>
            <p:ph type="subTitle" idx="1"/>
          </p:nvPr>
        </p:nvSpPr>
        <p:spPr>
          <a:xfrm>
            <a:off x="2223600" y="12284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153" name="Google Shape;153;p23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27890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dirty="0"/>
              <a:t>xx%</a:t>
            </a:r>
          </a:p>
        </p:txBody>
      </p:sp>
      <p:sp>
        <p:nvSpPr>
          <p:cNvPr id="154" name="Google Shape;154;p23"/>
          <p:cNvSpPr txBox="1">
            <a:spLocks noGrp="1"/>
          </p:cNvSpPr>
          <p:nvPr>
            <p:ph type="subTitle" idx="3"/>
          </p:nvPr>
        </p:nvSpPr>
        <p:spPr>
          <a:xfrm>
            <a:off x="2223600" y="2616810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155" name="Google Shape;155;p23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3162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dirty="0"/>
              <a:t>xx%</a:t>
            </a:r>
          </a:p>
        </p:txBody>
      </p:sp>
      <p:sp>
        <p:nvSpPr>
          <p:cNvPr id="156" name="Google Shape;156;p23"/>
          <p:cNvSpPr txBox="1">
            <a:spLocks noGrp="1"/>
          </p:cNvSpPr>
          <p:nvPr>
            <p:ph type="subTitle" idx="5"/>
          </p:nvPr>
        </p:nvSpPr>
        <p:spPr>
          <a:xfrm>
            <a:off x="2223600" y="4005189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2">
            <a:alphaModFix amt="70000"/>
          </a:blip>
          <a:srcRect t="86380"/>
          <a:stretch/>
        </p:blipFill>
        <p:spPr>
          <a:xfrm>
            <a:off x="0" y="4442975"/>
            <a:ext cx="9134475" cy="70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60" name="Google Shape;160;p24"/>
          <p:cNvSpPr txBox="1">
            <a:spLocks noGrp="1"/>
          </p:cNvSpPr>
          <p:nvPr>
            <p:ph type="subTitle" idx="1"/>
          </p:nvPr>
        </p:nvSpPr>
        <p:spPr>
          <a:xfrm>
            <a:off x="938500" y="3629175"/>
            <a:ext cx="21732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161" name="Google Shape;161;p24"/>
          <p:cNvSpPr txBox="1">
            <a:spLocks noGrp="1"/>
          </p:cNvSpPr>
          <p:nvPr>
            <p:ph type="subTitle" idx="2"/>
          </p:nvPr>
        </p:nvSpPr>
        <p:spPr>
          <a:xfrm>
            <a:off x="938500" y="3132150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162" name="Google Shape;162;p24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63" name="Google Shape;163;p24"/>
          <p:cNvSpPr txBox="1">
            <a:spLocks noGrp="1"/>
          </p:cNvSpPr>
          <p:nvPr>
            <p:ph type="subTitle" idx="4"/>
          </p:nvPr>
        </p:nvSpPr>
        <p:spPr>
          <a:xfrm>
            <a:off x="3485400" y="3629175"/>
            <a:ext cx="21732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164" name="Google Shape;164;p24"/>
          <p:cNvSpPr txBox="1">
            <a:spLocks noGrp="1"/>
          </p:cNvSpPr>
          <p:nvPr>
            <p:ph type="subTitle" idx="5"/>
          </p:nvPr>
        </p:nvSpPr>
        <p:spPr>
          <a:xfrm>
            <a:off x="3485400" y="3132150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165" name="Google Shape;165;p24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166" name="Google Shape;166;p24"/>
          <p:cNvSpPr txBox="1">
            <a:spLocks noGrp="1"/>
          </p:cNvSpPr>
          <p:nvPr>
            <p:ph type="subTitle" idx="7"/>
          </p:nvPr>
        </p:nvSpPr>
        <p:spPr>
          <a:xfrm>
            <a:off x="6032300" y="3629175"/>
            <a:ext cx="21732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167" name="Google Shape;167;p24"/>
          <p:cNvSpPr txBox="1">
            <a:spLocks noGrp="1"/>
          </p:cNvSpPr>
          <p:nvPr>
            <p:ph type="subTitle" idx="8"/>
          </p:nvPr>
        </p:nvSpPr>
        <p:spPr>
          <a:xfrm>
            <a:off x="6032300" y="3132150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168" name="Google Shape;168;p24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pic>
        <p:nvPicPr>
          <p:cNvPr id="169" name="Google Shape;169;p24"/>
          <p:cNvPicPr preferRelativeResize="0"/>
          <p:nvPr/>
        </p:nvPicPr>
        <p:blipFill rotWithShape="1">
          <a:blip r:embed="rId2">
            <a:alphaModFix amt="70000"/>
          </a:blip>
          <a:srcRect t="86380"/>
          <a:stretch/>
        </p:blipFill>
        <p:spPr>
          <a:xfrm>
            <a:off x="0" y="4442975"/>
            <a:ext cx="9134475" cy="70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/>
          <p:nvPr/>
        </p:nvSpPr>
        <p:spPr>
          <a:xfrm>
            <a:off x="9575" y="4778125"/>
            <a:ext cx="9134400" cy="37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Archivo"/>
              <a:sym typeface="Archivo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7726525" y="0"/>
            <a:ext cx="1408500" cy="5153400"/>
          </a:xfrm>
          <a:prstGeom prst="rect">
            <a:avLst/>
          </a:prstGeom>
          <a:solidFill>
            <a:srgbClr val="2A52BE"/>
          </a:solidFill>
          <a:ln w="9525" cap="flat" cmpd="sng">
            <a:solidFill>
              <a:srgbClr val="2A52B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sp>
        <p:nvSpPr>
          <p:cNvPr id="182" name="Google Shape;182;p27"/>
          <p:cNvSpPr txBox="1">
            <a:spLocks noGrp="1"/>
          </p:cNvSpPr>
          <p:nvPr>
            <p:ph type="title"/>
          </p:nvPr>
        </p:nvSpPr>
        <p:spPr>
          <a:xfrm>
            <a:off x="713263" y="5251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83" name="Google Shape;183;p27"/>
          <p:cNvSpPr txBox="1">
            <a:spLocks noGrp="1"/>
          </p:cNvSpPr>
          <p:nvPr>
            <p:ph type="subTitle" idx="1"/>
          </p:nvPr>
        </p:nvSpPr>
        <p:spPr>
          <a:xfrm>
            <a:off x="713225" y="16128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/>
          <p:nvPr/>
        </p:nvSpPr>
        <p:spPr>
          <a:xfrm flipH="1">
            <a:off x="8676000" y="0"/>
            <a:ext cx="468000" cy="5153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pic>
        <p:nvPicPr>
          <p:cNvPr id="187" name="Google Shape;187;p28"/>
          <p:cNvPicPr preferRelativeResize="0"/>
          <p:nvPr/>
        </p:nvPicPr>
        <p:blipFill rotWithShape="1">
          <a:blip r:embed="rId2">
            <a:alphaModFix amt="70000"/>
          </a:blip>
          <a:srcRect t="91529"/>
          <a:stretch/>
        </p:blipFill>
        <p:spPr>
          <a:xfrm>
            <a:off x="0" y="4707843"/>
            <a:ext cx="9134475" cy="4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/>
          <p:nvPr/>
        </p:nvSpPr>
        <p:spPr>
          <a:xfrm rot="10800000">
            <a:off x="0" y="4793400"/>
            <a:ext cx="9144000" cy="3501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Lato"/>
              <a:sym typeface="Lato"/>
            </a:endParaRPr>
          </a:p>
        </p:txBody>
      </p:sp>
      <p:pic>
        <p:nvPicPr>
          <p:cNvPr id="190" name="Google Shape;190;p29"/>
          <p:cNvPicPr preferRelativeResize="0"/>
          <p:nvPr/>
        </p:nvPicPr>
        <p:blipFill rotWithShape="1">
          <a:blip r:embed="rId2">
            <a:alphaModFix amt="70000"/>
          </a:blip>
          <a:srcRect t="86380"/>
          <a:stretch/>
        </p:blipFill>
        <p:spPr>
          <a:xfrm>
            <a:off x="0" y="4442975"/>
            <a:ext cx="9134475" cy="70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690EAD2-41DB-CFB6-2E4A-A916DE4A6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ACEFD70-BDEC-9886-84AF-3C3160E26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1D22FE-A4A8-C424-3FF5-F6D7AD2F7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43011D56-0ADE-481C-8FF2-98F54ED539CA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9" r:id="rId2"/>
    <p:sldLayoutId id="2147483652" r:id="rId3"/>
    <p:sldLayoutId id="2147483651" r:id="rId4"/>
    <p:sldLayoutId id="2147483655" r:id="rId5"/>
    <p:sldLayoutId id="2147483658" r:id="rId6"/>
    <p:sldLayoutId id="2147483660" r:id="rId7"/>
    <p:sldLayoutId id="2147483661" r:id="rId8"/>
    <p:sldLayoutId id="2147483662" r:id="rId9"/>
    <p:sldLayoutId id="2147483663" r:id="rId10"/>
    <p:sldLayoutId id="2147483667" r:id="rId11"/>
    <p:sldLayoutId id="2147483669" r:id="rId12"/>
    <p:sldLayoutId id="2147483670" r:id="rId13"/>
    <p:sldLayoutId id="2147483673" r:id="rId14"/>
    <p:sldLayoutId id="2147483674" r:id="rId15"/>
    <p:sldLayoutId id="2147483675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mbria" panose="02040503050406030204" pitchFamily="18" charset="0"/>
          <a:ea typeface="Cambria" panose="020405030504060302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mbria" panose="02040503050406030204" pitchFamily="18" charset="0"/>
          <a:ea typeface="Cambria" panose="020405030504060302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3.jpeg"/><Relationship Id="rId18" Type="http://schemas.openxmlformats.org/officeDocument/2006/relationships/image" Target="../media/image8.jp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jpeg"/><Relationship Id="rId17" Type="http://schemas.openxmlformats.org/officeDocument/2006/relationships/image" Target="../media/image7.png"/><Relationship Id="rId2" Type="http://schemas.openxmlformats.org/officeDocument/2006/relationships/tags" Target="../tags/tag2.xml"/><Relationship Id="rId16" Type="http://schemas.openxmlformats.org/officeDocument/2006/relationships/image" Target="../media/image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notesSlide" Target="../notesSlides/notesSlide1.xml"/><Relationship Id="rId5" Type="http://schemas.openxmlformats.org/officeDocument/2006/relationships/tags" Target="../tags/tag5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2" Type="http://schemas.openxmlformats.org/officeDocument/2006/relationships/tags" Target="../tags/tag11.xml"/><Relationship Id="rId16" Type="http://schemas.openxmlformats.org/officeDocument/2006/relationships/notesSlide" Target="../notesSlides/notesSlide2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image" Target="../media/image9.jpe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image" Target="../media/image12.png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image" Target="../media/image11.jpe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image" Target="../media/image10.png"/><Relationship Id="rId5" Type="http://schemas.openxmlformats.org/officeDocument/2006/relationships/tags" Target="../tags/tag33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tags" Target="../tags/tag50.xml"/><Relationship Id="rId18" Type="http://schemas.openxmlformats.org/officeDocument/2006/relationships/tags" Target="../tags/tag55.xml"/><Relationship Id="rId26" Type="http://schemas.openxmlformats.org/officeDocument/2006/relationships/image" Target="../media/image17.png"/><Relationship Id="rId3" Type="http://schemas.openxmlformats.org/officeDocument/2006/relationships/tags" Target="../tags/tag40.xml"/><Relationship Id="rId21" Type="http://schemas.openxmlformats.org/officeDocument/2006/relationships/slideLayout" Target="../slideLayouts/slideLayout3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tags" Target="../tags/tag54.xml"/><Relationship Id="rId25" Type="http://schemas.openxmlformats.org/officeDocument/2006/relationships/image" Target="../media/image16.png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20" Type="http://schemas.openxmlformats.org/officeDocument/2006/relationships/tags" Target="../tags/tag57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24" Type="http://schemas.openxmlformats.org/officeDocument/2006/relationships/image" Target="../media/image15.png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23" Type="http://schemas.openxmlformats.org/officeDocument/2006/relationships/image" Target="../media/image11.jpeg"/><Relationship Id="rId10" Type="http://schemas.openxmlformats.org/officeDocument/2006/relationships/tags" Target="../tags/tag47.xml"/><Relationship Id="rId19" Type="http://schemas.openxmlformats.org/officeDocument/2006/relationships/tags" Target="../tags/tag56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Relationship Id="rId22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image" Target="../media/image21.jpeg"/><Relationship Id="rId3" Type="http://schemas.openxmlformats.org/officeDocument/2006/relationships/tags" Target="../tags/tag60.xml"/><Relationship Id="rId21" Type="http://schemas.openxmlformats.org/officeDocument/2006/relationships/image" Target="../media/image24.png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image" Target="../media/image20.png"/><Relationship Id="rId2" Type="http://schemas.openxmlformats.org/officeDocument/2006/relationships/tags" Target="../tags/tag59.xml"/><Relationship Id="rId16" Type="http://schemas.openxmlformats.org/officeDocument/2006/relationships/image" Target="../media/image19.jpeg"/><Relationship Id="rId20" Type="http://schemas.openxmlformats.org/officeDocument/2006/relationships/image" Target="../media/image23.png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image" Target="../media/image18.jpeg"/><Relationship Id="rId10" Type="http://schemas.openxmlformats.org/officeDocument/2006/relationships/tags" Target="../tags/tag67.xml"/><Relationship Id="rId19" Type="http://schemas.openxmlformats.org/officeDocument/2006/relationships/image" Target="../media/image22.png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73.xml"/><Relationship Id="rId7" Type="http://schemas.openxmlformats.org/officeDocument/2006/relationships/image" Target="../media/image25.jpe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image" Target="../media/image29.png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image" Target="../media/image28.jpe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image" Target="../media/image27.png"/><Relationship Id="rId5" Type="http://schemas.openxmlformats.org/officeDocument/2006/relationships/tags" Target="../tags/tag80.xml"/><Relationship Id="rId15" Type="http://schemas.openxmlformats.org/officeDocument/2006/relationships/image" Target="../media/image31.png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tags" Target="../tags/tag97.xml"/><Relationship Id="rId18" Type="http://schemas.openxmlformats.org/officeDocument/2006/relationships/image" Target="../media/image35.png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tags" Target="../tags/tag96.xml"/><Relationship Id="rId17" Type="http://schemas.openxmlformats.org/officeDocument/2006/relationships/image" Target="../media/image34.png"/><Relationship Id="rId2" Type="http://schemas.openxmlformats.org/officeDocument/2006/relationships/tags" Target="../tags/tag86.xml"/><Relationship Id="rId16" Type="http://schemas.openxmlformats.org/officeDocument/2006/relationships/image" Target="../media/image33.png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5" Type="http://schemas.openxmlformats.org/officeDocument/2006/relationships/tags" Target="../tags/tag89.xml"/><Relationship Id="rId15" Type="http://schemas.openxmlformats.org/officeDocument/2006/relationships/image" Target="../media/image32.png"/><Relationship Id="rId10" Type="http://schemas.openxmlformats.org/officeDocument/2006/relationships/tags" Target="../tags/tag94.xml"/><Relationship Id="rId19" Type="http://schemas.openxmlformats.org/officeDocument/2006/relationships/image" Target="../media/image36.png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tags" Target="../tags/tag100.xml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tags" Target="../tags/tag99.xml"/><Relationship Id="rId16" Type="http://schemas.openxmlformats.org/officeDocument/2006/relationships/image" Target="../media/image46.png"/><Relationship Id="rId1" Type="http://schemas.openxmlformats.org/officeDocument/2006/relationships/tags" Target="../tags/tag98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41.png"/><Relationship Id="rId5" Type="http://schemas.openxmlformats.org/officeDocument/2006/relationships/tags" Target="../tags/tag102.xml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tags" Target="../tags/tag101.xml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slideLayout" Target="../slideLayouts/slideLayout3.xml"/><Relationship Id="rId26" Type="http://schemas.openxmlformats.org/officeDocument/2006/relationships/image" Target="../media/image21.jpeg"/><Relationship Id="rId3" Type="http://schemas.openxmlformats.org/officeDocument/2006/relationships/tags" Target="../tags/tag105.xml"/><Relationship Id="rId21" Type="http://schemas.openxmlformats.org/officeDocument/2006/relationships/image" Target="../media/image50.png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5" Type="http://schemas.openxmlformats.org/officeDocument/2006/relationships/image" Target="../media/image54.png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image" Target="../media/image49.png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24" Type="http://schemas.openxmlformats.org/officeDocument/2006/relationships/image" Target="../media/image53.png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23" Type="http://schemas.openxmlformats.org/officeDocument/2006/relationships/image" Target="../media/image52.png"/><Relationship Id="rId10" Type="http://schemas.openxmlformats.org/officeDocument/2006/relationships/tags" Target="../tags/tag112.xml"/><Relationship Id="rId19" Type="http://schemas.openxmlformats.org/officeDocument/2006/relationships/image" Target="../media/image48.png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Relationship Id="rId22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image" Target="../media/image56.png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tags" Target="../tags/tag121.xml"/><Relationship Id="rId16" Type="http://schemas.openxmlformats.org/officeDocument/2006/relationships/image" Target="../media/image59.png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slideLayout" Target="../slideLayouts/slideLayout3.xml"/><Relationship Id="rId5" Type="http://schemas.openxmlformats.org/officeDocument/2006/relationships/tags" Target="../tags/tag124.xml"/><Relationship Id="rId15" Type="http://schemas.openxmlformats.org/officeDocument/2006/relationships/image" Target="../media/image58.png"/><Relationship Id="rId10" Type="http://schemas.openxmlformats.org/officeDocument/2006/relationships/tags" Target="../tags/tag129.xml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eg"/><Relationship Id="rId3" Type="http://schemas.openxmlformats.org/officeDocument/2006/relationships/tags" Target="../tags/tag132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9" Type="http://schemas.openxmlformats.org/officeDocument/2006/relationships/image" Target="../media/image6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67.jpeg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17" Type="http://schemas.openxmlformats.org/officeDocument/2006/relationships/image" Target="../media/image66.jpeg"/><Relationship Id="rId2" Type="http://schemas.openxmlformats.org/officeDocument/2006/relationships/tags" Target="../tags/tag137.xml"/><Relationship Id="rId16" Type="http://schemas.openxmlformats.org/officeDocument/2006/relationships/image" Target="../media/image65.png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5" Type="http://schemas.openxmlformats.org/officeDocument/2006/relationships/image" Target="../media/image64.jpeg"/><Relationship Id="rId10" Type="http://schemas.openxmlformats.org/officeDocument/2006/relationships/tags" Target="../tags/tag145.xml"/><Relationship Id="rId19" Type="http://schemas.openxmlformats.org/officeDocument/2006/relationships/image" Target="../media/image68.png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oleObject" Target="../embeddings/oleObject2.bin"/><Relationship Id="rId18" Type="http://schemas.openxmlformats.org/officeDocument/2006/relationships/image" Target="../media/image74.png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image" Target="../media/image70.wmf"/><Relationship Id="rId17" Type="http://schemas.openxmlformats.org/officeDocument/2006/relationships/image" Target="../media/image73.png"/><Relationship Id="rId2" Type="http://schemas.openxmlformats.org/officeDocument/2006/relationships/tags" Target="../tags/tag149.xml"/><Relationship Id="rId16" Type="http://schemas.openxmlformats.org/officeDocument/2006/relationships/image" Target="../media/image72.wmf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oleObject" Target="../embeddings/oleObject1.bin"/><Relationship Id="rId5" Type="http://schemas.openxmlformats.org/officeDocument/2006/relationships/tags" Target="../tags/tag152.xml"/><Relationship Id="rId15" Type="http://schemas.openxmlformats.org/officeDocument/2006/relationships/oleObject" Target="../embeddings/oleObject3.bin"/><Relationship Id="rId10" Type="http://schemas.openxmlformats.org/officeDocument/2006/relationships/image" Target="../media/image69.jpeg"/><Relationship Id="rId4" Type="http://schemas.openxmlformats.org/officeDocument/2006/relationships/tags" Target="../tags/tag151.xml"/><Relationship Id="rId9" Type="http://schemas.openxmlformats.org/officeDocument/2006/relationships/slideLayout" Target="../slideLayouts/slideLayout3.xml"/><Relationship Id="rId14" Type="http://schemas.openxmlformats.org/officeDocument/2006/relationships/image" Target="../media/image7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tags" Target="../tags/tag158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image" Target="../media/image78.jpeg"/><Relationship Id="rId5" Type="http://schemas.openxmlformats.org/officeDocument/2006/relationships/tags" Target="../tags/tag160.xml"/><Relationship Id="rId10" Type="http://schemas.openxmlformats.org/officeDocument/2006/relationships/image" Target="../media/image77.jpeg"/><Relationship Id="rId4" Type="http://schemas.openxmlformats.org/officeDocument/2006/relationships/tags" Target="../tags/tag159.xml"/><Relationship Id="rId9" Type="http://schemas.openxmlformats.org/officeDocument/2006/relationships/image" Target="../media/image7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7" Type="http://schemas.openxmlformats.org/officeDocument/2006/relationships/image" Target="../media/image80.png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6" Type="http://schemas.openxmlformats.org/officeDocument/2006/relationships/image" Target="../media/image79.jpeg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6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jpeg"/><Relationship Id="rId3" Type="http://schemas.openxmlformats.org/officeDocument/2006/relationships/tags" Target="../tags/tag168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9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79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174.xml"/><Relationship Id="rId7" Type="http://schemas.openxmlformats.org/officeDocument/2006/relationships/tags" Target="../tags/tag178.xml"/><Relationship Id="rId12" Type="http://schemas.openxmlformats.org/officeDocument/2006/relationships/tags" Target="../tags/tag183.xml"/><Relationship Id="rId2" Type="http://schemas.openxmlformats.org/officeDocument/2006/relationships/tags" Target="../tags/tag173.xml"/><Relationship Id="rId16" Type="http://schemas.openxmlformats.org/officeDocument/2006/relationships/image" Target="../media/image85.png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11" Type="http://schemas.openxmlformats.org/officeDocument/2006/relationships/tags" Target="../tags/tag182.xml"/><Relationship Id="rId5" Type="http://schemas.openxmlformats.org/officeDocument/2006/relationships/tags" Target="../tags/tag176.xml"/><Relationship Id="rId15" Type="http://schemas.openxmlformats.org/officeDocument/2006/relationships/image" Target="../media/image84.jpeg"/><Relationship Id="rId10" Type="http://schemas.openxmlformats.org/officeDocument/2006/relationships/tags" Target="../tags/tag181.xml"/><Relationship Id="rId4" Type="http://schemas.openxmlformats.org/officeDocument/2006/relationships/tags" Target="../tags/tag175.xml"/><Relationship Id="rId9" Type="http://schemas.openxmlformats.org/officeDocument/2006/relationships/tags" Target="../tags/tag180.xml"/><Relationship Id="rId14" Type="http://schemas.openxmlformats.org/officeDocument/2006/relationships/image" Target="../media/image83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90.png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12" Type="http://schemas.openxmlformats.org/officeDocument/2006/relationships/tags" Target="../tags/tag195.xml"/><Relationship Id="rId17" Type="http://schemas.openxmlformats.org/officeDocument/2006/relationships/image" Target="../media/image89.png"/><Relationship Id="rId2" Type="http://schemas.openxmlformats.org/officeDocument/2006/relationships/tags" Target="../tags/tag185.xml"/><Relationship Id="rId16" Type="http://schemas.openxmlformats.org/officeDocument/2006/relationships/image" Target="../media/image88.png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11" Type="http://schemas.openxmlformats.org/officeDocument/2006/relationships/tags" Target="../tags/tag194.xml"/><Relationship Id="rId5" Type="http://schemas.openxmlformats.org/officeDocument/2006/relationships/tags" Target="../tags/tag188.xml"/><Relationship Id="rId15" Type="http://schemas.openxmlformats.org/officeDocument/2006/relationships/image" Target="../media/image87.png"/><Relationship Id="rId10" Type="http://schemas.openxmlformats.org/officeDocument/2006/relationships/tags" Target="../tags/tag193.xml"/><Relationship Id="rId19" Type="http://schemas.openxmlformats.org/officeDocument/2006/relationships/image" Target="../media/image91.png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4" Type="http://schemas.openxmlformats.org/officeDocument/2006/relationships/image" Target="../media/image8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tags" Target="../tags/tag198.xml"/><Relationship Id="rId7" Type="http://schemas.openxmlformats.org/officeDocument/2006/relationships/image" Target="../media/image92.png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200.xml"/><Relationship Id="rId4" Type="http://schemas.openxmlformats.org/officeDocument/2006/relationships/tags" Target="../tags/tag19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203.xml"/><Relationship Id="rId7" Type="http://schemas.openxmlformats.org/officeDocument/2006/relationships/tags" Target="../tags/tag207.xml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image" Target="../media/image96.png"/><Relationship Id="rId5" Type="http://schemas.openxmlformats.org/officeDocument/2006/relationships/tags" Target="../tags/tag205.xml"/><Relationship Id="rId10" Type="http://schemas.openxmlformats.org/officeDocument/2006/relationships/image" Target="../media/image95.jpeg"/><Relationship Id="rId4" Type="http://schemas.openxmlformats.org/officeDocument/2006/relationships/tags" Target="../tags/tag204.xml"/><Relationship Id="rId9" Type="http://schemas.openxmlformats.org/officeDocument/2006/relationships/image" Target="../media/image94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tags" Target="../tags/tag210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6" Type="http://schemas.openxmlformats.org/officeDocument/2006/relationships/tags" Target="../tags/tag213.xml"/><Relationship Id="rId11" Type="http://schemas.openxmlformats.org/officeDocument/2006/relationships/image" Target="../media/image100.png"/><Relationship Id="rId5" Type="http://schemas.openxmlformats.org/officeDocument/2006/relationships/tags" Target="../tags/tag212.xml"/><Relationship Id="rId10" Type="http://schemas.openxmlformats.org/officeDocument/2006/relationships/image" Target="../media/image99.png"/><Relationship Id="rId4" Type="http://schemas.openxmlformats.org/officeDocument/2006/relationships/tags" Target="../tags/tag211.xml"/><Relationship Id="rId9" Type="http://schemas.openxmlformats.org/officeDocument/2006/relationships/image" Target="../media/image9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jpeg"/><Relationship Id="rId3" Type="http://schemas.openxmlformats.org/officeDocument/2006/relationships/tags" Target="../tags/tag216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215.xml"/><Relationship Id="rId1" Type="http://schemas.openxmlformats.org/officeDocument/2006/relationships/tags" Target="../tags/tag214.xml"/><Relationship Id="rId6" Type="http://schemas.openxmlformats.org/officeDocument/2006/relationships/tags" Target="../tags/tag219.xml"/><Relationship Id="rId11" Type="http://schemas.openxmlformats.org/officeDocument/2006/relationships/image" Target="../media/image104.jpeg"/><Relationship Id="rId5" Type="http://schemas.openxmlformats.org/officeDocument/2006/relationships/tags" Target="../tags/tag218.xml"/><Relationship Id="rId10" Type="http://schemas.openxmlformats.org/officeDocument/2006/relationships/image" Target="../media/image103.jpeg"/><Relationship Id="rId4" Type="http://schemas.openxmlformats.org/officeDocument/2006/relationships/tags" Target="../tags/tag217.xml"/><Relationship Id="rId9" Type="http://schemas.openxmlformats.org/officeDocument/2006/relationships/image" Target="../media/image10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227.xml"/><Relationship Id="rId13" Type="http://schemas.openxmlformats.org/officeDocument/2006/relationships/image" Target="../media/image107.jpeg"/><Relationship Id="rId3" Type="http://schemas.openxmlformats.org/officeDocument/2006/relationships/tags" Target="../tags/tag222.xml"/><Relationship Id="rId7" Type="http://schemas.openxmlformats.org/officeDocument/2006/relationships/tags" Target="../tags/tag226.xml"/><Relationship Id="rId12" Type="http://schemas.openxmlformats.org/officeDocument/2006/relationships/image" Target="../media/image106.png"/><Relationship Id="rId2" Type="http://schemas.openxmlformats.org/officeDocument/2006/relationships/tags" Target="../tags/tag221.xml"/><Relationship Id="rId16" Type="http://schemas.openxmlformats.org/officeDocument/2006/relationships/image" Target="../media/image110.jpeg"/><Relationship Id="rId1" Type="http://schemas.openxmlformats.org/officeDocument/2006/relationships/tags" Target="../tags/tag220.xml"/><Relationship Id="rId6" Type="http://schemas.openxmlformats.org/officeDocument/2006/relationships/tags" Target="../tags/tag225.xml"/><Relationship Id="rId11" Type="http://schemas.openxmlformats.org/officeDocument/2006/relationships/image" Target="../media/image105.jpeg"/><Relationship Id="rId5" Type="http://schemas.openxmlformats.org/officeDocument/2006/relationships/tags" Target="../tags/tag224.xml"/><Relationship Id="rId15" Type="http://schemas.openxmlformats.org/officeDocument/2006/relationships/image" Target="../media/image109.jpeg"/><Relationship Id="rId10" Type="http://schemas.openxmlformats.org/officeDocument/2006/relationships/notesSlide" Target="../notesSlides/notesSlide3.xml"/><Relationship Id="rId4" Type="http://schemas.openxmlformats.org/officeDocument/2006/relationships/tags" Target="../tags/tag223.xml"/><Relationship Id="rId9" Type="http://schemas.openxmlformats.org/officeDocument/2006/relationships/slideLayout" Target="../slideLayouts/slideLayout3.xml"/><Relationship Id="rId14" Type="http://schemas.openxmlformats.org/officeDocument/2006/relationships/image" Target="../media/image108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jpeg"/><Relationship Id="rId3" Type="http://schemas.openxmlformats.org/officeDocument/2006/relationships/tags" Target="../tags/tag230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229.xml"/><Relationship Id="rId1" Type="http://schemas.openxmlformats.org/officeDocument/2006/relationships/tags" Target="../tags/tag228.xml"/><Relationship Id="rId6" Type="http://schemas.openxmlformats.org/officeDocument/2006/relationships/tags" Target="../tags/tag233.xml"/><Relationship Id="rId11" Type="http://schemas.openxmlformats.org/officeDocument/2006/relationships/image" Target="../media/image114.png"/><Relationship Id="rId5" Type="http://schemas.openxmlformats.org/officeDocument/2006/relationships/tags" Target="../tags/tag232.xml"/><Relationship Id="rId10" Type="http://schemas.openxmlformats.org/officeDocument/2006/relationships/image" Target="../media/image113.jpeg"/><Relationship Id="rId4" Type="http://schemas.openxmlformats.org/officeDocument/2006/relationships/tags" Target="../tags/tag231.xml"/><Relationship Id="rId9" Type="http://schemas.openxmlformats.org/officeDocument/2006/relationships/image" Target="../media/image112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/><Relationship Id="rId13" Type="http://schemas.openxmlformats.org/officeDocument/2006/relationships/image" Target="../media/image118.jpeg"/><Relationship Id="rId3" Type="http://schemas.openxmlformats.org/officeDocument/2006/relationships/tags" Target="../tags/tag236.xml"/><Relationship Id="rId7" Type="http://schemas.openxmlformats.org/officeDocument/2006/relationships/tags" Target="../tags/tag240.xml"/><Relationship Id="rId12" Type="http://schemas.openxmlformats.org/officeDocument/2006/relationships/image" Target="../media/image117.png"/><Relationship Id="rId2" Type="http://schemas.openxmlformats.org/officeDocument/2006/relationships/tags" Target="../tags/tag235.xml"/><Relationship Id="rId16" Type="http://schemas.openxmlformats.org/officeDocument/2006/relationships/image" Target="../media/image121.png"/><Relationship Id="rId1" Type="http://schemas.openxmlformats.org/officeDocument/2006/relationships/tags" Target="../tags/tag234.xml"/><Relationship Id="rId6" Type="http://schemas.openxmlformats.org/officeDocument/2006/relationships/tags" Target="../tags/tag239.xml"/><Relationship Id="rId11" Type="http://schemas.openxmlformats.org/officeDocument/2006/relationships/image" Target="../media/image116.png"/><Relationship Id="rId5" Type="http://schemas.openxmlformats.org/officeDocument/2006/relationships/tags" Target="../tags/tag238.xml"/><Relationship Id="rId15" Type="http://schemas.openxmlformats.org/officeDocument/2006/relationships/image" Target="../media/image120.png"/><Relationship Id="rId10" Type="http://schemas.openxmlformats.org/officeDocument/2006/relationships/image" Target="../media/image115.jpeg"/><Relationship Id="rId4" Type="http://schemas.openxmlformats.org/officeDocument/2006/relationships/tags" Target="../tags/tag237.xml"/><Relationship Id="rId9" Type="http://schemas.openxmlformats.org/officeDocument/2006/relationships/slideLayout" Target="../slideLayouts/slideLayout3.xml"/><Relationship Id="rId14" Type="http://schemas.openxmlformats.org/officeDocument/2006/relationships/image" Target="../media/image1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tags" Target="../tags/tag244.xml"/><Relationship Id="rId7" Type="http://schemas.openxmlformats.org/officeDocument/2006/relationships/image" Target="../media/image122.png"/><Relationship Id="rId2" Type="http://schemas.openxmlformats.org/officeDocument/2006/relationships/tags" Target="../tags/tag243.xml"/><Relationship Id="rId1" Type="http://schemas.openxmlformats.org/officeDocument/2006/relationships/tags" Target="../tags/tag242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246.xml"/><Relationship Id="rId10" Type="http://schemas.openxmlformats.org/officeDocument/2006/relationships/image" Target="../media/image125.png"/><Relationship Id="rId4" Type="http://schemas.openxmlformats.org/officeDocument/2006/relationships/tags" Target="../tags/tag245.xml"/><Relationship Id="rId9" Type="http://schemas.openxmlformats.org/officeDocument/2006/relationships/image" Target="../media/image124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254.xml"/><Relationship Id="rId13" Type="http://schemas.openxmlformats.org/officeDocument/2006/relationships/image" Target="../media/image126.jpeg"/><Relationship Id="rId3" Type="http://schemas.openxmlformats.org/officeDocument/2006/relationships/tags" Target="../tags/tag249.xml"/><Relationship Id="rId7" Type="http://schemas.openxmlformats.org/officeDocument/2006/relationships/tags" Target="../tags/tag253.xml"/><Relationship Id="rId12" Type="http://schemas.openxmlformats.org/officeDocument/2006/relationships/slideLayout" Target="../slideLayouts/slideLayout3.xml"/><Relationship Id="rId17" Type="http://schemas.openxmlformats.org/officeDocument/2006/relationships/image" Target="../media/image130.jpeg"/><Relationship Id="rId2" Type="http://schemas.openxmlformats.org/officeDocument/2006/relationships/tags" Target="../tags/tag248.xml"/><Relationship Id="rId16" Type="http://schemas.openxmlformats.org/officeDocument/2006/relationships/image" Target="../media/image129.jpeg"/><Relationship Id="rId1" Type="http://schemas.openxmlformats.org/officeDocument/2006/relationships/tags" Target="../tags/tag247.xml"/><Relationship Id="rId6" Type="http://schemas.openxmlformats.org/officeDocument/2006/relationships/tags" Target="../tags/tag252.xml"/><Relationship Id="rId11" Type="http://schemas.openxmlformats.org/officeDocument/2006/relationships/tags" Target="../tags/tag257.xml"/><Relationship Id="rId5" Type="http://schemas.openxmlformats.org/officeDocument/2006/relationships/tags" Target="../tags/tag251.xml"/><Relationship Id="rId15" Type="http://schemas.openxmlformats.org/officeDocument/2006/relationships/image" Target="../media/image128.png"/><Relationship Id="rId10" Type="http://schemas.openxmlformats.org/officeDocument/2006/relationships/tags" Target="../tags/tag256.xml"/><Relationship Id="rId4" Type="http://schemas.openxmlformats.org/officeDocument/2006/relationships/tags" Target="../tags/tag250.xml"/><Relationship Id="rId9" Type="http://schemas.openxmlformats.org/officeDocument/2006/relationships/tags" Target="../tags/tag255.xml"/><Relationship Id="rId14" Type="http://schemas.openxmlformats.org/officeDocument/2006/relationships/image" Target="../media/image12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13" Type="http://schemas.openxmlformats.org/officeDocument/2006/relationships/image" Target="../media/image135.jpeg"/><Relationship Id="rId3" Type="http://schemas.openxmlformats.org/officeDocument/2006/relationships/tags" Target="../tags/tag260.xml"/><Relationship Id="rId7" Type="http://schemas.openxmlformats.org/officeDocument/2006/relationships/tags" Target="../tags/tag264.xml"/><Relationship Id="rId12" Type="http://schemas.openxmlformats.org/officeDocument/2006/relationships/image" Target="../media/image134.png"/><Relationship Id="rId2" Type="http://schemas.openxmlformats.org/officeDocument/2006/relationships/tags" Target="../tags/tag259.xml"/><Relationship Id="rId1" Type="http://schemas.openxmlformats.org/officeDocument/2006/relationships/tags" Target="../tags/tag258.xml"/><Relationship Id="rId6" Type="http://schemas.openxmlformats.org/officeDocument/2006/relationships/tags" Target="../tags/tag263.xml"/><Relationship Id="rId11" Type="http://schemas.openxmlformats.org/officeDocument/2006/relationships/image" Target="../media/image133.jpeg"/><Relationship Id="rId5" Type="http://schemas.openxmlformats.org/officeDocument/2006/relationships/tags" Target="../tags/tag262.xml"/><Relationship Id="rId10" Type="http://schemas.openxmlformats.org/officeDocument/2006/relationships/image" Target="../media/image132.png"/><Relationship Id="rId4" Type="http://schemas.openxmlformats.org/officeDocument/2006/relationships/tags" Target="../tags/tag261.xml"/><Relationship Id="rId9" Type="http://schemas.openxmlformats.org/officeDocument/2006/relationships/image" Target="../media/image131.png"/><Relationship Id="rId14" Type="http://schemas.openxmlformats.org/officeDocument/2006/relationships/image" Target="../media/image13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jpeg"/><Relationship Id="rId3" Type="http://schemas.openxmlformats.org/officeDocument/2006/relationships/tags" Target="../tags/tag267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266.xml"/><Relationship Id="rId1" Type="http://schemas.openxmlformats.org/officeDocument/2006/relationships/tags" Target="../tags/tag265.xml"/><Relationship Id="rId6" Type="http://schemas.openxmlformats.org/officeDocument/2006/relationships/tags" Target="../tags/tag270.xml"/><Relationship Id="rId11" Type="http://schemas.openxmlformats.org/officeDocument/2006/relationships/image" Target="../media/image140.png"/><Relationship Id="rId5" Type="http://schemas.openxmlformats.org/officeDocument/2006/relationships/tags" Target="../tags/tag269.xml"/><Relationship Id="rId10" Type="http://schemas.openxmlformats.org/officeDocument/2006/relationships/image" Target="../media/image139.jpeg"/><Relationship Id="rId4" Type="http://schemas.openxmlformats.org/officeDocument/2006/relationships/tags" Target="../tags/tag268.xml"/><Relationship Id="rId9" Type="http://schemas.openxmlformats.org/officeDocument/2006/relationships/image" Target="../media/image138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5" Type="http://schemas.openxmlformats.org/officeDocument/2006/relationships/image" Target="../media/image141.png"/><Relationship Id="rId4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Exploring the Dark Side of the Univers-Tools 2024 (3-7 June 2024 ...">
            <a:extLst>
              <a:ext uri="{FF2B5EF4-FFF2-40B4-BE49-F238E27FC236}">
                <a16:creationId xmlns:a16="http://schemas.microsoft.com/office/drawing/2014/main" id="{2E9665E1-612A-47C4-3511-B0B971F8F1C6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5806" y="0"/>
            <a:ext cx="1679943" cy="108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1" name="Google Shape;201;p33"/>
          <p:cNvSpPr txBox="1"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762125" y="751879"/>
            <a:ext cx="7256949" cy="18981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noProof="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</a:rPr>
              <a:t>Diffusion Compton profondément virtuelle avec l'expérience CLAS12 au laboratoire Jefferson (USA)</a:t>
            </a:r>
            <a:endParaRPr lang="fr-FR" sz="7200" b="0" noProof="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202" name="Google Shape;202;p33"/>
          <p:cNvSpPr txBox="1"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199103" y="2878633"/>
            <a:ext cx="4353300" cy="11526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 rtl="0" fontAlgn="base"/>
            <a:r>
              <a:rPr lang="fr-FR" sz="2000" b="0" i="0" u="none" strike="noStrike" noProof="0" dirty="0">
                <a:solidFill>
                  <a:schemeClr val="bg1">
                    <a:lumMod val="25000"/>
                  </a:schemeClr>
                </a:solidFill>
                <a:effectLst/>
                <a:cs typeface="Libertinus Serif" pitchFamily="50" charset="0"/>
              </a:rPr>
              <a:t>Mathieu Ouillon​</a:t>
            </a:r>
            <a:r>
              <a:rPr lang="fr-FR" sz="2000" b="0" i="0" noProof="0" dirty="0">
                <a:solidFill>
                  <a:schemeClr val="bg1">
                    <a:lumMod val="25000"/>
                  </a:schemeClr>
                </a:solidFill>
                <a:effectLst/>
                <a:cs typeface="Libertinus Serif" pitchFamily="50" charset="0"/>
              </a:rPr>
              <a:t>​</a:t>
            </a:r>
          </a:p>
          <a:p>
            <a:pPr algn="ctr" rtl="0" fontAlgn="base"/>
            <a:r>
              <a:rPr lang="fr-FR" sz="2000" b="0" i="0" u="none" strike="noStrike" noProof="0" dirty="0" err="1">
                <a:solidFill>
                  <a:schemeClr val="bg1">
                    <a:lumMod val="25000"/>
                  </a:schemeClr>
                </a:solidFill>
                <a:effectLst/>
                <a:cs typeface="Libertinus Serif" pitchFamily="50" charset="0"/>
              </a:rPr>
              <a:t>IJCLab</a:t>
            </a:r>
            <a:endParaRPr lang="fr-FR" sz="2000" b="0" i="0" u="none" strike="noStrike" noProof="0" dirty="0">
              <a:solidFill>
                <a:schemeClr val="bg1">
                  <a:lumMod val="25000"/>
                </a:schemeClr>
              </a:solidFill>
              <a:effectLst/>
              <a:cs typeface="Libertinus Serif" pitchFamily="50" charset="0"/>
            </a:endParaRPr>
          </a:p>
          <a:p>
            <a:pPr algn="ctr" rtl="0" fontAlgn="base"/>
            <a:r>
              <a:rPr lang="fr-FR" sz="2000" b="0" i="0" noProof="0" dirty="0">
                <a:solidFill>
                  <a:schemeClr val="bg1">
                    <a:lumMod val="25000"/>
                  </a:schemeClr>
                </a:solidFill>
                <a:effectLst/>
                <a:cs typeface="Libertinus Serif" pitchFamily="50" charset="0"/>
              </a:rPr>
              <a:t>Soutenance de thèse 05/04/2024</a:t>
            </a:r>
          </a:p>
        </p:txBody>
      </p:sp>
      <p:pic>
        <p:nvPicPr>
          <p:cNvPr id="1026" name="Picture 2" descr="Une image contenant logo&#10;&#10;Description générée automatiquement">
            <a:extLst>
              <a:ext uri="{FF2B5EF4-FFF2-40B4-BE49-F238E27FC236}">
                <a16:creationId xmlns:a16="http://schemas.microsoft.com/office/drawing/2014/main" id="{AE3307AA-63C5-0896-FC9F-2CB4DF18FF20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189" y="4298570"/>
            <a:ext cx="1977586" cy="68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Une image contenant texte, capture d’écran, logo, graphisme&#10;&#10;Description générée automatiquement">
            <a:extLst>
              <a:ext uri="{FF2B5EF4-FFF2-40B4-BE49-F238E27FC236}">
                <a16:creationId xmlns:a16="http://schemas.microsoft.com/office/drawing/2014/main" id="{19ED7CAF-64A8-E325-25F3-5043DD4924C9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979" y="4248960"/>
            <a:ext cx="2161804" cy="89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e image contenant logo&#10;&#10;Description générée automatiquement">
            <a:extLst>
              <a:ext uri="{FF2B5EF4-FFF2-40B4-BE49-F238E27FC236}">
                <a16:creationId xmlns:a16="http://schemas.microsoft.com/office/drawing/2014/main" id="{E9A7F4DD-F0AA-46EB-FBD3-E2592CFA9ECA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082" y="4298570"/>
            <a:ext cx="1450070" cy="781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ris-Saclay University Logo PNG vector in SVG, PDF, AI, CDR format">
            <a:extLst>
              <a:ext uri="{FF2B5EF4-FFF2-40B4-BE49-F238E27FC236}">
                <a16:creationId xmlns:a16="http://schemas.microsoft.com/office/drawing/2014/main" id="{9077C433-01DC-1993-905F-AE4184532233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6675" y="-9707563"/>
            <a:ext cx="329565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 descr="Une image contenant Police, Graphique, texte, blanc&#10;&#10;Description générée automatiquement">
            <a:extLst>
              <a:ext uri="{FF2B5EF4-FFF2-40B4-BE49-F238E27FC236}">
                <a16:creationId xmlns:a16="http://schemas.microsoft.com/office/drawing/2014/main" id="{1E626D5D-F356-16AC-8724-FB918EF51F8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738194" y="19629"/>
            <a:ext cx="1380131" cy="620284"/>
          </a:xfrm>
          <a:prstGeom prst="rect">
            <a:avLst/>
          </a:prstGeom>
        </p:spPr>
      </p:pic>
      <p:pic>
        <p:nvPicPr>
          <p:cNvPr id="4" name="Image 3" descr="Une image contenant Graphique, graphisme, clipart, texte&#10;&#10;Description générée automatiquement">
            <a:extLst>
              <a:ext uri="{FF2B5EF4-FFF2-40B4-BE49-F238E27FC236}">
                <a16:creationId xmlns:a16="http://schemas.microsoft.com/office/drawing/2014/main" id="{C5FA7F59-9072-3CD6-F973-F26A347FE8F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8013783" y="4313617"/>
            <a:ext cx="1071966" cy="8047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32150" y="363561"/>
            <a:ext cx="6533400" cy="7461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noProof="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Résumé</a:t>
            </a:r>
          </a:p>
        </p:txBody>
      </p:sp>
      <p:sp>
        <p:nvSpPr>
          <p:cNvPr id="221" name="Google Shape;221;p35"/>
          <p:cNvSpPr txBox="1"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948600" y="1109725"/>
            <a:ext cx="565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noProof="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01</a:t>
            </a:r>
          </a:p>
        </p:txBody>
      </p:sp>
      <p:sp>
        <p:nvSpPr>
          <p:cNvPr id="222" name="Google Shape;222;p35"/>
          <p:cNvSpPr txBox="1">
            <a:spLocks noGrp="1"/>
          </p:cNvSpPr>
          <p:nvPr>
            <p:ph type="title" idx="6"/>
            <p:custDataLst>
              <p:tags r:id="rId3"/>
            </p:custDataLst>
          </p:nvPr>
        </p:nvSpPr>
        <p:spPr>
          <a:xfrm>
            <a:off x="948600" y="2124150"/>
            <a:ext cx="565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noProof="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03</a:t>
            </a:r>
          </a:p>
        </p:txBody>
      </p:sp>
      <p:sp>
        <p:nvSpPr>
          <p:cNvPr id="223" name="Google Shape;223;p35"/>
          <p:cNvSpPr txBox="1">
            <a:spLocks noGrp="1"/>
          </p:cNvSpPr>
          <p:nvPr>
            <p:ph type="title" idx="7"/>
            <p:custDataLst>
              <p:tags r:id="rId4"/>
            </p:custDataLst>
          </p:nvPr>
        </p:nvSpPr>
        <p:spPr>
          <a:xfrm>
            <a:off x="948600" y="1618287"/>
            <a:ext cx="565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noProof="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02</a:t>
            </a:r>
          </a:p>
        </p:txBody>
      </p:sp>
      <p:sp>
        <p:nvSpPr>
          <p:cNvPr id="224" name="Google Shape;224;p35"/>
          <p:cNvSpPr txBox="1">
            <a:spLocks noGrp="1"/>
          </p:cNvSpPr>
          <p:nvPr>
            <p:ph type="title" idx="8"/>
            <p:custDataLst>
              <p:tags r:id="rId5"/>
            </p:custDataLst>
          </p:nvPr>
        </p:nvSpPr>
        <p:spPr>
          <a:xfrm>
            <a:off x="948600" y="2630013"/>
            <a:ext cx="565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noProof="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04</a:t>
            </a:r>
            <a:endParaRPr lang="fr-FR" noProof="0" dirty="0"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227" name="Google Shape;227;p35"/>
          <p:cNvSpPr txBox="1">
            <a:spLocks noGrp="1"/>
          </p:cNvSpPr>
          <p:nvPr>
            <p:ph type="subTitle" idx="14"/>
            <p:custDataLst>
              <p:tags r:id="rId6"/>
            </p:custDataLst>
          </p:nvPr>
        </p:nvSpPr>
        <p:spPr>
          <a:xfrm>
            <a:off x="1639525" y="2121452"/>
            <a:ext cx="6777124" cy="4435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 rtl="0" fontAlgn="auto"/>
            <a:r>
              <a:rPr lang="fr-FR" sz="2000" b="0" i="0" u="none" strike="noStrike" noProof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L’expérience BoNuS12 ​à </a:t>
            </a:r>
            <a:r>
              <a:rPr lang="fr-FR" sz="2000" b="0" i="0" u="none" strike="noStrike" noProof="0" dirty="0" err="1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JLab</a:t>
            </a:r>
            <a:endParaRPr lang="fr-FR" sz="2000" b="0" i="0" u="none" strike="noStrike" noProof="0" dirty="0">
              <a:solidFill>
                <a:schemeClr val="bg1">
                  <a:lumMod val="2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228" name="Google Shape;228;p35"/>
          <p:cNvSpPr txBox="1">
            <a:spLocks noGrp="1"/>
          </p:cNvSpPr>
          <p:nvPr>
            <p:ph type="subTitle" idx="15"/>
            <p:custDataLst>
              <p:tags r:id="rId7"/>
            </p:custDataLst>
          </p:nvPr>
        </p:nvSpPr>
        <p:spPr>
          <a:xfrm>
            <a:off x="1632150" y="2634025"/>
            <a:ext cx="6791875" cy="4435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 rtl="0" fontAlgn="auto"/>
            <a:r>
              <a:rPr lang="fr-FR" sz="2000" b="0" i="0" u="none" strike="noStrike" noProof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Filtre de Kalman et son application à BONuS12</a:t>
            </a:r>
          </a:p>
        </p:txBody>
      </p:sp>
      <p:sp>
        <p:nvSpPr>
          <p:cNvPr id="12" name="Google Shape;224;p35">
            <a:extLst>
              <a:ext uri="{FF2B5EF4-FFF2-40B4-BE49-F238E27FC236}">
                <a16:creationId xmlns:a16="http://schemas.microsoft.com/office/drawing/2014/main" id="{8A0C5AB1-469E-BA30-B28B-F6091EA27B09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948600" y="3138576"/>
            <a:ext cx="565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2500" b="1" i="0" u="sng" strike="noStrike" cap="non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" sz="240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05</a:t>
            </a:r>
          </a:p>
        </p:txBody>
      </p:sp>
      <p:sp>
        <p:nvSpPr>
          <p:cNvPr id="13" name="Google Shape;224;p35">
            <a:extLst>
              <a:ext uri="{FF2B5EF4-FFF2-40B4-BE49-F238E27FC236}">
                <a16:creationId xmlns:a16="http://schemas.microsoft.com/office/drawing/2014/main" id="{57CAD64D-460B-2B63-32CD-A036D1B34BCC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948600" y="3647139"/>
            <a:ext cx="565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2500" b="1" i="0" u="sng" strike="noStrike" cap="none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ato"/>
              <a:buNone/>
              <a:defRPr sz="3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" sz="240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06</a:t>
            </a:r>
          </a:p>
        </p:txBody>
      </p:sp>
      <p:sp>
        <p:nvSpPr>
          <p:cNvPr id="16" name="Google Shape;226;p35">
            <a:extLst>
              <a:ext uri="{FF2B5EF4-FFF2-40B4-BE49-F238E27FC236}">
                <a16:creationId xmlns:a16="http://schemas.microsoft.com/office/drawing/2014/main" id="{A5832907-8C51-41D4-3C67-150E01D1CD82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1632150" y="1109726"/>
            <a:ext cx="6791875" cy="44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algn="l" rtl="0" fontAlgn="auto"/>
            <a:r>
              <a:rPr lang="en-US" sz="2000" b="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Introduction à la </a:t>
            </a:r>
            <a:r>
              <a:rPr lang="en-US" sz="2000" b="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théorie</a:t>
            </a:r>
            <a:r>
              <a:rPr lang="en-US" sz="2000" b="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des </a:t>
            </a:r>
            <a:r>
              <a:rPr lang="en-US" sz="2000" b="0" i="0" u="none" strike="noStrike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GPD et du DVCS​</a:t>
            </a:r>
          </a:p>
        </p:txBody>
      </p:sp>
      <p:sp>
        <p:nvSpPr>
          <p:cNvPr id="17" name="Google Shape;228;p35">
            <a:extLst>
              <a:ext uri="{FF2B5EF4-FFF2-40B4-BE49-F238E27FC236}">
                <a16:creationId xmlns:a16="http://schemas.microsoft.com/office/drawing/2014/main" id="{14A1057B-FBE2-B8D0-386E-DB1CD27D6D44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1632150" y="3137189"/>
            <a:ext cx="6791875" cy="44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algn="l" rtl="0" fontAlgn="auto"/>
            <a:r>
              <a:rPr lang="en-US" sz="2000" b="0" i="0" u="none" strike="noStrike" dirty="0" err="1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Analyse</a:t>
            </a:r>
            <a:r>
              <a:rPr lang="en-US" sz="2000" b="0" i="0" u="none" strike="noStrike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du n-DVCS et les </a:t>
            </a:r>
            <a:r>
              <a:rPr lang="en-US" sz="2000" b="0" i="0" u="none" strike="noStrike" dirty="0" err="1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résultats</a:t>
            </a:r>
            <a:endParaRPr lang="en-US" sz="2000" b="0" i="0" u="none" strike="noStrike" dirty="0">
              <a:solidFill>
                <a:schemeClr val="bg1">
                  <a:lumMod val="2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18" name="Google Shape;228;p35">
            <a:extLst>
              <a:ext uri="{FF2B5EF4-FFF2-40B4-BE49-F238E27FC236}">
                <a16:creationId xmlns:a16="http://schemas.microsoft.com/office/drawing/2014/main" id="{74338273-4709-30E2-9EB7-035236FAFE1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1639525" y="3647139"/>
            <a:ext cx="6784500" cy="44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algn="l" rtl="0" fontAlgn="auto"/>
            <a:r>
              <a:rPr lang="en-US" sz="2000" b="0" i="0" u="none" strike="noStrike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Conclusion​</a:t>
            </a:r>
          </a:p>
        </p:txBody>
      </p:sp>
      <p:sp>
        <p:nvSpPr>
          <p:cNvPr id="21" name="Google Shape;226;p35">
            <a:extLst>
              <a:ext uri="{FF2B5EF4-FFF2-40B4-BE49-F238E27FC236}">
                <a16:creationId xmlns:a16="http://schemas.microsoft.com/office/drawing/2014/main" id="{D8FAE5FF-F456-93B4-B974-63A21A8DCE48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1639525" y="1618288"/>
            <a:ext cx="6784500" cy="44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sz="2000" b="0" i="0" u="none" strike="noStrike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Introduction au tagging​</a:t>
            </a:r>
          </a:p>
        </p:txBody>
      </p:sp>
      <p:sp>
        <p:nvSpPr>
          <p:cNvPr id="22" name="Espace réservé du numéro de diapositive 21">
            <a:extLst>
              <a:ext uri="{FF2B5EF4-FFF2-40B4-BE49-F238E27FC236}">
                <a16:creationId xmlns:a16="http://schemas.microsoft.com/office/drawing/2014/main" id="{3043F9D8-259A-B490-1F3B-40E0F67316F0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4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2</a:t>
            </a:fld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C24D33-2AB9-CF31-4439-B0D72F4F173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7704000" cy="769034"/>
          </a:xfrm>
        </p:spPr>
        <p:txBody>
          <a:bodyPr/>
          <a:lstStyle/>
          <a:p>
            <a:r>
              <a:rPr lang="fr-FR" sz="3200" i="0" u="none" strike="noStrike" noProof="0" dirty="0">
                <a:solidFill>
                  <a:schemeClr val="bg1">
                    <a:lumMod val="90000"/>
                  </a:schemeClr>
                </a:solidFill>
                <a:effectLst/>
                <a:latin typeface="Cambria" panose="02040503050406030204" pitchFamily="18" charset="0"/>
              </a:rPr>
              <a:t>Zoologie des fonctions de partons</a:t>
            </a:r>
            <a:endParaRPr lang="fr-FR" sz="3200" noProof="0" dirty="0">
              <a:solidFill>
                <a:schemeClr val="bg1">
                  <a:lumMod val="90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6D0EB3-60DC-BF01-523B-92BB8917F62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3</a:t>
            </a:fld>
            <a:endParaRPr lang="fr-FR" dirty="0"/>
          </a:p>
        </p:txBody>
      </p:sp>
      <p:pic>
        <p:nvPicPr>
          <p:cNvPr id="1026" name="Picture 2" descr="Une image contenant texte, diagramme, ligne, Police&#10;&#10;Description générée automatiquement">
            <a:extLst>
              <a:ext uri="{FF2B5EF4-FFF2-40B4-BE49-F238E27FC236}">
                <a16:creationId xmlns:a16="http://schemas.microsoft.com/office/drawing/2014/main" id="{EE774580-E99F-2C80-0D7C-BB2F6B21B53A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369" y="1016102"/>
            <a:ext cx="5348631" cy="313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12">
            <a:extLst>
              <a:ext uri="{FF2B5EF4-FFF2-40B4-BE49-F238E27FC236}">
                <a16:creationId xmlns:a16="http://schemas.microsoft.com/office/drawing/2014/main" id="{CD603E54-3819-81F7-6D19-E2176689B59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0" y="814738"/>
            <a:ext cx="4301605" cy="372409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Compréhension de la structure des 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quarks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et des gluons du 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nucléon libre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et 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lié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est l'un des défis majeurs de la physique hadronique.</a:t>
            </a:r>
          </a:p>
          <a:p>
            <a:endParaRPr lang="en-US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Résolu</a:t>
            </a:r>
            <a:r>
              <a:rPr lang="fr-FR" sz="16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avec étude de la structure des nucléons par le biais de la diffusion des électrons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i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Facteurs de forme </a:t>
            </a:r>
            <a:r>
              <a:rPr lang="fr-FR" sz="14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(FF) grâce à la diffusion élastique du proton.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i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Fonctions de distribution des partons </a:t>
            </a:r>
            <a:r>
              <a:rPr lang="fr-FR" sz="14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(PDF) grâce au DIS.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Développement d'un </a:t>
            </a:r>
            <a:r>
              <a:rPr lang="fr-FR" sz="1400" b="1" i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nouveau cadre théorique </a:t>
            </a:r>
            <a:r>
              <a:rPr lang="fr-FR" sz="14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sur 30 ans pour la compréhension des fonctions de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Capacité actuelle de mesure jusqu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’aux</a:t>
            </a:r>
            <a:r>
              <a:rPr lang="fr-FR" sz="14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fonctions de structure 3D, comme les TMD et les </a:t>
            </a:r>
            <a:r>
              <a:rPr lang="fr-FR" sz="1400" b="1" i="1" dirty="0">
                <a:solidFill>
                  <a:srgbClr val="0070C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GPD</a:t>
            </a:r>
            <a:r>
              <a:rPr lang="fr-FR" sz="1400" b="0" i="0" dirty="0">
                <a:solidFill>
                  <a:schemeClr val="bg1">
                    <a:lumMod val="2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  <a:b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</a:br>
            <a:endParaRPr lang="en-US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34E2988-827E-E115-04F4-3308E48852D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868537" y="4149839"/>
            <a:ext cx="32754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dirty="0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Markus Diehl. Introduction to </a:t>
            </a:r>
            <a:r>
              <a:rPr lang="fr-FR" sz="800" dirty="0" err="1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GPDs</a:t>
            </a:r>
            <a:r>
              <a:rPr lang="fr-FR" sz="800" dirty="0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and </a:t>
            </a:r>
            <a:r>
              <a:rPr lang="fr-FR" sz="800" dirty="0" err="1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TMDs</a:t>
            </a:r>
            <a:r>
              <a:rPr lang="fr-FR" sz="800" dirty="0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 arXiv:1512.01328v2</a:t>
            </a:r>
          </a:p>
        </p:txBody>
      </p:sp>
    </p:spTree>
    <p:extLst>
      <p:ext uri="{BB962C8B-B14F-4D97-AF65-F5344CB8AC3E}">
        <p14:creationId xmlns:p14="http://schemas.microsoft.com/office/powerpoint/2010/main" val="1558745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665FAE56-7DDD-103B-97AC-E768EF6335C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11"/>
          <a:srcRect t="25669" b="16178"/>
          <a:stretch/>
        </p:blipFill>
        <p:spPr>
          <a:xfrm>
            <a:off x="4761340" y="3782032"/>
            <a:ext cx="4305674" cy="103044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603EE20-B3F1-B4B1-4FC8-2D3A579ABD5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>
                <a:latin typeface="Cambria" panose="02040503050406030204" pitchFamily="18" charset="0"/>
              </a:rPr>
              <a:t>Distribution généralisée des partons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7AC1CAF-5E8D-D851-FE71-4CFF95BAAED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4</a:t>
            </a:fld>
            <a:endParaRPr lang="fr-FR" dirty="0"/>
          </a:p>
        </p:txBody>
      </p:sp>
      <p:pic>
        <p:nvPicPr>
          <p:cNvPr id="2053" name="Picture 5" descr="Une image contenant croquis, dessin, diagramme, Police&#10;&#10;Description générée automatiquement">
            <a:extLst>
              <a:ext uri="{FF2B5EF4-FFF2-40B4-BE49-F238E27FC236}">
                <a16:creationId xmlns:a16="http://schemas.microsoft.com/office/drawing/2014/main" id="{4B3CEE53-1792-8E92-A36D-160B8FC7E707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718" y="770565"/>
            <a:ext cx="3864416" cy="313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16">
                <a:extLst>
                  <a:ext uri="{FF2B5EF4-FFF2-40B4-BE49-F238E27FC236}">
                    <a16:creationId xmlns:a16="http://schemas.microsoft.com/office/drawing/2014/main" id="{4811D0B0-DFA4-5233-7FAA-DE21E1529691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-8670" y="760490"/>
                <a:ext cx="5080388" cy="3852593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GPD : </a:t>
                </a:r>
                <a:r>
                  <a:rPr lang="en-US" sz="1600" b="0" i="0" dirty="0" err="1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Fonctions</a:t>
                </a: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600" b="0" i="0" dirty="0" err="1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universelles</a:t>
                </a: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qui </a:t>
                </a:r>
                <a:r>
                  <a:rPr lang="en-US" sz="1600" b="0" i="0" dirty="0" err="1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décrivent</a:t>
                </a:r>
                <a:r>
                  <a:rPr lang="en-US" sz="16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6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corrélation entre la </a:t>
                </a:r>
                <a:r>
                  <a:rPr lang="fr-FR" sz="1600" b="1" i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distribution spatiale transverse</a:t>
                </a:r>
                <a:r>
                  <a:rPr lang="fr-FR" sz="16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des quarks dans le nucléon et la </a:t>
                </a:r>
                <a:r>
                  <a:rPr lang="fr-FR" sz="1600" b="1" i="0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distribution longitudinale de leurs impulsions</a:t>
                </a:r>
                <a:r>
                  <a:rPr lang="en-US" sz="1600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fr-FR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À un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𝑄</m:t>
                    </m:r>
                    <m:r>
                      <a:rPr lang="en-US" sz="1400" i="1" baseline="30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2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fixé,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GPD dépendent des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trois variables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suivantes :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</a:t>
                </a:r>
              </a:p>
              <a:p>
                <a:pPr marL="144000" indent="-14400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𝑥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fraction de l'impulsion longitudinale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portée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par le quark</a:t>
                </a:r>
              </a:p>
              <a:p>
                <a:pPr marL="144000" indent="-14400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𝜉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l’impulsion longitudinale transférée au quark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𝑡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la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différence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carrée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entre le proton final et initial (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corrélé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à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</a:t>
                </a:r>
                <a:r>
                  <a:rPr lang="en-US" sz="1400" baseline="-250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⊥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via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FT) </a:t>
                </a:r>
              </a:p>
              <a:p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Il y a 8 GPD pour un hadron de spin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fr-FR" sz="14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fPr>
                      <m:num>
                        <m:r>
                          <a:rPr lang="fr-FR" sz="14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1</m:t>
                        </m:r>
                      </m:num>
                      <m:den>
                        <m:r>
                          <a:rPr lang="fr-FR" sz="14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 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4 chiral-even (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hélicité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parton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non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modifié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 : </a:t>
                </a:r>
                <a14:m>
                  <m:oMath xmlns:m="http://schemas.openxmlformats.org/officeDocument/2006/math"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𝑯</m:t>
                    </m:r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</m:t>
                    </m:r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𝑬</m:t>
                    </m:r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fr-FR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accPr>
                      <m:e>
                        <m:r>
                          <a:rPr lang="fr-FR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𝑯</m:t>
                        </m:r>
                      </m:e>
                    </m:acc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lang="fr-FR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accPr>
                      <m:e>
                        <m:r>
                          <a:rPr lang="fr-FR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𝑬</m:t>
                        </m:r>
                      </m:e>
                    </m:acc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seules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qui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interviennent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avec le DVCS.</a:t>
                </a:r>
              </a:p>
              <a:p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Possible d'y accéder par le biais de </a:t>
                </a:r>
                <a:r>
                  <a:rPr lang="fr-FR" sz="16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processus exclusifs</a:t>
                </a: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4" name="ZoneTexte 16">
                <a:extLst>
                  <a:ext uri="{FF2B5EF4-FFF2-40B4-BE49-F238E27FC236}">
                    <a16:creationId xmlns:a16="http://schemas.microsoft.com/office/drawing/2014/main" id="{4811D0B0-DFA4-5233-7FAA-DE21E1529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-8670" y="760490"/>
                <a:ext cx="5080388" cy="3852593"/>
              </a:xfrm>
              <a:prstGeom prst="rect">
                <a:avLst/>
              </a:prstGeom>
              <a:blipFill>
                <a:blip r:embed="rId13"/>
                <a:stretch>
                  <a:fillRect l="-720" t="-633" r="-480" b="-94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>
            <a:extLst>
              <a:ext uri="{FF2B5EF4-FFF2-40B4-BE49-F238E27FC236}">
                <a16:creationId xmlns:a16="http://schemas.microsoft.com/office/drawing/2014/main" id="{DED573D2-B0A7-76ED-98A9-99A89739593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420909" y="715692"/>
            <a:ext cx="203712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Diehl, </a:t>
            </a:r>
            <a:r>
              <a:rPr kumimoji="0" lang="fr-FR" altLang="fr-FR" sz="900" b="0" i="0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arXiv:hep-ph</a:t>
            </a:r>
            <a:r>
              <a:rPr kumimoji="0" lang="fr-FR" altLang="fr-FR" sz="900" b="0" i="0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/0307382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41758BF-C00D-C89F-5938-4F979BC4027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953988" y="4771087"/>
            <a:ext cx="13010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DGLAP </a:t>
            </a:r>
          </a:p>
          <a:p>
            <a:pPr algn="ctr"/>
            <a:r>
              <a:rPr lang="fr-FR" sz="8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Diffusion d’un </a:t>
            </a:r>
            <a:r>
              <a:rPr lang="fr-FR" sz="8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anti-quark</a:t>
            </a:r>
            <a:endParaRPr lang="fr-FR" sz="8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E3AE63CF-D0E6-61C6-16C2-DB7F7EEAEABF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203082" y="4791559"/>
                <a:ext cx="1301086" cy="349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8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ERBL </a:t>
                </a:r>
              </a:p>
              <a:p>
                <a:pPr algn="ctr"/>
                <a:r>
                  <a:rPr lang="fr-FR" sz="8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Annihilation </a:t>
                </a:r>
                <a14:m>
                  <m:oMath xmlns:m="http://schemas.openxmlformats.org/officeDocument/2006/math">
                    <m:r>
                      <a:rPr lang="fr-FR" sz="8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𝑞</m:t>
                    </m:r>
                    <m:acc>
                      <m:accPr>
                        <m:chr m:val="̅"/>
                        <m:ctrlPr>
                          <a:rPr lang="fr-FR" sz="8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8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endParaRPr lang="fr-FR" sz="8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E3AE63CF-D0E6-61C6-16C2-DB7F7EEAE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6203082" y="4791559"/>
                <a:ext cx="1301086" cy="349391"/>
              </a:xfrm>
              <a:prstGeom prst="rect">
                <a:avLst/>
              </a:prstGeom>
              <a:blipFill>
                <a:blip r:embed="rId14"/>
                <a:stretch>
                  <a:fillRect b="-1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ZoneTexte 13">
            <a:extLst>
              <a:ext uri="{FF2B5EF4-FFF2-40B4-BE49-F238E27FC236}">
                <a16:creationId xmlns:a16="http://schemas.microsoft.com/office/drawing/2014/main" id="{4D160A4F-47B1-F72F-0531-25E8B5B05F7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504168" y="4789009"/>
            <a:ext cx="13010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DGLAP </a:t>
            </a:r>
          </a:p>
          <a:p>
            <a:pPr algn="ctr"/>
            <a:r>
              <a:rPr lang="fr-FR" sz="8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Diffusion d’un quark</a:t>
            </a:r>
          </a:p>
        </p:txBody>
      </p:sp>
    </p:spTree>
    <p:extLst>
      <p:ext uri="{BB962C8B-B14F-4D97-AF65-F5344CB8AC3E}">
        <p14:creationId xmlns:p14="http://schemas.microsoft.com/office/powerpoint/2010/main" val="62547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D19502-5385-5843-136C-68D830BB9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>
            <a:extLst>
              <a:ext uri="{FF2B5EF4-FFF2-40B4-BE49-F238E27FC236}">
                <a16:creationId xmlns:a16="http://schemas.microsoft.com/office/drawing/2014/main" id="{A2F13638-97C3-E26E-1E0A-5526D116CB9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2"/>
          <a:srcRect l="73365" t="8752"/>
          <a:stretch/>
        </p:blipFill>
        <p:spPr>
          <a:xfrm>
            <a:off x="3533194" y="2155254"/>
            <a:ext cx="1454444" cy="206212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36CBBA2-7BF0-3B82-7935-DEC77C026D8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>
                <a:latin typeface="Cambria" panose="02040503050406030204" pitchFamily="18" charset="0"/>
              </a:rPr>
              <a:t>Distribution généralisée des partons</a:t>
            </a:r>
            <a:endParaRPr lang="fr-FR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7B5EE92-CF15-7945-1A16-E78BE2EA5CA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5</a:t>
            </a:fld>
            <a:endParaRPr lang="fr-FR" dirty="0"/>
          </a:p>
        </p:txBody>
      </p:sp>
      <p:sp>
        <p:nvSpPr>
          <p:cNvPr id="4" name="ZoneTexte 2">
            <a:extLst>
              <a:ext uri="{FF2B5EF4-FFF2-40B4-BE49-F238E27FC236}">
                <a16:creationId xmlns:a16="http://schemas.microsoft.com/office/drawing/2014/main" id="{9BED87F9-6DA4-248F-3B07-AF960F71E21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91236" y="4189393"/>
            <a:ext cx="2303605" cy="95410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Form Factors (FFs)</a:t>
            </a:r>
          </a:p>
          <a:p>
            <a:r>
              <a:rPr lang="en-US" sz="1400" dirty="0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✔ Distribution </a:t>
            </a:r>
            <a:r>
              <a:rPr lang="en-US" sz="1400" dirty="0" err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spatiale</a:t>
            </a:r>
            <a:r>
              <a:rPr lang="en-US" sz="1400" dirty="0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</a:p>
          <a:p>
            <a:r>
              <a:rPr lang="en-US" sz="1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✘ Distribution </a:t>
            </a:r>
            <a:r>
              <a:rPr lang="en-US" sz="14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d’impulsion</a:t>
            </a:r>
            <a:r>
              <a:rPr lang="en-US" sz="1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longitudinal</a:t>
            </a:r>
            <a:endParaRPr lang="en-US" sz="16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5" name="ZoneTexte 2">
            <a:extLst>
              <a:ext uri="{FF2B5EF4-FFF2-40B4-BE49-F238E27FC236}">
                <a16:creationId xmlns:a16="http://schemas.microsoft.com/office/drawing/2014/main" id="{80CF3165-C410-76AA-C0EA-47D8699BD16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646743" y="4183242"/>
            <a:ext cx="3423906" cy="95410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Generalized Parton Distributions (GPDs)</a:t>
            </a:r>
            <a:endParaRPr lang="en-US" sz="16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r>
              <a:rPr lang="en-US" sz="1400" dirty="0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✔ Distribution </a:t>
            </a:r>
            <a:r>
              <a:rPr lang="en-US" sz="1400" dirty="0" err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spatiale</a:t>
            </a:r>
            <a:r>
              <a:rPr lang="en-US" sz="1400" dirty="0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</a:p>
          <a:p>
            <a:r>
              <a:rPr lang="en-US" sz="1400" dirty="0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✔ Distribution </a:t>
            </a:r>
            <a:r>
              <a:rPr lang="en-US" sz="1400" dirty="0" err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d’impulsion</a:t>
            </a:r>
            <a:r>
              <a:rPr lang="en-US" sz="1400" dirty="0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longitudinal</a:t>
            </a:r>
          </a:p>
          <a:p>
            <a:r>
              <a:rPr lang="en-US" sz="1400" dirty="0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✔ </a:t>
            </a:r>
            <a:r>
              <a:rPr lang="en-US" sz="1400" dirty="0" err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Corrélation</a:t>
            </a:r>
            <a:r>
              <a:rPr lang="en-US" sz="1400" dirty="0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entre les deux</a:t>
            </a:r>
            <a:endParaRPr lang="en-US" sz="1600" dirty="0">
              <a:solidFill>
                <a:srgbClr val="009900"/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4A441B93-F2B0-C86F-4080-46170C46D8A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982557" y="4178130"/>
            <a:ext cx="3102101" cy="95410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Parton Distribution Functions (PDFs)</a:t>
            </a:r>
          </a:p>
          <a:p>
            <a:r>
              <a:rPr lang="en-US" sz="1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✘ Distribution </a:t>
            </a:r>
            <a:r>
              <a:rPr lang="en-US" sz="14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spatiale</a:t>
            </a:r>
            <a:r>
              <a:rPr lang="en-US" sz="1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</a:p>
          <a:p>
            <a:r>
              <a:rPr lang="en-US" sz="1400" dirty="0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✔ Distribution </a:t>
            </a:r>
            <a:r>
              <a:rPr lang="en-US" sz="1400" dirty="0" err="1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d’impulsion</a:t>
            </a:r>
            <a:r>
              <a:rPr lang="en-US" sz="1400" dirty="0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longitudinal</a:t>
            </a:r>
          </a:p>
        </p:txBody>
      </p:sp>
      <p:pic>
        <p:nvPicPr>
          <p:cNvPr id="7" name="Picture 5" descr="Une image contenant croquis, dessin, diagramme, Police&#10;&#10;Description générée automatiquement">
            <a:extLst>
              <a:ext uri="{FF2B5EF4-FFF2-40B4-BE49-F238E27FC236}">
                <a16:creationId xmlns:a16="http://schemas.microsoft.com/office/drawing/2014/main" id="{84F243FD-55DE-ABBC-A074-2CBF0DA64826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979" y="765986"/>
            <a:ext cx="1711420" cy="13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4B6CA9F-1A75-4151-043E-A82BB1E6A132}"/>
              </a:ext>
            </a:extLst>
          </p:cNvPr>
          <p:cNvCxnSpPr>
            <a:cxnSpLocks/>
            <a:stCxn id="7" idx="1"/>
          </p:cNvCxnSpPr>
          <p:nvPr>
            <p:custDataLst>
              <p:tags r:id="rId8"/>
            </p:custDataLst>
          </p:nvPr>
        </p:nvCxnSpPr>
        <p:spPr>
          <a:xfrm flipH="1">
            <a:off x="2436331" y="1459440"/>
            <a:ext cx="1136648" cy="0"/>
          </a:xfrm>
          <a:prstGeom prst="straightConnector1">
            <a:avLst/>
          </a:prstGeom>
          <a:ln>
            <a:solidFill>
              <a:srgbClr val="009900"/>
            </a:solidFill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9189293-63F1-7B2D-1F6E-00B584718C2A}"/>
              </a:ext>
            </a:extLst>
          </p:cNvPr>
          <p:cNvCxnSpPr>
            <a:cxnSpLocks/>
            <a:stCxn id="7" idx="3"/>
          </p:cNvCxnSpPr>
          <p:nvPr>
            <p:custDataLst>
              <p:tags r:id="rId9"/>
            </p:custDataLst>
          </p:nvPr>
        </p:nvCxnSpPr>
        <p:spPr>
          <a:xfrm>
            <a:off x="5284399" y="1459440"/>
            <a:ext cx="1164373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FCCAE9BD-D8D3-310D-5D00-E08B4972186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422895" y="1139819"/>
            <a:ext cx="13393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Premiers moments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C92F676-3A90-6A0C-0443-23FAB6F00C2B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422895" y="1522346"/>
            <a:ext cx="12888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rgbClr val="0099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Facteurs de forme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18EFBA03-C44A-F30A-75C7-5D772123C5B8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0891" y="1091708"/>
                <a:ext cx="2849980" cy="674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fr-FR" sz="1100" b="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FF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Dirac</a:t>
                </a:r>
                <a:r>
                  <a:rPr lang="fr-FR" sz="1100" b="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1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fr-FR" sz="110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fr-FR" sz="11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1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fr-FR" sz="11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</m:oMath>
                </a14:m>
                <a:endParaRPr lang="fr-FR" sz="1100" dirty="0">
                  <a:solidFill>
                    <a:srgbClr val="0099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fr-FR" sz="1100" b="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FF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Pauli</a:t>
                </a:r>
                <a:r>
                  <a:rPr lang="fr-FR" sz="1100" b="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1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fr-FR" sz="110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fr-FR" sz="11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1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fr-FR" sz="1100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fr-FR" sz="1100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</m:oMath>
                </a14:m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18EFBA03-C44A-F30A-75C7-5D772123C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80891" y="1091708"/>
                <a:ext cx="2849980" cy="674415"/>
              </a:xfrm>
              <a:prstGeom prst="rect">
                <a:avLst/>
              </a:prstGeom>
              <a:blipFill>
                <a:blip r:embed="rId24"/>
                <a:stretch>
                  <a:fillRect t="-34234" b="-6846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735C032F-4B85-ABBD-E9A4-605A1AE8CE19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5350458" y="1162958"/>
                <a:ext cx="9689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fr-FR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fr-FR" sz="11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1100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735C032F-4B85-ABBD-E9A4-605A1AE8C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5350458" y="1162958"/>
                <a:ext cx="968991" cy="261610"/>
              </a:xfrm>
              <a:prstGeom prst="rect">
                <a:avLst/>
              </a:prstGeom>
              <a:blipFill>
                <a:blip r:embed="rId2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ZoneTexte 19">
            <a:extLst>
              <a:ext uri="{FF2B5EF4-FFF2-40B4-BE49-F238E27FC236}">
                <a16:creationId xmlns:a16="http://schemas.microsoft.com/office/drawing/2014/main" id="{5ED7447A-850B-6EE1-A64A-B77F2DDBA44E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5570124" y="1500836"/>
            <a:ext cx="529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PDF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B57FBC7B-0E4B-E731-5A75-3D5010013A78}"/>
                  </a:ext>
                </a:extLst>
              </p:cNvPr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514831" y="1110732"/>
                <a:ext cx="2306472" cy="627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sz="11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d>
                      <m:dPr>
                        <m:ctrlP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,0,0</m:t>
                        </m:r>
                      </m:e>
                    </m:d>
                    <m:r>
                      <a:rPr lang="fr-FR" sz="11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fr-FR" sz="11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1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11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1100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 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non polarisé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sz="11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fr-FR" sz="11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1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p>
                        <m: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d>
                      <m:dPr>
                        <m:ctrlP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,0,0</m:t>
                        </m:r>
                      </m:e>
                    </m:d>
                    <m:r>
                      <a:rPr lang="fr-FR" sz="11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sz="1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fr-FR" sz="11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1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11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1100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polarisé</a:t>
                </a:r>
              </a:p>
            </p:txBody>
          </p:sp>
        </mc:Choice>
        <mc:Fallback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B57FBC7B-0E4B-E731-5A75-3D5010013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6514831" y="1110732"/>
                <a:ext cx="2306472" cy="627672"/>
              </a:xfrm>
              <a:prstGeom prst="rect">
                <a:avLst/>
              </a:prstGeom>
              <a:blipFill>
                <a:blip r:embed="rId26"/>
                <a:stretch>
                  <a:fillRect b="-29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ZoneTexte 21">
            <a:extLst>
              <a:ext uri="{FF2B5EF4-FFF2-40B4-BE49-F238E27FC236}">
                <a16:creationId xmlns:a16="http://schemas.microsoft.com/office/drawing/2014/main" id="{8C5E96D5-A48E-261A-414A-1EAF050A27FF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2062722" y="1952403"/>
            <a:ext cx="53025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Les GPD englobent à la fois les PDF et les FF et plus. 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98D8CF4E-4406-9E63-C8F3-810DF467230B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2"/>
          <a:srcRect l="1564" t="8512" r="71063" b="4477"/>
          <a:stretch/>
        </p:blipFill>
        <p:spPr>
          <a:xfrm>
            <a:off x="750666" y="2221350"/>
            <a:ext cx="1468850" cy="193233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DBE9276D-C3F1-51A6-E5DE-FFBB90B846C4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 rotWithShape="1">
          <a:blip r:embed="rId22"/>
          <a:srcRect l="37279" t="10088" r="35348" b="5772"/>
          <a:stretch/>
        </p:blipFill>
        <p:spPr>
          <a:xfrm>
            <a:off x="6514831" y="2221350"/>
            <a:ext cx="1567310" cy="1993830"/>
          </a:xfrm>
          <a:prstGeom prst="rect">
            <a:avLst/>
          </a:prstGeom>
        </p:spPr>
      </p:pic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589F7526-B3B3-27BC-02AC-880441CC0B75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>
          <a:xfrm>
            <a:off x="2266691" y="3205018"/>
            <a:ext cx="1080000" cy="0"/>
          </a:xfrm>
          <a:prstGeom prst="straightConnector1">
            <a:avLst/>
          </a:prstGeom>
          <a:ln>
            <a:solidFill>
              <a:srgbClr val="009900"/>
            </a:solidFill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E3032852-6A69-71F3-6467-E25682B2A3A7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>
          <a:xfrm flipH="1">
            <a:off x="5258179" y="3205018"/>
            <a:ext cx="108000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679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01F53B-72D6-E9E3-BEA0-9E5DC11821E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Que pouvons-nous apprendre des GPD ?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7B66DAB-D11D-1BCA-70BF-0D0DA037EAD9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6</a:t>
            </a:fld>
            <a:endParaRPr lang="fr-FR" dirty="0"/>
          </a:p>
        </p:txBody>
      </p:sp>
      <p:pic>
        <p:nvPicPr>
          <p:cNvPr id="4098" name="Picture 2" descr="Une image contenant texte, Police, écriture manuscrite, ligne&#10;&#10;Description générée automatiquement">
            <a:extLst>
              <a:ext uri="{FF2B5EF4-FFF2-40B4-BE49-F238E27FC236}">
                <a16:creationId xmlns:a16="http://schemas.microsoft.com/office/drawing/2014/main" id="{419375F3-4158-A720-8AF8-7931AFB77C0B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37" y="1635558"/>
            <a:ext cx="3325303" cy="97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Une image contenant diagramme, texte, Tracé, capture d’écran&#10;&#10;Description générée automatiquement">
            <a:extLst>
              <a:ext uri="{FF2B5EF4-FFF2-40B4-BE49-F238E27FC236}">
                <a16:creationId xmlns:a16="http://schemas.microsoft.com/office/drawing/2014/main" id="{167DE588-B777-2908-27F1-EC764AC2F55E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000" y="2601818"/>
            <a:ext cx="2600785" cy="2521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ce réservé du contenu 5">
                <a:extLst>
                  <a:ext uri="{FF2B5EF4-FFF2-40B4-BE49-F238E27FC236}">
                    <a16:creationId xmlns:a16="http://schemas.microsoft.com/office/drawing/2014/main" id="{721B03F2-68F0-B1DE-5318-0597F3F1FE8A}"/>
                  </a:ext>
                </a:extLst>
              </p:cNvPr>
              <p:cNvSpPr>
                <a:spLocks noGrp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-1" y="768414"/>
                <a:ext cx="4482981" cy="171358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Tomographie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nucléaire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indent="-144000">
                  <a:spcBef>
                    <a:spcPts val="0"/>
                  </a:spcBef>
                </a:pPr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À</a:t>
                </a:r>
                <a14:m>
                  <m:oMath xmlns:m="http://schemas.openxmlformats.org/officeDocument/2006/math">
                    <m: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sSup>
                      <m:sSupPr>
                        <m:ctrlPr>
                          <a:rPr lang="fr-FR" sz="12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l</m:t>
                        </m:r>
                      </m:e>
                      <m:sup>
                        <m: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asym</m:t>
                    </m:r>
                    <m: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é</m:t>
                    </m:r>
                    <m:r>
                      <m:rPr>
                        <m:sty m:val="p"/>
                      </m:rP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trie</m:t>
                    </m:r>
                    <m: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pl-PL" sz="12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𝜉</m:t>
                    </m:r>
                    <m:r>
                      <a:rPr lang="pl-PL" sz="12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=0</m:t>
                    </m:r>
                  </m:oMath>
                </a14:m>
                <a:r>
                  <a:rPr lang="pl-PL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TF d’une GPD est la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distribution du paramètre d'impact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indent="-144000">
                  <a:spcBef>
                    <a:spcPts val="0"/>
                  </a:spcBef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Elle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est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réalisée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par un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ajustement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local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la</m:t>
                    </m:r>
                    <m: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GPD</m:t>
                    </m:r>
                    <m: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en-US" sz="12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𝐻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+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dépendance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𝑥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donné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par un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modèle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</p:txBody>
          </p:sp>
        </mc:Choice>
        <mc:Fallback>
          <p:sp>
            <p:nvSpPr>
              <p:cNvPr id="4" name="Espace réservé du contenu 5">
                <a:extLst>
                  <a:ext uri="{FF2B5EF4-FFF2-40B4-BE49-F238E27FC236}">
                    <a16:creationId xmlns:a16="http://schemas.microsoft.com/office/drawing/2014/main" id="{721B03F2-68F0-B1DE-5318-0597F3F1FE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-1" y="768414"/>
                <a:ext cx="4482981" cy="1713589"/>
              </a:xfrm>
              <a:prstGeom prst="rect">
                <a:avLst/>
              </a:prstGeom>
              <a:blipFill>
                <a:blip r:embed="rId17"/>
                <a:stretch>
                  <a:fillRect l="-408" t="-21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26">
            <a:extLst>
              <a:ext uri="{FF2B5EF4-FFF2-40B4-BE49-F238E27FC236}">
                <a16:creationId xmlns:a16="http://schemas.microsoft.com/office/drawing/2014/main" id="{44A1510D-598E-6CDA-F472-B5A61592283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8812" y="2929977"/>
            <a:ext cx="1959798" cy="15696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Quarks de valence :</a:t>
            </a:r>
          </a:p>
          <a:p>
            <a:pPr marL="171450" indent="-14400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Impulsion élevée </a:t>
            </a:r>
          </a:p>
          <a:p>
            <a:pPr marL="171450" indent="-14400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Au cœur du nucléon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r>
              <a:rPr lang="fr-FR" sz="12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Quarks de la mer :</a:t>
            </a:r>
          </a:p>
          <a:p>
            <a:pPr marL="171450" indent="-14400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Faible impulsion </a:t>
            </a:r>
          </a:p>
          <a:p>
            <a:pPr marL="171450" indent="-14400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 sa périphérie</a:t>
            </a:r>
          </a:p>
          <a:p>
            <a:endParaRPr lang="en-US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6078F5E-5E05-4C26-FE51-812FCA84AAD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-7202" y="4785135"/>
            <a:ext cx="26646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M. </a:t>
            </a:r>
            <a:r>
              <a:rPr lang="en-US" sz="800" dirty="0" err="1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Burkardt</a:t>
            </a:r>
            <a:r>
              <a:rPr lang="en-US" sz="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, PRD 62 71503 (2000)</a:t>
            </a:r>
          </a:p>
          <a:p>
            <a:pPr lvl="1"/>
            <a:r>
              <a:rPr lang="fr-FR" sz="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R. Dupré, , 171 (2017) </a:t>
            </a:r>
            <a:r>
              <a:rPr lang="fr-FR" sz="800" i="1" dirty="0" err="1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Eur</a:t>
            </a:r>
            <a:r>
              <a:rPr lang="fr-FR" sz="800" i="1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 Phys. J. A</a:t>
            </a:r>
            <a:r>
              <a:rPr lang="fr-FR" sz="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fr-FR" sz="800" b="1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53</a:t>
            </a:r>
            <a:endParaRPr lang="en-US" sz="800" dirty="0">
              <a:solidFill>
                <a:schemeClr val="tx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C815FAA0-43F3-FA58-0619-E7CA0FD93274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 flipH="1">
            <a:off x="4525108" y="849006"/>
            <a:ext cx="0" cy="4065308"/>
          </a:xfrm>
          <a:prstGeom prst="straightConnector1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101" name="Picture 5" descr="Une image contenant Police, ligne, texte, typographie&#10;&#10;Description générée automatiquement">
            <a:extLst>
              <a:ext uri="{FF2B5EF4-FFF2-40B4-BE49-F238E27FC236}">
                <a16:creationId xmlns:a16="http://schemas.microsoft.com/office/drawing/2014/main" id="{0EA31493-C0EE-BE8F-280D-6EF700C22FBD}"/>
              </a:ext>
            </a:extLst>
          </p:cNvPr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6" y="1904603"/>
            <a:ext cx="4564164" cy="505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24">
                <a:extLst>
                  <a:ext uri="{FF2B5EF4-FFF2-40B4-BE49-F238E27FC236}">
                    <a16:creationId xmlns:a16="http://schemas.microsoft.com/office/drawing/2014/main" id="{E41C3A9B-E4E3-2D77-60F8-DCE8157D4A0F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4577754" y="2944711"/>
                <a:ext cx="4566246" cy="2062103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</a:t>
                </a:r>
                <a:r>
                  <a:rPr lang="en-US" sz="1400" dirty="0">
                    <a:solidFill>
                      <a:srgbClr val="0099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spin </a:t>
                </a:r>
                <a:r>
                  <a:rPr lang="en-US" sz="1400" dirty="0" err="1">
                    <a:solidFill>
                      <a:srgbClr val="0099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intrinsèque</a:t>
                </a:r>
                <a:r>
                  <a:rPr lang="en-US" sz="1400" dirty="0">
                    <a:solidFill>
                      <a:srgbClr val="0099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des quarks ≈ 30%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Connue 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expériences de DIS/SIDIS.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Ne peut expliquer en entier l'origine du spin du nucléon.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</a:t>
                </a:r>
                <a:r>
                  <a:rPr lang="fr-FR" sz="1400" dirty="0">
                    <a:solidFill>
                      <a:srgbClr val="007BA7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spin intrinsèque des gluons </a:t>
                </a:r>
                <a:r>
                  <a:rPr lang="en-US" sz="1400" dirty="0">
                    <a:solidFill>
                      <a:srgbClr val="007BA7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≈ 10 - 30% 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Connue 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 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expériences de 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SIDIS/pp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</a:t>
                </a:r>
                <a:r>
                  <a:rPr lang="fr-FR" sz="1400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moment angulaire orbital des quarks </a:t>
                </a:r>
                <a:endParaRPr lang="en-US" sz="1400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Inconnu 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 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accessible avec le GPD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𝐻</m:t>
                    </m:r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GPD sont liés aux GFF de l'EMT ainsi que à la distribution de la pression à l'intérieur du nucléon.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13" name="ZoneTexte 24">
                <a:extLst>
                  <a:ext uri="{FF2B5EF4-FFF2-40B4-BE49-F238E27FC236}">
                    <a16:creationId xmlns:a16="http://schemas.microsoft.com/office/drawing/2014/main" id="{E41C3A9B-E4E3-2D77-60F8-DCE8157D4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4577754" y="2944711"/>
                <a:ext cx="4566246" cy="2062103"/>
              </a:xfrm>
              <a:prstGeom prst="rect">
                <a:avLst/>
              </a:prstGeom>
              <a:blipFill>
                <a:blip r:embed="rId19"/>
                <a:stretch>
                  <a:fillRect l="-267" t="-8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space réservé du contenu 5">
                <a:extLst>
                  <a:ext uri="{FF2B5EF4-FFF2-40B4-BE49-F238E27FC236}">
                    <a16:creationId xmlns:a16="http://schemas.microsoft.com/office/drawing/2014/main" id="{E4AEEC4A-E57E-54C1-22C2-8C11FB06CBE3}"/>
                  </a:ext>
                </a:extLst>
              </p:cNvPr>
              <p:cNvSpPr txBox="1">
                <a:spLocks/>
              </p:cNvSpPr>
              <p:nvPr>
                <p:custDataLst>
                  <p:tags r:id="rId11"/>
                </p:custDataLst>
              </p:nvPr>
            </p:nvSpPr>
            <p:spPr>
              <a:xfrm>
                <a:off x="4567236" y="768414"/>
                <a:ext cx="4464222" cy="111196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5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Moment </a:t>
                </a:r>
                <a:r>
                  <a:rPr lang="en-US" sz="15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angulaire</a:t>
                </a:r>
                <a:r>
                  <a:rPr lang="en-US" sz="15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total des quarks</a:t>
                </a:r>
                <a:r>
                  <a:rPr lang="en-US" sz="15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 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3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Règle de la somme de Ji, Décomposition du spin du nucléon :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3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Spin du quark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3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Moment angulaire orbital des quarks 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3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Moment angulaire total des gluons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3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Lié avec la somme des GPD</a:t>
                </a:r>
                <a14:m>
                  <m:oMath xmlns:m="http://schemas.openxmlformats.org/officeDocument/2006/math">
                    <m:r>
                      <a:rPr lang="fr-FR" sz="13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en-US" sz="13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𝐻</m:t>
                    </m:r>
                  </m:oMath>
                </a14:m>
                <a:r>
                  <a:rPr lang="en-US" sz="13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en-US" sz="13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</m:oMath>
                </a14:m>
                <a:r>
                  <a:rPr lang="en-US" sz="13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12" name="Espace réservé du contenu 5">
                <a:extLst>
                  <a:ext uri="{FF2B5EF4-FFF2-40B4-BE49-F238E27FC236}">
                    <a16:creationId xmlns:a16="http://schemas.microsoft.com/office/drawing/2014/main" id="{E4AEEC4A-E57E-54C1-22C2-8C11FB06C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4567236" y="768414"/>
                <a:ext cx="4464222" cy="1111968"/>
              </a:xfrm>
              <a:prstGeom prst="rect">
                <a:avLst/>
              </a:prstGeom>
              <a:blipFill>
                <a:blip r:embed="rId20"/>
                <a:stretch>
                  <a:fillRect l="-409" t="-3297" b="-43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ZoneTexte 14">
            <a:extLst>
              <a:ext uri="{FF2B5EF4-FFF2-40B4-BE49-F238E27FC236}">
                <a16:creationId xmlns:a16="http://schemas.microsoft.com/office/drawing/2014/main" id="{C8085E75-9EE8-A26C-7017-D0B6068D0E0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7368528" y="4902936"/>
            <a:ext cx="15809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X. Ji, Phy.Rev.Lett.78,610(1997)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C84262A-FBE8-9793-9F63-03DE1F0B0799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72738" y="2433921"/>
                <a:ext cx="3853217" cy="43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Spin du nucléon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16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ΔΣ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el-GR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fr-FR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el-GR" sz="1600" b="0" i="1" smtClean="0">
                        <a:solidFill>
                          <a:srgbClr val="007BA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fr-FR" sz="1600" b="0" i="1" smtClean="0">
                        <a:solidFill>
                          <a:srgbClr val="007BA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</m:oMath>
                </a14:m>
                <a:endParaRPr lang="fr-FR" sz="1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C84262A-FBE8-9793-9F63-03DE1F0B0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4872738" y="2433921"/>
                <a:ext cx="3853217" cy="439992"/>
              </a:xfrm>
              <a:prstGeom prst="rect">
                <a:avLst/>
              </a:prstGeom>
              <a:blipFill>
                <a:blip r:embed="rId21"/>
                <a:stretch>
                  <a:fillRect l="-791" b="-41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4874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E03E0F-5896-7AC8-5657-E04CFFA3CC4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Processus exclusif pour accéder aux GPD​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C2936FF-CABF-12ED-CDDC-4CB05F62A582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7</a:t>
            </a:fld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EA9FEC1-FF53-EAAE-D7B0-E7B2DE57F49E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0517" y="935209"/>
            <a:ext cx="9045120" cy="2675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Nous utilisons des processus exclusifs, où toutes les particules de l'état final sont "identifiées", pour accéder aux GPD.</a:t>
            </a:r>
          </a:p>
          <a:p>
            <a:r>
              <a:rPr lang="en-US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Les processus les plus </a:t>
            </a:r>
            <a:r>
              <a:rPr lang="en-US" sz="1600" b="1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étudiés</a:t>
            </a:r>
            <a:r>
              <a:rPr lang="en-US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pour </a:t>
            </a:r>
            <a:r>
              <a:rPr lang="en-US" sz="16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accéder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aux GPD </a:t>
            </a:r>
            <a:r>
              <a:rPr lang="en-US" sz="16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sont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:</a:t>
            </a:r>
          </a:p>
          <a:p>
            <a:pPr lvl="1"/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 Deeply Virtual Compton Scattering (DVCS), production d’un photon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réel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</a:p>
          <a:p>
            <a:pPr lvl="1"/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 Deeply Virtual Meson Production (DVMP), production d’un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méson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</a:p>
          <a:p>
            <a:pPr lvl="1"/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 Time-like Compton Scattering (TCS), inverse du DVCS.</a:t>
            </a:r>
          </a:p>
          <a:p>
            <a:pPr lvl="1"/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 Double DVCS (DDVCS), production d’un photon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virtuel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</a:p>
          <a:p>
            <a:pPr lvl="1"/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… Comme des processus avec 3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particules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dans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l’état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final.</a:t>
            </a:r>
          </a:p>
          <a:p>
            <a:pPr lvl="1"/>
            <a:endParaRPr lang="en-US" sz="16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pic>
        <p:nvPicPr>
          <p:cNvPr id="5122" name="Picture 2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0546DB4B-0B0D-CFC1-24F9-DE7814D45F7C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6" y="3272124"/>
            <a:ext cx="8284631" cy="175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Trois points - Icônes gratuites">
            <a:extLst>
              <a:ext uri="{FF2B5EF4-FFF2-40B4-BE49-F238E27FC236}">
                <a16:creationId xmlns:a16="http://schemas.microsoft.com/office/drawing/2014/main" id="{6F55E421-9DB9-8EB5-2C63-FC93D8D51F7A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147" y="3874230"/>
            <a:ext cx="581678" cy="58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07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10CB510A-7D98-DA8D-668B-AD19323FC88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848007" y="1577420"/>
            <a:ext cx="5127060" cy="179370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F405DEC-CCFC-9D6D-381E-4915320BE18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/>
              <a:t>Accéder aux GDP au travers du DVCS : ​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BA91E30-6933-A31B-D313-4C4E2909653C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8</a:t>
            </a:fld>
            <a:endParaRPr lang="fr-FR" dirty="0"/>
          </a:p>
        </p:txBody>
      </p:sp>
      <p:pic>
        <p:nvPicPr>
          <p:cNvPr id="6146" name="Picture 2" descr="Une image contenant diagramme, ligne, cercle, croquis&#10;&#10;Description générée automatiquement">
            <a:extLst>
              <a:ext uri="{FF2B5EF4-FFF2-40B4-BE49-F238E27FC236}">
                <a16:creationId xmlns:a16="http://schemas.microsoft.com/office/drawing/2014/main" id="{9885C92A-E25E-455E-3988-54CC14B40274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5"/>
          <a:stretch/>
        </p:blipFill>
        <p:spPr bwMode="auto">
          <a:xfrm>
            <a:off x="190845" y="1813973"/>
            <a:ext cx="3103379" cy="218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B0DC4B0-CAE4-111D-14F6-F384EBB2E136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0" y="783584"/>
            <a:ext cx="9134474" cy="11665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Deeply virtual Compton scattering (DVCS) → 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est le 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canal le plus simple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pour sonder les quarks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L'électro-production exclusive d'un photon : 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faible section efficace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→ haute luminosité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Interfère de manière cohérente avec le 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processus Bethe-Heitler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(BH) 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Donne un accès unique à la partie réelle et imaginaire de l'amplitude DVCS.</a:t>
            </a:r>
            <a:endParaRPr lang="en-US" sz="16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15">
                <a:extLst>
                  <a:ext uri="{FF2B5EF4-FFF2-40B4-BE49-F238E27FC236}">
                    <a16:creationId xmlns:a16="http://schemas.microsoft.com/office/drawing/2014/main" id="{C0A2EB74-9246-3EE5-EE35-F18512CA944F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449859" y="4079224"/>
                <a:ext cx="4684615" cy="800219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44000" indent="-144000">
                  <a:buFont typeface="Arial"/>
                  <a:buChar char="•"/>
                </a:pP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DVCS </a:t>
                </a:r>
                <a:r>
                  <a:rPr lang="fr-FR" sz="16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ne permet pas un accès direct </a:t>
                </a: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aux GPD.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Permet d'accéder à 4 quantités liées aux GPD : </a:t>
                </a:r>
              </a:p>
              <a:p>
                <a:pPr marL="360000" lvl="1" indent="-144000">
                  <a:buFont typeface="Arial"/>
                  <a:buChar char="•"/>
                </a:pP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Facteurs de forme de Compton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𝜉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𝑡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 (CFFs)</a:t>
                </a:r>
              </a:p>
            </p:txBody>
          </p:sp>
        </mc:Choice>
        <mc:Fallback>
          <p:sp>
            <p:nvSpPr>
              <p:cNvPr id="5" name="ZoneTexte 15">
                <a:extLst>
                  <a:ext uri="{FF2B5EF4-FFF2-40B4-BE49-F238E27FC236}">
                    <a16:creationId xmlns:a16="http://schemas.microsoft.com/office/drawing/2014/main" id="{C0A2EB74-9246-3EE5-EE35-F18512CA9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4449859" y="4079224"/>
                <a:ext cx="4684615" cy="800219"/>
              </a:xfrm>
              <a:prstGeom prst="rect">
                <a:avLst/>
              </a:prstGeom>
              <a:blipFill>
                <a:blip r:embed="rId13"/>
                <a:stretch>
                  <a:fillRect l="-521" t="-3053" b="-687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19">
                <a:extLst>
                  <a:ext uri="{FF2B5EF4-FFF2-40B4-BE49-F238E27FC236}">
                    <a16:creationId xmlns:a16="http://schemas.microsoft.com/office/drawing/2014/main" id="{8A9AD6F0-8D10-4802-2AFB-0306A699F529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0" y="3999043"/>
                <a:ext cx="4506352" cy="1046440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44000" indent="-144000">
                  <a:buFont typeface="Arial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</a:t>
                </a:r>
                <a14:m>
                  <m:oMath xmlns:m="http://schemas.openxmlformats.org/officeDocument/2006/math">
                    <m:r>
                      <a:rPr lang="fr-FR" sz="140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𝜎</m:t>
                    </m:r>
                    <m:r>
                      <a:rPr lang="fr-FR" sz="14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du DVCS a une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dépendance angulaire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</a:t>
                </a:r>
              </a:p>
              <a:p>
                <a:pPr marL="360000" lvl="1" indent="-144000">
                  <a:buFont typeface="Arial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Peut être exprimée en harmoniques de Fourier. </a:t>
                </a:r>
              </a:p>
              <a:p>
                <a:pPr marL="360000" lvl="1" indent="-144000">
                  <a:buFont typeface="Arial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contribution de BH est bien connue sur le plan théorique.</a:t>
                </a:r>
              </a:p>
              <a:p>
                <a:pPr marL="360000" lvl="1" indent="-144000">
                  <a:buFont typeface="Arial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terme DVCS pur et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l'interférence BH-DVCS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apportent de nouvelles informations. 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6" name="ZoneTexte 19">
                <a:extLst>
                  <a:ext uri="{FF2B5EF4-FFF2-40B4-BE49-F238E27FC236}">
                    <a16:creationId xmlns:a16="http://schemas.microsoft.com/office/drawing/2014/main" id="{8A9AD6F0-8D10-4802-2AFB-0306A699F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0" y="3999043"/>
                <a:ext cx="4506352" cy="1046440"/>
              </a:xfrm>
              <a:prstGeom prst="rect">
                <a:avLst/>
              </a:prstGeom>
              <a:blipFill>
                <a:blip r:embed="rId14"/>
                <a:stretch>
                  <a:fillRect l="-135" t="-1744" b="-34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>
            <a:extLst>
              <a:ext uri="{FF2B5EF4-FFF2-40B4-BE49-F238E27FC236}">
                <a16:creationId xmlns:a16="http://schemas.microsoft.com/office/drawing/2014/main" id="{C4DC0A15-5089-F20F-C6FD-8391154C0C0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634858" y="3515157"/>
            <a:ext cx="21106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Section efficace non polarisé :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C640505-6798-9744-735F-65FA103FE70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5"/>
          <a:srcRect t="6435"/>
          <a:stretch/>
        </p:blipFill>
        <p:spPr>
          <a:xfrm>
            <a:off x="4752343" y="3388084"/>
            <a:ext cx="4200812" cy="53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03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DAAB8F-2F10-2D75-0A85-286E1916D4F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Facteurs de Forme de Compton pour le DVCS​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EEB5929-CFCD-7A37-D4F7-64A74E0C247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9</a:t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AC2146B4-84D6-5269-2AA1-9AF200382018}"/>
                  </a:ext>
                </a:extLst>
              </p:cNvPr>
              <p:cNvSpPr>
                <a:spLocks noGrp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0" y="751422"/>
                <a:ext cx="9134474" cy="195367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44000" indent="-144000">
                  <a:spcBef>
                    <a:spcPts val="600"/>
                  </a:spcBef>
                </a:pPr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Pour un photon d’une grande virtualité, 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​ fini et </a:t>
                </a:r>
                <a14:m>
                  <m:oMath xmlns:m="http://schemas.openxmlformats.org/officeDocument/2006/math">
                    <m:r>
                      <a:rPr lang="fr-FR" sz="14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</m:oMath>
                </a14:m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petit, le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théorème de factorisation</a:t>
                </a:r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décrit le DVCS en termes d’une partie dure calculable avec la QCD </a:t>
                </a:r>
                <a:r>
                  <a:rPr lang="fr-FR" sz="14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perturbative</a:t>
                </a:r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et une partie non </a:t>
                </a:r>
                <a:r>
                  <a:rPr lang="fr-FR" sz="14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perturbative</a:t>
                </a:r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décrite par les GDP.</a:t>
                </a:r>
              </a:p>
              <a:p>
                <a:pPr marL="144000" indent="-144000">
                  <a:spcBef>
                    <a:spcPts val="600"/>
                  </a:spcBef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L’amplitude du DVCS est paramétrisée par les Facteurs de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Formes de Compton (CFF)</a:t>
                </a:r>
                <a14:m>
                  <m:oMath xmlns:m="http://schemas.openxmlformats.org/officeDocument/2006/math"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 </m:t>
                    </m:r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𝓕</m:t>
                    </m:r>
                  </m:oMath>
                </a14:m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</a:t>
                </a:r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qui s'écrivent comme des convolutions de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fonctions de coefficient </a:t>
                </a:r>
                <a:r>
                  <a:rPr lang="fr-FR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perturbatives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𝑻</m:t>
                    </m:r>
                  </m:oMath>
                </a14:m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et les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GPD </a:t>
                </a:r>
                <a14:m>
                  <m:oMath xmlns:m="http://schemas.openxmlformats.org/officeDocument/2006/math"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𝑭</m:t>
                    </m:r>
                  </m:oMath>
                </a14:m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spcBef>
                    <a:spcPts val="600"/>
                  </a:spcBef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CFF : Fonctions complexes 3D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directement accessibles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dans les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sections efficaces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et les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asymétries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DVCS.</a:t>
                </a:r>
              </a:p>
            </p:txBody>
          </p:sp>
        </mc:Choice>
        <mc:Fallback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AC2146B4-84D6-5269-2AA1-9AF2003820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0" y="751422"/>
                <a:ext cx="9134474" cy="1953678"/>
              </a:xfrm>
              <a:prstGeom prst="rect">
                <a:avLst/>
              </a:prstGeom>
              <a:blipFill>
                <a:blip r:embed="rId15"/>
                <a:stretch>
                  <a:fillRect l="-67" t="-15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id="{FA5CE81B-DA46-2C52-EF55-4DDEFAAC9F2E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61"/>
          <a:stretch/>
        </p:blipFill>
        <p:spPr bwMode="auto">
          <a:xfrm>
            <a:off x="318443" y="2302668"/>
            <a:ext cx="4136486" cy="2774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6">
            <a:extLst>
              <a:ext uri="{FF2B5EF4-FFF2-40B4-BE49-F238E27FC236}">
                <a16:creationId xmlns:a16="http://schemas.microsoft.com/office/drawing/2014/main" id="{329E4181-9F94-BB3B-C2A5-7DE92C19A2B9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123217" y="3536155"/>
            <a:ext cx="3509963" cy="322263"/>
          </a:xfrm>
          <a:custGeom>
            <a:avLst/>
            <a:gdLst>
              <a:gd name="T0" fmla="*/ 0 w 2211"/>
              <a:gd name="T1" fmla="*/ 5 h 203"/>
              <a:gd name="T2" fmla="*/ 255 w 2211"/>
              <a:gd name="T3" fmla="*/ 33 h 203"/>
              <a:gd name="T4" fmla="*/ 454 w 2211"/>
              <a:gd name="T5" fmla="*/ 33 h 203"/>
              <a:gd name="T6" fmla="*/ 539 w 2211"/>
              <a:gd name="T7" fmla="*/ 33 h 203"/>
              <a:gd name="T8" fmla="*/ 596 w 2211"/>
              <a:gd name="T9" fmla="*/ 5 h 203"/>
              <a:gd name="T10" fmla="*/ 624 w 2211"/>
              <a:gd name="T11" fmla="*/ 61 h 203"/>
              <a:gd name="T12" fmla="*/ 681 w 2211"/>
              <a:gd name="T13" fmla="*/ 61 h 203"/>
              <a:gd name="T14" fmla="*/ 822 w 2211"/>
              <a:gd name="T15" fmla="*/ 33 h 203"/>
              <a:gd name="T16" fmla="*/ 1077 w 2211"/>
              <a:gd name="T17" fmla="*/ 61 h 203"/>
              <a:gd name="T18" fmla="*/ 1248 w 2211"/>
              <a:gd name="T19" fmla="*/ 118 h 203"/>
              <a:gd name="T20" fmla="*/ 1333 w 2211"/>
              <a:gd name="T21" fmla="*/ 146 h 203"/>
              <a:gd name="T22" fmla="*/ 1389 w 2211"/>
              <a:gd name="T23" fmla="*/ 146 h 203"/>
              <a:gd name="T24" fmla="*/ 1446 w 2211"/>
              <a:gd name="T25" fmla="*/ 146 h 203"/>
              <a:gd name="T26" fmla="*/ 1701 w 2211"/>
              <a:gd name="T27" fmla="*/ 146 h 203"/>
              <a:gd name="T28" fmla="*/ 1985 w 2211"/>
              <a:gd name="T29" fmla="*/ 175 h 203"/>
              <a:gd name="T30" fmla="*/ 2211 w 2211"/>
              <a:gd name="T31" fmla="*/ 203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11" h="203">
                <a:moveTo>
                  <a:pt x="0" y="5"/>
                </a:moveTo>
                <a:cubicBezTo>
                  <a:pt x="89" y="16"/>
                  <a:pt x="179" y="28"/>
                  <a:pt x="255" y="33"/>
                </a:cubicBezTo>
                <a:cubicBezTo>
                  <a:pt x="331" y="38"/>
                  <a:pt x="407" y="33"/>
                  <a:pt x="454" y="33"/>
                </a:cubicBezTo>
                <a:cubicBezTo>
                  <a:pt x="501" y="33"/>
                  <a:pt x="515" y="38"/>
                  <a:pt x="539" y="33"/>
                </a:cubicBezTo>
                <a:cubicBezTo>
                  <a:pt x="563" y="28"/>
                  <a:pt x="582" y="0"/>
                  <a:pt x="596" y="5"/>
                </a:cubicBezTo>
                <a:cubicBezTo>
                  <a:pt x="610" y="10"/>
                  <a:pt x="610" y="52"/>
                  <a:pt x="624" y="61"/>
                </a:cubicBezTo>
                <a:cubicBezTo>
                  <a:pt x="638" y="70"/>
                  <a:pt x="648" y="66"/>
                  <a:pt x="681" y="61"/>
                </a:cubicBezTo>
                <a:cubicBezTo>
                  <a:pt x="714" y="56"/>
                  <a:pt x="756" y="33"/>
                  <a:pt x="822" y="33"/>
                </a:cubicBezTo>
                <a:cubicBezTo>
                  <a:pt x="888" y="33"/>
                  <a:pt x="1006" y="47"/>
                  <a:pt x="1077" y="61"/>
                </a:cubicBezTo>
                <a:cubicBezTo>
                  <a:pt x="1148" y="75"/>
                  <a:pt x="1205" y="104"/>
                  <a:pt x="1248" y="118"/>
                </a:cubicBezTo>
                <a:cubicBezTo>
                  <a:pt x="1291" y="132"/>
                  <a:pt x="1310" y="141"/>
                  <a:pt x="1333" y="146"/>
                </a:cubicBezTo>
                <a:cubicBezTo>
                  <a:pt x="1356" y="151"/>
                  <a:pt x="1370" y="146"/>
                  <a:pt x="1389" y="146"/>
                </a:cubicBezTo>
                <a:cubicBezTo>
                  <a:pt x="1408" y="146"/>
                  <a:pt x="1394" y="146"/>
                  <a:pt x="1446" y="146"/>
                </a:cubicBezTo>
                <a:cubicBezTo>
                  <a:pt x="1498" y="146"/>
                  <a:pt x="1611" y="141"/>
                  <a:pt x="1701" y="146"/>
                </a:cubicBezTo>
                <a:cubicBezTo>
                  <a:pt x="1791" y="151"/>
                  <a:pt x="1900" y="166"/>
                  <a:pt x="1985" y="175"/>
                </a:cubicBezTo>
                <a:cubicBezTo>
                  <a:pt x="2070" y="184"/>
                  <a:pt x="2140" y="193"/>
                  <a:pt x="2211" y="203"/>
                </a:cubicBezTo>
              </a:path>
            </a:pathLst>
          </a:custGeom>
          <a:noFill/>
          <a:ln w="57150" cmpd="sng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7">
                <a:extLst>
                  <a:ext uri="{FF2B5EF4-FFF2-40B4-BE49-F238E27FC236}">
                    <a16:creationId xmlns:a16="http://schemas.microsoft.com/office/drawing/2014/main" id="{02B3AB53-D9F4-22EE-1716-97E67B09838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35194" y="2250544"/>
                <a:ext cx="2077043" cy="430887"/>
              </a:xfrm>
              <a:prstGeom prst="rect">
                <a:avLst/>
              </a:prstGeom>
              <a:noFill/>
              <a:ln w="28575">
                <a:solidFill>
                  <a:srgbClr val="0099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fr-FR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Mesure de </a:t>
                </a:r>
                <a14:m>
                  <m:oMath xmlns:m="http://schemas.openxmlformats.org/officeDocument/2006/math">
                    <m:r>
                      <a:rPr lang="fr-FR" altLang="fr-FR" sz="1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et BCA 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</a:t>
                </a:r>
                <a:r>
                  <a:rPr lang="en-US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𝑅𝑒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{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𝐶𝐹𝐹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}</m:t>
                    </m:r>
                  </m:oMath>
                </a14:m>
                <a:endParaRPr lang="fr-FR" altLang="fr-FR" sz="11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fr-FR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Intégration des GPD sur </a:t>
                </a:r>
                <a14:m>
                  <m:oMath xmlns:m="http://schemas.openxmlformats.org/officeDocument/2006/math"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</m:oMath>
                </a14:m>
                <a:endParaRPr lang="fr-FR" altLang="fr-FR" sz="1100" i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 Box 7">
                <a:extLst>
                  <a:ext uri="{FF2B5EF4-FFF2-40B4-BE49-F238E27FC236}">
                    <a16:creationId xmlns:a16="http://schemas.microsoft.com/office/drawing/2014/main" id="{02B3AB53-D9F4-22EE-1716-97E67B098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35194" y="2250544"/>
                <a:ext cx="2077043" cy="430887"/>
              </a:xfrm>
              <a:prstGeom prst="rect">
                <a:avLst/>
              </a:prstGeom>
              <a:blipFill>
                <a:blip r:embed="rId17"/>
                <a:stretch>
                  <a:fillRect b="-3947"/>
                </a:stretch>
              </a:blipFill>
              <a:ln w="28575">
                <a:solidFill>
                  <a:srgbClr val="0099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Line 8">
            <a:extLst>
              <a:ext uri="{FF2B5EF4-FFF2-40B4-BE49-F238E27FC236}">
                <a16:creationId xmlns:a16="http://schemas.microsoft.com/office/drawing/2014/main" id="{2E99856F-8D90-B52C-F765-BA99B4A65100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1400175" y="2681432"/>
            <a:ext cx="371070" cy="883892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49BEC60E-3622-AD1B-8AA9-8BD5C4EC4B21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016125" y="3524005"/>
            <a:ext cx="161925" cy="1619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C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/>
            <a:endParaRPr lang="en-US" altLang="fr-FR" sz="1400">
              <a:latin typeface="Times New Roman" panose="02020603050405020304" pitchFamily="18" charset="0"/>
            </a:endParaRP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10878DCD-BB47-CB4D-92CE-7675F3C3DBA7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258112" y="3719001"/>
            <a:ext cx="161925" cy="1619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C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11">
                <a:extLst>
                  <a:ext uri="{FF2B5EF4-FFF2-40B4-BE49-F238E27FC236}">
                    <a16:creationId xmlns:a16="http://schemas.microsoft.com/office/drawing/2014/main" id="{DD7B13FB-5678-ABF2-FD36-86A2DCEE341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3185144" y="2231659"/>
                <a:ext cx="1705024" cy="430887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fr-FR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fr-FR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BSA ou BTA 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𝐼𝑚</m:t>
                    </m:r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{</m:t>
                    </m:r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𝐶𝐹𝐹</m:t>
                    </m:r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}</m:t>
                    </m:r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altLang="fr-FR" sz="1100" i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algn="ctr"/>
                <a:r>
                  <a:rPr lang="fr-FR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donc GPD à </a:t>
                </a:r>
                <a14:m>
                  <m:oMath xmlns:m="http://schemas.openxmlformats.org/officeDocument/2006/math"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et </a:t>
                </a:r>
                <a14:m>
                  <m:oMath xmlns:m="http://schemas.openxmlformats.org/officeDocument/2006/math"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fr-FR" altLang="fr-FR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fr-FR" altLang="fr-FR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5" name="Text Box 11">
                <a:extLst>
                  <a:ext uri="{FF2B5EF4-FFF2-40B4-BE49-F238E27FC236}">
                    <a16:creationId xmlns:a16="http://schemas.microsoft.com/office/drawing/2014/main" id="{DD7B13FB-5678-ABF2-FD36-86A2DCEE3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3185144" y="2231659"/>
                <a:ext cx="1705024" cy="430887"/>
              </a:xfrm>
              <a:prstGeom prst="rect">
                <a:avLst/>
              </a:prstGeom>
              <a:blipFill>
                <a:blip r:embed="rId18"/>
                <a:stretch>
                  <a:fillRect b="-3947"/>
                </a:stretch>
              </a:blipFill>
              <a:ln w="28575">
                <a:solidFill>
                  <a:srgbClr val="C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ine 12">
            <a:extLst>
              <a:ext uri="{FF2B5EF4-FFF2-40B4-BE49-F238E27FC236}">
                <a16:creationId xmlns:a16="http://schemas.microsoft.com/office/drawing/2014/main" id="{8699A387-B13D-2050-4993-8FE972BE0517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H="1">
            <a:off x="2178049" y="2668621"/>
            <a:ext cx="1870076" cy="883892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F03DCD48-B68B-67E9-EDBF-596CEE18604D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 flipH="1">
            <a:off x="3420035" y="2668621"/>
            <a:ext cx="617621" cy="1050381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E191AC1E-F837-770C-CE3B-184311828138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758407" y="2755930"/>
                <a:ext cx="4376067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La variable </a:t>
                </a:r>
                <a14:m>
                  <m:oMath xmlns:m="http://schemas.openxmlformats.org/officeDocument/2006/math">
                    <m:r>
                      <a:rPr lang="fr-FR" b="0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</m:oMath>
                </a14:m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 n'est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pas accessible </a:t>
                </a: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expérimentalement par DVCS.</a:t>
                </a:r>
              </a:p>
              <a:p>
                <a:endParaRPr lang="fr-F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Observables</a:t>
                </a: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 mesurées expérimentalement :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Asymétrie</a:t>
                </a:r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: sensible à la partie d'interférence DVCS-BH.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Section efficace</a:t>
                </a:r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: accès au terme du DVCS pure.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Accès à une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combinaison de CFF</a:t>
                </a:r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144000" lvl="3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Séparation demande </a:t>
                </a:r>
                <a:r>
                  <a:rPr lang="fr-FR" sz="12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plusieures</a:t>
                </a:r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observables.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En fonction de la cible (proton ou neutron) :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sensibilité différente</a:t>
                </a:r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aux CFF (GPD) </a:t>
                </a:r>
              </a:p>
            </p:txBody>
          </p:sp>
        </mc:Choice>
        <mc:Fallback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E191AC1E-F837-770C-CE3B-184311828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4758407" y="2755930"/>
                <a:ext cx="4376067" cy="2062103"/>
              </a:xfrm>
              <a:prstGeom prst="rect">
                <a:avLst/>
              </a:prstGeom>
              <a:blipFill>
                <a:blip r:embed="rId19"/>
                <a:stretch>
                  <a:fillRect l="-418" t="-888" b="-147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7633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9D2FFD-C7F2-0E5B-A45F-64D35DA35A6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Différentes observables pour le DVCS​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6222DC2-D008-5A33-08D9-C52B402FF25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10</a:t>
            </a:fld>
            <a:endParaRPr lang="fr-FR" dirty="0"/>
          </a:p>
        </p:txBody>
      </p:sp>
      <p:sp>
        <p:nvSpPr>
          <p:cNvPr id="4" name="Espace réservé du contenu 4">
            <a:extLst>
              <a:ext uri="{FF2B5EF4-FFF2-40B4-BE49-F238E27FC236}">
                <a16:creationId xmlns:a16="http://schemas.microsoft.com/office/drawing/2014/main" id="{532850E5-A89B-B0E6-F39C-78EB8EAF0921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526" y="760490"/>
            <a:ext cx="9144000" cy="13500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</a:rPr>
              <a:t>Différentes observables donnent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</a:rPr>
              <a:t>accès à différents 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</a:rPr>
              <a:t>CFF :</a:t>
            </a:r>
          </a:p>
          <a:p>
            <a:pPr marL="144000" indent="-144000">
              <a:spcBef>
                <a:spcPts val="600"/>
              </a:spcBef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</a:rPr>
              <a:t>Mesure différents types d'observables : sections efficaces différentielles ou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</a:rPr>
              <a:t>asymétries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</a:rPr>
              <a:t> :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</a:rPr>
              <a:t>BSA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</a:rPr>
              <a:t>, TSA (L et T), DSA.</a:t>
            </a:r>
          </a:p>
          <a:p>
            <a:pPr marL="144000" indent="-144000">
              <a:spcBef>
                <a:spcPts val="600"/>
              </a:spcBef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</a:rPr>
              <a:t>Offre un avantage puisque certaines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</a:rPr>
              <a:t>incertitudes systématiques se neutralisent 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</a:rPr>
              <a:t>(liées à la normalisation des sections efficaces).</a:t>
            </a:r>
          </a:p>
          <a:p>
            <a:pPr marL="144000" indent="-144000">
              <a:spcBef>
                <a:spcPts val="600"/>
              </a:spcBef>
            </a:pPr>
            <a:endParaRPr lang="en-US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11F5934-3934-00AE-203B-EBA12B9100DF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06201" y="4295585"/>
                <a:ext cx="8537736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Différentes contributions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des FF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pour les différents nucléons.</a:t>
                </a:r>
              </a:p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Pour accéder au GPD 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: nous pouvons utiliser une cible de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proton polarisé transversalement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ou une cible de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neutron non polarisé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endParaRPr lang="en-US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11F5934-3934-00AE-203B-EBA12B910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06201" y="4295585"/>
                <a:ext cx="8537736" cy="738664"/>
              </a:xfrm>
              <a:prstGeom prst="rect">
                <a:avLst/>
              </a:prstGeom>
              <a:blipFill>
                <a:blip r:embed="rId7"/>
                <a:stretch>
                  <a:fillRect l="-214" t="-2479" b="-661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09" name="Groupe 8208">
            <a:extLst>
              <a:ext uri="{FF2B5EF4-FFF2-40B4-BE49-F238E27FC236}">
                <a16:creationId xmlns:a16="http://schemas.microsoft.com/office/drawing/2014/main" id="{62A41FF7-FAB5-502B-5151-BC50BC2C27DF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261245" y="1828800"/>
            <a:ext cx="8621510" cy="2174736"/>
            <a:chOff x="346140" y="1702268"/>
            <a:chExt cx="8386333" cy="2024872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F9D17E21-BA5E-CAFF-2B2B-1AB30F1D266D}"/>
                </a:ext>
              </a:extLst>
            </p:cNvPr>
            <p:cNvSpPr txBox="1"/>
            <p:nvPr/>
          </p:nvSpPr>
          <p:spPr>
            <a:xfrm>
              <a:off x="346140" y="1744553"/>
              <a:ext cx="14001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9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Polarisation </a:t>
              </a:r>
            </a:p>
            <a:p>
              <a:pPr algn="ctr"/>
              <a:r>
                <a:rPr lang="fr-FR" sz="9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du faisceau/de la cible</a:t>
              </a:r>
            </a:p>
          </p:txBody>
        </p:sp>
        <p:grpSp>
          <p:nvGrpSpPr>
            <p:cNvPr id="8202" name="Groupe 8201">
              <a:extLst>
                <a:ext uri="{FF2B5EF4-FFF2-40B4-BE49-F238E27FC236}">
                  <a16:creationId xmlns:a16="http://schemas.microsoft.com/office/drawing/2014/main" id="{93843C47-7E34-07A6-661C-0FBA3EE9DDC5}"/>
                </a:ext>
              </a:extLst>
            </p:cNvPr>
            <p:cNvGrpSpPr/>
            <p:nvPr/>
          </p:nvGrpSpPr>
          <p:grpSpPr>
            <a:xfrm>
              <a:off x="566189" y="2172034"/>
              <a:ext cx="960075" cy="405303"/>
              <a:chOff x="548601" y="2183119"/>
              <a:chExt cx="960075" cy="40530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Ellipse 6">
                    <a:extLst>
                      <a:ext uri="{FF2B5EF4-FFF2-40B4-BE49-F238E27FC236}">
                        <a16:creationId xmlns:a16="http://schemas.microsoft.com/office/drawing/2014/main" id="{E13DBB64-0AA1-93AD-AC44-E826A4B377F0}"/>
                      </a:ext>
                    </a:extLst>
                  </p:cNvPr>
                  <p:cNvSpPr/>
                  <p:nvPr/>
                </p:nvSpPr>
                <p:spPr>
                  <a:xfrm>
                    <a:off x="548601" y="2228422"/>
                    <a:ext cx="360000" cy="360000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95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fr-FR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oMath>
                      </m:oMathPara>
                    </a14:m>
                    <a:endParaRPr lang="fr-FR" dirty="0">
                      <a:ln w="3175">
                        <a:solidFill>
                          <a:schemeClr val="tx1"/>
                        </a:solidFill>
                      </a:ln>
                      <a:latin typeface="Cambria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7" name="Ellipse 6">
                    <a:extLst>
                      <a:ext uri="{FF2B5EF4-FFF2-40B4-BE49-F238E27FC236}">
                        <a16:creationId xmlns:a16="http://schemas.microsoft.com/office/drawing/2014/main" id="{E13DBB64-0AA1-93AD-AC44-E826A4B377F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01" y="2228422"/>
                    <a:ext cx="360000" cy="360000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9525">
                    <a:solidFill>
                      <a:schemeClr val="bg1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2" name="Groupe 11">
                <a:extLst>
                  <a:ext uri="{FF2B5EF4-FFF2-40B4-BE49-F238E27FC236}">
                    <a16:creationId xmlns:a16="http://schemas.microsoft.com/office/drawing/2014/main" id="{DC3FB703-FBD0-4CC9-F211-F71CA569C992}"/>
                  </a:ext>
                </a:extLst>
              </p:cNvPr>
              <p:cNvGrpSpPr/>
              <p:nvPr/>
            </p:nvGrpSpPr>
            <p:grpSpPr>
              <a:xfrm>
                <a:off x="908601" y="2228422"/>
                <a:ext cx="600075" cy="360000"/>
                <a:chOff x="1566863" y="2606916"/>
                <a:chExt cx="600075" cy="360000"/>
              </a:xfrm>
            </p:grpSpPr>
            <p:sp>
              <p:nvSpPr>
                <p:cNvPr id="10" name="Ellipse 9">
                  <a:extLst>
                    <a:ext uri="{FF2B5EF4-FFF2-40B4-BE49-F238E27FC236}">
                      <a16:creationId xmlns:a16="http://schemas.microsoft.com/office/drawing/2014/main" id="{A5835D55-9939-BF25-3184-7C2BAF5E567A}"/>
                    </a:ext>
                  </a:extLst>
                </p:cNvPr>
                <p:cNvSpPr/>
                <p:nvPr/>
              </p:nvSpPr>
              <p:spPr>
                <a:xfrm>
                  <a:off x="1685924" y="2606916"/>
                  <a:ext cx="360000" cy="360000"/>
                </a:xfrm>
                <a:prstGeom prst="ellipse">
                  <a:avLst/>
                </a:prstGeom>
                <a:solidFill>
                  <a:srgbClr val="FFCFCF"/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1" algn="just"/>
                  <a:endParaRPr lang="fr-FR" sz="1200" dirty="0">
                    <a:ln w="3175"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ambria" panose="02040503050406030204" pitchFamily="18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" name="ZoneTexte 10">
                      <a:extLst>
                        <a:ext uri="{FF2B5EF4-FFF2-40B4-BE49-F238E27FC236}">
                          <a16:creationId xmlns:a16="http://schemas.microsoft.com/office/drawing/2014/main" id="{DA9BD4FB-1F4B-EA40-1C84-4C363443628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66863" y="2606916"/>
                      <a:ext cx="600075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oMath>
                        </m:oMathPara>
                      </a14:m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11" name="ZoneTexte 10">
                      <a:extLst>
                        <a:ext uri="{FF2B5EF4-FFF2-40B4-BE49-F238E27FC236}">
                          <a16:creationId xmlns:a16="http://schemas.microsoft.com/office/drawing/2014/main" id="{DA9BD4FB-1F4B-EA40-1C84-4C363443628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66863" y="2606916"/>
                      <a:ext cx="600075" cy="30777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185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4" name="Connecteur droit avec flèche 13">
                <a:extLst>
                  <a:ext uri="{FF2B5EF4-FFF2-40B4-BE49-F238E27FC236}">
                    <a16:creationId xmlns:a16="http://schemas.microsoft.com/office/drawing/2014/main" id="{08FB307F-D683-FF72-5FC9-75BB814FEE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601" y="2183119"/>
                <a:ext cx="36097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ZoneTexte 15">
                  <a:extLst>
                    <a:ext uri="{FF2B5EF4-FFF2-40B4-BE49-F238E27FC236}">
                      <a16:creationId xmlns:a16="http://schemas.microsoft.com/office/drawing/2014/main" id="{0E38E082-50CF-772B-4FBA-34DA0F98D890}"/>
                    </a:ext>
                  </a:extLst>
                </p:cNvPr>
                <p:cNvSpPr txBox="1"/>
                <p:nvPr/>
              </p:nvSpPr>
              <p:spPr>
                <a:xfrm>
                  <a:off x="1723688" y="2158831"/>
                  <a:ext cx="4471742" cy="4283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12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l-GR" sz="1200" i="1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200" i="1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200" b="0" i="1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𝐿𝑈</m:t>
                            </m:r>
                          </m:sub>
                        </m:sSub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∼</m:t>
                        </m:r>
                        <m:func>
                          <m:funcPr>
                            <m:ctrlPr>
                              <a:rPr lang="fr-FR" sz="1200" b="0" i="1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 b="0" i="0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200" b="0" i="1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fr-FR" sz="1200" b="0" i="1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200" b="0" i="1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𝐼𝑚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fr-FR" sz="12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sz="12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sz="12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𝓗</m:t>
                                </m:r>
                                <m:r>
                                  <a:rPr lang="fr-FR" sz="12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sz="12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𝜉</m:t>
                                </m:r>
                                <m:d>
                                  <m:dPr>
                                    <m:ctrlPr>
                                      <a:rPr lang="fr-FR" sz="12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sz="12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2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fr-FR" sz="12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fr-FR" sz="12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fr-FR" sz="12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200" i="1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fr-FR" sz="1200" b="0" i="1" smtClean="0">
                                            <a:solidFill>
                                              <a:schemeClr val="bg1">
                                                <a:lumMod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acc>
                                  <m:accPr>
                                    <m:chr m:val="̃"/>
                                    <m:ctrlPr>
                                      <a:rPr lang="fr-FR" sz="12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12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𝓗</m:t>
                                    </m:r>
                                  </m:e>
                                </m:acc>
                                <m:r>
                                  <a:rPr lang="fr-FR" sz="12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12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lang="fr-FR" sz="12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sz="120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ℰ</m:t>
                                </m:r>
                              </m:e>
                            </m:d>
                            <m:r>
                              <a:rPr lang="fr-FR" sz="1200" b="0" i="1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fr-FR" sz="1200" i="1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fr-FR" sz="1200" b="0" i="1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≈ </m:t>
                            </m:r>
                            <m:f>
                              <m:fPr>
                                <m:ctrlPr>
                                  <a:rPr lang="fr-FR" sz="12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2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fr-FR" sz="12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𝑃𝑜𝑙</m:t>
                                </m:r>
                                <m:r>
                                  <a:rPr lang="fr-FR" sz="12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fr-FR" sz="12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fr-FR" sz="12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2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a:rPr lang="fr-FR" sz="12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  <m:r>
                                  <a:rPr lang="fr-FR" sz="12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fr-FR" sz="12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2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a:rPr lang="fr-FR" sz="1200" b="0" i="1" smtClean="0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fr-FR" sz="12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2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a:rPr lang="fr-FR" sz="12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  <m:r>
                                  <a:rPr lang="fr-FR" sz="1200" b="0" i="1" smtClean="0">
                                    <a:solidFill>
                                      <a:schemeClr val="bg1">
                                        <a:lumMod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fr-FR" sz="12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2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a:rPr lang="fr-FR" sz="1200" i="1">
                                        <a:solidFill>
                                          <a:schemeClr val="bg1">
                                            <a:lumMod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den>
                            </m:f>
                          </m:e>
                        </m:func>
                      </m:oMath>
                    </m:oMathPara>
                  </a14:m>
                  <a:endPara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6" name="ZoneTexte 15">
                  <a:extLst>
                    <a:ext uri="{FF2B5EF4-FFF2-40B4-BE49-F238E27FC236}">
                      <a16:creationId xmlns:a16="http://schemas.microsoft.com/office/drawing/2014/main" id="{0E38E082-50CF-772B-4FBA-34DA0F98D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3688" y="2158831"/>
                  <a:ext cx="4471742" cy="42835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B7E2357A-ED55-3995-ECB3-5A27489F54E0}"/>
                    </a:ext>
                  </a:extLst>
                </p:cNvPr>
                <p:cNvSpPr txBox="1"/>
                <p:nvPr/>
              </p:nvSpPr>
              <p:spPr>
                <a:xfrm>
                  <a:off x="7204687" y="2023314"/>
                  <a:ext cx="1523999" cy="5861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𝐼𝑚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𝓗</m:t>
                                </m:r>
                              </m:e>
                              <m:sub>
                                <m:r>
                                  <a:rPr lang="fr-FR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sub>
                            </m:s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fr-FR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fr-FR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ℰ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b="0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𝐼𝑚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ℋ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i="1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fr-FR" i="1">
                                        <a:solidFill>
                                          <a:srgbClr val="0099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solidFill>
                                          <a:srgbClr val="0099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ℋ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i="1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fr-FR" b="1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𝓔</m:t>
                                </m:r>
                              </m:e>
                              <m:sub>
                                <m:r>
                                  <a:rPr lang="fr-FR" b="1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B7E2357A-ED55-3995-ECB3-5A27489F54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4687" y="2023314"/>
                  <a:ext cx="1523999" cy="58618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201" name="Groupe 8200">
              <a:extLst>
                <a:ext uri="{FF2B5EF4-FFF2-40B4-BE49-F238E27FC236}">
                  <a16:creationId xmlns:a16="http://schemas.microsoft.com/office/drawing/2014/main" id="{94F58987-EC67-AF2F-932D-34396C1C4243}"/>
                </a:ext>
              </a:extLst>
            </p:cNvPr>
            <p:cNvGrpSpPr/>
            <p:nvPr/>
          </p:nvGrpSpPr>
          <p:grpSpPr>
            <a:xfrm>
              <a:off x="566189" y="2714592"/>
              <a:ext cx="960075" cy="360000"/>
              <a:chOff x="548601" y="2835787"/>
              <a:chExt cx="960075" cy="36000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Ellipse 19">
                    <a:extLst>
                      <a:ext uri="{FF2B5EF4-FFF2-40B4-BE49-F238E27FC236}">
                        <a16:creationId xmlns:a16="http://schemas.microsoft.com/office/drawing/2014/main" id="{06821CC7-46FD-1681-32E1-FF3BFDEE0D79}"/>
                      </a:ext>
                    </a:extLst>
                  </p:cNvPr>
                  <p:cNvSpPr/>
                  <p:nvPr/>
                </p:nvSpPr>
                <p:spPr>
                  <a:xfrm>
                    <a:off x="548601" y="2835787"/>
                    <a:ext cx="360000" cy="360000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95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fr-FR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oMath>
                      </m:oMathPara>
                    </a14:m>
                    <a:endParaRPr lang="fr-FR" dirty="0">
                      <a:ln w="3175">
                        <a:solidFill>
                          <a:schemeClr val="tx1"/>
                        </a:solidFill>
                      </a:ln>
                      <a:latin typeface="Cambria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0" name="Ellipse 19">
                    <a:extLst>
                      <a:ext uri="{FF2B5EF4-FFF2-40B4-BE49-F238E27FC236}">
                        <a16:creationId xmlns:a16="http://schemas.microsoft.com/office/drawing/2014/main" id="{06821CC7-46FD-1681-32E1-FF3BFDEE0D7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01" y="2835787"/>
                    <a:ext cx="360000" cy="360000"/>
                  </a:xfrm>
                  <a:prstGeom prst="ellipse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9525">
                    <a:solidFill>
                      <a:schemeClr val="bg1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1" name="Groupe 20">
                <a:extLst>
                  <a:ext uri="{FF2B5EF4-FFF2-40B4-BE49-F238E27FC236}">
                    <a16:creationId xmlns:a16="http://schemas.microsoft.com/office/drawing/2014/main" id="{2CAAA696-9DED-DF60-A44E-9F541210DAB2}"/>
                  </a:ext>
                </a:extLst>
              </p:cNvPr>
              <p:cNvGrpSpPr/>
              <p:nvPr/>
            </p:nvGrpSpPr>
            <p:grpSpPr>
              <a:xfrm>
                <a:off x="908601" y="2835787"/>
                <a:ext cx="600075" cy="360000"/>
                <a:chOff x="1566863" y="2606916"/>
                <a:chExt cx="600075" cy="360000"/>
              </a:xfrm>
            </p:grpSpPr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D93D56F2-0588-DF3F-D285-E127774EB4A0}"/>
                    </a:ext>
                  </a:extLst>
                </p:cNvPr>
                <p:cNvSpPr/>
                <p:nvPr/>
              </p:nvSpPr>
              <p:spPr>
                <a:xfrm>
                  <a:off x="1685924" y="2606916"/>
                  <a:ext cx="360000" cy="360000"/>
                </a:xfrm>
                <a:prstGeom prst="ellipse">
                  <a:avLst/>
                </a:prstGeom>
                <a:solidFill>
                  <a:srgbClr val="FFCFCF"/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1" algn="just"/>
                  <a:endParaRPr lang="fr-FR" sz="1200" dirty="0">
                    <a:ln w="3175"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1EFC74E9-3553-2363-B36A-85C43ECF38C8}"/>
                    </a:ext>
                  </a:extLst>
                </p:cNvPr>
                <p:cNvSpPr txBox="1"/>
                <p:nvPr/>
              </p:nvSpPr>
              <p:spPr>
                <a:xfrm>
                  <a:off x="1566863" y="2606916"/>
                  <a:ext cx="60007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fr-FR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p:grpSp>
          <p:cxnSp>
            <p:nvCxnSpPr>
              <p:cNvPr id="25" name="Connecteur droit avec flèche 24">
                <a:extLst>
                  <a:ext uri="{FF2B5EF4-FFF2-40B4-BE49-F238E27FC236}">
                    <a16:creationId xmlns:a16="http://schemas.microsoft.com/office/drawing/2014/main" id="{6B7FE3B6-0EB7-17D2-241C-F1EEA3738C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7227" y="3021931"/>
                <a:ext cx="50958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ZoneTexte 33">
                  <a:extLst>
                    <a:ext uri="{FF2B5EF4-FFF2-40B4-BE49-F238E27FC236}">
                      <a16:creationId xmlns:a16="http://schemas.microsoft.com/office/drawing/2014/main" id="{0688D5B9-EB6A-131A-2EE7-FAB12C9F93DA}"/>
                    </a:ext>
                  </a:extLst>
                </p:cNvPr>
                <p:cNvSpPr txBox="1"/>
                <p:nvPr/>
              </p:nvSpPr>
              <p:spPr>
                <a:xfrm>
                  <a:off x="1675073" y="2753847"/>
                  <a:ext cx="4520357" cy="2792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l-GR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𝑈𝐿</m:t>
                            </m:r>
                          </m:sub>
                        </m:sSub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∼</m:t>
                        </m:r>
                        <m:func>
                          <m:func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𝐼𝑚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acc>
                                  <m:accPr>
                                    <m:chr m:val="̃"/>
                                    <m:ctrlPr>
                                      <a:rPr lang="fr-FR" sz="12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12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𝓗</m:t>
                                    </m:r>
                                  </m:e>
                                </m:acc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𝜉</m:t>
                                </m:r>
                                <m:d>
                                  <m:dPr>
                                    <m:ctrlP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fr-FR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fr-FR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fr-F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2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𝓗</m:t>
                                    </m:r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lin"/>
                                        <m:ctrlPr>
                                          <a:rPr lang="fr-F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fr-FR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fr-FR" sz="12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fr-F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fr-FR" sz="12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𝓔</m:t>
                                    </m:r>
                                  </m:e>
                                </m:d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lang="fr-FR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acc>
                                  <m:accPr>
                                    <m:chr m:val="̃"/>
                                    <m:ctrlPr>
                                      <a:rPr lang="fr-FR" sz="12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12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𝓔</m:t>
                                    </m:r>
                                  </m:e>
                                </m:acc>
                                <m:r>
                                  <a:rPr lang="fr-F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+…</m:t>
                                </m:r>
                              </m:e>
                            </m:d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</m:func>
                      </m:oMath>
                    </m:oMathPara>
                  </a14:m>
                  <a:endParaRPr lang="fr-FR" sz="12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4" name="ZoneTexte 33">
                  <a:extLst>
                    <a:ext uri="{FF2B5EF4-FFF2-40B4-BE49-F238E27FC236}">
                      <a16:creationId xmlns:a16="http://schemas.microsoft.com/office/drawing/2014/main" id="{0688D5B9-EB6A-131A-2EE7-FAB12C9F93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5073" y="2753847"/>
                  <a:ext cx="4520357" cy="279224"/>
                </a:xfrm>
                <a:prstGeom prst="rect">
                  <a:avLst/>
                </a:prstGeom>
                <a:blipFill>
                  <a:blip r:embed="rId13"/>
                  <a:stretch>
                    <a:fillRect t="-81633" b="-134694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Connecteur droit avec flèche 37">
              <a:extLst>
                <a:ext uri="{FF2B5EF4-FFF2-40B4-BE49-F238E27FC236}">
                  <a16:creationId xmlns:a16="http://schemas.microsoft.com/office/drawing/2014/main" id="{91ADD1EB-CFB0-22C9-7371-F5B40DAC9A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9837" y="2336238"/>
              <a:ext cx="542065" cy="1"/>
            </a:xfrm>
            <a:prstGeom prst="straightConnector1">
              <a:avLst/>
            </a:prstGeom>
            <a:ln w="12700">
              <a:solidFill>
                <a:schemeClr val="bg1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B69F2161-517F-8CA5-DA6B-1DB237F3673C}"/>
                    </a:ext>
                  </a:extLst>
                </p:cNvPr>
                <p:cNvSpPr txBox="1"/>
                <p:nvPr/>
              </p:nvSpPr>
              <p:spPr>
                <a:xfrm>
                  <a:off x="7208474" y="2612825"/>
                  <a:ext cx="1523999" cy="6070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𝐼𝑚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𝓗</m:t>
                                </m:r>
                              </m:e>
                              <m:sub>
                                <m:r>
                                  <a:rPr lang="fr-FR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sub>
                            </m:s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fr-FR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𝓗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b="0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𝐼𝑚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1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𝓗</m:t>
                                </m:r>
                              </m:e>
                              <m:sub>
                                <m:r>
                                  <a:rPr lang="fr-FR" b="1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  <m:r>
                              <a:rPr lang="fr-FR" i="1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fr-FR" i="1">
                                        <a:solidFill>
                                          <a:srgbClr val="0099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>
                                        <a:solidFill>
                                          <a:srgbClr val="0099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ℰ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b="0" i="1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ℰ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9" name="ZoneTexte 38">
                  <a:extLst>
                    <a:ext uri="{FF2B5EF4-FFF2-40B4-BE49-F238E27FC236}">
                      <a16:creationId xmlns:a16="http://schemas.microsoft.com/office/drawing/2014/main" id="{B69F2161-517F-8CA5-DA6B-1DB237F367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8474" y="2612825"/>
                  <a:ext cx="1523999" cy="607026"/>
                </a:xfrm>
                <a:prstGeom prst="rect">
                  <a:avLst/>
                </a:prstGeom>
                <a:blipFill>
                  <a:blip r:embed="rId14"/>
                  <a:stretch>
                    <a:fillRect r="-661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200" name="Groupe 8199">
              <a:extLst>
                <a:ext uri="{FF2B5EF4-FFF2-40B4-BE49-F238E27FC236}">
                  <a16:creationId xmlns:a16="http://schemas.microsoft.com/office/drawing/2014/main" id="{0C7E0958-0232-5358-C43E-B57C572DCDAC}"/>
                </a:ext>
              </a:extLst>
            </p:cNvPr>
            <p:cNvGrpSpPr/>
            <p:nvPr/>
          </p:nvGrpSpPr>
          <p:grpSpPr>
            <a:xfrm>
              <a:off x="563690" y="3161853"/>
              <a:ext cx="960075" cy="523875"/>
              <a:chOff x="548601" y="3326731"/>
              <a:chExt cx="960075" cy="52387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Ellipse 39">
                    <a:extLst>
                      <a:ext uri="{FF2B5EF4-FFF2-40B4-BE49-F238E27FC236}">
                        <a16:creationId xmlns:a16="http://schemas.microsoft.com/office/drawing/2014/main" id="{4CF6F2C0-3205-D694-5B27-43EAA3F6D264}"/>
                      </a:ext>
                    </a:extLst>
                  </p:cNvPr>
                  <p:cNvSpPr/>
                  <p:nvPr/>
                </p:nvSpPr>
                <p:spPr>
                  <a:xfrm>
                    <a:off x="548601" y="3433924"/>
                    <a:ext cx="360000" cy="360000"/>
                  </a:xfrm>
                  <a:prstGeom prst="ellipse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95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fr-FR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fr-FR" b="0" i="1" smtClean="0">
                                  <a:ln w="3175"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oMath>
                      </m:oMathPara>
                    </a14:m>
                    <a:endParaRPr lang="fr-FR" dirty="0">
                      <a:ln w="3175">
                        <a:solidFill>
                          <a:schemeClr val="tx1"/>
                        </a:solidFill>
                      </a:ln>
                      <a:latin typeface="Cambria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40" name="Ellipse 39">
                    <a:extLst>
                      <a:ext uri="{FF2B5EF4-FFF2-40B4-BE49-F238E27FC236}">
                        <a16:creationId xmlns:a16="http://schemas.microsoft.com/office/drawing/2014/main" id="{4CF6F2C0-3205-D694-5B27-43EAA3F6D26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01" y="3433924"/>
                    <a:ext cx="360000" cy="360000"/>
                  </a:xfrm>
                  <a:prstGeom prst="ellipse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9525">
                    <a:solidFill>
                      <a:schemeClr val="bg1">
                        <a:lumMod val="5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1" name="Groupe 40">
                <a:extLst>
                  <a:ext uri="{FF2B5EF4-FFF2-40B4-BE49-F238E27FC236}">
                    <a16:creationId xmlns:a16="http://schemas.microsoft.com/office/drawing/2014/main" id="{659DDA90-E142-EDA3-4636-8952C7273173}"/>
                  </a:ext>
                </a:extLst>
              </p:cNvPr>
              <p:cNvGrpSpPr/>
              <p:nvPr/>
            </p:nvGrpSpPr>
            <p:grpSpPr>
              <a:xfrm>
                <a:off x="908601" y="3433924"/>
                <a:ext cx="600075" cy="360000"/>
                <a:chOff x="1566863" y="2606916"/>
                <a:chExt cx="600075" cy="360000"/>
              </a:xfrm>
            </p:grpSpPr>
            <p:sp>
              <p:nvSpPr>
                <p:cNvPr id="42" name="Ellipse 41">
                  <a:extLst>
                    <a:ext uri="{FF2B5EF4-FFF2-40B4-BE49-F238E27FC236}">
                      <a16:creationId xmlns:a16="http://schemas.microsoft.com/office/drawing/2014/main" id="{36C795C2-6DB7-023E-579D-F529E215F6E0}"/>
                    </a:ext>
                  </a:extLst>
                </p:cNvPr>
                <p:cNvSpPr/>
                <p:nvPr/>
              </p:nvSpPr>
              <p:spPr>
                <a:xfrm>
                  <a:off x="1685924" y="2606916"/>
                  <a:ext cx="360000" cy="360000"/>
                </a:xfrm>
                <a:prstGeom prst="ellipse">
                  <a:avLst/>
                </a:prstGeom>
                <a:solidFill>
                  <a:srgbClr val="FFCFCF"/>
                </a:solidFill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1" algn="just"/>
                  <a:endParaRPr lang="fr-FR" sz="1200" dirty="0">
                    <a:ln w="3175"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Cambria" panose="02040503050406030204" pitchFamily="18" charset="0"/>
                  </a:endParaRPr>
                </a:p>
              </p:txBody>
            </p:sp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C96E52E9-0411-F8E5-7F70-08B86C241032}"/>
                    </a:ext>
                  </a:extLst>
                </p:cNvPr>
                <p:cNvSpPr txBox="1"/>
                <p:nvPr/>
              </p:nvSpPr>
              <p:spPr>
                <a:xfrm>
                  <a:off x="1566863" y="2606916"/>
                  <a:ext cx="60007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fr-FR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p:grpSp>
          <p:cxnSp>
            <p:nvCxnSpPr>
              <p:cNvPr id="45" name="Connecteur droit avec flèche 44">
                <a:extLst>
                  <a:ext uri="{FF2B5EF4-FFF2-40B4-BE49-F238E27FC236}">
                    <a16:creationId xmlns:a16="http://schemas.microsoft.com/office/drawing/2014/main" id="{180AD93D-7840-4AFB-A189-FE833A5024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01064" y="3326731"/>
                <a:ext cx="14288" cy="5238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759C6A8F-3D09-5F9C-206C-18BD08A99D2C}"/>
                    </a:ext>
                  </a:extLst>
                </p:cNvPr>
                <p:cNvSpPr txBox="1"/>
                <p:nvPr/>
              </p:nvSpPr>
              <p:spPr>
                <a:xfrm>
                  <a:off x="1675073" y="3306728"/>
                  <a:ext cx="3707365" cy="2579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l-GR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𝑈𝑇</m:t>
                            </m:r>
                          </m:sub>
                        </m:sSub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∼</m:t>
                        </m:r>
                        <m:func>
                          <m:func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func>
                              <m:func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sz="12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func>
                            <m:func>
                              <m:funcPr>
                                <m:ctrlP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sz="120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fName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𝐼𝑚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sz="12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𝓗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sz="12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𝓔</m:t>
                                </m:r>
                                <m:r>
                                  <a:rPr lang="fr-F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fr-FR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d>
                            <m:r>
                              <a:rPr lang="fr-F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</m:func>
                      </m:oMath>
                    </m:oMathPara>
                  </a14:m>
                  <a:endParaRPr lang="fr-FR" sz="1200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759C6A8F-3D09-5F9C-206C-18BD08A99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5073" y="3306728"/>
                  <a:ext cx="3707365" cy="257911"/>
                </a:xfrm>
                <a:prstGeom prst="rect">
                  <a:avLst/>
                </a:prstGeom>
                <a:blipFill>
                  <a:blip r:embed="rId16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83A25510-22CC-21B6-186D-7DA2C7013C17}"/>
                    </a:ext>
                  </a:extLst>
                </p:cNvPr>
                <p:cNvSpPr txBox="1"/>
                <p:nvPr/>
              </p:nvSpPr>
              <p:spPr>
                <a:xfrm>
                  <a:off x="7204687" y="3169743"/>
                  <a:ext cx="1523999" cy="5573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𝐼𝑚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𝓗</m:t>
                                </m:r>
                              </m:e>
                              <m:sub>
                                <m:r>
                                  <a:rPr lang="fr-FR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sub>
                            </m:sSub>
                            <m:r>
                              <a:rPr lang="fr-F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𝓔</m:t>
                                </m:r>
                              </m:e>
                              <m:sub>
                                <m:r>
                                  <a:rPr lang="fr-FR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b="0" dirty="0">
                    <a:solidFill>
                      <a:srgbClr val="C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𝐼𝑚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1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1" i="1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𝓗</m:t>
                                </m:r>
                              </m:e>
                              <m:sub>
                                <m:r>
                                  <a:rPr lang="fr-FR" b="1" i="1" smtClean="0">
                                    <a:solidFill>
                                      <a:srgbClr val="0099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  <m:r>
                              <a:rPr lang="fr-FR" i="1" smtClean="0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oMath>
                    </m:oMathPara>
                  </a14:m>
                  <a:endParaRPr lang="fr-FR" dirty="0">
                    <a:latin typeface="Cambria" panose="02040503050406030204" pitchFamily="18" charset="0"/>
                    <a:ea typeface="Cambria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83A25510-22CC-21B6-186D-7DA2C7013C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4687" y="3169743"/>
                  <a:ext cx="1523999" cy="55739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93" name="ZoneTexte 8192">
              <a:extLst>
                <a:ext uri="{FF2B5EF4-FFF2-40B4-BE49-F238E27FC236}">
                  <a16:creationId xmlns:a16="http://schemas.microsoft.com/office/drawing/2014/main" id="{D4C4A268-1EF7-C419-FEE3-71C4799E4307}"/>
                </a:ext>
              </a:extLst>
            </p:cNvPr>
            <p:cNvSpPr txBox="1"/>
            <p:nvPr/>
          </p:nvSpPr>
          <p:spPr>
            <a:xfrm>
              <a:off x="7204686" y="1702268"/>
              <a:ext cx="14583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C0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Proton</a:t>
              </a:r>
              <a:r>
                <a:rPr lang="fr-FR" dirty="0">
                  <a:latin typeface="Cambria" panose="02040503050406030204" pitchFamily="18" charset="0"/>
                  <a:ea typeface="Cambria" panose="02040503050406030204" pitchFamily="18" charset="0"/>
                </a:rPr>
                <a:t>  </a:t>
              </a:r>
              <a:r>
                <a:rPr lang="fr-FR" dirty="0">
                  <a:solidFill>
                    <a:srgbClr val="0099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Neutron</a:t>
              </a:r>
            </a:p>
          </p:txBody>
        </p:sp>
        <p:cxnSp>
          <p:nvCxnSpPr>
            <p:cNvPr id="8196" name="Connecteur droit 8195">
              <a:extLst>
                <a:ext uri="{FF2B5EF4-FFF2-40B4-BE49-F238E27FC236}">
                  <a16:creationId xmlns:a16="http://schemas.microsoft.com/office/drawing/2014/main" id="{5E8FADBB-185C-68D3-0237-9EC44891B5FE}"/>
                </a:ext>
              </a:extLst>
            </p:cNvPr>
            <p:cNvCxnSpPr>
              <a:cxnSpLocks/>
            </p:cNvCxnSpPr>
            <p:nvPr/>
          </p:nvCxnSpPr>
          <p:spPr>
            <a:xfrm>
              <a:off x="7204686" y="2010045"/>
              <a:ext cx="1458302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06" name="Connecteur droit avec flèche 8205">
              <a:extLst>
                <a:ext uri="{FF2B5EF4-FFF2-40B4-BE49-F238E27FC236}">
                  <a16:creationId xmlns:a16="http://schemas.microsoft.com/office/drawing/2014/main" id="{7BCCF18C-DC98-EA0C-2391-23D59B5CE6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3711" y="2916338"/>
              <a:ext cx="542065" cy="1"/>
            </a:xfrm>
            <a:prstGeom prst="straightConnector1">
              <a:avLst/>
            </a:prstGeom>
            <a:ln w="12700">
              <a:solidFill>
                <a:schemeClr val="bg1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07" name="Connecteur droit avec flèche 8206">
              <a:extLst>
                <a:ext uri="{FF2B5EF4-FFF2-40B4-BE49-F238E27FC236}">
                  <a16:creationId xmlns:a16="http://schemas.microsoft.com/office/drawing/2014/main" id="{098DC587-23A9-6B6E-4F52-B403AF66EC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3711" y="3449253"/>
              <a:ext cx="542065" cy="1"/>
            </a:xfrm>
            <a:prstGeom prst="straightConnector1">
              <a:avLst/>
            </a:prstGeom>
            <a:ln w="12700">
              <a:solidFill>
                <a:schemeClr val="bg1">
                  <a:lumMod val="2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7245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9FF4A2-21AF-3E38-7495-CED84A90D8D6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Différentes observables pour le DVCS​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90D71AF-93B5-23D3-A541-35E3A3D3718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11</a:t>
            </a:fld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A3775A-3379-B73F-E171-C29935522AC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532098" y="2349893"/>
            <a:ext cx="1411487" cy="3588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7">
                <a:extLst>
                  <a:ext uri="{FF2B5EF4-FFF2-40B4-BE49-F238E27FC236}">
                    <a16:creationId xmlns:a16="http://schemas.microsoft.com/office/drawing/2014/main" id="{573898AA-F177-D169-3C74-68484F520ED7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0" y="2406458"/>
                <a:ext cx="9087582" cy="2063835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Partie réelle et imaginaire de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𝓗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t</m:t>
                    </m:r>
                    <m:r>
                      <a:rPr lang="fr-FR" sz="14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fr-FR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accPr>
                      <m:e>
                        <m:r>
                          <a:rPr lang="fr-FR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𝓗</m:t>
                        </m:r>
                      </m:e>
                    </m:acc>
                    <m:r>
                      <a:rPr lang="fr-FR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connues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le proton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(grâce aux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cibles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proton non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polarisé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polarisé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longitudinalement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).  </a:t>
                </a:r>
              </a:p>
              <a:p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Cas du neutron</a:t>
                </a:r>
                <a14:m>
                  <m:oMath xmlns:m="http://schemas.openxmlformats.org/officeDocument/2006/math">
                    <m:r>
                      <a:rPr lang="fr-FR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</m:t>
                    </m:r>
                    <m: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fr-FR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accPr>
                      <m:e>
                        <m:r>
                          <a:rPr lang="fr-FR" sz="14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𝓗</m:t>
                        </m:r>
                      </m:e>
                    </m:acc>
                  </m:oMath>
                </a14:m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est supprimé, car les PDF polarisés des quarks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𝑢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𝑑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sont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opposés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∆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𝑢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+ 2∆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𝑑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≈ 0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).</a:t>
                </a:r>
              </a:p>
              <a:p>
                <a:r>
                  <a:rPr lang="fr-FR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Principale contribution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à BSA avec une cible de neutrons →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𝐼𝑚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(</m:t>
                    </m:r>
                    <m:r>
                      <a:rPr lang="en-US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𝓔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c-à-d la GPD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long de la ligne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𝑥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=±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𝜉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Avec les GPD du proton et du neutron, nous pouvons :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Mesurer à la fois</a:t>
                </a:r>
                <a14:m>
                  <m:oMath xmlns:m="http://schemas.openxmlformats.org/officeDocument/2006/math">
                    <m: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𝐻</m:t>
                        </m:r>
                      </m:e>
                      <m:sub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𝐻</m:t>
                        </m:r>
                      </m:e>
                      <m:sub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permettre la séparation des saveurs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Règle de la somme de Ji qui relie le moment angulaire porté par un quark aux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GPD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𝐻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au spin du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nucléon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</p:txBody>
          </p:sp>
        </mc:Choice>
        <mc:Fallback>
          <p:sp>
            <p:nvSpPr>
              <p:cNvPr id="9" name="ZoneTexte 7">
                <a:extLst>
                  <a:ext uri="{FF2B5EF4-FFF2-40B4-BE49-F238E27FC236}">
                    <a16:creationId xmlns:a16="http://schemas.microsoft.com/office/drawing/2014/main" id="{573898AA-F177-D169-3C74-68484F520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0" y="2406458"/>
                <a:ext cx="9087582" cy="2063835"/>
              </a:xfrm>
              <a:prstGeom prst="rect">
                <a:avLst/>
              </a:prstGeom>
              <a:blipFill>
                <a:blip r:embed="rId19"/>
                <a:stretch>
                  <a:fillRect l="-201" t="-296" b="-20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3122EF8D-0DB4-258C-AE61-C59AF622553E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28114" y="1148278"/>
                <a:ext cx="360000" cy="360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smtClean="0">
                              <a:ln w="3175"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n w="3175"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fr-FR" b="0" i="1" smtClean="0">
                              <a:ln w="3175"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FR" b="0" i="1" smtClean="0">
                              <a:ln w="3175"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fr-FR" dirty="0">
                  <a:ln w="3175">
                    <a:solidFill>
                      <a:schemeClr val="tx1"/>
                    </a:solidFill>
                  </a:ln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3122EF8D-0DB4-258C-AE61-C59AF62255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728114" y="1148278"/>
                <a:ext cx="360000" cy="360000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9525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Ellipse 18">
            <a:extLst>
              <a:ext uri="{FF2B5EF4-FFF2-40B4-BE49-F238E27FC236}">
                <a16:creationId xmlns:a16="http://schemas.microsoft.com/office/drawing/2014/main" id="{DACAB201-4A1B-AB67-E30D-FE3E00F8DE9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207175" y="1148278"/>
            <a:ext cx="360000" cy="360000"/>
          </a:xfrm>
          <a:prstGeom prst="ellipse">
            <a:avLst/>
          </a:prstGeom>
          <a:solidFill>
            <a:srgbClr val="FFCFCF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just"/>
            <a:endParaRPr lang="fr-FR" sz="1200" dirty="0">
              <a:ln w="3175">
                <a:solidFill>
                  <a:schemeClr val="tx1"/>
                </a:solidFill>
              </a:ln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6F7C67F5-FB9A-25E3-784D-99396FAA1334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088114" y="1148278"/>
                <a:ext cx="6000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fr-F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6F7C67F5-FB9A-25E3-784D-99396FAA1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1088114" y="1148278"/>
                <a:ext cx="600075" cy="307777"/>
              </a:xfrm>
              <a:prstGeom prst="rect">
                <a:avLst/>
              </a:prstGeom>
              <a:blipFill>
                <a:blip r:embed="rId21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892BA61F-19EE-1B78-4376-2D0F904F782F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728114" y="1102975"/>
            <a:ext cx="360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27374554-1E60-EC8A-BA9C-2DC8A57CBE05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647805" y="1117628"/>
                <a:ext cx="4559040" cy="369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60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sz="160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600" i="1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𝐿𝑈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∼</m:t>
                      </m:r>
                      <m:func>
                        <m:funcPr>
                          <m:ctrlPr>
                            <a:rPr lang="fr-FR" sz="16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 b="0" i="0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6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fr-FR" sz="16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𝐼𝑚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sz="16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6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𝓗</m:t>
                              </m:r>
                              <m:r>
                                <a:rPr lang="fr-FR" sz="16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6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  <m:d>
                                <m:dPr>
                                  <m:ctrlPr>
                                    <a:rPr lang="fr-FR" sz="16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sz="16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6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fr-FR" sz="16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sz="1600" b="0" i="1" smtClean="0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fr-FR" sz="16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600" i="1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fr-FR" sz="1600" b="0" i="1" smtClean="0">
                                          <a:solidFill>
                                            <a:schemeClr val="bg1">
                                              <a:lumMod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acc>
                                <m:accPr>
                                  <m:chr m:val="̃"/>
                                  <m:ctrlPr>
                                    <a:rPr lang="fr-FR" sz="16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𝓗</m:t>
                                  </m:r>
                                </m:e>
                              </m:acc>
                              <m:r>
                                <a:rPr lang="fr-FR" sz="16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1600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chemeClr val="bg1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6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𝓔</m:t>
                              </m:r>
                            </m:e>
                          </m:d>
                          <m:r>
                            <a:rPr lang="fr-FR" sz="1600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600" i="1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</m:oMath>
                  </m:oMathPara>
                </a14:m>
                <a:endParaRPr lang="fr-FR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27374554-1E60-EC8A-BA9C-2DC8A57CB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1647805" y="1117628"/>
                <a:ext cx="4559040" cy="369075"/>
              </a:xfrm>
              <a:prstGeom prst="rect">
                <a:avLst/>
              </a:prstGeom>
              <a:blipFill>
                <a:blip r:embed="rId2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EE8B0BC9-CBD8-398F-D002-DD0F8654CD66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829540" y="1121000"/>
                <a:ext cx="1523999" cy="369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𝐼𝑚</m:t>
                      </m:r>
                      <m:d>
                        <m:dPr>
                          <m:begChr m:val="{"/>
                          <m:endChr m:val="}"/>
                          <m:ctrlPr>
                            <a:rPr lang="fr-FR" sz="1600" b="0" i="1" smtClean="0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ℋ</m:t>
                              </m:r>
                            </m:e>
                            <m:sub>
                              <m:r>
                                <a:rPr lang="fr-FR" sz="1600" b="0" i="1" smtClean="0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600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fr-FR" sz="1600" i="1">
                                      <a:solidFill>
                                        <a:srgbClr val="0099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>
                                      <a:solidFill>
                                        <a:srgbClr val="0099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ℋ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 b="0" i="1" smtClean="0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600" i="1">
                              <a:solidFill>
                                <a:srgbClr val="0099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fr-FR" sz="1600" b="1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𝓔</m:t>
                              </m:r>
                            </m:e>
                            <m:sub>
                              <m:r>
                                <a:rPr lang="fr-FR" sz="1600" b="1" i="1" smtClean="0">
                                  <a:solidFill>
                                    <a:srgbClr val="0099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1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EE8B0BC9-CBD8-398F-D002-DD0F8654C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6829540" y="1121000"/>
                <a:ext cx="1523999" cy="36907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9A3B8E00-AFF7-24D1-393C-A1D87DA83547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 flipV="1">
            <a:off x="6239303" y="1304639"/>
            <a:ext cx="542065" cy="1"/>
          </a:xfrm>
          <a:prstGeom prst="straightConnector1">
            <a:avLst/>
          </a:prstGeom>
          <a:ln w="19050">
            <a:solidFill>
              <a:schemeClr val="bg1">
                <a:lumMod val="2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9C4091B4-418E-7CAF-4ACE-DD78CD6D5B01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785096" y="1763147"/>
                <a:ext cx="1871683" cy="276999"/>
              </a:xfrm>
              <a:prstGeom prst="rect">
                <a:avLst/>
              </a:prstGeom>
              <a:noFill/>
              <a:ln>
                <a:solidFill>
                  <a:schemeClr val="bg1">
                    <a:lumMod val="2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Supprimer car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est petit</a:t>
                </a:r>
              </a:p>
            </p:txBody>
          </p:sp>
        </mc:Choice>
        <mc:Fallback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9C4091B4-418E-7CAF-4ACE-DD78CD6D5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1785096" y="1763147"/>
                <a:ext cx="1871683" cy="276999"/>
              </a:xfrm>
              <a:prstGeom prst="rect">
                <a:avLst/>
              </a:prstGeom>
              <a:blipFill>
                <a:blip r:embed="rId24"/>
                <a:stretch>
                  <a:fillRect b="-12500"/>
                </a:stretch>
              </a:blipFill>
              <a:ln>
                <a:solidFill>
                  <a:schemeClr val="bg1">
                    <a:lumMod val="25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83A2C86C-2362-1F3F-7CF6-A34FB598BD29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48654" y="1625318"/>
                <a:ext cx="2061735" cy="461665"/>
              </a:xfrm>
              <a:prstGeom prst="rect">
                <a:avLst/>
              </a:prstGeom>
              <a:noFill/>
              <a:ln>
                <a:solidFill>
                  <a:schemeClr val="bg1">
                    <a:lumMod val="2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Supprimer car les PDF des quarks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fr-FR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sont opposées</a:t>
                </a:r>
              </a:p>
            </p:txBody>
          </p:sp>
        </mc:Choice>
        <mc:Fallback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83A2C86C-2362-1F3F-7CF6-A34FB598B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4848654" y="1625318"/>
                <a:ext cx="2061735" cy="461665"/>
              </a:xfrm>
              <a:prstGeom prst="rect">
                <a:avLst/>
              </a:prstGeom>
              <a:blipFill>
                <a:blip r:embed="rId25"/>
                <a:stretch>
                  <a:fillRect b="-9091"/>
                </a:stretch>
              </a:blipFill>
              <a:ln>
                <a:solidFill>
                  <a:schemeClr val="bg1">
                    <a:lumMod val="25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5DA57A3A-78D5-F08E-1E49-32DF1D3C8714}"/>
              </a:ext>
            </a:extLst>
          </p:cNvPr>
          <p:cNvCxnSpPr>
            <a:cxnSpLocks/>
            <a:stCxn id="25" idx="0"/>
          </p:cNvCxnSpPr>
          <p:nvPr>
            <p:custDataLst>
              <p:tags r:id="rId14"/>
            </p:custDataLst>
          </p:nvPr>
        </p:nvCxnSpPr>
        <p:spPr>
          <a:xfrm flipV="1">
            <a:off x="2720938" y="1448864"/>
            <a:ext cx="733532" cy="314283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40C8E092-0FC0-D669-B6B5-06E7FBDE355A}"/>
              </a:ext>
            </a:extLst>
          </p:cNvPr>
          <p:cNvCxnSpPr>
            <a:cxnSpLocks/>
            <a:stCxn id="26" idx="0"/>
          </p:cNvCxnSpPr>
          <p:nvPr>
            <p:custDataLst>
              <p:tags r:id="rId15"/>
            </p:custDataLst>
          </p:nvPr>
        </p:nvCxnSpPr>
        <p:spPr>
          <a:xfrm flipH="1" flipV="1">
            <a:off x="4527603" y="1448864"/>
            <a:ext cx="1351919" cy="176454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5" descr="Une image contenant Police, ligne, texte, typographie&#10;&#10;Description générée automatiquement">
            <a:extLst>
              <a:ext uri="{FF2B5EF4-FFF2-40B4-BE49-F238E27FC236}">
                <a16:creationId xmlns:a16="http://schemas.microsoft.com/office/drawing/2014/main" id="{A3B78273-9A74-8B7F-75D8-791CFBFE213D}"/>
              </a:ext>
            </a:extLst>
          </p:cNvPr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698" y="4470293"/>
            <a:ext cx="4564164" cy="505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D7B3891-7E8B-FD9D-288C-6638CEE7A2FD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324599" y="4552950"/>
            <a:ext cx="338137" cy="37147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8493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4E2FF8-2A70-6632-D321-EE0F80F4E4C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 err="1"/>
              <a:t>Flavor</a:t>
            </a:r>
            <a:r>
              <a:rPr lang="fr-FR" noProof="0" dirty="0"/>
              <a:t> </a:t>
            </a:r>
            <a:r>
              <a:rPr lang="fr-FR" noProof="0" dirty="0" err="1"/>
              <a:t>separation</a:t>
            </a:r>
            <a:r>
              <a:rPr lang="fr-FR" noProof="0" dirty="0"/>
              <a:t> ​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EE61580-CBC6-0841-B14A-2FE1674C099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12</a:t>
            </a:fld>
            <a:endParaRPr lang="fr-FR" dirty="0"/>
          </a:p>
        </p:txBody>
      </p:sp>
      <p:pic>
        <p:nvPicPr>
          <p:cNvPr id="10242" name="Picture 2" descr="Une image contenant texte, diagramme, capture d’écran, ligne&#10;&#10;Description générée automatiquement">
            <a:extLst>
              <a:ext uri="{FF2B5EF4-FFF2-40B4-BE49-F238E27FC236}">
                <a16:creationId xmlns:a16="http://schemas.microsoft.com/office/drawing/2014/main" id="{2909D031-1DAF-6AEA-43D8-7D2A83CBCA79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54"/>
          <a:stretch/>
        </p:blipFill>
        <p:spPr bwMode="auto">
          <a:xfrm>
            <a:off x="4733120" y="2337223"/>
            <a:ext cx="3551055" cy="2313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Une image contenant texte, diagramme, capture d’écran, ligne&#10;&#10;Description générée automatiquement">
            <a:extLst>
              <a:ext uri="{FF2B5EF4-FFF2-40B4-BE49-F238E27FC236}">
                <a16:creationId xmlns:a16="http://schemas.microsoft.com/office/drawing/2014/main" id="{6EEAAE93-D08B-680F-AEAD-0A38CFF2A6DB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4" r="53545"/>
          <a:stretch/>
        </p:blipFill>
        <p:spPr bwMode="auto">
          <a:xfrm>
            <a:off x="374945" y="2336126"/>
            <a:ext cx="3293525" cy="231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12">
                <a:extLst>
                  <a:ext uri="{FF2B5EF4-FFF2-40B4-BE49-F238E27FC236}">
                    <a16:creationId xmlns:a16="http://schemas.microsoft.com/office/drawing/2014/main" id="{FBE3DDAC-0BFD-A066-AD7A-FC8AD3B9F6F2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5173" y="833521"/>
                <a:ext cx="7596391" cy="1077218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Measuring neutron GPDs is also necessary to attempt a quark-flavor separation of GPDs. </a:t>
                </a:r>
              </a:p>
              <a:p>
                <a:r>
                  <a:rPr lang="en-US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Previous attempt at flavor separation by Marija </a:t>
                </a:r>
                <a:r>
                  <a:rPr lang="en-US" sz="16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Cuic</a:t>
                </a:r>
                <a:r>
                  <a:rPr lang="en-US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and </a:t>
                </a:r>
                <a:r>
                  <a:rPr lang="en-US" sz="16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Kreseimir</a:t>
                </a:r>
                <a:r>
                  <a:rPr lang="en-US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6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Kumericki</a:t>
                </a:r>
                <a:endParaRPr lang="en-US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en-US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 fact, the GPD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𝐻</m:t>
                    </m:r>
                  </m:oMath>
                </a14:m>
                <a:r>
                  <a:rPr lang="en-US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can be decomposed for the proton and neutron:</a:t>
                </a:r>
              </a:p>
            </p:txBody>
          </p:sp>
        </mc:Choice>
        <mc:Fallback>
          <p:sp>
            <p:nvSpPr>
              <p:cNvPr id="5" name="ZoneTexte 12">
                <a:extLst>
                  <a:ext uri="{FF2B5EF4-FFF2-40B4-BE49-F238E27FC236}">
                    <a16:creationId xmlns:a16="http://schemas.microsoft.com/office/drawing/2014/main" id="{FBE3DDAC-0BFD-A066-AD7A-FC8AD3B9F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65173" y="833521"/>
                <a:ext cx="7596391" cy="1077218"/>
              </a:xfrm>
              <a:prstGeom prst="rect">
                <a:avLst/>
              </a:prstGeom>
              <a:blipFill>
                <a:blip r:embed="rId13"/>
                <a:stretch>
                  <a:fillRect l="-482" t="-2273" b="-625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 8">
            <a:extLst>
              <a:ext uri="{FF2B5EF4-FFF2-40B4-BE49-F238E27FC236}">
                <a16:creationId xmlns:a16="http://schemas.microsoft.com/office/drawing/2014/main" id="{83F73983-86A5-4AE6-6BC4-91CFFEF2F4D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970587" y="1737550"/>
            <a:ext cx="2280651" cy="59967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516F4E0-F149-EFB3-DB40-FD3DAD625B5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354224" y="1717523"/>
            <a:ext cx="2280651" cy="6149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0">
                <a:extLst>
                  <a:ext uri="{FF2B5EF4-FFF2-40B4-BE49-F238E27FC236}">
                    <a16:creationId xmlns:a16="http://schemas.microsoft.com/office/drawing/2014/main" id="{4C02E72B-54AB-A7E6-1868-DDC521706B4F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00504" y="4650924"/>
                <a:ext cx="4310377" cy="307777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𝑢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𝑑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contributions for CFF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𝐻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are well separated</a:t>
                </a:r>
              </a:p>
            </p:txBody>
          </p:sp>
        </mc:Choice>
        <mc:Fallback>
          <p:sp>
            <p:nvSpPr>
              <p:cNvPr id="12" name="ZoneTexte 10">
                <a:extLst>
                  <a:ext uri="{FF2B5EF4-FFF2-40B4-BE49-F238E27FC236}">
                    <a16:creationId xmlns:a16="http://schemas.microsoft.com/office/drawing/2014/main" id="{4C02E72B-54AB-A7E6-1868-DDC521706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100504" y="4650924"/>
                <a:ext cx="4310377" cy="307777"/>
              </a:xfrm>
              <a:prstGeom prst="rect">
                <a:avLst/>
              </a:prstGeom>
              <a:blipFill>
                <a:blip r:embed="rId16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ZoneTexte 13">
            <a:extLst>
              <a:ext uri="{FF2B5EF4-FFF2-40B4-BE49-F238E27FC236}">
                <a16:creationId xmlns:a16="http://schemas.microsoft.com/office/drawing/2014/main" id="{006CAAFF-555B-2D12-CD14-28F4774FF58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8129589" y="762985"/>
            <a:ext cx="10048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arxiv</a:t>
            </a:r>
            <a:r>
              <a:rPr lang="en-US" sz="800" dirty="0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/2007.00029</a:t>
            </a:r>
            <a:endParaRPr lang="fr-FR" sz="800" dirty="0">
              <a:solidFill>
                <a:srgbClr val="2A52B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ZoneTexte 11">
                <a:extLst>
                  <a:ext uri="{FF2B5EF4-FFF2-40B4-BE49-F238E27FC236}">
                    <a16:creationId xmlns:a16="http://schemas.microsoft.com/office/drawing/2014/main" id="{8150CA39-F764-F677-48D3-88DC6ECFE754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4733120" y="4620280"/>
                <a:ext cx="4072909" cy="523220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𝑢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𝑑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contributions for CFF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cannot be separated with the actuals data</a:t>
                </a:r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15" name="ZoneTexte 11">
                <a:extLst>
                  <a:ext uri="{FF2B5EF4-FFF2-40B4-BE49-F238E27FC236}">
                    <a16:creationId xmlns:a16="http://schemas.microsoft.com/office/drawing/2014/main" id="{8150CA39-F764-F677-48D3-88DC6ECFE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4733120" y="4620280"/>
                <a:ext cx="4072909" cy="523220"/>
              </a:xfrm>
              <a:prstGeom prst="rect">
                <a:avLst/>
              </a:prstGeom>
              <a:blipFill>
                <a:blip r:embed="rId17"/>
                <a:stretch>
                  <a:fillRect l="-448" t="-3488" b="-93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3709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 descr="Une image contenant diagramme, ligne, cercle, croquis&#10;&#10;Description générée automatiquement">
            <a:extLst>
              <a:ext uri="{FF2B5EF4-FFF2-40B4-BE49-F238E27FC236}">
                <a16:creationId xmlns:a16="http://schemas.microsoft.com/office/drawing/2014/main" id="{D1A416EC-B0CF-ECA5-CFCF-F11F0470DCC1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" t="5864" r="-32" b="3556"/>
          <a:stretch/>
        </p:blipFill>
        <p:spPr bwMode="auto">
          <a:xfrm>
            <a:off x="5386389" y="777440"/>
            <a:ext cx="3692524" cy="2037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2065F51-B268-9474-E66B-D020063D657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/>
              <a:t>DVCS sur une cible de </a:t>
            </a:r>
            <a:r>
              <a:rPr lang="fr-FR" noProof="0" dirty="0" err="1"/>
              <a:t>deuterium</a:t>
            </a:r>
            <a:r>
              <a:rPr lang="fr-FR" noProof="0" dirty="0"/>
              <a:t>​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E7F8ADB-9E10-810A-8FB7-292913454EE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13</a:t>
            </a:fld>
            <a:endParaRPr lang="fr-FR" dirty="0"/>
          </a:p>
        </p:txBody>
      </p:sp>
      <p:sp>
        <p:nvSpPr>
          <p:cNvPr id="6" name="ZoneTexte 13">
            <a:extLst>
              <a:ext uri="{FF2B5EF4-FFF2-40B4-BE49-F238E27FC236}">
                <a16:creationId xmlns:a16="http://schemas.microsoft.com/office/drawing/2014/main" id="{9CB40A91-9C58-C72D-E6A2-0916AB41ECC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0" y="770068"/>
            <a:ext cx="5834065" cy="19389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Comment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mesurer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le </a:t>
            </a:r>
            <a:r>
              <a:rPr lang="en-US" sz="1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DVCS sur neutron </a:t>
            </a:r>
            <a:r>
              <a:rPr lang="en-US" sz="1400" b="1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Il n'y a pas de cible de neutrons libres. Nous n’avons accès qu’à des neutrons dans un noyau. Le plus simple est le deutérium.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Inconvénients : effets de liaison nucléaire, impulsion de Fermi et interactions avec l'état final.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endParaRPr lang="en-US" sz="1200" dirty="0"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r>
              <a:rPr lang="en-US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Quatre types 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de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mesures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possibles </a:t>
            </a:r>
            <a:r>
              <a:rPr lang="en-US" sz="1400" b="1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: </a:t>
            </a:r>
          </a:p>
        </p:txBody>
      </p:sp>
      <p:pic>
        <p:nvPicPr>
          <p:cNvPr id="11266" name="Picture 2" descr="Une image contenant Police, écriture manuscrite, typographie, ligne&#10;&#10;Description générée automatiquement">
            <a:extLst>
              <a:ext uri="{FF2B5EF4-FFF2-40B4-BE49-F238E27FC236}">
                <a16:creationId xmlns:a16="http://schemas.microsoft.com/office/drawing/2014/main" id="{F48DEE98-2320-824A-63CB-55E1C00E20AC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144" y="1928814"/>
            <a:ext cx="3604931" cy="45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F1C04AF-D3DF-3A8C-4241-5B19EFDFC12E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640578263"/>
              </p:ext>
            </p:extLst>
          </p:nvPr>
        </p:nvGraphicFramePr>
        <p:xfrm>
          <a:off x="133956" y="2839453"/>
          <a:ext cx="8653462" cy="2184885"/>
        </p:xfrm>
        <a:graphic>
          <a:graphicData uri="http://schemas.openxmlformats.org/drawingml/2006/table">
            <a:tbl>
              <a:tblPr firstRow="1" bandRow="1">
                <a:tableStyleId>{6585E783-F12D-4EF7-BC51-4BD9C3BC9F5A}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813274244"/>
                    </a:ext>
                  </a:extLst>
                </a:gridCol>
                <a:gridCol w="1533526">
                  <a:extLst>
                    <a:ext uri="{9D8B030D-6E8A-4147-A177-3AD203B41FA5}">
                      <a16:colId xmlns:a16="http://schemas.microsoft.com/office/drawing/2014/main" val="4158179708"/>
                    </a:ext>
                  </a:extLst>
                </a:gridCol>
                <a:gridCol w="2224087">
                  <a:extLst>
                    <a:ext uri="{9D8B030D-6E8A-4147-A177-3AD203B41FA5}">
                      <a16:colId xmlns:a16="http://schemas.microsoft.com/office/drawing/2014/main" val="1234474822"/>
                    </a:ext>
                  </a:extLst>
                </a:gridCol>
                <a:gridCol w="1671637">
                  <a:extLst>
                    <a:ext uri="{9D8B030D-6E8A-4147-A177-3AD203B41FA5}">
                      <a16:colId xmlns:a16="http://schemas.microsoft.com/office/drawing/2014/main" val="481203918"/>
                    </a:ext>
                  </a:extLst>
                </a:gridCol>
                <a:gridCol w="2005012">
                  <a:extLst>
                    <a:ext uri="{9D8B030D-6E8A-4147-A177-3AD203B41FA5}">
                      <a16:colId xmlns:a16="http://schemas.microsoft.com/office/drawing/2014/main" val="9724144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Ne pas détecter les deux et effectué une soustraction</a:t>
                      </a:r>
                      <a:endParaRPr lang="fr-FR" sz="1200" b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Ne pas détecter le proton spectateur</a:t>
                      </a:r>
                      <a:r>
                        <a:rPr lang="fr-FR" sz="120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 </a:t>
                      </a:r>
                      <a:r>
                        <a:rPr lang="fr-FR" sz="110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(analyse RG-B de A. Hobart en cours de révision)</a:t>
                      </a:r>
                      <a:endParaRPr lang="en-US" sz="12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1" i="1" dirty="0">
                          <a:solidFill>
                            <a:srgbClr val="0070C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Ne pas détecter le neutron actif </a:t>
                      </a:r>
                      <a:r>
                        <a:rPr lang="fr-FR" sz="1200" b="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(ce travail) </a:t>
                      </a:r>
                      <a:endParaRPr lang="fr-FR" sz="1200" b="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Détecter toutes les particules de l'état final</a:t>
                      </a:r>
                      <a:endParaRPr lang="fr-FR" sz="1200" b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838304"/>
                  </a:ext>
                </a:extLst>
              </a:tr>
              <a:tr h="615165">
                <a:tc>
                  <a:txBody>
                    <a:bodyPr/>
                    <a:lstStyle/>
                    <a:p>
                      <a:r>
                        <a:rPr lang="fr-FR" sz="1200" b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Avantages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Seulement 2 particules à détecter </a:t>
                      </a:r>
                      <a:endParaRPr lang="fr-FR" sz="11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fr-FR" sz="11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Une seule énergie, la majeure partie de l'énergie est mesurée, seules 3 particules sont détectées. </a:t>
                      </a:r>
                      <a:endParaRPr lang="fr-FR" sz="11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Pas de neutron à détecter, contrôle de l'état initial.</a:t>
                      </a:r>
                      <a:endParaRPr lang="fr-FR" sz="11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État final bien défini (sûr d'avoir du </a:t>
                      </a:r>
                      <a:r>
                        <a:rPr lang="fr-FR" sz="1100" dirty="0" err="1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nDVCS</a:t>
                      </a:r>
                      <a:r>
                        <a:rPr lang="fr-FR" sz="110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), sélection de l'événement </a:t>
                      </a:r>
                      <a:endParaRPr lang="fr-FR" sz="11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819345"/>
                  </a:ext>
                </a:extLst>
              </a:tr>
              <a:tr h="911860">
                <a:tc>
                  <a:txBody>
                    <a:bodyPr/>
                    <a:lstStyle/>
                    <a:p>
                      <a:r>
                        <a:rPr lang="fr-FR" sz="1200" b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Inconvénients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État initial inconnu, mélange d-DVCS/n-DVCS.</a:t>
                      </a:r>
                      <a:endParaRPr lang="fr-FR" sz="11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État initial mal connu (modèle de l'effet nucléaire)</a:t>
                      </a:r>
                      <a:endParaRPr lang="fr-FR" sz="11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Manque une partie importante d'énergie, plus difficile de sélectionner l'événement DVCS</a:t>
                      </a:r>
                      <a:endParaRPr lang="fr-FR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Libertinus Serif" pitchFamily="50" charset="0"/>
                        </a:rPr>
                        <a:t>Nécessité de détecter 4 particules, l'efficacité de détection des neutrons est faible, le proton spectateur est à l'échelle du MeV</a:t>
                      </a:r>
                      <a:endParaRPr lang="fr-FR" sz="11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535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5304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34FFCC-71D0-0B70-003F-49E2940DBF1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DVCS sur une cible de </a:t>
            </a:r>
            <a:r>
              <a:rPr lang="fr-FR" noProof="0" dirty="0" err="1"/>
              <a:t>deuterium</a:t>
            </a:r>
            <a:r>
              <a:rPr lang="fr-FR" noProof="0" dirty="0"/>
              <a:t>​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CE712BF-0105-D9EF-544D-18A310E4B37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14</a:t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05136FBC-9D29-ED6F-9520-EA3FCD36FEB3}"/>
                  </a:ext>
                </a:extLst>
              </p:cNvPr>
              <p:cNvSpPr>
                <a:spLocks noGrp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1" y="782967"/>
                <a:ext cx="4477880" cy="1435026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E03-106 : Expérience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exploratoire sur le n-DVCS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 (</a:t>
                </a:r>
                <a:r>
                  <a:rPr lang="fr-FR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Jlab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Hall A @ 6 </a:t>
                </a:r>
                <a:r>
                  <a:rPr lang="fr-FR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GeV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). La cible de LD2.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Pas de détection de neutrons : </a:t>
                </a:r>
                <a14:m>
                  <m:oMath xmlns:m="http://schemas.openxmlformats.org/officeDocument/2006/math">
                    <m:r>
                      <a:rPr lang="fr-FR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𝑒𝑑</m:t>
                    </m:r>
                    <m:r>
                      <a:rPr lang="fr-FR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→</m:t>
                    </m:r>
                    <m:r>
                      <a:rPr lang="fr-FR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𝑒</m:t>
                    </m:r>
                    <m:r>
                      <a:rPr lang="fr-FR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𝛾</m:t>
                    </m:r>
                    <m:d>
                      <m:dPr>
                        <m:ctrlPr>
                          <a:rPr lang="fr-FR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dPr>
                      <m:e>
                        <m:r>
                          <a:rPr lang="fr-FR" sz="1400" i="1" dirty="0" err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𝑛𝑝</m:t>
                        </m:r>
                      </m:e>
                    </m:d>
                  </m:oMath>
                </a14:m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Libertinus Serif" pitchFamily="50" charset="0"/>
                    <a:cs typeface="Libertinus Serif" pitchFamily="50" charset="0"/>
                  </a:rPr>
                  <a:t>,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Libertinus Serif" pitchFamily="50" charset="0"/>
                    <a:cs typeface="Libertinus Serif" pitchFamily="50" charset="0"/>
                  </a:rPr>
                  <a:t>S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ections efficaces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obtenues après :</a:t>
                </a:r>
              </a:p>
              <a:p>
                <a:pPr marL="144000" indent="-144000">
                  <a:spcBef>
                    <a:spcPts val="0"/>
                  </a:spcBef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Soustraction de la contribution incohérente</a:t>
                </a:r>
                <a14:m>
                  <m:oMath xmlns:m="http://schemas.openxmlformats.org/officeDocument/2006/math">
                    <m: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fr-FR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𝒑</m:t>
                    </m:r>
                    <m:d>
                      <m:dPr>
                        <m:ctrlPr>
                          <a:rPr lang="fr-FR" sz="1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dPr>
                      <m:e>
                        <m:r>
                          <a:rPr lang="fr-FR" sz="1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𝒆</m:t>
                        </m:r>
                        <m:r>
                          <a:rPr lang="fr-FR" sz="1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, </m:t>
                        </m:r>
                        <m:sSup>
                          <m:sSupPr>
                            <m:ctrlPr>
                              <a:rPr lang="fr-FR" sz="12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</m:ctrlPr>
                          </m:sSupPr>
                          <m:e>
                            <m:r>
                              <a:rPr lang="fr-FR" sz="12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fr-FR" sz="12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  <m:t>′</m:t>
                            </m:r>
                          </m:sup>
                        </m:sSup>
                        <m:r>
                          <a:rPr lang="el-G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𝜸</m:t>
                        </m:r>
                      </m:e>
                    </m:d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𝒑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</m:oMath>
                </a14:m>
                <a:endParaRPr lang="fr-FR" sz="1200" b="1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Libertinus Serif" pitchFamily="50" charset="0"/>
                  <a:cs typeface="Libertinus Serif" pitchFamily="50" charset="0"/>
                </a:endParaRPr>
              </a:p>
              <a:p>
                <a:pPr marL="144000" indent="-144000">
                  <a:spcBef>
                    <a:spcPts val="0"/>
                  </a:spcBef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Séparation des contributions</a:t>
                </a:r>
                <a14:m>
                  <m:oMath xmlns:m="http://schemas.openxmlformats.org/officeDocument/2006/math">
                    <m: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𝒅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(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 </m:t>
                    </m:r>
                    <m:r>
                      <a:rPr lang="en-US" sz="12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r>
                      <a:rPr lang="en-US" sz="12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′</m:t>
                    </m:r>
                    <m:r>
                      <a:rPr lang="en-US" sz="12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𝜸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)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𝒅</m:t>
                    </m:r>
                  </m:oMath>
                </a14:m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et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𝒏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(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 </m:t>
                    </m:r>
                    <m:r>
                      <a:rPr lang="en-US" sz="12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r>
                      <a:rPr lang="en-US" sz="12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′</m:t>
                    </m:r>
                    <m:r>
                      <a:rPr lang="en-US" sz="1200" b="1" i="1" dirty="0" err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𝜸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)</m:t>
                    </m:r>
                    <m:r>
                      <a:rPr lang="en-US" sz="1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𝒏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</a:p>
              <a:p>
                <a:pPr marL="360000" lvl="1" indent="-144000">
                  <a:spcBef>
                    <a:spcPts val="0"/>
                  </a:spcBef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Exploitation de leur décalage 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𝑀</m:t>
                        </m:r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𝑀</m:t>
                        </m:r>
                      </m:e>
                      <m:sub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</p:txBody>
          </p:sp>
        </mc:Choice>
        <mc:Fallback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05136FBC-9D29-ED6F-9520-EA3FCD36F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1" y="782967"/>
                <a:ext cx="4477880" cy="1435026"/>
              </a:xfrm>
              <a:prstGeom prst="rect">
                <a:avLst/>
              </a:prstGeom>
              <a:blipFill>
                <a:blip r:embed="rId14"/>
                <a:stretch>
                  <a:fillRect l="-408" t="-21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0E6AB912-8F80-65AF-8008-07A82F7B6519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 flipH="1">
            <a:off x="4525108" y="849006"/>
            <a:ext cx="0" cy="4065308"/>
          </a:xfrm>
          <a:prstGeom prst="straightConnector1">
            <a:avLst/>
          </a:prstGeom>
          <a:ln w="57150">
            <a:solidFill>
              <a:srgbClr val="2A52BE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290" name="Picture 2" descr="Une image contenant texte, capture d’écran, ligne, Police&#10;&#10;Description générée automatiquement">
            <a:extLst>
              <a:ext uri="{FF2B5EF4-FFF2-40B4-BE49-F238E27FC236}">
                <a16:creationId xmlns:a16="http://schemas.microsoft.com/office/drawing/2014/main" id="{3E5830CF-DE3C-875F-D70D-0B0FC4C93E83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37" y="2113795"/>
            <a:ext cx="3872388" cy="196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8">
                <a:extLst>
                  <a:ext uri="{FF2B5EF4-FFF2-40B4-BE49-F238E27FC236}">
                    <a16:creationId xmlns:a16="http://schemas.microsoft.com/office/drawing/2014/main" id="{0D666045-8EDF-AACB-B7A0-B29CB2C69A86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2435" y="3982168"/>
                <a:ext cx="4505265" cy="954107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Première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mesure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σ</a:t>
                </a:r>
                <a:r>
                  <a:rPr lang="en-US" sz="1400" b="1" i="1" baseline="-25000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LU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n-DVCS, extraction de</a:t>
                </a:r>
                <a14:m>
                  <m:oMath xmlns:m="http://schemas.openxmlformats.org/officeDocument/2006/math">
                    <m: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𝐽</m:t>
                    </m:r>
                    <m:r>
                      <a:rPr lang="en-US" sz="1400" i="1" baseline="-25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𝑢</m:t>
                    </m:r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 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𝐽</m:t>
                        </m:r>
                      </m:e>
                      <m:sub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𝑑</m:t>
                        </m:r>
                      </m:sub>
                    </m:sSub>
                    <m: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dependant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modèle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Données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compatibles avec zéro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Première contrainte expérimentale sur la GPD </a:t>
                </a:r>
                <a14:m>
                  <m:oMath xmlns:m="http://schemas.openxmlformats.org/officeDocument/2006/math">
                    <m:r>
                      <a:rPr lang="fr-FR" sz="14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</m:oMath>
                </a14:m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6" name="ZoneTexte 8">
                <a:extLst>
                  <a:ext uri="{FF2B5EF4-FFF2-40B4-BE49-F238E27FC236}">
                    <a16:creationId xmlns:a16="http://schemas.microsoft.com/office/drawing/2014/main" id="{0D666045-8EDF-AACB-B7A0-B29CB2C69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12435" y="3982168"/>
                <a:ext cx="4505265" cy="954107"/>
              </a:xfrm>
              <a:prstGeom prst="rect">
                <a:avLst/>
              </a:prstGeom>
              <a:blipFill>
                <a:blip r:embed="rId16"/>
                <a:stretch>
                  <a:fillRect l="-406" t="-1911" b="-50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9">
            <a:extLst>
              <a:ext uri="{FF2B5EF4-FFF2-40B4-BE49-F238E27FC236}">
                <a16:creationId xmlns:a16="http://schemas.microsoft.com/office/drawing/2014/main" id="{4F7F7052-478B-A14E-A2FC-3C93B019F73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567237" y="775584"/>
            <a:ext cx="4601958" cy="73866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E08-025 : Utilisation de la séparation de «</a:t>
            </a:r>
            <a:r>
              <a:rPr lang="fr-FR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Rosenbluth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» pour la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section efficace du </a:t>
            </a:r>
            <a:r>
              <a:rPr lang="fr-FR" sz="1400" b="1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nDVCS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en utilisant une cible LD2 et deux énergies de faisceau différentes. </a:t>
            </a:r>
          </a:p>
        </p:txBody>
      </p:sp>
      <p:pic>
        <p:nvPicPr>
          <p:cNvPr id="1026" name="Picture 2" descr="Une image contenant texte, capture d’écran, diagramme, ligne&#10;&#10;Description générée automatiquement">
            <a:extLst>
              <a:ext uri="{FF2B5EF4-FFF2-40B4-BE49-F238E27FC236}">
                <a16:creationId xmlns:a16="http://schemas.microsoft.com/office/drawing/2014/main" id="{CA51C27F-5941-263E-3FBD-2821D0E34399}"/>
              </a:ext>
            </a:extLst>
          </p:cNvPr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781" y="1889070"/>
            <a:ext cx="2909359" cy="322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Une image contenant Police, typographie, texte, calligraphie&#10;&#10;Description générée automatiquement">
            <a:extLst>
              <a:ext uri="{FF2B5EF4-FFF2-40B4-BE49-F238E27FC236}">
                <a16:creationId xmlns:a16="http://schemas.microsoft.com/office/drawing/2014/main" id="{2B939FFE-2813-0BB4-22D8-9767C8A05937}"/>
              </a:ext>
            </a:extLst>
          </p:cNvPr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471" y="1497565"/>
            <a:ext cx="3641742" cy="39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B92B2E68-6064-941E-4BD4-49AD76CD5C39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377113" y="2113796"/>
                <a:ext cx="1843087" cy="19543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Première observation de </a:t>
                </a:r>
                <a:r>
                  <a:rPr lang="en-US" sz="11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σ</a:t>
                </a:r>
                <a:r>
                  <a:rPr lang="en-US" sz="1100" b="1" i="1" baseline="-250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 </a:t>
                </a:r>
                <a:r>
                  <a:rPr lang="fr-FR" sz="11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nDVCS</a:t>
                </a:r>
                <a:r>
                  <a:rPr lang="fr-FR" sz="11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non nulle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Mesure de </a:t>
                </a:r>
                <a:r>
                  <a:rPr lang="en-US" sz="11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σ</a:t>
                </a:r>
                <a:r>
                  <a:rPr lang="fr-FR" sz="11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d-DVCS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Erreurs importantes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Quelques </a:t>
                </a:r>
                <a:r>
                  <a:rPr lang="fr-FR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bins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avec des données.</a:t>
                </a:r>
              </a:p>
              <a:p>
                <a:endParaRPr lang="fr-FR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1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Séparation des saveurs 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 quark en fonction du modèle.</a:t>
                </a:r>
                <a:endParaRPr lang="en-US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Contraintes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sur la GPD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fr-FR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B92B2E68-6064-941E-4BD4-49AD76CD5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7377113" y="2113796"/>
                <a:ext cx="1843087" cy="1954381"/>
              </a:xfrm>
              <a:prstGeom prst="rect">
                <a:avLst/>
              </a:prstGeom>
              <a:blipFill>
                <a:blip r:embed="rId19"/>
                <a:stretch>
                  <a:fillRect t="-313" b="-125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3">
            <a:extLst>
              <a:ext uri="{FF2B5EF4-FFF2-40B4-BE49-F238E27FC236}">
                <a16:creationId xmlns:a16="http://schemas.microsoft.com/office/drawing/2014/main" id="{5C477053-F047-B4C2-F99B-B381FCC8F50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522631" y="4597721"/>
            <a:ext cx="1621369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</a:rPr>
              <a:t>M. Benali et al., Nature 16 (2020)</a:t>
            </a:r>
            <a:endParaRPr lang="en-US" sz="800" dirty="0">
              <a:solidFill>
                <a:schemeClr val="tx2">
                  <a:lumMod val="75000"/>
                </a:schemeClr>
              </a:solidFill>
              <a:latin typeface="Cambria" panose="02040503050406030204" pitchFamily="18" charset="0"/>
              <a:cs typeface="Calibri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D72C90C-D406-2515-2894-5B60594E0DBE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46510" y="4898459"/>
            <a:ext cx="26654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00" dirty="0" err="1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Mazouz</a:t>
            </a:r>
            <a:r>
              <a:rPr lang="fr-FR" sz="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M. et al. Phys. </a:t>
            </a:r>
            <a:r>
              <a:rPr lang="fr-FR" sz="800" dirty="0" err="1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</a:t>
            </a:r>
            <a:r>
              <a:rPr lang="fr-FR" sz="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fr-FR" sz="800" dirty="0" err="1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Lett</a:t>
            </a:r>
            <a:r>
              <a:rPr lang="fr-FR" sz="800" dirty="0">
                <a:solidFill>
                  <a:schemeClr val="tx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99, 242501 (2007)</a:t>
            </a:r>
          </a:p>
        </p:txBody>
      </p:sp>
    </p:spTree>
    <p:extLst>
      <p:ext uri="{BB962C8B-B14F-4D97-AF65-F5344CB8AC3E}">
        <p14:creationId xmlns:p14="http://schemas.microsoft.com/office/powerpoint/2010/main" val="1310529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74AFBD-AC8F-7468-4711-B2BB486ED9B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DVCS sur une cible de </a:t>
            </a:r>
            <a:r>
              <a:rPr lang="fr-FR" noProof="0" dirty="0" err="1"/>
              <a:t>deuterium</a:t>
            </a:r>
            <a:r>
              <a:rPr lang="fr-FR" noProof="0" dirty="0"/>
              <a:t>​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66B7595-CF5B-595A-A6CF-403C1F2E51DD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15</a:t>
            </a:fld>
            <a:endParaRPr lang="fr-FR" dirty="0"/>
          </a:p>
        </p:txBody>
      </p:sp>
      <p:pic>
        <p:nvPicPr>
          <p:cNvPr id="2050" name="Picture 2" descr="Une image contenant échelle, intérieur&#10;&#10;Description générée automatiquement">
            <a:extLst>
              <a:ext uri="{FF2B5EF4-FFF2-40B4-BE49-F238E27FC236}">
                <a16:creationId xmlns:a16="http://schemas.microsoft.com/office/drawing/2014/main" id="{F4C4FDB3-1623-6A2C-812A-76E65AB3F61A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71" y="1879130"/>
            <a:ext cx="2597238" cy="178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Objet 5">
            <a:extLst>
              <a:ext uri="{FF2B5EF4-FFF2-40B4-BE49-F238E27FC236}">
                <a16:creationId xmlns:a16="http://schemas.microsoft.com/office/drawing/2014/main" id="{03BBB6CD-FC5C-EA36-BDB8-E646E8AB8D90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708594713"/>
              </p:ext>
            </p:extLst>
          </p:nvPr>
        </p:nvGraphicFramePr>
        <p:xfrm>
          <a:off x="6503381" y="2609687"/>
          <a:ext cx="2518027" cy="1716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DF" r:id="rId11" imgW="0" imgH="360" progId="FoxitReader.Document">
                  <p:embed/>
                </p:oleObj>
              </mc:Choice>
              <mc:Fallback>
                <p:oleObj name="PDF" r:id="rId11" imgW="0" imgH="360" progId="FoxitReader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03381" y="2609687"/>
                        <a:ext cx="2518027" cy="1716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 6">
            <a:extLst>
              <a:ext uri="{FF2B5EF4-FFF2-40B4-BE49-F238E27FC236}">
                <a16:creationId xmlns:a16="http://schemas.microsoft.com/office/drawing/2014/main" id="{E2CBA01D-CD93-0B71-843C-F92FFEA7A148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68666486"/>
              </p:ext>
            </p:extLst>
          </p:nvPr>
        </p:nvGraphicFramePr>
        <p:xfrm>
          <a:off x="3857841" y="1945696"/>
          <a:ext cx="2518027" cy="1716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DF" r:id="rId13" imgW="0" imgH="360" progId="FoxitReader.Document">
                  <p:embed/>
                </p:oleObj>
              </mc:Choice>
              <mc:Fallback>
                <p:oleObj name="PDF" r:id="rId13" imgW="0" imgH="360" progId="FoxitReader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57841" y="1945696"/>
                        <a:ext cx="2518027" cy="1716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 7">
            <a:extLst>
              <a:ext uri="{FF2B5EF4-FFF2-40B4-BE49-F238E27FC236}">
                <a16:creationId xmlns:a16="http://schemas.microsoft.com/office/drawing/2014/main" id="{F50DC96F-1711-9576-5C5F-48F6E8B2DC1C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108169454"/>
              </p:ext>
            </p:extLst>
          </p:nvPr>
        </p:nvGraphicFramePr>
        <p:xfrm>
          <a:off x="6586036" y="973358"/>
          <a:ext cx="2435372" cy="1660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DF" r:id="rId15" imgW="0" imgH="360" progId="FoxitReader.Document">
                  <p:embed/>
                </p:oleObj>
              </mc:Choice>
              <mc:Fallback>
                <p:oleObj name="PDF" r:id="rId15" imgW="0" imgH="360" progId="FoxitReader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586036" y="973358"/>
                        <a:ext cx="2435372" cy="16604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5">
                <a:extLst>
                  <a:ext uri="{FF2B5EF4-FFF2-40B4-BE49-F238E27FC236}">
                    <a16:creationId xmlns:a16="http://schemas.microsoft.com/office/drawing/2014/main" id="{CFB94632-7441-A556-370C-D479DCF34FBC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2862" y="3752850"/>
                <a:ext cx="7456488" cy="1384995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Observable : </a:t>
                </a:r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BSA du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nDVCS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Dans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région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modérée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</a:t>
                </a:r>
                <a14:m>
                  <m:oMath xmlns:m="http://schemas.openxmlformats.org/officeDocument/2006/math">
                    <m:r>
                      <a:rPr lang="fr-FR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en-US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𝑸</m:t>
                    </m:r>
                    <m:r>
                      <a:rPr lang="en-US" sz="1400" b="1" i="1" baseline="3000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𝟐</m:t>
                    </m:r>
                    <m:r>
                      <a:rPr lang="en-US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−</m:t>
                    </m:r>
                    <m:r>
                      <a:rPr lang="en-US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𝒙𝑩</m:t>
                    </m:r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l’espace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des phases (1-5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𝑄</m:t>
                    </m:r>
                    <m:r>
                      <a:rPr lang="en-US" sz="1400" i="1" baseline="30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2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; 0.1-0.7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sz="1400" i="1" baseline="-25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B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Mesure exclusive avec la détection du neutron actif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→ plus petites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erreurs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systématiques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asymétries trouvées sont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 l'ordre de 5%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plus petites que celles sur le proton.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résultats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sur le proton :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𝑒𝑑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→ </m:t>
                    </m:r>
                    <m:r>
                      <a:rPr lang="en-US" sz="1400" i="1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𝑒</m:t>
                    </m:r>
                    <m:r>
                      <a:rPr lang="en-US" sz="1400" i="1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′</m:t>
                    </m:r>
                    <m:r>
                      <a:rPr lang="en-US" sz="1400" i="1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𝛾</m:t>
                    </m:r>
                    <m:r>
                      <a:rPr lang="en-US" sz="1400" i="1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𝑝</m:t>
                    </m:r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(</m:t>
                    </m:r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𝑛</m:t>
                    </m:r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) 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seront également publiés.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Il reste la question des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effets nucléaires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5" name="ZoneTexte 5">
                <a:extLst>
                  <a:ext uri="{FF2B5EF4-FFF2-40B4-BE49-F238E27FC236}">
                    <a16:creationId xmlns:a16="http://schemas.microsoft.com/office/drawing/2014/main" id="{CFB94632-7441-A556-370C-D479DCF34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42862" y="3752850"/>
                <a:ext cx="7456488" cy="1384995"/>
              </a:xfrm>
              <a:prstGeom prst="rect">
                <a:avLst/>
              </a:prstGeom>
              <a:blipFill>
                <a:blip r:embed="rId17"/>
                <a:stretch>
                  <a:fillRect l="-82" t="-1322" b="-30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5">
                <a:extLst>
                  <a:ext uri="{FF2B5EF4-FFF2-40B4-BE49-F238E27FC236}">
                    <a16:creationId xmlns:a16="http://schemas.microsoft.com/office/drawing/2014/main" id="{4511E976-89B5-5278-8AD8-A9E66BB8CB99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2862" y="833929"/>
                <a:ext cx="7456488" cy="954107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Première mesure de </a:t>
                </a:r>
                <a:r>
                  <a:rPr lang="fr-FR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nDVCS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avec détection du neutron actif :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Résultats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préliminaires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CLAS12 avec la réaction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𝑒𝑑</m:t>
                    </m:r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→ </m:t>
                    </m:r>
                    <m:sSup>
                      <m:sSupPr>
                        <m:ctrlPr>
                          <a:rPr lang="en-US" sz="1400" i="1" dirty="0" err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n-US" sz="1400" i="1" dirty="0" err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𝑒</m:t>
                        </m:r>
                      </m:e>
                      <m:sup>
                        <m:r>
                          <a:rPr lang="en-US" sz="1400" i="1" dirty="0" err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′</m:t>
                        </m:r>
                      </m:sup>
                    </m:sSup>
                    <m:r>
                      <a:rPr lang="en-US" sz="1400" i="1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𝛾</m:t>
                    </m:r>
                    <m:r>
                      <a:rPr lang="en-US" sz="1400" i="1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𝑛</m:t>
                    </m:r>
                    <m:d>
                      <m:dPr>
                        <m:ctrlP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𝑝</m:t>
                        </m:r>
                      </m:e>
                    </m:d>
                  </m:oMath>
                </a14:m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/>
                  <a:buChar char="•"/>
                </a:pP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Nouveau détecteur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 neutrons était nécessaire (CND), faible efficacité de détection.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Analyse réalisée par M. Hobart et S. </a:t>
                </a:r>
                <a:r>
                  <a:rPr lang="fr-FR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Niccolai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9" name="ZoneTexte 5">
                <a:extLst>
                  <a:ext uri="{FF2B5EF4-FFF2-40B4-BE49-F238E27FC236}">
                    <a16:creationId xmlns:a16="http://schemas.microsoft.com/office/drawing/2014/main" id="{4511E976-89B5-5278-8AD8-A9E66BB8C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42862" y="833929"/>
                <a:ext cx="7456488" cy="954107"/>
              </a:xfrm>
              <a:prstGeom prst="rect">
                <a:avLst/>
              </a:prstGeom>
              <a:blipFill>
                <a:blip r:embed="rId18"/>
                <a:stretch>
                  <a:fillRect l="-245" t="-1923" b="-5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342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DA905C-B0D8-9B93-3BBB-2CFE59FF345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/>
              <a:t>The </a:t>
            </a:r>
            <a:r>
              <a:rPr lang="fr-FR" noProof="0" dirty="0" err="1"/>
              <a:t>BoNuS</a:t>
            </a:r>
            <a:r>
              <a:rPr lang="fr-FR" noProof="0" dirty="0"/>
              <a:t> </a:t>
            </a:r>
            <a:r>
              <a:rPr lang="fr-FR" noProof="0" dirty="0" err="1"/>
              <a:t>Experiment</a:t>
            </a:r>
            <a:r>
              <a:rPr lang="fr-FR" noProof="0" dirty="0"/>
              <a:t> (of 2005)​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7E13C54-60D0-00CB-3BA9-7D9DCE08C5CC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16</a:t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F2B2E665-6AEA-013E-8A69-D093BB1B84CC}"/>
                  </a:ext>
                </a:extLst>
              </p:cNvPr>
              <p:cNvSpPr>
                <a:spLocks noGrp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0" y="895350"/>
                <a:ext cx="5504597" cy="4090632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u="sng" dirty="0">
                    <a:solidFill>
                      <a:srgbClr val="2A52BE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First experiment in Hall B to use tagging.</a:t>
                </a:r>
              </a:p>
              <a:p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Experiment in 2005 at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JLab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using CLAS6 and a specific RTPC to spectator proton.</a:t>
                </a:r>
              </a:p>
              <a:p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DIS of electrons on a deuteron target →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𝑑</m:t>
                    </m:r>
                    <m:d>
                      <m:d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dPr>
                      <m:e>
                        <m:r>
                          <a:rPr lang="en-US" sz="1400" i="1" dirty="0" err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𝑒</m:t>
                        </m:r>
                        <m:r>
                          <a:rPr lang="en-US" sz="1400" i="1" dirty="0" err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,</m:t>
                        </m:r>
                        <m:r>
                          <a:rPr lang="en-US" sz="1400" i="1" dirty="0" err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𝑒</m:t>
                        </m:r>
                        <m:r>
                          <a:rPr lang="en-US" sz="1400" i="1" dirty="0" err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’</m:t>
                        </m:r>
                        <m:sSub>
                          <m:sSubPr>
                            <m:ctrlPr>
                              <a:rPr lang="en-US" sz="1400" i="1" dirty="0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</m:ctrlPr>
                          </m:sSubPr>
                          <m:e>
                            <m:r>
                              <a:rPr lang="fr-FR" sz="1400" b="0" i="1" dirty="0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sz="1400" b="0" i="1" dirty="0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fr-FR" sz="14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𝑋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.</m:t>
                    </m:r>
                  </m:oMath>
                </a14:m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The RTPC have a large acceptance in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𝜙</m:t>
                    </m:r>
                    <m:r>
                      <a:rPr lang="fr-FR" sz="14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to including backward angles.</a:t>
                </a:r>
              </a:p>
              <a:p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With the tagging, we take in account for nucleon off-shell effects to have a quasi-free neutron and minimize FSI.</a:t>
                </a:r>
              </a:p>
              <a:p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Goal is to measure the structure function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SupPr>
                      <m:e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𝐹</m:t>
                        </m:r>
                      </m:e>
                      <m:sub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2</m:t>
                        </m:r>
                      </m:sub>
                      <m:sup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1400" baseline="-25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</a:t>
                </a:r>
              </a:p>
              <a:p>
                <a:pPr lvl="1"/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The data 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𝑊</m:t>
                        </m:r>
                      </m:e>
                      <m:sup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∗</m:t>
                        </m:r>
                      </m:sup>
                    </m:sSup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&gt;1.8 </m:t>
                    </m:r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𝐺𝑒𝑉</m:t>
                    </m:r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cut are in good agreement with the global PDFs fit for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0.3 &lt; 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𝑥</m:t>
                        </m:r>
                      </m:e>
                      <m:sup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∗</m:t>
                        </m:r>
                      </m:sup>
                    </m:sSup>
                    <m:r>
                      <a:rPr lang="fr-FR" sz="12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&lt;</m:t>
                    </m:r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0.6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20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lvl="1"/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The ratio of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𝑑</m:t>
                    </m:r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/</m:t>
                    </m:r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𝑢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quarks can be extracted from the structure function ratio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SupPr>
                      <m:e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𝐹</m:t>
                        </m:r>
                      </m:e>
                      <m:sub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2</m:t>
                        </m:r>
                      </m:sub>
                      <m:sup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/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SupPr>
                      <m:e>
                        <m:r>
                          <a:rPr lang="fr-F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𝐹</m:t>
                        </m:r>
                      </m:e>
                      <m:sub>
                        <m:r>
                          <a:rPr lang="fr-F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2</m:t>
                        </m:r>
                      </m:sub>
                      <m:sup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𝑝</m:t>
                        </m:r>
                      </m:sup>
                    </m:sSubSup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</p:txBody>
          </p:sp>
        </mc:Choice>
        <mc:Fallback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F2B2E665-6AEA-013E-8A69-D093BB1B84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0" y="895350"/>
                <a:ext cx="5504597" cy="4090632"/>
              </a:xfrm>
              <a:prstGeom prst="rect">
                <a:avLst/>
              </a:prstGeom>
              <a:blipFill>
                <a:blip r:embed="rId8"/>
                <a:stretch>
                  <a:fillRect l="-443" t="-119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Une image contenant texte, diagramme, Police, ligne&#10;&#10;Description générée automatiquement">
            <a:extLst>
              <a:ext uri="{FF2B5EF4-FFF2-40B4-BE49-F238E27FC236}">
                <a16:creationId xmlns:a16="http://schemas.microsoft.com/office/drawing/2014/main" id="{08B89070-0491-C3E9-CC44-96ABEA3DB5AE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125" y="864474"/>
            <a:ext cx="2529423" cy="133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Une image contenant texte, ligne, diagramme, Police&#10;&#10;Description générée automatiquement">
            <a:extLst>
              <a:ext uri="{FF2B5EF4-FFF2-40B4-BE49-F238E27FC236}">
                <a16:creationId xmlns:a16="http://schemas.microsoft.com/office/drawing/2014/main" id="{F1F331A0-5EA5-0FF3-7992-CFA5FD26B3ED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765" y="2197690"/>
            <a:ext cx="2871052" cy="2853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Une image contenant Police, texte, ligne, nombre&#10;&#10;Description générée automatiquement">
            <a:extLst>
              <a:ext uri="{FF2B5EF4-FFF2-40B4-BE49-F238E27FC236}">
                <a16:creationId xmlns:a16="http://schemas.microsoft.com/office/drawing/2014/main" id="{39F2E8F1-6A1B-A992-A77A-C761160ED9D5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592" y="4037254"/>
            <a:ext cx="3926637" cy="831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337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2A3A06-B8F9-FF7B-11FD-AEA7AE2E015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 dirty="0">
                <a:latin typeface="Cambria" panose="02040503050406030204" pitchFamily="18" charset="0"/>
              </a:rPr>
              <a:t>BONuS12 à CLAS12​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6C893C8-6305-6700-5984-6C818C8DF432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17</a:t>
            </a:fld>
            <a:endParaRPr lang="fr-FR" dirty="0"/>
          </a:p>
        </p:txBody>
      </p:sp>
      <p:pic>
        <p:nvPicPr>
          <p:cNvPr id="5122" name="Picture 2" descr="Une image contenant croquis, texte, dessin, art&#10;&#10;Description générée automatiquement">
            <a:extLst>
              <a:ext uri="{FF2B5EF4-FFF2-40B4-BE49-F238E27FC236}">
                <a16:creationId xmlns:a16="http://schemas.microsoft.com/office/drawing/2014/main" id="{5A9DEF96-CFC0-5DDE-92E9-33B8D8C6996F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18" y="819527"/>
            <a:ext cx="5322627" cy="430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7">
                <a:extLst>
                  <a:ext uri="{FF2B5EF4-FFF2-40B4-BE49-F238E27FC236}">
                    <a16:creationId xmlns:a16="http://schemas.microsoft.com/office/drawing/2014/main" id="{8D3DE084-C8EA-D329-FC0F-4773716411A0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467350" y="957100"/>
                <a:ext cx="3862387" cy="4031873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CLAS12 est composé de deux parties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Détecteurs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avant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Aimant torus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Chambres de dérive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Temps de vol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Calorimètre électromagnétique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Compteurs </a:t>
                </a:r>
                <a:r>
                  <a:rPr lang="fr-FR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Cherenkov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u="sng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Détecteur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central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</a:t>
                </a:r>
              </a:p>
              <a:p>
                <a:pPr marL="360000" lvl="1" indent="-144000">
                  <a:buFont typeface="Arial"/>
                  <a:buChar char="•"/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RTPC BoNuS12</a:t>
                </a:r>
              </a:p>
              <a:p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Prise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données :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b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Faisceau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20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e</m:t>
                        </m:r>
                      </m:e>
                      <m:sup>
                        <m: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polarisé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longitudinalement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à 85%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Énergie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10.4 GeV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Cible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Deutérium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gazeux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à 5.6 atm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Longueur : 40 cm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Luminosité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2×</m:t>
                    </m:r>
                    <m:sSup>
                      <m:sSupPr>
                        <m:ctrlPr>
                          <a:rPr lang="en-US" sz="120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n-US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10</m:t>
                        </m:r>
                      </m:e>
                      <m:sup>
                        <m: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34</m:t>
                        </m:r>
                      </m:sup>
                    </m:sSup>
                    <m:r>
                      <a:rPr lang="fr-FR" sz="12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sSup>
                      <m:sSupPr>
                        <m:ctrlPr>
                          <a:rPr lang="fr-FR" sz="120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cm</m:t>
                        </m:r>
                      </m:e>
                      <m:sup>
                        <m: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−2</m:t>
                        </m:r>
                      </m:sup>
                    </m:sSup>
                    <m:sSup>
                      <m:sSupPr>
                        <m:ctrlPr>
                          <a:rPr lang="fr-FR" sz="120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s</m:t>
                        </m:r>
                      </m:e>
                      <m:sup>
                        <m:r>
                          <a:rPr lang="fr-FR" sz="1200" b="0" i="0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Données recueillies au cours de l'été 2020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4" name="ZoneTexte 7">
                <a:extLst>
                  <a:ext uri="{FF2B5EF4-FFF2-40B4-BE49-F238E27FC236}">
                    <a16:creationId xmlns:a16="http://schemas.microsoft.com/office/drawing/2014/main" id="{8D3DE084-C8EA-D329-FC0F-477371641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5467350" y="957100"/>
                <a:ext cx="3862387" cy="4031873"/>
              </a:xfrm>
              <a:prstGeom prst="rect">
                <a:avLst/>
              </a:prstGeom>
              <a:blipFill>
                <a:blip r:embed="rId7"/>
                <a:stretch>
                  <a:fillRect l="-474" t="-454" b="-3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623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Une image contenant cercle, diagramme, texte, capture d’écran&#10;&#10;Description générée automatiquement">
            <a:extLst>
              <a:ext uri="{FF2B5EF4-FFF2-40B4-BE49-F238E27FC236}">
                <a16:creationId xmlns:a16="http://schemas.microsoft.com/office/drawing/2014/main" id="{31C74AF6-8DC8-19F2-F564-BE4AFA83D144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881" y="765488"/>
            <a:ext cx="3422117" cy="2723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78E8367-286B-9E0F-2A02-37BE9AF9365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>
                <a:latin typeface="Cambria" panose="02040503050406030204" pitchFamily="18" charset="0"/>
              </a:rPr>
              <a:t>La RTPC BONuS12 ​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0490C03-A34E-A7AE-0719-1B6AC5408375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18</a:t>
            </a:fld>
            <a:endParaRPr lang="fr-FR" dirty="0"/>
          </a:p>
        </p:txBody>
      </p:sp>
      <p:sp>
        <p:nvSpPr>
          <p:cNvPr id="4" name="ZoneTexte 4">
            <a:extLst>
              <a:ext uri="{FF2B5EF4-FFF2-40B4-BE49-F238E27FC236}">
                <a16:creationId xmlns:a16="http://schemas.microsoft.com/office/drawing/2014/main" id="{F9B81217-08BE-9290-06C8-1567630ED83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3374" y="755962"/>
            <a:ext cx="6152639" cy="320087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BONuS12 est une 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nouvelle expérience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au JLab@12GeV avec un 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nouveau détecteur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qui a eu lieu en 2020.</a:t>
            </a:r>
          </a:p>
          <a:p>
            <a:endParaRPr lang="en-US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Le détecteur BoNuS12 est une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chambre à projection temporelle radiale 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(RTPC) conçue pour détecter les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protons à faible moment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(0,05 à 0,1 </a:t>
            </a:r>
            <a:r>
              <a:rPr lang="fr-FR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GeV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/c).</a:t>
            </a:r>
          </a:p>
          <a:p>
            <a:endParaRPr lang="fr-FR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Fonctionne suivant le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principe suivant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: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​</a:t>
            </a:r>
            <a:endParaRPr lang="fr-FR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 marL="144000" lvl="1" indent="-144000"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Une particule chargée </a:t>
            </a:r>
            <a:r>
              <a:rPr lang="fr-FR" sz="12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ionise les atomes du gaz 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(80%He, 20%CO2)</a:t>
            </a:r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.​</a:t>
            </a:r>
          </a:p>
          <a:p>
            <a:pPr marL="144000" lvl="1" indent="-144000"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Sous un champ électromagnétique, les électrons suivent leur </a:t>
            </a:r>
            <a:r>
              <a:rPr lang="fr-FR" sz="12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trajectoire de dérive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</a:p>
          <a:p>
            <a:pPr marL="144000" lvl="1" indent="-144000">
              <a:buChar char="•"/>
            </a:pPr>
            <a:r>
              <a:rPr lang="fr-FR" sz="12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Amplifications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est réalisé via les 3 couches GEM.</a:t>
            </a:r>
          </a:p>
          <a:p>
            <a:pPr marL="144000" lvl="1" indent="-144000"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Utilisation de la </a:t>
            </a:r>
            <a:r>
              <a:rPr lang="fr-FR" sz="12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perte d'énergie pour l'identification des particules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</a:p>
          <a:p>
            <a:endParaRPr lang="fr-FR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Basé sur le concept que le </a:t>
            </a:r>
            <a:r>
              <a:rPr lang="fr-FR" sz="1400" b="1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BONuS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précédent 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avec quelques améliorations : 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Meilleure </a:t>
            </a:r>
            <a:r>
              <a:rPr lang="fr-FR" sz="12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résolution spatiale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et taux de multiplicité plus élevés. 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Le temps de dérive des électrons dans la région active est </a:t>
            </a:r>
            <a:r>
              <a:rPr lang="fr-FR" sz="12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plus court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  <a:endParaRPr lang="en-US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B5FDF5E-6399-1160-E3AF-62EDB99EAE4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484115" y="3498585"/>
            <a:ext cx="240035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BoNuS12 a remplacé le tracker central au silicium et les </a:t>
            </a:r>
            <a:r>
              <a:rPr lang="fr-FR" sz="105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micromégas</a:t>
            </a:r>
            <a:r>
              <a:rPr lang="fr-FR" sz="105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  <a:endParaRPr lang="en-US" sz="105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9D10602-2A88-838E-46A8-75B5737EAD7F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19574" y="3966364"/>
                <a:ext cx="7348026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6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Objectif</a:t>
                </a: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refaire l'expérience avec une énergie de faisceau élevée,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𝑥</m:t>
                        </m:r>
                      </m:e>
                      <m:sub>
                        <m:r>
                          <a:rPr lang="fr-FR" sz="16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plus élevé avec plus de statistiques. </a:t>
                </a:r>
              </a:p>
              <a:p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Nouvelles mesures possibles avec la luminosité plus élevée de CLAS12 : par exemple, </a:t>
                </a:r>
                <a:r>
                  <a:rPr lang="fr-FR" sz="16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tag neutron DVCS</a:t>
                </a: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79D10602-2A88-838E-46A8-75B5737EA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119574" y="3966364"/>
                <a:ext cx="7348026" cy="1077218"/>
              </a:xfrm>
              <a:prstGeom prst="rect">
                <a:avLst/>
              </a:prstGeom>
              <a:blipFill>
                <a:blip r:embed="rId9"/>
                <a:stretch>
                  <a:fillRect l="-498" t="-2273" b="-625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812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Une image contenant texte, diagramme, capture d’écran, Police&#10;&#10;Description générée automatiquement">
            <a:extLst>
              <a:ext uri="{FF2B5EF4-FFF2-40B4-BE49-F238E27FC236}">
                <a16:creationId xmlns:a16="http://schemas.microsoft.com/office/drawing/2014/main" id="{97975595-E605-5876-E3C2-AC2423644719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42"/>
          <a:stretch/>
        </p:blipFill>
        <p:spPr bwMode="auto">
          <a:xfrm>
            <a:off x="5709213" y="2571750"/>
            <a:ext cx="3418356" cy="217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4D235947-938D-78D3-51E1-99137D0B5222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644" y="786423"/>
            <a:ext cx="3113356" cy="1800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7454D43-531B-B796-446A-8595EBF0A10E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FR" noProof="0" dirty="0"/>
              <a:t>Introduction au </a:t>
            </a:r>
            <a:r>
              <a:rPr lang="fr-FR" noProof="0" dirty="0" err="1"/>
              <a:t>tagging</a:t>
            </a:r>
            <a:endParaRPr lang="fr-FR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9144E92-689C-D875-A1F6-6142DF152C83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19</a:t>
            </a:fld>
            <a:endParaRPr lang="fr-FR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E72368D6-634B-F12E-8C23-9606C1B8B39F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8000" y="2434700"/>
            <a:ext cx="5835536" cy="26010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Mesure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avec du tagging → 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Sélection de la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configuration nucléaire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via la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cinématique du spectateur 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:</a:t>
            </a:r>
          </a:p>
          <a:p>
            <a:pPr marL="144000" lvl="1" indent="-1440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Extrapolation on-shell → 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accès à la structure des nucléons libres.</a:t>
            </a:r>
            <a:endParaRPr lang="en-US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 marL="144000" lvl="1" indent="-1440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Etudes des nucleons </a:t>
            </a:r>
            <a:r>
              <a:rPr lang="en-US" sz="12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fortement</a:t>
            </a:r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en-US" sz="12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lié</a:t>
            </a:r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(SRC). </a:t>
            </a:r>
          </a:p>
          <a:p>
            <a:pPr marL="144000" lvl="1" indent="-14400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Aide à la compréhension des effets nucléaires.</a:t>
            </a:r>
            <a:endParaRPr lang="en-US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FSI dépendent de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l’impulsion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et de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l'angle du spectateur</a:t>
            </a:r>
            <a:r>
              <a:rPr lang="fr-FR" sz="1400" b="1" i="1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: </a:t>
            </a:r>
            <a:endParaRPr lang="fr-FR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 marL="144000" indent="-144000">
              <a:lnSpc>
                <a:spcPct val="100000"/>
              </a:lnSpc>
              <a:spcBef>
                <a:spcPts val="0"/>
              </a:spcBef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Cases bleues </a:t>
            </a:r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→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Cinématiques préférées, c-à-d régions où FSI sont faibles.</a:t>
            </a:r>
          </a:p>
          <a:p>
            <a:pPr marL="144000" indent="-144000">
              <a:lnSpc>
                <a:spcPct val="100000"/>
              </a:lnSpc>
              <a:spcBef>
                <a:spcPts val="0"/>
              </a:spcBef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Nous voulons donc qu'un spectateur ayant un faible moment d'inertie et un angle de recul ait un neutron quasi-libre sans FSI.</a:t>
            </a:r>
            <a:endParaRPr lang="en-US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FR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Déjà utilisé dans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DIS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pour comprendre la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structure des neutrons quasi-libres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 Peut être utilisé dans d'autres processus comme le </a:t>
            </a:r>
            <a:r>
              <a:rPr lang="fr-FR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DVCS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.</a:t>
            </a:r>
            <a:endParaRPr lang="en-US" sz="14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7" name="ZoneTexte 10">
            <a:extLst>
              <a:ext uri="{FF2B5EF4-FFF2-40B4-BE49-F238E27FC236}">
                <a16:creationId xmlns:a16="http://schemas.microsoft.com/office/drawing/2014/main" id="{4041AB39-0C9B-D448-583F-697BEE9AADD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168233" y="2491242"/>
            <a:ext cx="2959336" cy="21544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 err="1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Ciofi</a:t>
            </a:r>
            <a:r>
              <a:rPr lang="en-US" sz="800" dirty="0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en-US" sz="800" dirty="0" err="1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degli</a:t>
            </a:r>
            <a:r>
              <a:rPr lang="en-US" sz="800" dirty="0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Atti and </a:t>
            </a:r>
            <a:r>
              <a:rPr lang="en-US" sz="800" dirty="0" err="1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Kopeliovich</a:t>
            </a:r>
            <a:r>
              <a:rPr lang="en-US" sz="800" dirty="0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, Eur. Phys. J. A17(2003)133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FFC0D6-6C60-FFDA-2EAB-5342B8D7CE2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964712" y="4928056"/>
            <a:ext cx="2907358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dirty="0" err="1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Ayerbe</a:t>
            </a:r>
            <a:r>
              <a:rPr lang="en-US" sz="800" dirty="0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Gayoso, Carlos. (2019) 030.10.22323/1.346.0030.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981084-49EF-D036-CE67-8A1E2EC2CE6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445014" y="1428466"/>
            <a:ext cx="269685" cy="318447"/>
          </a:xfrm>
          <a:prstGeom prst="rect">
            <a:avLst/>
          </a:prstGeom>
          <a:noFill/>
          <a:ln>
            <a:solidFill>
              <a:srgbClr val="2A5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ambria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34062F-7517-F31A-D4B8-7FB8462D604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662776" y="1163479"/>
            <a:ext cx="269685" cy="318447"/>
          </a:xfrm>
          <a:prstGeom prst="rect">
            <a:avLst/>
          </a:prstGeom>
          <a:noFill/>
          <a:ln>
            <a:solidFill>
              <a:srgbClr val="2A52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03F1AA3-324C-2A41-1024-6B1586D42695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222647" y="4742271"/>
                <a:ext cx="270981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Masse du </a:t>
                </a:r>
                <a:r>
                  <a:rPr lang="fr-FR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systeme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hadronique : 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𝑊</m:t>
                    </m:r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(</m:t>
                    </m:r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𝐺𝑒𝑉</m:t>
                    </m:r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)</m:t>
                    </m:r>
                  </m:oMath>
                </a14:m>
                <a:endParaRPr lang="fr-FR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03F1AA3-324C-2A41-1024-6B1586D42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6222647" y="4742271"/>
                <a:ext cx="2709814" cy="261610"/>
              </a:xfrm>
              <a:prstGeom prst="rect">
                <a:avLst/>
              </a:prstGeom>
              <a:blipFill>
                <a:blip r:embed="rId16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E04D8233-56F4-217F-F9DD-93910B0A822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-1" y="786423"/>
            <a:ext cx="62447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Tagging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signifie que mesurer la partie qui n'interagit pas (le spectateur).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onctionne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à deux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échelles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en-US" sz="14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différentes</a:t>
            </a:r>
            <a:r>
              <a:rPr lang="en-US" sz="14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: </a:t>
            </a:r>
          </a:p>
          <a:p>
            <a:pPr marL="144000" lvl="1" indent="-144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Détection</a:t>
            </a:r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des </a:t>
            </a:r>
            <a:r>
              <a:rPr lang="en-US" sz="12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processus </a:t>
            </a:r>
            <a:r>
              <a:rPr lang="en-US" sz="1200" b="1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durs</a:t>
            </a:r>
            <a:r>
              <a:rPr lang="en-US" sz="12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</a:t>
            </a:r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(de </a:t>
            </a:r>
            <a:r>
              <a:rPr lang="en-US" sz="12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l’ordre</a:t>
            </a:r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du GeV). </a:t>
            </a:r>
          </a:p>
          <a:p>
            <a:pPr marL="144000" lvl="1" indent="-144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Détection</a:t>
            </a:r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du </a:t>
            </a:r>
            <a:r>
              <a:rPr lang="en-US" sz="1200" b="1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spectateur</a:t>
            </a:r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(de </a:t>
            </a:r>
            <a:r>
              <a:rPr lang="en-US" sz="12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l’ordre</a:t>
            </a:r>
            <a:r>
              <a:rPr lang="en-US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du MeV).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fr-FR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Travailler à </a:t>
            </a:r>
            <a:r>
              <a:rPr lang="fr-FR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deux échelles différentes </a:t>
            </a: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pour la détection des particules : </a:t>
            </a:r>
          </a:p>
          <a:p>
            <a:pPr marL="144000" indent="-144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Différents détecteurs sont nécessaires.</a:t>
            </a:r>
            <a:endParaRPr lang="en-US" sz="12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Libertinus Serif" pitchFamily="50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520E4BB-E755-F987-4855-BAE7E8030A46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534198" y="2814458"/>
            <a:ext cx="13667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Résultats de BONuS6</a:t>
            </a:r>
          </a:p>
        </p:txBody>
      </p:sp>
    </p:spTree>
    <p:extLst>
      <p:ext uri="{BB962C8B-B14F-4D97-AF65-F5344CB8AC3E}">
        <p14:creationId xmlns:p14="http://schemas.microsoft.com/office/powerpoint/2010/main" val="1855799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BAD0B3-1FA7-8A2B-68B5-FC7AF9D96B2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Théorie du filtre de Kalman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E040F9B-F048-7B35-31AE-F3AF6F917C6C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pPr/>
              <a:t>20</a:t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C38F82FB-D989-A4B8-5B49-CC60907B3CA1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4293" y="792153"/>
                <a:ext cx="8843963" cy="540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Objectif :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Estimer les paramètres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d’une trajectoire : 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𝑧</m:t>
                    </m:r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et erreurs pour des protons de faible</a:t>
                </a:r>
                <a:endParaRPr lang="fr-F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impulsion. Existe plusieurs possibilités : </a:t>
                </a:r>
                <a:r>
                  <a:rPr lang="fr-FR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global fit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ou</a:t>
                </a: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fr-FR" dirty="0">
                    <a:solidFill>
                      <a:srgbClr val="FF9708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filtre de Kalman</a:t>
                </a: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C38F82FB-D989-A4B8-5B49-CC60907B3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64293" y="792153"/>
                <a:ext cx="8843963" cy="540212"/>
              </a:xfrm>
              <a:prstGeom prst="rect">
                <a:avLst/>
              </a:prstGeom>
              <a:blipFill>
                <a:blip r:embed="rId14"/>
                <a:stretch>
                  <a:fillRect l="-207" t="-3371" b="-89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>
            <a:extLst>
              <a:ext uri="{FF2B5EF4-FFF2-40B4-BE49-F238E27FC236}">
                <a16:creationId xmlns:a16="http://schemas.microsoft.com/office/drawing/2014/main" id="{D8D44DF7-0125-5802-9969-5D54907067F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28357" y="1750945"/>
            <a:ext cx="1890954" cy="189095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C5B996E-4D33-FAF9-D21D-270ADF50520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90264" y="1750945"/>
            <a:ext cx="1896010" cy="18909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CDA208D3-48EF-E99E-9F4D-8E50ED26D1C6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4293" y="3766571"/>
                <a:ext cx="217408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 calcul d’un système</a:t>
                </a:r>
              </a:p>
              <a:p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équations : </a:t>
                </a:r>
              </a:p>
              <a:p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Inversion d’une matrice</a:t>
                </a:r>
              </a:p>
              <a:p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 taille</a:t>
                </a:r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fr-FR" sz="1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sz="1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</m:t>
                    </m:r>
                  </m:oMath>
                </a14:m>
                <a:endParaRPr lang="fr-FR" sz="1200" b="1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CDA208D3-48EF-E99E-9F4D-8E50ED26D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64293" y="3766571"/>
                <a:ext cx="2174082" cy="830997"/>
              </a:xfrm>
              <a:prstGeom prst="rect">
                <a:avLst/>
              </a:prstGeom>
              <a:blipFill>
                <a:blip r:embed="rId17"/>
                <a:stretch>
                  <a:fillRect l="-281" t="-735" b="-51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ZoneTexte 13">
            <a:extLst>
              <a:ext uri="{FF2B5EF4-FFF2-40B4-BE49-F238E27FC236}">
                <a16:creationId xmlns:a16="http://schemas.microsoft.com/office/drawing/2014/main" id="{505F5465-10C9-6B06-C070-6344B0677CE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57225" y="1511399"/>
            <a:ext cx="1028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1" u="sng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Global fit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12A3963D-6D79-D42C-DADD-D68AEF1AB89F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590265" y="3766570"/>
                <a:ext cx="189600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calcul d’un système</a:t>
                </a:r>
              </a:p>
              <a:p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 1 équation : </a:t>
                </a:r>
              </a:p>
              <a:p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Inversion d’une matrice de taille </a:t>
                </a:r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sz="1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sz="1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fr-FR" sz="1200" b="1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12A3963D-6D79-D42C-DADD-D68AEF1AB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2590265" y="3766570"/>
                <a:ext cx="1896009" cy="830997"/>
              </a:xfrm>
              <a:prstGeom prst="rect">
                <a:avLst/>
              </a:prstGeom>
              <a:blipFill>
                <a:blip r:embed="rId18"/>
                <a:stretch>
                  <a:fillRect l="-322" t="-735" b="-51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>
            <a:extLst>
              <a:ext uri="{FF2B5EF4-FFF2-40B4-BE49-F238E27FC236}">
                <a16:creationId xmlns:a16="http://schemas.microsoft.com/office/drawing/2014/main" id="{D4913884-C625-D2AD-8B91-C191ECE2F9C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862263" y="1511398"/>
            <a:ext cx="16240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1" u="sng" dirty="0">
                <a:solidFill>
                  <a:srgbClr val="FF970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Filtre de Kalman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D8444195-960D-4C1C-8444-2CB32CEF4A82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4293" y="4743888"/>
                <a:ext cx="46482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Avec 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le nombre de mesures, pour des mesures 1D</a:t>
                </a:r>
              </a:p>
            </p:txBody>
          </p:sp>
        </mc:Choice>
        <mc:Fallback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D8444195-960D-4C1C-8444-2CB32CEF4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64293" y="4743888"/>
                <a:ext cx="4648200" cy="307777"/>
              </a:xfrm>
              <a:prstGeom prst="rect">
                <a:avLst/>
              </a:prstGeom>
              <a:blipFill>
                <a:blip r:embed="rId19"/>
                <a:stretch>
                  <a:fillRect l="-394" t="-5882" b="-1764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ZoneTexte 21">
            <a:extLst>
              <a:ext uri="{FF2B5EF4-FFF2-40B4-BE49-F238E27FC236}">
                <a16:creationId xmlns:a16="http://schemas.microsoft.com/office/drawing/2014/main" id="{C65FF004-C17A-FE66-D558-46AF9492A67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69378" y="1368556"/>
            <a:ext cx="45103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Particule chargée se déplace dans le vide avec un champ magnétique constant 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→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trajectoire sera une hélice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Dans la réalité :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Champ magnétique inhomogène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Energie déposée</a:t>
            </a: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et diffusion multiple dans le détecteur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Donc pas une hélice</a:t>
            </a:r>
          </a:p>
          <a:p>
            <a:endParaRPr lang="fr-FR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Global fit ne 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prend pas en compte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ces effets 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→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ajuste tous les points pour une hélice </a:t>
            </a:r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(la ligne de faisceau)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→ </a:t>
            </a:r>
            <a:r>
              <a:rPr lang="en-US" sz="1600" b="1" i="1" dirty="0" err="1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problèmes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pour les </a:t>
            </a:r>
            <a:r>
              <a:rPr lang="en-US" sz="16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particules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de </a:t>
            </a:r>
            <a:r>
              <a:rPr lang="en-US" sz="1600" dirty="0" err="1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faibles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  impulsion.</a:t>
            </a:r>
            <a:endParaRPr lang="fr-FR" sz="16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1600" dirty="0">
              <a:solidFill>
                <a:schemeClr val="bg1">
                  <a:lumMod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CDB592C-CB9A-1CEB-6DEA-AF621D0A7323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200527" y="4456606"/>
            <a:ext cx="49387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Effets importants </a:t>
            </a:r>
            <a:r>
              <a:rPr lang="en-US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→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développé un 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filtre de Kalman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8185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980F36-9A77-380E-1036-51E348C4E90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dirty="0"/>
              <a:t>Théorie du filtre de Kalman</a:t>
            </a:r>
            <a:endParaRPr lang="fr-FR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329F5A8-CF11-77BB-1C5D-64D7CE3344D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21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BCB9138-CFCD-CE72-9559-23924AEB771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" y="795338"/>
            <a:ext cx="913447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 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filtre de Kalman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 un algorithme utilisé en physique pour la 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reconstruction de trajectoires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L’algorithme fonctionne en </a:t>
            </a:r>
            <a:r>
              <a:rPr lang="fr-FR" sz="1600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deux phases </a:t>
            </a:r>
            <a:r>
              <a:rPr lang="fr-FR" sz="16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prédiction : produis une </a:t>
            </a:r>
            <a:r>
              <a:rPr lang="fr-FR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estimation de l’état actuel </a:t>
            </a: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sur la base de l’état précédent avec les incertitudes grâce au modèle décrivant le système.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 mise à jour : l’estimation est </a:t>
            </a:r>
            <a:r>
              <a:rPr lang="fr-FR" b="1" i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mise à jour avec la nouvelle mesure</a:t>
            </a:r>
            <a:r>
              <a:rPr lang="fr-FR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C43B845-E686-9AC8-3354-BEB3311AD70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7"/>
          <a:srcRect t="17315"/>
          <a:stretch/>
        </p:blipFill>
        <p:spPr>
          <a:xfrm>
            <a:off x="500063" y="2272666"/>
            <a:ext cx="3598201" cy="28110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D14A8C2-B22E-3CAA-4210-957D27F181BB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4357687" y="2095348"/>
                <a:ext cx="4700587" cy="2930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Equation du système </a:t>
                </a: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particule chargée dans un champ magnétique est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fr-FR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FR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f>
                        <m:fPr>
                          <m:ctrlP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𝑑𝑠</m:t>
                          </m:r>
                        </m:den>
                      </m:f>
                      <m:r>
                        <a:rPr lang="fr-FR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0" i="1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schemeClr val="bg1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fr-FR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Equation du 2ème ordre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résolu itérativement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pour obtenir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fr-FR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avec un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algorithme de Runge </a:t>
                </a:r>
                <a:r>
                  <a:rPr lang="fr-FR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Kutta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(RK4). </a:t>
                </a:r>
              </a:p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Prise en compte de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l’énergie déposée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avec l’équation de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Bethe-Block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Ainsi que sa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fluctuation gaussienne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endParaRPr lang="fr-FR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Propagation de l’erreur avec la matrice de covariance :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Dérivée de la fonction de propagation, c-à-d la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Jacobienne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Utilisation de la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dérivée avant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pour résoudre cela.</a:t>
                </a:r>
              </a:p>
            </p:txBody>
          </p:sp>
        </mc:Choice>
        <mc:Fallback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D14A8C2-B22E-3CAA-4210-957D27F18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4357687" y="2095348"/>
                <a:ext cx="4700587" cy="2930739"/>
              </a:xfrm>
              <a:prstGeom prst="rect">
                <a:avLst/>
              </a:prstGeom>
              <a:blipFill>
                <a:blip r:embed="rId8"/>
                <a:stretch>
                  <a:fillRect l="-389" t="-625" b="-10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7011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Une image contenant texte, diagramme, capture d’écran, Tracé&#10;&#10;Description générée automatiquement">
            <a:extLst>
              <a:ext uri="{FF2B5EF4-FFF2-40B4-BE49-F238E27FC236}">
                <a16:creationId xmlns:a16="http://schemas.microsoft.com/office/drawing/2014/main" id="{AC768FA7-F660-B6D3-1A19-C3D1FF82BD6B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4"/>
          <a:stretch/>
        </p:blipFill>
        <p:spPr bwMode="auto">
          <a:xfrm>
            <a:off x="6201311" y="870922"/>
            <a:ext cx="2851730" cy="2117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CFCEF3A3-1EC7-294E-3CA1-F5184C2A9186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3" t="454"/>
          <a:stretch/>
        </p:blipFill>
        <p:spPr bwMode="auto">
          <a:xfrm>
            <a:off x="6201311" y="2949583"/>
            <a:ext cx="2851730" cy="2157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A5739FF-2600-024E-EE05-535E69C91CA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FR" noProof="0" dirty="0"/>
              <a:t>Application pour BONuS12​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CA61763-D392-D70E-9BF0-251A3050AEA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22</a:t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15A66153-E254-1748-264F-20DFF928FDCD}"/>
                  </a:ext>
                </a:extLst>
              </p:cNvPr>
              <p:cNvSpPr>
                <a:spLocks noGrp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9526" y="760489"/>
                <a:ext cx="6234111" cy="438301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Implémentation d’un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filtre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Kalman pour BONuS12 →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reconstruire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les protons de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basse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impulsion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→ 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importants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car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indicateur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d’un neutron libre.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200" b="1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2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Effets</a:t>
                </a:r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importants</a:t>
                </a:r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à prendre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compte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BONuS12 :</a:t>
                </a: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Énergie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déposée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(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équation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Bethe-Block)</a:t>
                </a: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Processus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aléatoire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→ fluctuation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gaussienne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Inhomogénéité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champ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magnétique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Bonne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prise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compte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l’erreur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sur la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mesure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→ Impact sur le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taux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réussite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Test et validation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ur des données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simulées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Un seul proton avec des distributions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uniformes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développer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évaluer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filtre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Kalman.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Sur des données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d’électron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-proton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élastique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radiatif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évaluer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filtre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Kalman sur de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vraies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données.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Réussite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 </a:t>
                </a: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Meilleure</a:t>
                </a:r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résolution</a:t>
                </a:r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toutes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les impulsions, avec un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effet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plus important pour les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faibles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impulsions. Modification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faible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sur les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autres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variables </a:t>
                </a: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𝜙</m:t>
                    </m:r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,</m:t>
                    </m:r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𝜃</m:t>
                    </m:r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𝑣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𝑧</m:t>
                        </m:r>
                      </m:sub>
                    </m:sSub>
                    <m:r>
                      <a:rPr lang="fr-FR" sz="12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.</m:t>
                    </m:r>
                  </m:oMath>
                </a14:m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Nous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pouvons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calculer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12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𝑑𝐸</m:t>
                        </m:r>
                      </m:num>
                      <m:den>
                        <m:r>
                          <a:rPr lang="fr-FR" sz="12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dans la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région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dérive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avoir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meilleure</a:t>
                </a:r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identification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Désavantages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68%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d’efficacité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→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perte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traces (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plutôt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des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mauvaises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</a:t>
                </a:r>
              </a:p>
              <a:p>
                <a:pPr marL="285750" indent="-28575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24% plus lent, le global fit </a:t>
                </a:r>
                <a:r>
                  <a:rPr lang="en-US" sz="1100" b="0" i="0" dirty="0" err="1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est</a:t>
                </a:r>
                <a:r>
                  <a:rPr lang="en-US" sz="1100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100" b="0" i="0" dirty="0" err="1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toujours</a:t>
                </a:r>
                <a:r>
                  <a:rPr lang="en-US" sz="1100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100" b="0" i="0" dirty="0" err="1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présent</a:t>
                </a:r>
                <a:r>
                  <a:rPr lang="en-US" sz="1100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peu </a:t>
                </a:r>
                <a:r>
                  <a:rPr lang="en-US" sz="1100" b="0" i="0" dirty="0" err="1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d’optimisation</a:t>
                </a:r>
                <a:r>
                  <a:rPr lang="en-US" sz="1100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b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5" name="Espace réservé du contenu 2">
                <a:extLst>
                  <a:ext uri="{FF2B5EF4-FFF2-40B4-BE49-F238E27FC236}">
                    <a16:creationId xmlns:a16="http://schemas.microsoft.com/office/drawing/2014/main" id="{15A66153-E254-1748-264F-20DFF928FD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9526" y="760489"/>
                <a:ext cx="6234111" cy="4383010"/>
              </a:xfrm>
              <a:prstGeom prst="rect">
                <a:avLst/>
              </a:prstGeom>
              <a:blipFill>
                <a:blip r:embed="rId11"/>
                <a:stretch>
                  <a:fillRect l="-294" t="-4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7">
            <a:extLst>
              <a:ext uri="{FF2B5EF4-FFF2-40B4-BE49-F238E27FC236}">
                <a16:creationId xmlns:a16="http://schemas.microsoft.com/office/drawing/2014/main" id="{70DB58BF-1021-8FDB-72A9-56DD125338B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366800" y="1296471"/>
            <a:ext cx="1324762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Simulated data</a:t>
            </a:r>
          </a:p>
        </p:txBody>
      </p:sp>
      <p:sp>
        <p:nvSpPr>
          <p:cNvPr id="7" name="ZoneTexte 7">
            <a:extLst>
              <a:ext uri="{FF2B5EF4-FFF2-40B4-BE49-F238E27FC236}">
                <a16:creationId xmlns:a16="http://schemas.microsoft.com/office/drawing/2014/main" id="{CE9167C0-1475-0AB7-E8B8-2FA33F6CA87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448156" y="3484149"/>
            <a:ext cx="1324762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A52BE"/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Elastic data</a:t>
            </a:r>
          </a:p>
        </p:txBody>
      </p:sp>
    </p:spTree>
    <p:extLst>
      <p:ext uri="{BB962C8B-B14F-4D97-AF65-F5344CB8AC3E}">
        <p14:creationId xmlns:p14="http://schemas.microsoft.com/office/powerpoint/2010/main" val="1866061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Picture 6" descr="Une image contenant diagramme, ligne, cercle, croquis&#10;&#10;Description générée automatiquement">
            <a:extLst>
              <a:ext uri="{FF2B5EF4-FFF2-40B4-BE49-F238E27FC236}">
                <a16:creationId xmlns:a16="http://schemas.microsoft.com/office/drawing/2014/main" id="{75BDD4A9-472A-34B5-C95A-6B77F82BA42D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0" r="8207"/>
          <a:stretch/>
        </p:blipFill>
        <p:spPr bwMode="auto">
          <a:xfrm>
            <a:off x="4832350" y="1105978"/>
            <a:ext cx="4254500" cy="243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3C7F5AE-4D3E-C23B-78DD-01AEA3C2DC7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/>
              <a:t>Canal et observable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C3B4229-A09C-B102-C8E1-DEE216592F3A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23</a:t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4">
                <a:extLst>
                  <a:ext uri="{FF2B5EF4-FFF2-40B4-BE49-F238E27FC236}">
                    <a16:creationId xmlns:a16="http://schemas.microsoft.com/office/drawing/2014/main" id="{56A5327F-4C19-FB19-1AEC-F887689F5EEC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39693" y="865406"/>
                <a:ext cx="5975358" cy="4185761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Cette analyse :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neutron DVCS avec tag proton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pas de détection du neutron.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cible est le deutérium gazeux non polarisé de 40cm pour obtenir un neutron quasi libre. </a:t>
                </a:r>
              </a:p>
              <a:p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État initial </a:t>
                </a:r>
                <a:r>
                  <a:rPr lang="fr-FR" sz="1400" b="1" i="1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Énergie du faisceau d’électrons de 10.4 </a:t>
                </a:r>
                <a:r>
                  <a:rPr lang="fr-FR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GeV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Polarisation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moyenne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83.66% </a:t>
                </a:r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État final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Électron, photon, proton spectateur.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Choisi le plus énergétique </a:t>
                </a:r>
                <a14:m>
                  <m:oMath xmlns:m="http://schemas.openxmlformats.org/officeDocument/2006/math">
                    <m:r>
                      <a:rPr lang="fr-FR" sz="140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𝛾</m:t>
                    </m:r>
                    <m:r>
                      <a:rPr lang="fr-FR" sz="14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,</m:t>
                    </m:r>
                    <m:sSub>
                      <m:sSubPr>
                        <m:ctrlPr>
                          <a:rPr lang="fr-FR" sz="14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𝑝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comme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candidat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Avantage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probleme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neutron spectateur donne le </a:t>
                </a:r>
                <a:r>
                  <a:rPr lang="fr-FR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quadri-vecteur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neutron initial.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Manquer un neutron → Manquer une particule de haute énergie.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Plus difficile de sélectionner les événements DVCS. </a:t>
                </a:r>
              </a:p>
              <a:p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L'observable de cette analyse est l'asymétrie de spin du faisceau (BSA).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4" name="ZoneTexte 4">
                <a:extLst>
                  <a:ext uri="{FF2B5EF4-FFF2-40B4-BE49-F238E27FC236}">
                    <a16:creationId xmlns:a16="http://schemas.microsoft.com/office/drawing/2014/main" id="{56A5327F-4C19-FB19-1AEC-F887689F5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139693" y="865406"/>
                <a:ext cx="5975358" cy="4185761"/>
              </a:xfrm>
              <a:prstGeom prst="rect">
                <a:avLst/>
              </a:prstGeom>
              <a:blipFill>
                <a:blip r:embed="rId9"/>
                <a:stretch>
                  <a:fillRect l="-306" t="-437" b="-29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 9">
            <a:extLst>
              <a:ext uri="{FF2B5EF4-FFF2-40B4-BE49-F238E27FC236}">
                <a16:creationId xmlns:a16="http://schemas.microsoft.com/office/drawing/2014/main" id="{6BC3F4F1-3AA5-9068-189C-D85AF682BB1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159720" y="1231255"/>
            <a:ext cx="4051308" cy="48452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3DEB4FC-3BF4-CE89-C501-7D7F4438489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946908" y="3780889"/>
            <a:ext cx="2057400" cy="99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90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Une image contenant texte, capture d’écran, Caractère coloré&#10;&#10;Description générée automatiquement">
            <a:extLst>
              <a:ext uri="{FF2B5EF4-FFF2-40B4-BE49-F238E27FC236}">
                <a16:creationId xmlns:a16="http://schemas.microsoft.com/office/drawing/2014/main" id="{3AD9C59D-D538-C3BB-110F-6369DC5D3AC1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325" y="2844008"/>
            <a:ext cx="3151336" cy="225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2716937-4FDA-4BAC-40AA-E66A4E4C34F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/>
              <a:t>Identification des particules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9A4473-76E6-165B-F48B-2039AD31C65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24</a:t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re 1">
                <a:extLst>
                  <a:ext uri="{FF2B5EF4-FFF2-40B4-BE49-F238E27FC236}">
                    <a16:creationId xmlns:a16="http://schemas.microsoft.com/office/drawing/2014/main" id="{49F64CB4-B8EA-B85B-55FC-750D3DCC2AF5}"/>
                  </a:ext>
                </a:extLst>
              </p:cNvPr>
              <p:cNvSpPr txBox="1">
                <a:spLocks/>
              </p:cNvSpPr>
              <p:nvPr>
                <p:custDataLst>
                  <p:tags r:id="rId4"/>
                </p:custDataLst>
              </p:nvPr>
            </p:nvSpPr>
            <p:spPr>
              <a:xfrm>
                <a:off x="-1" y="769734"/>
                <a:ext cx="6103177" cy="4373766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Identifier trois particules de l'état final : 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sz="12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Électron</a:t>
                </a:r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diffusé</a:t>
                </a:r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ECAL, DC et HTCC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Photon </a:t>
                </a:r>
                <a:r>
                  <a:rPr lang="en-US" sz="12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réel</a:t>
                </a:r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ECAL  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Proton </a:t>
                </a:r>
                <a:r>
                  <a:rPr lang="en-US" sz="12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spectateur</a:t>
                </a:r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RTPC BoNuS12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Utiliser les coupes standard de CLAS12 pour l'électron et le photon.</a:t>
                </a:r>
              </a:p>
              <a:p>
                <a:pPr>
                  <a:lnSpc>
                    <a:spcPct val="120000"/>
                  </a:lnSpc>
                </a:pPr>
                <a:endParaRPr lang="fr-FR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Sélection du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proton spectateur</a:t>
                </a:r>
                <a:r>
                  <a:rPr lang="fr-FR" sz="14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</a:t>
                </a:r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Sélection des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bonnes trajectoires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</a:t>
                </a:r>
              </a:p>
              <a:p>
                <a:pPr marL="360000" lvl="1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SupPr>
                      <m:e>
                        <m:r>
                          <a:rPr lang="en-US" sz="11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𝜒</m:t>
                        </m:r>
                      </m:e>
                      <m:sub>
                        <m:r>
                          <a:rPr lang="fr-FR" sz="11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h𝑒𝑙𝑖𝑥</m:t>
                        </m:r>
                      </m:sub>
                      <m:sup>
                        <m:r>
                          <a:rPr lang="fr-FR" sz="11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2</m:t>
                        </m:r>
                      </m:sup>
                    </m:sSubSup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&lt;2.5 </m:t>
                    </m:r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bonne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qualité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l’ajustement</a:t>
                </a:r>
                <a:endParaRPr lang="en-US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1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17 &lt;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nhits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&lt; 45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suffisamment de hits pour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l’ajustement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mais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deux traces combine.</a:t>
                </a:r>
              </a:p>
              <a:p>
                <a:pPr marL="360000" lvl="1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𝑅</m:t>
                        </m:r>
                      </m:e>
                      <m:sub>
                        <m:r>
                          <a:rPr lang="fr-FR" sz="11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h𝑒𝑙𝑖𝑥</m:t>
                        </m:r>
                      </m:sub>
                    </m:sSub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&lt;0</m:t>
                    </m:r>
                  </m:oMath>
                </a14:m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ea typeface="Cambria Math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100" i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trace avec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une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charge positive</a:t>
                </a:r>
              </a:p>
              <a:p>
                <a:pPr marL="360000" lvl="1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−18&lt;</m:t>
                    </m:r>
                    <m:sSub>
                      <m:sSubPr>
                        <m:ctrlPr>
                          <a:rPr lang="fr-FR" sz="11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𝑣</m:t>
                        </m:r>
                      </m:e>
                      <m:sub>
                        <m:r>
                          <a:rPr lang="fr-FR" sz="11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𝑧</m:t>
                        </m:r>
                      </m:sub>
                    </m:sSub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&lt;12</m:t>
                    </m:r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cm </a:t>
                </a:r>
                <a14:m>
                  <m:oMath xmlns:m="http://schemas.openxmlformats.org/officeDocument/2006/math">
                    <m:r>
                      <a:rPr lang="fr-FR" sz="1100" i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couper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les bords du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détecteur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élection des traces provenant de la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même interaction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marL="360000" lvl="2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Construire une variable de type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10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fr-FR" sz="1100" i="1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𝜒</m:t>
                        </m:r>
                      </m:e>
                      <m:sup>
                        <m:r>
                          <a:rPr lang="fr-FR" sz="11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1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combiner </a:t>
                </a:r>
                <a14:m>
                  <m:oMath xmlns:m="http://schemas.openxmlformats.org/officeDocument/2006/math">
                    <m:r>
                      <a:rPr lang="en-US" sz="11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𝒕</m:t>
                    </m:r>
                    <m:r>
                      <a:rPr lang="en-US" sz="1100" b="1" i="1" baseline="-25000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𝒅𝒊𝒇𝒇</m:t>
                    </m:r>
                  </m:oMath>
                </a14:m>
                <a:r>
                  <a:rPr lang="en-US" sz="1100" b="1" i="1" baseline="-250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1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et</a:t>
                </a:r>
                <a:r>
                  <a:rPr lang="en-US" sz="1100" b="1" i="1" baseline="-25000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𝜟</m:t>
                    </m:r>
                    <m:r>
                      <a:rPr lang="en-US" sz="1100" b="1" i="1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𝒗</m:t>
                    </m:r>
                    <m:r>
                      <a:rPr lang="en-US" sz="1100" b="1" i="1" baseline="-25000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𝒛</m:t>
                    </m:r>
                  </m:oMath>
                </a14:m>
                <a:r>
                  <a:rPr lang="en-US" sz="11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 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réduire le bruit de fond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 </a:t>
                </a:r>
              </a:p>
              <a:p>
                <a:pPr marL="360000" lvl="2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𝑡</m:t>
                    </m:r>
                    <m:r>
                      <a:rPr lang="en-US" sz="11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𝑑𝑖𝑓𝑓</m:t>
                    </m:r>
                    <m:r>
                      <a:rPr lang="en-US" sz="1100" i="1" baseline="-25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différence de temps entre la cathode et le premier coup de la trajectoire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360000" lvl="2" indent="-144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Permet de </a:t>
                </a:r>
                <a:r>
                  <a:rPr lang="fr-FR" sz="11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supprimer l'empilement </a:t>
                </a:r>
                <a14:m>
                  <m:oMath xmlns:m="http://schemas.openxmlformats.org/officeDocument/2006/math">
                    <m:r>
                      <a:rPr lang="fr-FR" sz="1100" b="0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retirer les bonnes traces d'un autre événement.</a:t>
                </a:r>
                <a:endParaRPr lang="fr-FR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Sélection des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protons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dans toutes les bonnes pistes du RTPC en coupant sur : </a:t>
                </a:r>
                <a:endParaRPr lang="fr-FR" sz="1100" i="1" dirty="0">
                  <a:solidFill>
                    <a:schemeClr val="bg1">
                      <a:lumMod val="25000"/>
                    </a:schemeClr>
                  </a:solidFill>
                  <a:latin typeface="Cambria Math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0.072 &lt; </m:t>
                    </m:r>
                    <m:sSub>
                      <m:sSubPr>
                        <m:ctrlPr>
                          <a:rPr lang="en-US" sz="11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1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𝑝</m:t>
                        </m:r>
                      </m:e>
                      <m:sub>
                        <m:r>
                          <a:rPr lang="fr-FR" sz="11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𝑚𝑒𝑎𝑠</m:t>
                        </m:r>
                      </m:sub>
                    </m:sSub>
                    <m:r>
                      <a:rPr lang="en-US" sz="11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&lt; 0.15</m:t>
                    </m:r>
                    <m:r>
                      <a:rPr lang="fr-FR" sz="11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.</m:t>
                    </m:r>
                  </m:oMath>
                </a14:m>
                <a:endParaRPr lang="fr-FR" sz="1100" i="1" dirty="0">
                  <a:solidFill>
                    <a:schemeClr val="bg1">
                      <a:lumMod val="25000"/>
                    </a:schemeClr>
                  </a:solidFill>
                  <a:latin typeface="Cambria Math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1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fPr>
                      <m:num>
                        <m:r>
                          <a:rPr lang="fr-FR" sz="11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𝑑𝐸</m:t>
                        </m:r>
                      </m:num>
                      <m:den>
                        <m:r>
                          <a:rPr lang="fr-FR" sz="11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𝑑𝑥</m:t>
                        </m:r>
                      </m:den>
                    </m:f>
                    <m:r>
                      <a:rPr lang="en-US" sz="11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&lt;  60.15 +</m:t>
                    </m:r>
                    <m:r>
                      <a:rPr lang="en-US" sz="11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en-US" sz="11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4.63 </m:t>
                    </m:r>
                    <m:sSup>
                      <m:sSupPr>
                        <m:ctrlPr>
                          <a:rPr lang="en-US" sz="11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fr-FR" sz="11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𝑝</m:t>
                        </m:r>
                      </m:e>
                      <m:sup>
                        <m:r>
                          <a:rPr lang="fr-FR" sz="11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−1.773</m:t>
                        </m:r>
                      </m:sup>
                    </m:sSup>
                  </m:oMath>
                </a14:m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réduire la contamination par l'hélium ou le deutérium.</a:t>
                </a:r>
                <a:endParaRPr lang="en-US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742950" lvl="1" indent="-285750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</a:pP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4" name="Titre 1">
                <a:extLst>
                  <a:ext uri="{FF2B5EF4-FFF2-40B4-BE49-F238E27FC236}">
                    <a16:creationId xmlns:a16="http://schemas.microsoft.com/office/drawing/2014/main" id="{49F64CB4-B8EA-B85B-55FC-750D3DCC2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-1" y="769734"/>
                <a:ext cx="6103177" cy="4373766"/>
              </a:xfrm>
              <a:prstGeom prst="rect">
                <a:avLst/>
              </a:prstGeom>
              <a:blipFill>
                <a:blip r:embed="rId9"/>
                <a:stretch>
                  <a:fillRect l="-3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60ADBE3D-77F1-2DBA-9884-2D6F058D87ED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176" y="872372"/>
            <a:ext cx="2964623" cy="2124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Une image contenant texte, Police, ligne, diagramme&#10;&#10;Description générée automatiquement">
            <a:extLst>
              <a:ext uri="{FF2B5EF4-FFF2-40B4-BE49-F238E27FC236}">
                <a16:creationId xmlns:a16="http://schemas.microsoft.com/office/drawing/2014/main" id="{A609C46C-7499-D133-F27D-1D47CFF61F3F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010" y="2146573"/>
            <a:ext cx="2956454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155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5" name="Picture 11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A499F45C-44B0-70C4-6991-C79A002A4162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0" r="1520"/>
          <a:stretch/>
        </p:blipFill>
        <p:spPr bwMode="auto">
          <a:xfrm>
            <a:off x="6218613" y="2868613"/>
            <a:ext cx="2925387" cy="2254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D32E755-7FBC-DF64-7BD3-DD64D3CC163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FR" noProof="0" dirty="0"/>
              <a:t>Domaine cinématique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7343219-7F20-4C55-4873-036F0B954676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25</a:t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297ADB7F-709B-90E7-D02B-FE270C5D1E86}"/>
                  </a:ext>
                </a:extLst>
              </p:cNvPr>
              <p:cNvSpPr>
                <a:spLocks noGrp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9526" y="777160"/>
                <a:ext cx="9134474" cy="231615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Sélection de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l'espace des phases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où le formalisme DVCS fonctionne avec coupures sur :</a:t>
                </a:r>
                <a:endParaRPr lang="fr-FR" sz="1400" i="1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1.5 &lt; </m:t>
                    </m:r>
                    <m:sSup>
                      <m:sSup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𝑄</m:t>
                        </m:r>
                      </m:e>
                      <m:sup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2</m:t>
                        </m:r>
                      </m:sup>
                    </m:sSup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&lt; 6 </m:t>
                    </m:r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GeV</m:t>
                    </m:r>
                    <m:r>
                      <m:rPr>
                        <m:nor/>
                      </m:rPr>
                      <a:rPr lang="en-US" sz="1400" baseline="30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2</m:t>
                    </m:r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/</m:t>
                    </m:r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c</m:t>
                    </m:r>
                    <m:r>
                      <m:rPr>
                        <m:nor/>
                      </m:rPr>
                      <a:rPr lang="en-US" sz="1400" baseline="30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2</m:t>
                    </m:r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l'événement soit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profond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répondre aux conditions pour la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factorisation des GPD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𝑊</m:t>
                        </m:r>
                      </m:e>
                      <m:sup>
                        <m:sSup>
                          <m:sSupPr>
                            <m:ctrlPr>
                              <a:rPr lang="fr-FR" sz="1400" b="0" i="1" dirty="0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</m:ctrlPr>
                          </m:sSupPr>
                          <m:e>
                            <m:r>
                              <a:rPr lang="fr-FR" sz="1400" b="0" i="1" dirty="0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  <m:t>∗</m:t>
                            </m:r>
                          </m:e>
                          <m:sup>
                            <m:r>
                              <a:rPr lang="fr-FR" sz="1400" b="0" i="1" dirty="0" smtClean="0">
                                <a:solidFill>
                                  <a:schemeClr val="bg1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Libertinus Serif" pitchFamily="50" charset="0"/>
                                <a:cs typeface="Libertinus Serif" pitchFamily="50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&gt;</m:t>
                    </m:r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4 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GeV</a:t>
                </a:r>
                <a:r>
                  <a:rPr lang="en-US" sz="1400" baseline="30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2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éviter la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zone des résonances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(W* : version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corrigé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W avec les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informations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spectateur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𝑡</m:t>
                        </m:r>
                      </m:e>
                      <m:sub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𝐷𝑉𝐶𝑆</m:t>
                        </m:r>
                      </m:sub>
                    </m:sSub>
                    <m:r>
                      <a:rPr lang="fr-FR" sz="14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&lt;0.4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GeV</m:t>
                    </m:r>
                    <m:r>
                      <m:rPr>
                        <m:nor/>
                      </m:rPr>
                      <a:rPr lang="en-US" sz="1400" baseline="30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2</m:t>
                    </m:r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/</m:t>
                    </m:r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c</m:t>
                    </m:r>
                    <m:r>
                      <m:rPr>
                        <m:nor/>
                      </m:rPr>
                      <a:rPr lang="en-US" sz="1400" baseline="300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2</m:t>
                    </m:r>
                    <m:r>
                      <m:rPr>
                        <m:nor/>
                      </m:rPr>
                      <a:rPr lang="en-US" sz="1400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→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</a:t>
                </a:r>
                <a:r>
                  <a:rPr lang="en-US" sz="12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réduire</a:t>
                </a:r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la contamination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endParaRPr lang="en-US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Meilleure résolution sur 𝑡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→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calcul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avec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l'angle du photon sortant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en supposant un événement exclusif et la conservation du 4-momentum. </a:t>
                </a: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Coupure à un petit 𝑡 parce que la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contamination de fond devient ingérable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297ADB7F-709B-90E7-D02B-FE270C5D1E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9526" y="777160"/>
                <a:ext cx="9134474" cy="2316157"/>
              </a:xfrm>
              <a:prstGeom prst="rect">
                <a:avLst/>
              </a:prstGeom>
              <a:blipFill>
                <a:blip r:embed="rId12"/>
                <a:stretch>
                  <a:fillRect l="-200" t="-5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68" name="Picture 4" descr="Une image contenant texte, Police, ligne, nombre&#10;&#10;Description générée automatiquement">
            <a:extLst>
              <a:ext uri="{FF2B5EF4-FFF2-40B4-BE49-F238E27FC236}">
                <a16:creationId xmlns:a16="http://schemas.microsoft.com/office/drawing/2014/main" id="{AADAB6AF-52C1-CB7A-E947-3F8D7AAEE998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994" y="1666370"/>
            <a:ext cx="1951701" cy="48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9" name="Picture 5" descr="Une image contenant Police, texte, ligne, typographie&#10;&#10;Description générée automatiquement">
            <a:extLst>
              <a:ext uri="{FF2B5EF4-FFF2-40B4-BE49-F238E27FC236}">
                <a16:creationId xmlns:a16="http://schemas.microsoft.com/office/drawing/2014/main" id="{D9BE4D96-C9E9-B2EC-37A6-F09E10457199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8" y="1754840"/>
            <a:ext cx="5710238" cy="44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1" name="Picture 7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0E6CB1EE-4A17-9591-224B-356C1A236FBE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859951"/>
            <a:ext cx="3171167" cy="2270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3" name="Picture 9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182D5696-B189-EADC-7C66-ED1D59AE2E16}"/>
              </a:ext>
            </a:extLst>
          </p:cNvPr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7" r="1699"/>
          <a:stretch/>
        </p:blipFill>
        <p:spPr bwMode="auto">
          <a:xfrm>
            <a:off x="3171166" y="2855188"/>
            <a:ext cx="2925386" cy="2270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874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6" name="Picture 8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04736425-7784-5B17-99EE-41C02F2594D5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287" y="2905870"/>
            <a:ext cx="3071205" cy="219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C5B3A060-343C-8E4B-972E-1AFB3D129F8E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" y="2869066"/>
            <a:ext cx="3120163" cy="2233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9475D3B-EC9D-8CB1-49FC-4AD35A99C3DD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fr-FR" noProof="0" dirty="0"/>
              <a:t>Correction des accidentels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89A1D57-FD58-5966-6E7D-C53CDBA227E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26</a:t>
            </a:fld>
            <a:endParaRPr lang="fr-FR" dirty="0"/>
          </a:p>
        </p:txBody>
      </p:sp>
      <p:pic>
        <p:nvPicPr>
          <p:cNvPr id="12294" name="Picture 6" descr="Une image contenant texte, diagramme, capture d’écran, ligne&#10;&#10;Description générée automatiquement">
            <a:extLst>
              <a:ext uri="{FF2B5EF4-FFF2-40B4-BE49-F238E27FC236}">
                <a16:creationId xmlns:a16="http://schemas.microsoft.com/office/drawing/2014/main" id="{1F7A070E-3210-F719-66E7-6A3431F9BC78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3" r="1730"/>
          <a:stretch/>
        </p:blipFill>
        <p:spPr bwMode="auto">
          <a:xfrm>
            <a:off x="3126943" y="2832440"/>
            <a:ext cx="2938463" cy="2233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Espace réservé du contenu 2">
                <a:extLst>
                  <a:ext uri="{FF2B5EF4-FFF2-40B4-BE49-F238E27FC236}">
                    <a16:creationId xmlns:a16="http://schemas.microsoft.com/office/drawing/2014/main" id="{F4EE015B-0C21-2DBD-C0D7-80B2A469096B}"/>
                  </a:ext>
                </a:extLst>
              </p:cNvPr>
              <p:cNvSpPr txBox="1">
                <a:spLocks/>
              </p:cNvSpPr>
              <p:nvPr>
                <p:custDataLst>
                  <p:tags r:id="rId6"/>
                </p:custDataLst>
              </p:nvPr>
            </p:nvSpPr>
            <p:spPr>
              <a:xfrm>
                <a:off x="47628" y="795536"/>
                <a:ext cx="9048744" cy="252193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Sélection d’un proton spectateur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provenant d'une autre interaction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 En modifiant le terme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Δ</m:t>
                    </m:r>
                    <m:sSub>
                      <m:sSubPr>
                        <m:ctrlPr>
                          <a:rPr lang="el-GR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𝑣</m:t>
                        </m:r>
                      </m:e>
                      <m:sub>
                        <m:r>
                          <a:rPr lang="fr-FR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dans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𝜒</m:t>
                    </m:r>
                    <m:r>
                      <a:rPr lang="en-US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𝑝𝑖𝑙𝑒𝑢𝑝</m:t>
                    </m:r>
                  </m:oMath>
                </a14:m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 </a:t>
                </a:r>
                <a:endParaRPr lang="fr-FR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Prendre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deux bandes à 15cm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chaque côté.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Coupe sur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χ</a:t>
                </a:r>
                <a:r>
                  <a:rPr lang="en-US" sz="1200" baseline="-250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pileup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à une valeur plus élevée (6) pour avoir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2 fois la statistique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lvl="2"/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contamination des accidentels est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sensible à l'hélicité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(majoritairement </a:t>
                </a:r>
                <a:r>
                  <a:rPr lang="fr-FR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pDVCS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) : </a:t>
                </a:r>
              </a:p>
              <a:p>
                <a:pPr marL="144000" lvl="2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Impose la sélection d'un électron et d'un photon de haute énergie : événement déjà DVCS</a:t>
                </a:r>
              </a:p>
              <a:p>
                <a:pPr marL="144000" lvl="2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Section efficace du </a:t>
                </a:r>
                <a:r>
                  <a:rPr lang="fr-FR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pDVCS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plus élevée.</a:t>
                </a:r>
              </a:p>
              <a:p>
                <a:pPr marL="144000" lvl="2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Nécessité la correction de la contamination accidentelle au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niveau de l'hélicité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 </a:t>
                </a:r>
                <a:endParaRPr lang="fr-FR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lvl="1"/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contamination accidentelle est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d'environ 20 %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Impact significatif sur la barre d'erreur pour l'asymétrie. 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Pas de variation de 𝑡.</a:t>
                </a:r>
                <a:endPara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lvl="1"/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lvl="1"/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7" name="Espace réservé du contenu 2">
                <a:extLst>
                  <a:ext uri="{FF2B5EF4-FFF2-40B4-BE49-F238E27FC236}">
                    <a16:creationId xmlns:a16="http://schemas.microsoft.com/office/drawing/2014/main" id="{F4EE015B-0C21-2DBD-C0D7-80B2A4690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47628" y="795536"/>
                <a:ext cx="9048744" cy="2521937"/>
              </a:xfrm>
              <a:prstGeom prst="rect">
                <a:avLst/>
              </a:prstGeom>
              <a:blipFill>
                <a:blip r:embed="rId11"/>
                <a:stretch>
                  <a:fillRect l="-202" t="-7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3116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0" name="Picture 8" descr="Une image contenant texte, diagramme, ligne, Parallèle&#10;&#10;Description générée automatiquement">
            <a:extLst>
              <a:ext uri="{FF2B5EF4-FFF2-40B4-BE49-F238E27FC236}">
                <a16:creationId xmlns:a16="http://schemas.microsoft.com/office/drawing/2014/main" id="{F4C5D212-9782-3ACC-71F1-119AF630603B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013" y="3030620"/>
            <a:ext cx="2906565" cy="208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8518AC59-FD9F-459D-6919-D4C7B609B682}"/>
                  </a:ext>
                </a:extLst>
              </p:cNvPr>
              <p:cNvSpPr>
                <a:spLocks noGrp="1"/>
              </p:cNvSpPr>
              <p:nvPr>
                <p:ph type="title"/>
                <p:custDataLst>
                  <p:tags r:id="rId2"/>
                </p:custDataLst>
              </p:nvPr>
            </p:nvSpPr>
            <p:spPr/>
            <p:txBody>
              <a:bodyPr/>
              <a:lstStyle/>
              <a:p>
                <a:r>
                  <a:rPr lang="fr-FR" noProof="0" dirty="0"/>
                  <a:t>Correction du bruit de fond des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noProof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fr-FR" b="1" i="1" noProof="0" smtClean="0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fr-FR" noProof="0" dirty="0"/>
                  <a:t> ​</a:t>
                </a:r>
              </a:p>
            </p:txBody>
          </p:sp>
        </mc:Choice>
        <mc:Fallback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8518AC59-FD9F-459D-6919-D4C7B609B6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  <p:custDataLst>
                  <p:tags r:id="rId2"/>
                </p:custDataLst>
              </p:nvPr>
            </p:nvSpPr>
            <p:spPr>
              <a:blipFill>
                <a:blip r:embed="rId11"/>
                <a:stretch>
                  <a:fillRect l="-1736" t="-2400" b="-104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C756B86-8808-18ED-6C40-33D48C5B2B26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27</a:t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70CEAC86-87E4-4DDF-D6E3-E14D3ABABE3F}"/>
                  </a:ext>
                </a:extLst>
              </p:cNvPr>
              <p:cNvSpPr>
                <a:spLocks noGrp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9525" y="720874"/>
                <a:ext cx="6271177" cy="306877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Bruit de fond principal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→ 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désintégration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2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l-G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𝜋</m:t>
                        </m:r>
                      </m:e>
                      <m:sup>
                        <m:r>
                          <a:rPr lang="fr-FR" sz="12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 deux photons et détections qu'un seul 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𝑒𝑑</m:t>
                      </m:r>
                      <m:r>
                        <a:rPr lang="en-US" sz="1200" i="1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 → </m:t>
                      </m:r>
                      <m:r>
                        <a:rPr lang="en-US" sz="1200" i="1" dirty="0" smtClean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𝑒</m:t>
                      </m:r>
                      <m:sSub>
                        <m:sSubPr>
                          <m:ctrlPr>
                            <a:rPr lang="en-US" sz="1200" i="1" dirty="0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Libertinus Serif" pitchFamily="50" charset="0"/>
                              <a:cs typeface="Libertinus Serif" pitchFamily="50" charset="0"/>
                            </a:rPr>
                          </m:ctrlPr>
                        </m:sSubPr>
                        <m:e>
                          <m:r>
                            <a:rPr lang="fr-FR" sz="1200" b="0" i="1" dirty="0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Libertinus Serif" pitchFamily="50" charset="0"/>
                              <a:cs typeface="Libertinus Serif" pitchFamily="50" charset="0"/>
                            </a:rPr>
                            <m:t>𝑝</m:t>
                          </m:r>
                        </m:e>
                        <m:sub>
                          <m:r>
                            <a:rPr lang="fr-FR" sz="1200" b="0" i="1" dirty="0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Libertinus Serif" pitchFamily="50" charset="0"/>
                              <a:cs typeface="Libertinus Serif" pitchFamily="50" charset="0"/>
                            </a:rPr>
                            <m:t>𝑠</m:t>
                          </m:r>
                        </m:sub>
                      </m:sSub>
                      <m:sSup>
                        <m:sSupPr>
                          <m:ctrlPr>
                            <a:rPr lang="el-GR" sz="1200" i="1" dirty="0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Libertinus Serif" pitchFamily="50" charset="0"/>
                              <a:cs typeface="Libertinus Serif" pitchFamily="50" charset="0"/>
                            </a:rPr>
                          </m:ctrlPr>
                        </m:sSupPr>
                        <m:e>
                          <m:r>
                            <a:rPr lang="el-GR" sz="1200" i="1" dirty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Libertinus Serif" pitchFamily="50" charset="0"/>
                              <a:cs typeface="Libertinus Serif" pitchFamily="50" charset="0"/>
                            </a:rPr>
                            <m:t>𝜋</m:t>
                          </m:r>
                        </m:e>
                        <m:sup>
                          <m:r>
                            <a:rPr lang="fr-FR" sz="1200" b="0" i="1" dirty="0" smtClean="0">
                              <a:solidFill>
                                <a:schemeClr val="bg1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Libertinus Serif" pitchFamily="50" charset="0"/>
                              <a:cs typeface="Libertinus Serif" pitchFamily="50" charset="0"/>
                            </a:rPr>
                            <m:t>0</m:t>
                          </m:r>
                        </m:sup>
                      </m:sSup>
                      <m:r>
                        <a:rPr lang="el-GR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(</m:t>
                      </m:r>
                      <m:r>
                        <a:rPr lang="en-US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𝑛</m:t>
                      </m:r>
                      <m:r>
                        <a:rPr lang="en-US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) → </m:t>
                      </m:r>
                      <m:r>
                        <a:rPr lang="en-US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𝑒𝑝𝑠</m:t>
                      </m:r>
                      <m:r>
                        <a:rPr lang="el-GR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𝛾𝛾</m:t>
                      </m:r>
                      <m:r>
                        <a:rPr lang="el-GR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(</m:t>
                      </m:r>
                      <m:r>
                        <a:rPr lang="en-US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𝑛</m:t>
                      </m:r>
                      <m:r>
                        <a:rPr lang="en-US" sz="1200" i="1" dirty="0">
                          <a:solidFill>
                            <a:schemeClr val="bg1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  <a:ea typeface="Libertinus Serif" pitchFamily="50" charset="0"/>
                          <a:cs typeface="Libertinus Serif" pitchFamily="50" charset="0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0" indent="0">
                  <a:buNone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Utilisation de la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méthode standard de CLAS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simulation Monte-Carlo pour la soustraction.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Notre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cas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</a:t>
                </a:r>
                <a:r>
                  <a:rPr lang="en-US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Simulation Monte-Carlo </a:t>
                </a:r>
                <a:r>
                  <a:rPr lang="en-US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utilise</a:t>
                </a:r>
                <a:r>
                  <a:rPr lang="en-US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</a:p>
              <a:p>
                <a:pPr marL="144000" lvl="1" indent="-144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Paramétrisation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reproduire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l’espace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des phases des données.</a:t>
                </a:r>
              </a:p>
              <a:p>
                <a:pPr marL="144000" lvl="1" indent="-1440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Impulsion du proton </a:t>
                </a:r>
                <a:r>
                  <a:rPr lang="en-US" sz="11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spectateur</a:t>
                </a:r>
                <a:r>
                  <a:rPr lang="en-US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it-IT" sz="800" dirty="0">
                    <a:solidFill>
                      <a:schemeClr val="tx2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C.Ciofi degli Atti, arXiv:nucl-th/9507024</a:t>
                </a:r>
                <a:r>
                  <a:rPr lang="it-IT" sz="11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endParaRPr lang="fr-FR" sz="10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Estimer le rapport entre les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désintégrations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𝒑</m:t>
                        </m:r>
                      </m:e>
                      <m:sub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𝒔</m:t>
                        </m:r>
                      </m:sub>
                    </m:sSub>
                    <m:sSup>
                      <m:sSupPr>
                        <m:ctrlPr>
                          <a:rPr lang="el-G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l-G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𝝅</m:t>
                        </m:r>
                      </m:e>
                      <m:sup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𝟎</m:t>
                        </m:r>
                      </m:sup>
                    </m:sSup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(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𝟏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𝜸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)</m:t>
                    </m:r>
                    <m:r>
                      <a:rPr lang="fr-FR" sz="12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partiellement reconstruites et les 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désintégrations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𝒑</m:t>
                        </m:r>
                      </m:e>
                      <m:sub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𝒔</m:t>
                        </m:r>
                      </m:sub>
                    </m:sSub>
                    <m:sSup>
                      <m:sSupPr>
                        <m:ctrlPr>
                          <a:rPr lang="el-G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l-G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𝝅</m:t>
                        </m:r>
                      </m:e>
                      <m:sup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𝟎</m:t>
                        </m:r>
                      </m:sup>
                    </m:sSup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(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𝟐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𝜸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) 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entièrement reconstruites dans la simulation.</a:t>
                </a: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Multiplier ce rapport par le nombre de</a:t>
                </a:r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sSub>
                      <m:sSubPr>
                        <m:ctrlPr>
                          <a:rPr lang="en-US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𝒑</m:t>
                        </m:r>
                      </m:e>
                      <m:sub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𝒔</m:t>
                        </m:r>
                      </m:sub>
                    </m:sSub>
                    <m:sSup>
                      <m:sSupPr>
                        <m:ctrlPr>
                          <a:rPr lang="el-G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l-G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𝝅</m:t>
                        </m:r>
                      </m:e>
                      <m:sup>
                        <m:r>
                          <a:rPr lang="fr-FR" sz="12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𝟎</m:t>
                        </m:r>
                      </m:sup>
                    </m:sSup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(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𝟐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𝜸</m:t>
                    </m:r>
                    <m:r>
                      <a:rPr lang="fr-FR" sz="12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) </m:t>
                    </m:r>
                  </m:oMath>
                </a14:m>
                <a:r>
                  <a:rPr lang="fr-FR" sz="12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reconstruits dans les données 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obtenir le nombre de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𝑒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𝑝</m:t>
                        </m:r>
                      </m:e>
                      <m:sub>
                        <m:r>
                          <a:rPr lang="fr-F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𝑠</m:t>
                        </m:r>
                      </m:sub>
                    </m:sSub>
                    <m:sSup>
                      <m:sSupPr>
                        <m:ctrlPr>
                          <a:rPr lang="el-G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l-G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𝜋</m:t>
                        </m:r>
                      </m:e>
                      <m:sup>
                        <m:r>
                          <a:rPr lang="fr-F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0</m:t>
                        </m:r>
                      </m:sup>
                    </m:sSup>
                    <m:d>
                      <m:dPr>
                        <m:ctrlPr>
                          <a:rPr lang="fr-F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dPr>
                      <m:e>
                        <m:r>
                          <a:rPr lang="fr-F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1</m:t>
                        </m:r>
                        <m:r>
                          <a:rPr lang="fr-FR" sz="12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ibertinus Serif" pitchFamily="50" charset="0"/>
                          </a:rPr>
                          <m:t>𝛾</m:t>
                        </m:r>
                      </m:e>
                    </m:d>
                    <m:r>
                      <a:rPr lang="fr-FR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partiellement reconstruites dans les données. </a:t>
                </a: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endParaRPr lang="fr-FR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endParaRPr lang="fr-FR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endParaRPr lang="fr-FR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Soustraire ce nombre des désintégrations reconstruites par le DVCS dans les données pour chaque bin.</a:t>
                </a:r>
                <a:endParaRPr lang="en-US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70CEAC86-87E4-4DDF-D6E3-E14D3ABAB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9525" y="720874"/>
                <a:ext cx="6271177" cy="3068779"/>
              </a:xfrm>
              <a:prstGeom prst="rect">
                <a:avLst/>
              </a:prstGeom>
              <a:blipFill>
                <a:blip r:embed="rId12"/>
                <a:stretch>
                  <a:fillRect l="-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18" name="Picture 6">
            <a:extLst>
              <a:ext uri="{FF2B5EF4-FFF2-40B4-BE49-F238E27FC236}">
                <a16:creationId xmlns:a16="http://schemas.microsoft.com/office/drawing/2014/main" id="{C54785F7-85E5-DD10-AE3B-75C2A2599E5C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8"/>
          <a:stretch/>
        </p:blipFill>
        <p:spPr bwMode="auto">
          <a:xfrm>
            <a:off x="6378480" y="859525"/>
            <a:ext cx="2724098" cy="208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1DFED02-A113-5AEA-EADC-FFCFD3D292F6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1421" y="3871859"/>
                <a:ext cx="6554641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Ajuste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la contamination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reduire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l’erreur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statistique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Contamination </a:t>
                </a:r>
                <a:r>
                  <a:rPr lang="en-US" sz="1400" dirty="0" err="1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d'environ</a:t>
                </a:r>
                <a:r>
                  <a:rPr lang="en-US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5% : </a:t>
                </a: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400" dirty="0" err="1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Sauf</a:t>
                </a:r>
                <a:r>
                  <a:rPr lang="en-US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dans le cas du bin en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𝑡</m:t>
                    </m:r>
                  </m:oMath>
                </a14:m>
                <a:r>
                  <a:rPr lang="en-US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 plus </a:t>
                </a:r>
                <a:r>
                  <a:rPr lang="en-US" sz="1400" b="0" i="0" dirty="0" err="1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élevé</a:t>
                </a:r>
                <a:r>
                  <a:rPr lang="en-US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0" i="0" dirty="0" err="1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où</a:t>
                </a:r>
                <a:r>
                  <a:rPr lang="en-US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0" i="0" dirty="0" err="1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c’est</a:t>
                </a:r>
                <a:r>
                  <a:rPr lang="en-US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20%. </a:t>
                </a:r>
              </a:p>
              <a:p>
                <a:pPr marL="144000" indent="-144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</a:t>
                </a:r>
                <a:r>
                  <a:rPr lang="en-US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 contamination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𝜋</m:t>
                        </m:r>
                      </m:e>
                      <m:sup>
                        <m:r>
                          <a:rPr lang="fr-FR" sz="1400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augmente rapidement avec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𝑡</m:t>
                    </m:r>
                  </m:oMath>
                </a14:m>
                <a:r>
                  <a:rPr lang="en-US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r>
                  <a:rPr lang="fr-FR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Erreur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→ </m:t>
                    </m:r>
                  </m:oMath>
                </a14:m>
                <a:r>
                  <a:rPr lang="fr-FR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 la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faible statique</a:t>
                </a:r>
                <a:r>
                  <a:rPr lang="fr-FR" sz="1400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</a:t>
                </a:r>
                <a14:m>
                  <m:oMath xmlns:m="http://schemas.openxmlformats.org/officeDocument/2006/math">
                    <m:r>
                      <a:rPr lang="fr-FR" sz="1400" b="0" i="0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sSup>
                      <m:sSupPr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𝜋</m:t>
                        </m:r>
                      </m:e>
                      <m:sup>
                        <m:r>
                          <a:rPr lang="fr-FR" sz="1400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0</m:t>
                        </m:r>
                      </m:sup>
                    </m:sSup>
                    <m:r>
                      <a:rPr lang="fr-FR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entièrement reconstruits dans les données. </a:t>
                </a:r>
                <a:endParaRPr lang="en-US" sz="11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01DFED02-A113-5AEA-EADC-FFCFD3D29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41421" y="3871859"/>
                <a:ext cx="6554641" cy="1169551"/>
              </a:xfrm>
              <a:prstGeom prst="rect">
                <a:avLst/>
              </a:prstGeom>
              <a:blipFill>
                <a:blip r:embed="rId14"/>
                <a:stretch>
                  <a:fillRect l="-279" t="-1563" b="-41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Image 23">
            <a:extLst>
              <a:ext uri="{FF2B5EF4-FFF2-40B4-BE49-F238E27FC236}">
                <a16:creationId xmlns:a16="http://schemas.microsoft.com/office/drawing/2014/main" id="{5CCA6C80-02CE-50F9-5A88-ABA3D757D2C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071557" y="2764497"/>
            <a:ext cx="1964291" cy="551899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4069F0E-ACA9-CF26-9709-03EF7A6B72D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926432" y="3529013"/>
            <a:ext cx="2496403" cy="34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5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FD2A64D1-EB3F-CF23-00BD-BF6BB077B0B2}"/>
                  </a:ext>
                </a:extLst>
              </p:cNvPr>
              <p:cNvSpPr>
                <a:spLocks noGrp="1"/>
              </p:cNvSpPr>
              <p:nvPr>
                <p:ph type="title"/>
                <p:custDataLst>
                  <p:tags r:id="rId1"/>
                </p:custDataLst>
              </p:nvPr>
            </p:nvSpPr>
            <p:spPr/>
            <p:txBody>
              <a:bodyPr/>
              <a:lstStyle/>
              <a:p>
                <a:r>
                  <a:rPr lang="fr-FR" noProof="0" dirty="0"/>
                  <a:t>Sélection des </a:t>
                </a:r>
                <a:r>
                  <a:rPr lang="fr-FR" noProof="0" dirty="0" err="1"/>
                  <a:t>évenements</a:t>
                </a:r>
                <a:r>
                  <a:rPr lang="fr-FR" noProof="0" dirty="0"/>
                  <a:t> </a:t>
                </a:r>
                <a14:m>
                  <m:oMath xmlns:m="http://schemas.openxmlformats.org/officeDocument/2006/math">
                    <m:r>
                      <a:rPr lang="fr-FR" b="1" i="1" noProof="0" smtClean="0">
                        <a:latin typeface="Cambria Math" panose="02040503050406030204" pitchFamily="18" charset="0"/>
                      </a:rPr>
                      <m:t>𝒆𝒅</m:t>
                    </m:r>
                    <m:r>
                      <a:rPr lang="fr-FR" b="1" i="1" noProof="0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fr-FR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𝒆</m:t>
                    </m:r>
                    <m:r>
                      <a:rPr lang="fr-FR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  <m:sSub>
                      <m:sSubPr>
                        <m:ctrlPr>
                          <a:rPr lang="fr-FR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fr-FR" b="1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fr-FR" b="1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endParaRPr lang="fr-FR" noProof="0" dirty="0"/>
              </a:p>
            </p:txBody>
          </p:sp>
        </mc:Choice>
        <mc:Fallback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FD2A64D1-EB3F-CF23-00BD-BF6BB077B0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  <p:custDataLst>
                  <p:tags r:id="rId1"/>
                </p:custDataLst>
              </p:nvPr>
            </p:nvSpPr>
            <p:spPr>
              <a:blipFill>
                <a:blip r:embed="rId7"/>
                <a:stretch>
                  <a:fillRect l="-1736" t="-4000" b="-88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2818A82-331E-2265-3EFA-D5BAF257543C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28</a:t>
            </a:fld>
            <a:endParaRPr lang="fr-FR" dirty="0"/>
          </a:p>
        </p:txBody>
      </p:sp>
      <p:pic>
        <p:nvPicPr>
          <p:cNvPr id="14338" name="Picture 2" descr="Une image contenant texte, diagramme, ligne, Plan&#10;&#10;Description générée automatiquement">
            <a:extLst>
              <a:ext uri="{FF2B5EF4-FFF2-40B4-BE49-F238E27FC236}">
                <a16:creationId xmlns:a16="http://schemas.microsoft.com/office/drawing/2014/main" id="{662757B2-2CB2-B14A-FE3F-34D3A78E42DA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08" y="2550697"/>
            <a:ext cx="3300412" cy="259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9" name="Picture 3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720B1A7F-B00D-8B01-B320-0EDB9C45F721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046" y="2467477"/>
            <a:ext cx="3738561" cy="267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150959C-E372-E389-E113-78FF2ACF9261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0" y="755962"/>
                <a:ext cx="9244012" cy="17697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44000" indent="-144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Sélection de l'événement avec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𝑴𝑴</m:t>
                        </m:r>
                      </m:e>
                      <m:sub>
                        <m:r>
                          <a:rPr lang="fr-F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système</a:t>
                </a:r>
                <a:r>
                  <a:rPr lang="en-US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𝒆𝒅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→ </m:t>
                    </m:r>
                    <m:r>
                      <a:rPr lang="en-US" b="1" i="1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𝒆</m:t>
                    </m:r>
                    <m:r>
                      <a:rPr lang="en-US" b="1" i="1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𝜸</m:t>
                    </m:r>
                    <m:sSub>
                      <m:sSub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𝒑</m:t>
                        </m:r>
                      </m:e>
                      <m:sub>
                        <m:r>
                          <a:rPr lang="fr-FR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𝒔</m:t>
                        </m:r>
                      </m:sub>
                    </m:sSub>
                    <m:r>
                      <a:rPr lang="en-US" b="1" i="1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𝑿</m:t>
                    </m:r>
                  </m:oMath>
                </a14:m>
                <a:r>
                  <a:rPr lang="en-US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égale au carré de la masse du neutron.</a:t>
                </a: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</a:p>
              <a:p>
                <a:pPr marL="144000" indent="-144000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r-FR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Décalage du pic peut s'expliquer par </a:t>
                </a:r>
                <a:r>
                  <a:rPr lang="fr-FR" b="1" i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l'erreur sur l'énergie du photon </a:t>
                </a:r>
                <a:r>
                  <a:rPr lang="fr-FR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et a été observé sur p-DVCS.</a:t>
                </a:r>
                <a:endParaRPr lang="en-US" b="0" i="0" dirty="0">
                  <a:solidFill>
                    <a:srgbClr val="404040"/>
                  </a:solidFill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𝑀𝑀</m:t>
                        </m:r>
                      </m:e>
                      <m:sub>
                        <m:r>
                          <a:rPr lang="fr-FR" b="0" i="1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fr-FR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les accidents est similaire au DVCS</a:t>
                </a: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ea typeface="Libertinus Serif" pitchFamily="50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fr-FR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b="1" i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pas possible d'éliminer les accidentels</a:t>
                </a:r>
                <a:r>
                  <a:rPr lang="fr-FR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en coupant sur cette masse. </a:t>
                </a:r>
              </a:p>
              <a:p>
                <a:pPr marL="144000" indent="-144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r-FR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Cela est dû à la </a:t>
                </a:r>
                <a:r>
                  <a:rPr lang="fr-FR" b="1" i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faible impulsion du proton spectateur </a:t>
                </a:r>
                <a:r>
                  <a:rPr lang="fr-FR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 rapport au neutron manquant.</a:t>
                </a:r>
              </a:p>
              <a:p>
                <a:pPr marL="144000" indent="-144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Après </a:t>
                </a:r>
                <a:r>
                  <a:rPr lang="en-US" dirty="0" err="1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soustraction</a:t>
                </a:r>
                <a:r>
                  <a:rPr lang="en-US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s</m:t>
                    </m:r>
                    <m:r>
                      <a:rPr lang="fr-FR" b="0" i="0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𝜋</m:t>
                        </m:r>
                      </m:e>
                      <m:sup>
                        <m:r>
                          <a:rPr lang="fr-FR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fr-FR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des accidents, il y a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encore du bruit de fond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fr-FR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𝜋</m:t>
                        </m:r>
                      </m:e>
                      <m:sup>
                        <m:r>
                          <a:rPr lang="fr-FR" i="1" dirty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fr-FR" dirty="0">
                    <a:solidFill>
                      <a:srgbClr val="40404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restant ou autre réaction (DIS).</a:t>
                </a:r>
              </a:p>
              <a:p>
                <a:pPr marL="144000" indent="-144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fr-FR" b="1" i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Asymétrie à 90° d'environ 10%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</a:t>
                </a:r>
                <a:r>
                  <a:rPr lang="fr-FR" b="1" i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cohérente avec les autres analyses.</a:t>
                </a:r>
                <a:endParaRPr lang="en-US" sz="16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150959C-E372-E389-E113-78FF2ACF9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0" y="755962"/>
                <a:ext cx="9244012" cy="1769715"/>
              </a:xfrm>
              <a:prstGeom prst="rect">
                <a:avLst/>
              </a:prstGeom>
              <a:blipFill>
                <a:blip r:embed="rId10"/>
                <a:stretch>
                  <a:fillRect l="-66" t="-1034" b="-275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989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Picture 6" descr="Une image contenant texte, diagramme, ligne, Plan&#10;&#10;Description générée automatiquement">
            <a:extLst>
              <a:ext uri="{FF2B5EF4-FFF2-40B4-BE49-F238E27FC236}">
                <a16:creationId xmlns:a16="http://schemas.microsoft.com/office/drawing/2014/main" id="{9BC25D9D-7534-84B2-5583-9CA8B9FA1611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966" y="2820307"/>
            <a:ext cx="3235979" cy="232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5AC01A5B-FA7C-D951-44A1-B20DB155C6F2}"/>
                  </a:ext>
                </a:extLst>
              </p:cNvPr>
              <p:cNvSpPr>
                <a:spLocks noGrp="1"/>
              </p:cNvSpPr>
              <p:nvPr>
                <p:ph type="title"/>
                <p:custDataLst>
                  <p:tags r:id="rId2"/>
                </p:custDataLst>
              </p:nvPr>
            </p:nvSpPr>
            <p:spPr/>
            <p:txBody>
              <a:bodyPr/>
              <a:lstStyle/>
              <a:p>
                <a:r>
                  <a:rPr lang="fr-FR" noProof="0" dirty="0"/>
                  <a:t>Une nouvelle méthode pour 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noProof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fr-FR" b="1" i="1" noProof="0" smtClean="0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fr-FR" noProof="0" dirty="0"/>
                  <a:t> (1/2) ​</a:t>
                </a:r>
              </a:p>
            </p:txBody>
          </p:sp>
        </mc:Choice>
        <mc:Fallback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5AC01A5B-FA7C-D951-44A1-B20DB155C6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  <p:custDataLst>
                  <p:tags r:id="rId2"/>
                </p:custDataLst>
              </p:nvPr>
            </p:nvSpPr>
            <p:spPr>
              <a:blipFill>
                <a:blip r:embed="rId14"/>
                <a:stretch>
                  <a:fillRect l="-1736" t="-2400" b="-104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C1E7C21-A4C3-0F87-C643-5D703AF4DF0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29</a:t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2">
                <a:extLst>
                  <a:ext uri="{FF2B5EF4-FFF2-40B4-BE49-F238E27FC236}">
                    <a16:creationId xmlns:a16="http://schemas.microsoft.com/office/drawing/2014/main" id="{30D6BE10-857C-FABE-D12C-F65A76A8EA1F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9525" y="760490"/>
                <a:ext cx="6018109" cy="4264501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44000" indent="-144000">
                  <a:buFont typeface="Arial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Améliorer la soustraction de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π</a:t>
                </a:r>
                <a:r>
                  <a:rPr lang="en-US" sz="1400" baseline="30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0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avec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une nouvelle méthode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Au lieu de la masse manquante, nous pouvons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calculer une variable équivalente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∆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/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𝐸</m:t>
                    </m:r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= (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𝐸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𝛾</m:t>
                        </m:r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,</m:t>
                        </m:r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𝑐𝑎𝑙𝑐</m:t>
                        </m:r>
                      </m:sub>
                    </m:sSub>
                    <m:r>
                      <a:rPr lang="fr-FR" sz="14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−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𝐸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𝛾</m:t>
                        </m:r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,</m:t>
                        </m:r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𝑚𝑒𝑎𝑠</m:t>
                        </m:r>
                      </m:sub>
                    </m:sSub>
                    <m:r>
                      <a:rPr lang="fr-FR" sz="1400" b="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)</m:t>
                    </m:r>
                    <m:r>
                      <a:rPr lang="en-US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/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𝐸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𝛾</m:t>
                        </m:r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,</m:t>
                        </m:r>
                        <m: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𝑐𝑎𝑙𝑐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 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majeure partie de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l'erreur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sur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𝑀𝑀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Libertinus Serif" pitchFamily="50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fr-FR" sz="1400" b="0" i="0" dirty="0">
                    <a:solidFill>
                      <a:srgbClr val="40404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provient de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l'énergie des photons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144000" indent="-144000">
                  <a:buFont typeface="Arial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Utiliser la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résolution du calorimètre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couper au lieu de valeurs arbitraires sur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𝑀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</a:t>
                </a:r>
              </a:p>
              <a:p>
                <a:pPr marL="285750" indent="-285750">
                  <a:buFont typeface="Arial"/>
                  <a:buChar char="•"/>
                </a:pP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endParaRPr lang="fr-FR" sz="1600" b="1" i="1" dirty="0">
                  <a:solidFill>
                    <a:srgbClr val="0070C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6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Stratégie</a:t>
                </a: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mise en œuvre dans la </a:t>
                </a:r>
                <a:r>
                  <a:rPr lang="fr-FR" sz="16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nouvelle méthode </a:t>
                </a:r>
                <a:r>
                  <a:rPr lang="fr-FR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Utiliser ces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grandes données </a:t>
                </a:r>
                <a14:m>
                  <m:oMath xmlns:m="http://schemas.openxmlformats.org/officeDocument/2006/math">
                    <m:r>
                      <a:rPr lang="fr-FR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𝒕</m:t>
                    </m:r>
                  </m:oMath>
                </a14:m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modéliser le bruit de fond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existant sous le pic des événements DVCS.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événements</a:t>
                </a:r>
                <a14:m>
                  <m:oMath xmlns:m="http://schemas.openxmlformats.org/officeDocument/2006/math">
                    <m: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avec</m:t>
                    </m:r>
                    <m: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sSub>
                      <m:sSubPr>
                        <m:ctrlPr>
                          <a:rPr lang="en-US" sz="140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𝑡</m:t>
                        </m:r>
                      </m:e>
                      <m:sub>
                        <m:r>
                          <a:rPr lang="fr-FR" sz="1400" b="0" i="1" dirty="0" smtClean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𝐷𝑉𝐶𝑆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entre 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0 et 0.4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comme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signal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et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ceux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𝑡</m:t>
                        </m:r>
                      </m:e>
                      <m:sub>
                        <m:r>
                          <a:rPr lang="fr-FR" sz="1400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𝐷𝑉𝐶𝑆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compris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entre 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0.5 et 0.9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comme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bruit de fond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 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Sur la projection en 𝑥, le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pic du signal est proche de 0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 Nous soustrayons le bruit de fond au signal pour obtenir le signal DVCS uniquement.</a:t>
                </a: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bruit de fond à une grande valeur de Δ𝐸/𝐸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est à 0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après la soustraction. 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La forme de l'arrière-plan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correspond au signal</a:t>
                </a:r>
                <a:r>
                  <a:rPr lang="fr-FR" sz="1400" b="1" i="1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i="1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près mise à l’échelle.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4" name="ZoneTexte 2">
                <a:extLst>
                  <a:ext uri="{FF2B5EF4-FFF2-40B4-BE49-F238E27FC236}">
                    <a16:creationId xmlns:a16="http://schemas.microsoft.com/office/drawing/2014/main" id="{30D6BE10-857C-FABE-D12C-F65A76A8E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9525" y="760490"/>
                <a:ext cx="6018109" cy="4264501"/>
              </a:xfrm>
              <a:prstGeom prst="rect">
                <a:avLst/>
              </a:prstGeom>
              <a:blipFill>
                <a:blip r:embed="rId15"/>
                <a:stretch>
                  <a:fillRect l="-608" t="-429" r="-203" b="-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62" name="Picture 2" descr="Une image contenant texte, Police, ligne, diagramme&#10;&#10;Description générée automatiquement">
            <a:extLst>
              <a:ext uri="{FF2B5EF4-FFF2-40B4-BE49-F238E27FC236}">
                <a16:creationId xmlns:a16="http://schemas.microsoft.com/office/drawing/2014/main" id="{A2749503-CBC5-72C8-EADD-AA36C1EF1163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83" y="2362160"/>
            <a:ext cx="2961483" cy="52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Une image contenant texte, capture d’écran, Caractère coloré, Rectangle&#10;&#10;Description générée automatiquement">
            <a:extLst>
              <a:ext uri="{FF2B5EF4-FFF2-40B4-BE49-F238E27FC236}">
                <a16:creationId xmlns:a16="http://schemas.microsoft.com/office/drawing/2014/main" id="{D827E5B7-42BE-FA93-7D63-312384FBF957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04" b="1"/>
          <a:stretch/>
        </p:blipFill>
        <p:spPr bwMode="auto">
          <a:xfrm>
            <a:off x="5871966" y="852488"/>
            <a:ext cx="3198019" cy="203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D18A49F5-94DA-9C87-B088-541BBD78CBA8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 flipH="1">
            <a:off x="7148579" y="1242070"/>
            <a:ext cx="867206" cy="80054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17">
            <a:extLst>
              <a:ext uri="{FF2B5EF4-FFF2-40B4-BE49-F238E27FC236}">
                <a16:creationId xmlns:a16="http://schemas.microsoft.com/office/drawing/2014/main" id="{53B7DF89-C502-4B53-AACC-0F4A8E4D001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7634534" y="965071"/>
            <a:ext cx="976066" cy="276999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background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0261396B-9B40-FCA6-001D-A677441EC642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6465009" y="1215193"/>
            <a:ext cx="0" cy="6564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>
            <a:extLst>
              <a:ext uri="{FF2B5EF4-FFF2-40B4-BE49-F238E27FC236}">
                <a16:creationId xmlns:a16="http://schemas.microsoft.com/office/drawing/2014/main" id="{482361CF-4D42-B220-E29D-65FDBD25DE8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34312" y="1854808"/>
            <a:ext cx="461394" cy="46838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>
              <a:latin typeface="Cambria" panose="02040503050406030204" pitchFamily="18" charset="0"/>
            </a:endParaRPr>
          </a:p>
        </p:txBody>
      </p:sp>
      <p:sp>
        <p:nvSpPr>
          <p:cNvPr id="9" name="ZoneTexte 22">
            <a:extLst>
              <a:ext uri="{FF2B5EF4-FFF2-40B4-BE49-F238E27FC236}">
                <a16:creationId xmlns:a16="http://schemas.microsoft.com/office/drawing/2014/main" id="{A6A7CE51-7A5A-842C-3568-1E110067C88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237807" y="961233"/>
            <a:ext cx="543993" cy="26161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10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signal</a:t>
            </a:r>
          </a:p>
        </p:txBody>
      </p:sp>
    </p:spTree>
    <p:extLst>
      <p:ext uri="{BB962C8B-B14F-4D97-AF65-F5344CB8AC3E}">
        <p14:creationId xmlns:p14="http://schemas.microsoft.com/office/powerpoint/2010/main" val="511480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248E6EB8-87E9-B793-82C8-470292719206}"/>
                  </a:ext>
                </a:extLst>
              </p:cNvPr>
              <p:cNvSpPr>
                <a:spLocks noGrp="1"/>
              </p:cNvSpPr>
              <p:nvPr>
                <p:ph type="title"/>
                <p:custDataLst>
                  <p:tags r:id="rId1"/>
                </p:custDataLst>
              </p:nvPr>
            </p:nvSpPr>
            <p:spPr/>
            <p:txBody>
              <a:bodyPr/>
              <a:lstStyle/>
              <a:p>
                <a:r>
                  <a:rPr lang="fr-FR" noProof="0" dirty="0"/>
                  <a:t>Une nouvelle méthode pour 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noProof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fr-FR" b="1" i="1" noProof="0" smtClean="0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fr-FR" noProof="0" dirty="0"/>
                  <a:t> (2/2) ​</a:t>
                </a:r>
              </a:p>
            </p:txBody>
          </p:sp>
        </mc:Choice>
        <mc:Fallback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248E6EB8-87E9-B793-82C8-470292719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  <p:custDataLst>
                  <p:tags r:id="rId1"/>
                </p:custDataLst>
              </p:nvPr>
            </p:nvSpPr>
            <p:spPr>
              <a:blipFill>
                <a:blip r:embed="rId9"/>
                <a:stretch>
                  <a:fillRect l="-1736" t="-2400" b="-104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9B7A125-8866-E402-57CE-C202734F4C6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30</a:t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4">
                <a:extLst>
                  <a:ext uri="{FF2B5EF4-FFF2-40B4-BE49-F238E27FC236}">
                    <a16:creationId xmlns:a16="http://schemas.microsoft.com/office/drawing/2014/main" id="{E6BCB0BB-2F71-2A41-DF9C-9B493864FD84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0" y="809216"/>
                <a:ext cx="6070550" cy="1600438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Mise à l'échelle l'arrière-plan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pour correspondre au signal à un grand </a:t>
                </a:r>
                <a:r>
                  <a:rPr lang="en-US" sz="1400" dirty="0"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ΔE/E.</a:t>
                </a:r>
                <a:endParaRPr lang="fr-FR" sz="1400" dirty="0"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Compter le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nombre d'événements </a:t>
                </a:r>
                <a:r>
                  <a:rPr lang="fr-FR" sz="1400" dirty="0"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dans la distribution signal-bruit de fond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entre </a:t>
                </a:r>
                <a14:m>
                  <m:oMath xmlns:m="http://schemas.openxmlformats.org/officeDocument/2006/math">
                    <m:r>
                      <a:rPr lang="fr-FR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±</m:t>
                    </m:r>
                    <m:r>
                      <a:rPr lang="fr-FR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𝟐</m:t>
                    </m:r>
                    <m:r>
                      <a:rPr lang="fr-FR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𝝈</m:t>
                    </m:r>
                  </m:oMath>
                </a14:m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définie par la résolution du calorimètre. </a:t>
                </a: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Appliquer cette méthode pour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chaque bin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 </a:t>
                </a:r>
                <a14:m>
                  <m:oMath xmlns:m="http://schemas.openxmlformats.org/officeDocument/2006/math">
                    <m:r>
                      <a:rPr lang="fr-FR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𝑄</m:t>
                    </m:r>
                    <m:r>
                      <a:rPr lang="fr-FR" sz="1400" i="1" baseline="3000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2</m:t>
                    </m:r>
                    <m:r>
                      <a:rPr lang="fr-FR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 </m:t>
                    </m:r>
                    <m:r>
                      <a:rPr lang="fr-FR" sz="1400" i="1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𝑥</m:t>
                    </m:r>
                    <m:r>
                      <a:rPr lang="fr-FR" sz="14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𝐵</m:t>
                    </m:r>
                    <m:r>
                      <a:rPr lang="fr-FR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, …</m:t>
                    </m:r>
                    <m:r>
                      <m:rPr>
                        <m:nor/>
                      </m:rPr>
                      <a:rPr lang="fr-FR" sz="1400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Libertinus Serif" pitchFamily="50" charset="0"/>
                      </a:rPr>
                      <m:t>et</m:t>
                    </m:r>
                    <m:r>
                      <a:rPr lang="fr-FR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400" i="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Φ</m:t>
                    </m:r>
                    <m:r>
                      <a:rPr lang="fr-FR" sz="14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h</m:t>
                    </m:r>
                    <m:r>
                      <a:rPr lang="fr-FR" sz="1400" i="1" dirty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</m:oMath>
                </a14:m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ainsi que pour l'hélicité du faisceau.</a:t>
                </a:r>
              </a:p>
              <a:p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 bruit de fond est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intégré sur toutes les variables et l'hélicité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améliorer les statistiques.</a:t>
                </a:r>
              </a:p>
            </p:txBody>
          </p:sp>
        </mc:Choice>
        <mc:Fallback>
          <p:sp>
            <p:nvSpPr>
              <p:cNvPr id="4" name="ZoneTexte 4">
                <a:extLst>
                  <a:ext uri="{FF2B5EF4-FFF2-40B4-BE49-F238E27FC236}">
                    <a16:creationId xmlns:a16="http://schemas.microsoft.com/office/drawing/2014/main" id="{E6BCB0BB-2F71-2A41-DF9C-9B493864F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0" y="809216"/>
                <a:ext cx="6070550" cy="1600438"/>
              </a:xfrm>
              <a:prstGeom prst="rect">
                <a:avLst/>
              </a:prstGeom>
              <a:blipFill>
                <a:blip r:embed="rId10"/>
                <a:stretch>
                  <a:fillRect l="-301" t="-1145" b="-267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388" name="Picture 4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B872668A-9017-585E-3A88-7C27CD0B5D1D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810" y="2673577"/>
            <a:ext cx="3333112" cy="238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BD854FB-0834-5530-8790-D57A705B023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51148" y="2727029"/>
            <a:ext cx="3008481" cy="2279152"/>
          </a:xfrm>
          <a:prstGeom prst="rect">
            <a:avLst/>
          </a:prstGeom>
        </p:spPr>
      </p:pic>
      <p:pic>
        <p:nvPicPr>
          <p:cNvPr id="16390" name="Picture 6" descr="Une image contenant diagramme, texte, ligne&#10;&#10;Description générée automatiquement">
            <a:extLst>
              <a:ext uri="{FF2B5EF4-FFF2-40B4-BE49-F238E27FC236}">
                <a16:creationId xmlns:a16="http://schemas.microsoft.com/office/drawing/2014/main" id="{F26CA1D0-2816-05C1-9CC9-741062030A71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685" b="33333"/>
          <a:stretch/>
        </p:blipFill>
        <p:spPr bwMode="auto">
          <a:xfrm>
            <a:off x="6070550" y="795215"/>
            <a:ext cx="2940447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5">
                <a:extLst>
                  <a:ext uri="{FF2B5EF4-FFF2-40B4-BE49-F238E27FC236}">
                    <a16:creationId xmlns:a16="http://schemas.microsoft.com/office/drawing/2014/main" id="{E9072883-156B-4B6F-BDCE-C69BEB86701C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217826" y="4095474"/>
                <a:ext cx="2711862" cy="646331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fr-FR" sz="12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𝜗</m:t>
                    </m:r>
                    <m:r>
                      <a:rPr lang="fr-FR" sz="12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𝛾</m:t>
                    </m:r>
                    <m:r>
                      <a:rPr lang="fr-FR" sz="12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𝑝</m:t>
                    </m:r>
                  </m:oMath>
                </a14:m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: angle polaire entre le photon virtuel et le proton spectateur dans le </a:t>
                </a:r>
                <a:r>
                  <a:rPr lang="fr-FR" sz="12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referentiel</a:t>
                </a: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laboratoire</a:t>
                </a:r>
              </a:p>
            </p:txBody>
          </p:sp>
        </mc:Choice>
        <mc:Fallback>
          <p:sp>
            <p:nvSpPr>
              <p:cNvPr id="7" name="ZoneTexte 5">
                <a:extLst>
                  <a:ext uri="{FF2B5EF4-FFF2-40B4-BE49-F238E27FC236}">
                    <a16:creationId xmlns:a16="http://schemas.microsoft.com/office/drawing/2014/main" id="{E9072883-156B-4B6F-BDCE-C69BEB86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6217826" y="4095474"/>
                <a:ext cx="2711862" cy="646331"/>
              </a:xfrm>
              <a:prstGeom prst="rect">
                <a:avLst/>
              </a:prstGeom>
              <a:blipFill>
                <a:blip r:embed="rId14"/>
                <a:stretch>
                  <a:fillRect l="-225" t="-943" b="-66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804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Une image contenant texte, diagramme, ligne, capture d’écran&#10;&#10;Description générée automatiquement">
            <a:extLst>
              <a:ext uri="{FF2B5EF4-FFF2-40B4-BE49-F238E27FC236}">
                <a16:creationId xmlns:a16="http://schemas.microsoft.com/office/drawing/2014/main" id="{3179DAC5-6B59-1533-36CE-32CF745D8C81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656" y="3017975"/>
            <a:ext cx="2969485" cy="212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DC2F6CB-43BC-9699-9D6D-27BF8728D43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-1" y="0"/>
            <a:ext cx="9134475" cy="760490"/>
          </a:xfrm>
        </p:spPr>
        <p:txBody>
          <a:bodyPr/>
          <a:lstStyle/>
          <a:p>
            <a:r>
              <a:rPr lang="fr-FR" noProof="0" dirty="0"/>
              <a:t>Asymétrie at 90°: Une comparaison​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EEA7A89-52F4-E59C-F970-084D34C62C1A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7081837" y="4868863"/>
            <a:ext cx="2057400" cy="274637"/>
          </a:xfrm>
        </p:spPr>
        <p:txBody>
          <a:bodyPr/>
          <a:lstStyle/>
          <a:p>
            <a:fld id="{43011D56-0ADE-481C-8FF2-98F54ED539CA}" type="slidenum">
              <a:rPr lang="fr-FR" smtClean="0"/>
              <a:pPr/>
              <a:t>31</a:t>
            </a:fld>
            <a:endParaRPr lang="fr-FR" dirty="0"/>
          </a:p>
        </p:txBody>
      </p:sp>
      <p:pic>
        <p:nvPicPr>
          <p:cNvPr id="17410" name="Picture 2" descr="Une image contenant texte, capture d’écran, diagramme, ligne&#10;&#10;Description générée automatiquement">
            <a:extLst>
              <a:ext uri="{FF2B5EF4-FFF2-40B4-BE49-F238E27FC236}">
                <a16:creationId xmlns:a16="http://schemas.microsoft.com/office/drawing/2014/main" id="{E92696E7-4B74-ACBB-5058-DED08E2E59FA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36" y="2987435"/>
            <a:ext cx="3012149" cy="2156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3" descr="Une image contenant texte, diagramme, ligne, capture d’écran&#10;&#10;Description générée automatiquement">
            <a:extLst>
              <a:ext uri="{FF2B5EF4-FFF2-40B4-BE49-F238E27FC236}">
                <a16:creationId xmlns:a16="http://schemas.microsoft.com/office/drawing/2014/main" id="{CF375149-6157-7F10-FCDE-6722DD06B5BC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20" y="2987454"/>
            <a:ext cx="2969486" cy="212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A32632F0-B7C2-F467-3623-0FD3D6835A8A}"/>
                  </a:ext>
                </a:extLst>
              </p:cNvPr>
              <p:cNvSpPr txBox="1">
                <a:spLocks/>
              </p:cNvSpPr>
              <p:nvPr>
                <p:custDataLst>
                  <p:tags r:id="rId6"/>
                </p:custDataLst>
              </p:nvPr>
            </p:nvSpPr>
            <p:spPr>
              <a:xfrm>
                <a:off x="-1" y="718980"/>
                <a:ext cx="9144001" cy="252193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144000" indent="-144000">
                  <a:buFont typeface="Arial" panose="020B0604020202020204" pitchFamily="34" charset="0"/>
                  <a:buChar char="•"/>
                </a:pPr>
                <a:r>
                  <a:rPr lang="en-US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Extraire </a:t>
                </a:r>
                <a:r>
                  <a:rPr lang="en-US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l'asymétrie</a:t>
                </a:r>
                <a:r>
                  <a:rPr lang="en-US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à 90°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d'un ajustement après la correction</a:t>
                </a:r>
                <a14:m>
                  <m:oMath xmlns:m="http://schemas.openxmlformats.org/officeDocument/2006/math">
                    <m:r>
                      <a:rPr lang="fr-FR" b="0" i="0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sSup>
                      <m:sSupPr>
                        <m:ctrlPr>
                          <a:rPr lang="en-US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𝜋</m:t>
                        </m:r>
                      </m:e>
                      <m:sup>
                        <m:r>
                          <a:rPr lang="fr-FR" i="1" dirty="0">
                            <a:solidFill>
                              <a:schemeClr val="bg1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des </a:t>
                </a:r>
                <a:r>
                  <a:rPr lang="en-US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accidentels</a:t>
                </a: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les deux </a:t>
                </a:r>
                <a:r>
                  <a:rPr lang="en-US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méthodes</a:t>
                </a: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</a:p>
              <a:p>
                <a:pPr marL="360000" lvl="1" indent="-1440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Access à </a:t>
                </a:r>
                <a:r>
                  <a:rPr lang="en-US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deux nouvelles variables</a:t>
                </a:r>
                <a14:m>
                  <m:oMath xmlns:m="http://schemas.openxmlformats.org/officeDocument/2006/math">
                    <m:r>
                      <a:rPr lang="fr-FR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 </m:t>
                    </m:r>
                    <m:r>
                      <a:rPr lang="fr-FR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𝝑𝜸</m:t>
                    </m:r>
                    <m:r>
                      <a:rPr lang="fr-FR" b="1" i="1" baseline="-25000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𝒑</m:t>
                    </m:r>
                  </m:oMath>
                </a14:m>
                <a:r>
                  <a:rPr lang="en-US" b="1" i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et</a:t>
                </a:r>
                <a:r>
                  <a:rPr lang="en-US" b="1" i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</m:ctrlPr>
                      </m:sSubPr>
                      <m:e>
                        <m:r>
                          <a:rPr lang="fr-FR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𝒑</m:t>
                        </m:r>
                      </m:e>
                      <m:sub>
                        <m:r>
                          <a:rPr lang="fr-FR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Libertinus Serif" pitchFamily="50" charset="0"/>
                            <a:cs typeface="Libertinus Serif" pitchFamily="50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qui ne sont accessibles que par </a:t>
                </a:r>
                <a:r>
                  <a:rPr lang="en-US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tagging.</a:t>
                </a:r>
                <a:endParaRPr lang="en-US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5" indent="-144000">
                  <a:buFont typeface="Arial" panose="020B0604020202020204" pitchFamily="34" charset="0"/>
                  <a:buChar char="•"/>
                </a:pPr>
                <a:r>
                  <a:rPr lang="fr-FR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barres d'erreur sont des statistiques + corrections.</a:t>
                </a:r>
              </a:p>
              <a:p>
                <a:pPr marL="742950" lvl="5" indent="-1440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lvl="2" indent="-144000">
                  <a:buFont typeface="Arial" panose="020B0604020202020204" pitchFamily="34" charset="0"/>
                  <a:buChar char="•"/>
                </a:pPr>
                <a:r>
                  <a:rPr lang="fr-FR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deux méthodes donnent des </a:t>
                </a:r>
                <a:r>
                  <a:rPr lang="fr-FR" b="1" i="1" dirty="0">
                    <a:solidFill>
                      <a:srgbClr val="0070C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résultats différents </a:t>
                </a:r>
                <a:r>
                  <a:rPr lang="en-US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  <a:endParaRPr lang="en-US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5" indent="-144000"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Nouvelle méthode donne une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asymétrie plus élevée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partout (peut provenir de l'asymétrie dans le grand 𝑡).</a:t>
                </a:r>
              </a:p>
              <a:p>
                <a:pPr marL="360000" lvl="5" indent="-144000">
                  <a:buFont typeface="Arial" panose="020B0604020202020204" pitchFamily="34" charset="0"/>
                  <a:buChar char="•"/>
                </a:pP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Plus d’impulsion du proton spectateur</a:t>
                </a: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es effets nucléaires sont plus importants et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semblent réduire l'asymétrie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du DVCS.</a:t>
                </a:r>
                <a:endParaRPr lang="en-US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360000" lvl="5" indent="-144000">
                  <a:buFont typeface="Arial" panose="020B0604020202020204" pitchFamily="34" charset="0"/>
                  <a:buChar char="•"/>
                </a:pPr>
                <a:r>
                  <a:rPr lang="en-US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Moins</a:t>
                </a: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d'asymétrie</a:t>
                </a:r>
                <a:r>
                  <a:rPr lang="en-US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à </a:t>
                </a:r>
                <a14:m>
                  <m:oMath xmlns:m="http://schemas.openxmlformats.org/officeDocument/2006/math">
                    <m:r>
                      <a:rPr lang="fr-FR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𝜗</m:t>
                    </m:r>
                    <m:r>
                      <a:rPr lang="fr-FR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𝛾</m:t>
                    </m:r>
                    <m:r>
                      <a:rPr lang="fr-FR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𝑝</m:t>
                    </m:r>
                  </m:oMath>
                </a14:m>
                <a:r>
                  <a:rPr lang="en-US" b="0" i="0" dirty="0">
                    <a:solidFill>
                      <a:schemeClr val="bg1">
                        <a:lumMod val="25000"/>
                      </a:schemeClr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= 90° 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où l'on s'attend à ce que la FSI soit élevée. Les </a:t>
                </a:r>
                <a:r>
                  <a:rPr lang="fr-FR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FSI et les effets nucléaires pourraient réduire l'asymétrie</a:t>
                </a:r>
                <a:r>
                  <a:rPr lang="fr-FR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6" name="Espace réservé du contenu 2">
                <a:extLst>
                  <a:ext uri="{FF2B5EF4-FFF2-40B4-BE49-F238E27FC236}">
                    <a16:creationId xmlns:a16="http://schemas.microsoft.com/office/drawing/2014/main" id="{A32632F0-B7C2-F467-3623-0FD3D6835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-1" y="718980"/>
                <a:ext cx="9144001" cy="2521937"/>
              </a:xfrm>
              <a:prstGeom prst="rect">
                <a:avLst/>
              </a:prstGeom>
              <a:blipFill>
                <a:blip r:embed="rId11"/>
                <a:stretch>
                  <a:fillRect l="-67" t="-7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0558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3C5BE9-5253-1E78-0263-CB0ED0B8BD9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FR" noProof="0"/>
              <a:t>Conclusion</a:t>
            </a:r>
            <a:endParaRPr lang="fr-FR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2C879A6-F054-BCF2-B47C-6D1A86FBE66C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/>
        <p:txBody>
          <a:bodyPr/>
          <a:lstStyle/>
          <a:p>
            <a:fld id="{43011D56-0ADE-481C-8FF2-98F54ED539CA}" type="slidenum">
              <a:rPr lang="fr-FR" smtClean="0"/>
              <a:t>32</a:t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ZoneTexte 2">
                <a:extLst>
                  <a:ext uri="{FF2B5EF4-FFF2-40B4-BE49-F238E27FC236}">
                    <a16:creationId xmlns:a16="http://schemas.microsoft.com/office/drawing/2014/main" id="{6C1FCCAE-7318-5FE4-87DE-F4095BF082EC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-1" y="760490"/>
                <a:ext cx="9096374" cy="3970318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Developpé</a:t>
                </a:r>
                <a:r>
                  <a:rPr lang="en-US" sz="16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un </a:t>
                </a:r>
                <a:r>
                  <a:rPr lang="en-US" sz="16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filtre</a:t>
                </a:r>
                <a:r>
                  <a:rPr lang="en-US" sz="16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Kalman </a:t>
                </a:r>
                <a:r>
                  <a:rPr lang="en-US" sz="16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étendu</a:t>
                </a:r>
                <a:r>
                  <a:rPr lang="en-US" sz="16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pour </a:t>
                </a:r>
                <a:r>
                  <a:rPr lang="en-US" sz="16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reconstruire</a:t>
                </a:r>
                <a:r>
                  <a:rPr lang="en-US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les protons de </a:t>
                </a:r>
                <a:r>
                  <a:rPr lang="en-US" sz="16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basse</a:t>
                </a:r>
                <a:r>
                  <a:rPr lang="en-US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impulsion :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Prise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compte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l’énergie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déposée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 le proton, et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sa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fluctuation.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L’hétérogénéité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du champ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magnétique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Amélioration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importante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la 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resolution de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l’impulsion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sur la simulation et les données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élastique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de test.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Particuliairement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notable sur les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faibles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impulsions.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Peu de modification sur les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autres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variables.</a:t>
                </a:r>
              </a:p>
              <a:p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r>
                  <a:rPr lang="fr-FR" sz="16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Première analyse DVCS de neutrons avec proton spectateur </a:t>
                </a:r>
                <a:r>
                  <a:rPr lang="en-US" sz="16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 	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Trouver </a:t>
                </a:r>
                <a:r>
                  <a:rPr lang="fr-FR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nDVCS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avec proton spectateur </a:t>
                </a:r>
                <a:r>
                  <a:rPr lang="fr-FR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taggé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dans les données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Extraire l'asymétrie à 90° pour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deux nouvelles variables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qui ne sont accessibles que par le </a:t>
                </a:r>
                <a:r>
                  <a:rPr lang="fr-FR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tagging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400" b="1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𝛝</m:t>
                    </m:r>
                    <m:r>
                      <a:rPr lang="en-US" sz="1400" b="1" i="0" baseline="-25000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𝛄</m:t>
                    </m:r>
                    <m:r>
                      <a:rPr lang="en-US" sz="1400" b="1" i="0" baseline="-25000" dirty="0" err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𝐩</m:t>
                    </m:r>
                  </m:oMath>
                </a14:m>
                <a:r>
                  <a:rPr lang="en-US" sz="1400" b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et </a:t>
                </a:r>
                <a14:m>
                  <m:oMath xmlns:m="http://schemas.openxmlformats.org/officeDocument/2006/math">
                    <m:r>
                      <a:rPr lang="en-US" sz="1400" b="1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𝐩</m:t>
                    </m:r>
                    <m:r>
                      <a:rPr lang="en-US" sz="1400" b="1" i="0" baseline="-25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𝐬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 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Correction de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l'asymétrie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accidentels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et les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𝝅</m:t>
                    </m:r>
                    <m:r>
                      <a:rPr lang="en-US" sz="1400" b="1" i="1" baseline="3000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𝟎</m:t>
                    </m:r>
                  </m:oMath>
                </a14:m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 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Probleme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avec le bruit de fond des π</a:t>
                </a:r>
                <a:r>
                  <a:rPr lang="en-US" sz="1400" baseline="30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0 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avec la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méthode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standard de CLAS.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Test d'une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nouvelle méthode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pour corriger le bruit de fond en utilisant les données à 𝑡 élevé. 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Les méthodes donnent des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résultats différents 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: la nouvelle méthode donne une asymétrie plus élevée partout.</a:t>
                </a: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Variation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 err="1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en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𝜗</m:t>
                    </m:r>
                    <m:r>
                      <a:rPr lang="en-US" sz="14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𝛾</m:t>
                    </m:r>
                    <m:r>
                      <a:rPr lang="en-US" sz="14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𝑝</m:t>
                    </m:r>
                  </m:oMath>
                </a14:m>
                <a:r>
                  <a:rPr lang="en-US" sz="1400" baseline="-250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et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𝑝</m:t>
                    </m:r>
                    <m:r>
                      <a:rPr lang="en-US" sz="1400" i="1" baseline="-25000" dirty="0" err="1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𝑠</m:t>
                    </m:r>
                  </m:oMath>
                </a14:m>
                <a:r>
                  <a:rPr lang="en-US" sz="1400" baseline="-25000" dirty="0">
                    <a:solidFill>
                      <a:schemeClr val="tx2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 </a:t>
                </a:r>
                <a:r>
                  <a:rPr lang="en-US" sz="1400" dirty="0">
                    <a:solidFill>
                      <a:schemeClr val="tx2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:r>
                  <a:rPr lang="en-US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, </a:t>
                </a:r>
                <a:r>
                  <a:rPr lang="fr-FR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FSI et les effets nucléaires pourraient avoir un impact sur l'asymétrie</a:t>
                </a:r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.</a:t>
                </a:r>
                <a:endParaRPr lang="en-US" sz="14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  <a:p>
                <a:pPr marL="144000" lvl="1" indent="-144000">
                  <a:buFont typeface="Arial" panose="020B0604020202020204" pitchFamily="34" charset="0"/>
                  <a:buChar char="•"/>
                </a:pP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Petite </a:t>
                </a:r>
                <a:r>
                  <a:rPr lang="en-US" sz="1400" b="1" i="1" dirty="0" err="1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statistique</a:t>
                </a:r>
                <a:r>
                  <a:rPr lang="en-US" sz="1400" b="1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chemeClr val="bg1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Libertinus Serif" pitchFamily="50" charset="0"/>
                        <a:cs typeface="Libertinus Serif" pitchFamily="50" charset="0"/>
                      </a:rPr>
                      <m:t>→ </m:t>
                    </m:r>
                  </m:oMath>
                </a14:m>
                <a:r>
                  <a:rPr lang="fr-FR" sz="14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ces résultats pourraient n'être que des fluctuations.</a:t>
                </a: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Nous avons besoin de plus de données.</a:t>
                </a:r>
              </a:p>
              <a:p>
                <a:pPr marL="360000" lvl="2" indent="-144000">
                  <a:buFont typeface="Arial" panose="020B0604020202020204" pitchFamily="34" charset="0"/>
                  <a:buChar char="•"/>
                </a:pPr>
                <a:r>
                  <a:rPr lang="fr-FR" sz="1200" dirty="0">
                    <a:solidFill>
                      <a:schemeClr val="bg1">
                        <a:lumMod val="2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Libertinus Serif" pitchFamily="50" charset="0"/>
                  </a:rPr>
                  <a:t>Une amélioration des statistiques pourrait être obtenue en affinant toutes les coupes et la soustraction de l'arrière-plan.</a:t>
                </a:r>
                <a:endParaRPr lang="en-US" sz="1200" dirty="0">
                  <a:solidFill>
                    <a:schemeClr val="bg1">
                      <a:lumMod val="2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Libertinus Serif" pitchFamily="50" charset="0"/>
                </a:endParaRPr>
              </a:p>
            </p:txBody>
          </p:sp>
        </mc:Choice>
        <mc:Fallback>
          <p:sp>
            <p:nvSpPr>
              <p:cNvPr id="4" name="ZoneTexte 2">
                <a:extLst>
                  <a:ext uri="{FF2B5EF4-FFF2-40B4-BE49-F238E27FC236}">
                    <a16:creationId xmlns:a16="http://schemas.microsoft.com/office/drawing/2014/main" id="{6C1FCCAE-7318-5FE4-87DE-F4095BF08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-1" y="760490"/>
                <a:ext cx="9096374" cy="3970318"/>
              </a:xfrm>
              <a:prstGeom prst="rect">
                <a:avLst/>
              </a:prstGeom>
              <a:blipFill>
                <a:blip r:embed="rId5"/>
                <a:stretch>
                  <a:fillRect l="-335" t="-614" b="-30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28395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2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13263" y="1210921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noProof="0" dirty="0">
                <a:solidFill>
                  <a:schemeClr val="bg1">
                    <a:lumMod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Libertinus Serif" pitchFamily="50" charset="0"/>
              </a:rPr>
              <a:t>Merci!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Public Health Ethics - Master of Public Health by Slidesgo">
  <a:themeElements>
    <a:clrScheme name="Simple Light">
      <a:dk1>
        <a:srgbClr val="2E2E2E"/>
      </a:dk1>
      <a:lt1>
        <a:srgbClr val="F5F5F5"/>
      </a:lt1>
      <a:dk2>
        <a:srgbClr val="265CE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E2E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</TotalTime>
  <Words>4693</Words>
  <Application>Microsoft Office PowerPoint</Application>
  <PresentationFormat>Affichage à l'écran (16:9)</PresentationFormat>
  <Paragraphs>521</Paragraphs>
  <Slides>33</Slides>
  <Notes>4</Notes>
  <HiddenSlides>3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43" baseType="lpstr">
      <vt:lpstr>Libertinus Serif</vt:lpstr>
      <vt:lpstr>Arial</vt:lpstr>
      <vt:lpstr>Cambria Math</vt:lpstr>
      <vt:lpstr>Cambria</vt:lpstr>
      <vt:lpstr>Lato</vt:lpstr>
      <vt:lpstr>Archivo</vt:lpstr>
      <vt:lpstr>Times New Roman</vt:lpstr>
      <vt:lpstr>Arial,Sans-Serif</vt:lpstr>
      <vt:lpstr>Public Health Ethics - Master of Public Health by Slidesgo</vt:lpstr>
      <vt:lpstr>PDF</vt:lpstr>
      <vt:lpstr>Diffusion Compton profondément virtuelle avec l'expérience CLAS12 au laboratoire Jefferson (USA)</vt:lpstr>
      <vt:lpstr>Résumé</vt:lpstr>
      <vt:lpstr>Zoologie des fonctions de partons</vt:lpstr>
      <vt:lpstr>Distribution généralisée des partons</vt:lpstr>
      <vt:lpstr>Distribution généralisée des partons</vt:lpstr>
      <vt:lpstr>Que pouvons-nous apprendre des GPD ?</vt:lpstr>
      <vt:lpstr>Processus exclusif pour accéder aux GPD​</vt:lpstr>
      <vt:lpstr>Accéder aux GDP au travers du DVCS : ​</vt:lpstr>
      <vt:lpstr>Facteurs de Forme de Compton pour le DVCS​</vt:lpstr>
      <vt:lpstr>Différentes observables pour le DVCS​</vt:lpstr>
      <vt:lpstr>Différentes observables pour le DVCS​</vt:lpstr>
      <vt:lpstr>Flavor separation ​</vt:lpstr>
      <vt:lpstr>DVCS sur une cible de deuterium​</vt:lpstr>
      <vt:lpstr>DVCS sur une cible de deuterium​</vt:lpstr>
      <vt:lpstr>DVCS sur une cible de deuterium​</vt:lpstr>
      <vt:lpstr>The BoNuS Experiment (of 2005)​</vt:lpstr>
      <vt:lpstr>BONuS12 à CLAS12​</vt:lpstr>
      <vt:lpstr>La RTPC BONuS12 ​</vt:lpstr>
      <vt:lpstr>Introduction au tagging</vt:lpstr>
      <vt:lpstr>Théorie du filtre de Kalman</vt:lpstr>
      <vt:lpstr>Théorie du filtre de Kalman</vt:lpstr>
      <vt:lpstr>Application pour BONuS12​</vt:lpstr>
      <vt:lpstr>Canal et observable</vt:lpstr>
      <vt:lpstr>Identification des particules</vt:lpstr>
      <vt:lpstr>Domaine cinématique</vt:lpstr>
      <vt:lpstr>Correction des accidentels</vt:lpstr>
      <vt:lpstr>Correction du bruit de fond des π^0 ​</vt:lpstr>
      <vt:lpstr>Sélection des évenements ed →eγp_s X</vt:lpstr>
      <vt:lpstr>Une nouvelle méthode pour les π^0 (1/2) ​</vt:lpstr>
      <vt:lpstr>Une nouvelle méthode pour les π^0 (2/2) ​</vt:lpstr>
      <vt:lpstr>Asymétrie at 90°: Une comparaison​</vt:lpstr>
      <vt:lpstr>Conclusion</vt:lpstr>
      <vt:lpstr>Merci!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Health Ethics - Master of Public Health</dc:title>
  <dc:creator>Mathieu Ouillon</dc:creator>
  <cp:lastModifiedBy>Mathieu Ouillon</cp:lastModifiedBy>
  <cp:revision>69</cp:revision>
  <dcterms:modified xsi:type="dcterms:W3CDTF">2024-03-27T13:40:31Z</dcterms:modified>
</cp:coreProperties>
</file>