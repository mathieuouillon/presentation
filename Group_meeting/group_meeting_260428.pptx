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335" r:id="rId3"/>
    <p:sldId id="336" r:id="rId4"/>
    <p:sldId id="337" r:id="rId5"/>
    <p:sldId id="338" r:id="rId6"/>
    <p:sldId id="339" r:id="rId7"/>
    <p:sldId id="340" r:id="rId8"/>
    <p:sldId id="341" r:id="rId9"/>
    <p:sldId id="342" r:id="rId10"/>
    <p:sldId id="348" r:id="rId11"/>
    <p:sldId id="343" r:id="rId12"/>
    <p:sldId id="349" r:id="rId13"/>
    <p:sldId id="344" r:id="rId14"/>
    <p:sldId id="345" r:id="rId15"/>
    <p:sldId id="350" r:id="rId16"/>
    <p:sldId id="351" r:id="rId17"/>
    <p:sldId id="346" r:id="rId18"/>
    <p:sldId id="347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3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8"/>
            <p14:sldId id="343"/>
            <p14:sldId id="349"/>
            <p14:sldId id="344"/>
            <p14:sldId id="345"/>
            <p14:sldId id="350"/>
            <p14:sldId id="351"/>
            <p14:sldId id="346"/>
            <p14:sldId id="347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73B"/>
    <a:srgbClr val="304D59"/>
    <a:srgbClr val="243643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2" autoAdjust="0"/>
    <p:restoredTop sz="94637" autoAdjust="0"/>
  </p:normalViewPr>
  <p:slideViewPr>
    <p:cSldViewPr snapToGrid="0" snapToObjects="1">
      <p:cViewPr>
        <p:scale>
          <a:sx n="142" d="100"/>
          <a:sy n="142" d="100"/>
        </p:scale>
        <p:origin x="1288" y="7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28-04-26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28-04-26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>
              <a:defRPr sz="2000" b="0" i="0">
                <a:latin typeface="Fira Sans" panose="020B0503050000020004" pitchFamily="34" charset="0"/>
                <a:ea typeface="Fira Sans" panose="020B0503050000020004" pitchFamily="34" charset="0"/>
              </a:defRPr>
            </a:lvl2pPr>
            <a:lvl3pPr>
              <a:defRPr sz="1800" b="0" i="0">
                <a:latin typeface="Fira Sans" panose="020B0503050000020004" pitchFamily="34" charset="0"/>
                <a:ea typeface="Fira Sans" panose="020B0503050000020004" pitchFamily="34" charset="0"/>
              </a:defRPr>
            </a:lvl3pPr>
            <a:lvl4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4pPr>
            <a:lvl5pPr>
              <a:defRPr sz="1600" b="0" i="0">
                <a:latin typeface="Fira Sans" panose="020B0503050000020004" pitchFamily="34" charset="0"/>
                <a:ea typeface="Fira Sans" panose="020B05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04/28/26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04/21/26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60B1-5022-403E-B12E-E828E1D4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381D-EC7C-A8B7-6069-27BE0DA2A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Develop an correction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endParaRPr lang="en-US" dirty="0"/>
          </a:p>
          <a:p>
            <a:pPr lvl="1"/>
            <a:r>
              <a:rPr lang="en-US" dirty="0"/>
              <a:t>Compare correction between polarity</a:t>
            </a:r>
          </a:p>
          <a:p>
            <a:pPr lvl="1"/>
            <a:r>
              <a:rPr lang="en-US" dirty="0"/>
              <a:t>Look at </a:t>
            </a:r>
            <a:r>
              <a:rPr lang="en-US" dirty="0" err="1"/>
              <a:t>CxC</a:t>
            </a:r>
            <a:r>
              <a:rPr lang="en-US" dirty="0"/>
              <a:t> correction for </a:t>
            </a:r>
            <a:r>
              <a:rPr lang="en-US" dirty="0" err="1"/>
              <a:t>Outbending</a:t>
            </a:r>
            <a:endParaRPr lang="en-US" dirty="0"/>
          </a:p>
          <a:p>
            <a:pPr lvl="1"/>
            <a:r>
              <a:rPr lang="en-US" dirty="0"/>
              <a:t>Look into correction for π in </a:t>
            </a:r>
            <a:r>
              <a:rPr lang="en-US" dirty="0" err="1"/>
              <a:t>CuSn</a:t>
            </a:r>
            <a:r>
              <a:rPr lang="en-US" dirty="0"/>
              <a:t> (</a:t>
            </a:r>
            <a:r>
              <a:rPr lang="en-US" dirty="0" err="1"/>
              <a:t>Inbending</a:t>
            </a:r>
            <a:r>
              <a:rPr lang="en-US" dirty="0"/>
              <a:t> and </a:t>
            </a:r>
            <a:r>
              <a:rPr lang="en-US" dirty="0" err="1"/>
              <a:t>Outbending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FB418-4A4E-CDAF-C569-D1DDC398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182F-2310-11AD-A414-148376F5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FAC0-6AF6-0C0A-A6F7-AEA13DF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8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F06F-E321-4E41-36B2-6C98B26D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497F7-441D-4A85-5969-FCAEED826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982" y="1032481"/>
                <a:ext cx="5763220" cy="5087667"/>
              </a:xfrm>
            </p:spPr>
            <p:txBody>
              <a:bodyPr/>
              <a:lstStyle/>
              <a:p>
                <a:r>
                  <a:rPr lang="en-US" dirty="0"/>
                  <a:t>First, after some discussion with Raffaella, I look into the local curvature: </a:t>
                </a:r>
                <a:r>
                  <a:rPr lang="en-US" dirty="0" err="1"/>
                  <a:t>κ</a:t>
                </a:r>
                <a:r>
                  <a:rPr lang="en-US" baseline="-25000" dirty="0" err="1"/>
                  <a:t>local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𝑙𝑜𝑐𝑎𝑙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With </a:t>
                </a:r>
                <a:r>
                  <a:rPr lang="en-US" dirty="0" err="1"/>
                  <a:t>B</a:t>
                </a:r>
                <a:r>
                  <a:rPr lang="en-US" baseline="-25000" dirty="0" err="1"/>
                  <a:t>local</a:t>
                </a:r>
                <a:r>
                  <a:rPr lang="en-US" baseline="-25000" dirty="0"/>
                  <a:t> </a:t>
                </a:r>
                <a:r>
                  <a:rPr lang="en-US" dirty="0"/>
                  <a:t>being the magnetic field at the track hit in region 2</a:t>
                </a:r>
              </a:p>
              <a:p>
                <a:endParaRPr lang="en-US" baseline="-25000" dirty="0"/>
              </a:p>
              <a:p>
                <a:r>
                  <a:rPr lang="en-US" dirty="0"/>
                  <a:t>The field value come from the field maps: </a:t>
                </a:r>
                <a:r>
                  <a:rPr lang="en-US" dirty="0" err="1"/>
                  <a:t>github.com</a:t>
                </a:r>
                <a:r>
                  <a:rPr lang="en-US" dirty="0"/>
                  <a:t>/</a:t>
                </a:r>
                <a:r>
                  <a:rPr lang="en-US" dirty="0" err="1"/>
                  <a:t>JeffersonLab</a:t>
                </a:r>
                <a:r>
                  <a:rPr lang="en-US" dirty="0"/>
                  <a:t>/clas12-cmag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497F7-441D-4A85-5969-FCAEED826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982" y="1032481"/>
                <a:ext cx="5763220" cy="5087667"/>
              </a:xfrm>
              <a:blipFill>
                <a:blip r:embed="rId2"/>
                <a:stretch>
                  <a:fillRect l="-1538" t="-998" r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5E19D-E038-B1BF-F15F-BD78F928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EED5-0CF6-1754-F39C-7A4C32040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0A3FC-3AFA-F028-8114-79C3CB88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5FF9D-6C34-53BF-44C3-B0EF78B07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202" y="1097338"/>
            <a:ext cx="5938188" cy="508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78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2C0A-A0A2-CB50-79C3-F5E1301D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CB9DD-0642-E0ED-A92C-8785A5EE0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1847"/>
            <a:ext cx="11922474" cy="1027454"/>
          </a:xfrm>
        </p:spPr>
        <p:txBody>
          <a:bodyPr/>
          <a:lstStyle/>
          <a:p>
            <a:r>
              <a:rPr lang="en-US" dirty="0"/>
              <a:t>Plot </a:t>
            </a:r>
            <a:r>
              <a:rPr lang="en-US" dirty="0" err="1"/>
              <a:t>Vz</a:t>
            </a:r>
            <a:r>
              <a:rPr lang="en-US" dirty="0"/>
              <a:t> distribution as function of </a:t>
            </a:r>
            <a:r>
              <a:rPr lang="en-US" dirty="0" err="1"/>
              <a:t>κ</a:t>
            </a:r>
            <a:r>
              <a:rPr lang="en-US" dirty="0"/>
              <a:t>: Much more linear for the shit in </a:t>
            </a:r>
            <a:r>
              <a:rPr lang="en-US" dirty="0" err="1"/>
              <a:t>μ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4B93B-3EC6-0D2E-810E-2836401C0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F41DE-602D-F4E3-AC9F-3E797217D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A0A62-759A-709D-FCB9-92DBF246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424067-6951-EA72-D84B-D6D5085D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1505574"/>
            <a:ext cx="11323320" cy="505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3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848CB-520D-661A-11D6-8F6575100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9D12-DD96-6EF8-7276-0443C616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CECD1-FED9-5606-B334-C85BC8AA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4EABF-281A-B712-B8B5-B271DA96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71C1A-A56B-9808-46F0-610182AE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59797-D59D-C5FB-081F-008E41B81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73"/>
          <a:stretch>
            <a:fillRect/>
          </a:stretch>
        </p:blipFill>
        <p:spPr>
          <a:xfrm>
            <a:off x="234949" y="1475740"/>
            <a:ext cx="3788411" cy="3241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2ED39F-C7E0-6711-EE55-5D975DF093B5}"/>
              </a:ext>
            </a:extLst>
          </p:cNvPr>
          <p:cNvSpPr txBox="1"/>
          <p:nvPr/>
        </p:nvSpPr>
        <p:spPr>
          <a:xfrm rot="16200000">
            <a:off x="-321992" y="2811780"/>
            <a:ext cx="87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Vz</a:t>
            </a:r>
            <a:r>
              <a:rPr lang="en-US" dirty="0"/>
              <a:t> [cm]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E3C199-03F6-59B4-D3FF-53DE12E46CC6}"/>
              </a:ext>
            </a:extLst>
          </p:cNvPr>
          <p:cNvSpPr txBox="1"/>
          <p:nvPr/>
        </p:nvSpPr>
        <p:spPr>
          <a:xfrm>
            <a:off x="1794744" y="4777740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 [T/GeV]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D5D057-4AAF-FEB8-4590-F50A18AA8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26" y="861060"/>
            <a:ext cx="6559254" cy="493634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086FAF-E511-3EF9-66A7-0150A144526D}"/>
              </a:ext>
            </a:extLst>
          </p:cNvPr>
          <p:cNvSpPr/>
          <p:nvPr/>
        </p:nvSpPr>
        <p:spPr>
          <a:xfrm>
            <a:off x="556260" y="1668780"/>
            <a:ext cx="3406140" cy="1371600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5B06F-326E-979B-30DE-B066C8C7543C}"/>
              </a:ext>
            </a:extLst>
          </p:cNvPr>
          <p:cNvSpPr/>
          <p:nvPr/>
        </p:nvSpPr>
        <p:spPr>
          <a:xfrm>
            <a:off x="563880" y="3070860"/>
            <a:ext cx="3406140" cy="1371600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D32AC35-64C4-8362-674F-2DE7C11DD11D}"/>
              </a:ext>
            </a:extLst>
          </p:cNvPr>
          <p:cNvCxnSpPr/>
          <p:nvPr/>
        </p:nvCxnSpPr>
        <p:spPr>
          <a:xfrm flipV="1">
            <a:off x="3970020" y="2057400"/>
            <a:ext cx="2575560" cy="320040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B3772D-2518-F90D-D568-81453A160B2A}"/>
              </a:ext>
            </a:extLst>
          </p:cNvPr>
          <p:cNvCxnSpPr>
            <a:cxnSpLocks/>
          </p:cNvCxnSpPr>
          <p:nvPr/>
        </p:nvCxnSpPr>
        <p:spPr>
          <a:xfrm>
            <a:off x="3970020" y="3840480"/>
            <a:ext cx="2727960" cy="125756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54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F3AF-11D6-83D9-F783-998A38AF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8357-D8AB-4312-F1E0-07EE8F86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60652-5CC0-C905-7788-3AA109A76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1098527"/>
            <a:ext cx="11922474" cy="1027454"/>
          </a:xfrm>
        </p:spPr>
        <p:txBody>
          <a:bodyPr/>
          <a:lstStyle/>
          <a:p>
            <a:r>
              <a:rPr lang="en-US" dirty="0"/>
              <a:t>I have tried to develop a correction based on </a:t>
            </a:r>
            <a:r>
              <a:rPr lang="en-US" dirty="0" err="1"/>
              <a:t>κ</a:t>
            </a:r>
            <a:r>
              <a:rPr lang="en-US" dirty="0"/>
              <a:t> and sector instead of momentum, theta, phi, and sector. Don’t work as well: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C3D97-63E9-0EC9-1759-6A82CFB1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93EB0-AF58-C74F-3DF5-0344BAB1B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7AF88-397D-7C87-E7BB-E2F5966A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ABDE7-7D09-6A65-8A87-5CBA62281E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2"/>
          <a:stretch>
            <a:fillRect/>
          </a:stretch>
        </p:blipFill>
        <p:spPr>
          <a:xfrm>
            <a:off x="350520" y="1943100"/>
            <a:ext cx="11148060" cy="436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1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C9C5-2D98-2121-6149-DBCAB03A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B273-19CE-40A4-69F2-6EFBED78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BF55-FD10-C212-D329-E4EE602D7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9467"/>
            <a:ext cx="11922474" cy="1027454"/>
          </a:xfrm>
        </p:spPr>
        <p:txBody>
          <a:bodyPr/>
          <a:lstStyle/>
          <a:p>
            <a:r>
              <a:rPr lang="en-US" dirty="0"/>
              <a:t>Compare to: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CE259-EF84-7DA9-C9AB-D26B6CF19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85D82-05B6-4245-86AD-802EBE42B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C51B8-662D-FCA9-0729-CB0C0208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941C8C-E1E8-9281-0B83-5B8C7FF85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62" y="1432755"/>
            <a:ext cx="11922473" cy="472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511A-EB3B-3613-395A-5B429AF69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ECC7-54CD-83BA-A8D8-8746EE97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2B59F-06E3-E583-1614-2DACED764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2" y="923267"/>
            <a:ext cx="11996277" cy="1027454"/>
          </a:xfrm>
        </p:spPr>
        <p:txBody>
          <a:bodyPr/>
          <a:lstStyle/>
          <a:p>
            <a:r>
              <a:rPr lang="en-US" dirty="0"/>
              <a:t>I also compare </a:t>
            </a:r>
            <a:r>
              <a:rPr lang="en-US" dirty="0" err="1"/>
              <a:t>Outbending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 data and simulation: Very similar after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95B51-4EC5-6491-C16C-00806DD7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85053-AFA8-3E62-B61B-F59FDC18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5B78D-0891-0B60-C8C0-AFE8753A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E8F1D-6742-311E-B5C5-5F25212C5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1" y="1444614"/>
            <a:ext cx="11894442" cy="470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29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D985A-8163-5A14-EE66-D9E268F8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D594D-955B-FD6B-A8FE-C0F0B711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ABE6-F6A8-3076-4DA3-DE341D24A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1847"/>
            <a:ext cx="11922474" cy="1027454"/>
          </a:xfrm>
        </p:spPr>
        <p:txBody>
          <a:bodyPr/>
          <a:lstStyle/>
          <a:p>
            <a:r>
              <a:rPr lang="en-US" dirty="0"/>
              <a:t>Develop a similar correction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Select reference region (can be changed)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B20CA-F248-D8E6-E33B-D96B01C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01E55-CB67-8B58-5DA1-52A2A8E3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F759-5E59-9FBF-5FA1-A7CC3F73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077247-A1B8-31AC-263F-2B09BF27C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3" y="1792314"/>
            <a:ext cx="5161137" cy="45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49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CF4-977B-E9C9-3C36-5E0F2D07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BE96-CD53-E173-231E-217C05B0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D575-F9FE-21F2-DF34-358BCE153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1846"/>
            <a:ext cx="4482957" cy="3526813"/>
          </a:xfrm>
        </p:spPr>
        <p:txBody>
          <a:bodyPr/>
          <a:lstStyle/>
          <a:p>
            <a:r>
              <a:rPr lang="en-US" dirty="0"/>
              <a:t>Develop a similar correction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Look at the </a:t>
            </a:r>
            <a:r>
              <a:rPr lang="en-US" dirty="0" err="1"/>
              <a:t>Vz</a:t>
            </a:r>
            <a:r>
              <a:rPr lang="en-US" dirty="0"/>
              <a:t> distribution for different momentum and theta bin</a:t>
            </a:r>
          </a:p>
          <a:p>
            <a:r>
              <a:rPr lang="en-US" dirty="0"/>
              <a:t>Smaller shit for the mean compare to </a:t>
            </a:r>
            <a:r>
              <a:rPr lang="en-US" dirty="0" err="1"/>
              <a:t>Outbending</a:t>
            </a:r>
            <a:endParaRPr lang="en-US" dirty="0"/>
          </a:p>
          <a:p>
            <a:r>
              <a:rPr lang="en-US" dirty="0"/>
              <a:t>Less distortion of the distribution also.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3D9C-A883-C198-5629-49F9A2F4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02295-3803-D6FE-9FB1-061327D9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8892F-C62B-B016-6283-0ECA901A9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E630FB-76AB-2634-CC9D-69F4A04C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19" y="0"/>
            <a:ext cx="7486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16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D185-7FE4-28FE-2CE8-E9C40D00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4AB4C-7466-F038-5738-D0E7A1A5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6863-0233-0094-3D64-41128F3A8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23" y="984227"/>
            <a:ext cx="11922474" cy="1027454"/>
          </a:xfrm>
        </p:spPr>
        <p:txBody>
          <a:bodyPr/>
          <a:lstStyle/>
          <a:p>
            <a:r>
              <a:rPr lang="en-US" dirty="0"/>
              <a:t>Develop a similar correction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Before/After correction + reference distribution: smaller correction than </a:t>
            </a:r>
            <a:r>
              <a:rPr lang="en-US" dirty="0" err="1"/>
              <a:t>Outbending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679C4-4F43-F7D2-6F93-6CC83699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5E6C9-71AB-8C30-1894-9EADC553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58FE-0976-3AEF-188B-8AFC550D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63DEA5-534B-FAD2-F704-E0E795F06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3" y="1776095"/>
            <a:ext cx="11932647" cy="467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43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F940-C25A-FE75-14A5-002E3C48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038B-BAA9-BB18-3EA6-3FE67BCF5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4A3B1-9BBD-6F05-F419-AC83B109A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23" y="984227"/>
            <a:ext cx="11922474" cy="1027454"/>
          </a:xfrm>
        </p:spPr>
        <p:txBody>
          <a:bodyPr/>
          <a:lstStyle/>
          <a:p>
            <a:r>
              <a:rPr lang="en-US" dirty="0"/>
              <a:t>Develop a similar correction for </a:t>
            </a:r>
            <a:r>
              <a:rPr lang="en-US" dirty="0" err="1"/>
              <a:t>Inbending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Before/After correction + reference distribution: smaller correction than </a:t>
            </a:r>
            <a:r>
              <a:rPr lang="en-US" dirty="0" err="1"/>
              <a:t>Outbending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EC1D1-B8E6-D822-2FA3-BC37335B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0B6B6-FCFF-BF59-782E-01BC0938D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8AF6-7CBA-BB60-C42E-FE8FCCA9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0E3C82-681F-8A0D-083D-ED440056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7" y="1872385"/>
            <a:ext cx="12028290" cy="33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8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1235-6E3C-5B52-7803-68569690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83C5E-390F-78C7-623A-C00EBEDB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AD76-D376-66D4-5192-DC0BE502C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B7EDE-4D62-67C6-6099-EB71728C7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51214-87EC-7B11-D514-45B6080E6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FE54F7-4266-8691-0720-267F2C85C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61" y="1810374"/>
            <a:ext cx="11892997" cy="373698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40B4E1D-94E0-9B3B-E079-B1BA1D18EB9C}"/>
              </a:ext>
            </a:extLst>
          </p:cNvPr>
          <p:cNvSpPr txBox="1">
            <a:spLocks/>
          </p:cNvSpPr>
          <p:nvPr/>
        </p:nvSpPr>
        <p:spPr>
          <a:xfrm>
            <a:off x="81423" y="984227"/>
            <a:ext cx="11922474" cy="1027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b="0" i="0" kern="1200">
                <a:solidFill>
                  <a:srgbClr val="243643"/>
                </a:solidFill>
                <a:latin typeface="Fira Sans" panose="020B0503050000020004" pitchFamily="34" charset="0"/>
                <a:ea typeface="Fira Sans" panose="020B05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Develop a similar correction for Inbending CuSn: </a:t>
            </a:r>
          </a:p>
          <a:p>
            <a:pPr lvl="1"/>
            <a:r>
              <a:rPr lang="en-US"/>
              <a:t>Before/After correction + reference distribution: smaller correction than Outbending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241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A233-74D3-4AE5-D1C6-3731270E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DDA0-C10D-F960-248B-F4AE395D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CEDC1-68B6-A0AA-9374-9D18B454E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9467"/>
            <a:ext cx="11922474" cy="1027454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/</a:t>
            </a:r>
            <a:r>
              <a:rPr lang="en-US" dirty="0" err="1"/>
              <a:t>Outbending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 correction</a:t>
            </a:r>
          </a:p>
          <a:p>
            <a:pPr lvl="1"/>
            <a:r>
              <a:rPr lang="en-US" dirty="0"/>
              <a:t>Before correction: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599E0-0A4D-92AA-8448-904AC2E2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56BD7-A50C-FB48-B330-634CFECF3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04C6E-CBBB-AC90-AF05-F7C5E66B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64776-0A89-D5E4-2E77-8DAE43871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9" y="1856094"/>
            <a:ext cx="11473157" cy="451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6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A63B0-3C06-6C01-96B3-2D20C643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C7B7-D9B1-0375-5285-6D5100E3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A56E-5908-B32C-58AE-EA0D4261B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9467"/>
            <a:ext cx="11922474" cy="1027454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/</a:t>
            </a:r>
            <a:r>
              <a:rPr lang="en-US" dirty="0" err="1"/>
              <a:t>Outbending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 correction</a:t>
            </a:r>
          </a:p>
          <a:p>
            <a:pPr lvl="1"/>
            <a:r>
              <a:rPr lang="en-US" dirty="0"/>
              <a:t>After correction: Very similar after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C9385-41EF-E797-F9AA-627FFCD1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84A2-4DAB-AB53-1DEF-43E0F396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3670-18EC-CEB1-E8E6-A4CF55F1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FC3DF2-091B-1E08-BA7F-84306568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42" y="1802129"/>
            <a:ext cx="11638138" cy="453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118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3F21-2891-FA95-07C4-CED9AAF4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D2CF-5B50-CFE7-1996-3DC2F99F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0565A-7AEB-954D-F353-AA6FEC46A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63" y="999467"/>
            <a:ext cx="11922474" cy="1027454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/</a:t>
            </a:r>
            <a:r>
              <a:rPr lang="en-US" dirty="0" err="1"/>
              <a:t>Outbending</a:t>
            </a:r>
            <a:r>
              <a:rPr lang="en-US" dirty="0"/>
              <a:t> </a:t>
            </a:r>
            <a:r>
              <a:rPr lang="en-US" dirty="0" err="1"/>
              <a:t>CuSn</a:t>
            </a:r>
            <a:r>
              <a:rPr lang="en-US" dirty="0"/>
              <a:t> correction</a:t>
            </a:r>
          </a:p>
          <a:p>
            <a:pPr lvl="1"/>
            <a:r>
              <a:rPr lang="en-US" dirty="0"/>
              <a:t>After correction: Very similar after correction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D38D-D51F-B355-C55F-05CA55B4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11D4-722E-90DF-FEB8-0B383B6B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C40EA-621A-5F6E-AF25-C5EFC16F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5D6CBB-C3B3-B31A-B5FC-437516C7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130"/>
          <a:stretch>
            <a:fillRect/>
          </a:stretch>
        </p:blipFill>
        <p:spPr>
          <a:xfrm>
            <a:off x="114300" y="1844040"/>
            <a:ext cx="11922474" cy="4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0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DF89F-3195-6862-7243-ED4D2207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CF7C-2962-F026-3BF6-A15A595D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46E03-F7CF-FF0A-61AF-5C59AA461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2326"/>
            <a:ext cx="3589019" cy="4890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Compare </a:t>
            </a:r>
            <a:r>
              <a:rPr lang="en-US" dirty="0" err="1"/>
              <a:t>Inbending</a:t>
            </a:r>
            <a:r>
              <a:rPr lang="en-US" dirty="0"/>
              <a:t>/</a:t>
            </a:r>
            <a:r>
              <a:rPr lang="en-US" dirty="0" err="1"/>
              <a:t>Outbending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After correcting the mean and sigma of each peak are much more constant across all momentum and theta bins. </a:t>
            </a:r>
          </a:p>
          <a:p>
            <a:pPr marL="0" indent="0">
              <a:buNone/>
            </a:pPr>
            <a:r>
              <a:rPr lang="en-US" dirty="0" err="1"/>
              <a:t>Inbending</a:t>
            </a:r>
            <a:r>
              <a:rPr lang="en-US" dirty="0"/>
              <a:t> blue </a:t>
            </a:r>
          </a:p>
          <a:p>
            <a:pPr marL="0" indent="0">
              <a:buNone/>
            </a:pPr>
            <a:r>
              <a:rPr lang="en-US" dirty="0" err="1"/>
              <a:t>Outbending</a:t>
            </a:r>
            <a:r>
              <a:rPr lang="en-US" dirty="0"/>
              <a:t> orange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23B51-C3FC-FD88-9090-990AED95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C0174-92BB-B621-0C3D-DA5EC5A9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59AB-1AC9-BF45-0248-8F326FB52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AD1209-BDB1-FE82-CAC3-4992A80F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744" y="914400"/>
            <a:ext cx="8454056" cy="475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72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A154-EBB3-93D9-C24B-4D10396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5FAEF-8F97-C76E-03D1-46260FFD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C233-20AD-B96D-F29C-3E400D7AE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2"/>
            <a:ext cx="11922474" cy="1027454"/>
          </a:xfrm>
        </p:spPr>
        <p:txBody>
          <a:bodyPr/>
          <a:lstStyle/>
          <a:p>
            <a:r>
              <a:rPr lang="en-US" dirty="0"/>
              <a:t>Develop a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Select reference region p&gt;5GeV and theta &gt; 20 deg: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3E6D-6B8B-DA2E-B2D9-73A2FA8D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B7DB9-D500-D73B-5B70-439D9018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28024-A65C-DBC0-8F66-47FE0F1FE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2AE67-9DD6-3C02-EB76-DEA05CE2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6" y="1912844"/>
            <a:ext cx="49149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33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B082-FBC1-FD53-CE72-56704743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DC29-339B-5270-F577-9AE88E2E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08801-19E8-F94D-ACC4-06F4F0A4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4491025" cy="2754503"/>
          </a:xfrm>
        </p:spPr>
        <p:txBody>
          <a:bodyPr/>
          <a:lstStyle/>
          <a:p>
            <a:r>
              <a:rPr lang="en-US" dirty="0"/>
              <a:t>Develop a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Similar shifts and distortions as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B1DB6-DCF9-3E96-97DB-943707BF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C7F6-3E83-E533-9B3C-494448167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A4316-226C-1507-662F-FC336878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F155F9-3401-8209-4473-6B798116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445" y="-39882"/>
            <a:ext cx="74995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85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C7227-56D5-FAA4-A6AD-A7ED7C80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7FCD-8F2B-E32C-D9A3-9794BF4A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323A-9CC4-396D-660D-D199F965F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1" y="1046531"/>
            <a:ext cx="4168296" cy="2754503"/>
          </a:xfrm>
        </p:spPr>
        <p:txBody>
          <a:bodyPr/>
          <a:lstStyle/>
          <a:p>
            <a:r>
              <a:rPr lang="en-US" dirty="0"/>
              <a:t>Develop a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Sector differences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8DC49-9EC5-7197-D268-DFEBAC13E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20FEA-B7F6-E513-B164-B0E5C8194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2CBC5-C276-CB09-277F-9034DF165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308FC3-F99B-8766-D1B9-6072FFAE5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635"/>
            <a:ext cx="7772400" cy="654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4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3003-6BB8-B287-CF46-B1D865CF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1338-8102-1FC8-8822-4B083C04D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73FFC-A37F-9030-116C-18041FC05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1331095" cy="2754503"/>
          </a:xfrm>
        </p:spPr>
        <p:txBody>
          <a:bodyPr/>
          <a:lstStyle/>
          <a:p>
            <a:r>
              <a:rPr lang="en-US" dirty="0"/>
              <a:t>Develop a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69FDB-36C1-E57D-4553-57361A97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230F7-5493-D44B-2EB4-A6A348A3E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E5377-8913-EB48-0C0A-5A552123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213FDE-A474-984B-4F5F-58DF58C8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7" y="1546453"/>
            <a:ext cx="11737436" cy="468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738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50B9-C1E9-A65B-3C05-4B06303F7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2131-AEEC-984B-B5C7-0E860759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F9D73-60D4-6EDE-5391-67C420537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1331095" cy="2754503"/>
          </a:xfrm>
        </p:spPr>
        <p:txBody>
          <a:bodyPr/>
          <a:lstStyle/>
          <a:p>
            <a:r>
              <a:rPr lang="en-US" dirty="0"/>
              <a:t>Develop a correction for </a:t>
            </a:r>
            <a:r>
              <a:rPr lang="en-US" dirty="0" err="1"/>
              <a:t>CxC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73273-3848-554C-A5AF-69BEC1A3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2AB06-68DF-3C04-F549-DE11D999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783C-1349-46C7-4EFC-36153780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BCA68-7986-45E1-B94B-B1A6FCEE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0" y="1498636"/>
            <a:ext cx="11901218" cy="372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89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CEDB-665B-EEB5-B879-514F9CC49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4017-6016-BCC5-1474-A84F9E58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0B8B-D5A3-346B-10F9-C9665F063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1331095" cy="2754503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CxC</a:t>
            </a:r>
            <a:r>
              <a:rPr lang="en-US" dirty="0"/>
              <a:t> and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 correction:</a:t>
            </a:r>
          </a:p>
          <a:p>
            <a:pPr lvl="1"/>
            <a:r>
              <a:rPr lang="en-US" dirty="0"/>
              <a:t>Similar distributions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ECE3-B660-86C1-048C-0B48A3C9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D776-E238-3D93-FFF5-82467BA2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C464F-68D5-38F1-021D-BC8C2D4F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27ACE-5ACB-504E-2CE4-C4D399B4D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"/>
          <a:stretch>
            <a:fillRect/>
          </a:stretch>
        </p:blipFill>
        <p:spPr>
          <a:xfrm>
            <a:off x="60057" y="1792941"/>
            <a:ext cx="11904420" cy="466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47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14E68-B008-D68E-99EB-0D9DFC6A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3B94-6799-67C6-8804-03978A74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7E806-2BC5-2612-D6B8-8EBAE47E7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1331095" cy="2754503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CxC</a:t>
            </a:r>
            <a:r>
              <a:rPr lang="en-US" dirty="0"/>
              <a:t> and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 correction:</a:t>
            </a:r>
          </a:p>
          <a:p>
            <a:pPr lvl="1"/>
            <a:r>
              <a:rPr lang="en-US" dirty="0"/>
              <a:t>Very close sigma and mu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FC980-089F-3225-A701-F397EDD4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AE2E-B1CE-87A2-66CC-56497E75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8336E-D98E-789B-D67F-B5CFC0C82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B4E04F-89A4-EF70-2C81-21E2FB5B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83"/>
          <a:stretch>
            <a:fillRect/>
          </a:stretch>
        </p:blipFill>
        <p:spPr>
          <a:xfrm>
            <a:off x="253999" y="2070847"/>
            <a:ext cx="11845183" cy="418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18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E4B9-B80B-247E-D596-B421A6CC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D21B-9E5D-20C9-6ADB-DB615C859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2545-647E-3C6D-A2F0-8EE52391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1331095" cy="2754503"/>
          </a:xfrm>
        </p:spPr>
        <p:txBody>
          <a:bodyPr/>
          <a:lstStyle/>
          <a:p>
            <a:r>
              <a:rPr lang="en-US" dirty="0"/>
              <a:t>Compare </a:t>
            </a:r>
            <a:r>
              <a:rPr lang="en-US" dirty="0" err="1"/>
              <a:t>CxC</a:t>
            </a:r>
            <a:r>
              <a:rPr lang="en-US" dirty="0"/>
              <a:t> and </a:t>
            </a:r>
            <a:r>
              <a:rPr lang="en-US" dirty="0" err="1"/>
              <a:t>CuSn</a:t>
            </a:r>
            <a:r>
              <a:rPr lang="en-US" dirty="0"/>
              <a:t> </a:t>
            </a:r>
            <a:r>
              <a:rPr lang="en-US" dirty="0" err="1"/>
              <a:t>Outbending</a:t>
            </a:r>
            <a:r>
              <a:rPr lang="en-US" dirty="0"/>
              <a:t> correction: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CE8D6-20A8-D218-3FDD-EFA158DD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E5AC-45F3-6EB3-7772-84BC2D85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351A7-264A-63E5-901B-DBBBB336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7A01C-0ED2-32DC-36CC-B0598DC7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562" y="1532561"/>
            <a:ext cx="9367826" cy="526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69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4DE4-B2E5-2C01-C849-71C373B63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B3E7-C991-85C9-CBB5-0D107B04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72C24-D29C-D8C7-0C02-168172BA0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2047980" cy="2754503"/>
          </a:xfrm>
        </p:spPr>
        <p:txBody>
          <a:bodyPr/>
          <a:lstStyle/>
          <a:p>
            <a:r>
              <a:rPr lang="en-US" dirty="0"/>
              <a:t>Look into the pion </a:t>
            </a:r>
            <a:r>
              <a:rPr lang="en-US" dirty="0" err="1"/>
              <a:t>Vz</a:t>
            </a:r>
            <a:r>
              <a:rPr lang="en-US" dirty="0"/>
              <a:t> distribution (</a:t>
            </a:r>
            <a:r>
              <a:rPr lang="en-US" dirty="0" err="1"/>
              <a:t>CuSn</a:t>
            </a:r>
            <a:r>
              <a:rPr lang="en-US" dirty="0"/>
              <a:t>, no </a:t>
            </a:r>
            <a:r>
              <a:rPr lang="en-US" dirty="0" err="1"/>
              <a:t>Vz</a:t>
            </a:r>
            <a:r>
              <a:rPr lang="en-US" dirty="0"/>
              <a:t> cut apply, event with good electron)</a:t>
            </a:r>
          </a:p>
          <a:p>
            <a:pPr lvl="1"/>
            <a:r>
              <a:rPr lang="en-US" dirty="0"/>
              <a:t>Pion selected with PID, |chi2pid| &lt; 10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51EA-F13D-1F77-BC2D-4DD5D903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AFA8-0551-F1AC-9409-C5E86FEB9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2F26-C5A6-9F75-483B-9203F27A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CDD8D6-E916-7D71-F58A-EA6E06083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16"/>
          <a:stretch>
            <a:fillRect/>
          </a:stretch>
        </p:blipFill>
        <p:spPr>
          <a:xfrm>
            <a:off x="72010" y="1958434"/>
            <a:ext cx="11607800" cy="43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88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CD64-E602-7BB4-5C46-AF15F2E9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9DE8F-587E-FAF1-C8CF-29B32B3F0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15E5-B28F-F0E9-AEB3-28CCE6D1A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1"/>
            <a:ext cx="12047980" cy="2754503"/>
          </a:xfrm>
        </p:spPr>
        <p:txBody>
          <a:bodyPr/>
          <a:lstStyle/>
          <a:p>
            <a:r>
              <a:rPr lang="en-US" dirty="0"/>
              <a:t>Look into the pion </a:t>
            </a:r>
            <a:r>
              <a:rPr lang="en-US" dirty="0" err="1"/>
              <a:t>Vz</a:t>
            </a:r>
            <a:r>
              <a:rPr lang="en-US" dirty="0"/>
              <a:t> distribution (</a:t>
            </a:r>
            <a:r>
              <a:rPr lang="en-US" dirty="0" err="1"/>
              <a:t>CuSn</a:t>
            </a:r>
            <a:r>
              <a:rPr lang="en-US" dirty="0"/>
              <a:t>, no </a:t>
            </a:r>
            <a:r>
              <a:rPr lang="en-US" dirty="0" err="1"/>
              <a:t>Vz</a:t>
            </a:r>
            <a:r>
              <a:rPr lang="en-US" dirty="0"/>
              <a:t> cut apply, event with good electron)</a:t>
            </a:r>
          </a:p>
          <a:p>
            <a:pPr lvl="1"/>
            <a:r>
              <a:rPr lang="en-US" dirty="0"/>
              <a:t>Pion selected with PID, |chi2pid| &lt; 10, p &gt; 0.3 GeV</a:t>
            </a:r>
          </a:p>
          <a:p>
            <a:pPr lvl="1"/>
            <a:r>
              <a:rPr lang="en-US" dirty="0"/>
              <a:t>Reference region: theta &gt; 15.0 deg, and p &gt; 2.0 GeV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AF9B-B3B6-B271-87C2-C4584F78D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E7C48-5AA3-99E2-E096-394AEB6DC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990E-B8A9-A92F-5B87-E6EBEAEB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CC68F4-6853-F41F-AC15-A04A74DB7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0" y="2178668"/>
            <a:ext cx="11734508" cy="463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00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C8EC8-F1BF-1E30-3002-2EC8DB57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24ED-F9A6-C056-EAA4-86631550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E00D-F47B-E7EA-237D-5A54A085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" y="1046532"/>
            <a:ext cx="12047980" cy="1205554"/>
          </a:xfrm>
        </p:spPr>
        <p:txBody>
          <a:bodyPr/>
          <a:lstStyle/>
          <a:p>
            <a:r>
              <a:rPr lang="en-US" dirty="0"/>
              <a:t>Look into the pion </a:t>
            </a:r>
            <a:r>
              <a:rPr lang="en-US" dirty="0" err="1"/>
              <a:t>Vz</a:t>
            </a:r>
            <a:r>
              <a:rPr lang="en-US" dirty="0"/>
              <a:t> distribution (</a:t>
            </a:r>
            <a:r>
              <a:rPr lang="en-US" dirty="0" err="1"/>
              <a:t>CuSn</a:t>
            </a:r>
            <a:r>
              <a:rPr lang="en-US" dirty="0"/>
              <a:t>, no </a:t>
            </a:r>
            <a:r>
              <a:rPr lang="en-US" dirty="0" err="1"/>
              <a:t>Vz</a:t>
            </a:r>
            <a:r>
              <a:rPr lang="en-US" dirty="0"/>
              <a:t> cut apply, event with good electron)</a:t>
            </a:r>
          </a:p>
          <a:p>
            <a:pPr lvl="1"/>
            <a:r>
              <a:rPr lang="en-US" dirty="0"/>
              <a:t>Pion selected with PID, |chi2pid| &lt; 10, p &gt; 0.3 GeV</a:t>
            </a:r>
          </a:p>
          <a:p>
            <a:pPr lvl="1"/>
            <a:r>
              <a:rPr lang="en-US" dirty="0"/>
              <a:t>Reference region: theta &gt; 15.0 deg, and p &gt; 2.0 GeV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8E7A8-F0A7-92E5-2031-339D07D6A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77E6B-F751-B3DB-0F6F-143A42E88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98E9B-5DE8-CBC7-0D20-0D82E13C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7060AF-46A9-0956-C99C-107F07A97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9" y="2252085"/>
            <a:ext cx="11597341" cy="456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11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780B6-D089-4F31-C86F-7C2BA96C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</a:t>
            </a:r>
            <a:r>
              <a:rPr lang="en-US" dirty="0" err="1"/>
              <a:t>Vz</a:t>
            </a:r>
            <a:r>
              <a:rPr lang="en-US" dirty="0"/>
              <a:t>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4FC0-07B1-94C4-7F23-9BE619E22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2"/>
            <a:ext cx="11922474" cy="7873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Comparison of pi+ and pi-: The corrected distributions are different (mean)</a:t>
            </a:r>
          </a:p>
          <a:p>
            <a:pPr lvl="1"/>
            <a:r>
              <a:rPr lang="en-US" dirty="0"/>
              <a:t>Maybe the issue is with the reference region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7804-CE84-3CC0-DDCC-399ED4DF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4297-6034-171E-8ACA-F291E9D9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08325-3D70-BB2A-47D6-BBCF66FB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F796C-0D1D-2EEA-E46A-83D759CBE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92"/>
          <a:stretch>
            <a:fillRect/>
          </a:stretch>
        </p:blipFill>
        <p:spPr>
          <a:xfrm>
            <a:off x="-1" y="1757082"/>
            <a:ext cx="12085331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75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195E4-88D7-69F5-83A6-D0E5C89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2598-B386-02D3-ECE4-6A6D09FB6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RG-D:	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to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CuSn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contamination, develop a correction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Vz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distribution</a:t>
            </a:r>
          </a:p>
          <a:p>
            <a:pPr lvl="2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Check the same things for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pions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</a:t>
            </a:r>
          </a:p>
          <a:p>
            <a:pPr lvl="2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Develop a correction of Carbon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Get the multiplicity ratio for π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 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after the event mixing subtraction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p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T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broadening and cos and sin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φ</a:t>
            </a:r>
            <a:r>
              <a:rPr lang="en-US" baseline="-25000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h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extraction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Work on the binning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Radiative and acceptance correction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Background for ρ</a:t>
            </a:r>
            <a:r>
              <a:rPr lang="en-US" baseline="30000" dirty="0">
                <a:latin typeface="Fira Sans Light" panose="020B0403050000020004" pitchFamily="34" charset="0"/>
                <a:ea typeface="Fira Sans Light" panose="020B0403050000020004" pitchFamily="34" charset="0"/>
              </a:rPr>
              <a:t>0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 with simulation for CT analysis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  <a:p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ALERT: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Continue the work on Graph Neural Network: implementation in </a:t>
            </a:r>
            <a:r>
              <a:rPr lang="en-US" dirty="0" err="1">
                <a:latin typeface="Fira Sans Light" panose="020B0403050000020004" pitchFamily="34" charset="0"/>
                <a:ea typeface="Fira Sans Light" panose="020B0403050000020004" pitchFamily="34" charset="0"/>
              </a:rPr>
              <a:t>coatjava</a:t>
            </a:r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, make a pull request</a:t>
            </a:r>
          </a:p>
          <a:p>
            <a:pPr lvl="1"/>
            <a:r>
              <a:rPr lang="en-US" dirty="0">
                <a:latin typeface="Fira Sans Light" panose="020B0403050000020004" pitchFamily="34" charset="0"/>
                <a:ea typeface="Fira Sans Light" panose="020B0403050000020004" pitchFamily="34" charset="0"/>
              </a:rPr>
              <a:t>Redo the efficiency study on elastic data but use the polar angle of the electron instead of the momentum for calculation of the predicted deuterium</a:t>
            </a:r>
          </a:p>
          <a:p>
            <a:pPr lvl="1"/>
            <a:endParaRPr lang="en-US" dirty="0">
              <a:latin typeface="Fira Sans Light" panose="020B0403050000020004" pitchFamily="34" charset="0"/>
              <a:ea typeface="Fira Sans Light" panose="020B04030500000200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120B9-0D55-C183-E2CD-1FE69337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04/28/26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EEDA0-BAB5-9130-2D7E-F16A3E74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4FCEA-620F-8086-B86F-5A1E2FD7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77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16209</TotalTime>
  <Words>905</Words>
  <Application>Microsoft Macintosh PowerPoint</Application>
  <PresentationFormat>Widescreen</PresentationFormat>
  <Paragraphs>194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 Math</vt:lpstr>
      <vt:lpstr>Fira Sans</vt:lpstr>
      <vt:lpstr>Fira Sans Light</vt:lpstr>
      <vt:lpstr>Office Theme</vt:lpstr>
      <vt:lpstr>Group meeting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RG-D: Vz correction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539</cp:revision>
  <dcterms:created xsi:type="dcterms:W3CDTF">2019-12-03T01:04:10Z</dcterms:created>
  <dcterms:modified xsi:type="dcterms:W3CDTF">2026-04-28T15:22:04Z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