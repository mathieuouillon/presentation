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5"/>
            <p14:sldId id="368"/>
            <p14:sldId id="369"/>
            <p14:sldId id="370"/>
            <p14:sldId id="371"/>
            <p14:sldId id="257"/>
            <p14:sldId id="258"/>
            <p14:sldId id="259"/>
            <p14:sldId id="260"/>
            <p14:sldId id="261"/>
            <p14:sldId id="373"/>
            <p14:sldId id="263"/>
            <p14:sldId id="264"/>
            <p14:sldId id="374"/>
            <p14:sldId id="268"/>
            <p14:sldId id="269"/>
            <p14:sldId id="375"/>
            <p14:sldId id="270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3373B"/>
    <a:srgbClr val="304D59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60" autoAdjust="0"/>
    <p:restoredTop sz="94637" autoAdjust="0"/>
  </p:normalViewPr>
  <p:slideViewPr>
    <p:cSldViewPr snapToGrid="0" snapToObjects="1">
      <p:cViewPr varScale="1">
        <p:scale>
          <a:sx n="158" d="100"/>
          <a:sy n="158" d="100"/>
        </p:scale>
        <p:origin x="224" y="4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14-07-26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14-07-26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 cap="small" baseline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 w="12700"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07/14/26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7360"/>
            <a:ext cx="6976872" cy="2231136"/>
          </a:xfrm>
        </p:spPr>
        <p:txBody>
          <a:bodyPr/>
          <a:lstStyle/>
          <a:p>
            <a:r>
              <a:rPr sz="6000" b="0" cap="small">
                <a:solidFill>
                  <a:srgbClr val="304D59"/>
                </a:solidFill>
                <a:latin typeface="Fira Sans Light"/>
              </a:rPr>
              <a:t>Workspace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080"/>
            <a:ext cx="6876288" cy="676656"/>
          </a:xfrm>
        </p:spPr>
        <p:txBody>
          <a:bodyPr/>
          <a:lstStyle/>
          <a:p>
            <a:r>
              <a:rPr sz="2000" b="0">
                <a:solidFill>
                  <a:srgbClr val="304D59"/>
                </a:solidFill>
                <a:latin typeface="Fira Sans"/>
              </a:rPr>
              <a:t>Mathieu Ouillon (Mississippi State University)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45736"/>
            <a:ext cx="2075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04D59"/>
                </a:solidFill>
                <a:latin typeface="Fira Sans"/>
              </a:rPr>
              <a:t>07/21/26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Overview: what is in the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RGD/ — Run Group D, nuclear targets LD2 / CxC / Cu / Sn (12 projects)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RGF/ — Run Group F, neutron DVCS with the BONuS12 RTPC (3 projects)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RGL/ — Run Group L, the ALERT recoil detector and AHDC (3 projects)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other/ — shared tooling: farm job monitoring, beam charge and run database (4)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Typst/ and Presentation/ — analysis notes and slide decks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archive/ — about 43 retired projects, kept for 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Organised by run group, plus shared tooling that is not tied to one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Every folder has a README: top level, then a per-area index, then the project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Python with uv; C++ with meson or CMake; Rust for the t0 extractor; some Fortran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Everything runs on the ifarm: ROOT, coatjava, GEMC, HIPO, RCDB and Mya, SWIF2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Regenerable artefacts are not kept: virtualenvs, caches, build dirs, large dumps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RG-D: twelve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Simulation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sidis_mc — SIDIS event generator, PYTHIA6 plus nuclear effects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background_merging — GEMC and coatjava reconstruction workflows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Machine learning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ai_hadron — CatBoost hadron particle identification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RGD-AINet — AI drift chamber track finding and denoising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Physics analyses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nuclear_transparency_python, rgd-pi0, rgd_hadron_contamination, toy-contamination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Tools and quality checks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skim_for_RGD, check_timelines, swim-cpp, pion_vs_mu_analysis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RG-D: from generator to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1. sidis_mc — generate SIDIS events with PYTHIA6 and nuclear effects, written as LUND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2. background_merging — GEMC simulation and coatjava reconstruction as SWIF2 workflows, merged with real-data background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3. skim_for_RGD — skim the reconstructed HIPO to electron-triggered events with a reduced bank set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4. the analyses — transparency, pi0, contamination, PID and data-quality timelines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Each stage is its own project with its own README, so the chain can be joined at any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RG-F: neutron DVCS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Neutron DVCS on a deuterium target; the BONuS12 RTPC tags the spectator proton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bonus12simu — GEMC and BONuS12 detector simulation: gcards, LUND inputs, farm jobs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my_topeg — the TOPEG exclusive-process generator, C++ and Fortran, Argonne-v18 wavefunction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nDVCSAnalysis — the analysis in C++ and CMake: cut configs, elastic calibration, 2020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RG-L: ALERT and the AHDC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rgl-t0-analysis (t0rch) — per-wire t0 calibration for the AHDC; a Rust extractor fills the drift-time spectra, Python fits the prompt peak and writes the CCDB table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rgl_beamspot_sim — transverse alignment between ALERT and forward CLAS, from elastic e d coplanarity, validated on simulation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alert-track-finding — AI track finding: an MLP over candidates and a GravNet graph network over hits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The t0 calibration feeds the reconstruction the other two rely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Machine learning, in three places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ai_hadron (RG-D) — hadron particle ID with CatBoost and Optuna, benchmarked against RICH truth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RGD-AINet (RG-D) — drift chamber track finding and hit denoising; trains the .network models coatjava loads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alert-track-finding (RG-L) — MLP over AHDC superlayer candidates, and a GravNet GNN over hit graphs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Three independent efforts: different detectors, different 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Shared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py-swif2 — command line and TUI over swif2 and Slurm: failures, CPU efficiency, fair share, disk use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swif2_web — FastAPI and React dashboard: background poller, SQLite cache, REST API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rcdb_run_charge — run metadata and beam current or charge from RCDB and the Mya archiver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study_charge — accumulated charge per run, Moller polarization and half-wave-plate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Notes, talks and the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Typst/ — sources for the write-ups: the RG-D common analysis note, contamination, gnn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Presentation/ — the dated slide decks from group and collaboration talks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archive/ — about 43 retired projects: earlier RG-D analyses, RG-L and ALERT iterations, Rust ports, generators and one-off studies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Kept for reference only, and not documented individually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On GitHub: 13 public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Analysis and simulation (9)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sidis_mc, swim-cpp, rgd-pi0, toy-contamination, alert-track-finding, RGD-AINet, cpp-beamspot, toy-model-generator, rgd-yaml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Reusable libraries (2)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oxihipo, oxiroot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Writing and talks (2)</a:t>
            </a:r>
          </a:p>
          <a:p>
            <a:pPr lvl="1"/>
            <a:r>
              <a:rPr sz="1500" b="0">
                <a:solidFill>
                  <a:srgbClr val="304D59"/>
                </a:solidFill>
                <a:latin typeface="Fira Sans"/>
              </a:rPr>
              <a:t>RGD_CommonNote2, Presentation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Most of the analysis repos are the git remotes behind folders in the workspace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Two standalone Rust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oxihipo — a pure-Rust reader and writer for the HIPO v6 format used by CLAS12: zero-copy columnar bank access, parallel decompression, and opt-in partial or chunked-parallel compression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oxiroot — a pure-Rust reader and writer for CERN ROOT files, both RNTuple and classic histograms, interoperable with official ROOT and with uproot</a:t>
            </a:r>
          </a:p>
          <a:p>
            <a:pPr/>
            <a:r>
              <a:rPr sz="1800" b="0">
                <a:solidFill>
                  <a:srgbClr val="304D59"/>
                </a:solidFill>
                <a:latin typeface="Fira Sans"/>
              </a:rPr>
              <a:t>Neither needs libROOT or the HIPO C++ library, so a Rust analysis can read lab data directly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04D59"/>
                </a:solidFill>
                <a:latin typeface="Fira Sans Light"/>
              </a:rPr>
              <a:t>Where to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1. Open the top-level README — it maps every folder and states the conventions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2. Pick an area and read its index — RGD/, RGL/ and other/ each list their projects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3. Drop into the project — every README covers what it does, how to build and how to run it</a:t>
            </a:r>
          </a:p>
          <a:p>
            <a:pPr/>
            <a:r>
              <a:rPr sz="2000" b="0">
                <a:solidFill>
                  <a:srgbClr val="304D59"/>
                </a:solidFill>
                <a:latin typeface="Fira Sans"/>
              </a:rPr>
              <a:t>If a folder looks unfamiliar its README says whether it is still in use; if it is in archive/, it is not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20699</TotalTime>
  <Words>867</Words>
  <Application>Microsoft Macintosh PowerPoint</Application>
  <PresentationFormat>Widescreen</PresentationFormat>
  <Paragraphs>159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Fira Sans</vt:lpstr>
      <vt:lpstr>Fira Sans Light</vt:lpstr>
      <vt:lpstr>Office Theme</vt:lpstr>
      <vt:lpstr>Group meeting</vt:lpstr>
      <vt:lpstr>RG-D: Vz Correction</vt:lpstr>
      <vt:lpstr>RG-D: Vz Correction</vt:lpstr>
      <vt:lpstr>RG-D: Vz Correction</vt:lpstr>
      <vt:lpstr>RG-D: Vz Correction</vt:lpstr>
      <vt:lpstr>RG-D: Pi0 Binning</vt:lpstr>
      <vt:lpstr>ALERT: T0 Calibration</vt:lpstr>
      <vt:lpstr>ALERT: T0 Calibration</vt:lpstr>
      <vt:lpstr>ALERT: T0 Calibration</vt:lpstr>
      <vt:lpstr>ALERT: T0 Calibration</vt:lpstr>
      <vt:lpstr>ALERT: T0 Calibration</vt:lpstr>
      <vt:lpstr>ALERT: T0 Calibration</vt:lpstr>
      <vt:lpstr>T0 Calibration</vt:lpstr>
      <vt:lpstr>T0 Calibration</vt:lpstr>
      <vt:lpstr>T0 Calibration</vt:lpstr>
      <vt:lpstr>ALERT Beamspot position</vt:lpstr>
      <vt:lpstr>ALERT Beamspot position</vt:lpstr>
      <vt:lpstr>ALERT Beamspot position</vt:lpstr>
      <vt:lpstr>ALERT Beamspot position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825</cp:revision>
  <dcterms:created xsi:type="dcterms:W3CDTF">2019-12-03T01:04:10Z</dcterms:created>
  <dcterms:modified xsi:type="dcterms:W3CDTF">2026-07-14T17:48:13Z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