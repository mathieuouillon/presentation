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63" r:id="rId4"/>
    <p:sldId id="259" r:id="rId5"/>
    <p:sldId id="258" r:id="rId6"/>
    <p:sldId id="260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D1C603-28A2-1340-9515-120EA66DFE1A}">
          <p14:sldIdLst>
            <p14:sldId id="256"/>
          </p14:sldIdLst>
        </p14:section>
        <p14:section name="Introduction" id="{FD8F8417-24E2-0648-A78E-DF8A041777C4}">
          <p14:sldIdLst>
            <p14:sldId id="257"/>
            <p14:sldId id="263"/>
          </p14:sldIdLst>
        </p14:section>
        <p14:section name="Track Finding" id="{92300D98-62EC-B94C-9EC0-5A5C4255E582}">
          <p14:sldIdLst>
            <p14:sldId id="259"/>
            <p14:sldId id="258"/>
            <p14:sldId id="260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15F"/>
    <a:srgbClr val="262626"/>
    <a:srgbClr val="FAFAFA"/>
    <a:srgbClr val="23373B"/>
    <a:srgbClr val="FFFFFF"/>
    <a:srgbClr val="243643"/>
    <a:srgbClr val="304D59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07" autoAdjust="0"/>
    <p:restoredTop sz="94637" autoAdjust="0"/>
  </p:normalViewPr>
  <p:slideViewPr>
    <p:cSldViewPr snapToGrid="0" snapToObjects="1">
      <p:cViewPr varScale="1">
        <p:scale>
          <a:sx n="170" d="100"/>
          <a:sy n="170" d="100"/>
        </p:scale>
        <p:origin x="280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02-04-26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02-04-26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304D59"/>
                </a:solidFill>
                <a:latin typeface="Sofia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9926" y="299133"/>
            <a:ext cx="9496425" cy="897765"/>
          </a:xfrm>
          <a:prstGeom prst="rect">
            <a:avLst/>
          </a:prstGeom>
        </p:spPr>
        <p:txBody>
          <a:bodyPr/>
          <a:lstStyle>
            <a:lvl1pPr algn="l">
              <a:defRPr b="0" i="0">
                <a:latin typeface="Sofia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590" y="1249680"/>
            <a:ext cx="11366810" cy="4860000"/>
          </a:xfrm>
        </p:spPr>
        <p:txBody>
          <a:bodyPr>
            <a:normAutofit/>
          </a:bodyPr>
          <a:lstStyle>
            <a:lvl1pPr>
              <a:defRPr sz="2400" b="0" i="0">
                <a:latin typeface="Sofia Sans Light" pitchFamily="2" charset="0"/>
                <a:ea typeface="Sofia Sans Light" pitchFamily="2" charset="0"/>
              </a:defRPr>
            </a:lvl1pPr>
            <a:lvl2pPr>
              <a:defRPr sz="2000" b="0" i="0">
                <a:latin typeface="Sofia Sans Light" pitchFamily="2" charset="0"/>
                <a:ea typeface="Sofia Sans Light" pitchFamily="2" charset="0"/>
              </a:defRPr>
            </a:lvl2pPr>
            <a:lvl3pPr>
              <a:defRPr sz="1800" b="0" i="0">
                <a:latin typeface="Sofia Sans Light" pitchFamily="2" charset="0"/>
                <a:ea typeface="Sofia Sans Light" pitchFamily="2" charset="0"/>
              </a:defRPr>
            </a:lvl3pPr>
            <a:lvl4pPr>
              <a:defRPr sz="1600" b="0" i="0">
                <a:latin typeface="Sofia Sans Light" pitchFamily="2" charset="0"/>
                <a:ea typeface="Sofia Sans Light" pitchFamily="2" charset="0"/>
              </a:defRPr>
            </a:lvl4pPr>
            <a:lvl5pPr>
              <a:defRPr sz="1600" b="0" i="0">
                <a:latin typeface="Sofia Sans Light" pitchFamily="2" charset="0"/>
                <a:ea typeface="Sofia Sans Ligh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23826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57" y="1463041"/>
            <a:ext cx="11374243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04/06/26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6" y="285685"/>
            <a:ext cx="9410700" cy="930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08157" y="0"/>
            <a:ext cx="1421599" cy="12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rgbClr val="00315F"/>
          </a:solidFill>
          <a:latin typeface="Sofia Sans" pitchFamily="2" charset="0"/>
          <a:ea typeface="Sofia Sans" pitchFamily="2" charset="0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243643"/>
          </a:solidFill>
          <a:latin typeface="Sofia Sans Light" pitchFamily="2" charset="0"/>
          <a:ea typeface="Sofia Sans Light" pitchFamily="2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rgbClr val="243643"/>
          </a:solidFill>
          <a:latin typeface="Sofia Sans Light" pitchFamily="2" charset="0"/>
          <a:ea typeface="Sofia Sans Light" pitchFamily="2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243643"/>
          </a:solidFill>
          <a:latin typeface="Sofia Sans Light" pitchFamily="2" charset="0"/>
          <a:ea typeface="Sofia Sans Light" pitchFamily="2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243643"/>
          </a:solidFill>
          <a:latin typeface="Sofia Sans Light" pitchFamily="2" charset="0"/>
          <a:ea typeface="Sofia Sans Light" pitchFamily="2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243643"/>
          </a:solidFill>
          <a:latin typeface="Sofia Sans Light" pitchFamily="2" charset="0"/>
          <a:ea typeface="Sofia Sans Light" pitchFamily="2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3385"/>
            <a:ext cx="6978580" cy="2234317"/>
          </a:xfrm>
        </p:spPr>
        <p:txBody>
          <a:bodyPr>
            <a:normAutofit/>
          </a:bodyPr>
          <a:lstStyle/>
          <a:p>
            <a:pPr lvl="0" algn="l"/>
            <a:r>
              <a:rPr lang="en-US" sz="6000" b="0" dirty="0">
                <a:latin typeface="Sofia Sans" pitchFamily="2" charset="0"/>
              </a:rPr>
              <a:t>Graph Neural Network for ALERT</a:t>
            </a:r>
            <a:endParaRPr sz="6000" b="0" dirty="0">
              <a:latin typeface="Sofia Sans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853440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>
                <a:latin typeface="Sofia Sans Light" pitchFamily="2" charset="0"/>
              </a:rPr>
              <a:t>Mathieu Ouillon (Mississippi State University)</a:t>
            </a:r>
            <a:endParaRPr dirty="0">
              <a:latin typeface="Sofia Sans Light" pitchFamily="2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63A573-154D-7B40-5738-504DAF2B226D}"/>
              </a:ext>
            </a:extLst>
          </p:cNvPr>
          <p:cNvSpPr txBox="1">
            <a:spLocks/>
          </p:cNvSpPr>
          <p:nvPr/>
        </p:nvSpPr>
        <p:spPr>
          <a:xfrm>
            <a:off x="457200" y="4746014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Sofia Sans Light" pitchFamily="2" charset="0"/>
                <a:ea typeface="Fira Sans Book" panose="020B0503050000020004" pitchFamily="34" charset="0"/>
              </a:rPr>
              <a:t>04/06/26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FED84-43E8-7232-00D4-54C3A8031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Graph and Graph Neural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99326E-70F1-8E61-77CD-BAF8D6F951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590" y="1249680"/>
                <a:ext cx="6342607" cy="4860000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A graph consists of two things: nodes, which represent entities (for us detector hits), and edges, which represent the connections between them.</a:t>
                </a:r>
              </a:p>
              <a:p>
                <a:r>
                  <a:rPr lang="en-US" sz="2000" dirty="0"/>
                  <a:t>Nodes can carry features (attributes describing that entity), and edges can also carry their own features (like weight, type, or distance).</a:t>
                </a:r>
              </a:p>
              <a:p>
                <a:r>
                  <a:rPr lang="en-US" sz="2000" dirty="0"/>
                  <a:t>A graph is a mathematical structure: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ar-AE" sz="20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ar-AE" sz="1800" b="0" i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ar-AE" sz="1800" dirty="0"/>
                  <a:t>: </a:t>
                </a:r>
                <a:r>
                  <a:rPr lang="en-US" sz="1800" dirty="0"/>
                  <a:t>set of nodes (or vertices)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sz="1800" dirty="0"/>
                  <a:t>: set of edges (connections between nodes)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99326E-70F1-8E61-77CD-BAF8D6F951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590" y="1249680"/>
                <a:ext cx="6342607" cy="4860000"/>
              </a:xfrm>
              <a:blipFill>
                <a:blip r:embed="rId2"/>
                <a:stretch>
                  <a:fillRect l="-798" t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10C31-87E9-F9B5-71D9-E57E9A5E8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8D85B-674F-2BE5-9C7B-3A8E49D2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A67A5-6901-0453-573B-4100912D8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Data Structures and Algorithms Cheat Sheet + PDF | Zero To Mastery">
            <a:extLst>
              <a:ext uri="{FF2B5EF4-FFF2-40B4-BE49-F238E27FC236}">
                <a16:creationId xmlns:a16="http://schemas.microsoft.com/office/drawing/2014/main" id="{F7C3AA21-C458-30AF-825E-4B407B4FB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525" y="1249680"/>
            <a:ext cx="5179767" cy="360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2748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EBD41-B7E6-C390-007D-738CF9036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C34D4-54A4-0482-493F-661E18C59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Graph Neural Networks for Track Finding?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2C5B8-FDD2-DB82-33C1-5C4D22A2C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90" y="1249680"/>
            <a:ext cx="6342607" cy="4860000"/>
          </a:xfrm>
        </p:spPr>
        <p:txBody>
          <a:bodyPr>
            <a:normAutofit/>
          </a:bodyPr>
          <a:lstStyle/>
          <a:p>
            <a:r>
              <a:rPr lang="en-US" sz="2000" dirty="0"/>
              <a:t>Track finding = connecting detector hits into particle trajectories</a:t>
            </a:r>
          </a:p>
          <a:p>
            <a:pPr lvl="1"/>
            <a:r>
              <a:rPr lang="en-US" sz="1600" dirty="0"/>
              <a:t>Variable number of hits per event</a:t>
            </a:r>
          </a:p>
          <a:p>
            <a:pPr lvl="1"/>
            <a:r>
              <a:rPr lang="en-US" sz="1600" dirty="0"/>
              <a:t>No fixed ordering or regular grid structure</a:t>
            </a:r>
          </a:p>
          <a:p>
            <a:pPr lvl="1"/>
            <a:r>
              <a:rPr lang="en-US" sz="1600" dirty="0"/>
              <a:t>Relationships between hits are naturally graph-like</a:t>
            </a:r>
          </a:p>
          <a:p>
            <a:r>
              <a:rPr lang="en-US" sz="2000" dirty="0"/>
              <a:t>Traditional approaches struggle with this:</a:t>
            </a:r>
          </a:p>
          <a:p>
            <a:pPr lvl="1"/>
            <a:r>
              <a:rPr lang="en-US" sz="1600" dirty="0"/>
              <a:t>CNNs expect grid inputs (images)</a:t>
            </a:r>
          </a:p>
          <a:p>
            <a:pPr lvl="1"/>
            <a:r>
              <a:rPr lang="en-US" sz="1600" dirty="0"/>
              <a:t>MLPs expect fixed-size inputs</a:t>
            </a:r>
          </a:p>
          <a:p>
            <a:r>
              <a:rPr lang="en-US" sz="2000" dirty="0"/>
              <a:t>GNNs operate directly on graph structure via message passing</a:t>
            </a:r>
          </a:p>
          <a:p>
            <a:pPr lvl="1"/>
            <a:r>
              <a:rPr lang="en-US" sz="1600" dirty="0"/>
              <a:t>Each node gathers information from its neighbors</a:t>
            </a:r>
          </a:p>
          <a:p>
            <a:pPr lvl="1"/>
            <a:r>
              <a:rPr lang="en-US" sz="1600" dirty="0"/>
              <a:t>Learns both local hit correlations </a:t>
            </a:r>
            <a:r>
              <a:rPr lang="en-US" sz="1600" b="1" dirty="0"/>
              <a:t>and</a:t>
            </a:r>
            <a:r>
              <a:rPr lang="en-US" sz="1600" dirty="0"/>
              <a:t> global track structure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920A3-73FD-6EA3-C84E-3AADE439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40875-879E-3BDA-499F-CDC8A3A02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EDC9D-3E40-9AAF-30A9-FE429D099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F170BC-F37F-0379-818C-4F9F9928D7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808"/>
          <a:stretch>
            <a:fillRect/>
          </a:stretch>
        </p:blipFill>
        <p:spPr>
          <a:xfrm>
            <a:off x="6604000" y="1587500"/>
            <a:ext cx="5461000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61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5317F-AE53-ECBB-0B89-99BCD77F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Finding with Graph Neural Networks (GNNs)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A43E9-9FA7-1FFE-836A-F099BCA28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90" y="1249680"/>
            <a:ext cx="6357597" cy="4860000"/>
          </a:xfrm>
        </p:spPr>
        <p:txBody>
          <a:bodyPr>
            <a:normAutofit/>
          </a:bodyPr>
          <a:lstStyle/>
          <a:p>
            <a:r>
              <a:rPr lang="en-US" sz="2000" dirty="0"/>
              <a:t>Edge Classification: Predict whether two hits belong to the same track</a:t>
            </a:r>
          </a:p>
          <a:p>
            <a:r>
              <a:rPr lang="en-US" sz="2000" dirty="0"/>
              <a:t>Pipeline:</a:t>
            </a:r>
          </a:p>
          <a:p>
            <a:pPr lvl="1"/>
            <a:r>
              <a:rPr lang="en-US" sz="1800" dirty="0"/>
              <a:t>Construct graph from hits using geometric constraints</a:t>
            </a:r>
          </a:p>
          <a:p>
            <a:pPr lvl="1"/>
            <a:r>
              <a:rPr lang="en-US" sz="1800" dirty="0"/>
              <a:t>Apply GNN </a:t>
            </a:r>
          </a:p>
          <a:p>
            <a:pPr lvl="1"/>
            <a:r>
              <a:rPr lang="en-US" sz="1800" dirty="0"/>
              <a:t>Threshold edges → reconstruct tracks</a:t>
            </a:r>
          </a:p>
          <a:p>
            <a:pPr lvl="1"/>
            <a:r>
              <a:rPr lang="en-US" sz="1800" dirty="0"/>
              <a:t>Optionally, perform post-processing to merge/split tracks</a:t>
            </a:r>
          </a:p>
          <a:p>
            <a:r>
              <a:rPr lang="en-US" sz="2000" dirty="0"/>
              <a:t>Advantages of GNNs</a:t>
            </a:r>
          </a:p>
          <a:p>
            <a:pPr lvl="1"/>
            <a:r>
              <a:rPr lang="en-US" sz="1800" dirty="0"/>
              <a:t>Learn both local hit correlations and global track structure</a:t>
            </a:r>
          </a:p>
          <a:p>
            <a:pPr lvl="1"/>
            <a:r>
              <a:rPr lang="en-US" sz="1800" dirty="0"/>
              <a:t>Can handle noise, missing hits, and variable hit densities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9815C-D97A-5E17-D278-095CB46C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B8E8C-60DE-B217-0519-5DB9675B8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5AFAB-7F42-5D85-AB58-A669426F5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1108A2-2316-AF91-EC52-9E21019E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3"/>
          <a:stretch>
            <a:fillRect/>
          </a:stretch>
        </p:blipFill>
        <p:spPr>
          <a:xfrm>
            <a:off x="6813030" y="932066"/>
            <a:ext cx="5378970" cy="592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014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6AC9F-B007-A28B-7239-4ECBE8AF0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Finding as a Graph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B4ED3-9511-3D4F-BAF4-CD87D1AE4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80160"/>
            <a:ext cx="5522892" cy="4785360"/>
          </a:xfrm>
        </p:spPr>
        <p:txBody>
          <a:bodyPr>
            <a:normAutofit/>
          </a:bodyPr>
          <a:lstStyle/>
          <a:p>
            <a:r>
              <a:rPr lang="en-US" sz="2000" dirty="0"/>
              <a:t>Idea: Represent hits and their relationships as a graph</a:t>
            </a:r>
          </a:p>
          <a:p>
            <a:pPr lvl="1"/>
            <a:r>
              <a:rPr lang="en-US" sz="1800" dirty="0"/>
              <a:t>Nodes = detector hits (AHDC + ATOF)</a:t>
            </a:r>
          </a:p>
          <a:p>
            <a:pPr lvl="1"/>
            <a:r>
              <a:rPr lang="en-US" sz="1800" dirty="0"/>
              <a:t>Edges = candidate connections between hits</a:t>
            </a:r>
          </a:p>
          <a:p>
            <a:pPr lvl="2"/>
            <a:r>
              <a:rPr lang="en-US" sz="1600" dirty="0"/>
              <a:t>Layer gap: 1-2 layers apart</a:t>
            </a:r>
          </a:p>
          <a:p>
            <a:pPr lvl="2"/>
            <a:r>
              <a:rPr lang="en-US" sz="1600" dirty="0"/>
              <a:t>Euclidean distance &lt; 50 mm</a:t>
            </a:r>
          </a:p>
          <a:p>
            <a:pPr lvl="2"/>
            <a:r>
              <a:rPr lang="en-US" sz="1600" dirty="0"/>
              <a:t>Directed: inner layer to outer layer</a:t>
            </a:r>
          </a:p>
          <a:p>
            <a:r>
              <a:rPr lang="en-US" sz="2000" dirty="0"/>
              <a:t>Task: Classify each edge as same-track (1) or different-track (0)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48288-D514-94D8-C09E-A9C9693AB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7E63C-F48F-EED5-00EF-08379BFE7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4E594-5B21-FF49-615F-D8381561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C644F6-5080-3417-3C23-2242B1425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893" y="941064"/>
            <a:ext cx="6544955" cy="578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39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D2E3-4CB6-2717-9707-66084C54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B0761-E516-214A-CB32-86A065A75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90" y="1249680"/>
            <a:ext cx="6070910" cy="4860000"/>
          </a:xfrm>
        </p:spPr>
        <p:txBody>
          <a:bodyPr>
            <a:normAutofit/>
          </a:bodyPr>
          <a:lstStyle/>
          <a:p>
            <a:r>
              <a:rPr lang="en-US" dirty="0"/>
              <a:t>MC Sample used to build the same-track edge and add noise hits and multi-track events for the different-track edge</a:t>
            </a:r>
          </a:p>
          <a:p>
            <a:r>
              <a:rPr lang="en-US" dirty="0"/>
              <a:t>Use all light ions, flat distribution in momentum (0.05 to 1.5 GeV), </a:t>
            </a:r>
            <a:r>
              <a:rPr lang="en-US" dirty="0" err="1"/>
              <a:t>φ</a:t>
            </a:r>
            <a:r>
              <a:rPr lang="en-US" dirty="0"/>
              <a:t>, </a:t>
            </a:r>
            <a:r>
              <a:rPr lang="en-US" dirty="0" err="1"/>
              <a:t>θ</a:t>
            </a:r>
            <a:r>
              <a:rPr lang="en-US" dirty="0"/>
              <a:t> and </a:t>
            </a:r>
            <a:r>
              <a:rPr lang="en-US" dirty="0" err="1"/>
              <a:t>Vz</a:t>
            </a:r>
            <a:endParaRPr lang="en-US" dirty="0"/>
          </a:p>
          <a:p>
            <a:r>
              <a:rPr lang="en-US" dirty="0"/>
              <a:t>1-5 tracks merged per event + 5-30 noise hits</a:t>
            </a:r>
          </a:p>
          <a:p>
            <a:endParaRPr lang="en-US" dirty="0"/>
          </a:p>
          <a:p>
            <a:r>
              <a:rPr lang="en-US" dirty="0"/>
              <a:t>Node features:</a:t>
            </a:r>
          </a:p>
          <a:p>
            <a:pPr lvl="1"/>
            <a:r>
              <a:rPr lang="en-US" sz="1800" dirty="0"/>
              <a:t>Position, stereo-angle</a:t>
            </a:r>
          </a:p>
          <a:p>
            <a:r>
              <a:rPr lang="en-US" dirty="0"/>
              <a:t>Edge features:</a:t>
            </a:r>
          </a:p>
          <a:p>
            <a:pPr lvl="1"/>
            <a:r>
              <a:rPr lang="en-US" sz="1800" dirty="0" err="1"/>
              <a:t>Δφ</a:t>
            </a:r>
            <a:r>
              <a:rPr lang="en-US" sz="1800" baseline="-25000" dirty="0" err="1"/>
              <a:t>ij</a:t>
            </a:r>
            <a:r>
              <a:rPr lang="en-US" sz="1800" dirty="0"/>
              <a:t>, </a:t>
            </a:r>
            <a:r>
              <a:rPr lang="en-US" sz="1800" dirty="0" err="1"/>
              <a:t>Δl</a:t>
            </a:r>
            <a:r>
              <a:rPr lang="en-US" sz="1800" baseline="-25000" dirty="0" err="1"/>
              <a:t>ij</a:t>
            </a:r>
            <a:endParaRPr lang="en-US" sz="1800" baseline="-25000" dirty="0"/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D5097-2EA6-C4FE-5A32-899015D22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DBE2F-BF10-9B93-D23A-A1735915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BA928-4C5B-CEE7-206D-F058B48CB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EB4C1C4-7A44-6510-861C-BC434CE27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662" y="356622"/>
            <a:ext cx="6052338" cy="263041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934E2BA-B678-0170-4F15-35E7BC4AE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404" y="3159801"/>
            <a:ext cx="3279758" cy="294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43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73CD7-6010-A023-3DBE-1F345336E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on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7BB4C3-AC68-E479-744E-3BB5EF8880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49680"/>
                <a:ext cx="5532120" cy="5106672"/>
              </a:xfrm>
            </p:spPr>
            <p:txBody>
              <a:bodyPr>
                <a:normAutofit/>
              </a:bodyPr>
              <a:lstStyle/>
              <a:p>
                <a:r>
                  <a:rPr lang="en-US" sz="1400" dirty="0"/>
                  <a:t>Track Efficiency (how many true tracks did we find?):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dirty="0" smtClean="0"/>
                      <m:t>Efficiency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dirty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400" dirty="0"/>
                              <m:t>matched</m:t>
                            </m:r>
                            <m:r>
                              <m:rPr>
                                <m:nor/>
                              </m:rPr>
                              <a:rPr lang="en-US" sz="14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400" dirty="0"/>
                              <m:t>true</m:t>
                            </m:r>
                            <m:r>
                              <m:rPr>
                                <m:nor/>
                              </m:rPr>
                              <a:rPr lang="en-US" sz="14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400" dirty="0"/>
                              <m:t>tracks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dirty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400" dirty="0"/>
                              <m:t>true</m:t>
                            </m:r>
                            <m:r>
                              <m:rPr>
                                <m:nor/>
                              </m:rPr>
                              <a:rPr lang="en-US" sz="14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400" dirty="0"/>
                              <m:t>tracks</m:t>
                            </m:r>
                          </m:sub>
                        </m:sSub>
                      </m:den>
                    </m:f>
                  </m:oMath>
                </a14:m>
                <a:endParaRPr lang="en-US" sz="1400" dirty="0"/>
              </a:p>
              <a:p>
                <a:pPr lvl="1"/>
                <a:r>
                  <a:rPr lang="en-US" sz="1400" dirty="0"/>
                  <a:t>A true track is considered "matched" to a reconstructed track if they share at least 80% of their hits </a:t>
                </a:r>
              </a:p>
              <a:p>
                <a:r>
                  <a:rPr lang="en-US" sz="1400" dirty="0"/>
                  <a:t>Contamination (how many wrong hits are in a reconstructed track?):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dirty="0" smtClean="0"/>
                      <m:t>Contamination</m:t>
                    </m:r>
                    <m:r>
                      <a:rPr lang="en-US" sz="1400" b="0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400" b="0" i="0" dirty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d>
                        <m:r>
                          <a:rPr lang="en-US" sz="1400" b="0" i="0" dirty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400" b="0" i="0" dirty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sz="1400" b="0" i="0" dirty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m:rPr>
                                <m:sty m:val="p"/>
                              </m:rPr>
                              <a:rPr lang="en-US" sz="1400" b="0" i="0" dirty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400" b="0" i="0" dirty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d>
                      </m:den>
                    </m:f>
                    <m:r>
                      <a:rPr lang="en-US" sz="1400" b="0" i="0" dirty="0">
                        <a:latin typeface="Cambria Math" panose="02040503050406030204" pitchFamily="18" charset="0"/>
                      </a:rPr>
                      <m:t>=1−</m:t>
                    </m:r>
                    <m:r>
                      <m:rPr>
                        <m:nor/>
                      </m:rPr>
                      <a:rPr lang="en-US" sz="1400" dirty="0"/>
                      <m:t>Purity</m:t>
                    </m:r>
                  </m:oMath>
                </a14:m>
                <a:endParaRPr lang="en-US" sz="1400" dirty="0"/>
              </a:p>
              <a:p>
                <a:pPr lvl="1"/>
                <a:r>
                  <a:rPr lang="en-US" sz="1400" dirty="0"/>
                  <a:t>where R is the set of hits in a reconstructed track and T is the set of hits from its best-matching true track. </a:t>
                </a:r>
              </a:p>
              <a:p>
                <a:pPr lvl="1"/>
                <a:r>
                  <a:rPr lang="en-US" sz="1400" dirty="0"/>
                  <a:t>Contamination = 0: every hit in the </a:t>
                </a:r>
                <a:r>
                  <a:rPr lang="en-US" sz="1400" dirty="0" err="1"/>
                  <a:t>reco</a:t>
                </a:r>
                <a:r>
                  <a:rPr lang="en-US" sz="1400" dirty="0"/>
                  <a:t> track is correct</a:t>
                </a:r>
              </a:p>
              <a:p>
                <a:pPr lvl="1"/>
                <a:r>
                  <a:rPr lang="en-US" sz="1400" dirty="0"/>
                  <a:t>Contamination = 1: no hits in the </a:t>
                </a:r>
                <a:r>
                  <a:rPr lang="en-US" sz="1400" dirty="0" err="1"/>
                  <a:t>reco</a:t>
                </a:r>
                <a:r>
                  <a:rPr lang="en-US" sz="1400" dirty="0"/>
                  <a:t> track match the true track</a:t>
                </a:r>
              </a:p>
              <a:p>
                <a:r>
                  <a:rPr lang="en-US" sz="1400" dirty="0"/>
                  <a:t>Completeness (how much of a true track did we recover?):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dirty="0" smtClean="0"/>
                      <m:t>Completeness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400" b="0" i="0" dirty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sz="1400" b="0" i="0" dirty="0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m:rPr>
                                <m:sty m:val="p"/>
                              </m:rPr>
                              <a:rPr lang="en-US" sz="1400" b="0" i="0" dirty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400" b="0" i="0" dirty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den>
                    </m:f>
                  </m:oMath>
                </a14:m>
                <a:endParaRPr lang="en-US" sz="1400" dirty="0"/>
              </a:p>
              <a:p>
                <a:pPr lvl="1"/>
                <a:r>
                  <a:rPr lang="en-US" sz="1400" dirty="0"/>
                  <a:t>where T is the set of hits in a true track and R is the set of hits in its matched reconstructed track. A completeness of 1.0 means every hit from the true particle was included in the </a:t>
                </a:r>
                <a:r>
                  <a:rPr lang="en-US" sz="1400" dirty="0" err="1"/>
                  <a:t>reco</a:t>
                </a:r>
                <a:r>
                  <a:rPr lang="en-US" sz="1400" dirty="0"/>
                  <a:t> track.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7BB4C3-AC68-E479-744E-3BB5EF8880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49680"/>
                <a:ext cx="5532120" cy="5106672"/>
              </a:xfrm>
              <a:blipFill>
                <a:blip r:embed="rId2"/>
                <a:stretch>
                  <a:fillRect l="-229" t="-2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1B395-F84C-123A-AD05-F1E879C0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80F52-63C8-EFA0-5D2A-2D8E4795D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E0F16-3283-348B-DF2F-A2015E08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3B7B36-C7B2-A2BA-EF97-1FC17FDCA8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400"/>
          <a:stretch>
            <a:fillRect/>
          </a:stretch>
        </p:blipFill>
        <p:spPr>
          <a:xfrm>
            <a:off x="5510209" y="1249679"/>
            <a:ext cx="6589913" cy="474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937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5A210-CFFB-08C6-685C-2890166CD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display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E318D-65CA-4D5B-B4A8-D3C5337DF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07E1E-B0A3-C443-A54C-DC9539E6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92578-97AC-1AA4-56AF-33AE89553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B6D35A-D92A-9F89-CE2E-C0F9D9008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66" y="1201878"/>
            <a:ext cx="5596593" cy="56091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1E0619-72B2-90E5-82D2-1F9236DD3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253" y="1201140"/>
            <a:ext cx="5602867" cy="560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54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5496074-1DCC-FD49-93DA-4F2CC4561AAB}">
  <we:reference id="wa200010001" version="1.0.0.1" store="en-US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13779</TotalTime>
  <Words>573</Words>
  <Application>Microsoft Macintosh PowerPoint</Application>
  <PresentationFormat>Widescreen</PresentationFormat>
  <Paragraphs>83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Cambria Math</vt:lpstr>
      <vt:lpstr>Fira Sans Book</vt:lpstr>
      <vt:lpstr>Fira Sans Light</vt:lpstr>
      <vt:lpstr>Sofia Sans</vt:lpstr>
      <vt:lpstr>Sofia Sans Light</vt:lpstr>
      <vt:lpstr>Office Theme</vt:lpstr>
      <vt:lpstr>Graph Neural Network for ALERT</vt:lpstr>
      <vt:lpstr>Introduction to Graph and Graph Neural Networks</vt:lpstr>
      <vt:lpstr>Why Graph Neural Networks for Track Finding?</vt:lpstr>
      <vt:lpstr>Track Finding with Graph Neural Networks (GNNs)</vt:lpstr>
      <vt:lpstr>Track Finding as a Graph Problem</vt:lpstr>
      <vt:lpstr>Training setup</vt:lpstr>
      <vt:lpstr>Evaluation on simulation</vt:lpstr>
      <vt:lpstr>Event display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358</cp:revision>
  <dcterms:created xsi:type="dcterms:W3CDTF">2019-12-03T01:04:10Z</dcterms:created>
  <dcterms:modified xsi:type="dcterms:W3CDTF">2026-04-06T14:27:19Z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