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85" r:id="rId2"/>
    <p:sldId id="286" r:id="rId3"/>
    <p:sldId id="256" r:id="rId4"/>
    <p:sldId id="257" r:id="rId5"/>
    <p:sldId id="272" r:id="rId6"/>
    <p:sldId id="271" r:id="rId7"/>
    <p:sldId id="274" r:id="rId8"/>
    <p:sldId id="259" r:id="rId9"/>
    <p:sldId id="260" r:id="rId10"/>
    <p:sldId id="275" r:id="rId11"/>
    <p:sldId id="278" r:id="rId12"/>
    <p:sldId id="279" r:id="rId13"/>
    <p:sldId id="280" r:id="rId14"/>
    <p:sldId id="264" r:id="rId15"/>
    <p:sldId id="281" r:id="rId16"/>
    <p:sldId id="282" r:id="rId17"/>
    <p:sldId id="283" r:id="rId18"/>
    <p:sldId id="28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85"/>
            <p14:sldId id="286"/>
            <p14:sldId id="256"/>
            <p14:sldId id="257"/>
            <p14:sldId id="272"/>
            <p14:sldId id="271"/>
            <p14:sldId id="274"/>
            <p14:sldId id="259"/>
            <p14:sldId id="260"/>
            <p14:sldId id="275"/>
            <p14:sldId id="278"/>
            <p14:sldId id="279"/>
            <p14:sldId id="280"/>
            <p14:sldId id="264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F"/>
    <a:srgbClr val="262626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6" autoAdjust="0"/>
    <p:restoredTop sz="94637" autoAdjust="0"/>
  </p:normalViewPr>
  <p:slideViewPr>
    <p:cSldViewPr snapToGrid="0" snapToObjects="1">
      <p:cViewPr varScale="1">
        <p:scale>
          <a:sx n="166" d="100"/>
          <a:sy n="166" d="100"/>
        </p:scale>
        <p:origin x="192" y="2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12-04-26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12-04-26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Sofia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Sofia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Sofia Sans Light" pitchFamily="2" charset="0"/>
                <a:ea typeface="Sofia Sans Light" pitchFamily="2" charset="0"/>
              </a:defRPr>
            </a:lvl1pPr>
            <a:lvl2pPr>
              <a:defRPr sz="2000" b="0" i="0">
                <a:latin typeface="Sofia Sans Light" pitchFamily="2" charset="0"/>
                <a:ea typeface="Sofia Sans Light" pitchFamily="2" charset="0"/>
              </a:defRPr>
            </a:lvl2pPr>
            <a:lvl3pPr>
              <a:defRPr sz="1800" b="0" i="0">
                <a:latin typeface="Sofia Sans Light" pitchFamily="2" charset="0"/>
                <a:ea typeface="Sofia Sans Light" pitchFamily="2" charset="0"/>
              </a:defRPr>
            </a:lvl3pPr>
            <a:lvl4pPr>
              <a:defRPr sz="1600" b="0" i="0">
                <a:latin typeface="Sofia Sans Light" pitchFamily="2" charset="0"/>
                <a:ea typeface="Sofia Sans Light" pitchFamily="2" charset="0"/>
              </a:defRPr>
            </a:lvl4pPr>
            <a:lvl5pPr>
              <a:defRPr sz="1600" b="0" i="0">
                <a:latin typeface="Sofia Sans Light" pitchFamily="2" charset="0"/>
                <a:ea typeface="Sofia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04/06/26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ALERT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Sofia Sans" pitchFamily="2" charset="0"/>
          <a:ea typeface="Sofia Sans" pitchFamily="2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Sofia Sans Light" pitchFamily="2" charset="0"/>
          <a:ea typeface="Sofia Sans Light" pitchFamily="2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57A4-5C4D-D6E0-78DE-FEA075833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the last cooking: Pass0 v10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2EC4E-6833-D433-A0BA-D805089ED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49651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During the last cooking (Pass0v10, first try) we got two errors: 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74451-46C2-8AE4-C22C-233C5072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3B4A-8A0B-BD9B-F637-C2705828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89E77-35ED-36B6-6877-6496A2D1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F48A3-E573-E143-69A7-C68F65E01FA0}"/>
              </a:ext>
            </a:extLst>
          </p:cNvPr>
          <p:cNvSpPr txBox="1"/>
          <p:nvPr/>
        </p:nvSpPr>
        <p:spPr>
          <a:xfrm>
            <a:off x="179881" y="1529000"/>
            <a:ext cx="95637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java.lang.NullPointerException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: Cannot load from double array because "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timeOffsets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" is null</a:t>
            </a:r>
          </a:p>
          <a:p>
            <a:pPr>
              <a:buNone/>
            </a:pP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org.jlab.rec.atof.hit.ATOFHit.convertTdcToTime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(ATOFHit.java:204)</a:t>
            </a:r>
          </a:p>
          <a:p>
            <a:pPr>
              <a:buNone/>
            </a:pP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org.jlab.rec.atof.hit.ATOFHit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.&lt;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init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&gt;(ATOFHit.java:417)</a:t>
            </a:r>
          </a:p>
          <a:p>
            <a:pPr>
              <a:buNone/>
            </a:pP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org.jlab.rec.atof.hit.HitFinder.findHits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(HitFinder.java:92)</a:t>
            </a:r>
          </a:p>
          <a:p>
            <a:pPr>
              <a:buNone/>
            </a:pP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org.jlab.service.atof.ATOFEngine.processDataEvent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(ATOFEngine.java:106)</a:t>
            </a:r>
          </a:p>
          <a:p>
            <a:pPr>
              <a:buNone/>
            </a:pP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org.jlab.clas.reco.ReconstructionEngine.filterEvent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(ReconstructionEngine.java:368)</a:t>
            </a:r>
          </a:p>
          <a:p>
            <a:pPr>
              <a:buNone/>
            </a:pP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org.jlab.clas.reco.ReconstructionEngine.execute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(ReconstructionEngine.java:407)</a:t>
            </a:r>
          </a:p>
          <a:p>
            <a:pPr>
              <a:buNone/>
            </a:pPr>
            <a:endParaRPr lang="en-US" sz="1200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  <a:p>
            <a:pPr>
              <a:buNone/>
            </a:pPr>
            <a:endParaRPr lang="en-US" sz="1200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  <a:p>
            <a:pPr>
              <a:buNone/>
            </a:pPr>
            <a:endParaRPr lang="en-US" sz="1200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  <a:p>
            <a:pPr>
              <a:buNone/>
            </a:pPr>
            <a:endParaRPr lang="en-US" sz="1200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  <a:p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java.lang.IndexOutOfBoundsException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: Index 0 out of bounds for length 0</a:t>
            </a:r>
          </a:p>
          <a:p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java.base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/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jdk.internal.util.Preconditions.outOfBounds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(Preconditions.java:100)</a:t>
            </a:r>
          </a:p>
          <a:p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java.base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/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jdk.internal.util.Preconditions.outOfBoundsCheckIndex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(Preconditions.java:106)</a:t>
            </a:r>
          </a:p>
          <a:p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java.base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/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jdk.internal.util.Preconditions.checkIndex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(Preconditions.java:302)</a:t>
            </a:r>
          </a:p>
          <a:p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java.base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/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java.util.Objects.checkIndex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(Objects.java:385)</a:t>
            </a:r>
          </a:p>
          <a:p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java.base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/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java.util.ArrayList.get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(ArrayList.java:427)</a:t>
            </a:r>
          </a:p>
          <a:p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org.jlab.rec.ahdc.Track.Track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.&lt;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init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&gt;(Track.java:61)</a:t>
            </a:r>
          </a:p>
          <a:p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        at </a:t>
            </a:r>
            <a:r>
              <a:rPr lang="en-US" sz="1200" dirty="0" err="1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org.jlab.service.alert.ALERTEngine.processDataEvent</a:t>
            </a:r>
            <a:r>
              <a:rPr lang="en-US" sz="1200" dirty="0">
                <a:latin typeface="FiraCode Nerd Font Light" panose="02000009000000000000" pitchFamily="49" charset="0"/>
                <a:ea typeface="FiraCode Nerd Font Light" panose="02000009000000000000" pitchFamily="49" charset="0"/>
                <a:cs typeface="FiraCode Nerd Font Light" panose="02000009000000000000" pitchFamily="49" charset="0"/>
              </a:rPr>
              <a:t>(ALERTEngine.java:349)</a:t>
            </a:r>
          </a:p>
          <a:p>
            <a:pPr>
              <a:buNone/>
            </a:pPr>
            <a:endParaRPr lang="en-US" sz="1200" dirty="0">
              <a:latin typeface="FiraCode Nerd Font Light" panose="02000009000000000000" pitchFamily="49" charset="0"/>
              <a:ea typeface="FiraCode Nerd Font Light" panose="02000009000000000000" pitchFamily="49" charset="0"/>
              <a:cs typeface="FiraCode Nerd Font 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50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93F56-70CB-AF41-1D29-1D4594E0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the last cooking: Pass0 v10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B5F33-806A-5D7D-6336-41EE5B93F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360824"/>
          </a:xfrm>
        </p:spPr>
        <p:txBody>
          <a:bodyPr>
            <a:normAutofit/>
          </a:bodyPr>
          <a:lstStyle/>
          <a:p>
            <a:r>
              <a:rPr lang="en-US" sz="2000" dirty="0"/>
              <a:t>It was related to how the CCDB table were loaded: </a:t>
            </a:r>
          </a:p>
          <a:p>
            <a:pPr lvl="1"/>
            <a:r>
              <a:rPr lang="en-US" sz="1600" dirty="0"/>
              <a:t>Some tables needs 3 indexes, some needs 4</a:t>
            </a:r>
          </a:p>
          <a:p>
            <a:pPr lvl="1"/>
            <a:r>
              <a:rPr lang="en-US" sz="1600" dirty="0"/>
              <a:t>All the tables (for the ATOF and AHDC) were loaded in both the engines, with different number of indexes</a:t>
            </a:r>
          </a:p>
          <a:p>
            <a:endParaRPr lang="en-US" sz="2000" dirty="0"/>
          </a:p>
          <a:p>
            <a:r>
              <a:rPr lang="en-US" sz="2000" dirty="0"/>
              <a:t>Found other issues:</a:t>
            </a:r>
          </a:p>
          <a:p>
            <a:pPr lvl="1"/>
            <a:r>
              <a:rPr lang="en-US" sz="1600" dirty="0"/>
              <a:t>CSTLOADED flag prevented constants from reloading. All runs after the first silently used stale calibration data.</a:t>
            </a:r>
          </a:p>
          <a:p>
            <a:pPr lvl="1"/>
            <a:r>
              <a:rPr lang="en-US" sz="1600" dirty="0"/>
              <a:t>After loading constants, </a:t>
            </a:r>
            <a:r>
              <a:rPr lang="en-US" sz="1600" dirty="0" err="1"/>
              <a:t>ATOFEngine</a:t>
            </a:r>
            <a:r>
              <a:rPr lang="en-US" sz="1600" dirty="0"/>
              <a:t> never updated its Run field, causing incorrect calibration lookups.</a:t>
            </a:r>
          </a:p>
          <a:p>
            <a:pPr lvl="1"/>
            <a:r>
              <a:rPr lang="en-US" sz="1600" dirty="0"/>
              <a:t>Static HashMap fields were shared across engine instances without synchronization, a race condition problem.</a:t>
            </a:r>
          </a:p>
          <a:p>
            <a:pPr lvl="1"/>
            <a:endParaRPr lang="en-US" sz="1600" dirty="0"/>
          </a:p>
          <a:p>
            <a:r>
              <a:rPr lang="en-US" sz="2000" dirty="0"/>
              <a:t>The fix: </a:t>
            </a:r>
          </a:p>
          <a:p>
            <a:pPr lvl="1"/>
            <a:r>
              <a:rPr lang="en-US" sz="1600" dirty="0"/>
              <a:t>Remove </a:t>
            </a:r>
            <a:r>
              <a:rPr lang="en-US" sz="1600" dirty="0" err="1"/>
              <a:t>CalibrationConstantsLoader</a:t>
            </a:r>
            <a:r>
              <a:rPr lang="en-US" sz="1600" dirty="0"/>
              <a:t> and its static table. Engines now fetch IndexedTable references directly from </a:t>
            </a:r>
            <a:r>
              <a:rPr lang="en-US" sz="1600" dirty="0" err="1"/>
              <a:t>ConstantsManager</a:t>
            </a:r>
            <a:r>
              <a:rPr lang="en-US" sz="1600" dirty="0"/>
              <a:t> and pass them to consumer code.</a:t>
            </a:r>
          </a:p>
          <a:p>
            <a:pPr lvl="1"/>
            <a:r>
              <a:rPr lang="en-US" sz="1600" dirty="0"/>
              <a:t>Simplify calibration access: consumer code (</a:t>
            </a:r>
            <a:r>
              <a:rPr lang="en-US" sz="1600" dirty="0" err="1"/>
              <a:t>HitReader</a:t>
            </a:r>
            <a:r>
              <a:rPr lang="en-US" sz="1600" dirty="0"/>
              <a:t>, </a:t>
            </a:r>
            <a:r>
              <a:rPr lang="en-US" sz="1600" dirty="0" err="1"/>
              <a:t>ATOFHit</a:t>
            </a:r>
            <a:r>
              <a:rPr lang="en-US" sz="1600" dirty="0"/>
              <a:t>, </a:t>
            </a:r>
            <a:r>
              <a:rPr lang="en-US" sz="1600" dirty="0" err="1"/>
              <a:t>BarHit</a:t>
            </a:r>
            <a:r>
              <a:rPr lang="en-US" sz="1600" dirty="0"/>
              <a:t>) queries IndexedTable directly via </a:t>
            </a:r>
            <a:r>
              <a:rPr lang="en-US" sz="1600" dirty="0" err="1"/>
              <a:t>getDoubleValue</a:t>
            </a:r>
            <a:r>
              <a:rPr lang="en-US" sz="1600" dirty="0"/>
              <a:t>("column", sector, layer, component). No manual key encoding, no intermediate maps</a:t>
            </a:r>
          </a:p>
          <a:p>
            <a:pPr lvl="1"/>
            <a:r>
              <a:rPr lang="en-US" sz="1600" dirty="0"/>
              <a:t>Separate AHDC/ATOF table requirements: each engine's </a:t>
            </a:r>
            <a:r>
              <a:rPr lang="en-US" sz="1600" dirty="0" err="1"/>
              <a:t>init</a:t>
            </a:r>
            <a:r>
              <a:rPr lang="en-US" sz="1600" dirty="0"/>
              <a:t>() now only registers its own detector's CCDB tables</a:t>
            </a:r>
          </a:p>
          <a:p>
            <a:r>
              <a:rPr lang="en-US" sz="2000" dirty="0"/>
              <a:t>Fix in the already merged PR: 1200</a:t>
            </a:r>
            <a:br>
              <a:rPr lang="en-US" sz="2000" dirty="0"/>
            </a:br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5402-81E5-5816-7FB6-DC21D9B2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BCBB-43F8-41C1-D191-9097171B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43E65-882D-AD04-E2A4-932E794A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7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6000" b="0" dirty="0">
                <a:latin typeface="Sofia Sans" pitchFamily="2" charset="0"/>
              </a:rPr>
              <a:t>Graph Neural Network for ALERT</a:t>
            </a:r>
            <a:endParaRPr sz="6000" b="0" dirty="0">
              <a:latin typeface="Sofia Sans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Sofia Sans Light" pitchFamily="2" charset="0"/>
              </a:rPr>
              <a:t>Mathieu Ouillon (Mississippi State University)</a:t>
            </a:r>
            <a:endParaRPr dirty="0">
              <a:latin typeface="Sofia Sans Light" pitchFamily="2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Sofia Sans Light" pitchFamily="2" charset="0"/>
                <a:ea typeface="Fira Sans Book" panose="020B0503050000020004" pitchFamily="34" charset="0"/>
              </a:rPr>
              <a:t>04/13/26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FED84-43E8-7232-00D4-54C3A803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Graph and Graph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326E-70F1-8E61-77CD-BAF8D6F95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4407108"/>
            <a:ext cx="6461935" cy="1702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Why graphs for detectors?</a:t>
            </a:r>
          </a:p>
          <a:p>
            <a:pPr marL="0" indent="0">
              <a:buNone/>
            </a:pPr>
            <a:r>
              <a:rPr lang="en-US" sz="2000" dirty="0"/>
              <a:t>- Hits are an unstructured point cloud. Not a grid (CNN) nor a sequence (RNN)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0C31-87E9-F9B5-71D9-E57E9A5E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8D85B-674F-2BE5-9C7B-3A8E49D2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67A5-6901-0453-573B-4100912D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Data Structures and Algorithms Cheat Sheet + PDF | Zero To Mastery">
            <a:extLst>
              <a:ext uri="{FF2B5EF4-FFF2-40B4-BE49-F238E27FC236}">
                <a16:creationId xmlns:a16="http://schemas.microsoft.com/office/drawing/2014/main" id="{F7C3AA21-C458-30AF-825E-4B407B4FB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099" y="1257712"/>
            <a:ext cx="5584024" cy="388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Definition Box">
                <a:extLst>
                  <a:ext uri="{FF2B5EF4-FFF2-40B4-BE49-F238E27FC236}">
                    <a16:creationId xmlns:a16="http://schemas.microsoft.com/office/drawing/2014/main" id="{328E1D90-79BB-962E-0286-A9165BB74F58}"/>
                  </a:ext>
                </a:extLst>
              </p:cNvPr>
              <p:cNvSpPr/>
              <p:nvPr/>
            </p:nvSpPr>
            <p:spPr>
              <a:xfrm>
                <a:off x="215590" y="1143935"/>
                <a:ext cx="6282646" cy="3023331"/>
              </a:xfrm>
              <a:prstGeom prst="roundRect">
                <a:avLst>
                  <a:gd name="adj" fmla="val 5000"/>
                </a:avLst>
              </a:prstGeom>
              <a:solidFill>
                <a:srgbClr val="E8EEF4"/>
              </a:solidFill>
              <a:ln w="19050" cmpd="sng">
                <a:solidFill>
                  <a:srgbClr val="2B4C6F"/>
                </a:solidFill>
              </a:ln>
            </p:spPr>
            <p:txBody>
              <a:bodyPr wrap="square" lIns="36000" tIns="36000" rIns="36000" bIns="36000" anchor="t"/>
              <a:lstStyle/>
              <a:p>
                <a:pPr algn="l">
                  <a:buNone/>
                </a:pPr>
                <a:r>
                  <a:rPr lang="en-US" sz="2000" dirty="0">
                    <a:solidFill>
                      <a:srgbClr val="1B3A5C"/>
                    </a:solidFill>
                    <a:latin typeface="Sofia Sans" pitchFamily="2" charset="0"/>
                  </a:rPr>
                  <a:t>Graph</a:t>
                </a:r>
              </a:p>
              <a:p>
                <a:pPr algn="l">
                  <a:buNone/>
                </a:pPr>
                <a:endParaRPr lang="en-US" sz="2000" dirty="0">
                  <a:solidFill>
                    <a:srgbClr val="1B3A5C"/>
                  </a:solidFill>
                  <a:latin typeface="Sofia Sans Light" pitchFamily="2" charset="0"/>
                </a:endParaRPr>
              </a:p>
              <a:p>
                <a:pPr>
                  <a:buNone/>
                </a:pPr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A graph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 is a data structure consisting of: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Nodes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: the objects (e.g., detector hits)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Edges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 ⊂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: the relationships between them </a:t>
                </a:r>
              </a:p>
              <a:p>
                <a:pPr marL="742950" lvl="1" indent="-285750">
                  <a:buFontTx/>
                  <a:buChar char="-"/>
                </a:pPr>
                <a:endParaRPr lang="en-US" sz="2000" dirty="0">
                  <a:solidFill>
                    <a:srgbClr val="1B3A5C"/>
                  </a:solidFill>
                  <a:latin typeface="Sofia Sans Light" pitchFamily="2" charset="0"/>
                </a:endParaRPr>
              </a:p>
              <a:p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Each node carries a feature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and each edge can carry its own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000" b="0" i="0" smtClean="0">
                        <a:solidFill>
                          <a:srgbClr val="1B3A5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solidFill>
                              <a:srgbClr val="1B3A5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sSub>
                          <m:sSubPr>
                            <m:ctrlPr>
                              <a:rPr lang="en-US" sz="2000" smtClean="0">
                                <a:solidFill>
                                  <a:srgbClr val="1B3A5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1B3A5C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1B3A5C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.</a:t>
                </a:r>
              </a:p>
            </p:txBody>
          </p:sp>
        </mc:Choice>
        <mc:Fallback>
          <p:sp>
            <p:nvSpPr>
              <p:cNvPr id="8" name="Definition Box">
                <a:extLst>
                  <a:ext uri="{FF2B5EF4-FFF2-40B4-BE49-F238E27FC236}">
                    <a16:creationId xmlns:a16="http://schemas.microsoft.com/office/drawing/2014/main" id="{328E1D90-79BB-962E-0286-A9165BB74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90" y="1143935"/>
                <a:ext cx="6282646" cy="3023331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 l="-1006" r="-1610"/>
                </a:stretch>
              </a:blipFill>
              <a:ln w="19050" cmpd="sng">
                <a:solidFill>
                  <a:srgbClr val="2B4C6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748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F8F8-B5FA-E757-2886-95F2C20D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CC58-FDDB-F857-F8B7-06D3547D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Graph Neural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CB637-0630-8E7A-BA74-323413BF2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1" y="2630778"/>
            <a:ext cx="5795466" cy="28776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Why not a regular MLP/CNN/RNN?</a:t>
            </a:r>
          </a:p>
          <a:p>
            <a:pPr>
              <a:buFontTx/>
              <a:buChar char="-"/>
            </a:pPr>
            <a:r>
              <a:rPr lang="en-US" sz="2000" dirty="0"/>
              <a:t>Expects a fixed-length input vector</a:t>
            </a:r>
          </a:p>
          <a:p>
            <a:pPr>
              <a:buFontTx/>
              <a:buChar char="-"/>
            </a:pPr>
            <a:r>
              <a:rPr lang="en-US" sz="2000" dirty="0"/>
              <a:t>Needs an external candidate generator: bringing combinatorial explosion</a:t>
            </a:r>
          </a:p>
          <a:p>
            <a:pPr>
              <a:buFontTx/>
              <a:buChar char="-"/>
            </a:pPr>
            <a:r>
              <a:rPr lang="en-US" sz="2000" dirty="0"/>
              <a:t>CNN needs fixed size image (grids)</a:t>
            </a:r>
          </a:p>
          <a:p>
            <a:pPr>
              <a:buFontTx/>
              <a:buChar char="-"/>
            </a:pPr>
            <a:r>
              <a:rPr lang="en-US" sz="2000" dirty="0"/>
              <a:t>RNN assume the data has a sequential structure. Hits within a single event have no natural ordering: any permutation of the hit list describes the same physics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6808B-EB4E-0349-226C-770B63B2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CC718-9A97-3730-E678-5FBAB1FF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DD79-8E15-F552-34F9-5471424A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8" name="Definition Box">
            <a:extLst>
              <a:ext uri="{FF2B5EF4-FFF2-40B4-BE49-F238E27FC236}">
                <a16:creationId xmlns:a16="http://schemas.microsoft.com/office/drawing/2014/main" id="{DFCA370E-5A01-D128-9117-06754FB8E418}"/>
              </a:ext>
            </a:extLst>
          </p:cNvPr>
          <p:cNvSpPr/>
          <p:nvPr/>
        </p:nvSpPr>
        <p:spPr>
          <a:xfrm>
            <a:off x="215589" y="979046"/>
            <a:ext cx="11814017" cy="1351924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pPr algn="l">
              <a:buNone/>
            </a:pPr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Graph Neural Network (GNN)</a:t>
            </a:r>
          </a:p>
          <a:p>
            <a:pPr algn="l">
              <a:buNone/>
            </a:pPr>
            <a:endParaRPr lang="en-US" sz="2000" dirty="0">
              <a:solidFill>
                <a:srgbClr val="1B3A5C"/>
              </a:solidFill>
              <a:latin typeface="Sofia Sans" pitchFamily="2" charset="0"/>
            </a:endParaRPr>
          </a:p>
          <a:p>
            <a:pPr algn="l">
              <a:buNone/>
            </a:pP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A neural network that operates on graph-structured data, learning node representations by aggregating information from neighboring nodes in a permutation-invariant way.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93EA80-1A0C-0CE5-D56A-950808000FE0}"/>
              </a:ext>
            </a:extLst>
          </p:cNvPr>
          <p:cNvSpPr txBox="1">
            <a:spLocks/>
          </p:cNvSpPr>
          <p:nvPr/>
        </p:nvSpPr>
        <p:spPr>
          <a:xfrm>
            <a:off x="6096000" y="2630777"/>
            <a:ext cx="5795466" cy="3111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Sofia Sans Light" pitchFamily="2" charset="0"/>
                <a:ea typeface="Sofia Sans Light" pitchFamily="2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Sofia Sans Light" pitchFamily="2" charset="0"/>
                <a:ea typeface="Sofia Sans Light" pitchFamily="2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Sofia Sans Light" pitchFamily="2" charset="0"/>
                <a:ea typeface="Sofia Sans Light" pitchFamily="2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Sofia Sans Light" pitchFamily="2" charset="0"/>
                <a:ea typeface="Sofia Sans Light" pitchFamily="2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Sofia Sans Light" pitchFamily="2" charset="0"/>
                <a:ea typeface="Sofia Sans Light" pitchFamily="2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What does a GNN output?</a:t>
            </a:r>
          </a:p>
          <a:p>
            <a:pPr>
              <a:buFontTx/>
              <a:buChar char="-"/>
            </a:pPr>
            <a:r>
              <a:rPr lang="en-US" sz="2000" dirty="0"/>
              <a:t>Node level: a vector per hit (node classification, regression) </a:t>
            </a:r>
          </a:p>
          <a:p>
            <a:pPr>
              <a:buFontTx/>
              <a:buChar char="-"/>
            </a:pPr>
            <a:r>
              <a:rPr lang="en-US" sz="2000" dirty="0"/>
              <a:t>Edge level: a score per pair (our task: same track or not)</a:t>
            </a:r>
          </a:p>
          <a:p>
            <a:pPr>
              <a:buFontTx/>
              <a:buChar char="-"/>
            </a:pPr>
            <a:r>
              <a:rPr lang="en-US" sz="2000" dirty="0"/>
              <a:t>Graph level: one vector for the entire event (jet tagging, event classification)</a:t>
            </a:r>
          </a:p>
        </p:txBody>
      </p:sp>
      <p:sp>
        <p:nvSpPr>
          <p:cNvPr id="9" name="Definition Box">
            <a:extLst>
              <a:ext uri="{FF2B5EF4-FFF2-40B4-BE49-F238E27FC236}">
                <a16:creationId xmlns:a16="http://schemas.microsoft.com/office/drawing/2014/main" id="{B5AA8823-E24A-0A70-1795-C8205AC35694}"/>
              </a:ext>
            </a:extLst>
          </p:cNvPr>
          <p:cNvSpPr/>
          <p:nvPr/>
        </p:nvSpPr>
        <p:spPr>
          <a:xfrm>
            <a:off x="188991" y="5508465"/>
            <a:ext cx="11814017" cy="690425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Every GNN is built from one fundamental operation: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5578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2092-41CD-535F-3FEA-E5189341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Message Passing: The Core of GNNs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EA920-D5DF-AF17-A85B-F10412C5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63A57-A0DC-8334-0A1F-D6BD366A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1A55-34AA-71CC-9518-79A54432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sp>
        <p:nvSpPr>
          <p:cNvPr id="8" name="Definition Box">
            <a:extLst>
              <a:ext uri="{FF2B5EF4-FFF2-40B4-BE49-F238E27FC236}">
                <a16:creationId xmlns:a16="http://schemas.microsoft.com/office/drawing/2014/main" id="{9ADE716E-E940-3274-241D-77E88C816DC2}"/>
              </a:ext>
            </a:extLst>
          </p:cNvPr>
          <p:cNvSpPr/>
          <p:nvPr/>
        </p:nvSpPr>
        <p:spPr>
          <a:xfrm>
            <a:off x="215590" y="1001531"/>
            <a:ext cx="6282646" cy="2221354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pPr algn="l">
              <a:buNone/>
            </a:pPr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Message Passing</a:t>
            </a:r>
          </a:p>
          <a:p>
            <a:pPr>
              <a:buNone/>
            </a:pPr>
            <a:endParaRPr lang="en-US" sz="2000" dirty="0">
              <a:solidFill>
                <a:srgbClr val="1B3A5C"/>
              </a:solidFill>
              <a:latin typeface="Sofia Sans Light" pitchFamily="2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At each GNN layer ℓ, every node collects information</a:t>
            </a:r>
          </a:p>
          <a:p>
            <a:pPr>
              <a:buNone/>
            </a:pP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from its neighbors, aggregates it, and updates its own</a:t>
            </a:r>
          </a:p>
          <a:p>
            <a:pPr>
              <a:buNone/>
            </a:pP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representation. After 𝐿 layers, each node encodes</a:t>
            </a:r>
          </a:p>
          <a:p>
            <a:pPr>
              <a:buNone/>
            </a:pP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information from its 𝐿-hop neighborhood.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FFF78-4C80-ED21-0320-93221435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010" y="851025"/>
            <a:ext cx="4299390" cy="40810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3FB6C2-7E1E-F079-2715-3CD7B67DC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76" y="3310016"/>
            <a:ext cx="4738215" cy="340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6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6956-2082-A4F5-9CD9-2C85E080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GNN Architectures for Physics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B771C-7D33-DDCA-6B7E-C9C1B4B0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EC738-15F8-4A89-F1B2-2E280BAC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A3B5-96AA-10C2-DF62-2B4B8B08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8" name="Definition Box">
            <a:extLst>
              <a:ext uri="{FF2B5EF4-FFF2-40B4-BE49-F238E27FC236}">
                <a16:creationId xmlns:a16="http://schemas.microsoft.com/office/drawing/2014/main" id="{2EB43BF3-3C59-0DB4-1268-B3242570BA03}"/>
              </a:ext>
            </a:extLst>
          </p:cNvPr>
          <p:cNvSpPr/>
          <p:nvPr/>
        </p:nvSpPr>
        <p:spPr>
          <a:xfrm>
            <a:off x="188991" y="5508465"/>
            <a:ext cx="11814017" cy="690425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All architectures share the same message-passing skeleton. They differ in how messages are computed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and which neighbors participate.</a:t>
            </a:r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996798"/>
              </p:ext>
            </p:extLst>
          </p:nvPr>
        </p:nvGraphicFramePr>
        <p:xfrm>
          <a:off x="190500" y="1028700"/>
          <a:ext cx="11671300" cy="4273295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100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4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0" i="0" dirty="0">
                          <a:solidFill>
                            <a:srgbClr val="1B8A7A"/>
                          </a:solidFill>
                          <a:latin typeface="Sofia Sans Light" pitchFamily="2" charset="0"/>
                        </a:rPr>
                        <a:t>Architecture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1B3A5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0" i="0" dirty="0">
                          <a:solidFill>
                            <a:srgbClr val="1B8A7A"/>
                          </a:solidFill>
                          <a:latin typeface="Sofia Sans Light" pitchFamily="2" charset="0"/>
                        </a:rPr>
                        <a:t>Key Idea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1B3A5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0" i="0" dirty="0">
                          <a:solidFill>
                            <a:srgbClr val="1B8A7A"/>
                          </a:solidFill>
                          <a:latin typeface="Sofia Sans Light" pitchFamily="2" charset="0"/>
                        </a:rPr>
                        <a:t>Use Case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mpd="sng">
                      <a:solidFill>
                        <a:srgbClr val="1B3A5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0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1B3A5C"/>
                          </a:solidFill>
                          <a:latin typeface="Sofia Sans Light" pitchFamily="2" charset="0"/>
                        </a:rPr>
                        <a:t>GCN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Symmetric neighbor averaging D̃⁻½ Ã D̃⁻½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Node classification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0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1B3A5C"/>
                          </a:solidFill>
                          <a:latin typeface="Sofia Sans Light" pitchFamily="2" charset="0"/>
                        </a:rPr>
                        <a:t>GAT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Learned attention coefficients αᵢⱼ per neighbor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Adaptive weighting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0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1B3A5C"/>
                          </a:solidFill>
                          <a:latin typeface="Sofia Sans Light" pitchFamily="2" charset="0"/>
                        </a:rPr>
                        <a:t>Interaction Net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Separate edge MLP φₑ + node MLP φᵥ, iterated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Track finding (Exa.TrkX)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0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1B3A5C"/>
                          </a:solidFill>
                          <a:latin typeface="Sofia Sans Light" pitchFamily="2" charset="0"/>
                        </a:rPr>
                        <a:t>EdgeConv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Dynamic kNN rebuilt in feature space each layer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333333"/>
                          </a:solidFill>
                          <a:latin typeface="Sofia Sans Light" pitchFamily="2" charset="0"/>
                        </a:rPr>
                        <a:t>Jet tagging (ParticleNet)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0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1B8A7A"/>
                          </a:solidFill>
                          <a:latin typeface="Sofia Sans Light" pitchFamily="2" charset="0"/>
                        </a:rPr>
                        <a:t>GravNet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1B8A7A"/>
                          </a:solidFill>
                          <a:latin typeface="Sofia Sans Light" pitchFamily="2" charset="0"/>
                        </a:rPr>
                        <a:t>Learned kNN in coordinate space + Gaussian weights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i="0" dirty="0">
                          <a:solidFill>
                            <a:srgbClr val="1B8A7A"/>
                          </a:solidFill>
                          <a:latin typeface="Sofia Sans Light" pitchFamily="2" charset="0"/>
                        </a:rPr>
                        <a:t>← This work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154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317F-AE53-ECBB-0B89-99BCD77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Classification for Track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43E9-9FA7-1FFE-836A-F099BCA28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90" y="1249680"/>
            <a:ext cx="11850719" cy="1248423"/>
          </a:xfrm>
        </p:spPr>
        <p:txBody>
          <a:bodyPr>
            <a:normAutofit/>
          </a:bodyPr>
          <a:lstStyle/>
          <a:p>
            <a:r>
              <a:rPr lang="en-US" sz="2000" dirty="0"/>
              <a:t>The GNN assigns a score e</a:t>
            </a:r>
            <a:r>
              <a:rPr lang="en-US" sz="2000" baseline="-25000" dirty="0"/>
              <a:t>𝑖𝑗</a:t>
            </a:r>
            <a:r>
              <a:rPr lang="en-US" sz="2000" dirty="0"/>
              <a:t> ∈ [0, 1] to every edge, indicating the probability that hits 𝑖 and 𝑗 belong to the same particle track. High-scoring edges are kept; connected components in the surviving graph become track candidates.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815C-D97A-5E17-D278-095CB46C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B8E8C-60DE-B217-0519-5DB9675B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5AFAB-7F42-5D85-AB58-A669426F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9" name="Definition Box">
            <a:extLst>
              <a:ext uri="{FF2B5EF4-FFF2-40B4-BE49-F238E27FC236}">
                <a16:creationId xmlns:a16="http://schemas.microsoft.com/office/drawing/2014/main" id="{B1EC600E-D292-8C9B-AE48-0EEF2B295D95}"/>
              </a:ext>
            </a:extLst>
          </p:cNvPr>
          <p:cNvSpPr/>
          <p:nvPr/>
        </p:nvSpPr>
        <p:spPr>
          <a:xfrm>
            <a:off x="188991" y="5508465"/>
            <a:ext cx="11814017" cy="690425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The GNN transforms a dense candidate graph (left) into clean track candidates (right) by scoring each edge and keeping only the survivors.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DC9C20-84A1-5F99-195C-A98675591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2187020"/>
            <a:ext cx="7955990" cy="319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1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D2E3-4CB6-2717-9707-66084C54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Construction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D5097-2EA6-C4FE-5A32-899015D2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DBE2F-BF10-9B93-D23A-A1735915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A928-4C5B-CEE7-206D-F058B48C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9" name="Definition Box">
            <a:extLst>
              <a:ext uri="{FF2B5EF4-FFF2-40B4-BE49-F238E27FC236}">
                <a16:creationId xmlns:a16="http://schemas.microsoft.com/office/drawing/2014/main" id="{513D27B5-7819-30B6-90E6-6405569BD0DF}"/>
              </a:ext>
            </a:extLst>
          </p:cNvPr>
          <p:cNvSpPr/>
          <p:nvPr/>
        </p:nvSpPr>
        <p:spPr>
          <a:xfrm>
            <a:off x="215590" y="1001531"/>
            <a:ext cx="5280237" cy="1694535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Node Features (10D)</a:t>
            </a:r>
          </a:p>
          <a:p>
            <a:endParaRPr lang="en-US" sz="2000" dirty="0">
              <a:solidFill>
                <a:srgbClr val="1B3A5C"/>
              </a:solidFill>
              <a:latin typeface="Sofia Sans" pitchFamily="2" charset="0"/>
            </a:endParaRP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Each detector hit becomes a node with: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layer index, 𝜑, 𝑟 (normalized), stereo angle, wire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midpoint (𝑥, 𝑦, 𝑧), wire direction (𝑢</a:t>
            </a:r>
            <a:r>
              <a:rPr lang="en-US" sz="2000" baseline="-25000" dirty="0">
                <a:solidFill>
                  <a:srgbClr val="1B3A5C"/>
                </a:solidFill>
                <a:latin typeface="Sofia Sans Light" pitchFamily="2" charset="0"/>
              </a:rPr>
              <a:t>𝑥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, 𝑢</a:t>
            </a:r>
            <a:r>
              <a:rPr lang="en-US" sz="2000" baseline="-25000" dirty="0">
                <a:solidFill>
                  <a:srgbClr val="1B3A5C"/>
                </a:solidFill>
                <a:latin typeface="Sofia Sans Light" pitchFamily="2" charset="0"/>
              </a:rPr>
              <a:t>𝑦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, 𝑢</a:t>
            </a:r>
            <a:r>
              <a:rPr lang="en-US" sz="2000" baseline="-25000" dirty="0">
                <a:solidFill>
                  <a:srgbClr val="1B3A5C"/>
                </a:solidFill>
                <a:latin typeface="Sofia Sans Light" pitchFamily="2" charset="0"/>
              </a:rPr>
              <a:t>𝑧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)</a:t>
            </a:r>
          </a:p>
        </p:txBody>
      </p:sp>
      <p:sp>
        <p:nvSpPr>
          <p:cNvPr id="10" name="Definition Box">
            <a:extLst>
              <a:ext uri="{FF2B5EF4-FFF2-40B4-BE49-F238E27FC236}">
                <a16:creationId xmlns:a16="http://schemas.microsoft.com/office/drawing/2014/main" id="{6EF93EAD-3226-5C9E-6AB0-D3F49F304C59}"/>
              </a:ext>
            </a:extLst>
          </p:cNvPr>
          <p:cNvSpPr/>
          <p:nvPr/>
        </p:nvSpPr>
        <p:spPr>
          <a:xfrm>
            <a:off x="215589" y="4247403"/>
            <a:ext cx="5280237" cy="1694535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Edge Construction</a:t>
            </a:r>
          </a:p>
          <a:p>
            <a:endParaRPr lang="en-US" sz="2000" dirty="0">
              <a:solidFill>
                <a:srgbClr val="1B3A5C"/>
              </a:solidFill>
              <a:latin typeface="Sofia Sans" pitchFamily="2" charset="0"/>
            </a:endParaRP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Two hits are connected if: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1. Destination is 1–2 layers outward (directed)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2. Euclidean distance &lt; 35 mm in (𝑥, 𝑦) plane</a:t>
            </a:r>
          </a:p>
        </p:txBody>
      </p:sp>
      <p:sp>
        <p:nvSpPr>
          <p:cNvPr id="11" name="Definition Box">
            <a:extLst>
              <a:ext uri="{FF2B5EF4-FFF2-40B4-BE49-F238E27FC236}">
                <a16:creationId xmlns:a16="http://schemas.microsoft.com/office/drawing/2014/main" id="{A07E3026-C0AB-CC97-9439-20B3C17E684E}"/>
              </a:ext>
            </a:extLst>
          </p:cNvPr>
          <p:cNvSpPr/>
          <p:nvPr/>
        </p:nvSpPr>
        <p:spPr>
          <a:xfrm>
            <a:off x="215588" y="2914200"/>
            <a:ext cx="5280237" cy="102960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Edge Features (8D)</a:t>
            </a:r>
          </a:p>
          <a:p>
            <a:r>
              <a:rPr lang="el-GR" sz="2000" dirty="0">
                <a:solidFill>
                  <a:srgbClr val="1B3A5C"/>
                </a:solidFill>
                <a:latin typeface="Sofia Sans Light" pitchFamily="2" charset="0"/>
              </a:rPr>
              <a:t>Δ𝜑, 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layer gap, 𝑧</a:t>
            </a:r>
            <a:r>
              <a:rPr lang="en-US" sz="2000" baseline="-25000" dirty="0">
                <a:solidFill>
                  <a:srgbClr val="1B3A5C"/>
                </a:solidFill>
                <a:latin typeface="Sofia Sans Light" pitchFamily="2" charset="0"/>
              </a:rPr>
              <a:t>1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, 𝑧</a:t>
            </a:r>
            <a:r>
              <a:rPr lang="en-US" sz="2000" baseline="-25000" dirty="0">
                <a:solidFill>
                  <a:srgbClr val="1B3A5C"/>
                </a:solidFill>
                <a:latin typeface="Sofia Sans Light" pitchFamily="2" charset="0"/>
              </a:rPr>
              <a:t>2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, 𝑟</a:t>
            </a:r>
            <a:r>
              <a:rPr lang="en-US" sz="2000" baseline="-25000" dirty="0">
                <a:solidFill>
                  <a:srgbClr val="1B3A5C"/>
                </a:solidFill>
                <a:latin typeface="Sofia Sans Light" pitchFamily="2" charset="0"/>
              </a:rPr>
              <a:t>1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, 𝑟</a:t>
            </a:r>
            <a:r>
              <a:rPr lang="en-US" sz="2000" baseline="-25000" dirty="0">
                <a:solidFill>
                  <a:srgbClr val="1B3A5C"/>
                </a:solidFill>
                <a:latin typeface="Sofia Sans Light" pitchFamily="2" charset="0"/>
              </a:rPr>
              <a:t>2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, </a:t>
            </a:r>
            <a:r>
              <a:rPr lang="el-GR" sz="2000" dirty="0">
                <a:solidFill>
                  <a:srgbClr val="1B3A5C"/>
                </a:solidFill>
                <a:latin typeface="Sofia Sans Light" pitchFamily="2" charset="0"/>
              </a:rPr>
              <a:t>Δ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stereo, same-detector flag</a:t>
            </a:r>
          </a:p>
        </p:txBody>
      </p:sp>
      <p:sp>
        <p:nvSpPr>
          <p:cNvPr id="12" name="Definition Box">
            <a:extLst>
              <a:ext uri="{FF2B5EF4-FFF2-40B4-BE49-F238E27FC236}">
                <a16:creationId xmlns:a16="http://schemas.microsoft.com/office/drawing/2014/main" id="{CC82855E-57CA-0BCA-3B67-AF5F19E8BFA8}"/>
              </a:ext>
            </a:extLst>
          </p:cNvPr>
          <p:cNvSpPr/>
          <p:nvPr/>
        </p:nvSpPr>
        <p:spPr>
          <a:xfrm>
            <a:off x="6096000" y="1284335"/>
            <a:ext cx="5880410" cy="1967913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Training Data</a:t>
            </a:r>
          </a:p>
          <a:p>
            <a:endParaRPr lang="en-US" sz="2000" dirty="0">
              <a:solidFill>
                <a:srgbClr val="1B3A5C"/>
              </a:solidFill>
              <a:latin typeface="Sofia Sans Light" pitchFamily="2" charset="0"/>
            </a:endParaRP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To simulate multi-track events: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– Merge 1–5 single-track events into one event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– Inject 5–30 noise hits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– 1M events: 75% train / 12.5% </a:t>
            </a:r>
            <a:r>
              <a:rPr lang="en-US" sz="2000" dirty="0" err="1">
                <a:solidFill>
                  <a:srgbClr val="1B3A5C"/>
                </a:solidFill>
                <a:latin typeface="Sofia Sans Light" pitchFamily="2" charset="0"/>
              </a:rPr>
              <a:t>val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 / 12.5% test</a:t>
            </a:r>
          </a:p>
        </p:txBody>
      </p:sp>
      <p:sp>
        <p:nvSpPr>
          <p:cNvPr id="13" name="Definition Box">
            <a:extLst>
              <a:ext uri="{FF2B5EF4-FFF2-40B4-BE49-F238E27FC236}">
                <a16:creationId xmlns:a16="http://schemas.microsoft.com/office/drawing/2014/main" id="{48153ABD-0CC1-D96D-45B9-B2105F7B715D}"/>
              </a:ext>
            </a:extLst>
          </p:cNvPr>
          <p:cNvSpPr/>
          <p:nvPr/>
        </p:nvSpPr>
        <p:spPr>
          <a:xfrm>
            <a:off x="6096000" y="3462971"/>
            <a:ext cx="5880410" cy="1967913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Edge Labels</a:t>
            </a:r>
          </a:p>
          <a:p>
            <a:endParaRPr lang="en-US" sz="2000" dirty="0">
              <a:solidFill>
                <a:srgbClr val="1B3A5C"/>
              </a:solidFill>
              <a:latin typeface="Sofia Sans" pitchFamily="2" charset="0"/>
            </a:endParaRP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An edge is positive (𝑦 = 1) if both hits share the same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MC particle track ID.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Noise hits (</a:t>
            </a:r>
            <a:r>
              <a:rPr lang="en-US" sz="2000" dirty="0" err="1">
                <a:solidFill>
                  <a:srgbClr val="1B3A5C"/>
                </a:solidFill>
                <a:latin typeface="Sofia Sans Light" pitchFamily="2" charset="0"/>
              </a:rPr>
              <a:t>track_id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 = −1) produce only negative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edges.</a:t>
            </a:r>
          </a:p>
        </p:txBody>
      </p:sp>
    </p:spTree>
    <p:extLst>
      <p:ext uri="{BB962C8B-B14F-4D97-AF65-F5344CB8AC3E}">
        <p14:creationId xmlns:p14="http://schemas.microsoft.com/office/powerpoint/2010/main" val="337054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51577-77FA-AFB1-7B17-C067E9BA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AF1B-13D5-1B5E-4B4F-9C8A97615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C452D-6652-A032-4BC9-FF978F99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CCB7B-C7A1-0E41-21BF-E7BEF2A3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C585E-8C0A-ABAC-0354-7D7D2459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9" name="Definition Box">
            <a:extLst>
              <a:ext uri="{FF2B5EF4-FFF2-40B4-BE49-F238E27FC236}">
                <a16:creationId xmlns:a16="http://schemas.microsoft.com/office/drawing/2014/main" id="{B817CF4E-0BBE-730D-21FE-C69AE3D2362A}"/>
              </a:ext>
            </a:extLst>
          </p:cNvPr>
          <p:cNvSpPr/>
          <p:nvPr/>
        </p:nvSpPr>
        <p:spPr>
          <a:xfrm>
            <a:off x="215590" y="1001531"/>
            <a:ext cx="4959725" cy="1694535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Focal Loss</a:t>
            </a:r>
          </a:p>
          <a:p>
            <a:endParaRPr lang="en-US" sz="2000" dirty="0">
              <a:solidFill>
                <a:srgbClr val="1B3A5C"/>
              </a:solidFill>
              <a:latin typeface="Sofia Sans" pitchFamily="2" charset="0"/>
            </a:endParaRP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Down-weights easy examples, focuses on hard edges: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ℒ︀ = −(1 − 𝑝∗)𝛾 log(𝑝∗) with 𝛾 = 1</a:t>
            </a:r>
          </a:p>
        </p:txBody>
      </p:sp>
      <p:sp>
        <p:nvSpPr>
          <p:cNvPr id="10" name="Definition Box">
            <a:extLst>
              <a:ext uri="{FF2B5EF4-FFF2-40B4-BE49-F238E27FC236}">
                <a16:creationId xmlns:a16="http://schemas.microsoft.com/office/drawing/2014/main" id="{378F95AA-1C12-31C6-A522-A47E876DA72B}"/>
              </a:ext>
            </a:extLst>
          </p:cNvPr>
          <p:cNvSpPr/>
          <p:nvPr/>
        </p:nvSpPr>
        <p:spPr>
          <a:xfrm>
            <a:off x="215590" y="2891503"/>
            <a:ext cx="4959725" cy="3279701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Hard-Negative Mining</a:t>
            </a:r>
          </a:p>
          <a:p>
            <a:endParaRPr lang="en-US" sz="2000" dirty="0">
              <a:solidFill>
                <a:srgbClr val="1B3A5C"/>
              </a:solidFill>
              <a:latin typeface="Sofia Sans Light" pitchFamily="2" charset="0"/>
            </a:endParaRPr>
          </a:p>
          <a:p>
            <a:r>
              <a:rPr lang="en-US" dirty="0">
                <a:solidFill>
                  <a:srgbClr val="1B3A5C"/>
                </a:solidFill>
                <a:latin typeface="Sofia Sans Light" pitchFamily="2" charset="0"/>
              </a:rPr>
              <a:t>Geometrically close false edges (the hardest to reject) receive exponentially higher loss weights: For each false edge (𝑖, 𝑗), compute a closeness score 𝑐</a:t>
            </a:r>
            <a:r>
              <a:rPr lang="en-US" baseline="-25000" dirty="0">
                <a:solidFill>
                  <a:srgbClr val="1B3A5C"/>
                </a:solidFill>
                <a:latin typeface="Sofia Sans Light" pitchFamily="2" charset="0"/>
              </a:rPr>
              <a:t>𝑖𝑗</a:t>
            </a:r>
            <a:r>
              <a:rPr lang="en-US" dirty="0">
                <a:solidFill>
                  <a:srgbClr val="1B3A5C"/>
                </a:solidFill>
                <a:latin typeface="Sofia Sans Light" pitchFamily="2" charset="0"/>
              </a:rPr>
              <a:t> from its raw geometry, then scale its loss contribution by 𝑤𝑖𝑗 = exp(𝛼 ⋅ 𝑐𝑖𝑗)</a:t>
            </a:r>
          </a:p>
          <a:p>
            <a:r>
              <a:rPr lang="en-US" dirty="0">
                <a:solidFill>
                  <a:srgbClr val="1B3A5C"/>
                </a:solidFill>
                <a:latin typeface="Sofia Sans Light" pitchFamily="2" charset="0"/>
              </a:rPr>
              <a:t>- Close (hard) fakes → large 𝑤, big gradient</a:t>
            </a:r>
          </a:p>
          <a:p>
            <a:r>
              <a:rPr lang="en-US" dirty="0">
                <a:solidFill>
                  <a:srgbClr val="1B3A5C"/>
                </a:solidFill>
                <a:latin typeface="Sofia Sans Light" pitchFamily="2" charset="0"/>
              </a:rPr>
              <a:t>- Far (easy) fakes → small 𝑤, tiny gradient</a:t>
            </a:r>
          </a:p>
          <a:p>
            <a:r>
              <a:rPr lang="en-US" dirty="0">
                <a:solidFill>
                  <a:srgbClr val="1B3A5C"/>
                </a:solidFill>
                <a:latin typeface="Sofia Sans Light" pitchFamily="2" charset="0"/>
              </a:rPr>
              <a:t>This focuses the model on the decision boundary.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9AD2A0-8CB5-7FF0-6223-5E54498F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792" y="622995"/>
            <a:ext cx="6831576" cy="3279701"/>
          </a:xfrm>
          <a:prstGeom prst="rect">
            <a:avLst/>
          </a:prstGeom>
        </p:spPr>
      </p:pic>
      <p:sp>
        <p:nvSpPr>
          <p:cNvPr id="7" name="Definition Box">
            <a:extLst>
              <a:ext uri="{FF2B5EF4-FFF2-40B4-BE49-F238E27FC236}">
                <a16:creationId xmlns:a16="http://schemas.microsoft.com/office/drawing/2014/main" id="{3F1537A6-738B-884F-6B69-17723D7BCD51}"/>
              </a:ext>
            </a:extLst>
          </p:cNvPr>
          <p:cNvSpPr/>
          <p:nvPr/>
        </p:nvSpPr>
        <p:spPr>
          <a:xfrm>
            <a:off x="5733082" y="3980902"/>
            <a:ext cx="6111255" cy="690425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Best validation F1 = 0.985 at epoch 92. Train and validation curves track closely: no overfitting.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6FF42-FB34-9527-5E81-5E1EA06547BD}"/>
              </a:ext>
            </a:extLst>
          </p:cNvPr>
          <p:cNvSpPr txBox="1"/>
          <p:nvPr/>
        </p:nvSpPr>
        <p:spPr>
          <a:xfrm>
            <a:off x="5688029" y="4919105"/>
            <a:ext cx="6099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Sofia Sans Light" pitchFamily="2" charset="0"/>
              </a:rPr>
              <a:t>– </a:t>
            </a:r>
            <a:r>
              <a:rPr lang="en-US" sz="2000" dirty="0" err="1">
                <a:latin typeface="Sofia Sans Light" pitchFamily="2" charset="0"/>
              </a:rPr>
              <a:t>AdamW</a:t>
            </a:r>
            <a:r>
              <a:rPr lang="en-US" sz="2000" dirty="0">
                <a:latin typeface="Sofia Sans Light" pitchFamily="2" charset="0"/>
              </a:rPr>
              <a:t>, </a:t>
            </a:r>
            <a:r>
              <a:rPr lang="en-US" sz="2000" dirty="0" err="1">
                <a:latin typeface="Sofia Sans Light" pitchFamily="2" charset="0"/>
              </a:rPr>
              <a:t>lr</a:t>
            </a:r>
            <a:r>
              <a:rPr lang="en-US" sz="2000" dirty="0">
                <a:latin typeface="Sofia Sans Light" pitchFamily="2" charset="0"/>
              </a:rPr>
              <a:t> = 5 × 10−4, weight decay 10−4</a:t>
            </a:r>
          </a:p>
          <a:p>
            <a:r>
              <a:rPr lang="en-US" sz="2000" dirty="0">
                <a:latin typeface="Sofia Sans Light" pitchFamily="2" charset="0"/>
              </a:rPr>
              <a:t>– 5-epoch warmup → cosine annealing</a:t>
            </a:r>
          </a:p>
          <a:p>
            <a:r>
              <a:rPr lang="en-US" sz="2000" dirty="0">
                <a:latin typeface="Sofia Sans Light" pitchFamily="2" charset="0"/>
              </a:rPr>
              <a:t>– 100 epochs, batch 64, fp16 mixed precision</a:t>
            </a:r>
          </a:p>
        </p:txBody>
      </p:sp>
    </p:spTree>
    <p:extLst>
      <p:ext uri="{BB962C8B-B14F-4D97-AF65-F5344CB8AC3E}">
        <p14:creationId xmlns:p14="http://schemas.microsoft.com/office/powerpoint/2010/main" val="313874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7C2E-36A3-1771-DE91-AE3FF42B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CCA7-61DA-A88C-E866-27A92F1D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Track-Level Metric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192A5-CA7A-CE02-685D-13AA6768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E5A2-41B8-2FE1-A728-BC6C8BEDA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E1D26-E0DE-2F08-2C85-6F20DD2D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30" name="IntroText"/>
          <p:cNvSpPr txBox="1"/>
          <p:nvPr/>
        </p:nvSpPr>
        <p:spPr>
          <a:xfrm>
            <a:off x="457200" y="990600"/>
            <a:ext cx="11277600" cy="98810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r>
              <a:rPr lang="en-US" sz="2000" dirty="0">
                <a:solidFill>
                  <a:srgbClr val="333333"/>
                </a:solidFill>
                <a:latin typeface="Sofia Sans Light" pitchFamily="2" charset="0"/>
              </a:rPr>
              <a:t>Let 𝒯 = {T</a:t>
            </a:r>
            <a:r>
              <a:rPr lang="en-US" sz="2000" baseline="-25000" dirty="0">
                <a:solidFill>
                  <a:srgbClr val="333333"/>
                </a:solidFill>
                <a:latin typeface="Sofia Sans Light" pitchFamily="2" charset="0"/>
              </a:rPr>
              <a:t>1</a:t>
            </a:r>
            <a:r>
              <a:rPr lang="en-US" sz="2000" dirty="0">
                <a:solidFill>
                  <a:srgbClr val="333333"/>
                </a:solidFill>
                <a:latin typeface="Sofia Sans Light" pitchFamily="2" charset="0"/>
              </a:rPr>
              <a:t>, ..., T</a:t>
            </a:r>
            <a:r>
              <a:rPr lang="en-US" sz="2000" baseline="-25000" dirty="0">
                <a:solidFill>
                  <a:srgbClr val="333333"/>
                </a:solidFill>
                <a:latin typeface="Sofia Sans Light" pitchFamily="2" charset="0"/>
              </a:rPr>
              <a:t>ntrue</a:t>
            </a:r>
            <a:r>
              <a:rPr lang="en-US" sz="2000" dirty="0">
                <a:solidFill>
                  <a:srgbClr val="333333"/>
                </a:solidFill>
                <a:latin typeface="Sofia Sans Light" pitchFamily="2" charset="0"/>
              </a:rPr>
              <a:t>} be the set of 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true tracks</a:t>
            </a:r>
            <a:r>
              <a:rPr lang="en-US" sz="2000" dirty="0">
                <a:solidFill>
                  <a:srgbClr val="333333"/>
                </a:solidFill>
                <a:latin typeface="Sofia Sans Light" pitchFamily="2" charset="0"/>
              </a:rPr>
              <a:t> (MC truth hit sets) and ℛ︀ = {R</a:t>
            </a:r>
            <a:r>
              <a:rPr lang="en-US" sz="2000" baseline="-25000" dirty="0">
                <a:solidFill>
                  <a:srgbClr val="333333"/>
                </a:solidFill>
                <a:latin typeface="Sofia Sans Light" pitchFamily="2" charset="0"/>
              </a:rPr>
              <a:t>1</a:t>
            </a:r>
            <a:r>
              <a:rPr lang="en-US" sz="2000" dirty="0">
                <a:solidFill>
                  <a:srgbClr val="333333"/>
                </a:solidFill>
                <a:latin typeface="Sofia Sans Light" pitchFamily="2" charset="0"/>
              </a:rPr>
              <a:t>, ..., R</a:t>
            </a:r>
            <a:r>
              <a:rPr lang="en-US" sz="2000" baseline="-25000" dirty="0">
                <a:solidFill>
                  <a:srgbClr val="333333"/>
                </a:solidFill>
                <a:latin typeface="Sofia Sans Light" pitchFamily="2" charset="0"/>
              </a:rPr>
              <a:t>nreco</a:t>
            </a:r>
            <a:r>
              <a:rPr lang="en-US" sz="2000" dirty="0">
                <a:solidFill>
                  <a:srgbClr val="333333"/>
                </a:solidFill>
                <a:latin typeface="Sofia Sans Light" pitchFamily="2" charset="0"/>
              </a:rPr>
              <a:t>} be the set of </a:t>
            </a:r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reconstructed tracks</a:t>
            </a:r>
            <a:r>
              <a:rPr lang="en-US" sz="2000" dirty="0">
                <a:solidFill>
                  <a:srgbClr val="333333"/>
                </a:solidFill>
                <a:latin typeface="Sofia Sans Light" pitchFamily="2" charset="0"/>
              </a:rPr>
              <a:t> (connected components from thresholded edge scores). All metrics are defined in terms of hit-set overlaps |R ∩ T|.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Definition Box">
                <a:extLst>
                  <a:ext uri="{FF2B5EF4-FFF2-40B4-BE49-F238E27FC236}">
                    <a16:creationId xmlns:a16="http://schemas.microsoft.com/office/drawing/2014/main" id="{A96399F8-D69D-125A-578C-C1BBA7E05C54}"/>
                  </a:ext>
                </a:extLst>
              </p:cNvPr>
              <p:cNvSpPr/>
              <p:nvPr/>
            </p:nvSpPr>
            <p:spPr>
              <a:xfrm>
                <a:off x="307772" y="2059481"/>
                <a:ext cx="5658313" cy="1957883"/>
              </a:xfrm>
              <a:prstGeom prst="roundRect">
                <a:avLst>
                  <a:gd name="adj" fmla="val 5000"/>
                </a:avLst>
              </a:prstGeom>
              <a:solidFill>
                <a:srgbClr val="E8EEF4"/>
              </a:solidFill>
              <a:ln w="19050" cmpd="sng">
                <a:solidFill>
                  <a:srgbClr val="2B4C6F"/>
                </a:solidFill>
              </a:ln>
            </p:spPr>
            <p:txBody>
              <a:bodyPr wrap="square" lIns="36000" tIns="36000" rIns="36000" bIns="36000" anchor="t"/>
              <a:lstStyle/>
              <a:p>
                <a:r>
                  <a:rPr lang="en-US" sz="2000" dirty="0">
                    <a:solidFill>
                      <a:srgbClr val="1B3A5C"/>
                    </a:solidFill>
                    <a:latin typeface="Sofia Sans" pitchFamily="2" charset="0"/>
                  </a:rPr>
                  <a:t>Purity (per </a:t>
                </a:r>
                <a:r>
                  <a:rPr lang="en-US" sz="2000" dirty="0" err="1">
                    <a:solidFill>
                      <a:srgbClr val="1B3A5C"/>
                    </a:solidFill>
                    <a:latin typeface="Sofia Sans" pitchFamily="2" charset="0"/>
                  </a:rPr>
                  <a:t>reco</a:t>
                </a:r>
                <a:r>
                  <a:rPr lang="en-US" sz="2000" dirty="0">
                    <a:solidFill>
                      <a:srgbClr val="1B3A5C"/>
                    </a:solidFill>
                    <a:latin typeface="Sofia Sans" pitchFamily="2" charset="0"/>
                  </a:rPr>
                  <a:t> track) </a:t>
                </a:r>
              </a:p>
              <a:p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For each reconstructed track 𝑅</a:t>
                </a:r>
                <a:r>
                  <a:rPr lang="en-US" sz="2000" baseline="-25000" dirty="0">
                    <a:solidFill>
                      <a:srgbClr val="1B3A5C"/>
                    </a:solidFill>
                    <a:latin typeface="Sofia Sans Light" pitchFamily="2" charset="0"/>
                  </a:rPr>
                  <a:t>ℓ</a:t>
                </a:r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, purity is the fraction of its hits that belong to the true track with the largest intersection: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  <m:t>purity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</m:d>
                        </m:e>
                      </m:func>
                      <m:r>
                        <a:rPr lang="en-US" sz="2000" b="0" i="0" smtClean="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 smtClean="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∩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1B3A5C"/>
                              </a:solidFill>
                              <a:latin typeface="Sofia Sans Light" pitchFamily="2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000" dirty="0">
                  <a:solidFill>
                    <a:srgbClr val="1B3A5C"/>
                  </a:solidFill>
                  <a:latin typeface="Sofia Sans Light" pitchFamily="2" charset="0"/>
                </a:endParaRPr>
              </a:p>
            </p:txBody>
          </p:sp>
        </mc:Choice>
        <mc:Fallback>
          <p:sp>
            <p:nvSpPr>
              <p:cNvPr id="3" name="Definition Box">
                <a:extLst>
                  <a:ext uri="{FF2B5EF4-FFF2-40B4-BE49-F238E27FC236}">
                    <a16:creationId xmlns:a16="http://schemas.microsoft.com/office/drawing/2014/main" id="{A96399F8-D69D-125A-578C-C1BBA7E05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72" y="2059481"/>
                <a:ext cx="5658313" cy="1957883"/>
              </a:xfrm>
              <a:prstGeom prst="roundRect">
                <a:avLst>
                  <a:gd name="adj" fmla="val 5000"/>
                </a:avLst>
              </a:prstGeom>
              <a:blipFill>
                <a:blip r:embed="rId2"/>
                <a:stretch>
                  <a:fillRect l="-1339" t="-637"/>
                </a:stretch>
              </a:blipFill>
              <a:ln w="19050" cmpd="sng">
                <a:solidFill>
                  <a:srgbClr val="2B4C6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Definition Box">
                <a:extLst>
                  <a:ext uri="{FF2B5EF4-FFF2-40B4-BE49-F238E27FC236}">
                    <a16:creationId xmlns:a16="http://schemas.microsoft.com/office/drawing/2014/main" id="{71AA1FFF-BDF5-78F8-F829-EDF4AA49E962}"/>
                  </a:ext>
                </a:extLst>
              </p:cNvPr>
              <p:cNvSpPr/>
              <p:nvPr/>
            </p:nvSpPr>
            <p:spPr>
              <a:xfrm>
                <a:off x="307772" y="4098143"/>
                <a:ext cx="5658313" cy="1957883"/>
              </a:xfrm>
              <a:prstGeom prst="roundRect">
                <a:avLst>
                  <a:gd name="adj" fmla="val 5000"/>
                </a:avLst>
              </a:prstGeom>
              <a:solidFill>
                <a:srgbClr val="E8EEF4"/>
              </a:solidFill>
              <a:ln w="19050" cmpd="sng">
                <a:solidFill>
                  <a:srgbClr val="2B4C6F"/>
                </a:solidFill>
              </a:ln>
            </p:spPr>
            <p:txBody>
              <a:bodyPr wrap="square" lIns="36000" tIns="36000" rIns="36000" bIns="36000" anchor="t"/>
              <a:lstStyle/>
              <a:p>
                <a:r>
                  <a:rPr lang="en-US" sz="2000" dirty="0">
                    <a:solidFill>
                      <a:srgbClr val="1B3A5C"/>
                    </a:solidFill>
                    <a:latin typeface="Sofia Sans" pitchFamily="2" charset="0"/>
                  </a:rPr>
                  <a:t>Completeness (per true track)</a:t>
                </a:r>
              </a:p>
              <a:p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For each true track 𝑇</a:t>
                </a:r>
                <a:r>
                  <a:rPr lang="en-US" sz="2000" baseline="-25000" dirty="0">
                    <a:solidFill>
                      <a:srgbClr val="1B3A5C"/>
                    </a:solidFill>
                    <a:latin typeface="Sofia Sans Light" pitchFamily="2" charset="0"/>
                  </a:rPr>
                  <a:t>𝑘</a:t>
                </a:r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, completeness is the fraction of its hits captured by the best-matching</a:t>
                </a:r>
              </a:p>
              <a:p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reconstructed track: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smtClean="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  <m:t>compl</m:t>
                          </m:r>
                        </m:fName>
                        <m:e>
                          <m:r>
                            <a:rPr lang="en-US" sz="2000" b="0" i="0" smtClean="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US" sz="200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US" sz="2000" b="0" i="0" smtClean="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ℛ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∩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1B3A5C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US" sz="2000" dirty="0">
                  <a:solidFill>
                    <a:srgbClr val="1B3A5C"/>
                  </a:solidFill>
                  <a:latin typeface="Sofia Sans Light" pitchFamily="2" charset="0"/>
                </a:endParaRPr>
              </a:p>
            </p:txBody>
          </p:sp>
        </mc:Choice>
        <mc:Fallback>
          <p:sp>
            <p:nvSpPr>
              <p:cNvPr id="7" name="Definition Box">
                <a:extLst>
                  <a:ext uri="{FF2B5EF4-FFF2-40B4-BE49-F238E27FC236}">
                    <a16:creationId xmlns:a16="http://schemas.microsoft.com/office/drawing/2014/main" id="{71AA1FFF-BDF5-78F8-F829-EDF4AA49E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72" y="4098143"/>
                <a:ext cx="5658313" cy="1957883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 l="-1339" t="-641" r="-446"/>
                </a:stretch>
              </a:blipFill>
              <a:ln w="19050" cmpd="sng">
                <a:solidFill>
                  <a:srgbClr val="2B4C6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Definition Box">
                <a:extLst>
                  <a:ext uri="{FF2B5EF4-FFF2-40B4-BE49-F238E27FC236}">
                    <a16:creationId xmlns:a16="http://schemas.microsoft.com/office/drawing/2014/main" id="{E8B471C7-AD0E-07A4-1DFB-103AE405210D}"/>
                  </a:ext>
                </a:extLst>
              </p:cNvPr>
              <p:cNvSpPr/>
              <p:nvPr/>
            </p:nvSpPr>
            <p:spPr>
              <a:xfrm>
                <a:off x="6096000" y="2054902"/>
                <a:ext cx="5638800" cy="1957883"/>
              </a:xfrm>
              <a:prstGeom prst="roundRect">
                <a:avLst>
                  <a:gd name="adj" fmla="val 5000"/>
                </a:avLst>
              </a:prstGeom>
              <a:solidFill>
                <a:srgbClr val="E8EEF4"/>
              </a:solidFill>
              <a:ln w="19050" cmpd="sng">
                <a:solidFill>
                  <a:srgbClr val="2B4C6F"/>
                </a:solidFill>
              </a:ln>
            </p:spPr>
            <p:txBody>
              <a:bodyPr wrap="square" lIns="36000" tIns="36000" rIns="36000" bIns="36000" anchor="t"/>
              <a:lstStyle/>
              <a:p>
                <a:r>
                  <a:rPr lang="en-US" sz="2000" dirty="0">
                    <a:solidFill>
                      <a:srgbClr val="1B3A5C"/>
                    </a:solidFill>
                    <a:latin typeface="Sofia Sans" pitchFamily="2" charset="0"/>
                  </a:rPr>
                  <a:t>Efficiency</a:t>
                </a:r>
              </a:p>
              <a:p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A true track 𝑇𝑘 is declared found if its best-matching reconstructed track covers at least 80% of its hits.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eff</m:t>
                      </m:r>
                      <m:r>
                        <a:rPr lang="en-US" sz="2000" b="0" i="0" smtClean="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smtClean="0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found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true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/>
              <a:p>
                <a:endParaRPr lang="en-US" sz="2000" dirty="0">
                  <a:solidFill>
                    <a:srgbClr val="1B3A5C"/>
                  </a:solidFill>
                  <a:latin typeface="Sofia Sans" pitchFamily="2" charset="0"/>
                </a:endParaRPr>
              </a:p>
            </p:txBody>
          </p:sp>
        </mc:Choice>
        <mc:Fallback>
          <p:sp>
            <p:nvSpPr>
              <p:cNvPr id="9" name="Definition Box">
                <a:extLst>
                  <a:ext uri="{FF2B5EF4-FFF2-40B4-BE49-F238E27FC236}">
                    <a16:creationId xmlns:a16="http://schemas.microsoft.com/office/drawing/2014/main" id="{E8B471C7-AD0E-07A4-1DFB-103AE40521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54902"/>
                <a:ext cx="5638800" cy="1957883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 l="-1570" t="-641" r="-2018" b="-33333"/>
                </a:stretch>
              </a:blipFill>
              <a:ln w="19050" cmpd="sng">
                <a:solidFill>
                  <a:srgbClr val="2B4C6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efinition Box">
                <a:extLst>
                  <a:ext uri="{FF2B5EF4-FFF2-40B4-BE49-F238E27FC236}">
                    <a16:creationId xmlns:a16="http://schemas.microsoft.com/office/drawing/2014/main" id="{B43D5B0B-A250-B321-5D19-AB907AF0299B}"/>
                  </a:ext>
                </a:extLst>
              </p:cNvPr>
              <p:cNvSpPr/>
              <p:nvPr/>
            </p:nvSpPr>
            <p:spPr>
              <a:xfrm>
                <a:off x="6096000" y="4098143"/>
                <a:ext cx="5638800" cy="1957883"/>
              </a:xfrm>
              <a:prstGeom prst="roundRect">
                <a:avLst>
                  <a:gd name="adj" fmla="val 5000"/>
                </a:avLst>
              </a:prstGeom>
              <a:solidFill>
                <a:srgbClr val="E8EEF4"/>
              </a:solidFill>
              <a:ln w="19050" cmpd="sng">
                <a:solidFill>
                  <a:srgbClr val="2B4C6F"/>
                </a:solidFill>
              </a:ln>
            </p:spPr>
            <p:txBody>
              <a:bodyPr wrap="square" lIns="36000" tIns="36000" rIns="36000" bIns="36000" anchor="t"/>
              <a:lstStyle/>
              <a:p>
                <a:r>
                  <a:rPr lang="en-US" sz="2000" dirty="0">
                    <a:solidFill>
                      <a:srgbClr val="1B3A5C"/>
                    </a:solidFill>
                    <a:latin typeface="Sofia Sans" pitchFamily="2" charset="0"/>
                  </a:rPr>
                  <a:t>Fake Rate</a:t>
                </a:r>
              </a:p>
              <a:p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A reconstructed track 𝑅</a:t>
                </a:r>
                <a:r>
                  <a:rPr lang="en-US" sz="2000" baseline="-25000" dirty="0">
                    <a:solidFill>
                      <a:srgbClr val="1B3A5C"/>
                    </a:solidFill>
                    <a:latin typeface="Sofia Sans Light" pitchFamily="2" charset="0"/>
                  </a:rPr>
                  <a:t>ℓ</a:t>
                </a:r>
                <a:r>
                  <a:rPr lang="en-US" sz="2000" dirty="0">
                    <a:solidFill>
                      <a:srgbClr val="1B3A5C"/>
                    </a:solidFill>
                    <a:latin typeface="Sofia Sans Light" pitchFamily="2" charset="0"/>
                  </a:rPr>
                  <a:t> is declared a fake if its purity falls below 50%. </a:t>
                </a:r>
                <a:endParaRPr lang="en-US" sz="2000" i="1" dirty="0">
                  <a:solidFill>
                    <a:srgbClr val="1B3A5C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ake</m:t>
                      </m:r>
                      <m:r>
                        <a:rPr lang="en-US" sz="2000" b="0" i="0" smtClean="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US" sz="2000">
                          <a:solidFill>
                            <a:srgbClr val="1B3A5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1B3A5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fake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1B3A5C"/>
                                  </a:solidFill>
                                  <a:latin typeface="Cambria Math" panose="02040503050406030204" pitchFamily="18" charset="0"/>
                                </a:rPr>
                                <m:t>reco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1B3A5C"/>
                  </a:solidFill>
                </a:endParaRPr>
              </a:p>
              <a:p>
                <a:endParaRPr lang="en-US" sz="2000" dirty="0">
                  <a:solidFill>
                    <a:srgbClr val="1B3A5C"/>
                  </a:solidFill>
                  <a:latin typeface="Sofia Sans Light" pitchFamily="2" charset="0"/>
                </a:endParaRPr>
              </a:p>
            </p:txBody>
          </p:sp>
        </mc:Choice>
        <mc:Fallback>
          <p:sp>
            <p:nvSpPr>
              <p:cNvPr id="10" name="Definition Box">
                <a:extLst>
                  <a:ext uri="{FF2B5EF4-FFF2-40B4-BE49-F238E27FC236}">
                    <a16:creationId xmlns:a16="http://schemas.microsoft.com/office/drawing/2014/main" id="{B43D5B0B-A250-B321-5D19-AB907AF029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98143"/>
                <a:ext cx="5638800" cy="1957883"/>
              </a:xfrm>
              <a:prstGeom prst="roundRect">
                <a:avLst>
                  <a:gd name="adj" fmla="val 5000"/>
                </a:avLst>
              </a:prstGeom>
              <a:blipFill>
                <a:blip r:embed="rId5"/>
                <a:stretch>
                  <a:fillRect l="-1570" t="-641" b="-1923"/>
                </a:stretch>
              </a:blipFill>
              <a:ln w="19050" cmpd="sng">
                <a:solidFill>
                  <a:srgbClr val="2B4C6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914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CC12-BC00-4EBD-6CF2-F12E5F00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Edge Score Separation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6D914-F4E0-C342-B043-700A63D2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9A318-9487-3371-423D-C7DC25CCF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A024A-9348-AB68-3E56-1CE52124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4419E9-715C-23BB-33F4-3198DD90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3" y="1048446"/>
            <a:ext cx="6210300" cy="5270500"/>
          </a:xfrm>
          <a:prstGeom prst="rect">
            <a:avLst/>
          </a:prstGeom>
        </p:spPr>
      </p:pic>
      <p:sp>
        <p:nvSpPr>
          <p:cNvPr id="8" name="Definition Box">
            <a:extLst>
              <a:ext uri="{FF2B5EF4-FFF2-40B4-BE49-F238E27FC236}">
                <a16:creationId xmlns:a16="http://schemas.microsoft.com/office/drawing/2014/main" id="{6DD64FCE-176E-3944-22D5-0C54F904FA2C}"/>
              </a:ext>
            </a:extLst>
          </p:cNvPr>
          <p:cNvSpPr/>
          <p:nvPr/>
        </p:nvSpPr>
        <p:spPr>
          <a:xfrm>
            <a:off x="6606683" y="1048446"/>
            <a:ext cx="4790043" cy="1694535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 w="19050" cmpd="sng">
            <a:solidFill>
              <a:srgbClr val="2B4C6F"/>
            </a:solidFill>
          </a:ln>
        </p:spPr>
        <p:txBody>
          <a:bodyPr wrap="square" lIns="36000" tIns="36000" rIns="36000" bIns="36000" anchor="t"/>
          <a:lstStyle/>
          <a:p>
            <a:r>
              <a:rPr lang="en-US" sz="2000" dirty="0">
                <a:solidFill>
                  <a:srgbClr val="1B3A5C"/>
                </a:solidFill>
                <a:latin typeface="Sofia Sans" pitchFamily="2" charset="0"/>
              </a:rPr>
              <a:t>Clean Separation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– True edges: 𝜇 = 0.947, 𝜎 = 0.115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– False edges: 𝜇 = 0.023, 𝜎 = 0.084</a:t>
            </a:r>
          </a:p>
          <a:p>
            <a:r>
              <a:rPr lang="en-US" sz="2000" dirty="0">
                <a:solidFill>
                  <a:srgbClr val="1B3A5C"/>
                </a:solidFill>
                <a:latin typeface="Sofia Sans Light" pitchFamily="2" charset="0"/>
              </a:rPr>
              <a:t>– 4 orders of magnitude density contrast in the 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D61D6-27AF-C26C-A708-01A1ACB3FD59}"/>
              </a:ext>
            </a:extLst>
          </p:cNvPr>
          <p:cNvSpPr txBox="1"/>
          <p:nvPr/>
        </p:nvSpPr>
        <p:spPr>
          <a:xfrm>
            <a:off x="6606683" y="3083531"/>
            <a:ext cx="51081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Sofia Sans Light" pitchFamily="2" charset="0"/>
              </a:rPr>
              <a:t>The small central overlap at scores ∼ 0.3–0.5 is where the classifier is genuinely uncertain: this is what drives the residual fake rate/contamination.</a:t>
            </a:r>
          </a:p>
        </p:txBody>
      </p:sp>
    </p:spTree>
    <p:extLst>
      <p:ext uri="{BB962C8B-B14F-4D97-AF65-F5344CB8AC3E}">
        <p14:creationId xmlns:p14="http://schemas.microsoft.com/office/powerpoint/2010/main" val="4264328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1B0D-DF0D-5F22-B7D2-87DDADF3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Edge Scores by Detector Region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6B1DD-5404-9C7F-BA56-C1167D5D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757E3-92B0-7FB6-A1ED-5A04A7CC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862F5-0B05-E136-027E-0BA51A76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3C51C-8328-68C5-B811-26E33A71D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93" y="1011592"/>
            <a:ext cx="11644014" cy="4040009"/>
          </a:xfrm>
          <a:prstGeom prst="rect">
            <a:avLst/>
          </a:prstGeom>
        </p:spPr>
      </p:pic>
      <p:sp>
        <p:nvSpPr>
          <p:cNvPr id="8" name="Definition Box">
            <a:extLst>
              <a:ext uri="{FF2B5EF4-FFF2-40B4-BE49-F238E27FC236}">
                <a16:creationId xmlns:a16="http://schemas.microsoft.com/office/drawing/2014/main" id="{67D79FA2-07BE-7D66-C680-A46879EAADEC}"/>
              </a:ext>
            </a:extLst>
          </p:cNvPr>
          <p:cNvSpPr/>
          <p:nvPr/>
        </p:nvSpPr>
        <p:spPr>
          <a:xfrm>
            <a:off x="188991" y="5306518"/>
            <a:ext cx="11814017" cy="779947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AHDC–AHDC (𝑁 ≈ 9400): cleanest separation, dominates training signal.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AHDC–ATOF and ATOF–ATOF: rarer (𝑁 ≈ 600 each), noisier</a:t>
            </a:r>
          </a:p>
        </p:txBody>
      </p:sp>
    </p:spTree>
    <p:extLst>
      <p:ext uri="{BB962C8B-B14F-4D97-AF65-F5344CB8AC3E}">
        <p14:creationId xmlns:p14="http://schemas.microsoft.com/office/powerpoint/2010/main" val="158551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3CD7-6010-A023-3DBE-1F345336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vs MLP: Track-Level Performance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1B395-F84C-123A-AD05-F1E879C0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80F52-63C8-EFA0-5D2A-2D8E4795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0F16-3283-348B-DF2F-A2015E08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12AF4F-38D9-3A2D-A402-6D87BB5FA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77" y="1183394"/>
            <a:ext cx="8208780" cy="2986042"/>
          </a:xfrm>
          <a:prstGeom prst="rect">
            <a:avLst/>
          </a:prstGeom>
        </p:spPr>
      </p:pic>
      <p:sp>
        <p:nvSpPr>
          <p:cNvPr id="11" name="Definition Box">
            <a:extLst>
              <a:ext uri="{FF2B5EF4-FFF2-40B4-BE49-F238E27FC236}">
                <a16:creationId xmlns:a16="http://schemas.microsoft.com/office/drawing/2014/main" id="{45008752-C94D-4ED4-A2DB-179ED6AD491E}"/>
              </a:ext>
            </a:extLst>
          </p:cNvPr>
          <p:cNvSpPr/>
          <p:nvPr/>
        </p:nvSpPr>
        <p:spPr>
          <a:xfrm>
            <a:off x="862146" y="4362138"/>
            <a:ext cx="10281639" cy="1086787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N</a:t>
            </a:r>
            <a:r>
              <a:rPr lang="en-US" sz="2000" baseline="-25000" dirty="0" err="1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events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 = 2823,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N</a:t>
            </a:r>
            <a:r>
              <a:rPr lang="en-US" sz="2000" baseline="-25000" dirty="0" err="1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true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 = 5704 true tracks. 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GNN threshold = 0.1, MLP threshold = 0.2.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The GNN finds nearly every true track while producing fewer fake candidates than the MLP.</a:t>
            </a:r>
          </a:p>
        </p:txBody>
      </p:sp>
    </p:spTree>
    <p:extLst>
      <p:ext uri="{BB962C8B-B14F-4D97-AF65-F5344CB8AC3E}">
        <p14:creationId xmlns:p14="http://schemas.microsoft.com/office/powerpoint/2010/main" val="370793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5D92-B872-2E14-A45C-544F1ED2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Robustness: Efficiency &amp; Fake Rate vs Multiplicity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E13EA-9270-FBFD-8633-4C264303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C0F2E-AAFC-E2DA-1663-F4DBFFAA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95EBB-AA56-EAEE-A6A5-83CE6BED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99EEEF-066A-33A9-F1A2-D44C72CA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16" y="1051863"/>
            <a:ext cx="10357672" cy="4273946"/>
          </a:xfrm>
          <a:prstGeom prst="rect">
            <a:avLst/>
          </a:prstGeom>
        </p:spPr>
      </p:pic>
      <p:sp>
        <p:nvSpPr>
          <p:cNvPr id="8" name="Definition Box">
            <a:extLst>
              <a:ext uri="{FF2B5EF4-FFF2-40B4-BE49-F238E27FC236}">
                <a16:creationId xmlns:a16="http://schemas.microsoft.com/office/drawing/2014/main" id="{FF4E3AC2-D4DC-6498-E003-C1945FDD454E}"/>
              </a:ext>
            </a:extLst>
          </p:cNvPr>
          <p:cNvSpPr/>
          <p:nvPr/>
        </p:nvSpPr>
        <p:spPr>
          <a:xfrm>
            <a:off x="790749" y="5392310"/>
            <a:ext cx="10281639" cy="827654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GNN: flat at 100% efficiency from 1 to 8 tracks/event. MLP: stuck at ∼ 60% regardless.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GNN fake rate stays 3–5% while MLP climbs to 10–15% at high multiplicity.</a:t>
            </a:r>
          </a:p>
        </p:txBody>
      </p:sp>
    </p:spTree>
    <p:extLst>
      <p:ext uri="{BB962C8B-B14F-4D97-AF65-F5344CB8AC3E}">
        <p14:creationId xmlns:p14="http://schemas.microsoft.com/office/powerpoint/2010/main" val="224010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181D1-A2CC-C314-C0EA-C6B6AABE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2A4B-2210-9D04-32DC-CD06D947D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Robustness: Efficiency &amp; Fake Rate vs Multiplicity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A6F4C-2CAA-9528-D3FC-2D25F009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A1CE8-E009-99EF-D2DB-0E3BAF5E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DFC45-4319-512B-E96E-5CE32535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sp>
        <p:nvSpPr>
          <p:cNvPr id="8" name="Definition Box">
            <a:extLst>
              <a:ext uri="{FF2B5EF4-FFF2-40B4-BE49-F238E27FC236}">
                <a16:creationId xmlns:a16="http://schemas.microsoft.com/office/drawing/2014/main" id="{9CE91058-891F-4AC4-AD59-CB9196D38011}"/>
              </a:ext>
            </a:extLst>
          </p:cNvPr>
          <p:cNvSpPr/>
          <p:nvPr/>
        </p:nvSpPr>
        <p:spPr>
          <a:xfrm>
            <a:off x="790749" y="5392310"/>
            <a:ext cx="10281639" cy="827654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GNN: sharp spike at completeness = 1 (𝜇 = 0.908) and contamination ≈ 0 (𝜇 = 0.086).</a:t>
            </a:r>
          </a:p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MLP: broad distributions, many partially reconstructed or contaminated tracks.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B3307-9B7A-5E70-9A54-7F25CCFC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36" y="997196"/>
            <a:ext cx="10281638" cy="431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50F8-327B-89FC-32AB-BFCDA697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Kinematic Uniformity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073C4-A901-840A-F7C0-34C80641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059A4-38BE-2D6D-F65D-2B44352C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D600D-77EB-0A8A-29F0-B5B31369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037F79-2EB9-DB1F-EAF3-777B9E90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8965"/>
            <a:ext cx="7772400" cy="6832400"/>
          </a:xfrm>
          <a:prstGeom prst="rect">
            <a:avLst/>
          </a:prstGeom>
        </p:spPr>
      </p:pic>
      <p:sp>
        <p:nvSpPr>
          <p:cNvPr id="9" name="Definition Box">
            <a:extLst>
              <a:ext uri="{FF2B5EF4-FFF2-40B4-BE49-F238E27FC236}">
                <a16:creationId xmlns:a16="http://schemas.microsoft.com/office/drawing/2014/main" id="{0FDAA601-7BE0-ED8F-ACF5-FAD16A8CD8AD}"/>
              </a:ext>
            </a:extLst>
          </p:cNvPr>
          <p:cNvSpPr/>
          <p:nvPr/>
        </p:nvSpPr>
        <p:spPr>
          <a:xfrm>
            <a:off x="161163" y="1379095"/>
            <a:ext cx="4004437" cy="1435308"/>
          </a:xfrm>
          <a:prstGeom prst="roundRect">
            <a:avLst>
              <a:gd name="adj" fmla="val 5000"/>
            </a:avLst>
          </a:prstGeom>
          <a:solidFill>
            <a:schemeClr val="accent3">
              <a:lumMod val="20000"/>
              <a:lumOff val="80000"/>
            </a:schemeClr>
          </a:solidFill>
          <a:ln w="19050" cmpd="sng">
            <a:solidFill>
              <a:schemeClr val="accent3">
                <a:lumMod val="75000"/>
              </a:schemeClr>
            </a:solidFill>
          </a:ln>
        </p:spPr>
        <p:txBody>
          <a:bodyPr wrap="square" lIns="36000" tIns="36000" rIns="36000" bIns="36000" anchor="ctr"/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Sofia Sans Light" pitchFamily="2" charset="0"/>
              </a:rPr>
              <a:t>Efficiency, completeness, and contamination are flat across momentum 𝑝, polar angle 𝜃, and azimuth 𝜑</a:t>
            </a:r>
          </a:p>
        </p:txBody>
      </p:sp>
    </p:spTree>
    <p:extLst>
      <p:ext uri="{BB962C8B-B14F-4D97-AF65-F5344CB8AC3E}">
        <p14:creationId xmlns:p14="http://schemas.microsoft.com/office/powerpoint/2010/main" val="26503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ECDA-C4E0-12B1-840D-D1697EA5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Outlook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DB54B-4982-5031-54B2-C76D2A74A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tested a new method for track finding and track matching: </a:t>
            </a:r>
          </a:p>
          <a:p>
            <a:pPr lvl="1"/>
            <a:r>
              <a:rPr lang="en-US" dirty="0"/>
              <a:t>Can replace both networks with only one</a:t>
            </a:r>
          </a:p>
          <a:p>
            <a:pPr lvl="1"/>
            <a:r>
              <a:rPr lang="en-US" dirty="0"/>
              <a:t>Work at the hit level not clusters</a:t>
            </a:r>
          </a:p>
          <a:p>
            <a:pPr lvl="1"/>
            <a:r>
              <a:rPr lang="en-US" dirty="0"/>
              <a:t>99.95% efficiency with 5.9% fake rate</a:t>
            </a:r>
          </a:p>
          <a:p>
            <a:pPr lvl="1"/>
            <a:r>
              <a:rPr lang="en-US" dirty="0"/>
              <a:t>Performance is uniformly flat across multiplicity (1-8 tracks), noise level, and kinematics (𝑝, 𝜃, 𝜑)</a:t>
            </a:r>
          </a:p>
          <a:p>
            <a:pPr lvl="1"/>
            <a:endParaRPr lang="en-US" dirty="0"/>
          </a:p>
          <a:p>
            <a:r>
              <a:rPr lang="en-US" dirty="0"/>
              <a:t>Next steps: </a:t>
            </a:r>
          </a:p>
          <a:p>
            <a:pPr lvl="1"/>
            <a:r>
              <a:rPr lang="en-US" dirty="0"/>
              <a:t>Integration with </a:t>
            </a:r>
            <a:r>
              <a:rPr lang="en-US" dirty="0" err="1"/>
              <a:t>coatjava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Validation on real CLAS12 data</a:t>
            </a:r>
          </a:p>
          <a:p>
            <a:pPr lvl="1"/>
            <a:r>
              <a:rPr lang="en-US" dirty="0"/>
              <a:t>Hyperparameter optimization (</a:t>
            </a:r>
            <a:r>
              <a:rPr lang="en-US" dirty="0" err="1"/>
              <a:t>Optuna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Measure inference time and compare to MLP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A1B24-1BBC-BC40-B897-73214CF9D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04/06/26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D2DFB-301D-E803-7158-B51F191E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6F30A-6C8C-A863-C1C3-384C6886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47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15031</TotalTime>
  <Words>1932</Words>
  <Application>Microsoft Macintosh PowerPoint</Application>
  <PresentationFormat>Widescreen</PresentationFormat>
  <Paragraphs>236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Fira Sans Book</vt:lpstr>
      <vt:lpstr>Fira Sans Light</vt:lpstr>
      <vt:lpstr>FiraCode Nerd Font Light</vt:lpstr>
      <vt:lpstr>Sofia Sans</vt:lpstr>
      <vt:lpstr>Sofia Sans Light</vt:lpstr>
      <vt:lpstr>Office Theme</vt:lpstr>
      <vt:lpstr>Errors in the last cooking: Pass0 v10</vt:lpstr>
      <vt:lpstr>Errors in the last cooking: Pass0 v10</vt:lpstr>
      <vt:lpstr>Graph Neural Network for ALERT</vt:lpstr>
      <vt:lpstr>Introduction to Graph and Graph Neural Networks</vt:lpstr>
      <vt:lpstr>What Is a Graph Neural Network?</vt:lpstr>
      <vt:lpstr>Message Passing: The Core of GNNs</vt:lpstr>
      <vt:lpstr>GNN Architectures for Physics</vt:lpstr>
      <vt:lpstr>Edge Classification for Track Finding</vt:lpstr>
      <vt:lpstr>Graph Construction</vt:lpstr>
      <vt:lpstr>Training</vt:lpstr>
      <vt:lpstr>Track-Level Metric Definitions</vt:lpstr>
      <vt:lpstr>Edge Score Separation</vt:lpstr>
      <vt:lpstr>Edge Scores by Detector Region</vt:lpstr>
      <vt:lpstr>GNN vs MLP: Track-Level Performance</vt:lpstr>
      <vt:lpstr>Robustness: Efficiency &amp; Fake Rate vs Multiplicity</vt:lpstr>
      <vt:lpstr>Robustness: Efficiency &amp; Fake Rate vs Multiplicity</vt:lpstr>
      <vt:lpstr>Kinematic Uniformity</vt:lpstr>
      <vt:lpstr>Outlook &amp; Next Steps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413</cp:revision>
  <dcterms:created xsi:type="dcterms:W3CDTF">2019-12-03T01:04:10Z</dcterms:created>
  <dcterms:modified xsi:type="dcterms:W3CDTF">2026-04-13T14:15:59Z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