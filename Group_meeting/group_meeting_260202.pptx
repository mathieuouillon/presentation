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269" r:id="rId3"/>
    <p:sldId id="287" r:id="rId4"/>
    <p:sldId id="303" r:id="rId5"/>
    <p:sldId id="304" r:id="rId6"/>
    <p:sldId id="289" r:id="rId7"/>
    <p:sldId id="312" r:id="rId8"/>
    <p:sldId id="295" r:id="rId9"/>
    <p:sldId id="305" r:id="rId10"/>
    <p:sldId id="306" r:id="rId11"/>
    <p:sldId id="307" r:id="rId12"/>
    <p:sldId id="296" r:id="rId13"/>
    <p:sldId id="290" r:id="rId14"/>
    <p:sldId id="291" r:id="rId15"/>
    <p:sldId id="308" r:id="rId16"/>
    <p:sldId id="309" r:id="rId17"/>
    <p:sldId id="292" r:id="rId18"/>
    <p:sldId id="310" r:id="rId19"/>
    <p:sldId id="293" r:id="rId20"/>
    <p:sldId id="311" r:id="rId21"/>
    <p:sldId id="294" r:id="rId22"/>
    <p:sldId id="271" r:id="rId23"/>
    <p:sldId id="272" r:id="rId24"/>
    <p:sldId id="274" r:id="rId25"/>
    <p:sldId id="275" r:id="rId26"/>
    <p:sldId id="276" r:id="rId27"/>
    <p:sldId id="31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ué Meneses Díaz" initials="JMD" lastIdx="1" clrIdx="0">
    <p:extLst>
      <p:ext uri="{19B8F6BF-5375-455C-9EA6-DF929625EA0E}">
        <p15:presenceInfo xmlns:p15="http://schemas.microsoft.com/office/powerpoint/2012/main" userId="b04c2315aa3d41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00315F"/>
    <a:srgbClr val="FAFAFA"/>
    <a:srgbClr val="23373B"/>
    <a:srgbClr val="FFFFFF"/>
    <a:srgbClr val="243643"/>
    <a:srgbClr val="304D59"/>
    <a:srgbClr val="243A45"/>
    <a:srgbClr val="98B6C2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50" autoAdjust="0"/>
    <p:restoredTop sz="94637" autoAdjust="0"/>
  </p:normalViewPr>
  <p:slideViewPr>
    <p:cSldViewPr snapToGrid="0" snapToObjects="1">
      <p:cViewPr varScale="1">
        <p:scale>
          <a:sx n="167" d="100"/>
          <a:sy n="167" d="100"/>
        </p:scale>
        <p:origin x="184" y="2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494"/>
    </p:cViewPr>
  </p:sorterViewPr>
  <p:notesViewPr>
    <p:cSldViewPr snapToGrid="0" snapToObjects="1">
      <p:cViewPr varScale="1">
        <p:scale>
          <a:sx n="66" d="100"/>
          <a:sy n="66" d="100"/>
        </p:scale>
        <p:origin x="306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0EDF28E-8800-4B7E-93CE-9140A17976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F043AF5-1FB9-40F2-A50C-00F64C47C8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510DC-4C2A-4F6F-9501-4E7F5F169603}" type="datetimeFigureOut">
              <a:rPr lang="es-CL" smtClean="0"/>
              <a:t>02-02-26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BC3DD2-F926-44DF-82AE-6BA853059A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F9B4BF-E6EE-4D98-BCE0-35D9588A1C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2CA5F-72BF-4704-8861-7B23D0958B1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9319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9D9A3-6AD0-4C7D-A17B-441070370095}" type="datetimeFigureOut">
              <a:rPr lang="es-CL" smtClean="0"/>
              <a:t>02-02-26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5FC93-B29F-41F1-A4D9-E7914667CA3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268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FC93-B29F-41F1-A4D9-E7914667CA34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5579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680E2D-A060-426E-80B4-6B882581BABF}"/>
              </a:ext>
            </a:extLst>
          </p:cNvPr>
          <p:cNvSpPr/>
          <p:nvPr userDrawn="1"/>
        </p:nvSpPr>
        <p:spPr>
          <a:xfrm>
            <a:off x="0" y="-28414"/>
            <a:ext cx="12192000" cy="1321437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8" name="Picture 7" descr="A blue background with white text and a white logo&#10;&#10;AI-generated content may be incorrect.">
            <a:extLst>
              <a:ext uri="{FF2B5EF4-FFF2-40B4-BE49-F238E27FC236}">
                <a16:creationId xmlns:a16="http://schemas.microsoft.com/office/drawing/2014/main" id="{550513C9-FE37-ABDB-DC73-3268493D8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" r="28388"/>
          <a:stretch>
            <a:fillRect/>
          </a:stretch>
        </p:blipFill>
        <p:spPr>
          <a:xfrm>
            <a:off x="5422107" y="-30370"/>
            <a:ext cx="6777036" cy="6905800"/>
          </a:xfrm>
          <a:prstGeom prst="rect">
            <a:avLst/>
          </a:prstGeom>
        </p:spPr>
      </p:pic>
      <p:sp>
        <p:nvSpPr>
          <p:cNvPr id="9" name="Trapezoid 8">
            <a:extLst>
              <a:ext uri="{FF2B5EF4-FFF2-40B4-BE49-F238E27FC236}">
                <a16:creationId xmlns:a16="http://schemas.microsoft.com/office/drawing/2014/main" id="{B1728B86-6592-DDFF-0871-A958EF66574A}"/>
              </a:ext>
            </a:extLst>
          </p:cNvPr>
          <p:cNvSpPr/>
          <p:nvPr userDrawn="1"/>
        </p:nvSpPr>
        <p:spPr>
          <a:xfrm rot="10800000">
            <a:off x="3610050" y="-47801"/>
            <a:ext cx="4562400" cy="6905800"/>
          </a:xfrm>
          <a:prstGeom prst="trapezoid">
            <a:avLst/>
          </a:prstGeom>
          <a:solidFill>
            <a:srgbClr val="FAFAFA"/>
          </a:solidFill>
          <a:ln>
            <a:solidFill>
              <a:srgbClr val="FAFA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46" y="2064502"/>
            <a:ext cx="10363200" cy="974724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rgbClr val="304D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46" y="3819652"/>
            <a:ext cx="8534400" cy="67070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304D59"/>
                </a:solidFill>
                <a:latin typeface="Fira Sans Book" panose="020B0503050000020004" pitchFamily="34" charset="0"/>
                <a:ea typeface="Fira Sans Book" panose="020B05030500000200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975" y="116756"/>
            <a:ext cx="9496425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49680"/>
            <a:ext cx="10972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EAA4C7-D0B6-0DE2-E030-4ACD062DD5B1}"/>
              </a:ext>
            </a:extLst>
          </p:cNvPr>
          <p:cNvCxnSpPr/>
          <p:nvPr userDrawn="1"/>
        </p:nvCxnSpPr>
        <p:spPr>
          <a:xfrm>
            <a:off x="159543" y="6238268"/>
            <a:ext cx="11872913" cy="0"/>
          </a:xfrm>
          <a:prstGeom prst="line">
            <a:avLst/>
          </a:prstGeom>
          <a:ln>
            <a:solidFill>
              <a:srgbClr val="0031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825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4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solidFill>
                  <a:srgbClr val="23373B"/>
                </a:solidFill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23373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974724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inverted colors"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1500186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6747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columns with two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919716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96599"/>
            <a:ext cx="5386917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919716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596599"/>
            <a:ext cx="5389033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8049B74-EB33-49E5-A21C-5BC17B1D4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lumn and imagen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939802"/>
            <a:ext cx="4011084" cy="52083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65B64F9-9C06-4BFC-9CC7-D62D4572BDE4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773085" y="5193412"/>
            <a:ext cx="6809314" cy="9327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Marcador de posición de imagen 7">
            <a:extLst>
              <a:ext uri="{FF2B5EF4-FFF2-40B4-BE49-F238E27FC236}">
                <a16:creationId xmlns:a16="http://schemas.microsoft.com/office/drawing/2014/main" id="{D74A7F3F-C231-4039-8494-F902CE8BAA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73085" y="949968"/>
            <a:ext cx="6809315" cy="4176069"/>
          </a:xfr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102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617085"/>
            <a:ext cx="10972799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599" y="1617085"/>
            <a:ext cx="5408022" cy="4502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37F2929-6A18-4BAD-AA36-EE60744758F0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174379" y="1617085"/>
            <a:ext cx="5408022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757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962BEB1-7B29-4BAC-8B48-10A147F1A42A}"/>
              </a:ext>
            </a:extLst>
          </p:cNvPr>
          <p:cNvSpPr/>
          <p:nvPr userDrawn="1"/>
        </p:nvSpPr>
        <p:spPr>
          <a:xfrm>
            <a:off x="0" y="0"/>
            <a:ext cx="12192000" cy="949569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D9C7531-5490-48CC-82EC-3580AEA6A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4"/>
            <a:ext cx="7315200" cy="468058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F30ABA-6BFD-4C8C-A4E2-2A730B48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ea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63041"/>
            <a:ext cx="10972800" cy="466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01/03/26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F72AA3B3-8196-4D73-8E74-BE65D0B26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1700" y="109150"/>
            <a:ext cx="9410700" cy="892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pic>
        <p:nvPicPr>
          <p:cNvPr id="8" name="Picture 7" descr="A blue background with white text and a white circle&#10;&#10;AI-generated content may be incorrect.">
            <a:extLst>
              <a:ext uri="{FF2B5EF4-FFF2-40B4-BE49-F238E27FC236}">
                <a16:creationId xmlns:a16="http://schemas.microsoft.com/office/drawing/2014/main" id="{8EB0ECAC-F4C3-9F09-0CD7-41F0101D8FE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09600" y="0"/>
            <a:ext cx="1421599" cy="121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62" r:id="rId5"/>
    <p:sldLayoutId id="2147483653" r:id="rId6"/>
    <p:sldLayoutId id="2147483660" r:id="rId7"/>
    <p:sldLayoutId id="2147483656" r:id="rId8"/>
    <p:sldLayoutId id="2147483661" r:id="rId9"/>
    <p:sldLayoutId id="2147483657" r:id="rId10"/>
    <p:sldLayoutId id="2147483654" r:id="rId11"/>
    <p:sldLayoutId id="2147483655" r:id="rId1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rgbClr val="00315F"/>
          </a:solidFill>
          <a:latin typeface="Fira Sans Book" panose="020B0503050000020004"/>
          <a:ea typeface="Fira Sans Book" panose="020B0503050000020004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371725"/>
            <a:ext cx="7029450" cy="1317329"/>
          </a:xfrm>
        </p:spPr>
        <p:txBody>
          <a:bodyPr>
            <a:normAutofit/>
          </a:bodyPr>
          <a:lstStyle/>
          <a:p>
            <a:pPr lvl="0" algn="l"/>
            <a:r>
              <a:rPr lang="es-ES" sz="6000" dirty="0" err="1"/>
              <a:t>Group</a:t>
            </a:r>
            <a:r>
              <a:rPr lang="es-ES" sz="6000" dirty="0"/>
              <a:t> meeting</a:t>
            </a:r>
            <a:endParaRPr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069887"/>
            <a:ext cx="8534400" cy="67612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s-MX" dirty="0"/>
              <a:t>Mathieu Ouillon (Mississippi State University)</a:t>
            </a:r>
            <a:endParaRPr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59F9F00-EFEC-9E33-BF3B-9C2D4A022795}"/>
              </a:ext>
            </a:extLst>
          </p:cNvPr>
          <p:cNvSpPr txBox="1">
            <a:spLocks/>
          </p:cNvSpPr>
          <p:nvPr/>
        </p:nvSpPr>
        <p:spPr>
          <a:xfrm>
            <a:off x="400046" y="4762548"/>
            <a:ext cx="20757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defTabSz="457200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es-CL" sz="2000" kern="1200" noProof="0" dirty="0">
                <a:solidFill>
                  <a:srgbClr val="304D59"/>
                </a:solidFill>
                <a:latin typeface="Fira Sans Book" panose="020B0503050000020004" pitchFamily="34" charset="0"/>
                <a:ea typeface="Fira Sans Book" panose="020B0503050000020004" pitchFamily="34" charset="0"/>
                <a:cs typeface="+mn-cs"/>
              </a:rPr>
              <a:t>02/02/26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19"/>
    </mc:Choice>
    <mc:Fallback xmlns="">
      <p:transition spd="slow" advTm="133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D627B-4553-2F59-665A-AE94D2E96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 cooking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9D6B5-816A-9954-203E-7475A7DBA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10972800" cy="473808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Fix the issue for the decoding of the file: clas_018401.evio.00546 </a:t>
            </a:r>
          </a:p>
          <a:p>
            <a:r>
              <a:rPr lang="en-US" dirty="0"/>
              <a:t>Did the reconstruction for the file clas_018401.evio.00545-00549.hipo</a:t>
            </a:r>
          </a:p>
          <a:p>
            <a:r>
              <a:rPr lang="en-US" dirty="0"/>
              <a:t>Create all the trains for the </a:t>
            </a:r>
            <a:r>
              <a:rPr lang="en-US" dirty="0" err="1"/>
              <a:t>CxC</a:t>
            </a:r>
            <a:r>
              <a:rPr lang="en-US" dirty="0"/>
              <a:t> runs</a:t>
            </a:r>
          </a:p>
          <a:p>
            <a:r>
              <a:rPr lang="en-US" dirty="0"/>
              <a:t>Copy all of that on the tape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57AAE-4E75-446A-736E-D8D027983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BABFA-6854-8C78-0ECF-9F1132078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CA134-1D20-C60F-4F76-F9729CB5E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5E382B-3EDC-32DC-AA6B-7E8D5D2E5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99" y="1304408"/>
            <a:ext cx="11788293" cy="2330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491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DB051-12AC-8B0D-BE42-0426E095A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E096B-C13F-8824-997E-54F0214C4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continue the work on the nuclear transparency study: </a:t>
            </a:r>
          </a:p>
          <a:p>
            <a:pPr lvl="1"/>
            <a:r>
              <a:rPr lang="en-US" dirty="0"/>
              <a:t>Use pass1 data: 10%, only </a:t>
            </a:r>
            <a:r>
              <a:rPr lang="en-US" dirty="0" err="1"/>
              <a:t>Outbending</a:t>
            </a:r>
            <a:endParaRPr lang="en-US" dirty="0"/>
          </a:p>
          <a:p>
            <a:r>
              <a:rPr lang="en-US" dirty="0"/>
              <a:t>Electron selection: </a:t>
            </a:r>
          </a:p>
          <a:p>
            <a:pPr lvl="1"/>
            <a:r>
              <a:rPr lang="en-US" dirty="0" err="1"/>
              <a:t>pid</a:t>
            </a:r>
            <a:r>
              <a:rPr lang="en-US" dirty="0"/>
              <a:t> = 11, -4000 &lt; status &lt;= -2000, |chi2pid| &lt; 5</a:t>
            </a:r>
          </a:p>
          <a:p>
            <a:pPr lvl="1"/>
            <a:r>
              <a:rPr lang="en-US" dirty="0"/>
              <a:t>p &gt; 0.8 GeV/c, </a:t>
            </a:r>
            <a:r>
              <a:rPr lang="en-US" dirty="0" err="1"/>
              <a:t>Vz</a:t>
            </a:r>
            <a:r>
              <a:rPr lang="en-US" dirty="0"/>
              <a:t> target </a:t>
            </a:r>
            <a:r>
              <a:rPr lang="en-US" dirty="0" err="1"/>
              <a:t>dependant</a:t>
            </a:r>
            <a:r>
              <a:rPr lang="en-US" dirty="0"/>
              <a:t>, SF vs p</a:t>
            </a:r>
          </a:p>
          <a:p>
            <a:pPr lvl="1"/>
            <a:r>
              <a:rPr lang="en-US" dirty="0"/>
              <a:t>Fiducial cuts: lv &gt; 9 cm, </a:t>
            </a:r>
            <a:r>
              <a:rPr lang="en-US" dirty="0" err="1"/>
              <a:t>lw</a:t>
            </a:r>
            <a:r>
              <a:rPr lang="en-US" dirty="0"/>
              <a:t> &gt; 9 cm and DC edge </a:t>
            </a:r>
          </a:p>
          <a:p>
            <a:r>
              <a:rPr lang="en-US" dirty="0"/>
              <a:t>Q</a:t>
            </a:r>
            <a:r>
              <a:rPr lang="en-US" baseline="30000" dirty="0"/>
              <a:t>2</a:t>
            </a:r>
            <a:r>
              <a:rPr lang="en-US" dirty="0"/>
              <a:t> &gt; 1 GeV</a:t>
            </a:r>
            <a:r>
              <a:rPr lang="en-US" baseline="30000" dirty="0"/>
              <a:t>2</a:t>
            </a:r>
            <a:r>
              <a:rPr lang="en-US" dirty="0"/>
              <a:t> and W &gt; 2 GeV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F3D39-F8D4-CF04-E9BE-C4B6D6EAB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9D364-43C7-AD17-EB7C-01D28340E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18123-24B3-34A2-B1BF-9355EE4F9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FAFE9D-67B8-7E63-F155-C86BB5AB3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06" y="4399914"/>
            <a:ext cx="5145817" cy="14430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C6B85B-4F85-8529-55CD-3351811B7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5417" y="4399914"/>
            <a:ext cx="5145816" cy="1499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632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613EA-74BA-779D-62C2-0C5BEB146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D2B86-29E9-17FA-916A-28A3C2037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2FAF6-4C0E-C8F8-BFA5-39B063703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Pions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Forward detector: 2000 &lt;= status &lt; 4000</a:t>
            </a:r>
          </a:p>
          <a:p>
            <a:pPr lvl="1"/>
            <a:r>
              <a:rPr lang="en-US" dirty="0"/>
              <a:t>|Chi2pid| &lt; 10, 0.3 GeV &lt; p, </a:t>
            </a:r>
            <a:r>
              <a:rPr lang="en-US" dirty="0" err="1"/>
              <a:t>Δt</a:t>
            </a:r>
            <a:r>
              <a:rPr lang="en-US" dirty="0"/>
              <a:t> cuts, </a:t>
            </a:r>
            <a:r>
              <a:rPr lang="en-US" dirty="0" err="1"/>
              <a:t>Vz</a:t>
            </a:r>
            <a:r>
              <a:rPr lang="en-US" dirty="0"/>
              <a:t> cuts</a:t>
            </a:r>
          </a:p>
          <a:p>
            <a:pPr lvl="1"/>
            <a:r>
              <a:rPr lang="en-US" dirty="0"/>
              <a:t>Slice the </a:t>
            </a:r>
            <a:r>
              <a:rPr lang="en-US" dirty="0" err="1"/>
              <a:t>Δt</a:t>
            </a:r>
            <a:r>
              <a:rPr lang="en-US" dirty="0"/>
              <a:t> distribution for p bins. Fit with Gaussian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FB780-053B-588C-97F6-62C4F3D31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1FE19-2EB7-7C42-67A3-ECBADA851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BE8D4-A826-8BC5-5292-21F814B19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10A974-7ACF-1D7D-E688-B2C6429CB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" y="2902461"/>
            <a:ext cx="7772400" cy="32072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71DF0D-98E2-D90A-F943-AA6CF760B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9296" y="116756"/>
            <a:ext cx="4284124" cy="31521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D30165-91C5-4988-A787-9C4E889390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416"/>
          <a:stretch>
            <a:fillRect/>
          </a:stretch>
        </p:blipFill>
        <p:spPr>
          <a:xfrm rot="5400000">
            <a:off x="11489677" y="2909899"/>
            <a:ext cx="185445" cy="486661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7F01016-D4FA-19EA-4CCC-C67AC1F0A28D}"/>
              </a:ext>
            </a:extLst>
          </p:cNvPr>
          <p:cNvSpPr txBox="1">
            <a:spLocks/>
          </p:cNvSpPr>
          <p:nvPr/>
        </p:nvSpPr>
        <p:spPr>
          <a:xfrm>
            <a:off x="7966710" y="3753602"/>
            <a:ext cx="4095750" cy="124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Fit the mean and sigma using second order polynomial function</a:t>
            </a:r>
          </a:p>
        </p:txBody>
      </p:sp>
    </p:spTree>
    <p:extLst>
      <p:ext uri="{BB962C8B-B14F-4D97-AF65-F5344CB8AC3E}">
        <p14:creationId xmlns:p14="http://schemas.microsoft.com/office/powerpoint/2010/main" val="1829551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903AA-1CF3-434C-72C7-8CF7151C2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18096-891E-5286-6E53-5B2B6FF2C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E5CA8-CC34-EF25-6D46-CA9EC37EB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Pions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Forward detector: 2000 &lt;= status &lt; 4000</a:t>
            </a:r>
          </a:p>
          <a:p>
            <a:pPr lvl="1"/>
            <a:r>
              <a:rPr lang="en-US" dirty="0"/>
              <a:t>|Chi2pid| &lt; 10, 0.3 GeV &lt; p, </a:t>
            </a:r>
            <a:r>
              <a:rPr lang="en-US" dirty="0" err="1"/>
              <a:t>Δt</a:t>
            </a:r>
            <a:r>
              <a:rPr lang="en-US" dirty="0"/>
              <a:t> cuts, </a:t>
            </a:r>
            <a:r>
              <a:rPr lang="en-US" dirty="0" err="1"/>
              <a:t>Vz</a:t>
            </a:r>
            <a:r>
              <a:rPr lang="en-US" dirty="0"/>
              <a:t> cuts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8EF5B-80E8-2AF6-A45F-88BBAA6ED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CBDBC-1F9D-B1D3-586C-5D6E08D11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2635A-8221-D293-4A76-BF454ED17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1E62EF-0F7F-9F45-8971-ED56047C7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9296" y="116756"/>
            <a:ext cx="4284124" cy="31521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C4F200-66FD-9BF1-E92F-83A23E1C23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416"/>
          <a:stretch>
            <a:fillRect/>
          </a:stretch>
        </p:blipFill>
        <p:spPr>
          <a:xfrm rot="5400000">
            <a:off x="11489677" y="2909899"/>
            <a:ext cx="185445" cy="4866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7171B0-A333-4D9F-2613-D07861AEDE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" y="2819401"/>
            <a:ext cx="8247480" cy="339050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4E77D44-04B4-C820-B6F3-5901DBBD8111}"/>
              </a:ext>
            </a:extLst>
          </p:cNvPr>
          <p:cNvSpPr txBox="1">
            <a:spLocks/>
          </p:cNvSpPr>
          <p:nvPr/>
        </p:nvSpPr>
        <p:spPr>
          <a:xfrm>
            <a:off x="8389620" y="3753602"/>
            <a:ext cx="3672840" cy="124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Fit the mean and sigma using second order polynomial function</a:t>
            </a:r>
          </a:p>
        </p:txBody>
      </p:sp>
    </p:spTree>
    <p:extLst>
      <p:ext uri="{BB962C8B-B14F-4D97-AF65-F5344CB8AC3E}">
        <p14:creationId xmlns:p14="http://schemas.microsoft.com/office/powerpoint/2010/main" val="1596362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68C7F-AF5F-6667-133F-2C5B73279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5123E-A974-9777-3E11-9BA8B3773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C52F9-5002-49BA-F0A8-4978B0F4B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Pions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Forward detector: 2000 &lt;= status &lt; 4000</a:t>
            </a:r>
          </a:p>
          <a:p>
            <a:pPr lvl="1"/>
            <a:r>
              <a:rPr lang="en-US" dirty="0"/>
              <a:t>|Chi2pid| &lt; 10, 0.3 &lt; p, </a:t>
            </a:r>
            <a:r>
              <a:rPr lang="en-US" dirty="0" err="1"/>
              <a:t>Δt</a:t>
            </a:r>
            <a:r>
              <a:rPr lang="en-US" dirty="0"/>
              <a:t> cuts: </a:t>
            </a:r>
            <a:r>
              <a:rPr lang="en-US" dirty="0" err="1"/>
              <a:t>μ</a:t>
            </a:r>
            <a:r>
              <a:rPr lang="en-US" dirty="0"/>
              <a:t> ± 3σ, </a:t>
            </a:r>
            <a:r>
              <a:rPr lang="en-US" dirty="0" err="1"/>
              <a:t>Vz</a:t>
            </a:r>
            <a:r>
              <a:rPr lang="en-US" dirty="0"/>
              <a:t> cuts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782B3-AE32-B530-1F1F-8B1DCE133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1F9E2-4E84-F6D6-6008-45258DBBB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92046-A514-FE34-E4D9-48EF78805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EDE013-A9B7-5D3F-C5F7-1E0F9269E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" y="2468880"/>
            <a:ext cx="10972800" cy="370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252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BA8E5-C037-C0A7-2DAB-E5371CA02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3E777-89A9-842B-14AF-B95756832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86716-C25D-04B7-B364-CC6FC3EEC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also try for sigma with: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5D484-CE61-1E12-13EC-747FC46E1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B503E-4111-CFDB-A90C-0814ED547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523B0-6554-F21C-E32A-E5538508B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53E78AD-EC23-4570-8424-0848AE8EF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100" y="877570"/>
            <a:ext cx="4114800" cy="11557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8C3803C-E751-8A3B-BF4A-664E2442D5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673"/>
          <a:stretch>
            <a:fillRect/>
          </a:stretch>
        </p:blipFill>
        <p:spPr>
          <a:xfrm>
            <a:off x="254000" y="2186940"/>
            <a:ext cx="4874260" cy="39849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6C2B52E-CB53-F140-83A7-7558FC87D5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8" r="49575"/>
          <a:stretch>
            <a:fillRect/>
          </a:stretch>
        </p:blipFill>
        <p:spPr>
          <a:xfrm>
            <a:off x="5890260" y="2186939"/>
            <a:ext cx="5923280" cy="3986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046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38DF4-2C67-CF12-5270-3C7EFBED4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0AFF0-429D-BA06-1679-3E27DA432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E2D46-0D99-0ECE-CA52-4D3D6A4E1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BC4F9-EA6D-E022-F88C-89741E8F8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36FA7-9206-695F-FA50-81CB85D4F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5B747D-4E8F-917A-361C-DF63E77BC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539" y="1602557"/>
            <a:ext cx="5527887" cy="437244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816CA6B-AA5E-C337-2A18-DC44287D5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5608320" cy="4860000"/>
          </a:xfrm>
        </p:spPr>
        <p:txBody>
          <a:bodyPr/>
          <a:lstStyle/>
          <a:p>
            <a:r>
              <a:rPr lang="en-US" dirty="0" err="1"/>
              <a:t>Pions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Forward detector: 2000 &lt;= status &lt; 4000</a:t>
            </a:r>
          </a:p>
          <a:p>
            <a:pPr lvl="1"/>
            <a:r>
              <a:rPr lang="en-US" dirty="0"/>
              <a:t>|Chi2pid| &lt; 10, 0.3 &lt; p, </a:t>
            </a:r>
            <a:r>
              <a:rPr lang="en-US" dirty="0" err="1"/>
              <a:t>Δt</a:t>
            </a:r>
            <a:r>
              <a:rPr lang="en-US" dirty="0"/>
              <a:t> cuts, </a:t>
            </a:r>
            <a:r>
              <a:rPr lang="en-US" dirty="0" err="1"/>
              <a:t>Vz</a:t>
            </a:r>
            <a:r>
              <a:rPr lang="en-US" dirty="0"/>
              <a:t> cuts</a:t>
            </a:r>
          </a:p>
          <a:p>
            <a:endParaRPr lang="en-US" dirty="0"/>
          </a:p>
          <a:p>
            <a:r>
              <a:rPr lang="en-US" dirty="0" err="1"/>
              <a:t>Vz</a:t>
            </a:r>
            <a:r>
              <a:rPr lang="en-US" dirty="0"/>
              <a:t> cuts: </a:t>
            </a:r>
          </a:p>
          <a:p>
            <a:pPr lvl="1"/>
            <a:r>
              <a:rPr lang="en-US" dirty="0"/>
              <a:t>Fit the </a:t>
            </a:r>
            <a:r>
              <a:rPr lang="en-US" dirty="0" err="1"/>
              <a:t>Vz</a:t>
            </a:r>
            <a:r>
              <a:rPr lang="en-US" dirty="0"/>
              <a:t> distribution with two double sided crystal ball functions for </a:t>
            </a:r>
            <a:r>
              <a:rPr lang="en-US" dirty="0" err="1"/>
              <a:t>CxC</a:t>
            </a:r>
            <a:r>
              <a:rPr lang="en-US" dirty="0"/>
              <a:t>, Single DSCB for Cu and Sn. </a:t>
            </a:r>
          </a:p>
        </p:txBody>
      </p:sp>
    </p:spTree>
    <p:extLst>
      <p:ext uri="{BB962C8B-B14F-4D97-AF65-F5344CB8AC3E}">
        <p14:creationId xmlns:p14="http://schemas.microsoft.com/office/powerpoint/2010/main" val="1825904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9DF39-0AE9-446E-9515-BC0ED1E2C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2876-E105-A9E2-5F60-6F314E905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6B1A8-CBBC-85F6-0C9C-09E87AFAA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635E6-95DA-D06A-D1A7-13AD34083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A502C-26BB-9C8E-7240-CEAD84A2C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9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5225AC8-BA1B-F208-C6F5-1B5CAE8A6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5608320" cy="4860000"/>
          </a:xfrm>
        </p:spPr>
        <p:txBody>
          <a:bodyPr/>
          <a:lstStyle/>
          <a:p>
            <a:r>
              <a:rPr lang="en-US" dirty="0" err="1"/>
              <a:t>Pions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Forward detector: 2000 &lt;= status &lt; 4000</a:t>
            </a:r>
          </a:p>
          <a:p>
            <a:pPr lvl="1"/>
            <a:r>
              <a:rPr lang="en-US" dirty="0"/>
              <a:t>|Chi2pid| &lt; 10, 0.3 &lt; p, </a:t>
            </a:r>
            <a:r>
              <a:rPr lang="en-US" dirty="0" err="1"/>
              <a:t>Δt</a:t>
            </a:r>
            <a:r>
              <a:rPr lang="en-US" dirty="0"/>
              <a:t> cuts, </a:t>
            </a:r>
            <a:r>
              <a:rPr lang="en-US" dirty="0" err="1"/>
              <a:t>Vz</a:t>
            </a:r>
            <a:r>
              <a:rPr lang="en-US" dirty="0"/>
              <a:t> cuts</a:t>
            </a:r>
          </a:p>
          <a:p>
            <a:endParaRPr lang="en-US" dirty="0"/>
          </a:p>
          <a:p>
            <a:r>
              <a:rPr lang="en-US" dirty="0" err="1"/>
              <a:t>Vz</a:t>
            </a:r>
            <a:r>
              <a:rPr lang="en-US" dirty="0"/>
              <a:t> cuts: </a:t>
            </a:r>
          </a:p>
          <a:p>
            <a:pPr lvl="1"/>
            <a:r>
              <a:rPr lang="en-US" dirty="0"/>
              <a:t>Fit the </a:t>
            </a:r>
            <a:r>
              <a:rPr lang="en-US" dirty="0" err="1"/>
              <a:t>Vz</a:t>
            </a:r>
            <a:r>
              <a:rPr lang="en-US" dirty="0"/>
              <a:t> distribution with two double sided crystal ball functions for </a:t>
            </a:r>
            <a:r>
              <a:rPr lang="en-US" dirty="0" err="1"/>
              <a:t>CxC</a:t>
            </a:r>
            <a:r>
              <a:rPr lang="en-US" dirty="0"/>
              <a:t>, Single DSCB for Cu and Sn.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13B58B-6403-2084-9043-53C9990DF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7474" y="1003009"/>
            <a:ext cx="6037832" cy="476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093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6E8F9-AC67-0DDF-A3D6-2E737F5B1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9A538-ED3A-22CC-953D-CDC3270F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C2907-DDED-AC1D-BCAB-86871877A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F833B-6953-4757-12BF-0CF98F201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491A7-8000-817B-6F1C-5617032C5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10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C7EC030-12D1-CF4D-AFAA-0A435D15D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5608320" cy="4860000"/>
          </a:xfrm>
        </p:spPr>
        <p:txBody>
          <a:bodyPr/>
          <a:lstStyle/>
          <a:p>
            <a:r>
              <a:rPr lang="en-US" dirty="0" err="1"/>
              <a:t>Pions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Forward detector: 2000 &lt;= status &lt; 4000</a:t>
            </a:r>
          </a:p>
          <a:p>
            <a:pPr lvl="1"/>
            <a:r>
              <a:rPr lang="en-US" dirty="0"/>
              <a:t>|Chi2pid| &lt; 10, 0.3 &lt; p, </a:t>
            </a:r>
            <a:r>
              <a:rPr lang="en-US" dirty="0" err="1"/>
              <a:t>Δt</a:t>
            </a:r>
            <a:r>
              <a:rPr lang="en-US" dirty="0"/>
              <a:t> cuts, </a:t>
            </a:r>
            <a:r>
              <a:rPr lang="en-US" dirty="0" err="1"/>
              <a:t>Vz</a:t>
            </a:r>
            <a:r>
              <a:rPr lang="en-US" dirty="0"/>
              <a:t> cuts</a:t>
            </a:r>
          </a:p>
          <a:p>
            <a:endParaRPr lang="en-US" dirty="0"/>
          </a:p>
          <a:p>
            <a:r>
              <a:rPr lang="en-US" dirty="0" err="1"/>
              <a:t>Vz</a:t>
            </a:r>
            <a:r>
              <a:rPr lang="en-US" dirty="0"/>
              <a:t> cuts: </a:t>
            </a:r>
          </a:p>
          <a:p>
            <a:pPr lvl="1"/>
            <a:r>
              <a:rPr lang="en-US" dirty="0"/>
              <a:t>Fit the </a:t>
            </a:r>
            <a:r>
              <a:rPr lang="en-US" dirty="0" err="1"/>
              <a:t>Vz</a:t>
            </a:r>
            <a:r>
              <a:rPr lang="en-US" dirty="0"/>
              <a:t> distribution with two double sided crystal ball functions for </a:t>
            </a:r>
            <a:r>
              <a:rPr lang="en-US" dirty="0" err="1"/>
              <a:t>CxC</a:t>
            </a:r>
            <a:r>
              <a:rPr lang="en-US" dirty="0"/>
              <a:t>, Single DSCB for Cu and Sn.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B44CD3-2CE2-761B-DCE7-64F6BD1BD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440" y="1003009"/>
            <a:ext cx="6056260" cy="4806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416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1DF39-12A1-EA79-1E3B-7BEE4A6B4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A194B-05FC-A04F-C0D4-D624BB57E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7F4E2-F49E-596C-F428-34346A038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94067-EC8F-040D-90AA-2469F7D69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F14EA-6FF2-44EC-15F1-B90AF464A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11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2F2A106-4C57-BE18-CCF6-51C077CFC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11269980" cy="4860000"/>
          </a:xfrm>
        </p:spPr>
        <p:txBody>
          <a:bodyPr/>
          <a:lstStyle/>
          <a:p>
            <a:r>
              <a:rPr lang="en-US" dirty="0" err="1"/>
              <a:t>Vz</a:t>
            </a:r>
            <a:r>
              <a:rPr lang="en-US" dirty="0"/>
              <a:t> cuts: </a:t>
            </a:r>
          </a:p>
          <a:p>
            <a:pPr lvl="1"/>
            <a:r>
              <a:rPr lang="en-US" dirty="0"/>
              <a:t>Fit the </a:t>
            </a:r>
            <a:r>
              <a:rPr lang="en-US" dirty="0" err="1"/>
              <a:t>Vz</a:t>
            </a:r>
            <a:r>
              <a:rPr lang="en-US" dirty="0"/>
              <a:t> distribution with two double sided crystal ball functions for </a:t>
            </a:r>
            <a:r>
              <a:rPr lang="en-US" dirty="0" err="1"/>
              <a:t>CxC</a:t>
            </a:r>
            <a:r>
              <a:rPr lang="en-US" dirty="0"/>
              <a:t>, Single DSCB for Cu and Sn.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8C3AE7-4E48-76EF-6CE4-0E99C8CA8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12" y="2409530"/>
            <a:ext cx="4193918" cy="35976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5390D4-9CBA-D392-0728-E90D3496E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422" y="2409529"/>
            <a:ext cx="4694893" cy="359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461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5FF4C-B083-A783-E6B4-A150B0081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1A5E2-6435-0644-94B8-D2D308D31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EF9A6-E9E5-008F-048B-C0CBEDB06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F1B30-3E58-DB9A-AFF9-7B85F9DA0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EC575-5F14-0741-53EC-AA62D0E0F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5B8725-3C76-86CD-BFBE-D0DB67D9B8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97"/>
          <a:stretch>
            <a:fillRect/>
          </a:stretch>
        </p:blipFill>
        <p:spPr>
          <a:xfrm>
            <a:off x="5524500" y="940688"/>
            <a:ext cx="6248400" cy="5101972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D36B24A-2516-F408-40BF-0A69ECD31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5722620" cy="4860000"/>
          </a:xfrm>
        </p:spPr>
        <p:txBody>
          <a:bodyPr/>
          <a:lstStyle/>
          <a:p>
            <a:r>
              <a:rPr lang="en-US" dirty="0"/>
              <a:t>Pion β:</a:t>
            </a:r>
          </a:p>
          <a:p>
            <a:endParaRPr lang="en-US" dirty="0"/>
          </a:p>
          <a:p>
            <a:r>
              <a:rPr lang="en-US" dirty="0"/>
              <a:t>For a 0.3 GeV/c pion: β=0.909</a:t>
            </a:r>
          </a:p>
          <a:p>
            <a:r>
              <a:rPr lang="en-US" dirty="0"/>
              <a:t>For a 1 GeV/c pion: β=0.9907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10CF56-BB70-26F1-6734-61E20E11D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100" y="1104899"/>
            <a:ext cx="2176780" cy="92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0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C855F-8179-9A42-813B-5C9E1C7F4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86500-5886-BAED-C7E1-E05F0ED67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5EBF0-78FE-FE7E-1321-17D1CC63F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ρ</a:t>
            </a:r>
            <a:r>
              <a:rPr lang="en-US" baseline="30000" dirty="0"/>
              <a:t>0 </a:t>
            </a:r>
            <a:r>
              <a:rPr lang="en-US" dirty="0"/>
              <a:t>reconstruction: </a:t>
            </a:r>
          </a:p>
          <a:p>
            <a:pPr lvl="1"/>
            <a:r>
              <a:rPr lang="en-US" dirty="0"/>
              <a:t>Event with a good electron, at least on good π</a:t>
            </a:r>
            <a:r>
              <a:rPr lang="en-US" baseline="30000" dirty="0"/>
              <a:t>-</a:t>
            </a:r>
            <a:r>
              <a:rPr lang="en-US" dirty="0"/>
              <a:t> and π</a:t>
            </a:r>
            <a:r>
              <a:rPr lang="en-US" baseline="30000" dirty="0"/>
              <a:t>+</a:t>
            </a:r>
          </a:p>
          <a:p>
            <a:pPr lvl="1"/>
            <a:r>
              <a:rPr lang="en-US" dirty="0" err="1"/>
              <a:t>ΔVz</a:t>
            </a:r>
            <a:r>
              <a:rPr lang="en-US" dirty="0"/>
              <a:t> cut: to have the electron and pion from the same target </a:t>
            </a:r>
          </a:p>
          <a:p>
            <a:pPr lvl="1"/>
            <a:r>
              <a:rPr lang="en-US" dirty="0" err="1"/>
              <a:t>z</a:t>
            </a:r>
            <a:r>
              <a:rPr lang="en-US" baseline="-25000" dirty="0" err="1"/>
              <a:t>h</a:t>
            </a:r>
            <a:r>
              <a:rPr lang="en-US" dirty="0"/>
              <a:t> &gt; 0.9, l</a:t>
            </a:r>
            <a:r>
              <a:rPr lang="en-US" baseline="-25000" dirty="0"/>
              <a:t>c</a:t>
            </a:r>
            <a:r>
              <a:rPr lang="en-US" dirty="0"/>
              <a:t> &lt; 1 </a:t>
            </a:r>
            <a:r>
              <a:rPr lang="en-US" dirty="0" err="1"/>
              <a:t>fm</a:t>
            </a:r>
            <a:r>
              <a:rPr lang="en-US" dirty="0"/>
              <a:t> and 0.1 &lt; -t &lt; 0.5</a:t>
            </a:r>
          </a:p>
          <a:p>
            <a:pPr lvl="1"/>
            <a:r>
              <a:rPr lang="en-US" dirty="0"/>
              <a:t>Generate all ρ</a:t>
            </a:r>
            <a:r>
              <a:rPr lang="en-US" baseline="30000" dirty="0"/>
              <a:t>0 </a:t>
            </a:r>
            <a:r>
              <a:rPr lang="en-US" dirty="0"/>
              <a:t>candidates:  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E4297-9157-4CC8-0757-1317EAE45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2E533-1F59-B813-1856-A2D5F52F7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0EA69-CEF9-3426-16EA-160113C9D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279E47-32FE-6833-AFED-2C3DBFF5E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592" y="3289531"/>
            <a:ext cx="69596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659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D10F1-4EBA-4846-3935-DF5A2F600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7F556-ADAE-6EBC-F5E1-2C2E05635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61D22-534A-7A6D-05E0-73D70D2BC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10972800" cy="548640"/>
          </a:xfrm>
        </p:spPr>
        <p:txBody>
          <a:bodyPr/>
          <a:lstStyle/>
          <a:p>
            <a:r>
              <a:rPr lang="en-US" dirty="0" err="1"/>
              <a:t>ΔVz</a:t>
            </a:r>
            <a:r>
              <a:rPr lang="en-US" dirty="0"/>
              <a:t> is fitted with a Gaussian, cut is </a:t>
            </a:r>
            <a:r>
              <a:rPr lang="en-US" dirty="0" err="1"/>
              <a:t>μ</a:t>
            </a:r>
            <a:r>
              <a:rPr lang="en-US" dirty="0"/>
              <a:t> ± 3σ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7D319-CADD-0899-057A-D2D7AD270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98332-F22E-7840-34A2-FFBD120DB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B591B-3B87-01BD-2543-5BEF6BB21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FEBA54-0CE5-8B01-D14D-0A40FB3E8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670" y="1798320"/>
            <a:ext cx="9852660" cy="4216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576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DAB39-476B-F605-230B-ADD4F7A28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369E5-BCA2-E5D2-9AD2-BD24E8130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B6129-809D-C918-CB6F-FF5801684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3637280" cy="4267200"/>
          </a:xfrm>
        </p:spPr>
        <p:txBody>
          <a:bodyPr/>
          <a:lstStyle/>
          <a:p>
            <a:r>
              <a:rPr lang="en-US" dirty="0" err="1"/>
              <a:t>ΔVz</a:t>
            </a:r>
            <a:r>
              <a:rPr lang="en-US" dirty="0"/>
              <a:t> is fitted with a Gaussian, cut is </a:t>
            </a:r>
            <a:r>
              <a:rPr lang="en-US" dirty="0" err="1"/>
              <a:t>μ</a:t>
            </a:r>
            <a:r>
              <a:rPr lang="en-US" dirty="0"/>
              <a:t> ± 3σ, target comparison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7CE31-0386-2161-6752-6FCAAC7C0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16DD6-D0E5-53CF-73FC-110F2D159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00DB0-79C0-A4B3-C53D-D9DE9E46C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2A51B2-D735-D111-C607-2A5868F3F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6880" y="318769"/>
            <a:ext cx="7772400" cy="27782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83F2EB-35D1-0ADE-721E-FBFC8D028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1480" y="3429000"/>
            <a:ext cx="7772400" cy="277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172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04E1C-45B6-D527-9F0B-97DE77A04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1AE6F-A72D-52F8-AF0A-DCC96D9A3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26818-3D7D-B8C9-43CA-2DDF46EA3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Invariant mass of the two </a:t>
            </a:r>
            <a:r>
              <a:rPr lang="en-US" dirty="0" err="1"/>
              <a:t>pions</a:t>
            </a:r>
            <a:r>
              <a:rPr lang="en-US" dirty="0"/>
              <a:t> for LD2, fit range 0.3–1.2: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F7A1C-42C4-359C-3271-C715C1124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A0A97-4F54-DEFE-C163-10A3A50F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52D96-1256-394B-EB30-2997AD248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DA8EEF-C3B5-EF22-30BA-E62BA6685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846" y="1733303"/>
            <a:ext cx="8902307" cy="437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955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3E37B-6A1C-4781-D69D-5DAE4456E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B5D9-7B15-B07A-E495-CB9A36475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B9B8A-52B2-F27B-92A7-CF57FD703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Invariant mass of the two </a:t>
            </a:r>
            <a:r>
              <a:rPr lang="en-US" dirty="0" err="1"/>
              <a:t>pions</a:t>
            </a:r>
            <a:r>
              <a:rPr lang="en-US" dirty="0"/>
              <a:t> for LD2, fit range 0.3–1.4: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F31C6-4A4D-45C4-1329-9EB359849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CB6BF-4D89-A7FD-A7AF-C8D222FC9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3DB0B-233D-5567-DF91-45CE9C72F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6B134A-4E44-1AEB-C470-FBE4D73FF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0" y="1614924"/>
            <a:ext cx="9144000" cy="4494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9793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47918-7D02-B008-D3A6-394A60912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A548F-5EC7-FF99-E9BE-91B2703B9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10075-AC23-71A6-D3C6-849159D92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10972800" cy="509354"/>
          </a:xfrm>
        </p:spPr>
        <p:txBody>
          <a:bodyPr/>
          <a:lstStyle/>
          <a:p>
            <a:r>
              <a:rPr lang="en-US" dirty="0"/>
              <a:t>Invariant mass of the two </a:t>
            </a:r>
            <a:r>
              <a:rPr lang="en-US" dirty="0" err="1"/>
              <a:t>pions</a:t>
            </a:r>
            <a:r>
              <a:rPr lang="en-US" dirty="0"/>
              <a:t> for LD2: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40E8E-77E7-5768-F0D6-17E74F5D2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DD811-0A79-F723-54A4-35FF0888B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32A4D-1DA9-B500-8161-4DA5D9ADB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710F08-F526-3475-1377-C6647EA0DE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6750" b="47095"/>
          <a:stretch>
            <a:fillRect/>
          </a:stretch>
        </p:blipFill>
        <p:spPr>
          <a:xfrm>
            <a:off x="6096000" y="1759034"/>
            <a:ext cx="5562600" cy="43506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864F30-07DC-7363-964C-9C4E5951ED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6520" b="47150"/>
          <a:stretch>
            <a:fillRect/>
          </a:stretch>
        </p:blipFill>
        <p:spPr>
          <a:xfrm>
            <a:off x="275052" y="1759034"/>
            <a:ext cx="5606373" cy="4350646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0DBB18-27B1-7282-58B0-B70E806F5810}"/>
              </a:ext>
            </a:extLst>
          </p:cNvPr>
          <p:cNvSpPr txBox="1">
            <a:spLocks/>
          </p:cNvSpPr>
          <p:nvPr/>
        </p:nvSpPr>
        <p:spPr>
          <a:xfrm>
            <a:off x="6636413" y="3174323"/>
            <a:ext cx="2431387" cy="5093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fit range 0.3–1.4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EC25146-CFCF-8251-60D8-DAC3C94B7938}"/>
              </a:ext>
            </a:extLst>
          </p:cNvPr>
          <p:cNvSpPr txBox="1">
            <a:spLocks/>
          </p:cNvSpPr>
          <p:nvPr/>
        </p:nvSpPr>
        <p:spPr>
          <a:xfrm>
            <a:off x="870281" y="3293661"/>
            <a:ext cx="2431387" cy="5093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fit range 0.3–1.2</a:t>
            </a:r>
          </a:p>
        </p:txBody>
      </p:sp>
    </p:spTree>
    <p:extLst>
      <p:ext uri="{BB962C8B-B14F-4D97-AF65-F5344CB8AC3E}">
        <p14:creationId xmlns:p14="http://schemas.microsoft.com/office/powerpoint/2010/main" val="3739862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6EB5B-A341-04A3-EE8E-B11368841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489E5-9D9A-2138-BE84-8AD691678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BB970-16E0-C6E0-44D8-1C18582E1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Extract nuclear transparency:</a:t>
            </a:r>
          </a:p>
          <a:p>
            <a:pPr lvl="1" fontAlgn="base"/>
            <a:endParaRPr lang="en-US" dirty="0"/>
          </a:p>
          <a:p>
            <a:pPr lvl="1" fontAlgn="base"/>
            <a:endParaRPr lang="en-US" dirty="0"/>
          </a:p>
          <a:p>
            <a:pPr lvl="1" fontAlgn="base"/>
            <a:r>
              <a:rPr lang="en-US" dirty="0"/>
              <a:t>r</a:t>
            </a:r>
            <a:r>
              <a:rPr lang="en-US" baseline="-25000" dirty="0"/>
              <a:t>LD2</a:t>
            </a:r>
            <a:r>
              <a:rPr lang="en-US" dirty="0"/>
              <a:t>= 5 cm: LD2 thickness</a:t>
            </a:r>
          </a:p>
          <a:p>
            <a:pPr lvl="1" fontAlgn="base"/>
            <a:r>
              <a:rPr lang="en-US" dirty="0" err="1"/>
              <a:t>r</a:t>
            </a:r>
            <a:r>
              <a:rPr lang="en-US" baseline="-25000" dirty="0" err="1"/>
              <a:t>CxC</a:t>
            </a:r>
            <a:r>
              <a:rPr lang="en-US" dirty="0"/>
              <a:t> = 0.4 cm: </a:t>
            </a:r>
            <a:r>
              <a:rPr lang="en-US" dirty="0" err="1"/>
              <a:t>CxC</a:t>
            </a:r>
            <a:r>
              <a:rPr lang="en-US" dirty="0"/>
              <a:t> thickness</a:t>
            </a:r>
          </a:p>
          <a:p>
            <a:pPr lvl="1" fontAlgn="base"/>
            <a:r>
              <a:rPr lang="en-US" dirty="0" err="1"/>
              <a:t>r</a:t>
            </a:r>
            <a:r>
              <a:rPr lang="en-US" baseline="-25000" dirty="0" err="1"/>
              <a:t>Cu</a:t>
            </a:r>
            <a:r>
              <a:rPr lang="en-US" dirty="0"/>
              <a:t>= 93 </a:t>
            </a:r>
            <a:r>
              <a:rPr lang="el-GR" dirty="0"/>
              <a:t>μ</a:t>
            </a:r>
            <a:r>
              <a:rPr lang="en-US" dirty="0"/>
              <a:t>m: Copper thickness</a:t>
            </a:r>
          </a:p>
          <a:p>
            <a:pPr lvl="1" fontAlgn="base"/>
            <a:r>
              <a:rPr lang="en-US" dirty="0" err="1"/>
              <a:t>r</a:t>
            </a:r>
            <a:r>
              <a:rPr lang="en-US" baseline="-25000" dirty="0" err="1"/>
              <a:t>Sn</a:t>
            </a:r>
            <a:r>
              <a:rPr lang="en-US" dirty="0"/>
              <a:t> = 171 </a:t>
            </a:r>
            <a:r>
              <a:rPr lang="el-GR" dirty="0"/>
              <a:t>μ</a:t>
            </a:r>
            <a:r>
              <a:rPr lang="en-US" dirty="0"/>
              <a:t>m: Tin thickness</a:t>
            </a:r>
          </a:p>
          <a:p>
            <a:pPr lvl="1" fontAlgn="base"/>
            <a:r>
              <a:rPr lang="el-GR" dirty="0"/>
              <a:t>ρ</a:t>
            </a:r>
            <a:r>
              <a:rPr lang="en-US" baseline="-25000" dirty="0"/>
              <a:t>LD2</a:t>
            </a:r>
            <a:r>
              <a:rPr lang="en-US" dirty="0"/>
              <a:t>= 0.164 g/cm</a:t>
            </a:r>
            <a:r>
              <a:rPr lang="en-US" baseline="30000" dirty="0"/>
              <a:t>3</a:t>
            </a:r>
            <a:r>
              <a:rPr lang="en-US" dirty="0"/>
              <a:t>: LD2 density </a:t>
            </a:r>
          </a:p>
          <a:p>
            <a:pPr lvl="1" fontAlgn="base"/>
            <a:r>
              <a:rPr lang="el-GR" dirty="0"/>
              <a:t>ρ</a:t>
            </a:r>
            <a:r>
              <a:rPr lang="en-US" baseline="-25000" dirty="0"/>
              <a:t>C</a:t>
            </a:r>
            <a:r>
              <a:rPr lang="en-US" dirty="0"/>
              <a:t>= 2.2g/cm</a:t>
            </a:r>
            <a:r>
              <a:rPr lang="en-US" baseline="30000" dirty="0"/>
              <a:t>3 </a:t>
            </a:r>
            <a:r>
              <a:rPr lang="en-US" dirty="0"/>
              <a:t>: Carbon density</a:t>
            </a:r>
          </a:p>
          <a:p>
            <a:pPr lvl="1" fontAlgn="base"/>
            <a:r>
              <a:rPr lang="el-GR" dirty="0"/>
              <a:t>ρ</a:t>
            </a:r>
            <a:r>
              <a:rPr lang="en-US" baseline="-25000" dirty="0"/>
              <a:t>Cu</a:t>
            </a:r>
            <a:r>
              <a:rPr lang="en-US" dirty="0"/>
              <a:t>= 8.96 g/cm</a:t>
            </a:r>
            <a:r>
              <a:rPr lang="en-US" baseline="30000" dirty="0"/>
              <a:t>3</a:t>
            </a:r>
            <a:r>
              <a:rPr lang="en-US" dirty="0"/>
              <a:t>: Copper density </a:t>
            </a:r>
          </a:p>
          <a:p>
            <a:pPr lvl="1"/>
            <a:r>
              <a:rPr lang="el-GR" dirty="0"/>
              <a:t>ρ</a:t>
            </a:r>
            <a:r>
              <a:rPr lang="en-US" baseline="-25000" dirty="0"/>
              <a:t>Sn</a:t>
            </a:r>
            <a:r>
              <a:rPr lang="en-US" dirty="0"/>
              <a:t>= 7.31g/cm</a:t>
            </a:r>
            <a:r>
              <a:rPr lang="en-US" baseline="30000" dirty="0"/>
              <a:t>3 </a:t>
            </a:r>
            <a:r>
              <a:rPr lang="en-US" dirty="0"/>
              <a:t>: Tin density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4E70F-6D10-8FEA-4346-C79A58F22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A3F2D-5E81-B649-56A5-A7A64F503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14E4C-9674-2FE9-FAA6-DFB3012D0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19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4D3CE4-D438-1AF9-CADD-B7A5A55BE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840" y="1631682"/>
            <a:ext cx="3238500" cy="8238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54D666-9B7C-23CA-047B-FD5F7D364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798" y="1003008"/>
            <a:ext cx="6962350" cy="478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8951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37322-1003-801B-54A8-71391D4F8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E1DD1-BC6A-FBAB-684A-C033C5B69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E13DF-56F6-6004-4CEB-3BDDFCA5D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3EE0A-598C-D3E5-855A-243B68A6A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EA1EA-2502-F1FE-5906-80996CF88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0A92A1-4132-A954-9CC3-C6AD56EAB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870" y="807720"/>
            <a:ext cx="7818820" cy="538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2114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44B09-3A74-9862-36EA-2B96C3154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CE258-7559-43CC-2E52-65E288AA4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4CF23-756F-5A6A-F9C7-DFC0A45A2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Next steps (in not particular order):</a:t>
            </a:r>
          </a:p>
          <a:p>
            <a:pPr lvl="1"/>
            <a:r>
              <a:rPr lang="en-US" dirty="0" err="1"/>
              <a:t>CuSn</a:t>
            </a:r>
            <a:r>
              <a:rPr lang="en-US" dirty="0"/>
              <a:t> contamination </a:t>
            </a:r>
          </a:p>
          <a:p>
            <a:pPr lvl="1"/>
            <a:r>
              <a:rPr lang="en-US" dirty="0"/>
              <a:t>Invariant Mass Background Subtraction using simulation</a:t>
            </a:r>
          </a:p>
          <a:p>
            <a:pPr lvl="1"/>
            <a:r>
              <a:rPr lang="en-US" dirty="0"/>
              <a:t>Acceptance and Efficiency Correction</a:t>
            </a:r>
          </a:p>
          <a:p>
            <a:pPr lvl="1"/>
            <a:r>
              <a:rPr lang="en-US" dirty="0"/>
              <a:t>Radiative Corrections</a:t>
            </a:r>
          </a:p>
          <a:p>
            <a:pPr lvl="1"/>
            <a:r>
              <a:rPr lang="en-US" dirty="0"/>
              <a:t>Target density measurement</a:t>
            </a:r>
          </a:p>
          <a:p>
            <a:pPr lvl="1"/>
            <a:r>
              <a:rPr lang="en-US" dirty="0"/>
              <a:t>Momentum correction for the electron? (like RG-A)</a:t>
            </a:r>
          </a:p>
          <a:p>
            <a:pPr lvl="1"/>
            <a:r>
              <a:rPr lang="en-US" dirty="0"/>
              <a:t>Implement fiducial cuts for </a:t>
            </a:r>
            <a:r>
              <a:rPr lang="en-US" dirty="0" err="1"/>
              <a:t>pions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Systematic uncertainty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94E10-A352-B516-EF68-AF566C314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17AA1-93AD-5C36-3C4C-E1E50C4BF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7EBE2-2DC3-F2C3-7992-AEEFDB0A2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3773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F9466-B968-652A-7C63-2ED705FD9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2FEF1-2FB4-1F17-42B6-6A0AE5E9F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Hadron identification with AI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74352-E9F5-C01E-483E-1596D7904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goal is to have a model that use information only from the REC banks. </a:t>
            </a:r>
          </a:p>
          <a:p>
            <a:r>
              <a:rPr lang="en-US" dirty="0"/>
              <a:t>So, it can be use in the analysis step (on DST files). </a:t>
            </a:r>
          </a:p>
          <a:p>
            <a:endParaRPr lang="en-US" dirty="0"/>
          </a:p>
          <a:p>
            <a:r>
              <a:rPr lang="en-US" dirty="0"/>
              <a:t>Use information from the calorimeters, Cherenkov counters, TOF and higher-level variables (</a:t>
            </a:r>
            <a:r>
              <a:rPr lang="en-US" dirty="0" err="1"/>
              <a:t>px</a:t>
            </a:r>
            <a:r>
              <a:rPr lang="en-US" dirty="0"/>
              <a:t>, </a:t>
            </a:r>
            <a:r>
              <a:rPr lang="en-US" dirty="0" err="1"/>
              <a:t>py</a:t>
            </a:r>
            <a:r>
              <a:rPr lang="en-US" dirty="0"/>
              <a:t>, </a:t>
            </a:r>
            <a:r>
              <a:rPr lang="en-US" dirty="0" err="1"/>
              <a:t>pz</a:t>
            </a:r>
            <a:r>
              <a:rPr lang="en-US" dirty="0"/>
              <a:t>, charge, …)</a:t>
            </a:r>
          </a:p>
          <a:p>
            <a:r>
              <a:rPr lang="en-US" dirty="0"/>
              <a:t>Use all variable found in the DST banks: 96 features.</a:t>
            </a:r>
          </a:p>
          <a:p>
            <a:endParaRPr lang="en-US" dirty="0"/>
          </a:p>
          <a:p>
            <a:r>
              <a:rPr lang="en-US" dirty="0"/>
              <a:t>Try many different architectures: Gradient Boosting Decision Trees:</a:t>
            </a:r>
          </a:p>
          <a:p>
            <a:pPr lvl="1"/>
            <a:r>
              <a:rPr lang="en-US" dirty="0" err="1"/>
              <a:t>XGBoost</a:t>
            </a:r>
            <a:r>
              <a:rPr lang="en-US" dirty="0"/>
              <a:t>, </a:t>
            </a:r>
            <a:r>
              <a:rPr lang="en-US" dirty="0" err="1"/>
              <a:t>LightGBM</a:t>
            </a:r>
            <a:r>
              <a:rPr lang="en-US" dirty="0"/>
              <a:t> and </a:t>
            </a:r>
            <a:r>
              <a:rPr lang="en-US" dirty="0" err="1"/>
              <a:t>CatBoost</a:t>
            </a:r>
            <a:endParaRPr lang="en-US" dirty="0"/>
          </a:p>
          <a:p>
            <a:r>
              <a:rPr lang="en-US" dirty="0"/>
              <a:t>Also, other architecture MLP, MLP + GBDT.</a:t>
            </a:r>
          </a:p>
          <a:p>
            <a:r>
              <a:rPr lang="en-US" dirty="0"/>
              <a:t>The best results are for </a:t>
            </a:r>
            <a:r>
              <a:rPr lang="en-US" dirty="0" err="1"/>
              <a:t>CatBoost</a:t>
            </a:r>
            <a:r>
              <a:rPr lang="en-US" dirty="0"/>
              <a:t> (Categorical Boosting).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25A10-404E-F042-7028-C3967045C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3A41B-4D04-F602-BC33-B3155F905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558A7-8D54-F7C7-021C-500786A86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498027-286E-A5E2-E7DC-2FBE2BAF648E}"/>
              </a:ext>
            </a:extLst>
          </p:cNvPr>
          <p:cNvSpPr txBox="1"/>
          <p:nvPr/>
        </p:nvSpPr>
        <p:spPr>
          <a:xfrm>
            <a:off x="5643562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3836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5FC30-48C2-900C-0279-2410FDD7E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C11F-DEAA-CEEC-4AC4-D6522746D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Hadron identification with AI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5FA2C-D0ED-F9DC-794E-6FEADC2D7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7EBFA-8283-90AF-6805-2A2A20726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EF99E-772F-101C-4971-9AC5E977E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BBBC72-565D-A1C2-341B-D706AF9FFD9A}"/>
              </a:ext>
            </a:extLst>
          </p:cNvPr>
          <p:cNvSpPr txBox="1"/>
          <p:nvPr/>
        </p:nvSpPr>
        <p:spPr>
          <a:xfrm>
            <a:off x="5643562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A8E78F-EF2C-A7BF-C90C-37921AFDF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97" y="1349512"/>
            <a:ext cx="11915363" cy="437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1104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AE8DC-AABF-EEA5-3FB4-A60FD828B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6B70B-5CBD-FF4D-02AF-0FCD65C9C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Hadron identification with AI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75AD2-5686-2072-4B2B-2394DF575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B371C-D212-F68C-D50F-B1036CE1B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3DF15-23A8-26BE-2AAE-4D6556172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FB36BB-9C12-290C-0F27-EA772EB16DDF}"/>
              </a:ext>
            </a:extLst>
          </p:cNvPr>
          <p:cNvSpPr txBox="1"/>
          <p:nvPr/>
        </p:nvSpPr>
        <p:spPr>
          <a:xfrm>
            <a:off x="5643562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7444C3-0C0E-BC6B-0D37-04C169ECB7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691" b="50000"/>
          <a:stretch>
            <a:fillRect/>
          </a:stretch>
        </p:blipFill>
        <p:spPr>
          <a:xfrm>
            <a:off x="103110" y="1236131"/>
            <a:ext cx="11985779" cy="381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4661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58BAE-D3C4-A78E-446D-A0378D387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65545-804C-1853-D602-246E797DB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Hadron identification with AI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96342-5D5B-E0D8-9D48-2400129BD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E127D-C6D7-13C9-3989-EA847B888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6FD64-490B-997E-83A3-434E7AB53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E8529A-C13E-C613-4A23-A443C3E04C45}"/>
              </a:ext>
            </a:extLst>
          </p:cNvPr>
          <p:cNvSpPr txBox="1"/>
          <p:nvPr/>
        </p:nvSpPr>
        <p:spPr>
          <a:xfrm>
            <a:off x="5643562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6EA0C6-7BA7-5192-4821-01FFA8D846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000" b="25103"/>
          <a:stretch>
            <a:fillRect/>
          </a:stretch>
        </p:blipFill>
        <p:spPr>
          <a:xfrm>
            <a:off x="183371" y="1541355"/>
            <a:ext cx="11857647" cy="3707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1284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CB744-C590-896B-AB39-2E35DEE82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651E5-48FF-AE0A-8C3D-4373B8131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Hadron identification with AI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0B057-668A-A61B-4A0C-6528936EE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21E4B-D0FF-E5D5-4D66-E3E4806C5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48F97-6E01-39F7-4732-C4DE2B881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5DD525-5F9A-C48C-A0A1-4A5B89584F0C}"/>
              </a:ext>
            </a:extLst>
          </p:cNvPr>
          <p:cNvSpPr txBox="1"/>
          <p:nvPr/>
        </p:nvSpPr>
        <p:spPr>
          <a:xfrm>
            <a:off x="5643562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06AA5A-4079-06FD-E812-187E360376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4733"/>
          <a:stretch>
            <a:fillRect/>
          </a:stretch>
        </p:blipFill>
        <p:spPr>
          <a:xfrm>
            <a:off x="138141" y="1358015"/>
            <a:ext cx="11915717" cy="3781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4385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C1F3D-E282-D6A2-48D8-D1D58370F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plan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268363-419E-1C4D-8115-9AA3551627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Right now, hadron AI PID is only on simulation. Want to test on real data: </a:t>
                </a:r>
              </a:p>
              <a:p>
                <a:pPr lvl="1"/>
                <a:r>
                  <a:rPr lang="en-US" dirty="0"/>
                  <a:t>Can use RICH to identify true pion and kaon </a:t>
                </a:r>
              </a:p>
              <a:p>
                <a:pPr lvl="1"/>
                <a:r>
                  <a:rPr lang="en-US" dirty="0"/>
                  <a:t>Or can use exclusive reaction: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(missing mass at the neutron mass) (same for kaon)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RG-D: </a:t>
                </a:r>
              </a:p>
              <a:p>
                <a:pPr lvl="1"/>
                <a:r>
                  <a:rPr lang="en-US" dirty="0"/>
                  <a:t>work on the </a:t>
                </a:r>
                <a:r>
                  <a:rPr lang="en-US" dirty="0" err="1"/>
                  <a:t>CuSn</a:t>
                </a:r>
                <a:r>
                  <a:rPr lang="en-US" dirty="0"/>
                  <a:t> contamination using simulation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ALERT: </a:t>
                </a:r>
              </a:p>
              <a:p>
                <a:pPr lvl="1"/>
                <a:r>
                  <a:rPr lang="en-US" dirty="0"/>
                  <a:t>work on the track matching using real data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268363-419E-1C4D-8115-9AA3551627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09" t="-10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FE662-AE39-3FD3-7A2C-D3CC4CE64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24D3D-4F7C-BB4B-30FA-B46B51878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B04A9-B573-573C-52FB-A0D37D601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192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9216</TotalTime>
  <Words>1067</Words>
  <Application>Microsoft Macintosh PowerPoint</Application>
  <PresentationFormat>Widescreen</PresentationFormat>
  <Paragraphs>213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Cambria Math</vt:lpstr>
      <vt:lpstr>Fira Sans Book</vt:lpstr>
      <vt:lpstr>Fira Sans Light</vt:lpstr>
      <vt:lpstr>Office Theme</vt:lpstr>
      <vt:lpstr>Group meeting</vt:lpstr>
      <vt:lpstr>RG-D cooking</vt:lpstr>
      <vt:lpstr>RG-D: Nuclear transparency </vt:lpstr>
      <vt:lpstr>RG-D: Nuclear transparency </vt:lpstr>
      <vt:lpstr>RG-D: Nuclear transparency </vt:lpstr>
      <vt:lpstr>RG-D: Nuclear transparency </vt:lpstr>
      <vt:lpstr>RG-D: Nuclear transparency </vt:lpstr>
      <vt:lpstr>RG-D: Nuclear transparency </vt:lpstr>
      <vt:lpstr>RG-D: Nuclear transparency </vt:lpstr>
      <vt:lpstr>RG-D: Nuclear transparency </vt:lpstr>
      <vt:lpstr>RG-D: Nuclear transparency </vt:lpstr>
      <vt:lpstr>RG-D: Nuclear transparency </vt:lpstr>
      <vt:lpstr>RG-D: Nuclear transparency </vt:lpstr>
      <vt:lpstr>RG-D: Nuclear transparency </vt:lpstr>
      <vt:lpstr>RG-D: Nuclear transparency </vt:lpstr>
      <vt:lpstr>RG-D: Nuclear transparency </vt:lpstr>
      <vt:lpstr>RG-D: Nuclear transparency </vt:lpstr>
      <vt:lpstr>RG-D: Nuclear transparency </vt:lpstr>
      <vt:lpstr>RG-D: Nuclear transparency </vt:lpstr>
      <vt:lpstr>RG-D: Nuclear transparency </vt:lpstr>
      <vt:lpstr>RG-D: Nuclear transparency </vt:lpstr>
      <vt:lpstr>RG-D: Hadron identification with AI </vt:lpstr>
      <vt:lpstr>RG-D: Hadron identification with AI </vt:lpstr>
      <vt:lpstr>RG-D: Hadron identification with AI </vt:lpstr>
      <vt:lpstr>RG-D: Hadron identification with AI </vt:lpstr>
      <vt:lpstr>RG-D: Hadron identification with AI </vt:lpstr>
      <vt:lpstr>Work plan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Panorámica</PresentationFormat>
  <Paragraphs>15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Atomización Ultrasónica. Parámetros y dinámica del fenómeno.</dc:title>
  <dc:creator>Josué D. Meneses Díaz</dc:creator>
  <cp:keywords/>
  <cp:lastModifiedBy>Ouillon, Mathieu</cp:lastModifiedBy>
  <cp:revision>325</cp:revision>
  <dcterms:created xsi:type="dcterms:W3CDTF">2019-12-03T01:04:10Z</dcterms:created>
  <dcterms:modified xsi:type="dcterms:W3CDTF">2026-02-03T20:30:51Z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>..\bib\bibliografia.bib</vt:lpwstr>
  </property>
  <property fmtid="{D5CDD505-2E9C-101B-9397-08002B2CF9AE}" pid="3" name="date">
    <vt:lpwstr>26-11-2019</vt:lpwstr>
  </property>
</Properties>
</file>