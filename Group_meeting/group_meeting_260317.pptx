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256" r:id="rId2"/>
    <p:sldId id="269" r:id="rId3"/>
    <p:sldId id="270" r:id="rId4"/>
    <p:sldId id="271" r:id="rId5"/>
    <p:sldId id="278" r:id="rId6"/>
    <p:sldId id="272" r:id="rId7"/>
    <p:sldId id="273" r:id="rId8"/>
    <p:sldId id="274" r:id="rId9"/>
    <p:sldId id="275" r:id="rId10"/>
    <p:sldId id="276" r:id="rId11"/>
    <p:sldId id="277" r:id="rId12"/>
    <p:sldId id="261" r:id="rId13"/>
    <p:sldId id="266" r:id="rId14"/>
    <p:sldId id="262" r:id="rId15"/>
    <p:sldId id="263" r:id="rId16"/>
    <p:sldId id="264" r:id="rId17"/>
    <p:sldId id="265" r:id="rId18"/>
    <p:sldId id="279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osué Meneses Díaz" initials="JMD" lastIdx="1" clrIdx="0">
    <p:extLst>
      <p:ext uri="{19B8F6BF-5375-455C-9EA6-DF929625EA0E}">
        <p15:presenceInfo xmlns:p15="http://schemas.microsoft.com/office/powerpoint/2012/main" userId="b04c2315aa3d412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643"/>
    <a:srgbClr val="262626"/>
    <a:srgbClr val="00315F"/>
    <a:srgbClr val="FAFAFA"/>
    <a:srgbClr val="23373B"/>
    <a:srgbClr val="FFFFFF"/>
    <a:srgbClr val="304D59"/>
    <a:srgbClr val="243A45"/>
    <a:srgbClr val="98B6C2"/>
    <a:srgbClr val="ADAD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Estilo oscuro 1 - Énfasis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77" autoAdjust="0"/>
    <p:restoredTop sz="94637" autoAdjust="0"/>
  </p:normalViewPr>
  <p:slideViewPr>
    <p:cSldViewPr snapToGrid="0" snapToObjects="1">
      <p:cViewPr varScale="1">
        <p:scale>
          <a:sx n="127" d="100"/>
          <a:sy n="127" d="100"/>
        </p:scale>
        <p:origin x="984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494"/>
    </p:cViewPr>
  </p:sorterViewPr>
  <p:notesViewPr>
    <p:cSldViewPr snapToGrid="0" snapToObjects="1">
      <p:cViewPr varScale="1">
        <p:scale>
          <a:sx n="66" d="100"/>
          <a:sy n="66" d="100"/>
        </p:scale>
        <p:origin x="306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EDF28E-8800-4B7E-93CE-9140A17976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F043AF5-1FB9-40F2-A50C-00F64C47C8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0510DC-4C2A-4F6F-9501-4E7F5F169603}" type="datetimeFigureOut">
              <a:rPr lang="es-CL" smtClean="0"/>
              <a:t>17-03-26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9BC3DD2-F926-44DF-82AE-6BA853059A6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2F9B4BF-E6EE-4D98-BCE0-35D9588A1C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2CA5F-72BF-4704-8861-7B23D0958B13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893191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9D9A3-6AD0-4C7D-A17B-441070370095}" type="datetimeFigureOut">
              <a:rPr lang="es-CL" smtClean="0"/>
              <a:t>17-03-26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5FC93-B29F-41F1-A4D9-E7914667CA34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72687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45FC93-B29F-41F1-A4D9-E7914667CA34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55791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C680E2D-A060-426E-80B4-6B882581BABF}"/>
              </a:ext>
            </a:extLst>
          </p:cNvPr>
          <p:cNvSpPr/>
          <p:nvPr userDrawn="1"/>
        </p:nvSpPr>
        <p:spPr>
          <a:xfrm>
            <a:off x="0" y="-28414"/>
            <a:ext cx="12192000" cy="1321437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7" descr="A blue background with white text and a white logo&#10;&#10;AI-generated content may be incorrect.">
            <a:extLst>
              <a:ext uri="{FF2B5EF4-FFF2-40B4-BE49-F238E27FC236}">
                <a16:creationId xmlns:a16="http://schemas.microsoft.com/office/drawing/2014/main" id="{550513C9-FE37-ABDB-DC73-3268493D8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1" r="28388"/>
          <a:stretch>
            <a:fillRect/>
          </a:stretch>
        </p:blipFill>
        <p:spPr>
          <a:xfrm>
            <a:off x="5422107" y="-30370"/>
            <a:ext cx="6777036" cy="6905800"/>
          </a:xfrm>
          <a:prstGeom prst="rect">
            <a:avLst/>
          </a:prstGeom>
        </p:spPr>
      </p:pic>
      <p:sp>
        <p:nvSpPr>
          <p:cNvPr id="9" name="Trapezoid 8">
            <a:extLst>
              <a:ext uri="{FF2B5EF4-FFF2-40B4-BE49-F238E27FC236}">
                <a16:creationId xmlns:a16="http://schemas.microsoft.com/office/drawing/2014/main" id="{B1728B86-6592-DDFF-0871-A958EF66574A}"/>
              </a:ext>
            </a:extLst>
          </p:cNvPr>
          <p:cNvSpPr/>
          <p:nvPr userDrawn="1"/>
        </p:nvSpPr>
        <p:spPr>
          <a:xfrm rot="10800000">
            <a:off x="3610050" y="-47801"/>
            <a:ext cx="4562400" cy="6905800"/>
          </a:xfrm>
          <a:prstGeom prst="trapezoid">
            <a:avLst/>
          </a:prstGeom>
          <a:solidFill>
            <a:srgbClr val="FAFAFA"/>
          </a:solidFill>
          <a:ln>
            <a:solidFill>
              <a:srgbClr val="FAFA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0046" y="2064502"/>
            <a:ext cx="10363200" cy="974724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304D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0046" y="3819652"/>
            <a:ext cx="8534400" cy="670705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9680"/>
            <a:ext cx="10972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EAA4C7-D0B6-0DE2-E030-4ACD062DD5B1}"/>
              </a:ext>
            </a:extLst>
          </p:cNvPr>
          <p:cNvCxnSpPr/>
          <p:nvPr userDrawn="1"/>
        </p:nvCxnSpPr>
        <p:spPr>
          <a:xfrm>
            <a:off x="159543" y="6238268"/>
            <a:ext cx="11872913" cy="0"/>
          </a:xfrm>
          <a:prstGeom prst="line">
            <a:avLst/>
          </a:prstGeom>
          <a:ln>
            <a:solidFill>
              <a:srgbClr val="00315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8259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249200"/>
            <a:ext cx="5384800" cy="4860000"/>
          </a:xfrm>
        </p:spPr>
        <p:txBody>
          <a:bodyPr>
            <a:normAutofit/>
          </a:bodyPr>
          <a:lstStyle>
            <a:lvl1pPr>
              <a:defRPr sz="2400">
                <a:latin typeface="Fira Sans Light" panose="020B0403050000020004" pitchFamily="34" charset="0"/>
                <a:ea typeface="Fira Sans Light" panose="020B0403050000020004" pitchFamily="34" charset="0"/>
              </a:defRPr>
            </a:lvl1pPr>
            <a:lvl2pPr>
              <a:defRPr sz="2000">
                <a:latin typeface="Fira Sans Light" panose="020B0403050000020004" pitchFamily="34" charset="0"/>
                <a:ea typeface="Fira Sans Light" panose="020B0403050000020004" pitchFamily="34" charset="0"/>
              </a:defRPr>
            </a:lvl2pPr>
            <a:lvl3pPr>
              <a:defRPr sz="1800">
                <a:latin typeface="Fira Sans Light" panose="020B0403050000020004" pitchFamily="34" charset="0"/>
                <a:ea typeface="Fira Sans Light" panose="020B0403050000020004" pitchFamily="34" charset="0"/>
              </a:defRPr>
            </a:lvl3pPr>
            <a:lvl4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4pPr>
            <a:lvl5pPr>
              <a:defRPr sz="1600">
                <a:latin typeface="Fira Sans Light" panose="020B0403050000020004" pitchFamily="34" charset="0"/>
                <a:ea typeface="Fira Sans Light" panose="020B0403050000020004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>
                <a:solidFill>
                  <a:srgbClr val="23373B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974724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inverted colors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56EC933-7FF6-4AA7-971B-A9B1C1A350E7}"/>
              </a:ext>
            </a:extLst>
          </p:cNvPr>
          <p:cNvSpPr/>
          <p:nvPr userDrawn="1"/>
        </p:nvSpPr>
        <p:spPr>
          <a:xfrm>
            <a:off x="0" y="-28413"/>
            <a:ext cx="12192000" cy="1500186"/>
          </a:xfrm>
          <a:prstGeom prst="rect">
            <a:avLst/>
          </a:prstGeom>
          <a:solidFill>
            <a:srgbClr val="23373B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1674778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wo columns with two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919716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596599"/>
            <a:ext cx="5386917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919716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596599"/>
            <a:ext cx="5389033" cy="452956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8049B74-EB33-49E5-A21C-5BC17B1D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lumn and imagen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939802"/>
            <a:ext cx="4011084" cy="52083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65B64F9-9C06-4BFC-9CC7-D62D4572BDE4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4773085" y="5193412"/>
            <a:ext cx="6809314" cy="93275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Marcador de posición de imagen 7">
            <a:extLst>
              <a:ext uri="{FF2B5EF4-FFF2-40B4-BE49-F238E27FC236}">
                <a16:creationId xmlns:a16="http://schemas.microsoft.com/office/drawing/2014/main" id="{D74A7F3F-C231-4039-8494-F902CE8BAA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73085" y="949968"/>
            <a:ext cx="6809315" cy="4176069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3102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" y="1617085"/>
            <a:ext cx="10972799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6B196154-C9D3-4C78-BECE-D1091968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>
              <a:defRPr u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927CDD9A-B6E8-4A23-A02E-1FA68D59E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743" y="929959"/>
            <a:ext cx="1096765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959A52E2-E196-4AD5-BE25-3CACC715C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599" y="1617085"/>
            <a:ext cx="5408022" cy="45024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37F2929-6A18-4BAD-AA36-EE60744758F0}"/>
              </a:ext>
            </a:extLst>
          </p:cNvPr>
          <p:cNvSpPr>
            <a:spLocks noGrp="1"/>
          </p:cNvSpPr>
          <p:nvPr>
            <p:ph type="body" sz="half" idx="13"/>
          </p:nvPr>
        </p:nvSpPr>
        <p:spPr>
          <a:xfrm>
            <a:off x="6174379" y="1617085"/>
            <a:ext cx="5408022" cy="44889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7577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8962BEB1-7B29-4BAC-8B48-10A147F1A42A}"/>
              </a:ext>
            </a:extLst>
          </p:cNvPr>
          <p:cNvSpPr/>
          <p:nvPr userDrawn="1"/>
        </p:nvSpPr>
        <p:spPr>
          <a:xfrm>
            <a:off x="0" y="0"/>
            <a:ext cx="12192000" cy="949569"/>
          </a:xfrm>
          <a:prstGeom prst="rect">
            <a:avLst/>
          </a:prstGeom>
          <a:solidFill>
            <a:srgbClr val="FAFAFA"/>
          </a:solidFill>
          <a:ln>
            <a:solidFill>
              <a:srgbClr val="FAFAFA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8D9C7531-5490-48CC-82EC-3580AEA6A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389717" y="612774"/>
            <a:ext cx="7315200" cy="468058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AF30ABA-6BFD-4C8C-A4E2-2A730B48E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3658"/>
            <a:ext cx="10972800" cy="886253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lea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63041"/>
            <a:ext cx="10972800" cy="466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03/03/26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Group meeting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F72AA3B3-8196-4D73-8E74-BE65D0B26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1700" y="109150"/>
            <a:ext cx="9410700" cy="8922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pic>
        <p:nvPicPr>
          <p:cNvPr id="8" name="Picture 7" descr="A blue background with white text and a white circle&#10;&#10;AI-generated content may be incorrect.">
            <a:extLst>
              <a:ext uri="{FF2B5EF4-FFF2-40B4-BE49-F238E27FC236}">
                <a16:creationId xmlns:a16="http://schemas.microsoft.com/office/drawing/2014/main" id="{8EB0ECAC-F4C3-9F09-0CD7-41F0101D8FE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609600" y="0"/>
            <a:ext cx="1421599" cy="121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1" r:id="rId4"/>
    <p:sldLayoutId id="2147483662" r:id="rId5"/>
    <p:sldLayoutId id="2147483653" r:id="rId6"/>
    <p:sldLayoutId id="2147483660" r:id="rId7"/>
    <p:sldLayoutId id="2147483656" r:id="rId8"/>
    <p:sldLayoutId id="2147483661" r:id="rId9"/>
    <p:sldLayoutId id="2147483657" r:id="rId10"/>
    <p:sldLayoutId id="2147483654" r:id="rId11"/>
    <p:sldLayoutId id="2147483655" r:id="rId12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200" kern="1200">
          <a:solidFill>
            <a:srgbClr val="00315F"/>
          </a:solidFill>
          <a:latin typeface="Fira Sans Book" panose="020B0503050000020004"/>
          <a:ea typeface="Fira Sans Book" panose="020B0503050000020004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rgbClr val="243643"/>
          </a:solidFill>
          <a:latin typeface="Fira Sans Book" panose="020B0503050000020004" pitchFamily="34" charset="0"/>
          <a:ea typeface="Fira Sans Book" panose="020B0503050000020004" pitchFamily="34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com/MathieuOuillon/alert-track-finding" TargetMode="External"/><Relationship Id="rId2" Type="http://schemas.openxmlformats.org/officeDocument/2006/relationships/hyperlink" Target="https://code.jlab.org/hallb/clas12/coatjava/networks" TargetMode="Externa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371725"/>
            <a:ext cx="7029450" cy="1317329"/>
          </a:xfrm>
        </p:spPr>
        <p:txBody>
          <a:bodyPr>
            <a:normAutofit/>
          </a:bodyPr>
          <a:lstStyle/>
          <a:p>
            <a:pPr lvl="0" algn="l"/>
            <a:r>
              <a:rPr lang="es-ES" sz="6000" dirty="0" err="1"/>
              <a:t>Group</a:t>
            </a:r>
            <a:r>
              <a:rPr lang="es-ES" sz="6000" dirty="0"/>
              <a:t> meeting</a:t>
            </a:r>
            <a:endParaRPr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069887"/>
            <a:ext cx="8534400" cy="67612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s-MX" dirty="0"/>
              <a:t>Mathieu Ouillon (Mississippi State University)</a:t>
            </a:r>
            <a:endParaRPr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59F9F00-EFEC-9E33-BF3B-9C2D4A022795}"/>
              </a:ext>
            </a:extLst>
          </p:cNvPr>
          <p:cNvSpPr txBox="1">
            <a:spLocks/>
          </p:cNvSpPr>
          <p:nvPr/>
        </p:nvSpPr>
        <p:spPr>
          <a:xfrm>
            <a:off x="400046" y="4762548"/>
            <a:ext cx="2075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defTabSz="457200" rtl="0" eaLnBrk="1" latinLnBrk="0" hangingPunct="1">
              <a:spcBef>
                <a:spcPct val="20000"/>
              </a:spcBef>
              <a:buFont typeface="Arial"/>
              <a:buNone/>
            </a:pPr>
            <a:r>
              <a:rPr lang="es-CL" sz="2000" kern="1200" noProof="0" dirty="0">
                <a:solidFill>
                  <a:srgbClr val="304D59"/>
                </a:solidFill>
                <a:latin typeface="Fira Sans Book" panose="020B0503050000020004" pitchFamily="34" charset="0"/>
                <a:ea typeface="Fira Sans Book" panose="020B0503050000020004" pitchFamily="34" charset="0"/>
                <a:cs typeface="+mn-cs"/>
              </a:rPr>
              <a:t>03/17/26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319"/>
    </mc:Choice>
    <mc:Fallback xmlns="">
      <p:transition spd="slow" advTm="1331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627B-4553-2F59-665A-AE94D2E96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6756"/>
            <a:ext cx="9496425" cy="886253"/>
          </a:xfrm>
        </p:spPr>
        <p:txBody>
          <a:bodyPr anchor="ctr">
            <a:normAutofit/>
          </a:bodyPr>
          <a:lstStyle/>
          <a:p>
            <a:r>
              <a:rPr lang="en-US" dirty="0"/>
              <a:t>RG-D cooking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57AAE-4E75-446A-736E-D8D027983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BABFA-6854-8C78-0ECF-9F113207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DCA134-1D20-C60F-4F76-F9729CB5E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3E826C-219D-39E2-11DD-DB6D80425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25" y="1331529"/>
            <a:ext cx="11999149" cy="2913559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C4E02B0-D07A-0A70-31F6-FD7051115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4508390"/>
            <a:ext cx="11143628" cy="160081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3373B"/>
                </a:solidFill>
              </a:rPr>
              <a:t>I have an error with some reconstruction jobs: corrupted input files</a:t>
            </a:r>
          </a:p>
          <a:p>
            <a:pPr lvl="1"/>
            <a:r>
              <a:rPr lang="en-US" dirty="0">
                <a:solidFill>
                  <a:srgbClr val="23373B"/>
                </a:solidFill>
              </a:rPr>
              <a:t>I have discussed with Nathan about that </a:t>
            </a:r>
          </a:p>
          <a:p>
            <a:pPr lvl="1"/>
            <a:r>
              <a:rPr lang="en-US" dirty="0">
                <a:solidFill>
                  <a:srgbClr val="23373B"/>
                </a:solidFill>
              </a:rPr>
              <a:t>The files on cache/</a:t>
            </a:r>
            <a:r>
              <a:rPr lang="en-US" dirty="0" err="1">
                <a:solidFill>
                  <a:srgbClr val="23373B"/>
                </a:solidFill>
              </a:rPr>
              <a:t>mss</a:t>
            </a:r>
            <a:r>
              <a:rPr lang="en-US" dirty="0">
                <a:solidFill>
                  <a:srgbClr val="23373B"/>
                </a:solidFill>
              </a:rPr>
              <a:t> are good it is an issue with the swif2 job only</a:t>
            </a:r>
          </a:p>
          <a:p>
            <a:pPr lvl="1"/>
            <a:r>
              <a:rPr lang="en-US" dirty="0">
                <a:solidFill>
                  <a:srgbClr val="23373B"/>
                </a:solidFill>
              </a:rPr>
              <a:t>Nathan told me to refresh the input files and retry the jobs</a:t>
            </a:r>
          </a:p>
        </p:txBody>
      </p:sp>
    </p:spTree>
    <p:extLst>
      <p:ext uri="{BB962C8B-B14F-4D97-AF65-F5344CB8AC3E}">
        <p14:creationId xmlns:p14="http://schemas.microsoft.com/office/powerpoint/2010/main" val="3081491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81C34-32CA-7455-267B-0A21A554C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183369"/>
            <a:ext cx="10972800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Invariant mass fit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A1FFD-3BEA-731E-149D-40DC85633A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08400" y="1249200"/>
                <a:ext cx="5384800" cy="4860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 worked on the range and model for the fit of the invariant mass of the 2 </a:t>
                </a:r>
                <a:r>
                  <a:rPr lang="en-US" dirty="0" err="1"/>
                  <a:t>pions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en-US" dirty="0">
                    <a:solidFill>
                      <a:srgbClr val="23373B"/>
                    </a:solidFill>
                  </a:rPr>
                  <a:t>Using 3</a:t>
                </a:r>
                <a:r>
                  <a:rPr lang="en-US" baseline="30000" dirty="0">
                    <a:solidFill>
                      <a:srgbClr val="23373B"/>
                    </a:solidFill>
                  </a:rPr>
                  <a:t>rd</a:t>
                </a:r>
                <a:r>
                  <a:rPr lang="en-US" dirty="0">
                    <a:solidFill>
                      <a:srgbClr val="23373B"/>
                    </a:solidFill>
                  </a:rPr>
                  <a:t> order polynomial function for the background and Non-relativistic BW for the model</a:t>
                </a:r>
              </a:p>
              <a:p>
                <a:pPr lvl="1"/>
                <a:r>
                  <a:rPr lang="en-US" dirty="0">
                    <a:solidFill>
                      <a:srgbClr val="23373B"/>
                    </a:solidFill>
                  </a:rPr>
                  <a:t>Allow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23373B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en-US" dirty="0">
                    <a:solidFill>
                      <a:srgbClr val="23373B"/>
                    </a:solidFill>
                  </a:rPr>
                  <a:t> to vary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DA1FFD-3BEA-731E-149D-40DC85633A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08400" y="1249200"/>
                <a:ext cx="5384800" cy="4860000"/>
              </a:xfrm>
              <a:blipFill>
                <a:blip r:embed="rId2"/>
                <a:stretch>
                  <a:fillRect l="-1651" t="-1044" r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47CFBFB0-3793-FE35-77D6-911A53393F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3200" y="1185640"/>
            <a:ext cx="5956300" cy="5111833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FAE9C-B290-E6FC-1D19-6E4D11442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12157-42CF-1C8B-2885-09054352F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2126F-7F83-06F9-A265-129A21DF2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56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4C8D25-C85D-E0DE-6F70-3FD10D98C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6969F-148F-6507-1E74-EC6934B00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183369"/>
            <a:ext cx="10972800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Invariant mass 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7EC848-621E-1D9A-1C3D-073BBC920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11118780" cy="88259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23373B"/>
                </a:solidFill>
              </a:rPr>
              <a:t>Vary both the upper and lower limit of the fit from:</a:t>
            </a:r>
          </a:p>
          <a:p>
            <a:pPr lvl="1"/>
            <a:r>
              <a:rPr lang="en-US" sz="1600" dirty="0" err="1">
                <a:solidFill>
                  <a:srgbClr val="23373B"/>
                </a:solidFill>
              </a:rPr>
              <a:t>x</a:t>
            </a:r>
            <a:r>
              <a:rPr lang="en-US" sz="1600" baseline="-25000" dirty="0" err="1">
                <a:solidFill>
                  <a:srgbClr val="23373B"/>
                </a:solidFill>
              </a:rPr>
              <a:t>min</a:t>
            </a:r>
            <a:r>
              <a:rPr lang="en-US" sz="1600" dirty="0">
                <a:solidFill>
                  <a:srgbClr val="23373B"/>
                </a:solidFill>
              </a:rPr>
              <a:t>: 0.28, 0.46 increment of 0.01 and </a:t>
            </a:r>
            <a:r>
              <a:rPr lang="en-US" sz="1600" dirty="0" err="1">
                <a:solidFill>
                  <a:srgbClr val="23373B"/>
                </a:solidFill>
              </a:rPr>
              <a:t>x</a:t>
            </a:r>
            <a:r>
              <a:rPr lang="en-US" sz="1600" baseline="-25000" dirty="0" err="1">
                <a:solidFill>
                  <a:srgbClr val="23373B"/>
                </a:solidFill>
              </a:rPr>
              <a:t>max</a:t>
            </a:r>
            <a:r>
              <a:rPr lang="en-US" sz="1600" dirty="0">
                <a:solidFill>
                  <a:srgbClr val="23373B"/>
                </a:solidFill>
              </a:rPr>
              <a:t>: 0.95, 1.50 increment of 0.025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1A9AAF-9B5E-2459-6E3B-DA49DACCEA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1BF3A4-D93D-6B85-76F9-7C02D3CAA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487A0-366A-D98A-F73B-C7332EEB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7FCDC0-AC06-A2A7-A4E3-BF76C2D65F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5" y="1973174"/>
            <a:ext cx="6081315" cy="46907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DE5C9A-4822-E748-3C43-7ADC315A5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73175"/>
            <a:ext cx="6109677" cy="454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481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B6369-DD6A-335C-4E80-D69AA1622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02AF-616E-4FB9-507F-B2A67D30C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183369"/>
            <a:ext cx="10972800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Invariant mass 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4AA1B-E30D-B7E0-68A8-2149E1C04B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11118780" cy="88259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23373B"/>
                </a:solidFill>
              </a:rPr>
              <a:t>Vary both the upper and lower limit of the fit from:</a:t>
            </a:r>
          </a:p>
          <a:p>
            <a:pPr lvl="1"/>
            <a:r>
              <a:rPr lang="en-US" sz="1600" dirty="0" err="1">
                <a:solidFill>
                  <a:srgbClr val="23373B"/>
                </a:solidFill>
              </a:rPr>
              <a:t>x</a:t>
            </a:r>
            <a:r>
              <a:rPr lang="en-US" sz="1600" baseline="-25000" dirty="0" err="1">
                <a:solidFill>
                  <a:srgbClr val="23373B"/>
                </a:solidFill>
              </a:rPr>
              <a:t>min</a:t>
            </a:r>
            <a:r>
              <a:rPr lang="en-US" sz="1600" dirty="0">
                <a:solidFill>
                  <a:srgbClr val="23373B"/>
                </a:solidFill>
              </a:rPr>
              <a:t>: 0.28, 0.46 increment of 0.01 and </a:t>
            </a:r>
            <a:r>
              <a:rPr lang="en-US" sz="1600" dirty="0" err="1">
                <a:solidFill>
                  <a:srgbClr val="23373B"/>
                </a:solidFill>
              </a:rPr>
              <a:t>x</a:t>
            </a:r>
            <a:r>
              <a:rPr lang="en-US" sz="1600" baseline="-25000" dirty="0" err="1">
                <a:solidFill>
                  <a:srgbClr val="23373B"/>
                </a:solidFill>
              </a:rPr>
              <a:t>max</a:t>
            </a:r>
            <a:r>
              <a:rPr lang="en-US" sz="1600" dirty="0">
                <a:solidFill>
                  <a:srgbClr val="23373B"/>
                </a:solidFill>
              </a:rPr>
              <a:t>: 0.95, 1.50 increment of 0.025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9E3DF-6432-AAA1-06C0-C3442E6C2BF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12377-CBFD-9B41-3139-6D4357AA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5B2E3-C4F8-B628-C261-71098078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F529BA-125E-9EA1-E592-6F0FAC3C3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5" y="1973174"/>
            <a:ext cx="6081315" cy="469070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6D7FD0B-8099-41DB-8B4B-13DA58937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73174"/>
            <a:ext cx="6064078" cy="452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506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C7248-AAFC-E801-F04F-9EDF00412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7F485-2213-BC44-FAB5-28DB24588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183369"/>
            <a:ext cx="10972800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Invariant mass 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85C54-E170-8E0E-E131-B5A78A78E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11118780" cy="88259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23373B"/>
                </a:solidFill>
              </a:rPr>
              <a:t>Try other background functions: </a:t>
            </a:r>
            <a:endParaRPr lang="en-US" sz="1600" dirty="0">
              <a:solidFill>
                <a:srgbClr val="23373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F3955-70F8-839D-5E33-BCF49FD584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835C7-893E-2230-619B-F9535C43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088F0-DC47-8ACB-9DF5-B901D269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C535F9-9BF2-E1F7-945F-1BB72873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83" y="1597576"/>
            <a:ext cx="5463134" cy="46945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7C1B33F-6814-02DA-FFC8-4890141C1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9912" y="1597576"/>
            <a:ext cx="6086305" cy="469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835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C0B7-8B29-737A-1F39-964BBB4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E010C-2AC0-6663-CDB1-484737BF7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183369"/>
            <a:ext cx="10972800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Invariant mass 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D987F-9FB2-9F15-FFCF-3627B8E10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11118780" cy="88259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23373B"/>
                </a:solidFill>
              </a:rPr>
              <a:t>Try other background functions: </a:t>
            </a:r>
            <a:endParaRPr lang="en-US" sz="1600" dirty="0">
              <a:solidFill>
                <a:srgbClr val="23373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985BD-28B9-84A1-8A57-ADADA14AE7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EF758-04EE-6AC0-DC85-A926D6C1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A0530-9BD6-C99A-E234-1A7B1CBE2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C5F4B15-1158-7045-92AC-2BF1946D0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8793" y="1561128"/>
            <a:ext cx="6216816" cy="47952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B1DA118-F73B-0E53-5013-FBEB43119F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78" y="1620976"/>
            <a:ext cx="5580282" cy="479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468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C143BA-679E-D749-E243-FAD9A3BF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BB77-1635-36AE-19A7-F0586101F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183369"/>
            <a:ext cx="10972800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Invariant mass 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640CD-C20D-52C2-883C-7CC2375F0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11118780" cy="88259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23373B"/>
                </a:solidFill>
              </a:rPr>
              <a:t>Try other background functions: </a:t>
            </a:r>
            <a:endParaRPr lang="en-US" sz="1600" dirty="0">
              <a:solidFill>
                <a:srgbClr val="23373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EE037-F067-E347-CC15-4A46BBF7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55735-A099-DD9E-E72E-05B39C76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E4FED-4D25-D9DB-E41C-13EF4D29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8D5DCF1-CA2A-9C43-2246-3DABF38F3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41" y="1624764"/>
            <a:ext cx="5544485" cy="47826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A316B4-E13D-CD76-C3EC-CB51FC7FB5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1488" y="1624763"/>
            <a:ext cx="6200511" cy="478264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B0F3F9-D770-4CB8-1B50-67244F0F35C3}"/>
                  </a:ext>
                </a:extLst>
              </p:cNvPr>
              <p:cNvSpPr txBox="1"/>
              <p:nvPr/>
            </p:nvSpPr>
            <p:spPr>
              <a:xfrm>
                <a:off x="7161343" y="1065964"/>
                <a:ext cx="4026142" cy="3879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d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sSup>
                        <m:sSupPr>
                          <m:ctrl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𝛼</m:t>
                          </m:r>
                        </m:sup>
                      </m:sSup>
                      <m:r>
                        <a:rPr lang="en-US" b="0" i="1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𝜆</m:t>
                          </m:r>
                          <m:r>
                            <a:rPr lang="en-US" b="0" i="1" dirty="0" smtClean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  <m:d>
                            <m:dPr>
                              <m:ctrlP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dirty="0" smtClean="0">
                                  <a:effectLst/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effectLst/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</m:oMath>
                  </m:oMathPara>
                </a14:m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B0F3F9-D770-4CB8-1B50-67244F0F3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1343" y="1065964"/>
                <a:ext cx="4026142" cy="387927"/>
              </a:xfrm>
              <a:prstGeom prst="rect">
                <a:avLst/>
              </a:prstGeom>
              <a:blipFill>
                <a:blip r:embed="rId4"/>
                <a:stretch>
                  <a:fillRect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6754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EBA0A-18CD-6CFD-877F-A1721D5B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5B652-7588-E345-B502-61BED5ABB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183369"/>
            <a:ext cx="10972800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Invariant mass 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14167-9B96-C465-5F00-D474944292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11118780" cy="88259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23373B"/>
                </a:solidFill>
              </a:rPr>
              <a:t>Try other model functions (I have tried every background functions): </a:t>
            </a:r>
            <a:endParaRPr lang="en-US" sz="1600" dirty="0">
              <a:solidFill>
                <a:srgbClr val="23373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7A2DD-BAF2-71EE-AEC8-00130702D4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753819-E98F-93BA-26C5-18C44BF2D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E103-FAB0-C025-3A71-6A94A6C6D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E5C2EA7-64C9-3FF8-051A-130F1BD763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598212"/>
            <a:ext cx="5569854" cy="48980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2FBCA76-CB2B-05DA-6DBE-4625AA3A5D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3459" y="1653383"/>
            <a:ext cx="6278541" cy="484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86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7753E-2CD6-D2BB-C610-947752EA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ED86F-F780-6AFB-291F-0368ABA8B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2000" y="183369"/>
            <a:ext cx="10972800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RG-D: Invariant mass fit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00597-58AB-13AC-61D6-96D7D1A0B2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8400" y="1249200"/>
            <a:ext cx="11118780" cy="88259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23373B"/>
                </a:solidFill>
              </a:rPr>
              <a:t>Try other model functions (I have tried every background functions): </a:t>
            </a:r>
            <a:endParaRPr lang="en-US" sz="1600" dirty="0">
              <a:solidFill>
                <a:srgbClr val="23373B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C3464A-9A86-35A7-8918-0E90FA7A46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3EA056-772B-4432-E65E-47D7A40B9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3CD-C822-3EA3-049C-1CDBCFC82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B67587-2619-7D58-E91B-F5C75FDB6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31" y="1632594"/>
            <a:ext cx="5650313" cy="48006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9938F79-892B-356F-3A2C-03D44AF42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9829" y="1632593"/>
            <a:ext cx="6215739" cy="479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1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5E17-BECD-E1A2-5884-78BE0C6C1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RG-D: Cu-Sn contamination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562DD-3676-901C-4020-97CB47F8D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65"/>
            <a:ext cx="12192000" cy="4860000"/>
          </a:xfrm>
        </p:spPr>
        <p:txBody>
          <a:bodyPr>
            <a:normAutofit/>
          </a:bodyPr>
          <a:lstStyle/>
          <a:p>
            <a:r>
              <a:rPr lang="en-US" sz="2000" dirty="0"/>
              <a:t>Try to estimate the contamination using the vertex fit</a:t>
            </a:r>
          </a:p>
          <a:p>
            <a:pPr lvl="1"/>
            <a:r>
              <a:rPr lang="en-US" sz="1400" dirty="0"/>
              <a:t>Each foil region is defined as mean ± 3</a:t>
            </a:r>
            <a:r>
              <a:rPr lang="el-GR" sz="1400" dirty="0"/>
              <a:t>σ </a:t>
            </a:r>
            <a:r>
              <a:rPr lang="en-US" sz="1400" dirty="0"/>
              <a:t>around its peak (e.g., First foil: [-5.48, -1.50], Second foil: [-10.49, -6.41])</a:t>
            </a:r>
          </a:p>
          <a:p>
            <a:pPr lvl="1"/>
            <a:r>
              <a:rPr lang="en-US" sz="1400" dirty="0"/>
              <a:t>Each of the components (</a:t>
            </a:r>
            <a:r>
              <a:rPr lang="en-US" sz="1400" dirty="0" err="1"/>
              <a:t>fnc_i</a:t>
            </a:r>
            <a:r>
              <a:rPr lang="en-US" sz="1400" dirty="0"/>
              <a:t>) is numerically integrated over each region</a:t>
            </a:r>
          </a:p>
          <a:p>
            <a:pPr lvl="1"/>
            <a:r>
              <a:rPr lang="en-US" sz="1400" dirty="0"/>
              <a:t>For a given region, the contamination from another peak is its integral divided by the total integral of all components in that region. E.g., Second foil contamination in First foil region = ∫(fnc2) / ∫(total) over [-5.48, -1.50]</a:t>
            </a:r>
          </a:p>
          <a:p>
            <a:pPr lvl="1"/>
            <a:endParaRPr lang="en-US" sz="16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23E10-2D86-0AA8-4A7D-148E6D33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DB021-5E6B-D061-A169-94750F461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3DE4F4-03D3-E6EE-7425-4B932BF7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F2AC1F-2CCD-512B-9575-8F1FE9B09A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25" y="2555966"/>
            <a:ext cx="11582401" cy="4302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603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B238-E9B8-9CA4-3B84-1021586B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ALERT: Track finding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985A0-A607-23F4-27C3-D0C0809BEA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249200"/>
            <a:ext cx="5795193" cy="54722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600" dirty="0"/>
              <a:t>Model: </a:t>
            </a:r>
            <a:r>
              <a:rPr lang="en-US" sz="1600" dirty="0" err="1"/>
              <a:t>MultiLayer</a:t>
            </a:r>
            <a:r>
              <a:rPr lang="en-US" sz="1600" dirty="0"/>
              <a:t> Perceptron, 10 inputs, 1 output (size and number of layer have been optimized)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Inputs: x and y values of the five inter-clusters </a:t>
            </a:r>
          </a:p>
          <a:p>
            <a:pPr>
              <a:lnSpc>
                <a:spcPct val="90000"/>
              </a:lnSpc>
            </a:pPr>
            <a:r>
              <a:rPr lang="en-US" sz="1600" dirty="0"/>
              <a:t>For the training ⇒ Need good and bad tracks: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23373B"/>
                </a:solidFill>
              </a:rPr>
              <a:t>Good tracks: GEANT4 simulation (particle with p ∈ [0.07, 1.5] GeV/c, </a:t>
            </a:r>
            <a:r>
              <a:rPr lang="el-GR" sz="1600" dirty="0">
                <a:solidFill>
                  <a:srgbClr val="23373B"/>
                </a:solidFill>
              </a:rPr>
              <a:t>φ ∈ [0, 360]°, θ ∈ [30, 150]° , </a:t>
            </a:r>
            <a:r>
              <a:rPr lang="en-US" sz="1600" dirty="0">
                <a:solidFill>
                  <a:srgbClr val="23373B"/>
                </a:solidFill>
              </a:rPr>
              <a:t>and </a:t>
            </a:r>
            <a:r>
              <a:rPr lang="en-US" sz="1600" dirty="0" err="1">
                <a:solidFill>
                  <a:srgbClr val="23373B"/>
                </a:solidFill>
              </a:rPr>
              <a:t>Vz</a:t>
            </a:r>
            <a:r>
              <a:rPr lang="en-US" sz="1600" dirty="0">
                <a:solidFill>
                  <a:srgbClr val="23373B"/>
                </a:solidFill>
              </a:rPr>
              <a:t> ∈ [-20, 20] cm)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23373B"/>
                </a:solidFill>
              </a:rPr>
              <a:t>False tracks: Interchanging randomly up to two inter-clusters with another event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23373B"/>
                </a:solidFill>
              </a:rPr>
              <a:t>Generate 5M events composed of all light nuclei (flat distribution for all variables)</a:t>
            </a:r>
          </a:p>
          <a:p>
            <a:pPr lvl="1">
              <a:lnSpc>
                <a:spcPct val="90000"/>
              </a:lnSpc>
            </a:pPr>
            <a:r>
              <a:rPr lang="en-US" sz="1600" dirty="0">
                <a:solidFill>
                  <a:srgbClr val="23373B"/>
                </a:solidFill>
              </a:rPr>
              <a:t>Output: Number between 0 and 1, with 0/1 means bad/good track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8E42D58-8ECE-B980-809F-EB284FB71B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624" y="1013885"/>
            <a:ext cx="6243376" cy="534246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5E735-4024-77EE-DFAC-6ACA4E1184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40F77-E1BC-BC0C-B547-3808F3ABE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DCC78-740D-B7CB-E2BF-EF8CF64B9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052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EBBDD-3A04-4ECC-5BDB-98F7116E1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F851-CA85-6161-8606-8D644CFD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ALERT: Track finding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165CF-8284-7AA1-8070-8AF226FFA0C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0" y="1249201"/>
                <a:ext cx="5795193" cy="5297302"/>
              </a:xfrm>
            </p:spPr>
            <p:txBody>
              <a:bodyPr>
                <a:normAutofit/>
              </a:bodyPr>
              <a:lstStyle/>
              <a:p>
                <a:r>
                  <a:rPr lang="en-US" sz="1800" b="1" dirty="0"/>
                  <a:t>Accuracy</a:t>
                </a:r>
                <a:endParaRPr lang="en-US" sz="1400" b="1" dirty="0"/>
              </a:p>
              <a:p>
                <a:pPr lvl="1"/>
                <a:r>
                  <a:rPr lang="en-US" sz="1600" dirty="0"/>
                  <a:t>Fraction of all predictions that are correct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600" i="0" dirty="0" smtClean="0">
                        <a:latin typeface="Cambria Math" panose="02040503050406030204" pitchFamily="18" charset="0"/>
                      </a:rPr>
                      <m:t>Accuracy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𝑇𝑁</m:t>
                        </m:r>
                      </m:num>
                      <m:den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sz="1600" dirty="0"/>
              </a:p>
              <a:p>
                <a:r>
                  <a:rPr lang="en-US" sz="1800" b="1" dirty="0"/>
                  <a:t>F1 Score</a:t>
                </a:r>
              </a:p>
              <a:p>
                <a:pPr lvl="1"/>
                <a:r>
                  <a:rPr lang="en-US" sz="1600" dirty="0"/>
                  <a:t>Harmonic mean of precision and recall, providing a single metric that balances the ability to correctly identify true tracks (precision) with the ability to find all true tracks (recall).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1=2⋅</m:t>
                    </m:r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Recall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Precision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nor/>
                          </m:rPr>
                          <a:rPr lang="en-US" sz="1600" i="0" dirty="0">
                            <a:latin typeface="Cambria Math" panose="02040503050406030204" pitchFamily="18" charset="0"/>
                          </a:rPr>
                          <m:t>Recall</m:t>
                        </m:r>
                      </m:den>
                    </m:f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𝑇𝑃</m:t>
                        </m:r>
                      </m:num>
                      <m:den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2,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𝐹𝑁</m:t>
                        </m:r>
                      </m:den>
                    </m:f>
                  </m:oMath>
                </a14:m>
                <a:endParaRPr lang="en-US" sz="1600" dirty="0"/>
              </a:p>
              <a:p>
                <a:pPr lvl="1"/>
                <a:r>
                  <a:rPr lang="en-US" sz="1600" dirty="0"/>
                  <a:t>Ranges from 0 to 1, where 1 is perfect. </a:t>
                </a:r>
              </a:p>
              <a:p>
                <a:r>
                  <a:rPr lang="en-US" sz="1800" b="1" dirty="0"/>
                  <a:t>Matthews Correlation Coefficient (MCC)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𝑀𝐶𝐶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𝑇𝑃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𝑇𝑁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𝐹𝑃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𝐹𝑁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sz="16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𝐹𝑃</m:t>
                                </m:r>
                              </m:e>
                            </m:d>
                            <m:d>
                              <m:dPr>
                                <m:ctrlP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𝑇𝑁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600" i="1" dirty="0">
                                    <a:latin typeface="Cambria Math" panose="02040503050406030204" pitchFamily="18" charset="0"/>
                                  </a:rPr>
                                  <m:t>𝐹𝑁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en-US" sz="1800" b="1" dirty="0"/>
              </a:p>
              <a:p>
                <a:pPr lvl="1"/>
                <a:r>
                  <a:rPr lang="en-US" sz="1600" dirty="0"/>
                  <a:t>Ranges from </a:t>
                </a:r>
                <a:r>
                  <a:rPr lang="en-US" sz="1600" b="1" dirty="0"/>
                  <a:t>-1</a:t>
                </a:r>
                <a:r>
                  <a:rPr lang="en-US" sz="1600" dirty="0"/>
                  <a:t> (total disagreement) to </a:t>
                </a:r>
                <a:r>
                  <a:rPr lang="en-US" sz="1600" b="1" dirty="0"/>
                  <a:t>+1</a:t>
                </a:r>
                <a:r>
                  <a:rPr lang="en-US" sz="1600" dirty="0"/>
                  <a:t> (perfect prediction), with </a:t>
                </a:r>
                <a:r>
                  <a:rPr lang="en-US" sz="1600" b="1" dirty="0"/>
                  <a:t>0</a:t>
                </a:r>
                <a:r>
                  <a:rPr lang="en-US" sz="1600" dirty="0"/>
                  <a:t> meaning no better than random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E165CF-8284-7AA1-8070-8AF226FFA0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0" y="1249201"/>
                <a:ext cx="5795193" cy="5297302"/>
              </a:xfrm>
              <a:blipFill>
                <a:blip r:embed="rId2"/>
                <a:stretch>
                  <a:fillRect l="-656" t="-478" r="-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12BEA025-B7E7-3640-0009-1BE4DC052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624" y="1013885"/>
            <a:ext cx="6243376" cy="5342465"/>
          </a:xfrm>
          <a:prstGeom prst="rect">
            <a:avLst/>
          </a:prstGeom>
          <a:noFill/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A525A-946B-8563-EFCC-710DB5E20FF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1B891D-4F20-681B-BFF2-85F16B5AF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5F18B-FB15-2422-D72D-373B85C8F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72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40D8-892E-79A4-F879-46179C435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E7E6-35B4-9E7B-5767-9CB54E5A4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ALERT Track finding: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53E4A-6162-75DE-EDAA-B5F2087DE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249199"/>
            <a:ext cx="3215639" cy="51071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 err="1"/>
              <a:t>Optuna</a:t>
            </a:r>
            <a:r>
              <a:rPr lang="en-US" sz="2000" dirty="0"/>
              <a:t> framework with </a:t>
            </a:r>
            <a:r>
              <a:rPr lang="en-US" sz="2000" dirty="0" err="1"/>
              <a:t>MedianPruner</a:t>
            </a:r>
            <a:r>
              <a:rPr lang="en-US" sz="2000" dirty="0"/>
              <a:t> — prunes unpromising trials early</a:t>
            </a:r>
          </a:p>
          <a:p>
            <a:pPr>
              <a:lnSpc>
                <a:spcPct val="90000"/>
              </a:lnSpc>
            </a:pPr>
            <a:r>
              <a:rPr lang="en-US" sz="2000" dirty="0"/>
              <a:t>Tunes: learning rate, weight decay, batch size, network depth, hidden dimensions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E36AB-2940-6712-F1EE-FA1BD6E0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E2BF19-3B83-3246-F061-5F0BB11F6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6E7F4F-272E-C142-295B-DBCDD4C17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919C65-A0AD-94B7-7389-E4387B829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271" y="922305"/>
            <a:ext cx="8990620" cy="579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642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C4F2F-9A2C-0406-47A7-453CCC70E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3AD84-9F43-B09C-3C31-7A7402A88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ALERT Track finding: Evaluation on 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FBB0E-A499-2067-142C-6670302F5D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198960"/>
            <a:ext cx="11988180" cy="1483952"/>
          </a:xfrm>
        </p:spPr>
        <p:txBody>
          <a:bodyPr>
            <a:normAutofit/>
          </a:bodyPr>
          <a:lstStyle/>
          <a:p>
            <a:r>
              <a:rPr lang="en-US" sz="1600" dirty="0"/>
              <a:t>Threshold sweep </a:t>
            </a:r>
          </a:p>
          <a:p>
            <a:r>
              <a:rPr lang="en-US" sz="1600" dirty="0"/>
              <a:t>Noise: injects 0–20 random hits to measure degradation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EA30-CF58-D09B-336F-C4DE180A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8D876-F8D6-0D07-C42E-3A8EAFB0A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5807C-E07A-325B-B95C-707EC21F9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EADCA89-6927-FAEC-A826-565FADCBD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125" y="1787208"/>
            <a:ext cx="9545934" cy="5024174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4DD6854-0548-0EC5-C1F0-31E743835884}"/>
              </a:ext>
            </a:extLst>
          </p:cNvPr>
          <p:cNvSpPr txBox="1">
            <a:spLocks/>
          </p:cNvSpPr>
          <p:nvPr/>
        </p:nvSpPr>
        <p:spPr>
          <a:xfrm>
            <a:off x="6765890" y="1194093"/>
            <a:ext cx="4683527" cy="784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rgbClr val="23373B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1600" kern="1200">
                <a:solidFill>
                  <a:srgbClr val="243643"/>
                </a:solidFill>
                <a:latin typeface="Fira Sans Light" panose="020B0403050000020004" pitchFamily="34" charset="0"/>
                <a:ea typeface="Fira Sans Light" panose="020B0403050000020004" pitchFamily="34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Per-momentum bin evaluation (60–240 MeV)</a:t>
            </a:r>
          </a:p>
          <a:p>
            <a:r>
              <a:rPr lang="en-US" sz="1600" dirty="0"/>
              <a:t>Multi-track and particle-ID evaluation </a:t>
            </a:r>
          </a:p>
        </p:txBody>
      </p:sp>
    </p:spTree>
    <p:extLst>
      <p:ext uri="{BB962C8B-B14F-4D97-AF65-F5344CB8AC3E}">
        <p14:creationId xmlns:p14="http://schemas.microsoft.com/office/powerpoint/2010/main" val="1237963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B88F5-4BC9-DA30-60B1-378EEC8CB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AA45-011B-5ABC-277F-7CED04039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ALERT Track finding: Small test on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BA0384-B8FC-E27A-7649-71C0D0D1B2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198960"/>
            <a:ext cx="11988180" cy="5157391"/>
          </a:xfrm>
        </p:spPr>
        <p:txBody>
          <a:bodyPr>
            <a:normAutofit/>
          </a:bodyPr>
          <a:lstStyle/>
          <a:p>
            <a:r>
              <a:rPr lang="en-US" dirty="0"/>
              <a:t>Just to see that we are not losing too much tracks </a:t>
            </a:r>
          </a:p>
          <a:p>
            <a:r>
              <a:rPr lang="en-US" dirty="0"/>
              <a:t>Use 2.2 GeV proton run and check how many track are found by the two models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2000" dirty="0"/>
              <a:t>========================================</a:t>
            </a:r>
          </a:p>
          <a:p>
            <a:pPr marL="0" indent="0">
              <a:buNone/>
            </a:pPr>
            <a:r>
              <a:rPr lang="en-US" sz="2000" dirty="0"/>
              <a:t>  Event-by-event comparison (50000 events)</a:t>
            </a:r>
          </a:p>
          <a:p>
            <a:pPr marL="0" indent="0">
              <a:buNone/>
            </a:pPr>
            <a:r>
              <a:rPr lang="en-US" sz="2000" dirty="0"/>
              <a:t>========================================</a:t>
            </a:r>
          </a:p>
          <a:p>
            <a:pPr marL="0" indent="0">
              <a:buNone/>
            </a:pPr>
            <a:r>
              <a:rPr lang="en-US" sz="2000" dirty="0"/>
              <a:t>  Events where new finds MORE tracks:  1132</a:t>
            </a:r>
          </a:p>
          <a:p>
            <a:pPr marL="0" indent="0">
              <a:buNone/>
            </a:pPr>
            <a:r>
              <a:rPr lang="en-US" sz="2000" dirty="0"/>
              <a:t>  Events where new finds FEWER tracks: 836</a:t>
            </a:r>
          </a:p>
          <a:p>
            <a:pPr marL="0" indent="0">
              <a:buNone/>
            </a:pPr>
            <a:r>
              <a:rPr lang="en-US" sz="2000" dirty="0"/>
              <a:t>  Events where new finds SAME tracks:  48032</a:t>
            </a:r>
          </a:p>
          <a:p>
            <a:pPr marL="0" indent="0">
              <a:buNone/>
            </a:pPr>
            <a:r>
              <a:rPr lang="en-US" sz="2000" dirty="0"/>
              <a:t>  Old total tracks: 10907  |  New total tracks: 11365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EA25F-0AB4-473F-DA16-401E4AF13F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D0633-3866-B3B5-797F-9324AC6D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893361-1050-00C8-B776-08468366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0456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AC4A2-5103-D907-E8E8-77DB5C850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5E7D0-8C82-5C06-50E1-0F09AC780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767" y="311498"/>
            <a:ext cx="9552633" cy="882595"/>
          </a:xfrm>
        </p:spPr>
        <p:txBody>
          <a:bodyPr anchor="ctr">
            <a:normAutofit/>
          </a:bodyPr>
          <a:lstStyle/>
          <a:p>
            <a:r>
              <a:rPr lang="en-US" dirty="0"/>
              <a:t>ALERT: Other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B9560-0780-1E50-543D-291805DF7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" y="1198960"/>
            <a:ext cx="11988180" cy="5157391"/>
          </a:xfrm>
        </p:spPr>
        <p:txBody>
          <a:bodyPr>
            <a:normAutofit/>
          </a:bodyPr>
          <a:lstStyle/>
          <a:p>
            <a:r>
              <a:rPr lang="en-US" dirty="0"/>
              <a:t>The new model is in the networks repository:</a:t>
            </a:r>
          </a:p>
          <a:p>
            <a:pPr lvl="1"/>
            <a:r>
              <a:rPr lang="en-US" dirty="0">
                <a:hlinkClick r:id="rId2"/>
              </a:rPr>
              <a:t>https://code.jlab.org/hallb/clas12/coatjava/networks</a:t>
            </a:r>
            <a:endParaRPr lang="en-US" dirty="0"/>
          </a:p>
          <a:p>
            <a:r>
              <a:rPr lang="en-US" dirty="0"/>
              <a:t>Not available in COATJAVA yet need a pull request</a:t>
            </a:r>
          </a:p>
          <a:p>
            <a:endParaRPr lang="en-US" dirty="0"/>
          </a:p>
          <a:p>
            <a:r>
              <a:rPr lang="en-US" dirty="0"/>
              <a:t>Code to train and evaluated the network is available on GitLab: </a:t>
            </a:r>
          </a:p>
          <a:p>
            <a:pPr lvl="1"/>
            <a:r>
              <a:rPr lang="en-US" dirty="0">
                <a:hlinkClick r:id="rId3"/>
              </a:rPr>
              <a:t>https://gitlab.com/MathieuOuillon/alert-track-finding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Next step: same things for track matching</a:t>
            </a:r>
          </a:p>
          <a:p>
            <a:endParaRPr lang="en-US" dirty="0"/>
          </a:p>
          <a:p>
            <a:r>
              <a:rPr lang="en-US" dirty="0"/>
              <a:t>Produced mini timeline after Florian calibration of the t00</a:t>
            </a:r>
          </a:p>
          <a:p>
            <a:r>
              <a:rPr lang="en-US" dirty="0"/>
              <a:t>Published the timeline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D270D-D525-2462-671D-3FCABC1BD9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680E2E-B807-555C-2577-8116118B0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9424D-B4FF-DDAF-6953-D6160FC8F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5EF2332-01BF-834F-8236-50238282D533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2027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0B18-A4F7-1D81-1070-A5EF48BE9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588E9-D918-2CB6-D9DC-2265DDB3F1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RG-D:</a:t>
            </a:r>
          </a:p>
          <a:p>
            <a:r>
              <a:rPr lang="en-US" dirty="0"/>
              <a:t>Study the effect of the \Delta t cut on the purity of the hadron PID AI</a:t>
            </a:r>
          </a:p>
          <a:p>
            <a:r>
              <a:rPr lang="en-US" dirty="0"/>
              <a:t>Background merging: produces background files from decoded files</a:t>
            </a:r>
          </a:p>
          <a:p>
            <a:r>
              <a:rPr lang="en-US" dirty="0"/>
              <a:t>Background for \rho^0 with simulation</a:t>
            </a:r>
          </a:p>
          <a:p>
            <a:r>
              <a:rPr lang="en-US" dirty="0"/>
              <a:t>Radiative correction</a:t>
            </a:r>
          </a:p>
          <a:p>
            <a:r>
              <a:rPr lang="en-US" dirty="0"/>
              <a:t>Acceptance and efficiency correction</a:t>
            </a:r>
          </a:p>
          <a:p>
            <a:r>
              <a:rPr lang="en-US" dirty="0"/>
              <a:t>Study the </a:t>
            </a:r>
            <a:r>
              <a:rPr lang="en-US" dirty="0" err="1"/>
              <a:t>CuSn</a:t>
            </a:r>
            <a:r>
              <a:rPr lang="en-US" dirty="0"/>
              <a:t> contamination using simulations </a:t>
            </a:r>
          </a:p>
          <a:p>
            <a:pPr lvl="1"/>
            <a:r>
              <a:rPr lang="en-US" dirty="0"/>
              <a:t>Maybe simulation will not work (use vertex fit, maybe the </a:t>
            </a:r>
            <a:r>
              <a:rPr lang="en-US" dirty="0" err="1"/>
              <a:t>sPlot</a:t>
            </a:r>
            <a:r>
              <a:rPr lang="en-US" dirty="0"/>
              <a:t> technique)</a:t>
            </a:r>
          </a:p>
          <a:p>
            <a:pPr marL="0" indent="0">
              <a:buNone/>
            </a:pPr>
            <a:r>
              <a:rPr lang="en-US" b="1" dirty="0"/>
              <a:t>ALERT:</a:t>
            </a:r>
          </a:p>
          <a:p>
            <a:r>
              <a:rPr lang="en-US" dirty="0"/>
              <a:t>Retrain track matching with the new geometry (Add it to the GitLab)</a:t>
            </a:r>
          </a:p>
          <a:p>
            <a:r>
              <a:rPr lang="en-US" dirty="0"/>
              <a:t>I found that I lose some hits between the helix fitter and the track matching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3467E-E16E-B3BB-473F-9358B861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03/03/26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6CE8E-A65D-3795-FB76-5060DC609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Group meeting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F0B29-0A2C-84A9-10C4-CF8F85B96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15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10869</TotalTime>
  <Words>972</Words>
  <Application>Microsoft Macintosh PowerPoint</Application>
  <PresentationFormat>Widescreen</PresentationFormat>
  <Paragraphs>149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Fira Sans Book</vt:lpstr>
      <vt:lpstr>Fira Sans Light</vt:lpstr>
      <vt:lpstr>Office Theme</vt:lpstr>
      <vt:lpstr>Group meeting</vt:lpstr>
      <vt:lpstr>RG-D cooking</vt:lpstr>
      <vt:lpstr>RG-D: Invariant mass fit </vt:lpstr>
      <vt:lpstr>RG-D: Invariant mass fit </vt:lpstr>
      <vt:lpstr>RG-D: Invariant mass fit </vt:lpstr>
      <vt:lpstr>RG-D: Invariant mass fit </vt:lpstr>
      <vt:lpstr>RG-D: Invariant mass fit </vt:lpstr>
      <vt:lpstr>RG-D: Invariant mass fit </vt:lpstr>
      <vt:lpstr>RG-D: Invariant mass fit </vt:lpstr>
      <vt:lpstr>RG-D: Invariant mass fit </vt:lpstr>
      <vt:lpstr>RG-D: Cu-Sn contamination</vt:lpstr>
      <vt:lpstr>ALERT: Track finding</vt:lpstr>
      <vt:lpstr>ALERT: Track finding</vt:lpstr>
      <vt:lpstr>ALERT Track finding: Optimization</vt:lpstr>
      <vt:lpstr>ALERT Track finding: Evaluation on simulation</vt:lpstr>
      <vt:lpstr>ALERT Track finding: Small test on data</vt:lpstr>
      <vt:lpstr>ALERT: Other</vt:lpstr>
      <vt:lpstr>To do list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Panorámica</PresentationFormat>
  <Paragraphs>15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Atomización Ultrasónica. Parámetros y dinámica del fenómeno.</dc:title>
  <dc:creator>Josué D. Meneses Díaz</dc:creator>
  <cp:keywords/>
  <cp:lastModifiedBy>Ouillon, Mathieu</cp:lastModifiedBy>
  <cp:revision>435</cp:revision>
  <dcterms:created xsi:type="dcterms:W3CDTF">2019-12-03T01:04:10Z</dcterms:created>
  <dcterms:modified xsi:type="dcterms:W3CDTF">2026-03-17T19:49:14Z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..\bib\bibliografia.bib</vt:lpwstr>
  </property>
  <property fmtid="{D5CDD505-2E9C-101B-9397-08002B2CF9AE}" pid="3" name="date">
    <vt:lpwstr>26-11-2019</vt:lpwstr>
  </property>
</Properties>
</file>