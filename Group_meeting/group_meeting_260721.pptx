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package/2006/relationships/metadata/extended-properties" Target="docProps/app0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4"/>
  </p:notesMasterIdLst>
  <p:handoutMasterIdLst>
    <p:handoutMasterId r:id="rId15"/>
  </p:handoutMasterIdLst>
  <p:sldIdLst>
    <p:sldId id="256" r:id="rId2"/>
    <p:sldId id="335" r:id="rId3"/>
    <p:sldId id="257" r:id="rId4"/>
    <p:sldId id="259" r:id="rId5"/>
    <p:sldId id="261" r:id="rId6"/>
    <p:sldId id="262" r:id="rId7"/>
    <p:sldId id="264" r:id="rId8"/>
    <p:sldId id="265" r:id="rId9"/>
    <p:sldId id="266" r:id="rId10"/>
    <p:sldId id="268" r:id="rId11"/>
    <p:sldId id="336" r:id="rId12"/>
    <p:sldId id="334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BBD1C603-28A2-1340-9515-120EA66DFE1A}">
          <p14:sldIdLst>
            <p14:sldId id="256"/>
            <p14:sldId id="335"/>
            <p14:sldId id="257"/>
            <p14:sldId id="259"/>
            <p14:sldId id="261"/>
            <p14:sldId id="262"/>
            <p14:sldId id="264"/>
            <p14:sldId id="265"/>
            <p14:sldId id="266"/>
            <p14:sldId id="268"/>
            <p14:sldId id="336"/>
            <p14:sldId id="33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osué Meneses Díaz" initials="JMD" lastIdx="1" clrIdx="0">
    <p:extLst>
      <p:ext uri="{19B8F6BF-5375-455C-9EA6-DF929625EA0E}">
        <p15:presenceInfo xmlns:p15="http://schemas.microsoft.com/office/powerpoint/2012/main" userId="b04c2315aa3d412c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43643"/>
    <a:srgbClr val="23373B"/>
    <a:srgbClr val="304D59"/>
    <a:srgbClr val="00315F"/>
    <a:srgbClr val="262626"/>
    <a:srgbClr val="FAFAFA"/>
    <a:srgbClr val="FFFFFF"/>
    <a:srgbClr val="243A45"/>
    <a:srgbClr val="98B6C2"/>
    <a:srgbClr val="ADADA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Estilo medio 2 - Énfasis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Estilo medio 2 - Énfasis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Estilo medio 2 - Énfasis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A488322-F2BA-4B5B-9748-0D474271808F}" styleName="Estilo medio 3 - Énfasis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25E5076-3810-47DD-B79F-674D7AD40C01}" styleName="Estilo oscuro 1 - Énfasis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BC89EF96-8CEA-46FF-86C4-4CE0E7609802}" styleName="Estilo claro 3 - Acento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8034E78-7F5D-4C2E-B375-FC64B27BC917}" styleName="Estilo oscuro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8EC20E35-A176-4012-BC5E-935CFFF8708E}" styleName="Estilo medio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511" autoAdjust="0"/>
    <p:restoredTop sz="94637" autoAdjust="0"/>
  </p:normalViewPr>
  <p:slideViewPr>
    <p:cSldViewPr snapToGrid="0" snapToObjects="1">
      <p:cViewPr varScale="1">
        <p:scale>
          <a:sx n="161" d="100"/>
          <a:sy n="161" d="100"/>
        </p:scale>
        <p:origin x="224" y="36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-10494"/>
    </p:cViewPr>
  </p:sorterViewPr>
  <p:notesViewPr>
    <p:cSldViewPr snapToGrid="0" snapToObjects="1">
      <p:cViewPr varScale="1">
        <p:scale>
          <a:sx n="66" d="100"/>
          <a:sy n="66" d="100"/>
        </p:scale>
        <p:origin x="3062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10EDF28E-8800-4B7E-93CE-9140A179761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4F043AF5-1FB9-40F2-A50C-00F64C47C8E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0510DC-4C2A-4F6F-9501-4E7F5F169603}" type="datetimeFigureOut">
              <a:rPr lang="es-CL" smtClean="0"/>
              <a:t>21-07-26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9BC3DD2-F926-44DF-82AE-6BA853059A6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42F9B4BF-E6EE-4D98-BCE0-35D9588A1C8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2CA5F-72BF-4704-8861-7B23D0958B13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8931910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49D9A3-6AD0-4C7D-A17B-441070370095}" type="datetimeFigureOut">
              <a:rPr lang="es-CL" smtClean="0"/>
              <a:t>21-07-26</a:t>
            </a:fld>
            <a:endParaRPr lang="es-C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45FC93-B29F-41F1-A4D9-E7914667CA34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7726870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45FC93-B29F-41F1-A4D9-E7914667CA34}" type="slidenum">
              <a:rPr lang="es-CL" smtClean="0"/>
              <a:t>1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8055791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2C680E2D-A060-426E-80B4-6B882581BABF}"/>
              </a:ext>
            </a:extLst>
          </p:cNvPr>
          <p:cNvSpPr/>
          <p:nvPr userDrawn="1"/>
        </p:nvSpPr>
        <p:spPr>
          <a:xfrm>
            <a:off x="0" y="-28414"/>
            <a:ext cx="12192000" cy="1321437"/>
          </a:xfrm>
          <a:prstGeom prst="rect">
            <a:avLst/>
          </a:prstGeom>
          <a:solidFill>
            <a:srgbClr val="FAFAFA"/>
          </a:solidFill>
          <a:ln>
            <a:solidFill>
              <a:srgbClr val="FAFAFA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pic>
        <p:nvPicPr>
          <p:cNvPr id="8" name="Picture 7" descr="A blue background with white text and a white logo&#10;&#10;AI-generated content may be incorrect.">
            <a:extLst>
              <a:ext uri="{FF2B5EF4-FFF2-40B4-BE49-F238E27FC236}">
                <a16:creationId xmlns:a16="http://schemas.microsoft.com/office/drawing/2014/main" id="{550513C9-FE37-ABDB-DC73-3268493D8E0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-1" r="28388"/>
          <a:stretch>
            <a:fillRect/>
          </a:stretch>
        </p:blipFill>
        <p:spPr>
          <a:xfrm>
            <a:off x="5422107" y="-30370"/>
            <a:ext cx="6777036" cy="6905800"/>
          </a:xfrm>
          <a:prstGeom prst="rect">
            <a:avLst/>
          </a:prstGeom>
        </p:spPr>
      </p:pic>
      <p:sp>
        <p:nvSpPr>
          <p:cNvPr id="9" name="Trapezoid 8">
            <a:extLst>
              <a:ext uri="{FF2B5EF4-FFF2-40B4-BE49-F238E27FC236}">
                <a16:creationId xmlns:a16="http://schemas.microsoft.com/office/drawing/2014/main" id="{B1728B86-6592-DDFF-0871-A958EF66574A}"/>
              </a:ext>
            </a:extLst>
          </p:cNvPr>
          <p:cNvSpPr/>
          <p:nvPr userDrawn="1"/>
        </p:nvSpPr>
        <p:spPr>
          <a:xfrm rot="10800000">
            <a:off x="3610050" y="-47801"/>
            <a:ext cx="4562400" cy="6905800"/>
          </a:xfrm>
          <a:prstGeom prst="trapezoid">
            <a:avLst/>
          </a:prstGeom>
          <a:solidFill>
            <a:srgbClr val="FAFAFA"/>
          </a:solidFill>
          <a:ln>
            <a:solidFill>
              <a:srgbClr val="FAFA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00046" y="2064502"/>
            <a:ext cx="10363200" cy="974724"/>
          </a:xfrm>
          <a:prstGeom prst="rect">
            <a:avLst/>
          </a:prstGeom>
        </p:spPr>
        <p:txBody>
          <a:bodyPr/>
          <a:lstStyle>
            <a:lvl1pPr algn="l">
              <a:defRPr b="0" i="0">
                <a:solidFill>
                  <a:srgbClr val="304D59"/>
                </a:solidFill>
                <a:latin typeface="Fira Sans" panose="020B0503050000020004" pitchFamily="34" charset="0"/>
                <a:ea typeface="Fira Sans" panose="020B05030500000200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00046" y="3819652"/>
            <a:ext cx="8534400" cy="670705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solidFill>
                  <a:srgbClr val="304D59"/>
                </a:solidFill>
                <a:latin typeface="Fira Sans" panose="020B0503050000020004" pitchFamily="34" charset="0"/>
                <a:ea typeface="Fira Sans" panose="020B05030500000200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07/21/26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7360" y="16635"/>
            <a:ext cx="9496425" cy="897765"/>
          </a:xfrm>
          <a:prstGeom prst="rect">
            <a:avLst/>
          </a:prstGeom>
        </p:spPr>
        <p:txBody>
          <a:bodyPr/>
          <a:lstStyle>
            <a:lvl1pPr algn="l">
              <a:defRPr b="0" i="0" cap="small" baseline="0">
                <a:latin typeface="Fira Sans" panose="020B0503050000020004" pitchFamily="34" charset="0"/>
                <a:ea typeface="Fira Sans" panose="020B05030500000200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982" y="1032481"/>
            <a:ext cx="11922474" cy="5087667"/>
          </a:xfrm>
        </p:spPr>
        <p:txBody>
          <a:bodyPr>
            <a:normAutofit/>
          </a:bodyPr>
          <a:lstStyle>
            <a:lvl1pPr>
              <a:defRPr sz="2400" b="0" i="0">
                <a:latin typeface="Fira Sans Light" panose="020B0403050000020004" pitchFamily="34" charset="0"/>
                <a:ea typeface="Fira Sans Light" panose="020B0403050000020004" pitchFamily="34" charset="0"/>
              </a:defRPr>
            </a:lvl1pPr>
            <a:lvl2pPr>
              <a:defRPr sz="2000" b="0" i="0">
                <a:latin typeface="Fira Sans Light" panose="020B0403050000020004" pitchFamily="34" charset="0"/>
                <a:ea typeface="Fira Sans Light" panose="020B0403050000020004" pitchFamily="34" charset="0"/>
              </a:defRPr>
            </a:lvl2pPr>
            <a:lvl3pPr>
              <a:defRPr sz="1800" b="0" i="0">
                <a:latin typeface="Fira Sans Light" panose="020B0403050000020004" pitchFamily="34" charset="0"/>
                <a:ea typeface="Fira Sans Light" panose="020B0403050000020004" pitchFamily="34" charset="0"/>
              </a:defRPr>
            </a:lvl3pPr>
            <a:lvl4pPr>
              <a:defRPr sz="1600" b="0" i="0">
                <a:latin typeface="Fira Sans Light" panose="020B0403050000020004" pitchFamily="34" charset="0"/>
                <a:ea typeface="Fira Sans Light" panose="020B0403050000020004" pitchFamily="34" charset="0"/>
              </a:defRPr>
            </a:lvl4pPr>
            <a:lvl5pPr>
              <a:defRPr sz="1600" b="0" i="0">
                <a:latin typeface="Fira Sans Light" panose="020B0403050000020004" pitchFamily="34" charset="0"/>
                <a:ea typeface="Fira Sans Light" panose="020B04030500000200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452993"/>
            <a:ext cx="2844800" cy="365125"/>
          </a:xfrm>
        </p:spPr>
        <p:txBody>
          <a:bodyPr/>
          <a:lstStyle/>
          <a:p>
            <a:r>
              <a:rPr lang="en-US"/>
              <a:t>07/21/26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452993"/>
            <a:ext cx="3860800" cy="365125"/>
          </a:xfrm>
        </p:spPr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452993"/>
            <a:ext cx="2844800" cy="365125"/>
          </a:xfrm>
        </p:spPr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0EAA4C7-D0B6-0DE2-E030-4ACD062DD5B1}"/>
              </a:ext>
            </a:extLst>
          </p:cNvPr>
          <p:cNvCxnSpPr/>
          <p:nvPr userDrawn="1"/>
        </p:nvCxnSpPr>
        <p:spPr>
          <a:xfrm>
            <a:off x="159543" y="6386948"/>
            <a:ext cx="11872913" cy="0"/>
          </a:xfrm>
          <a:prstGeom prst="line">
            <a:avLst/>
          </a:prstGeom>
          <a:ln w="12700">
            <a:solidFill>
              <a:srgbClr val="00315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0"/>
            <a:ext cx="10972800" cy="88259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8400" y="1249200"/>
            <a:ext cx="5384800" cy="4860000"/>
          </a:xfrm>
        </p:spPr>
        <p:txBody>
          <a:bodyPr>
            <a:normAutofit/>
          </a:bodyPr>
          <a:lstStyle>
            <a:lvl1pPr>
              <a:defRPr sz="2400">
                <a:solidFill>
                  <a:srgbClr val="23373B"/>
                </a:solidFill>
                <a:latin typeface="Fira Sans Light" panose="020B0403050000020004" pitchFamily="34" charset="0"/>
                <a:ea typeface="Fira Sans Light" panose="020B0403050000020004" pitchFamily="34" charset="0"/>
              </a:defRPr>
            </a:lvl1pPr>
            <a:lvl2pPr>
              <a:defRPr sz="2000">
                <a:latin typeface="Fira Sans Light" panose="020B0403050000020004" pitchFamily="34" charset="0"/>
                <a:ea typeface="Fira Sans Light" panose="020B0403050000020004" pitchFamily="34" charset="0"/>
              </a:defRPr>
            </a:lvl2pPr>
            <a:lvl3pPr>
              <a:defRPr sz="1800">
                <a:latin typeface="Fira Sans Light" panose="020B0403050000020004" pitchFamily="34" charset="0"/>
                <a:ea typeface="Fira Sans Light" panose="020B0403050000020004" pitchFamily="34" charset="0"/>
              </a:defRPr>
            </a:lvl3pPr>
            <a:lvl4pPr>
              <a:defRPr sz="1600">
                <a:latin typeface="Fira Sans Light" panose="020B0403050000020004" pitchFamily="34" charset="0"/>
                <a:ea typeface="Fira Sans Light" panose="020B0403050000020004" pitchFamily="34" charset="0"/>
              </a:defRPr>
            </a:lvl4pPr>
            <a:lvl5pPr>
              <a:defRPr sz="1600">
                <a:latin typeface="Fira Sans Light" panose="020B0403050000020004" pitchFamily="34" charset="0"/>
                <a:ea typeface="Fira Sans Light" panose="020B04030500000200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249200"/>
            <a:ext cx="5384800" cy="4860000"/>
          </a:xfrm>
        </p:spPr>
        <p:txBody>
          <a:bodyPr>
            <a:normAutofit/>
          </a:bodyPr>
          <a:lstStyle>
            <a:lvl1pPr>
              <a:defRPr sz="2400">
                <a:latin typeface="Fira Sans Light" panose="020B0403050000020004" pitchFamily="34" charset="0"/>
                <a:ea typeface="Fira Sans Light" panose="020B0403050000020004" pitchFamily="34" charset="0"/>
              </a:defRPr>
            </a:lvl1pPr>
            <a:lvl2pPr>
              <a:defRPr sz="2000">
                <a:latin typeface="Fira Sans Light" panose="020B0403050000020004" pitchFamily="34" charset="0"/>
                <a:ea typeface="Fira Sans Light" panose="020B0403050000020004" pitchFamily="34" charset="0"/>
              </a:defRPr>
            </a:lvl2pPr>
            <a:lvl3pPr>
              <a:defRPr sz="1800">
                <a:latin typeface="Fira Sans Light" panose="020B0403050000020004" pitchFamily="34" charset="0"/>
                <a:ea typeface="Fira Sans Light" panose="020B0403050000020004" pitchFamily="34" charset="0"/>
              </a:defRPr>
            </a:lvl3pPr>
            <a:lvl4pPr>
              <a:defRPr sz="1600">
                <a:latin typeface="Fira Sans Light" panose="020B0403050000020004" pitchFamily="34" charset="0"/>
                <a:ea typeface="Fira Sans Light" panose="020B0403050000020004" pitchFamily="34" charset="0"/>
              </a:defRPr>
            </a:lvl4pPr>
            <a:lvl5pPr>
              <a:defRPr sz="1600">
                <a:latin typeface="Fira Sans Light" panose="020B0403050000020004" pitchFamily="34" charset="0"/>
                <a:ea typeface="Fira Sans Light" panose="020B04030500000200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07/21/26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>
                <a:solidFill>
                  <a:srgbClr val="23373B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07/21/26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56EC933-7FF6-4AA7-971B-A9B1C1A350E7}"/>
              </a:ext>
            </a:extLst>
          </p:cNvPr>
          <p:cNvSpPr/>
          <p:nvPr userDrawn="1"/>
        </p:nvSpPr>
        <p:spPr>
          <a:xfrm>
            <a:off x="0" y="-28413"/>
            <a:ext cx="12192000" cy="974724"/>
          </a:xfrm>
          <a:prstGeom prst="rect">
            <a:avLst/>
          </a:prstGeom>
          <a:solidFill>
            <a:srgbClr val="FAFAFA"/>
          </a:solidFill>
          <a:ln>
            <a:solidFill>
              <a:srgbClr val="FAFAFA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 inverted colors">
    <p:bg>
      <p:bgPr>
        <a:solidFill>
          <a:srgbClr val="2337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07/21/26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56EC933-7FF6-4AA7-971B-A9B1C1A350E7}"/>
              </a:ext>
            </a:extLst>
          </p:cNvPr>
          <p:cNvSpPr/>
          <p:nvPr userDrawn="1"/>
        </p:nvSpPr>
        <p:spPr>
          <a:xfrm>
            <a:off x="0" y="-28413"/>
            <a:ext cx="12192000" cy="1500186"/>
          </a:xfrm>
          <a:prstGeom prst="rect">
            <a:avLst/>
          </a:prstGeom>
          <a:solidFill>
            <a:srgbClr val="23373B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41674778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wo columns with two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919716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1596599"/>
            <a:ext cx="5386917" cy="452956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919716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1596599"/>
            <a:ext cx="5389033" cy="452956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07/21/26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98049B74-EB33-49E5-A21C-5BC17B1D48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-3658"/>
            <a:ext cx="10972800" cy="886253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lumn and imagen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939802"/>
            <a:ext cx="4011084" cy="52083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07/21/26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765B64F9-9C06-4BFC-9CC7-D62D4572BDE4}"/>
              </a:ext>
            </a:extLst>
          </p:cNvPr>
          <p:cNvSpPr>
            <a:spLocks noGrp="1"/>
          </p:cNvSpPr>
          <p:nvPr>
            <p:ph type="body" sz="half" idx="13"/>
          </p:nvPr>
        </p:nvSpPr>
        <p:spPr>
          <a:xfrm>
            <a:off x="4773085" y="5193412"/>
            <a:ext cx="6809314" cy="93275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6B196154-C9D3-4C78-BECE-D10919688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-3658"/>
            <a:ext cx="10972800" cy="886253"/>
          </a:xfrm>
          <a:prstGeom prst="rect">
            <a:avLst/>
          </a:prstGeom>
        </p:spPr>
        <p:txBody>
          <a:bodyPr/>
          <a:lstStyle>
            <a:lvl1pPr>
              <a:defRPr u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Marcador de posición de imagen 7">
            <a:extLst>
              <a:ext uri="{FF2B5EF4-FFF2-40B4-BE49-F238E27FC236}">
                <a16:creationId xmlns:a16="http://schemas.microsoft.com/office/drawing/2014/main" id="{D74A7F3F-C231-4039-8494-F902CE8BAA4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773085" y="949968"/>
            <a:ext cx="6809315" cy="4176069"/>
          </a:xfrm>
        </p:spPr>
        <p:txBody>
          <a:bodyPr/>
          <a:lstStyle/>
          <a:p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310210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07/21/26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6B196154-C9D3-4C78-BECE-D10919688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-3658"/>
            <a:ext cx="10972800" cy="886253"/>
          </a:xfrm>
          <a:prstGeom prst="rect">
            <a:avLst/>
          </a:prstGeom>
        </p:spPr>
        <p:txBody>
          <a:bodyPr/>
          <a:lstStyle>
            <a:lvl1pPr>
              <a:defRPr u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927CDD9A-B6E8-4A23-A02E-1FA68D59E2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4743" y="929959"/>
            <a:ext cx="10967656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959A52E2-E196-4AD5-BE25-3CACC715C0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0" y="1617085"/>
            <a:ext cx="10972799" cy="448897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07/21/26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6B196154-C9D3-4C78-BECE-D10919688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-3658"/>
            <a:ext cx="10972800" cy="886253"/>
          </a:xfrm>
          <a:prstGeom prst="rect">
            <a:avLst/>
          </a:prstGeom>
        </p:spPr>
        <p:txBody>
          <a:bodyPr/>
          <a:lstStyle>
            <a:lvl1pPr>
              <a:defRPr u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927CDD9A-B6E8-4A23-A02E-1FA68D59E2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4743" y="929959"/>
            <a:ext cx="10967656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959A52E2-E196-4AD5-BE25-3CACC715C0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599" y="1617085"/>
            <a:ext cx="5408022" cy="450241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C37F2929-6A18-4BAD-AA36-EE60744758F0}"/>
              </a:ext>
            </a:extLst>
          </p:cNvPr>
          <p:cNvSpPr>
            <a:spLocks noGrp="1"/>
          </p:cNvSpPr>
          <p:nvPr>
            <p:ph type="body" sz="half" idx="13"/>
          </p:nvPr>
        </p:nvSpPr>
        <p:spPr>
          <a:xfrm>
            <a:off x="6174379" y="1617085"/>
            <a:ext cx="5408022" cy="448897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175772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07/21/26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8962BEB1-7B29-4BAC-8B48-10A147F1A42A}"/>
              </a:ext>
            </a:extLst>
          </p:cNvPr>
          <p:cNvSpPr/>
          <p:nvPr userDrawn="1"/>
        </p:nvSpPr>
        <p:spPr>
          <a:xfrm>
            <a:off x="0" y="0"/>
            <a:ext cx="12192000" cy="949569"/>
          </a:xfrm>
          <a:prstGeom prst="rect">
            <a:avLst/>
          </a:prstGeom>
          <a:solidFill>
            <a:srgbClr val="FAFAFA"/>
          </a:solidFill>
          <a:ln>
            <a:solidFill>
              <a:srgbClr val="FAFAFA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8D9C7531-5490-48CC-82EC-3580AEA6AE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2389717" y="612774"/>
            <a:ext cx="7315200" cy="468058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ly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07/21/26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AF30ABA-6BFD-4C8C-A4E2-2A730B48E3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-3658"/>
            <a:ext cx="10972800" cy="886253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lea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07/21/26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microsoft.com/office/2007/relationships/hdphoto" Target="../media/hdphoto1.wdp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157" y="1463041"/>
            <a:ext cx="11374243" cy="46631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Fira Sans" panose="020B0503050000020004" pitchFamily="34" charset="0"/>
                <a:ea typeface="Fira Sans" panose="020B0503050000020004" pitchFamily="34" charset="0"/>
              </a:defRPr>
            </a:lvl1pPr>
          </a:lstStyle>
          <a:p>
            <a:r>
              <a:rPr lang="en-US"/>
              <a:t>07/21/26</a:t>
            </a:r>
            <a:endParaRPr lang="en-US" dirty="0">
              <a:latin typeface="Fira Sans" panose="020B0503050000020004" pitchFamily="34" charset="0"/>
              <a:ea typeface="Fira Sans" panose="020B0503050000020004" pitchFamily="3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Fira Sans" panose="020B0503050000020004" pitchFamily="34" charset="0"/>
                <a:ea typeface="Fira Sans" panose="020B0503050000020004" pitchFamily="34" charset="0"/>
              </a:defRPr>
            </a:lvl1pPr>
          </a:lstStyle>
          <a:p>
            <a:r>
              <a:rPr lang="en-US" dirty="0"/>
              <a:t>Group meeting</a:t>
            </a:r>
            <a:endParaRPr lang="en-US" dirty="0">
              <a:latin typeface="Fira Sans" panose="020B0503050000020004" pitchFamily="34" charset="0"/>
              <a:ea typeface="Fira Sans" panose="020B05030500000200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Fira Sans" panose="020B0503050000020004" pitchFamily="34" charset="0"/>
                <a:ea typeface="Fira Sans" panose="020B0503050000020004" pitchFamily="34" charset="0"/>
              </a:defRPr>
            </a:lvl1pPr>
          </a:lstStyle>
          <a:p>
            <a:fld id="{C5EF2332-01BF-834F-8236-50238282D533}" type="slidenum">
              <a:rPr lang="en-US" smtClean="0"/>
              <a:pPr/>
              <a:t>‹#›</a:t>
            </a:fld>
            <a:endParaRPr lang="en-US" dirty="0">
              <a:latin typeface="Fira Sans" panose="020B0503050000020004" pitchFamily="34" charset="0"/>
              <a:ea typeface="Fira Sans" panose="020B0503050000020004" pitchFamily="34" charset="0"/>
            </a:endParaRPr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F72AA3B3-8196-4D73-8E74-BE65D0B261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9756" y="1"/>
            <a:ext cx="9410700" cy="9303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pic>
        <p:nvPicPr>
          <p:cNvPr id="8" name="Picture 7" descr="A blue background with white text and a white circle&#10;&#10;AI-generated content may be incorrect.">
            <a:extLst>
              <a:ext uri="{FF2B5EF4-FFF2-40B4-BE49-F238E27FC236}">
                <a16:creationId xmlns:a16="http://schemas.microsoft.com/office/drawing/2014/main" id="{8EB0ECAC-F4C3-9F09-0CD7-41F0101D8FE5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rcRect b="24538"/>
          <a:stretch>
            <a:fillRect/>
          </a:stretch>
        </p:blipFill>
        <p:spPr>
          <a:xfrm>
            <a:off x="208157" y="1"/>
            <a:ext cx="1421599" cy="930340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1" r:id="rId4"/>
    <p:sldLayoutId id="2147483662" r:id="rId5"/>
    <p:sldLayoutId id="2147483653" r:id="rId6"/>
    <p:sldLayoutId id="2147483660" r:id="rId7"/>
    <p:sldLayoutId id="2147483656" r:id="rId8"/>
    <p:sldLayoutId id="2147483661" r:id="rId9"/>
    <p:sldLayoutId id="2147483657" r:id="rId10"/>
    <p:sldLayoutId id="2147483654" r:id="rId11"/>
    <p:sldLayoutId id="2147483655" r:id="rId12"/>
  </p:sldLayoutIdLst>
  <p:hf hdr="0"/>
  <p:txStyles>
    <p:titleStyle>
      <a:lvl1pPr algn="l" defTabSz="457200" rtl="0" eaLnBrk="1" latinLnBrk="0" hangingPunct="1">
        <a:spcBef>
          <a:spcPct val="0"/>
        </a:spcBef>
        <a:buNone/>
        <a:defRPr sz="3200" b="0" i="0" kern="1200">
          <a:solidFill>
            <a:srgbClr val="00315F"/>
          </a:solidFill>
          <a:latin typeface="Fira Sans" panose="020B0503050000020004" pitchFamily="34" charset="0"/>
          <a:ea typeface="Fira Sans" panose="020B0503050000020004" pitchFamily="34" charset="0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400" b="0" i="0" kern="1200">
          <a:solidFill>
            <a:srgbClr val="243643"/>
          </a:solidFill>
          <a:latin typeface="Fira Sans" panose="020B0503050000020004" pitchFamily="34" charset="0"/>
          <a:ea typeface="Fira Sans" panose="020B0503050000020004" pitchFamily="34" charset="0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000" b="0" i="0" kern="1200">
          <a:solidFill>
            <a:srgbClr val="243643"/>
          </a:solidFill>
          <a:latin typeface="Fira Sans" panose="020B0503050000020004" pitchFamily="34" charset="0"/>
          <a:ea typeface="Fira Sans" panose="020B0503050000020004" pitchFamily="34" charset="0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800" b="0" i="0" kern="1200">
          <a:solidFill>
            <a:srgbClr val="243643"/>
          </a:solidFill>
          <a:latin typeface="Fira Sans" panose="020B0503050000020004" pitchFamily="34" charset="0"/>
          <a:ea typeface="Fira Sans" panose="020B0503050000020004" pitchFamily="34" charset="0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600" b="0" i="0" kern="1200">
          <a:solidFill>
            <a:srgbClr val="243643"/>
          </a:solidFill>
          <a:latin typeface="Fira Sans" panose="020B0503050000020004" pitchFamily="34" charset="0"/>
          <a:ea typeface="Fira Sans" panose="020B0503050000020004" pitchFamily="34" charset="0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600" b="0" i="0" kern="1200">
          <a:solidFill>
            <a:srgbClr val="243643"/>
          </a:solidFill>
          <a:latin typeface="Fira Sans" panose="020B0503050000020004" pitchFamily="34" charset="0"/>
          <a:ea typeface="Fira Sans" panose="020B0503050000020004" pitchFamily="34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733385"/>
            <a:ext cx="6978580" cy="2234317"/>
          </a:xfrm>
        </p:spPr>
        <p:txBody>
          <a:bodyPr>
            <a:normAutofit/>
          </a:bodyPr>
          <a:lstStyle/>
          <a:p>
            <a:pPr lvl="0" algn="l"/>
            <a:r>
              <a:rPr lang="en-US" sz="7200" cap="small" dirty="0">
                <a:latin typeface="Fira Sans" panose="020B0503050000020004" pitchFamily="34" charset="0"/>
                <a:ea typeface="Fira Sans" panose="020B0503050000020004" pitchFamily="34" charset="0"/>
              </a:rPr>
              <a:t>Group meeting</a:t>
            </a:r>
            <a:endParaRPr sz="7200" cap="small" dirty="0">
              <a:latin typeface="Fira Sans" panose="020B0503050000020004" pitchFamily="34" charset="0"/>
              <a:ea typeface="Fira Sans" panose="020B0503050000020004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4069887"/>
            <a:ext cx="6873240" cy="676127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s-MX" dirty="0">
                <a:latin typeface="Fira Sans" panose="020B0503050000020004" pitchFamily="34" charset="0"/>
                <a:ea typeface="Fira Sans" panose="020B0503050000020004" pitchFamily="34" charset="0"/>
              </a:rPr>
              <a:t>Mathieu Ouillon (Mississippi State University)</a:t>
            </a:r>
            <a:endParaRPr dirty="0">
              <a:latin typeface="Fira Sans" panose="020B0503050000020004" pitchFamily="34" charset="0"/>
              <a:ea typeface="Fira Sans" panose="020B0503050000020004" pitchFamily="34" charset="0"/>
            </a:endParaRP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0D63A573-154D-7B40-5738-504DAF2B226D}"/>
              </a:ext>
            </a:extLst>
          </p:cNvPr>
          <p:cNvSpPr txBox="1">
            <a:spLocks/>
          </p:cNvSpPr>
          <p:nvPr/>
        </p:nvSpPr>
        <p:spPr>
          <a:xfrm>
            <a:off x="457200" y="4746014"/>
            <a:ext cx="20757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 defTabSz="457200" rtl="0" eaLnBrk="1" latinLnBrk="0" hangingPunct="1">
              <a:spcBef>
                <a:spcPct val="20000"/>
              </a:spcBef>
              <a:buFont typeface="Arial"/>
              <a:buNone/>
            </a:pPr>
            <a:r>
              <a:rPr lang="es-CL" sz="2000" kern="1200" noProof="0" dirty="0">
                <a:solidFill>
                  <a:srgbClr val="304D59"/>
                </a:solidFill>
                <a:latin typeface="Fira Sans" panose="020B0503050000020004" pitchFamily="34" charset="0"/>
                <a:ea typeface="Fira Sans" panose="020B0503050000020004" pitchFamily="34" charset="0"/>
              </a:rPr>
              <a:t>07/21/26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319"/>
    </mc:Choice>
    <mc:Fallback xmlns="">
      <p:transition spd="slow" advTm="13319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C9745A-151C-E16E-4B9F-5DB51DB250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>
                <a:solidFill>
                  <a:srgbClr val="304D59"/>
                </a:solidFill>
                <a:latin typeface="Fira Sans Light"/>
              </a:rPr>
              <a:t>Overview: what is in the workspace</a:t>
            </a:r>
            <a:endParaRPr lang="en-US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D85A50-D6C3-140E-885F-48F81E46E1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Last week I work on organizing and documenting all the code/work on </a:t>
            </a:r>
            <a:r>
              <a:rPr lang="en-US" dirty="0" err="1"/>
              <a:t>ifarm</a:t>
            </a:r>
            <a:r>
              <a:rPr lang="en-US" dirty="0"/>
              <a:t> and GitHub: </a:t>
            </a:r>
          </a:p>
          <a:p>
            <a:pPr marL="0" indent="0">
              <a:buNone/>
            </a:pPr>
            <a:r>
              <a:rPr lang="en-US" dirty="0"/>
              <a:t>Main folder in </a:t>
            </a:r>
            <a:r>
              <a:rPr lang="en-US" dirty="0" err="1"/>
              <a:t>ifarm</a:t>
            </a:r>
            <a:r>
              <a:rPr lang="en-US" dirty="0"/>
              <a:t>: </a:t>
            </a:r>
            <a:r>
              <a:rPr lang="en-US" dirty="0">
                <a:latin typeface="FiraCode Nerd Font Light" panose="02000009000000000000" pitchFamily="49" charset="0"/>
                <a:ea typeface="FiraCode Nerd Font Light" panose="02000009000000000000" pitchFamily="49" charset="0"/>
                <a:cs typeface="FiraCode Nerd Font Light" panose="02000009000000000000" pitchFamily="49" charset="0"/>
              </a:rPr>
              <a:t>/work/clas12/</a:t>
            </a:r>
            <a:r>
              <a:rPr lang="en-US" dirty="0" err="1">
                <a:latin typeface="FiraCode Nerd Font Light" panose="02000009000000000000" pitchFamily="49" charset="0"/>
                <a:ea typeface="FiraCode Nerd Font Light" panose="02000009000000000000" pitchFamily="49" charset="0"/>
                <a:cs typeface="FiraCode Nerd Font Light" panose="02000009000000000000" pitchFamily="49" charset="0"/>
              </a:rPr>
              <a:t>ouillon</a:t>
            </a:r>
            <a:endParaRPr lang="en-US" dirty="0">
              <a:latin typeface="FiraCode Nerd Font Light" panose="02000009000000000000" pitchFamily="49" charset="0"/>
              <a:ea typeface="FiraCode Nerd Font Light" panose="02000009000000000000" pitchFamily="49" charset="0"/>
              <a:cs typeface="FiraCode Nerd Font Light" panose="02000009000000000000" pitchFamily="49" charset="0"/>
            </a:endParaRPr>
          </a:p>
          <a:p>
            <a:pPr marL="0" indent="0">
              <a:buNone/>
            </a:pPr>
            <a:endParaRPr lang="en-US" dirty="0">
              <a:latin typeface="FiraCode Nerd Font Light" panose="02000009000000000000" pitchFamily="49" charset="0"/>
              <a:ea typeface="FiraCode Nerd Font Light" panose="02000009000000000000" pitchFamily="49" charset="0"/>
              <a:cs typeface="FiraCode Nerd Font Light" panose="02000009000000000000" pitchFamily="49" charset="0"/>
            </a:endParaRPr>
          </a:p>
          <a:p>
            <a:pPr marL="0" indent="0">
              <a:buNone/>
            </a:pPr>
            <a:endParaRPr lang="en-US" dirty="0">
              <a:latin typeface="FiraCode Nerd Font Light" panose="02000009000000000000" pitchFamily="49" charset="0"/>
              <a:ea typeface="FiraCode Nerd Font Light" panose="02000009000000000000" pitchFamily="49" charset="0"/>
              <a:cs typeface="FiraCode Nerd Font Light" panose="02000009000000000000" pitchFamily="49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9E5A9C-62D1-6277-CC23-E5D627B3D8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07/21/26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4DB848-6264-88A2-7A6B-F44A696F4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4D45B1-23E3-65A7-DEE6-4F50DA6CA1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2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D62012B-BF35-F286-C993-9019B9CD83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823" y="2444626"/>
            <a:ext cx="11365577" cy="879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10404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400" b="0" dirty="0">
                <a:solidFill>
                  <a:srgbClr val="304D59"/>
                </a:solidFill>
                <a:latin typeface="Fira Sans Light"/>
              </a:rPr>
              <a:t>Overview: what is in the workspace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982" y="1032481"/>
            <a:ext cx="11922474" cy="5328562"/>
          </a:xfrm>
        </p:spPr>
        <p:txBody>
          <a:bodyPr wrap="square">
            <a:normAutofit/>
          </a:bodyPr>
          <a:lstStyle/>
          <a:p>
            <a:r>
              <a:rPr dirty="0">
                <a:solidFill>
                  <a:srgbClr val="304D59"/>
                </a:solidFill>
              </a:rPr>
              <a:t>RGD/</a:t>
            </a:r>
            <a:r>
              <a:rPr lang="en-US" dirty="0">
                <a:solidFill>
                  <a:srgbClr val="304D59"/>
                </a:solidFill>
              </a:rPr>
              <a:t> :</a:t>
            </a:r>
            <a:r>
              <a:rPr dirty="0">
                <a:solidFill>
                  <a:srgbClr val="304D59"/>
                </a:solidFill>
              </a:rPr>
              <a:t> Run Group D, nuclear targets LD2 / </a:t>
            </a:r>
            <a:r>
              <a:rPr dirty="0" err="1">
                <a:solidFill>
                  <a:srgbClr val="304D59"/>
                </a:solidFill>
              </a:rPr>
              <a:t>CxC</a:t>
            </a:r>
            <a:r>
              <a:rPr dirty="0">
                <a:solidFill>
                  <a:srgbClr val="304D59"/>
                </a:solidFill>
              </a:rPr>
              <a:t> / Cu / Sn (12 projects)</a:t>
            </a:r>
          </a:p>
          <a:p>
            <a:r>
              <a:rPr dirty="0">
                <a:solidFill>
                  <a:srgbClr val="304D59"/>
                </a:solidFill>
              </a:rPr>
              <a:t>RGF/ </a:t>
            </a:r>
            <a:r>
              <a:rPr lang="en-US" dirty="0">
                <a:solidFill>
                  <a:srgbClr val="304D59"/>
                </a:solidFill>
              </a:rPr>
              <a:t>:</a:t>
            </a:r>
            <a:r>
              <a:rPr dirty="0">
                <a:solidFill>
                  <a:srgbClr val="304D59"/>
                </a:solidFill>
              </a:rPr>
              <a:t> Run Group F, neutron DVCS with the BONuS12 RTPC (3 projects)</a:t>
            </a:r>
          </a:p>
          <a:p>
            <a:r>
              <a:rPr dirty="0">
                <a:solidFill>
                  <a:srgbClr val="304D59"/>
                </a:solidFill>
              </a:rPr>
              <a:t>RGL/ </a:t>
            </a:r>
            <a:r>
              <a:rPr lang="en-US" dirty="0">
                <a:solidFill>
                  <a:srgbClr val="304D59"/>
                </a:solidFill>
              </a:rPr>
              <a:t>:</a:t>
            </a:r>
            <a:r>
              <a:rPr dirty="0">
                <a:solidFill>
                  <a:srgbClr val="304D59"/>
                </a:solidFill>
              </a:rPr>
              <a:t> Run Group L, the ALERT recoil detector and AHDC (3 projects)</a:t>
            </a:r>
          </a:p>
          <a:p>
            <a:r>
              <a:rPr dirty="0">
                <a:solidFill>
                  <a:srgbClr val="304D59"/>
                </a:solidFill>
              </a:rPr>
              <a:t>other/ </a:t>
            </a:r>
            <a:r>
              <a:rPr lang="en-US" dirty="0">
                <a:solidFill>
                  <a:srgbClr val="304D59"/>
                </a:solidFill>
              </a:rPr>
              <a:t>:</a:t>
            </a:r>
            <a:r>
              <a:rPr dirty="0">
                <a:solidFill>
                  <a:srgbClr val="304D59"/>
                </a:solidFill>
              </a:rPr>
              <a:t> shared tooling: farm job monitoring, beam charge and run database (4)</a:t>
            </a:r>
          </a:p>
          <a:p>
            <a:r>
              <a:rPr dirty="0" err="1">
                <a:solidFill>
                  <a:srgbClr val="304D59"/>
                </a:solidFill>
              </a:rPr>
              <a:t>Typst</a:t>
            </a:r>
            <a:r>
              <a:rPr dirty="0">
                <a:solidFill>
                  <a:srgbClr val="304D59"/>
                </a:solidFill>
              </a:rPr>
              <a:t>/ and Presentation/ </a:t>
            </a:r>
            <a:r>
              <a:rPr lang="en-US" dirty="0">
                <a:solidFill>
                  <a:srgbClr val="304D59"/>
                </a:solidFill>
              </a:rPr>
              <a:t>:</a:t>
            </a:r>
            <a:r>
              <a:rPr dirty="0">
                <a:solidFill>
                  <a:srgbClr val="304D59"/>
                </a:solidFill>
              </a:rPr>
              <a:t> analysis notes and slide decks</a:t>
            </a:r>
          </a:p>
          <a:p>
            <a:r>
              <a:rPr dirty="0">
                <a:solidFill>
                  <a:srgbClr val="304D59"/>
                </a:solidFill>
              </a:rPr>
              <a:t>archive/ </a:t>
            </a:r>
            <a:r>
              <a:rPr lang="en-US" dirty="0">
                <a:solidFill>
                  <a:srgbClr val="304D59"/>
                </a:solidFill>
              </a:rPr>
              <a:t>:</a:t>
            </a:r>
            <a:r>
              <a:rPr dirty="0">
                <a:solidFill>
                  <a:srgbClr val="304D59"/>
                </a:solidFill>
              </a:rPr>
              <a:t> about 43 retired projects, kept for reference</a:t>
            </a:r>
            <a:endParaRPr lang="en-US" dirty="0">
              <a:solidFill>
                <a:srgbClr val="304D59"/>
              </a:solidFill>
            </a:endParaRPr>
          </a:p>
          <a:p>
            <a:endParaRPr lang="en-US" dirty="0">
              <a:solidFill>
                <a:srgbClr val="304D59"/>
              </a:solidFill>
            </a:endParaRPr>
          </a:p>
          <a:p>
            <a:r>
              <a:rPr lang="en-US" dirty="0" err="1">
                <a:solidFill>
                  <a:srgbClr val="304D59"/>
                </a:solidFill>
              </a:rPr>
              <a:t>Organised</a:t>
            </a:r>
            <a:r>
              <a:rPr lang="en-US" dirty="0">
                <a:solidFill>
                  <a:srgbClr val="304D59"/>
                </a:solidFill>
              </a:rPr>
              <a:t> by run group, plus shared tooling that is not tied to one</a:t>
            </a:r>
          </a:p>
          <a:p>
            <a:r>
              <a:rPr lang="en-US" dirty="0">
                <a:solidFill>
                  <a:srgbClr val="304D59"/>
                </a:solidFill>
              </a:rPr>
              <a:t>Every folder has a README: top level, then a per-run-group index, then the project</a:t>
            </a:r>
          </a:p>
          <a:p>
            <a:r>
              <a:rPr lang="en-US" dirty="0">
                <a:solidFill>
                  <a:srgbClr val="304D59"/>
                </a:solidFill>
              </a:rPr>
              <a:t>Python with </a:t>
            </a:r>
            <a:r>
              <a:rPr lang="en-US" dirty="0" err="1">
                <a:solidFill>
                  <a:srgbClr val="304D59"/>
                </a:solidFill>
              </a:rPr>
              <a:t>uv</a:t>
            </a:r>
            <a:r>
              <a:rPr lang="en-US" dirty="0">
                <a:solidFill>
                  <a:srgbClr val="304D59"/>
                </a:solidFill>
              </a:rPr>
              <a:t>; C++ with meson or </a:t>
            </a:r>
            <a:r>
              <a:rPr lang="en-US" dirty="0" err="1">
                <a:solidFill>
                  <a:srgbClr val="304D59"/>
                </a:solidFill>
              </a:rPr>
              <a:t>CMake</a:t>
            </a:r>
            <a:r>
              <a:rPr lang="en-US" dirty="0">
                <a:solidFill>
                  <a:srgbClr val="304D59"/>
                </a:solidFill>
              </a:rPr>
              <a:t>; some Fortran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36001C-79CF-BD4B-163D-B0EF730D27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07/21/26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18591E-DAF4-216A-7D14-06904618CE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FAE8B9-C194-1D04-764D-6B456E3BC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400" b="0" dirty="0">
                <a:solidFill>
                  <a:srgbClr val="304D59"/>
                </a:solidFill>
                <a:latin typeface="Fira Sans Light"/>
              </a:rPr>
              <a:t>RG-D: twelve projects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982" y="1032481"/>
            <a:ext cx="11922474" cy="5320611"/>
          </a:xfrm>
        </p:spPr>
        <p:txBody>
          <a:bodyPr wrap="square">
            <a:normAutofit lnSpcReduction="10000"/>
          </a:bodyPr>
          <a:lstStyle/>
          <a:p>
            <a:r>
              <a:rPr dirty="0">
                <a:solidFill>
                  <a:srgbClr val="304D59"/>
                </a:solidFill>
              </a:rPr>
              <a:t>Simulation</a:t>
            </a:r>
          </a:p>
          <a:p>
            <a:pPr lvl="1"/>
            <a:r>
              <a:rPr dirty="0" err="1">
                <a:solidFill>
                  <a:srgbClr val="304D59"/>
                </a:solidFill>
              </a:rPr>
              <a:t>sidis_mc</a:t>
            </a:r>
            <a:r>
              <a:rPr dirty="0">
                <a:solidFill>
                  <a:srgbClr val="304D59"/>
                </a:solidFill>
              </a:rPr>
              <a:t> — SIDIS event generator, PYTHIA6 plus nuclear effects</a:t>
            </a:r>
          </a:p>
          <a:p>
            <a:pPr lvl="1"/>
            <a:r>
              <a:rPr dirty="0" err="1">
                <a:solidFill>
                  <a:srgbClr val="304D59"/>
                </a:solidFill>
              </a:rPr>
              <a:t>background_merging</a:t>
            </a:r>
            <a:r>
              <a:rPr dirty="0">
                <a:solidFill>
                  <a:srgbClr val="304D59"/>
                </a:solidFill>
              </a:rPr>
              <a:t> — GEMC and </a:t>
            </a:r>
            <a:r>
              <a:rPr dirty="0" err="1">
                <a:solidFill>
                  <a:srgbClr val="304D59"/>
                </a:solidFill>
              </a:rPr>
              <a:t>coatjava</a:t>
            </a:r>
            <a:r>
              <a:rPr dirty="0">
                <a:solidFill>
                  <a:srgbClr val="304D59"/>
                </a:solidFill>
              </a:rPr>
              <a:t> reconstruction workflows</a:t>
            </a:r>
          </a:p>
          <a:p>
            <a:r>
              <a:rPr dirty="0">
                <a:solidFill>
                  <a:srgbClr val="304D59"/>
                </a:solidFill>
              </a:rPr>
              <a:t>Machine learning</a:t>
            </a:r>
          </a:p>
          <a:p>
            <a:pPr lvl="1"/>
            <a:r>
              <a:rPr dirty="0" err="1">
                <a:solidFill>
                  <a:srgbClr val="304D59"/>
                </a:solidFill>
              </a:rPr>
              <a:t>ai_hadron</a:t>
            </a:r>
            <a:r>
              <a:rPr dirty="0">
                <a:solidFill>
                  <a:srgbClr val="304D59"/>
                </a:solidFill>
              </a:rPr>
              <a:t> — </a:t>
            </a:r>
            <a:r>
              <a:rPr dirty="0" err="1">
                <a:solidFill>
                  <a:srgbClr val="304D59"/>
                </a:solidFill>
              </a:rPr>
              <a:t>CatBoost</a:t>
            </a:r>
            <a:r>
              <a:rPr dirty="0">
                <a:solidFill>
                  <a:srgbClr val="304D59"/>
                </a:solidFill>
              </a:rPr>
              <a:t> hadron particle identification</a:t>
            </a:r>
          </a:p>
          <a:p>
            <a:pPr lvl="1"/>
            <a:r>
              <a:rPr dirty="0">
                <a:solidFill>
                  <a:srgbClr val="304D59"/>
                </a:solidFill>
              </a:rPr>
              <a:t>RGD-</a:t>
            </a:r>
            <a:r>
              <a:rPr dirty="0" err="1">
                <a:solidFill>
                  <a:srgbClr val="304D59"/>
                </a:solidFill>
              </a:rPr>
              <a:t>AINet</a:t>
            </a:r>
            <a:r>
              <a:rPr dirty="0">
                <a:solidFill>
                  <a:srgbClr val="304D59"/>
                </a:solidFill>
              </a:rPr>
              <a:t> — AI drift chamber track finding and denoising</a:t>
            </a:r>
            <a:r>
              <a:rPr lang="en-US" dirty="0">
                <a:solidFill>
                  <a:srgbClr val="304D59"/>
                </a:solidFill>
              </a:rPr>
              <a:t>, trains the .network models </a:t>
            </a:r>
            <a:r>
              <a:rPr lang="en-US" dirty="0" err="1">
                <a:solidFill>
                  <a:srgbClr val="304D59"/>
                </a:solidFill>
              </a:rPr>
              <a:t>coatjava</a:t>
            </a:r>
            <a:r>
              <a:rPr lang="en-US" dirty="0">
                <a:solidFill>
                  <a:srgbClr val="304D59"/>
                </a:solidFill>
              </a:rPr>
              <a:t> loads</a:t>
            </a:r>
            <a:endParaRPr dirty="0">
              <a:solidFill>
                <a:srgbClr val="304D59"/>
              </a:solidFill>
            </a:endParaRPr>
          </a:p>
          <a:p>
            <a:r>
              <a:rPr dirty="0">
                <a:solidFill>
                  <a:srgbClr val="304D59"/>
                </a:solidFill>
              </a:rPr>
              <a:t>Physics analyses</a:t>
            </a:r>
          </a:p>
          <a:p>
            <a:pPr lvl="1"/>
            <a:r>
              <a:rPr dirty="0" err="1">
                <a:solidFill>
                  <a:srgbClr val="304D59"/>
                </a:solidFill>
              </a:rPr>
              <a:t>nuclear_transparency_python</a:t>
            </a:r>
            <a:r>
              <a:rPr lang="en-US" dirty="0">
                <a:solidFill>
                  <a:srgbClr val="304D59"/>
                </a:solidFill>
              </a:rPr>
              <a:t> (still need some work)</a:t>
            </a:r>
            <a:r>
              <a:rPr dirty="0">
                <a:solidFill>
                  <a:srgbClr val="304D59"/>
                </a:solidFill>
              </a:rPr>
              <a:t>, rgd-pi0, </a:t>
            </a:r>
            <a:r>
              <a:rPr dirty="0" err="1">
                <a:solidFill>
                  <a:srgbClr val="304D59"/>
                </a:solidFill>
              </a:rPr>
              <a:t>rgd_hadron_contamination</a:t>
            </a:r>
            <a:r>
              <a:rPr dirty="0">
                <a:solidFill>
                  <a:srgbClr val="304D59"/>
                </a:solidFill>
              </a:rPr>
              <a:t>, toy-contamination</a:t>
            </a:r>
          </a:p>
          <a:p>
            <a:r>
              <a:rPr dirty="0">
                <a:solidFill>
                  <a:srgbClr val="304D59"/>
                </a:solidFill>
              </a:rPr>
              <a:t>Tools and quality checks</a:t>
            </a:r>
          </a:p>
          <a:p>
            <a:pPr lvl="1"/>
            <a:r>
              <a:rPr dirty="0" err="1">
                <a:solidFill>
                  <a:srgbClr val="304D59"/>
                </a:solidFill>
              </a:rPr>
              <a:t>skim_for_RGD</a:t>
            </a:r>
            <a:r>
              <a:rPr dirty="0">
                <a:solidFill>
                  <a:srgbClr val="304D59"/>
                </a:solidFill>
              </a:rPr>
              <a:t>, </a:t>
            </a:r>
            <a:r>
              <a:rPr dirty="0" err="1">
                <a:solidFill>
                  <a:srgbClr val="304D59"/>
                </a:solidFill>
              </a:rPr>
              <a:t>check_timelines</a:t>
            </a:r>
            <a:r>
              <a:rPr dirty="0">
                <a:solidFill>
                  <a:srgbClr val="304D59"/>
                </a:solidFill>
              </a:rPr>
              <a:t>, swim-</a:t>
            </a:r>
            <a:r>
              <a:rPr dirty="0" err="1">
                <a:solidFill>
                  <a:srgbClr val="304D59"/>
                </a:solidFill>
              </a:rPr>
              <a:t>cpp</a:t>
            </a:r>
            <a:r>
              <a:rPr dirty="0">
                <a:solidFill>
                  <a:srgbClr val="304D59"/>
                </a:solidFill>
              </a:rPr>
              <a:t>, </a:t>
            </a:r>
            <a:r>
              <a:rPr dirty="0" err="1">
                <a:solidFill>
                  <a:srgbClr val="304D59"/>
                </a:solidFill>
              </a:rPr>
              <a:t>pion_vs_mu_analysis</a:t>
            </a:r>
            <a:endParaRPr lang="en-US" dirty="0">
              <a:solidFill>
                <a:srgbClr val="304D59"/>
              </a:solidFill>
            </a:endParaRPr>
          </a:p>
          <a:p>
            <a:r>
              <a:rPr lang="en-US" dirty="0">
                <a:solidFill>
                  <a:srgbClr val="304D59"/>
                </a:solidFill>
              </a:rPr>
              <a:t>Each stage is its own project with its own README, so the chain can be joined at any point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D4B0BB-57DE-57B3-B556-A6D3F83E12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07/21/26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2E22A9-DFFB-9101-2200-16EDEEB9B0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D9C31C-BF4C-3B34-6E44-A30E827255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400" b="0" dirty="0">
                <a:solidFill>
                  <a:srgbClr val="304D59"/>
                </a:solidFill>
                <a:latin typeface="Fira Sans Light"/>
              </a:rPr>
              <a:t>RG-F: neutron DVCS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r>
              <a:rPr dirty="0">
                <a:solidFill>
                  <a:srgbClr val="304D59"/>
                </a:solidFill>
              </a:rPr>
              <a:t>Neutron DVCS on a deuterium target; the BONuS12 RTPC tags the spectator proton</a:t>
            </a:r>
          </a:p>
          <a:p>
            <a:pPr lvl="1"/>
            <a:r>
              <a:rPr lang="en-US" dirty="0">
                <a:solidFill>
                  <a:srgbClr val="304D59"/>
                </a:solidFill>
              </a:rPr>
              <a:t>B</a:t>
            </a:r>
            <a:r>
              <a:rPr dirty="0">
                <a:solidFill>
                  <a:srgbClr val="304D59"/>
                </a:solidFill>
              </a:rPr>
              <a:t>onus12simu</a:t>
            </a:r>
            <a:r>
              <a:rPr lang="en-US" dirty="0">
                <a:solidFill>
                  <a:srgbClr val="304D59"/>
                </a:solidFill>
              </a:rPr>
              <a:t>:</a:t>
            </a:r>
            <a:r>
              <a:rPr dirty="0">
                <a:solidFill>
                  <a:srgbClr val="304D59"/>
                </a:solidFill>
              </a:rPr>
              <a:t> GEMC and BONuS12 detector simulation: </a:t>
            </a:r>
            <a:r>
              <a:rPr dirty="0" err="1">
                <a:solidFill>
                  <a:srgbClr val="304D59"/>
                </a:solidFill>
              </a:rPr>
              <a:t>gcards</a:t>
            </a:r>
            <a:r>
              <a:rPr dirty="0">
                <a:solidFill>
                  <a:srgbClr val="304D59"/>
                </a:solidFill>
              </a:rPr>
              <a:t>, LUND inputs, farm jobs</a:t>
            </a:r>
          </a:p>
          <a:p>
            <a:pPr lvl="1"/>
            <a:r>
              <a:rPr dirty="0" err="1">
                <a:solidFill>
                  <a:srgbClr val="304D59"/>
                </a:solidFill>
              </a:rPr>
              <a:t>my_topeg</a:t>
            </a:r>
            <a:r>
              <a:rPr lang="en-US" dirty="0">
                <a:solidFill>
                  <a:srgbClr val="304D59"/>
                </a:solidFill>
              </a:rPr>
              <a:t>:</a:t>
            </a:r>
            <a:r>
              <a:rPr dirty="0">
                <a:solidFill>
                  <a:srgbClr val="304D59"/>
                </a:solidFill>
              </a:rPr>
              <a:t> the TOPEG exclusive-process generator, C++ and Fortran, Argonne-v18 wavefunction</a:t>
            </a:r>
          </a:p>
          <a:p>
            <a:pPr lvl="1"/>
            <a:r>
              <a:rPr dirty="0" err="1">
                <a:solidFill>
                  <a:srgbClr val="304D59"/>
                </a:solidFill>
              </a:rPr>
              <a:t>nDVCSAnalysis</a:t>
            </a:r>
            <a:r>
              <a:rPr lang="en-US" dirty="0">
                <a:solidFill>
                  <a:srgbClr val="304D59"/>
                </a:solidFill>
              </a:rPr>
              <a:t>:</a:t>
            </a:r>
            <a:r>
              <a:rPr dirty="0">
                <a:solidFill>
                  <a:srgbClr val="304D59"/>
                </a:solidFill>
              </a:rPr>
              <a:t> the analysis in C++ and </a:t>
            </a:r>
            <a:r>
              <a:rPr dirty="0" err="1">
                <a:solidFill>
                  <a:srgbClr val="304D59"/>
                </a:solidFill>
              </a:rPr>
              <a:t>CMake</a:t>
            </a:r>
            <a:r>
              <a:rPr dirty="0">
                <a:solidFill>
                  <a:srgbClr val="304D59"/>
                </a:solidFill>
              </a:rPr>
              <a:t>: cut configs, elastic calibration, 2020 data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EA6197-D9AA-1115-7F89-EAD899207B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07/21/26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F5D90C-87BB-5590-C377-4F79A90B5C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7D0F0A-86BE-7142-6CDF-F031A5FB74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400" b="0" dirty="0">
                <a:solidFill>
                  <a:srgbClr val="304D59"/>
                </a:solidFill>
                <a:latin typeface="Fira Sans Light"/>
              </a:rPr>
              <a:t>RG-L: ALERT and the AHDC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r>
              <a:rPr dirty="0">
                <a:solidFill>
                  <a:srgbClr val="304D59"/>
                </a:solidFill>
              </a:rPr>
              <a:t>rgl-t0-analysis (t0rch)</a:t>
            </a:r>
            <a:r>
              <a:rPr lang="en-US" dirty="0">
                <a:solidFill>
                  <a:srgbClr val="304D59"/>
                </a:solidFill>
              </a:rPr>
              <a:t>:</a:t>
            </a:r>
            <a:r>
              <a:rPr dirty="0">
                <a:solidFill>
                  <a:srgbClr val="304D59"/>
                </a:solidFill>
              </a:rPr>
              <a:t> per-wire t0 calibration for the AHDC; a Rust extractor fills the drift-time spectra, Python fits the prompt peak and writes the CCDB table</a:t>
            </a:r>
          </a:p>
          <a:p>
            <a:r>
              <a:rPr dirty="0" err="1">
                <a:solidFill>
                  <a:srgbClr val="304D59"/>
                </a:solidFill>
              </a:rPr>
              <a:t>rgl_beamspot_sim</a:t>
            </a:r>
            <a:r>
              <a:rPr lang="en-US" dirty="0">
                <a:solidFill>
                  <a:srgbClr val="304D59"/>
                </a:solidFill>
              </a:rPr>
              <a:t>:</a:t>
            </a:r>
            <a:r>
              <a:rPr dirty="0">
                <a:solidFill>
                  <a:srgbClr val="304D59"/>
                </a:solidFill>
              </a:rPr>
              <a:t> transverse alignment between ALERT and forward CLAS, from elastic e d coplanarity, validated on simulation</a:t>
            </a:r>
          </a:p>
          <a:p>
            <a:r>
              <a:rPr dirty="0">
                <a:solidFill>
                  <a:srgbClr val="304D59"/>
                </a:solidFill>
              </a:rPr>
              <a:t>alert-track-finding</a:t>
            </a:r>
            <a:r>
              <a:rPr lang="en-US" dirty="0">
                <a:solidFill>
                  <a:srgbClr val="304D59"/>
                </a:solidFill>
              </a:rPr>
              <a:t>: </a:t>
            </a:r>
            <a:r>
              <a:rPr dirty="0">
                <a:solidFill>
                  <a:srgbClr val="304D59"/>
                </a:solidFill>
              </a:rPr>
              <a:t>AI track finding: an MLP over candidates and a </a:t>
            </a:r>
            <a:r>
              <a:rPr dirty="0" err="1">
                <a:solidFill>
                  <a:srgbClr val="304D59"/>
                </a:solidFill>
              </a:rPr>
              <a:t>GravNet</a:t>
            </a:r>
            <a:r>
              <a:rPr dirty="0">
                <a:solidFill>
                  <a:srgbClr val="304D59"/>
                </a:solidFill>
              </a:rPr>
              <a:t> graph network over hits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819AD2-BE41-CD00-B673-FF0906FC5D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07/21/26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B48A11-BDCB-E844-5384-A03CF08C33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AA294D-5293-D4E5-4A67-5B6A81E2B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400" b="0" dirty="0">
                <a:solidFill>
                  <a:srgbClr val="304D59"/>
                </a:solidFill>
                <a:latin typeface="Fira Sans Light"/>
              </a:rPr>
              <a:t>Shared tooling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r>
              <a:rPr dirty="0">
                <a:solidFill>
                  <a:srgbClr val="304D59"/>
                </a:solidFill>
              </a:rPr>
              <a:t>py-swif2</a:t>
            </a:r>
            <a:r>
              <a:rPr lang="en-US" dirty="0">
                <a:solidFill>
                  <a:srgbClr val="304D59"/>
                </a:solidFill>
              </a:rPr>
              <a:t>:</a:t>
            </a:r>
            <a:r>
              <a:rPr dirty="0">
                <a:solidFill>
                  <a:srgbClr val="304D59"/>
                </a:solidFill>
              </a:rPr>
              <a:t> command line and TUI over swif2 and </a:t>
            </a:r>
            <a:r>
              <a:rPr dirty="0" err="1">
                <a:solidFill>
                  <a:srgbClr val="304D59"/>
                </a:solidFill>
              </a:rPr>
              <a:t>Slurm</a:t>
            </a:r>
            <a:r>
              <a:rPr dirty="0">
                <a:solidFill>
                  <a:srgbClr val="304D59"/>
                </a:solidFill>
              </a:rPr>
              <a:t>: failures, CPU efficiency, fair share, disk us</a:t>
            </a:r>
            <a:r>
              <a:rPr lang="en-US" dirty="0">
                <a:solidFill>
                  <a:srgbClr val="304D59"/>
                </a:solidFill>
              </a:rPr>
              <a:t>age</a:t>
            </a:r>
            <a:endParaRPr dirty="0">
              <a:solidFill>
                <a:srgbClr val="304D59"/>
              </a:solidFill>
            </a:endParaRPr>
          </a:p>
          <a:p>
            <a:r>
              <a:rPr dirty="0" err="1">
                <a:solidFill>
                  <a:srgbClr val="304D59"/>
                </a:solidFill>
              </a:rPr>
              <a:t>rcdb_run_charge</a:t>
            </a:r>
            <a:r>
              <a:rPr lang="en-US" dirty="0">
                <a:solidFill>
                  <a:srgbClr val="304D59"/>
                </a:solidFill>
              </a:rPr>
              <a:t>:</a:t>
            </a:r>
            <a:r>
              <a:rPr dirty="0">
                <a:solidFill>
                  <a:srgbClr val="304D59"/>
                </a:solidFill>
              </a:rPr>
              <a:t> run metadata and beam current or charge from RCDB and the Mya archiver</a:t>
            </a:r>
          </a:p>
          <a:p>
            <a:r>
              <a:rPr dirty="0" err="1">
                <a:solidFill>
                  <a:srgbClr val="304D59"/>
                </a:solidFill>
              </a:rPr>
              <a:t>study_charge</a:t>
            </a:r>
            <a:r>
              <a:rPr lang="en-US" dirty="0">
                <a:solidFill>
                  <a:srgbClr val="304D59"/>
                </a:solidFill>
              </a:rPr>
              <a:t>:</a:t>
            </a:r>
            <a:r>
              <a:rPr dirty="0">
                <a:solidFill>
                  <a:srgbClr val="304D59"/>
                </a:solidFill>
              </a:rPr>
              <a:t> accumulated charge per run, Moller polarization and half-wave-plate state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E20473-43F0-3B17-6B0B-0EABC35606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07/21/26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B150D0-A3E0-A08B-D58D-E838EAC49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970875-5573-1C3B-43F9-615897C14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400" b="0" dirty="0">
                <a:solidFill>
                  <a:srgbClr val="304D59"/>
                </a:solidFill>
                <a:latin typeface="Fira Sans Light"/>
              </a:rPr>
              <a:t>Notes, talks and the archive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r>
              <a:rPr dirty="0" err="1">
                <a:solidFill>
                  <a:srgbClr val="304D59"/>
                </a:solidFill>
              </a:rPr>
              <a:t>Typst</a:t>
            </a:r>
            <a:r>
              <a:rPr dirty="0">
                <a:solidFill>
                  <a:srgbClr val="304D59"/>
                </a:solidFill>
              </a:rPr>
              <a:t>/ — sources for the write-ups: the RG-D common analysis note, contamination, </a:t>
            </a:r>
            <a:r>
              <a:rPr dirty="0" err="1">
                <a:solidFill>
                  <a:srgbClr val="304D59"/>
                </a:solidFill>
              </a:rPr>
              <a:t>gnn</a:t>
            </a:r>
            <a:endParaRPr dirty="0">
              <a:solidFill>
                <a:srgbClr val="304D59"/>
              </a:solidFill>
            </a:endParaRPr>
          </a:p>
          <a:p>
            <a:r>
              <a:rPr dirty="0">
                <a:solidFill>
                  <a:srgbClr val="304D59"/>
                </a:solidFill>
              </a:rPr>
              <a:t>Presentation/ — the dated slide decks from group and collaboration talks</a:t>
            </a:r>
          </a:p>
          <a:p>
            <a:r>
              <a:rPr dirty="0">
                <a:solidFill>
                  <a:srgbClr val="304D59"/>
                </a:solidFill>
              </a:rPr>
              <a:t>archive/ — about 43 retired projects: earlier RG-D analyses, RG-L and ALERT iterations, generators and one-off studies</a:t>
            </a:r>
          </a:p>
          <a:p>
            <a:r>
              <a:rPr dirty="0">
                <a:solidFill>
                  <a:srgbClr val="304D59"/>
                </a:solidFill>
              </a:rPr>
              <a:t>Kept for reference only, and not documented individually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ABBEA7-576E-9AE3-AD6E-306EA56F9D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07/21/26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40C27F-0739-A324-CB9F-2D715DDB3C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AA4C96-D2D4-DF10-B8EB-AAFC4DEBE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400" b="0" dirty="0">
                <a:solidFill>
                  <a:srgbClr val="304D59"/>
                </a:solidFill>
                <a:latin typeface="Fira Sans Light"/>
              </a:rPr>
              <a:t>On GitHub: 13 public repositories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r>
              <a:rPr lang="en-US" dirty="0">
                <a:solidFill>
                  <a:srgbClr val="304D59"/>
                </a:solidFill>
              </a:rPr>
              <a:t>https://</a:t>
            </a:r>
            <a:r>
              <a:rPr lang="en-US" dirty="0" err="1">
                <a:solidFill>
                  <a:srgbClr val="304D59"/>
                </a:solidFill>
              </a:rPr>
              <a:t>github.com</a:t>
            </a:r>
            <a:r>
              <a:rPr lang="en-US" dirty="0">
                <a:solidFill>
                  <a:srgbClr val="304D59"/>
                </a:solidFill>
              </a:rPr>
              <a:t>/</a:t>
            </a:r>
            <a:r>
              <a:rPr lang="en-US" dirty="0" err="1">
                <a:solidFill>
                  <a:srgbClr val="304D59"/>
                </a:solidFill>
              </a:rPr>
              <a:t>mathieuouillon</a:t>
            </a:r>
            <a:r>
              <a:rPr lang="en-US" dirty="0">
                <a:solidFill>
                  <a:srgbClr val="304D59"/>
                </a:solidFill>
              </a:rPr>
              <a:t>/</a:t>
            </a:r>
          </a:p>
          <a:p>
            <a:r>
              <a:rPr dirty="0">
                <a:solidFill>
                  <a:srgbClr val="304D59"/>
                </a:solidFill>
              </a:rPr>
              <a:t>Analysis and simulation (9)</a:t>
            </a:r>
          </a:p>
          <a:p>
            <a:pPr lvl="1"/>
            <a:r>
              <a:rPr dirty="0" err="1">
                <a:solidFill>
                  <a:srgbClr val="304D59"/>
                </a:solidFill>
              </a:rPr>
              <a:t>sidis_mc</a:t>
            </a:r>
            <a:r>
              <a:rPr dirty="0">
                <a:solidFill>
                  <a:srgbClr val="304D59"/>
                </a:solidFill>
              </a:rPr>
              <a:t>, swim-</a:t>
            </a:r>
            <a:r>
              <a:rPr dirty="0" err="1">
                <a:solidFill>
                  <a:srgbClr val="304D59"/>
                </a:solidFill>
              </a:rPr>
              <a:t>cpp</a:t>
            </a:r>
            <a:r>
              <a:rPr dirty="0">
                <a:solidFill>
                  <a:srgbClr val="304D59"/>
                </a:solidFill>
              </a:rPr>
              <a:t>, rgd-pi0, toy-contamination, alert-track-finding, RGD-</a:t>
            </a:r>
            <a:r>
              <a:rPr dirty="0" err="1">
                <a:solidFill>
                  <a:srgbClr val="304D59"/>
                </a:solidFill>
              </a:rPr>
              <a:t>AINet</a:t>
            </a:r>
            <a:r>
              <a:rPr dirty="0">
                <a:solidFill>
                  <a:srgbClr val="304D59"/>
                </a:solidFill>
              </a:rPr>
              <a:t>, </a:t>
            </a:r>
            <a:r>
              <a:rPr dirty="0" err="1">
                <a:solidFill>
                  <a:srgbClr val="304D59"/>
                </a:solidFill>
              </a:rPr>
              <a:t>cpp-beamspot</a:t>
            </a:r>
            <a:r>
              <a:rPr dirty="0">
                <a:solidFill>
                  <a:srgbClr val="304D59"/>
                </a:solidFill>
              </a:rPr>
              <a:t>, toy-model-generator, </a:t>
            </a:r>
            <a:r>
              <a:rPr dirty="0" err="1">
                <a:solidFill>
                  <a:srgbClr val="304D59"/>
                </a:solidFill>
              </a:rPr>
              <a:t>rgd-yaml</a:t>
            </a:r>
            <a:endParaRPr dirty="0">
              <a:solidFill>
                <a:srgbClr val="304D59"/>
              </a:solidFill>
            </a:endParaRPr>
          </a:p>
          <a:p>
            <a:r>
              <a:rPr dirty="0">
                <a:solidFill>
                  <a:srgbClr val="304D59"/>
                </a:solidFill>
              </a:rPr>
              <a:t>Writing and talks (2)</a:t>
            </a:r>
          </a:p>
          <a:p>
            <a:pPr lvl="1"/>
            <a:r>
              <a:rPr dirty="0">
                <a:solidFill>
                  <a:srgbClr val="304D59"/>
                </a:solidFill>
              </a:rPr>
              <a:t>RGD_CommonNote2, Presentation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B1C774-EF46-8FE3-56C0-EC462855E8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07/21/26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6A1B2B-F0FA-2F3A-894F-F898D4DAD1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67727C-3D33-291E-7257-220E0A0CF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400" b="0" dirty="0">
                <a:solidFill>
                  <a:srgbClr val="304D59"/>
                </a:solidFill>
                <a:latin typeface="Fira Sans Light"/>
              </a:rPr>
              <a:t>Where to start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r>
              <a:rPr dirty="0">
                <a:solidFill>
                  <a:srgbClr val="304D59"/>
                </a:solidFill>
              </a:rPr>
              <a:t>1. Open the top-level README</a:t>
            </a:r>
            <a:r>
              <a:rPr lang="en-US" dirty="0">
                <a:solidFill>
                  <a:srgbClr val="304D59"/>
                </a:solidFill>
              </a:rPr>
              <a:t>:</a:t>
            </a:r>
            <a:r>
              <a:rPr dirty="0">
                <a:solidFill>
                  <a:srgbClr val="304D59"/>
                </a:solidFill>
              </a:rPr>
              <a:t> it maps every folder and states the conventions</a:t>
            </a:r>
          </a:p>
          <a:p>
            <a:r>
              <a:rPr dirty="0">
                <a:solidFill>
                  <a:srgbClr val="304D59"/>
                </a:solidFill>
              </a:rPr>
              <a:t>2. Pick an area and read its index</a:t>
            </a:r>
            <a:r>
              <a:rPr lang="en-US" dirty="0">
                <a:solidFill>
                  <a:srgbClr val="304D59"/>
                </a:solidFill>
              </a:rPr>
              <a:t>:</a:t>
            </a:r>
            <a:r>
              <a:rPr dirty="0">
                <a:solidFill>
                  <a:srgbClr val="304D59"/>
                </a:solidFill>
              </a:rPr>
              <a:t> RGD/, RGL/ and other/ each list their projects</a:t>
            </a:r>
          </a:p>
          <a:p>
            <a:r>
              <a:rPr dirty="0">
                <a:solidFill>
                  <a:srgbClr val="304D59"/>
                </a:solidFill>
              </a:rPr>
              <a:t>3. Drop into the project</a:t>
            </a:r>
            <a:r>
              <a:rPr lang="en-US" dirty="0">
                <a:solidFill>
                  <a:srgbClr val="304D59"/>
                </a:solidFill>
              </a:rPr>
              <a:t>:</a:t>
            </a:r>
            <a:r>
              <a:rPr dirty="0">
                <a:solidFill>
                  <a:srgbClr val="304D59"/>
                </a:solidFill>
              </a:rPr>
              <a:t> every README covers what it does, how to build and how to run it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31585A-B0F4-731E-816E-533C4C0707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07/21/26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0A60DF-82F2-F726-AC75-5920806457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313F15-CE4A-51DB-F3B1-89B9586FA2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0DBE96-27C1-36D2-6EE1-3AEA93C5EC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Pi0 Analysis Note and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6EC247-410F-D1FD-2C72-2702EFBC1D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code for pi0 analysis is in RGD folder and on GitHub. </a:t>
            </a:r>
          </a:p>
          <a:p>
            <a:r>
              <a:rPr lang="en-US" dirty="0"/>
              <a:t>I wrote an analysis note about that: </a:t>
            </a:r>
          </a:p>
          <a:p>
            <a:pPr lvl="1"/>
            <a:r>
              <a:rPr lang="en-US" dirty="0"/>
              <a:t>To know how to run the code (3 steps), that the code does, and the next steps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90BAEA-DB2B-D70F-1B45-02EFA5ADA2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07/21/26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8672B5-2F4F-EDA5-4E22-74B4039DDB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55EAC2-0D4A-3350-A9A7-4A04E4D372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11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810CD6B-A0F3-A848-6799-8DE179062AC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5042"/>
          <a:stretch>
            <a:fillRect/>
          </a:stretch>
        </p:blipFill>
        <p:spPr>
          <a:xfrm>
            <a:off x="2180695" y="2625919"/>
            <a:ext cx="6556905" cy="2719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71914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0195E4-88D7-69F5-83A6-D0E5C8932B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small" dirty="0"/>
              <a:t>To do list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7E2598-B386-02D3-ECE4-6A6D09FB64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Fira Sans Light" panose="020B0403050000020004" pitchFamily="34" charset="0"/>
                <a:ea typeface="Fira Sans Light" panose="020B0403050000020004" pitchFamily="34" charset="0"/>
              </a:rPr>
              <a:t>RG-D:</a:t>
            </a:r>
          </a:p>
          <a:p>
            <a:pPr lvl="1"/>
            <a:r>
              <a:rPr lang="en-US" dirty="0"/>
              <a:t>Write documentation and organize my codes (the remaining parts </a:t>
            </a:r>
            <a:r>
              <a:rPr lang="en-US" dirty="0" err="1"/>
              <a:t>python_nuclear_transparency</a:t>
            </a:r>
            <a:r>
              <a:rPr lang="en-US" dirty="0"/>
              <a:t>)</a:t>
            </a:r>
          </a:p>
          <a:p>
            <a:pPr marL="0" indent="0">
              <a:buNone/>
            </a:pPr>
            <a:endParaRPr lang="en-US" dirty="0">
              <a:latin typeface="Fira Sans Light" panose="020B0403050000020004" pitchFamily="34" charset="0"/>
              <a:ea typeface="Fira Sans Light" panose="020B0403050000020004" pitchFamily="34" charset="0"/>
            </a:endParaRPr>
          </a:p>
          <a:p>
            <a:pPr lvl="1"/>
            <a:r>
              <a:rPr lang="en-US" dirty="0">
                <a:latin typeface="Fira Sans Light" panose="020B0403050000020004" pitchFamily="34" charset="0"/>
                <a:ea typeface="Fira Sans Light" panose="020B0403050000020004" pitchFamily="34" charset="0"/>
              </a:rPr>
              <a:t>Continue the work on cos and sin </a:t>
            </a:r>
            <a:r>
              <a:rPr lang="en-US" dirty="0" err="1">
                <a:latin typeface="Fira Sans Light" panose="020B0403050000020004" pitchFamily="34" charset="0"/>
                <a:ea typeface="Fira Sans Light" panose="020B0403050000020004" pitchFamily="34" charset="0"/>
              </a:rPr>
              <a:t>φ</a:t>
            </a:r>
            <a:r>
              <a:rPr lang="en-US" baseline="-25000" dirty="0" err="1">
                <a:latin typeface="Fira Sans Light" panose="020B0403050000020004" pitchFamily="34" charset="0"/>
                <a:ea typeface="Fira Sans Light" panose="020B0403050000020004" pitchFamily="34" charset="0"/>
              </a:rPr>
              <a:t>h</a:t>
            </a:r>
            <a:r>
              <a:rPr lang="en-US" dirty="0">
                <a:latin typeface="Fira Sans Light" panose="020B0403050000020004" pitchFamily="34" charset="0"/>
                <a:ea typeface="Fira Sans Light" panose="020B0403050000020004" pitchFamily="34" charset="0"/>
              </a:rPr>
              <a:t> extraction </a:t>
            </a:r>
          </a:p>
          <a:p>
            <a:pPr lvl="1"/>
            <a:r>
              <a:rPr lang="en-US" dirty="0">
                <a:latin typeface="Fira Sans Light" panose="020B0403050000020004" pitchFamily="34" charset="0"/>
                <a:ea typeface="Fira Sans Light" panose="020B0403050000020004" pitchFamily="34" charset="0"/>
              </a:rPr>
              <a:t>Radiative and acceptance correction</a:t>
            </a:r>
          </a:p>
          <a:p>
            <a:pPr lvl="1"/>
            <a:r>
              <a:rPr lang="en-US" dirty="0">
                <a:latin typeface="Fira Sans Light" panose="020B0403050000020004" pitchFamily="34" charset="0"/>
                <a:ea typeface="Fira Sans Light" panose="020B0403050000020004" pitchFamily="34" charset="0"/>
              </a:rPr>
              <a:t>Background for ρ</a:t>
            </a:r>
            <a:r>
              <a:rPr lang="en-US" baseline="30000" dirty="0">
                <a:latin typeface="Fira Sans Light" panose="020B0403050000020004" pitchFamily="34" charset="0"/>
                <a:ea typeface="Fira Sans Light" panose="020B0403050000020004" pitchFamily="34" charset="0"/>
              </a:rPr>
              <a:t>0</a:t>
            </a:r>
            <a:r>
              <a:rPr lang="en-US" dirty="0">
                <a:latin typeface="Fira Sans Light" panose="020B0403050000020004" pitchFamily="34" charset="0"/>
                <a:ea typeface="Fira Sans Light" panose="020B0403050000020004" pitchFamily="34" charset="0"/>
              </a:rPr>
              <a:t> with simulation for CT analysis</a:t>
            </a:r>
          </a:p>
          <a:p>
            <a:pPr lvl="1"/>
            <a:endParaRPr lang="en-US" dirty="0">
              <a:latin typeface="Fira Sans Light" panose="020B0403050000020004" pitchFamily="34" charset="0"/>
              <a:ea typeface="Fira Sans Light" panose="020B0403050000020004" pitchFamily="34" charset="0"/>
            </a:endParaRPr>
          </a:p>
          <a:p>
            <a:r>
              <a:rPr lang="en-US" dirty="0"/>
              <a:t>ALERT: </a:t>
            </a:r>
          </a:p>
          <a:p>
            <a:pPr lvl="1"/>
            <a:r>
              <a:rPr lang="en-US" dirty="0"/>
              <a:t>Work on the beam position calibration for AHDC and T0 extraction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A120B9-0D55-C183-E2CD-1FE69337A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07/21/26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04FCEA-620F-8086-B86F-5A1E2FD7BA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12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AA86AE-223C-803F-A19B-9CAD391106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</p:spTree>
    <p:extLst>
      <p:ext uri="{BB962C8B-B14F-4D97-AF65-F5344CB8AC3E}">
        <p14:creationId xmlns:p14="http://schemas.microsoft.com/office/powerpoint/2010/main" val="17544773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  <wetp:taskpane dockstate="right" visibility="0" width="350" row="0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F5496074-1DCC-FD49-93DA-4F2CC4561AAB}">
  <we:reference id="wa200010001" version="1.0.0.1" store="en-US" storeType="OMEX"/>
  <we:alternateReferences>
    <we:reference id="WA200010001" version="1.0.0.1" store="WA200010001" storeType="OMEX"/>
  </we:alternateReferences>
  <we:properties>
    <we:property name="claude.fileId" value="&quot;fb46c37d-841d-4d0b-b2b7-fe02fdbc6049&quot;"/>
  </we:properties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5C88D9CA-47B6-6A4B-8F47-1A768226DC03}">
  <we:reference id="wa200007297" version="1.5.0.0" store="en-US" storeType="OMEX"/>
  <we:alternateReferences>
    <we:reference id="WA200007297" version="1.5.0.0" store="WA200007297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20816</TotalTime>
  <Words>833</Words>
  <Application>Microsoft Macintosh PowerPoint</Application>
  <PresentationFormat>Widescreen</PresentationFormat>
  <Paragraphs>105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Fira Sans</vt:lpstr>
      <vt:lpstr>Fira Sans Light</vt:lpstr>
      <vt:lpstr>FiraCode Nerd Font Light</vt:lpstr>
      <vt:lpstr>Office Theme</vt:lpstr>
      <vt:lpstr>Group meeting</vt:lpstr>
      <vt:lpstr>Overview: what is in the workspace</vt:lpstr>
      <vt:lpstr>Overview: what is in the workspace</vt:lpstr>
      <vt:lpstr>RG-D: twelve projects</vt:lpstr>
      <vt:lpstr>RG-F: neutron DVCS</vt:lpstr>
      <vt:lpstr>RG-L: ALERT and the AHDC</vt:lpstr>
      <vt:lpstr>Shared tooling</vt:lpstr>
      <vt:lpstr>Notes, talks and the archive</vt:lpstr>
      <vt:lpstr>On GitHub: 13 public repositories</vt:lpstr>
      <vt:lpstr>Where to start</vt:lpstr>
      <vt:lpstr>Pi0 Analysis Note and Code</vt:lpstr>
      <vt:lpstr>To do list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Office PowerPoint</Application>
  <PresentationFormat>Panorámica</PresentationFormat>
  <Paragraphs>15</Paragraphs>
  <Slides>4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Atomización Ultrasónica. Parámetros y dinámica del fenómeno.</dc:title>
  <dc:creator>Josué D. Meneses Díaz</dc:creator>
  <cp:keywords/>
  <cp:lastModifiedBy>Ouillon, Mathieu</cp:lastModifiedBy>
  <cp:revision>832</cp:revision>
  <dcterms:created xsi:type="dcterms:W3CDTF">2019-12-03T01:04:10Z</dcterms:created>
  <dcterms:modified xsi:type="dcterms:W3CDTF">2026-07-21T18:53:41Z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ibliography">
    <vt:lpwstr>..\bib\bibliografia.bib</vt:lpwstr>
  </property>
  <property fmtid="{D5CDD505-2E9C-101B-9397-08002B2CF9AE}" pid="3" name="date">
    <vt:lpwstr>26-11-2019</vt:lpwstr>
  </property>
</Properties>
</file>