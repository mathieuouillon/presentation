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6858000" cx="12192000"/>
  <p:notesSz cx="6858000" cy="9144000"/>
  <p:embeddedFontLst>
    <p:embeddedFont>
      <p:font typeface="Nunito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Nunito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Nunito-italic.fntdata"/><Relationship Id="rId25" Type="http://schemas.openxmlformats.org/officeDocument/2006/relationships/font" Target="fonts/Nunito-bold.fntdata"/><Relationship Id="rId27" Type="http://schemas.openxmlformats.org/officeDocument/2006/relationships/font" Target="fonts/Nunito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2" name="Google Shape;182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3" name="Google Shape;183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1" name="Google Shape;211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5" name="Google Shape;245;p1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1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5" name="Google Shape;255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1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1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2" name="Google Shape;312;p1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1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/>
          <p:nvPr>
            <p:ph type="ctrTitle"/>
          </p:nvPr>
        </p:nvSpPr>
        <p:spPr>
          <a:xfrm>
            <a:off x="348343" y="689656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348343" y="3299959"/>
            <a:ext cx="9144000" cy="635227"/>
          </a:xfrm>
          <a:prstGeom prst="rect">
            <a:avLst/>
          </a:prstGeom>
          <a:solidFill>
            <a:srgbClr val="A8D08C"/>
          </a:solidFill>
          <a:ln cap="flat" cmpd="sng" w="9525">
            <a:solidFill>
              <a:srgbClr val="5481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0" type="dt"/>
          </p:nvPr>
        </p:nvSpPr>
        <p:spPr>
          <a:xfrm>
            <a:off x="9862457" y="4421074"/>
            <a:ext cx="120015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1" type="ftr"/>
          </p:nvPr>
        </p:nvSpPr>
        <p:spPr>
          <a:xfrm>
            <a:off x="1624693" y="4421073"/>
            <a:ext cx="8237764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5682467"/>
            <a:ext cx="5055507" cy="97175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Title and Content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rgbClr val="A8D08C"/>
          </a:solidFill>
          <a:ln cap="flat" cmpd="sng" w="12700">
            <a:solidFill>
              <a:srgbClr val="5481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3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65314" y="78445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/>
          <p:nvPr/>
        </p:nvSpPr>
        <p:spPr>
          <a:xfrm flipH="1" rot="-5400000">
            <a:off x="11339852" y="-171112"/>
            <a:ext cx="681036" cy="1023257"/>
          </a:xfrm>
          <a:prstGeom prst="snipRoundRect">
            <a:avLst>
              <a:gd fmla="val 16667" name="adj1"/>
              <a:gd fmla="val 16667" name="adj2"/>
            </a:avLst>
          </a:prstGeom>
          <a:solidFill>
            <a:srgbClr val="548135"/>
          </a:solidFill>
          <a:ln cap="flat" cmpd="sng" w="12700">
            <a:solidFill>
              <a:srgbClr val="3856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2400" u="none" cap="none" strike="noStrike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3"/>
          <p:cNvCxnSpPr/>
          <p:nvPr/>
        </p:nvCxnSpPr>
        <p:spPr>
          <a:xfrm rot="10800000">
            <a:off x="0" y="6492874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A8D08C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1244599" y="6492875"/>
            <a:ext cx="4140201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Mathieu Ouillon</a:t>
            </a:r>
            <a:endParaRPr b="0" i="0" sz="2000" u="none" cap="none" strike="noStrike">
              <a:solidFill>
                <a:srgbClr val="595959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and Content">
  <p:cSld name="1_Title and Conten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4"/>
          <p:cNvSpPr/>
          <p:nvPr/>
        </p:nvSpPr>
        <p:spPr>
          <a:xfrm>
            <a:off x="0" y="0"/>
            <a:ext cx="12192000" cy="681037"/>
          </a:xfrm>
          <a:prstGeom prst="rect">
            <a:avLst/>
          </a:prstGeom>
          <a:solidFill>
            <a:srgbClr val="A8D08C"/>
          </a:solidFill>
          <a:ln cap="flat" cmpd="sng" w="12700">
            <a:solidFill>
              <a:srgbClr val="5481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4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400"/>
              <a:buFont typeface="Arial"/>
              <a:buNone/>
              <a:defRPr b="0" i="0" sz="4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65314" y="784451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0" name="Google Shape;30;p4"/>
          <p:cNvSpPr/>
          <p:nvPr/>
        </p:nvSpPr>
        <p:spPr>
          <a:xfrm flipH="1" rot="-5400000">
            <a:off x="11339852" y="-171112"/>
            <a:ext cx="681036" cy="1023257"/>
          </a:xfrm>
          <a:prstGeom prst="snipRoundRect">
            <a:avLst>
              <a:gd fmla="val 16667" name="adj1"/>
              <a:gd fmla="val 16667" name="adj2"/>
            </a:avLst>
          </a:prstGeom>
          <a:solidFill>
            <a:srgbClr val="548135"/>
          </a:solidFill>
          <a:ln cap="flat" cmpd="sng" w="12700">
            <a:solidFill>
              <a:srgbClr val="38562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2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sz="2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sz="2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sz="2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sz="2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sz="2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sz="2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sz="2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sz="24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32" name="Google Shape;32;p4"/>
          <p:cNvCxnSpPr/>
          <p:nvPr/>
        </p:nvCxnSpPr>
        <p:spPr>
          <a:xfrm rot="10800000">
            <a:off x="0" y="6492874"/>
            <a:ext cx="12192000" cy="0"/>
          </a:xfrm>
          <a:prstGeom prst="straightConnector1">
            <a:avLst/>
          </a:prstGeom>
          <a:noFill/>
          <a:ln cap="flat" cmpd="sng" w="9525">
            <a:solidFill>
              <a:srgbClr val="A8D08C"/>
            </a:solidFill>
            <a:prstDash val="solid"/>
            <a:miter lim="800000"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6000"/>
              <a:buFont typeface="Arial"/>
              <a:buNone/>
              <a:defRPr b="0" i="0" sz="6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5" name="Google Shape;35;p5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7" name="Google Shape;37;p5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8" name="Google Shape;38;p5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1" name="Google Shape;41;p6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1" name="Google Shape;51;p7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2" name="Google Shape;52;p7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7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8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7" name="Google Shape;57;p8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8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9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2" name="Google Shape;62;p9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6" name="Google Shape;66;p10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4064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810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55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55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55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9" name="Google Shape;69;p10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0" name="Google Shape;70;p10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3" name="Google Shape;73;p11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p11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5" name="Google Shape;75;p11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6" name="Google Shape;76;p11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0" name="Google Shape;80;p12"/>
          <p:cNvSpPr txBox="1"/>
          <p:nvPr>
            <p:ph idx="1" type="body"/>
          </p:nvPr>
        </p:nvSpPr>
        <p:spPr>
          <a:xfrm rot="5400000">
            <a:off x="3147445" y="-2297680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1" name="Google Shape;81;p12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2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2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400"/>
              <a:buFont typeface="Arial"/>
              <a:buNone/>
              <a:defRPr b="0" i="0" sz="4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6" name="Google Shape;86;p13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idx="10" type="dt"/>
          </p:nvPr>
        </p:nvSpPr>
        <p:spPr>
          <a:xfrm>
            <a:off x="11168743" y="6492874"/>
            <a:ext cx="1020536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8" name="Google Shape;88;p13"/>
          <p:cNvSpPr txBox="1"/>
          <p:nvPr>
            <p:ph idx="11" type="ftr"/>
          </p:nvPr>
        </p:nvSpPr>
        <p:spPr>
          <a:xfrm>
            <a:off x="7053943" y="6492875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9" name="Google Shape;89;p13"/>
          <p:cNvSpPr txBox="1"/>
          <p:nvPr>
            <p:ph idx="12" type="sldNum"/>
          </p:nvPr>
        </p:nvSpPr>
        <p:spPr>
          <a:xfrm>
            <a:off x="10817680" y="0"/>
            <a:ext cx="1374320" cy="694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0" lvl="0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l">
              <a:spcBef>
                <a:spcPts val="0"/>
              </a:spcBef>
              <a:buNone/>
              <a:def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3.png"/><Relationship Id="rId5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7.png"/><Relationship Id="rId4" Type="http://schemas.openxmlformats.org/officeDocument/2006/relationships/image" Target="../media/image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Relationship Id="rId4" Type="http://schemas.openxmlformats.org/officeDocument/2006/relationships/image" Target="../media/image2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29.png"/><Relationship Id="rId5" Type="http://schemas.openxmlformats.org/officeDocument/2006/relationships/image" Target="../media/image2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Relationship Id="rId4" Type="http://schemas.openxmlformats.org/officeDocument/2006/relationships/image" Target="../media/image2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2.png"/><Relationship Id="rId5" Type="http://schemas.openxmlformats.org/officeDocument/2006/relationships/image" Target="../media/image27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5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8.png"/><Relationship Id="rId4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4"/>
          <p:cNvSpPr txBox="1"/>
          <p:nvPr>
            <p:ph type="ctrTitle"/>
          </p:nvPr>
        </p:nvSpPr>
        <p:spPr>
          <a:xfrm>
            <a:off x="348342" y="689656"/>
            <a:ext cx="10060931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5400"/>
              <a:buFont typeface="Arial"/>
              <a:buNone/>
            </a:pPr>
            <a:r>
              <a:rPr lang="en-US" sz="5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Overview of ALERT AI-assisted Track Reconstruction and Particle Identification Project </a:t>
            </a:r>
            <a:endParaRPr sz="54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4"/>
          <p:cNvSpPr txBox="1"/>
          <p:nvPr>
            <p:ph idx="1" type="subTitle"/>
          </p:nvPr>
        </p:nvSpPr>
        <p:spPr>
          <a:xfrm>
            <a:off x="348343" y="4298250"/>
            <a:ext cx="7287699" cy="635227"/>
          </a:xfrm>
          <a:prstGeom prst="rect">
            <a:avLst/>
          </a:prstGeom>
          <a:solidFill>
            <a:srgbClr val="A8D08C"/>
          </a:solidFill>
          <a:ln cap="flat" cmpd="sng" w="9525">
            <a:solidFill>
              <a:srgbClr val="54813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</a:pPr>
            <a:r>
              <a:rPr lang="en-US">
                <a:solidFill>
                  <a:srgbClr val="595959"/>
                </a:solidFill>
              </a:rPr>
              <a:t>Mathieu Ouillon (Mississippi State University)</a:t>
            </a:r>
            <a:endParaRPr/>
          </a:p>
        </p:txBody>
      </p:sp>
      <p:sp>
        <p:nvSpPr>
          <p:cNvPr id="96" name="Google Shape;96;p14"/>
          <p:cNvSpPr txBox="1"/>
          <p:nvPr>
            <p:ph idx="11" type="ftr"/>
          </p:nvPr>
        </p:nvSpPr>
        <p:spPr>
          <a:xfrm>
            <a:off x="3070371" y="3112389"/>
            <a:ext cx="8981829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The 11</a:t>
            </a:r>
            <a:r>
              <a:rPr baseline="30000"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</a:t>
            </a:r>
            <a:r>
              <a:rPr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workshop of the APS Topical Group on Hadronic Physics</a:t>
            </a:r>
            <a:endParaRPr/>
          </a:p>
        </p:txBody>
      </p:sp>
      <p:pic>
        <p:nvPicPr>
          <p:cNvPr id="97" name="Google Shape;97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8807" y="5440778"/>
            <a:ext cx="2257235" cy="1208353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70447" y="5478718"/>
            <a:ext cx="3784019" cy="1182506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0" type="dt"/>
          </p:nvPr>
        </p:nvSpPr>
        <p:spPr>
          <a:xfrm>
            <a:off x="10409273" y="3512647"/>
            <a:ext cx="1642927" cy="3651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/>
              <a:t>3/15/25</a:t>
            </a:r>
            <a:endParaRPr sz="1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/>
          <p:nvPr/>
        </p:nvSpPr>
        <p:spPr>
          <a:xfrm>
            <a:off x="0" y="681037"/>
            <a:ext cx="2592280" cy="5798229"/>
          </a:xfrm>
          <a:prstGeom prst="rect">
            <a:avLst/>
          </a:prstGeom>
          <a:solidFill>
            <a:srgbClr val="A8D08C"/>
          </a:solidFill>
          <a:ln cap="flat" cmpd="sng" w="12700">
            <a:solidFill>
              <a:srgbClr val="5481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5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Outline</a:t>
            </a:r>
            <a:endParaRPr/>
          </a:p>
        </p:txBody>
      </p:sp>
      <p:sp>
        <p:nvSpPr>
          <p:cNvPr id="106" name="Google Shape;106;p15"/>
          <p:cNvSpPr txBox="1"/>
          <p:nvPr>
            <p:ph idx="1" type="body"/>
          </p:nvPr>
        </p:nvSpPr>
        <p:spPr>
          <a:xfrm>
            <a:off x="1837678" y="784451"/>
            <a:ext cx="9676660" cy="56948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</a:pPr>
            <a:r>
              <a:rPr lang="en-US" sz="3600">
                <a:solidFill>
                  <a:srgbClr val="3F3F3F"/>
                </a:solidFill>
              </a:rPr>
              <a:t>1.     ALERT Physics Program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600">
                <a:solidFill>
                  <a:srgbClr val="3F3F3F"/>
                </a:solidFill>
              </a:rPr>
              <a:t>2.     Previous JLab Experiments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600">
                <a:solidFill>
                  <a:srgbClr val="3F3F3F"/>
                </a:solidFill>
              </a:rPr>
              <a:t>3.     ALERT Experimental setup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600">
                <a:solidFill>
                  <a:srgbClr val="3F3F3F"/>
                </a:solidFill>
              </a:rPr>
              <a:t>4.     Track Reconstruction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600">
                <a:solidFill>
                  <a:srgbClr val="3F3F3F"/>
                </a:solidFill>
              </a:rPr>
              <a:t>5.     Hits Clustering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600">
                <a:solidFill>
                  <a:srgbClr val="3F3F3F"/>
                </a:solidFill>
              </a:rPr>
              <a:t>6.     AI-assisted Model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600">
                <a:solidFill>
                  <a:srgbClr val="3F3F3F"/>
                </a:solidFill>
              </a:rPr>
              <a:t>7.     AI-assisted Model Evaluation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600">
                <a:solidFill>
                  <a:srgbClr val="3F3F3F"/>
                </a:solidFill>
              </a:rPr>
              <a:t>8.     Conventional and AI comparison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sz="3600">
                <a:solidFill>
                  <a:srgbClr val="3F3F3F"/>
                </a:solidFill>
              </a:rPr>
              <a:t>9.     Summary and outlook</a:t>
            </a:r>
            <a:endParaRPr/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rgbClr val="3F3F3F"/>
              </a:solidFill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rgbClr val="3F3F3F"/>
              </a:solidFill>
            </a:endParaRPr>
          </a:p>
        </p:txBody>
      </p:sp>
      <p:sp>
        <p:nvSpPr>
          <p:cNvPr id="107" name="Google Shape;107;p15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The 11</a:t>
            </a:r>
            <a:r>
              <a:rPr baseline="30000" lang="en-US">
                <a:solidFill>
                  <a:srgbClr val="595959"/>
                </a:solidFill>
              </a:rPr>
              <a:t>th</a:t>
            </a:r>
            <a:r>
              <a:rPr lang="en-US">
                <a:solidFill>
                  <a:srgbClr val="595959"/>
                </a:solidFill>
              </a:rPr>
              <a:t> workshop of the APS Topical Group on Hadronic Physics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08" name="Google Shape;108;p15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09" name="Google Shape;109;p15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3/15/25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6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ALERT Physics Program </a:t>
            </a:r>
            <a:endParaRPr/>
          </a:p>
        </p:txBody>
      </p:sp>
      <p:sp>
        <p:nvSpPr>
          <p:cNvPr id="115" name="Google Shape;115;p16"/>
          <p:cNvSpPr txBox="1"/>
          <p:nvPr>
            <p:ph idx="1" type="body"/>
          </p:nvPr>
        </p:nvSpPr>
        <p:spPr>
          <a:xfrm>
            <a:off x="-1311" y="741533"/>
            <a:ext cx="12112488" cy="470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Comprehensive studies QCD in nuclei and associated medium modifications</a:t>
            </a:r>
            <a:endParaRPr/>
          </a:p>
        </p:txBody>
      </p:sp>
      <p:sp>
        <p:nvSpPr>
          <p:cNvPr id="116" name="Google Shape;116;p16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The 11</a:t>
            </a:r>
            <a:r>
              <a:rPr baseline="30000" lang="en-US">
                <a:solidFill>
                  <a:srgbClr val="595959"/>
                </a:solidFill>
              </a:rPr>
              <a:t>th</a:t>
            </a:r>
            <a:r>
              <a:rPr lang="en-US">
                <a:solidFill>
                  <a:srgbClr val="595959"/>
                </a:solidFill>
              </a:rPr>
              <a:t> workshop of the APS Topical Group on Hadronic Physics</a:t>
            </a:r>
            <a:endParaRPr/>
          </a:p>
        </p:txBody>
      </p:sp>
      <p:sp>
        <p:nvSpPr>
          <p:cNvPr id="117" name="Google Shape;117;p16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18" name="Google Shape;118;p16"/>
          <p:cNvSpPr txBox="1"/>
          <p:nvPr/>
        </p:nvSpPr>
        <p:spPr>
          <a:xfrm>
            <a:off x="242859" y="1257140"/>
            <a:ext cx="3428489" cy="4616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Coherent DVCS on </a:t>
            </a:r>
            <a:r>
              <a:rPr b="1" baseline="30000" i="0" lang="en-US" sz="24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i="0" lang="en-US" sz="2400" u="none" cap="none" strike="noStrike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He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4300679" y="1254641"/>
            <a:ext cx="2749826" cy="4616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DIS on </a:t>
            </a:r>
            <a:r>
              <a:rPr b="1" baseline="30000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He and </a:t>
            </a:r>
            <a:r>
              <a:rPr b="1" baseline="30000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sp>
        <p:nvSpPr>
          <p:cNvPr id="120" name="Google Shape;120;p16"/>
          <p:cNvSpPr txBox="1"/>
          <p:nvPr/>
        </p:nvSpPr>
        <p:spPr>
          <a:xfrm>
            <a:off x="7810244" y="1254967"/>
            <a:ext cx="4281532" cy="461665"/>
          </a:xfrm>
          <a:prstGeom prst="rect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Incoherent DVCS on </a:t>
            </a:r>
            <a:r>
              <a:rPr b="1" baseline="30000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He (</a:t>
            </a:r>
            <a:r>
              <a:rPr b="1" baseline="30000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H)</a:t>
            </a:r>
            <a:endParaRPr/>
          </a:p>
        </p:txBody>
      </p:sp>
      <p:sp>
        <p:nvSpPr>
          <p:cNvPr id="121" name="Google Shape;121;p16"/>
          <p:cNvSpPr txBox="1"/>
          <p:nvPr/>
        </p:nvSpPr>
        <p:spPr>
          <a:xfrm>
            <a:off x="427343" y="5500182"/>
            <a:ext cx="342848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Explore the partonic structure of </a:t>
            </a:r>
            <a:r>
              <a:rPr baseline="30000"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 with Generalized Parton Distributions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4381755" y="5500182"/>
            <a:ext cx="342848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Test the Final State Interactions and rescaling model</a:t>
            </a:r>
            <a:endParaRPr/>
          </a:p>
        </p:txBody>
      </p:sp>
      <p:sp>
        <p:nvSpPr>
          <p:cNvPr id="123" name="Google Shape;123;p16"/>
          <p:cNvSpPr txBox="1"/>
          <p:nvPr/>
        </p:nvSpPr>
        <p:spPr>
          <a:xfrm>
            <a:off x="8103966" y="5500183"/>
            <a:ext cx="3959697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Explore the 3-D structure of modified nucleons in light ions </a:t>
            </a:r>
            <a:r>
              <a:rPr baseline="30000"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H,</a:t>
            </a:r>
            <a:r>
              <a:rPr baseline="30000"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H, and </a:t>
            </a:r>
            <a:r>
              <a:rPr baseline="30000"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 (</a:t>
            </a:r>
            <a:r>
              <a:rPr baseline="30000"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 or neutron) </a:t>
            </a:r>
            <a:endParaRPr/>
          </a:p>
        </p:txBody>
      </p:sp>
      <p:pic>
        <p:nvPicPr>
          <p:cNvPr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7662" y="1791494"/>
            <a:ext cx="2963066" cy="36708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38430" y="1791494"/>
            <a:ext cx="2985228" cy="3599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26" name="Google Shape;126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16837" y="2014475"/>
            <a:ext cx="3492618" cy="257041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16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3/15/25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7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ALERT Physics Program </a:t>
            </a:r>
            <a:endParaRPr/>
          </a:p>
        </p:txBody>
      </p:sp>
      <p:sp>
        <p:nvSpPr>
          <p:cNvPr id="133" name="Google Shape;133;p17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The 11</a:t>
            </a:r>
            <a:r>
              <a:rPr baseline="30000" lang="en-US">
                <a:solidFill>
                  <a:srgbClr val="595959"/>
                </a:solidFill>
              </a:rPr>
              <a:t>th</a:t>
            </a:r>
            <a:r>
              <a:rPr lang="en-US">
                <a:solidFill>
                  <a:srgbClr val="595959"/>
                </a:solidFill>
              </a:rPr>
              <a:t> workshop of the APS Topical Group on Hadronic Physics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34" name="Google Shape;134;p17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35" name="Google Shape;13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8990" y="2155702"/>
            <a:ext cx="3707993" cy="296834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4356668" y="5280131"/>
            <a:ext cx="3952702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Measure the F</a:t>
            </a:r>
            <a:r>
              <a:rPr b="0" baseline="-2500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structure function of a weakly bound nucleon in </a:t>
            </a:r>
            <a:r>
              <a:rPr b="0" baseline="3000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 and compare it to the </a:t>
            </a:r>
            <a:r>
              <a:rPr b="0" baseline="3000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 case. Control FSIs with tagged fragments</a:t>
            </a:r>
            <a:endParaRPr sz="18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p17"/>
          <p:cNvSpPr txBox="1"/>
          <p:nvPr/>
        </p:nvSpPr>
        <p:spPr>
          <a:xfrm>
            <a:off x="8520652" y="5292545"/>
            <a:ext cx="3428489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Extract quarks GPDs for bound nucleons and thus understand the effect of FSIs</a:t>
            </a:r>
            <a:endParaRPr sz="18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17"/>
          <p:cNvSpPr txBox="1"/>
          <p:nvPr/>
        </p:nvSpPr>
        <p:spPr>
          <a:xfrm>
            <a:off x="242859" y="1257140"/>
            <a:ext cx="3734453" cy="4616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Coherent Process on </a:t>
            </a:r>
            <a:r>
              <a:rPr b="1" baseline="30000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He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4562648" y="1237872"/>
            <a:ext cx="3124934" cy="83099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DIS on </a:t>
            </a:r>
            <a:r>
              <a:rPr b="1" baseline="30000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He and </a:t>
            </a:r>
            <a:r>
              <a:rPr b="1" baseline="30000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H: Tagged EMC effect</a:t>
            </a:r>
            <a:endParaRPr/>
          </a:p>
        </p:txBody>
      </p:sp>
      <p:sp>
        <p:nvSpPr>
          <p:cNvPr id="140" name="Google Shape;140;p17"/>
          <p:cNvSpPr txBox="1"/>
          <p:nvPr/>
        </p:nvSpPr>
        <p:spPr>
          <a:xfrm>
            <a:off x="8493337" y="1232480"/>
            <a:ext cx="3428488" cy="830997"/>
          </a:xfrm>
          <a:prstGeom prst="rect">
            <a:avLst/>
          </a:prstGeom>
          <a:solidFill>
            <a:srgbClr val="A8D08C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Incoherent Process on </a:t>
            </a:r>
            <a:r>
              <a:rPr b="1" baseline="30000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He and </a:t>
            </a:r>
            <a:r>
              <a:rPr b="1" baseline="30000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1"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endParaRPr/>
          </a:p>
        </p:txBody>
      </p:sp>
      <p:pic>
        <p:nvPicPr>
          <p:cNvPr id="141" name="Google Shape;14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9791" y="2205991"/>
            <a:ext cx="3957521" cy="2445659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209621" y="5292545"/>
            <a:ext cx="3767691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Extract quark and gluon GPDs in a dense nucleus; in this</a:t>
            </a:r>
            <a:r>
              <a:rPr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case, GPD H is obtained for both quarks and gluons in </a:t>
            </a:r>
            <a:r>
              <a:rPr b="0" baseline="3000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</a:t>
            </a:r>
            <a:endParaRPr sz="18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3" name="Google Shape;14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940858" y="2147124"/>
            <a:ext cx="4368512" cy="2767776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7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3/15/25</a:t>
            </a:r>
            <a:endParaRPr/>
          </a:p>
        </p:txBody>
      </p:sp>
      <p:sp>
        <p:nvSpPr>
          <p:cNvPr id="145" name="Google Shape;145;p17"/>
          <p:cNvSpPr txBox="1"/>
          <p:nvPr>
            <p:ph idx="1" type="body"/>
          </p:nvPr>
        </p:nvSpPr>
        <p:spPr>
          <a:xfrm>
            <a:off x="-1311" y="741533"/>
            <a:ext cx="12112488" cy="4701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/>
              <a:t>Comprehensive studies QCD in nuclei and associated medium modifications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18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4000"/>
              <a:buFont typeface="Arial"/>
              <a:buNone/>
            </a:pPr>
            <a:r>
              <a:rPr b="0" i="0" lang="en-US" sz="40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In-medium Structure and Effects</a:t>
            </a:r>
            <a:endParaRPr sz="199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18"/>
          <p:cNvSpPr txBox="1"/>
          <p:nvPr>
            <p:ph idx="1" type="body"/>
          </p:nvPr>
        </p:nvSpPr>
        <p:spPr>
          <a:xfrm>
            <a:off x="0" y="700374"/>
            <a:ext cx="8101264" cy="57687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0" i="0" lang="en-US" sz="2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Modifications of bound nucleons properties and dynamics: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EMC effects at moderate Bjorken </a:t>
            </a:r>
            <a:r>
              <a:rPr b="0" i="1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and shadowing at small </a:t>
            </a:r>
            <a:r>
              <a:rPr b="0" i="1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endParaRPr b="0" i="0" sz="2000" u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Significant even for </a:t>
            </a:r>
            <a:r>
              <a:rPr b="0" baseline="3000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Many models for the EMC effect</a:t>
            </a:r>
            <a:endParaRPr/>
          </a:p>
          <a:p>
            <a:pPr indent="-285750" lvl="0" marL="28575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The EMC effect remains a mystery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What is the origin of the EMC effect?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How is the nucleon modified in nuclear medium?</a:t>
            </a:r>
            <a:endParaRPr/>
          </a:p>
          <a:p>
            <a:pPr indent="-285750" lvl="0" marL="329184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Nuclear modifications of DIS cross sections were probed by CERN, SLAC, and JLab experiments.</a:t>
            </a:r>
            <a:endParaRPr/>
          </a:p>
          <a:p>
            <a:pPr indent="-228600" lvl="0" marL="329184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0" i="0" lang="en-US" sz="2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Clear explanations may arise from studying the nuclear modifications via other reactions, such as Deeply Virtual Compton Scattering and Deeply Virtual Meson Production…</a:t>
            </a:r>
            <a:endParaRPr/>
          </a:p>
          <a:p>
            <a:pPr indent="-228600" lvl="0" marL="329184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0" i="0" lang="en-US" sz="2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What is the partonic structure of nuclei?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22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18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The 11</a:t>
            </a:r>
            <a:r>
              <a:rPr baseline="30000" lang="en-US">
                <a:solidFill>
                  <a:srgbClr val="595959"/>
                </a:solidFill>
              </a:rPr>
              <a:t>th</a:t>
            </a:r>
            <a:r>
              <a:rPr lang="en-US">
                <a:solidFill>
                  <a:srgbClr val="595959"/>
                </a:solidFill>
              </a:rPr>
              <a:t> workshop of the APS Topical Group on Hadronic Physics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53" name="Google Shape;153;p18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54" name="Google Shape;15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82021" y="718395"/>
            <a:ext cx="3907258" cy="5760872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8"/>
          <p:cNvSpPr txBox="1"/>
          <p:nvPr/>
        </p:nvSpPr>
        <p:spPr>
          <a:xfrm>
            <a:off x="7299017" y="6255015"/>
            <a:ext cx="3216583" cy="2616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J. Seely et al. Phys.Rev.Lett. 103 (2009) 202301</a:t>
            </a:r>
            <a:endParaRPr sz="11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6" name="Google Shape;156;p18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3/15/25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9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Tagged DIS and the EMC effect</a:t>
            </a:r>
            <a:endParaRPr/>
          </a:p>
        </p:txBody>
      </p:sp>
      <p:sp>
        <p:nvSpPr>
          <p:cNvPr id="163" name="Google Shape;163;p19"/>
          <p:cNvSpPr txBox="1"/>
          <p:nvPr>
            <p:ph idx="1" type="body"/>
          </p:nvPr>
        </p:nvSpPr>
        <p:spPr>
          <a:xfrm>
            <a:off x="0" y="694644"/>
            <a:ext cx="8122508" cy="57846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rgbClr val="3F3F3F"/>
                </a:solidFill>
              </a:rPr>
              <a:t>Tagging ⇒ better understanding of the nuclear effects.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Tagging implies measuring the characteristics of the spectator part</a:t>
            </a:r>
            <a:endParaRPr/>
          </a:p>
          <a:p>
            <a:pPr indent="-228600" lvl="0" marL="22860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rgbClr val="3F3F3F"/>
                </a:solidFill>
              </a:rPr>
              <a:t>Measurement with tagging ⇒ nuclear configuration selection via spectator kinematics: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3F3F3F"/>
                </a:solidFill>
              </a:rPr>
              <a:t>On-shell extrapolation ⇒ access to free nucleon structure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3F3F3F"/>
                </a:solidFill>
              </a:rPr>
              <a:t>Control initial state interactions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3F3F3F"/>
                </a:solidFill>
              </a:rPr>
              <a:t>Control and constrain final state interactions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400">
              <a:solidFill>
                <a:srgbClr val="3F3F3F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rgbClr val="3F3F3F"/>
                </a:solidFill>
              </a:rPr>
              <a:t>Study the EMC effect for backward and forward configuration to distinguish between models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rgbClr val="3F3F3F"/>
                </a:solidFill>
              </a:rPr>
              <a:t>Compare conventional models and alternative models:</a:t>
            </a:r>
            <a:endParaRPr/>
          </a:p>
          <a:p>
            <a:pPr indent="-228600" lvl="1" marL="59436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3F3F3F"/>
                </a:solidFill>
              </a:rPr>
              <a:t>Conventional: nuclear binding and Fermi motion</a:t>
            </a:r>
            <a:endParaRPr/>
          </a:p>
          <a:p>
            <a:pPr indent="-228600" lvl="1" marL="59436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3F3F3F"/>
                </a:solidFill>
              </a:rPr>
              <a:t>Alternative: modifications in quark confinement size or nucleon swelling</a:t>
            </a:r>
            <a:endParaRPr/>
          </a:p>
          <a:p>
            <a:pPr indent="-1270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</a:pPr>
            <a:r>
              <a:t/>
            </a:r>
            <a:endParaRPr sz="1600">
              <a:solidFill>
                <a:srgbClr val="3F3F3F"/>
              </a:solidFill>
            </a:endParaRPr>
          </a:p>
          <a:p>
            <a:pPr indent="-101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solidFill>
                <a:srgbClr val="3F3F3F"/>
              </a:solidFill>
            </a:endParaRPr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>
              <a:solidFill>
                <a:srgbClr val="3F3F3F"/>
              </a:solidFill>
            </a:endParaRPr>
          </a:p>
        </p:txBody>
      </p:sp>
      <p:sp>
        <p:nvSpPr>
          <p:cNvPr id="164" name="Google Shape;164;p19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The 11</a:t>
            </a:r>
            <a:r>
              <a:rPr baseline="30000" lang="en-US">
                <a:solidFill>
                  <a:srgbClr val="595959"/>
                </a:solidFill>
              </a:rPr>
              <a:t>th</a:t>
            </a:r>
            <a:r>
              <a:rPr lang="en-US">
                <a:solidFill>
                  <a:srgbClr val="595959"/>
                </a:solidFill>
              </a:rPr>
              <a:t> workshop of the APS Topical Group on Hadronic Physics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65" name="Google Shape;165;p19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34984" y="681037"/>
            <a:ext cx="3115606" cy="250810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915418" y="3065599"/>
            <a:ext cx="3954737" cy="3413666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3/15/25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Spectator-Tagged DVCS</a:t>
            </a:r>
            <a:endParaRPr/>
          </a:p>
        </p:txBody>
      </p:sp>
      <p:sp>
        <p:nvSpPr>
          <p:cNvPr id="174" name="Google Shape;174;p20"/>
          <p:cNvSpPr txBox="1"/>
          <p:nvPr>
            <p:ph idx="1" type="body"/>
          </p:nvPr>
        </p:nvSpPr>
        <p:spPr>
          <a:xfrm>
            <a:off x="65314" y="784451"/>
            <a:ext cx="7492647" cy="558330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rgbClr val="3F3F3F"/>
                </a:solidFill>
              </a:rPr>
              <a:t>DVCS links the EMC effect and Short-Range Correlations (inelastic and quasi-elastic):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3F3F3F"/>
                </a:solidFill>
              </a:rPr>
              <a:t>DVCS is used to study Generalized Partons Distributions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3F3F3F"/>
                </a:solidFill>
              </a:rPr>
              <a:t>Forward limit: GPDs reduce to longitudinal parton distributions ⇒ may explain the EMC effect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3F3F3F"/>
                </a:solidFill>
              </a:rPr>
              <a:t>Off-forward limit: GPDs reduce to form factors ⇒ describe quasi-elastic scattering off the nucleon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solidFill>
                <a:srgbClr val="3F3F3F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0" i="0" lang="en-US" sz="2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DVCS allows a partonic level interpretation and </a:t>
            </a:r>
            <a:br>
              <a:rPr b="0" i="0" lang="en-US" sz="2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2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in-medium nucleon tomography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0" i="0" lang="en-US" sz="2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Tagged DVCS provides a way to quantify and control the nuclear effects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0" i="0" lang="en-US" sz="2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Identify struck nucleon via tagging </a:t>
            </a:r>
            <a:r>
              <a:rPr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⇒</a:t>
            </a:r>
            <a:r>
              <a:rPr b="0" i="0" lang="en-US" sz="2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separate mean field nucleons (low momentum) from SRC (high momentum) nucleons</a:t>
            </a:r>
            <a:endParaRPr/>
          </a:p>
        </p:txBody>
      </p:sp>
      <p:sp>
        <p:nvSpPr>
          <p:cNvPr id="175" name="Google Shape;175;p20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The 11</a:t>
            </a:r>
            <a:r>
              <a:rPr baseline="30000" lang="en-US">
                <a:solidFill>
                  <a:srgbClr val="595959"/>
                </a:solidFill>
              </a:rPr>
              <a:t>th</a:t>
            </a:r>
            <a:r>
              <a:rPr lang="en-US">
                <a:solidFill>
                  <a:srgbClr val="595959"/>
                </a:solidFill>
              </a:rPr>
              <a:t> workshop of the APS Topical Group on Hadronic Physics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176" name="Google Shape;176;p20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77" name="Google Shape;177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36355" y="681037"/>
            <a:ext cx="3110725" cy="239390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20"/>
          <p:cNvPicPr preferRelativeResize="0"/>
          <p:nvPr/>
        </p:nvPicPr>
        <p:blipFill rotWithShape="1">
          <a:blip r:embed="rId4">
            <a:alphaModFix/>
          </a:blip>
          <a:srcRect b="1849" l="3425" r="6749" t="1849"/>
          <a:stretch/>
        </p:blipFill>
        <p:spPr>
          <a:xfrm>
            <a:off x="7776446" y="2813993"/>
            <a:ext cx="4030543" cy="3665274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0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3/15/25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1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Previous Experiments at Jefferson Lab</a:t>
            </a:r>
            <a:endParaRPr/>
          </a:p>
        </p:txBody>
      </p:sp>
      <p:sp>
        <p:nvSpPr>
          <p:cNvPr id="186" name="Google Shape;186;p21"/>
          <p:cNvSpPr txBox="1"/>
          <p:nvPr>
            <p:ph idx="1" type="body"/>
          </p:nvPr>
        </p:nvSpPr>
        <p:spPr>
          <a:xfrm>
            <a:off x="0" y="778806"/>
            <a:ext cx="6934200" cy="293731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29184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wo previous 6 GeV CLAS experiments: </a:t>
            </a:r>
            <a:r>
              <a:rPr b="1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EG6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1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BONuS</a:t>
            </a:r>
            <a:endParaRPr b="1" sz="20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2918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Both use Radial Time Projection Chamber to detect the recoil fragment</a:t>
            </a:r>
            <a:endParaRPr/>
          </a:p>
          <a:p>
            <a:pPr indent="-228600" lvl="0" marL="329184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Main limitations:</a:t>
            </a:r>
            <a:endParaRPr/>
          </a:p>
          <a:p>
            <a:pPr indent="-228600" lvl="1" marL="59218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EG6: had long drift time and lacked full Particle IDentification capabilities (</a:t>
            </a:r>
            <a:r>
              <a:rPr b="0" i="0" lang="en-US" sz="18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identified only </a:t>
            </a:r>
            <a:r>
              <a:rPr b="0" baseline="30000" i="0" lang="en-US" sz="18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18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He</a:t>
            </a:r>
            <a:r>
              <a:rPr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/>
          </a:p>
          <a:p>
            <a:pPr indent="-228600" lvl="1" marL="592188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</a:pPr>
            <a:r>
              <a:rPr b="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BONuS: had long drift time and only detect recoil proton</a:t>
            </a:r>
            <a:endParaRPr sz="18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7" name="Google Shape;187;p21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The 11</a:t>
            </a:r>
            <a:r>
              <a:rPr baseline="30000" lang="en-US">
                <a:solidFill>
                  <a:srgbClr val="595959"/>
                </a:solidFill>
              </a:rPr>
              <a:t>th</a:t>
            </a:r>
            <a:r>
              <a:rPr lang="en-US">
                <a:solidFill>
                  <a:srgbClr val="595959"/>
                </a:solidFill>
              </a:rPr>
              <a:t> workshop of the APS Topical Group on Hadronic Physics</a:t>
            </a:r>
            <a:endParaRPr/>
          </a:p>
        </p:txBody>
      </p:sp>
      <p:sp>
        <p:nvSpPr>
          <p:cNvPr id="188" name="Google Shape;188;p21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189" name="Google Shape;18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707520"/>
            <a:ext cx="7178950" cy="236307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p21"/>
          <p:cNvSpPr txBox="1"/>
          <p:nvPr/>
        </p:nvSpPr>
        <p:spPr>
          <a:xfrm>
            <a:off x="1043389" y="6061987"/>
            <a:ext cx="3475121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M. Hattawy </a:t>
            </a:r>
            <a:r>
              <a:rPr b="0" i="1" lang="en-US" sz="105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et al.</a:t>
            </a:r>
            <a:r>
              <a:rPr b="0" i="0" lang="en-US" sz="105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Phys. Rev. Lett. 119, (2017) 202004</a:t>
            </a:r>
            <a:endParaRPr sz="105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M. Hattawy </a:t>
            </a:r>
            <a:r>
              <a:rPr b="0" i="1" lang="en-US" sz="105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et al.</a:t>
            </a:r>
            <a:r>
              <a:rPr b="0" i="0" lang="en-US" sz="105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Phys. Rev. Lett. 123, (2019) 032502</a:t>
            </a:r>
            <a:endParaRPr sz="105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1" name="Google Shape;191;p21"/>
          <p:cNvPicPr preferRelativeResize="0"/>
          <p:nvPr/>
        </p:nvPicPr>
        <p:blipFill rotWithShape="1">
          <a:blip r:embed="rId4">
            <a:alphaModFix/>
          </a:blip>
          <a:srcRect b="19460" l="0" r="0" t="16930"/>
          <a:stretch/>
        </p:blipFill>
        <p:spPr>
          <a:xfrm>
            <a:off x="7398814" y="759697"/>
            <a:ext cx="4693515" cy="2561350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21"/>
          <p:cNvSpPr txBox="1"/>
          <p:nvPr/>
        </p:nvSpPr>
        <p:spPr>
          <a:xfrm>
            <a:off x="622300" y="3779501"/>
            <a:ext cx="692277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EG6</a:t>
            </a:r>
            <a:endParaRPr sz="20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3" name="Google Shape;193;p21"/>
          <p:cNvPicPr preferRelativeResize="0"/>
          <p:nvPr/>
        </p:nvPicPr>
        <p:blipFill rotWithShape="1">
          <a:blip r:embed="rId5">
            <a:alphaModFix/>
          </a:blip>
          <a:srcRect b="2467" l="2037" r="2459" t="3588"/>
          <a:stretch/>
        </p:blipFill>
        <p:spPr>
          <a:xfrm>
            <a:off x="7399252" y="3429000"/>
            <a:ext cx="4199466" cy="2862176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1"/>
          <p:cNvSpPr txBox="1"/>
          <p:nvPr/>
        </p:nvSpPr>
        <p:spPr>
          <a:xfrm>
            <a:off x="7962535" y="3557148"/>
            <a:ext cx="1269234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BONuS</a:t>
            </a:r>
            <a:endParaRPr sz="20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5" name="Google Shape;195;p21"/>
          <p:cNvSpPr txBox="1"/>
          <p:nvPr/>
        </p:nvSpPr>
        <p:spPr>
          <a:xfrm>
            <a:off x="8955557" y="6251803"/>
            <a:ext cx="3475121" cy="2539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S. Tkachenko </a:t>
            </a:r>
            <a:r>
              <a:rPr b="0" i="1" lang="en-US" sz="105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et al.</a:t>
            </a:r>
            <a:r>
              <a:rPr b="0" i="0" lang="en-US" sz="105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105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Phys. Rev. C </a:t>
            </a:r>
            <a:r>
              <a:rPr b="1" lang="en-US" sz="105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89</a:t>
            </a:r>
            <a:r>
              <a:rPr lang="en-US" sz="105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05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(2014) </a:t>
            </a:r>
            <a:r>
              <a:rPr lang="en-US" sz="105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045206</a:t>
            </a:r>
            <a:endParaRPr sz="105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6" name="Google Shape;196;p21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3/15/25</a:t>
            </a:r>
            <a:endParaRPr/>
          </a:p>
        </p:txBody>
      </p:sp>
      <p:sp>
        <p:nvSpPr>
          <p:cNvPr id="197" name="Google Shape;197;p21"/>
          <p:cNvSpPr txBox="1"/>
          <p:nvPr/>
        </p:nvSpPr>
        <p:spPr>
          <a:xfrm>
            <a:off x="7546881" y="746090"/>
            <a:ext cx="19097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D8D8D8"/>
                </a:solidFill>
                <a:latin typeface="Arial"/>
                <a:ea typeface="Arial"/>
                <a:cs typeface="Arial"/>
                <a:sym typeface="Arial"/>
              </a:rPr>
              <a:t>EG6 RTPC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2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ALERT Experiment Setup</a:t>
            </a:r>
            <a:endParaRPr/>
          </a:p>
        </p:txBody>
      </p:sp>
      <p:sp>
        <p:nvSpPr>
          <p:cNvPr id="203" name="Google Shape;203;p22"/>
          <p:cNvSpPr txBox="1"/>
          <p:nvPr>
            <p:ph idx="1" type="body"/>
          </p:nvPr>
        </p:nvSpPr>
        <p:spPr>
          <a:xfrm>
            <a:off x="0" y="795753"/>
            <a:ext cx="11991331" cy="6192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3200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Font typeface="Arial"/>
              <a:buChar char="•"/>
            </a:pPr>
            <a:r>
              <a:rPr b="0" i="0" lang="en-US" sz="2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The ALERT experiment will take place in Hall B at Jefferson Lab</a:t>
            </a:r>
            <a:endParaRPr b="0" i="0" sz="2400" u="none" strike="noStrike">
              <a:solidFill>
                <a:srgbClr val="A8D08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508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04" name="Google Shape;204;p22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The 11</a:t>
            </a:r>
            <a:r>
              <a:rPr baseline="30000" lang="en-US">
                <a:solidFill>
                  <a:srgbClr val="595959"/>
                </a:solidFill>
              </a:rPr>
              <a:t>th</a:t>
            </a:r>
            <a:r>
              <a:rPr lang="en-US">
                <a:solidFill>
                  <a:srgbClr val="595959"/>
                </a:solidFill>
              </a:rPr>
              <a:t> workshop of the APS Topical Group on Hadronic Physics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205" name="Google Shape;205;p22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06" name="Google Shape;206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72200" y="1101201"/>
            <a:ext cx="6017079" cy="5756798"/>
          </a:xfrm>
          <a:prstGeom prst="rect">
            <a:avLst/>
          </a:prstGeom>
          <a:noFill/>
          <a:ln>
            <a:noFill/>
          </a:ln>
        </p:spPr>
      </p:pic>
      <p:sp>
        <p:nvSpPr>
          <p:cNvPr id="207" name="Google Shape;207;p22"/>
          <p:cNvSpPr txBox="1"/>
          <p:nvPr/>
        </p:nvSpPr>
        <p:spPr>
          <a:xfrm>
            <a:off x="0" y="1280146"/>
            <a:ext cx="5813570" cy="453970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32004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CLAS12: detect scattered electrons and forward scattered hadrons</a:t>
            </a:r>
            <a:endParaRPr/>
          </a:p>
          <a:p>
            <a:pPr indent="-228600" lvl="0" marL="320040" marR="0" rtl="0" algn="l">
              <a:spcBef>
                <a:spcPts val="6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ALERT: detect recoil spectators or coherently scattered nucleus</a:t>
            </a:r>
            <a:endParaRPr/>
          </a:p>
          <a:p>
            <a:pPr indent="-76200" lvl="0" marL="320040" marR="0" rtl="0" algn="l">
              <a:spcBef>
                <a:spcPts val="60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None/>
            </a:pPr>
            <a:r>
              <a:t/>
            </a:r>
            <a:endParaRPr b="0" i="0" sz="2400" u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32004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</a:pPr>
            <a:r>
              <a:rPr b="0" i="0" lang="en-US" sz="2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ALERT Goals: </a:t>
            </a:r>
            <a:endParaRPr/>
          </a:p>
          <a:p>
            <a:pPr indent="-342900" lvl="1" marL="800100" marR="0" rtl="0" algn="l">
              <a:spcBef>
                <a:spcPts val="6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Aim to identify light ions: p, </a:t>
            </a:r>
            <a:r>
              <a:rPr b="0" baseline="3000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H, </a:t>
            </a:r>
            <a:r>
              <a:rPr b="0" baseline="3000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H, </a:t>
            </a:r>
            <a:r>
              <a:rPr b="0" baseline="3000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He, and </a:t>
            </a:r>
            <a:r>
              <a:rPr b="0" baseline="3000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</a:t>
            </a:r>
            <a:endParaRPr/>
          </a:p>
          <a:p>
            <a:pPr indent="-342900" lvl="1" marL="800100" marR="0" rtl="0" algn="l">
              <a:spcBef>
                <a:spcPts val="6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Detect the lowest momentum possible, down to 70 MeV/c for proton</a:t>
            </a:r>
            <a:endParaRPr/>
          </a:p>
          <a:p>
            <a:pPr indent="-342900" lvl="1" marL="800100" marR="0" rtl="0" algn="l">
              <a:spcBef>
                <a:spcPts val="6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Handle high CLAS12 rates and luminosities (10</a:t>
            </a:r>
            <a:r>
              <a:rPr b="0" baseline="3000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35</a:t>
            </a:r>
            <a:r>
              <a:rPr b="0" baseline="-2500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cm</a:t>
            </a:r>
            <a:r>
              <a:rPr b="0" baseline="3000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baseline="3000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-1</a:t>
            </a: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)  </a:t>
            </a:r>
            <a:r>
              <a:rPr b="0" i="0" lang="en-US" sz="2000" u="none" cap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      </a:t>
            </a:r>
            <a:endParaRPr b="0" i="0" sz="2000" u="none" cap="none" strike="noStrike">
              <a:solidFill>
                <a:srgbClr val="93C47D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2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3/15/25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3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ALERT Experiment Setup</a:t>
            </a:r>
            <a:endParaRPr/>
          </a:p>
        </p:txBody>
      </p:sp>
      <p:sp>
        <p:nvSpPr>
          <p:cNvPr id="215" name="Google Shape;215;p23"/>
          <p:cNvSpPr txBox="1"/>
          <p:nvPr>
            <p:ph idx="1" type="body"/>
          </p:nvPr>
        </p:nvSpPr>
        <p:spPr>
          <a:xfrm>
            <a:off x="65313" y="784451"/>
            <a:ext cx="12061374" cy="85329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ALERT </a:t>
            </a:r>
            <a:r>
              <a:rPr lang="en-US" sz="2400">
                <a:solidFill>
                  <a:srgbClr val="3F3F3F"/>
                </a:solidFill>
              </a:rPr>
              <a:t>have </a:t>
            </a:r>
            <a:r>
              <a:rPr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two sub-detectors: A Hyperbolic Drift Chamber (AHDC) and A Time of Flight (ATOF)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/>
          </a:p>
        </p:txBody>
      </p:sp>
      <p:sp>
        <p:nvSpPr>
          <p:cNvPr id="216" name="Google Shape;216;p23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The 11</a:t>
            </a:r>
            <a:r>
              <a:rPr baseline="30000" lang="en-US">
                <a:solidFill>
                  <a:srgbClr val="595959"/>
                </a:solidFill>
              </a:rPr>
              <a:t>th</a:t>
            </a:r>
            <a:r>
              <a:rPr lang="en-US">
                <a:solidFill>
                  <a:srgbClr val="595959"/>
                </a:solidFill>
              </a:rPr>
              <a:t> workshop of the APS Topical Group on Hadronic Physics</a:t>
            </a:r>
            <a:endParaRPr/>
          </a:p>
        </p:txBody>
      </p:sp>
      <p:sp>
        <p:nvSpPr>
          <p:cNvPr id="217" name="Google Shape;217;p23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18" name="Google Shape;218;p23"/>
          <p:cNvSpPr txBox="1"/>
          <p:nvPr/>
        </p:nvSpPr>
        <p:spPr>
          <a:xfrm>
            <a:off x="1804943" y="1910833"/>
            <a:ext cx="2524655" cy="461665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ATOF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342163" y="2495875"/>
            <a:ext cx="5753837" cy="193899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Time of flight: used for Particle IDentification</a:t>
            </a:r>
            <a:endParaRPr sz="20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Small barrel of segmented scintillators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The TOF measurement is degenerate for </a:t>
            </a:r>
            <a:r>
              <a:rPr b="0" baseline="3000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 and </a:t>
            </a:r>
            <a:r>
              <a:rPr b="0" baseline="3000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He, but </a:t>
            </a:r>
            <a:r>
              <a:rPr b="0" i="1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dE/dx 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can distinguish the two nuclei bands</a:t>
            </a:r>
            <a:endParaRPr/>
          </a:p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0070C0"/>
              </a:buClr>
              <a:buSzPts val="2000"/>
              <a:buFont typeface="Arial"/>
              <a:buNone/>
            </a:pPr>
            <a:r>
              <a:t/>
            </a:r>
            <a:endParaRPr sz="200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3"/>
          <p:cNvSpPr txBox="1"/>
          <p:nvPr/>
        </p:nvSpPr>
        <p:spPr>
          <a:xfrm>
            <a:off x="1804943" y="4312525"/>
            <a:ext cx="2520539" cy="46166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rgbClr val="F2F2F2"/>
                </a:solidFill>
                <a:latin typeface="Arial"/>
                <a:ea typeface="Arial"/>
                <a:cs typeface="Arial"/>
                <a:sym typeface="Arial"/>
              </a:rPr>
              <a:t>AHDC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342162" y="4781740"/>
            <a:ext cx="5468587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Aluminum wire: 2 mm apart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20-degree stereo angle (hyperbolic shape)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5 superlayers, each composed of 2 layers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C00000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576 signal wires (6 ground wires of each signal)</a:t>
            </a:r>
            <a:endParaRPr/>
          </a:p>
        </p:txBody>
      </p:sp>
      <p:pic>
        <p:nvPicPr>
          <p:cNvPr id="222" name="Google Shape;222;p23"/>
          <p:cNvPicPr preferRelativeResize="0"/>
          <p:nvPr/>
        </p:nvPicPr>
        <p:blipFill rotWithShape="1">
          <a:blip r:embed="rId3">
            <a:alphaModFix/>
          </a:blip>
          <a:srcRect b="0" l="0" r="0" t="66102"/>
          <a:stretch/>
        </p:blipFill>
        <p:spPr>
          <a:xfrm>
            <a:off x="5810749" y="3988375"/>
            <a:ext cx="6313412" cy="2490892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3"/>
          <p:cNvSpPr txBox="1"/>
          <p:nvPr/>
        </p:nvSpPr>
        <p:spPr>
          <a:xfrm>
            <a:off x="1147012" y="1184832"/>
            <a:ext cx="7015594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1400"/>
              <a:buFont typeface="Arial"/>
              <a:buNone/>
            </a:pPr>
            <a:r>
              <a:t/>
            </a:r>
            <a:endParaRPr b="0" i="0" sz="1400" u="none" strike="noStrike">
              <a:solidFill>
                <a:srgbClr val="93C47D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id="224" name="Google Shape;224;p2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900849" y="1162756"/>
            <a:ext cx="4013856" cy="2890624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23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3/15/25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4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Track Reconstruction</a:t>
            </a:r>
            <a:endParaRPr/>
          </a:p>
        </p:txBody>
      </p:sp>
      <p:sp>
        <p:nvSpPr>
          <p:cNvPr id="231" name="Google Shape;231;p24"/>
          <p:cNvSpPr txBox="1"/>
          <p:nvPr>
            <p:ph idx="1" type="body"/>
          </p:nvPr>
        </p:nvSpPr>
        <p:spPr>
          <a:xfrm>
            <a:off x="1" y="764845"/>
            <a:ext cx="12189278" cy="16058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Aim to reconstruct the momentum and trajectory of (charged) particles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Two stages of track reconstruction: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Track finding: Identifying which hits came from the same charged particle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/>
              <a:t>Track fitting: Fitting hits to a single track to extract track parameters (momentum and position)</a:t>
            </a:r>
            <a:endParaRPr/>
          </a:p>
        </p:txBody>
      </p:sp>
      <p:sp>
        <p:nvSpPr>
          <p:cNvPr id="232" name="Google Shape;232;p24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The 11</a:t>
            </a:r>
            <a:r>
              <a:rPr baseline="30000" lang="en-US">
                <a:solidFill>
                  <a:srgbClr val="595959"/>
                </a:solidFill>
              </a:rPr>
              <a:t>th</a:t>
            </a:r>
            <a:r>
              <a:rPr lang="en-US">
                <a:solidFill>
                  <a:srgbClr val="595959"/>
                </a:solidFill>
              </a:rPr>
              <a:t> workshop of the APS Topical Group on Hadronic Physics</a:t>
            </a:r>
            <a:endParaRPr>
              <a:solidFill>
                <a:srgbClr val="595959"/>
              </a:solidFill>
            </a:endParaRPr>
          </a:p>
        </p:txBody>
      </p:sp>
      <p:sp>
        <p:nvSpPr>
          <p:cNvPr id="233" name="Google Shape;233;p24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34" name="Google Shape;234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4039" y="2663890"/>
            <a:ext cx="3787856" cy="3820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24712" y="2663886"/>
            <a:ext cx="3787856" cy="382067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6" name="Google Shape;236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03343" y="2663768"/>
            <a:ext cx="3867725" cy="3820672"/>
          </a:xfrm>
          <a:prstGeom prst="rect">
            <a:avLst/>
          </a:prstGeom>
          <a:noFill/>
          <a:ln>
            <a:noFill/>
          </a:ln>
        </p:spPr>
      </p:pic>
      <p:sp>
        <p:nvSpPr>
          <p:cNvPr id="237" name="Google Shape;237;p24"/>
          <p:cNvSpPr/>
          <p:nvPr/>
        </p:nvSpPr>
        <p:spPr>
          <a:xfrm>
            <a:off x="3320316" y="4335784"/>
            <a:ext cx="947975" cy="4076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8D08C"/>
          </a:solidFill>
          <a:ln cap="flat" cmpd="sng" w="12700">
            <a:solidFill>
              <a:srgbClr val="5481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24"/>
          <p:cNvSpPr/>
          <p:nvPr/>
        </p:nvSpPr>
        <p:spPr>
          <a:xfrm>
            <a:off x="7319410" y="4335784"/>
            <a:ext cx="947975" cy="407684"/>
          </a:xfrm>
          <a:prstGeom prst="rightArrow">
            <a:avLst>
              <a:gd fmla="val 50000" name="adj1"/>
              <a:gd fmla="val 50000" name="adj2"/>
            </a:avLst>
          </a:prstGeom>
          <a:solidFill>
            <a:srgbClr val="A8D08C"/>
          </a:solidFill>
          <a:ln cap="flat" cmpd="sng" w="12700">
            <a:solidFill>
              <a:srgbClr val="548135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9" name="Google Shape;239;p24"/>
          <p:cNvSpPr txBox="1"/>
          <p:nvPr/>
        </p:nvSpPr>
        <p:spPr>
          <a:xfrm>
            <a:off x="1130968" y="3023937"/>
            <a:ext cx="24464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Measurements</a:t>
            </a:r>
            <a:endParaRPr/>
          </a:p>
        </p:txBody>
      </p:sp>
      <p:sp>
        <p:nvSpPr>
          <p:cNvPr id="240" name="Google Shape;240;p24"/>
          <p:cNvSpPr txBox="1"/>
          <p:nvPr/>
        </p:nvSpPr>
        <p:spPr>
          <a:xfrm>
            <a:off x="5972964" y="3023937"/>
            <a:ext cx="24464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Track finding</a:t>
            </a:r>
            <a:endParaRPr/>
          </a:p>
        </p:txBody>
      </p:sp>
      <p:sp>
        <p:nvSpPr>
          <p:cNvPr id="241" name="Google Shape;241;p24"/>
          <p:cNvSpPr txBox="1"/>
          <p:nvPr/>
        </p:nvSpPr>
        <p:spPr>
          <a:xfrm>
            <a:off x="9173364" y="3059668"/>
            <a:ext cx="244642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Track fitting</a:t>
            </a:r>
            <a:endParaRPr/>
          </a:p>
        </p:txBody>
      </p:sp>
      <p:sp>
        <p:nvSpPr>
          <p:cNvPr id="242" name="Google Shape;242;p24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3/15/25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5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Track Finding</a:t>
            </a:r>
            <a:endParaRPr/>
          </a:p>
        </p:txBody>
      </p:sp>
      <p:sp>
        <p:nvSpPr>
          <p:cNvPr id="248" name="Google Shape;248;p25"/>
          <p:cNvSpPr txBox="1"/>
          <p:nvPr>
            <p:ph idx="1" type="body"/>
          </p:nvPr>
        </p:nvSpPr>
        <p:spPr>
          <a:xfrm>
            <a:off x="1" y="818990"/>
            <a:ext cx="6316910" cy="55543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Track finding is a clustering problem: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3F3F3F"/>
                </a:solidFill>
              </a:rPr>
              <a:t>S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et of points (hits) </a:t>
            </a:r>
            <a:r>
              <a:rPr lang="en-US" sz="2000">
                <a:solidFill>
                  <a:srgbClr val="3F3F3F"/>
                </a:solidFill>
              </a:rPr>
              <a:t>⇒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cluster in sets (tracks) originating from the same particle 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Hits: 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particles deposit energy when interacting with the detector material</a:t>
            </a:r>
            <a:endParaRPr b="0" i="0" sz="2000" u="none" strike="noStrike">
              <a:solidFill>
                <a:srgbClr val="A8D08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Tracks: reconstructed sequences of hits representing charged particle trajectories</a:t>
            </a:r>
            <a:endParaRPr>
              <a:solidFill>
                <a:srgbClr val="3F3F3F"/>
              </a:solidFill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b="0" i="0" sz="2400" u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rgbClr val="3F3F3F"/>
                </a:solidFill>
              </a:rPr>
              <a:t>Different algorithms: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3F3F3F"/>
                </a:solidFill>
              </a:rPr>
              <a:t>Distance between hits + fit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Hough transform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Combinatorial Kalman Filter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3F3F3F"/>
                </a:solidFill>
              </a:rPr>
              <a:t>Artificial Intelligence models (MLP, GNN…)</a:t>
            </a:r>
            <a:endParaRPr b="0" i="0" sz="2000" u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9" name="Google Shape;249;p25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The 11</a:t>
            </a:r>
            <a:r>
              <a:rPr baseline="30000" lang="en-US">
                <a:solidFill>
                  <a:srgbClr val="595959"/>
                </a:solidFill>
              </a:rPr>
              <a:t>th</a:t>
            </a:r>
            <a:r>
              <a:rPr lang="en-US">
                <a:solidFill>
                  <a:srgbClr val="595959"/>
                </a:solidFill>
              </a:rPr>
              <a:t> workshop of the APS Topical Group on Hadronic Physics</a:t>
            </a:r>
            <a:endParaRPr/>
          </a:p>
        </p:txBody>
      </p:sp>
      <p:sp>
        <p:nvSpPr>
          <p:cNvPr id="250" name="Google Shape;250;p25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51" name="Google Shape;251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316911" y="715959"/>
            <a:ext cx="5714051" cy="5741992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5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3/15/25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6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Clustering and Track Candidates</a:t>
            </a:r>
            <a:endParaRPr/>
          </a:p>
        </p:txBody>
      </p:sp>
      <p:sp>
        <p:nvSpPr>
          <p:cNvPr id="259" name="Google Shape;259;p26"/>
          <p:cNvSpPr txBox="1"/>
          <p:nvPr>
            <p:ph idx="1" type="body"/>
          </p:nvPr>
        </p:nvSpPr>
        <p:spPr>
          <a:xfrm>
            <a:off x="-17066" y="784450"/>
            <a:ext cx="5471758" cy="570842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/>
              <a:t>First step, find all </a:t>
            </a:r>
            <a:r>
              <a:rPr lang="en-US" sz="2400">
                <a:latin typeface="Arial"/>
                <a:ea typeface="Arial"/>
                <a:cs typeface="Arial"/>
                <a:sym typeface="Arial"/>
              </a:rPr>
              <a:t>track candidates: </a:t>
            </a:r>
            <a:endParaRPr sz="2400"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Clustering</a:t>
            </a: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⇒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merging </a:t>
            </a:r>
            <a:r>
              <a:rPr lang="en-US" sz="2000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hits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close in the </a:t>
            </a:r>
            <a:r>
              <a:rPr i="1"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x-y </a:t>
            </a: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plane to reduce the </a:t>
            </a:r>
            <a:r>
              <a:rPr b="0" i="0" lang="en-US" sz="2000" u="none" strike="noStrike">
                <a:solidFill>
                  <a:srgbClr val="595959"/>
                </a:solidFill>
                <a:latin typeface="Arial"/>
                <a:ea typeface="Arial"/>
                <a:cs typeface="Arial"/>
                <a:sym typeface="Arial"/>
              </a:rPr>
              <a:t>combinatorial</a:t>
            </a: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background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3F3F3F"/>
                </a:solidFill>
              </a:rPr>
              <a:t>Merge hits on the same layer that are one wire apart into </a:t>
            </a:r>
            <a:r>
              <a:rPr lang="en-US" sz="2000">
                <a:solidFill>
                  <a:schemeClr val="accent2"/>
                </a:solidFill>
              </a:rPr>
              <a:t>precluster</a:t>
            </a:r>
            <a:endParaRPr sz="2000">
              <a:solidFill>
                <a:srgbClr val="3F3F3F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</a:t>
            </a:r>
            <a:r>
              <a:rPr lang="en-US" sz="2000">
                <a:solidFill>
                  <a:srgbClr val="3F3F3F"/>
                </a:solidFill>
              </a:rPr>
              <a:t>erge precluster in the same superlayer that are less than 8mm apart into </a:t>
            </a:r>
            <a:r>
              <a:rPr lang="en-US" sz="2000">
                <a:solidFill>
                  <a:srgbClr val="FF0000"/>
                </a:solidFill>
              </a:rPr>
              <a:t>super-precluster</a:t>
            </a:r>
            <a:endParaRPr sz="2000">
              <a:solidFill>
                <a:srgbClr val="3F3F3F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lang="en-US" sz="2000">
                <a:solidFill>
                  <a:srgbClr val="3F3F3F"/>
                </a:solidFill>
              </a:rPr>
              <a:t>Generate all track candidates with 5 super-preclusters (one on each superlayer)</a:t>
            </a:r>
            <a:endParaRPr/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solidFill>
                <a:srgbClr val="3F3F3F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b="0" i="0" lang="en-US" sz="2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Generate around 40/100k track candidates per event with super-precluster/raw hits</a:t>
            </a:r>
            <a:endParaRPr sz="32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26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The 11</a:t>
            </a:r>
            <a:r>
              <a:rPr baseline="30000" lang="en-US">
                <a:solidFill>
                  <a:srgbClr val="595959"/>
                </a:solidFill>
              </a:rPr>
              <a:t>th</a:t>
            </a:r>
            <a:r>
              <a:rPr lang="en-US">
                <a:solidFill>
                  <a:srgbClr val="595959"/>
                </a:solidFill>
              </a:rPr>
              <a:t> workshop of the APS Topical Group on Hadronic Physics</a:t>
            </a:r>
            <a:endParaRPr/>
          </a:p>
        </p:txBody>
      </p:sp>
      <p:sp>
        <p:nvSpPr>
          <p:cNvPr id="261" name="Google Shape;261;p26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62" name="Google Shape;26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557301" y="784450"/>
            <a:ext cx="6597502" cy="5568224"/>
          </a:xfrm>
          <a:prstGeom prst="rect">
            <a:avLst/>
          </a:prstGeom>
          <a:noFill/>
          <a:ln>
            <a:noFill/>
          </a:ln>
        </p:spPr>
      </p:pic>
      <p:sp>
        <p:nvSpPr>
          <p:cNvPr id="263" name="Google Shape;263;p26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3/15/25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27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AI-assisted Model and Training</a:t>
            </a:r>
            <a:endParaRPr/>
          </a:p>
        </p:txBody>
      </p:sp>
      <p:sp>
        <p:nvSpPr>
          <p:cNvPr id="269" name="Google Shape;269;p27"/>
          <p:cNvSpPr txBox="1"/>
          <p:nvPr>
            <p:ph idx="1" type="body"/>
          </p:nvPr>
        </p:nvSpPr>
        <p:spPr>
          <a:xfrm>
            <a:off x="-8828" y="784451"/>
            <a:ext cx="12019594" cy="1631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228600" lvl="0" marL="32004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Model: </a:t>
            </a:r>
            <a:r>
              <a:rPr lang="en-US" sz="2000">
                <a:solidFill>
                  <a:srgbClr val="3F3F3F"/>
                </a:solidFill>
              </a:rPr>
              <a:t>MultiLayer Perceptron, 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10 inputs, 1/3/5 hidden layer (20/100 neurons), 1 output</a:t>
            </a:r>
            <a:endParaRPr/>
          </a:p>
          <a:p>
            <a:pPr indent="-228600" lvl="0" marL="32004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</a:rPr>
              <a:t>I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nputs: </a:t>
            </a:r>
            <a:r>
              <a:rPr b="0" i="1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and </a:t>
            </a:r>
            <a:r>
              <a:rPr b="0" i="1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position of the five super-preclusters </a:t>
            </a:r>
            <a:endParaRPr/>
          </a:p>
          <a:p>
            <a:pPr indent="-228600" lvl="0" marL="32004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</a:rPr>
              <a:t>Good and bad tracks for the training:</a:t>
            </a:r>
            <a:endParaRPr b="0" i="0" sz="2000" u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77724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</a:pPr>
            <a:r>
              <a:rPr lang="en-US" sz="1800">
                <a:solidFill>
                  <a:srgbClr val="3F3F3F"/>
                </a:solidFill>
              </a:rPr>
              <a:t>G</a:t>
            </a:r>
            <a:r>
              <a:rPr b="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ood tracks: GEANT4 simulation </a:t>
            </a:r>
            <a:r>
              <a:rPr b="0" i="0" lang="en-US" sz="16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(proton with p ∈ [70, 250] MeV/c, φ ∈ [0, 360]°, θ ∈ [60, 120]° and Vz ∈ [-15, 15] cm)</a:t>
            </a:r>
            <a:endParaRPr b="0" i="0" sz="2000" u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77724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1800"/>
              <a:buChar char="•"/>
            </a:pPr>
            <a:r>
              <a:rPr b="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False tracks: Interchanging randomly up to two super-preclusters with another event</a:t>
            </a:r>
            <a:endParaRPr/>
          </a:p>
          <a:p>
            <a:pPr indent="-101600" lvl="0" marL="2286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</a:pPr>
            <a:r>
              <a:t/>
            </a:r>
            <a:endParaRPr sz="2000">
              <a:solidFill>
                <a:srgbClr val="3F3F3F"/>
              </a:solidFill>
            </a:endParaRPr>
          </a:p>
        </p:txBody>
      </p:sp>
      <p:sp>
        <p:nvSpPr>
          <p:cNvPr id="270" name="Google Shape;270;p27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The 11</a:t>
            </a:r>
            <a:r>
              <a:rPr baseline="30000" lang="en-US">
                <a:solidFill>
                  <a:srgbClr val="595959"/>
                </a:solidFill>
              </a:rPr>
              <a:t>th</a:t>
            </a:r>
            <a:r>
              <a:rPr lang="en-US">
                <a:solidFill>
                  <a:srgbClr val="595959"/>
                </a:solidFill>
              </a:rPr>
              <a:t> workshop of the APS Topical Group on Hadronic Physics</a:t>
            </a:r>
            <a:endParaRPr/>
          </a:p>
        </p:txBody>
      </p:sp>
      <p:sp>
        <p:nvSpPr>
          <p:cNvPr id="271" name="Google Shape;271;p27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2" name="Google Shape;272;p27"/>
          <p:cNvSpPr txBox="1"/>
          <p:nvPr/>
        </p:nvSpPr>
        <p:spPr>
          <a:xfrm>
            <a:off x="-8828" y="2379389"/>
            <a:ext cx="3056828" cy="132343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32004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Output: Number between 0 and 1, with 0/1 means bad/good track</a:t>
            </a:r>
            <a:endParaRPr/>
          </a:p>
        </p:txBody>
      </p:sp>
      <p:pic>
        <p:nvPicPr>
          <p:cNvPr id="273" name="Google Shape;273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239918" y="2375089"/>
            <a:ext cx="4619373" cy="405851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7"/>
          <p:cNvSpPr txBox="1"/>
          <p:nvPr/>
        </p:nvSpPr>
        <p:spPr>
          <a:xfrm>
            <a:off x="8042081" y="5609534"/>
            <a:ext cx="3015048" cy="40011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548135"/>
                </a:solidFill>
                <a:latin typeface="Arial"/>
                <a:ea typeface="Arial"/>
                <a:cs typeface="Arial"/>
                <a:sym typeface="Arial"/>
              </a:rPr>
              <a:t>Bad track</a:t>
            </a:r>
            <a:endParaRPr/>
          </a:p>
        </p:txBody>
      </p:sp>
      <p:pic>
        <p:nvPicPr>
          <p:cNvPr id="275" name="Google Shape;275;p27"/>
          <p:cNvPicPr preferRelativeResize="0"/>
          <p:nvPr/>
        </p:nvPicPr>
        <p:blipFill rotWithShape="1">
          <a:blip r:embed="rId4">
            <a:alphaModFix/>
          </a:blip>
          <a:srcRect b="10569" l="0" r="0" t="11875"/>
          <a:stretch/>
        </p:blipFill>
        <p:spPr>
          <a:xfrm>
            <a:off x="2217218" y="2505474"/>
            <a:ext cx="5340743" cy="3957865"/>
          </a:xfrm>
          <a:prstGeom prst="rect">
            <a:avLst/>
          </a:prstGeom>
          <a:noFill/>
          <a:ln>
            <a:noFill/>
          </a:ln>
        </p:spPr>
      </p:pic>
      <p:sp>
        <p:nvSpPr>
          <p:cNvPr id="276" name="Google Shape;276;p27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3/15/25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8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Efficiency and Purity vs. Threshold</a:t>
            </a:r>
            <a:endParaRPr/>
          </a:p>
        </p:txBody>
      </p:sp>
      <p:sp>
        <p:nvSpPr>
          <p:cNvPr id="282" name="Google Shape;282;p28"/>
          <p:cNvSpPr txBox="1"/>
          <p:nvPr>
            <p:ph idx="1" type="body"/>
          </p:nvPr>
        </p:nvSpPr>
        <p:spPr>
          <a:xfrm>
            <a:off x="0" y="694644"/>
            <a:ext cx="12170325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Threshold: if output above/lower than the threshold </a:t>
            </a:r>
            <a:r>
              <a:rPr lang="en-US" sz="2400">
                <a:solidFill>
                  <a:srgbClr val="3F3F3F"/>
                </a:solidFill>
              </a:rPr>
              <a:t>⇒</a:t>
            </a:r>
            <a:r>
              <a:rPr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good/bad tracks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rgbClr val="3F3F3F"/>
                </a:solidFill>
              </a:rPr>
              <a:t>To evaluate the model: </a:t>
            </a:r>
            <a:endParaRPr sz="2400">
              <a:solidFill>
                <a:srgbClr val="3F3F3F"/>
              </a:solidFill>
            </a:endParaRPr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Efficiency: Number of good tracks classified as good normalized by number of events.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SzPts val="2000"/>
              <a:buChar char="•"/>
            </a:pP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Purity: Number of good tracks classified as good normalized by number of tracks (good or bad) classified as good.</a:t>
            </a:r>
            <a:endParaRPr/>
          </a:p>
        </p:txBody>
      </p:sp>
      <p:sp>
        <p:nvSpPr>
          <p:cNvPr id="283" name="Google Shape;283;p28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The 11</a:t>
            </a:r>
            <a:r>
              <a:rPr baseline="30000" lang="en-US">
                <a:solidFill>
                  <a:srgbClr val="595959"/>
                </a:solidFill>
              </a:rPr>
              <a:t>th</a:t>
            </a:r>
            <a:r>
              <a:rPr lang="en-US">
                <a:solidFill>
                  <a:srgbClr val="595959"/>
                </a:solidFill>
              </a:rPr>
              <a:t> workshop of the APS Topical Group on Hadronic Physics</a:t>
            </a:r>
            <a:endParaRPr/>
          </a:p>
        </p:txBody>
      </p:sp>
      <p:sp>
        <p:nvSpPr>
          <p:cNvPr id="284" name="Google Shape;284;p28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85" name="Google Shape;285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18620" y="2221852"/>
            <a:ext cx="6760604" cy="4257415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8"/>
          <p:cNvSpPr txBox="1"/>
          <p:nvPr/>
        </p:nvSpPr>
        <p:spPr>
          <a:xfrm>
            <a:off x="21675" y="2513855"/>
            <a:ext cx="5204364" cy="40934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vents need to have at least one track candi</a:t>
            </a: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date.</a:t>
            </a:r>
            <a:endParaRPr b="0" i="0" sz="2000" u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et the threshold to 0.2 to have a higher efficiency</a:t>
            </a:r>
            <a:endParaRPr/>
          </a:p>
          <a:p>
            <a:pPr indent="-101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None/>
            </a:pPr>
            <a:r>
              <a:t/>
            </a:r>
            <a:endParaRPr b="0" i="0" sz="2000" u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Blue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3 hidden layers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Orange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100 neurons in 3 hidden layers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Green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5 hidden layers</a:t>
            </a:r>
            <a:endParaRPr/>
          </a:p>
          <a:p>
            <a:pPr indent="-228600" lvl="0" marL="22860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</a:t>
            </a: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hidden layer</a:t>
            </a:r>
            <a:endParaRPr/>
          </a:p>
        </p:txBody>
      </p:sp>
      <p:sp>
        <p:nvSpPr>
          <p:cNvPr id="287" name="Google Shape;287;p28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3/15/25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9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Efficiency and Purity vs. Current</a:t>
            </a:r>
            <a:endParaRPr/>
          </a:p>
        </p:txBody>
      </p:sp>
      <p:sp>
        <p:nvSpPr>
          <p:cNvPr id="293" name="Google Shape;293;p29"/>
          <p:cNvSpPr txBox="1"/>
          <p:nvPr>
            <p:ph idx="1" type="body"/>
          </p:nvPr>
        </p:nvSpPr>
        <p:spPr>
          <a:xfrm>
            <a:off x="65313" y="784451"/>
            <a:ext cx="12052545" cy="21317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rgbClr val="3F3F3F"/>
                </a:solidFill>
              </a:rPr>
              <a:t>E</a:t>
            </a:r>
            <a:r>
              <a:rPr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fficiency is always higher than 90% and the purity is between 55% and 95%</a:t>
            </a:r>
            <a:endParaRPr b="0" i="0" sz="2400" u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/>
          </a:p>
        </p:txBody>
      </p:sp>
      <p:sp>
        <p:nvSpPr>
          <p:cNvPr id="294" name="Google Shape;294;p29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The 11</a:t>
            </a:r>
            <a:r>
              <a:rPr baseline="30000" lang="en-US">
                <a:solidFill>
                  <a:srgbClr val="595959"/>
                </a:solidFill>
              </a:rPr>
              <a:t>th</a:t>
            </a:r>
            <a:r>
              <a:rPr lang="en-US">
                <a:solidFill>
                  <a:srgbClr val="595959"/>
                </a:solidFill>
              </a:rPr>
              <a:t> workshop of the APS Topical Group on Hadronic Physics</a:t>
            </a:r>
            <a:endParaRPr/>
          </a:p>
        </p:txBody>
      </p:sp>
      <p:sp>
        <p:nvSpPr>
          <p:cNvPr id="295" name="Google Shape;295;p29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96" name="Google Shape;296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913632" y="1680316"/>
            <a:ext cx="8216974" cy="4393233"/>
          </a:xfrm>
          <a:prstGeom prst="rect">
            <a:avLst/>
          </a:prstGeom>
          <a:noFill/>
          <a:ln>
            <a:noFill/>
          </a:ln>
        </p:spPr>
      </p:pic>
      <p:sp>
        <p:nvSpPr>
          <p:cNvPr id="297" name="Google Shape;297;p29"/>
          <p:cNvSpPr txBox="1"/>
          <p:nvPr/>
        </p:nvSpPr>
        <p:spPr>
          <a:xfrm>
            <a:off x="0" y="3211227"/>
            <a:ext cx="3913632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000" u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Blue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3 hidden layers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Orange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100 neurons in 3 hidden layers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Green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5 hidden layers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</a:t>
            </a: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hidden layer</a:t>
            </a:r>
            <a:endParaRPr/>
          </a:p>
        </p:txBody>
      </p:sp>
      <p:sp>
        <p:nvSpPr>
          <p:cNvPr id="298" name="Google Shape;298;p29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3/15/25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30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Efficiency and Purity vs. Momentum</a:t>
            </a:r>
            <a:endParaRPr/>
          </a:p>
        </p:txBody>
      </p:sp>
      <p:sp>
        <p:nvSpPr>
          <p:cNvPr id="304" name="Google Shape;304;p30"/>
          <p:cNvSpPr txBox="1"/>
          <p:nvPr>
            <p:ph idx="1" type="body"/>
          </p:nvPr>
        </p:nvSpPr>
        <p:spPr>
          <a:xfrm>
            <a:off x="65314" y="784451"/>
            <a:ext cx="12036070" cy="98184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rgbClr val="3F3F3F"/>
                </a:solidFill>
              </a:rPr>
              <a:t>Background is generated with</a:t>
            </a:r>
            <a:r>
              <a:rPr i="1" lang="en-US" sz="2400">
                <a:solidFill>
                  <a:srgbClr val="3F3F3F"/>
                </a:solidFill>
              </a:rPr>
              <a:t> </a:t>
            </a:r>
            <a:r>
              <a:rPr lang="en-US" sz="2400">
                <a:solidFill>
                  <a:srgbClr val="3F3F3F"/>
                </a:solidFill>
              </a:rPr>
              <a:t>current </a:t>
            </a:r>
            <a:r>
              <a:rPr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</a:t>
            </a:r>
            <a:r>
              <a:rPr i="1" lang="en-US" sz="2400">
                <a:solidFill>
                  <a:srgbClr val="3F3F3F"/>
                </a:solidFill>
              </a:rPr>
              <a:t> </a:t>
            </a:r>
            <a:r>
              <a:rPr lang="en-US" sz="2400">
                <a:solidFill>
                  <a:srgbClr val="3F3F3F"/>
                </a:solidFill>
              </a:rPr>
              <a:t>= 487.5 nA</a:t>
            </a:r>
            <a:endParaRPr sz="2400">
              <a:solidFill>
                <a:srgbClr val="3F3F3F"/>
              </a:solidFill>
            </a:endParaRPr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Char char="•"/>
            </a:pPr>
            <a:r>
              <a:rPr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Constant e</a:t>
            </a:r>
            <a:r>
              <a:rPr b="0" i="0" lang="en-US" sz="2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fficiency and purit</a:t>
            </a:r>
            <a:r>
              <a:rPr lang="en-US" sz="24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y across the momentum range</a:t>
            </a:r>
            <a:endParaRPr b="0" i="0" sz="2400" u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</a:pPr>
            <a:r>
              <a:t/>
            </a:r>
            <a:endParaRPr sz="2400">
              <a:solidFill>
                <a:srgbClr val="3F3F3F"/>
              </a:solidFill>
            </a:endParaRPr>
          </a:p>
        </p:txBody>
      </p:sp>
      <p:sp>
        <p:nvSpPr>
          <p:cNvPr id="305" name="Google Shape;305;p30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The 11</a:t>
            </a:r>
            <a:r>
              <a:rPr baseline="30000" lang="en-US">
                <a:solidFill>
                  <a:srgbClr val="595959"/>
                </a:solidFill>
              </a:rPr>
              <a:t>th</a:t>
            </a:r>
            <a:r>
              <a:rPr lang="en-US">
                <a:solidFill>
                  <a:srgbClr val="595959"/>
                </a:solidFill>
              </a:rPr>
              <a:t> workshop of the APS Topical Group on Hadronic Physics</a:t>
            </a:r>
            <a:endParaRPr/>
          </a:p>
        </p:txBody>
      </p:sp>
      <p:sp>
        <p:nvSpPr>
          <p:cNvPr id="306" name="Google Shape;306;p30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15</a:t>
            </a:r>
            <a:endParaRPr/>
          </a:p>
        </p:txBody>
      </p:sp>
      <p:pic>
        <p:nvPicPr>
          <p:cNvPr id="307" name="Google Shape;307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924688" y="1648796"/>
            <a:ext cx="6881831" cy="4716495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p30"/>
          <p:cNvSpPr txBox="1"/>
          <p:nvPr/>
        </p:nvSpPr>
        <p:spPr>
          <a:xfrm>
            <a:off x="385480" y="3211227"/>
            <a:ext cx="4058503" cy="286232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158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None/>
            </a:pPr>
            <a:r>
              <a:t/>
            </a:r>
            <a:endParaRPr b="0" i="0" sz="2000" u="none" strike="noStrike">
              <a:solidFill>
                <a:srgbClr val="0070C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0070C0"/>
                </a:solidFill>
                <a:latin typeface="Arial"/>
                <a:ea typeface="Arial"/>
                <a:cs typeface="Arial"/>
                <a:sym typeface="Arial"/>
              </a:rPr>
              <a:t>Blue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3 hidden layers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FFC000"/>
                </a:solidFill>
                <a:latin typeface="Arial"/>
                <a:ea typeface="Arial"/>
                <a:cs typeface="Arial"/>
                <a:sym typeface="Arial"/>
              </a:rPr>
              <a:t>Orange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100 neurons in 3 hidden layers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92D050"/>
                </a:solidFill>
                <a:latin typeface="Arial"/>
                <a:ea typeface="Arial"/>
                <a:cs typeface="Arial"/>
                <a:sym typeface="Arial"/>
              </a:rPr>
              <a:t>Green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5 hidden layers</a:t>
            </a:r>
            <a:endParaRPr/>
          </a:p>
          <a:p>
            <a:pPr indent="-285750" lvl="0" marL="285750" marR="0" rtl="0" algn="l"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strike="noStrik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Red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: model with 20 neurons in </a:t>
            </a:r>
            <a:r>
              <a:rPr lang="en-US" sz="20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i="0" lang="en-US" sz="20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 hidden layer</a:t>
            </a:r>
            <a:endParaRPr/>
          </a:p>
        </p:txBody>
      </p:sp>
      <p:sp>
        <p:nvSpPr>
          <p:cNvPr id="309" name="Google Shape;309;p30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3/15/25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31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Conventional vs. AI-assisted Track Finding</a:t>
            </a:r>
            <a:endParaRPr/>
          </a:p>
        </p:txBody>
      </p:sp>
      <p:sp>
        <p:nvSpPr>
          <p:cNvPr id="315" name="Google Shape;315;p31"/>
          <p:cNvSpPr txBox="1"/>
          <p:nvPr>
            <p:ph idx="11" type="ftr"/>
          </p:nvPr>
        </p:nvSpPr>
        <p:spPr>
          <a:xfrm>
            <a:off x="5384801" y="6501343"/>
            <a:ext cx="6808410" cy="3566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rgbClr val="595959"/>
                </a:solidFill>
              </a:rPr>
              <a:t>The 11</a:t>
            </a:r>
            <a:r>
              <a:rPr baseline="30000" lang="en-US">
                <a:solidFill>
                  <a:srgbClr val="595959"/>
                </a:solidFill>
              </a:rPr>
              <a:t>th</a:t>
            </a:r>
            <a:r>
              <a:rPr lang="en-US">
                <a:solidFill>
                  <a:srgbClr val="595959"/>
                </a:solidFill>
              </a:rPr>
              <a:t> workshop of the APS Topical Group on Hadronic Physics</a:t>
            </a:r>
            <a:endParaRPr/>
          </a:p>
        </p:txBody>
      </p:sp>
      <p:sp>
        <p:nvSpPr>
          <p:cNvPr id="316" name="Google Shape;316;p31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17" name="Google Shape;317;p31"/>
          <p:cNvSpPr txBox="1"/>
          <p:nvPr/>
        </p:nvSpPr>
        <p:spPr>
          <a:xfrm>
            <a:off x="-1" y="694644"/>
            <a:ext cx="12009685" cy="50883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400"/>
              <a:buFont typeface="Arial"/>
              <a:buChar char="•"/>
            </a:pPr>
            <a:r>
              <a:rPr b="0" i="0" lang="en-US" sz="2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Feed both algorithms with track candidates</a:t>
            </a:r>
            <a:endParaRPr/>
          </a:p>
        </p:txBody>
      </p:sp>
      <p:pic>
        <p:nvPicPr>
          <p:cNvPr id="318" name="Google Shape;318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924342" y="1365455"/>
            <a:ext cx="6789153" cy="5112151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31"/>
          <p:cNvSpPr txBox="1"/>
          <p:nvPr>
            <p:ph idx="10" type="dt"/>
          </p:nvPr>
        </p:nvSpPr>
        <p:spPr>
          <a:xfrm>
            <a:off x="0" y="6492875"/>
            <a:ext cx="1244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3/15/25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2"/>
          <p:cNvSpPr txBox="1"/>
          <p:nvPr>
            <p:ph type="title"/>
          </p:nvPr>
        </p:nvSpPr>
        <p:spPr>
          <a:xfrm>
            <a:off x="0" y="1"/>
            <a:ext cx="10515600" cy="6810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ct val="100000"/>
              <a:buFont typeface="Arial"/>
              <a:buNone/>
            </a:pPr>
            <a:r>
              <a:rPr lang="en-US"/>
              <a:t>Summary and Outlook</a:t>
            </a:r>
            <a:endParaRPr/>
          </a:p>
        </p:txBody>
      </p:sp>
      <p:sp>
        <p:nvSpPr>
          <p:cNvPr id="325" name="Google Shape;325;p32"/>
          <p:cNvSpPr txBox="1"/>
          <p:nvPr>
            <p:ph idx="12" type="sldNum"/>
          </p:nvPr>
        </p:nvSpPr>
        <p:spPr>
          <a:xfrm>
            <a:off x="11168742" y="0"/>
            <a:ext cx="1023257" cy="69464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6" name="Google Shape;326;p32"/>
          <p:cNvSpPr txBox="1"/>
          <p:nvPr/>
        </p:nvSpPr>
        <p:spPr>
          <a:xfrm>
            <a:off x="1" y="777785"/>
            <a:ext cx="12191999" cy="56580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</a:pPr>
            <a:r>
              <a:rPr b="0" i="0" lang="en-US" sz="2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ALERT physics program: 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Tagged processes will provide insight into the origin of the EMC effect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Tagged DIS measurements will help differentiate between models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Tagged DVCS will bridge the gap between partonic and nucleonic interpretations of the EMC ratio</a:t>
            </a:r>
            <a:endParaRPr/>
          </a:p>
          <a:p>
            <a:pPr indent="-228600" lvl="1" marL="685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Tagged measurements have better control on uncertainties associated with FSIs</a:t>
            </a:r>
            <a:endParaRPr b="0" i="0" sz="2000" u="none" cap="none" strike="noStrike">
              <a:solidFill>
                <a:srgbClr val="A8D08C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None/>
            </a:pPr>
            <a:r>
              <a:t/>
            </a:r>
            <a:endParaRPr b="0" i="0" sz="28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800"/>
              <a:buFont typeface="Arial"/>
              <a:buChar char="•"/>
            </a:pPr>
            <a:r>
              <a:rPr b="0" i="0" lang="en-US" sz="28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We have developed an AI-assisted MLP for track finding:</a:t>
            </a:r>
            <a:endParaRPr/>
          </a:p>
          <a:p>
            <a:pPr indent="-228600" lvl="1" marL="556197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Evaluated the model's efficiency and purity as a function of momentum, threshold, and current</a:t>
            </a:r>
            <a:endParaRPr/>
          </a:p>
          <a:p>
            <a:pPr indent="-228600" lvl="1" marL="556197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Compared efficiency of conventional and AI-assisted algorithms</a:t>
            </a:r>
            <a:endParaRPr/>
          </a:p>
          <a:p>
            <a:pPr indent="-228600" lvl="1" marL="556197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Efficiency is always higher than 90%</a:t>
            </a:r>
            <a:endParaRPr b="0" i="0" sz="2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98997" lvl="0" marL="98997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A8D08C"/>
              </a:buClr>
              <a:buSzPts val="2600"/>
              <a:buFont typeface="Arial"/>
              <a:buChar char="•"/>
            </a:pPr>
            <a:r>
              <a:rPr b="0" i="0" lang="en-US" sz="2600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Future work:</a:t>
            </a:r>
            <a:endParaRPr/>
          </a:p>
          <a:p>
            <a:pPr indent="-228600" lvl="1" marL="55619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200"/>
              <a:buFont typeface="Arial"/>
              <a:buChar char="•"/>
            </a:pPr>
            <a:r>
              <a:rPr b="0" i="0" lang="en-US" sz="22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Check the efficiency and purity of real data using elastic scattering</a:t>
            </a:r>
            <a:endParaRPr/>
          </a:p>
          <a:p>
            <a:pPr indent="-228600" lvl="1" marL="55619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Char char="•"/>
            </a:pPr>
            <a:r>
              <a:rPr b="0" i="0" lang="en-US" sz="20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Improve the model with other information as input (energy deposited and angle between hits)</a:t>
            </a:r>
            <a:endParaRPr/>
          </a:p>
          <a:p>
            <a:pPr indent="0" lvl="1" marL="32759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A8D08C"/>
              </a:buClr>
              <a:buSzPts val="2000"/>
              <a:buFont typeface="Arial"/>
              <a:buNone/>
            </a:pPr>
            <a:r>
              <a:t/>
            </a:r>
            <a:endParaRPr b="0" i="0" sz="2000" u="none" cap="none" strike="noStrike">
              <a:solidFill>
                <a:srgbClr val="A8D08C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7" name="Google Shape;327;p32"/>
          <p:cNvSpPr txBox="1"/>
          <p:nvPr/>
        </p:nvSpPr>
        <p:spPr>
          <a:xfrm>
            <a:off x="2523745" y="6488667"/>
            <a:ext cx="841408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This work is supported in part by the U.S. DOE award #: DE-FG02-07ER41528</a:t>
            </a:r>
            <a:endParaRPr sz="18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8" name="Google Shape;328;p32"/>
          <p:cNvSpPr txBox="1"/>
          <p:nvPr/>
        </p:nvSpPr>
        <p:spPr>
          <a:xfrm>
            <a:off x="1848498" y="6055939"/>
            <a:ext cx="8414084" cy="46166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Thanks</a:t>
            </a:r>
            <a:endParaRPr sz="2400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2013 - 2022 Theme">
  <a:themeElements>
    <a:clrScheme name="Office 2013 - 2022 Them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