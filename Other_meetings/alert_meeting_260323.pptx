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5F"/>
    <a:srgbClr val="262626"/>
    <a:srgbClr val="FAFAFA"/>
    <a:srgbClr val="23373B"/>
    <a:srgbClr val="FFFFFF"/>
    <a:srgbClr val="243643"/>
    <a:srgbClr val="304D59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996" autoAdjust="0"/>
    <p:restoredTop sz="94637" autoAdjust="0"/>
  </p:normalViewPr>
  <p:slideViewPr>
    <p:cSldViewPr snapToGrid="0" snapToObjects="1">
      <p:cViewPr varScale="1">
        <p:scale>
          <a:sx n="168" d="100"/>
          <a:sy n="168" d="100"/>
        </p:scale>
        <p:origin x="272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23-03-26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23-03-26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304D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03/23/26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03/23/26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23826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03/23/26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03/23/26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03/23/26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03/23/26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03/23/26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03/23/26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03/23/26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03/23/26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03/23/26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03/23/26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1"/>
            <a:ext cx="10972800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03/23/26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109150"/>
            <a:ext cx="9410700" cy="892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09600" y="0"/>
            <a:ext cx="1421599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0315F"/>
          </a:solidFill>
          <a:latin typeface="Fira Sans Book" panose="020B0503050000020004"/>
          <a:ea typeface="Fira Sans Book" panose="020B0503050000020004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MathieuOuillon/alert-track-finding" TargetMode="External"/><Relationship Id="rId2" Type="http://schemas.openxmlformats.org/officeDocument/2006/relationships/hyperlink" Target="https://code.jlab.org/hallb/clas12/coatjava/networks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978580" cy="2234317"/>
          </a:xfrm>
        </p:spPr>
        <p:txBody>
          <a:bodyPr>
            <a:normAutofit/>
          </a:bodyPr>
          <a:lstStyle/>
          <a:p>
            <a:pPr lvl="0" algn="l"/>
            <a:r>
              <a:rPr lang="en-US" sz="6000" dirty="0"/>
              <a:t>Update of the track matching network</a:t>
            </a:r>
            <a:endParaRPr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/>
              <a:t>Mathieu Ouillon (Mississippi State University)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  <a:cs typeface="+mn-cs"/>
              </a:rPr>
              <a:t>03/16/26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B238-E9B8-9CA4-3B84-1021586BE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767" y="311498"/>
            <a:ext cx="9552633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Model: Description and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985A0-A607-23F4-27C3-D0C0809BEA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249200"/>
            <a:ext cx="4350327" cy="5472275"/>
          </a:xfrm>
        </p:spPr>
        <p:txBody>
          <a:bodyPr>
            <a:normAutofit/>
          </a:bodyPr>
          <a:lstStyle/>
          <a:p>
            <a:r>
              <a:rPr lang="en-US" dirty="0"/>
              <a:t>Inputs: 5 of 2-D points (</a:t>
            </a:r>
            <a:r>
              <a:rPr lang="en-US" dirty="0" err="1"/>
              <a:t>intercluster</a:t>
            </a:r>
            <a:r>
              <a:rPr lang="en-US" dirty="0"/>
              <a:t>: x, y) (in total 10 numbers)</a:t>
            </a:r>
          </a:p>
          <a:p>
            <a:r>
              <a:rPr lang="en-US" dirty="0"/>
              <a:t>Output: sector, layer, wedge</a:t>
            </a:r>
          </a:p>
          <a:p>
            <a:r>
              <a:rPr lang="en-US" dirty="0"/>
              <a:t>For the training, 5M  events, and select them with a good track (pred &gt; 0.2), and only one bar and wedge hit.</a:t>
            </a:r>
          </a:p>
          <a:p>
            <a:r>
              <a:rPr lang="en-US" dirty="0"/>
              <a:t>Network architecture: </a:t>
            </a:r>
          </a:p>
          <a:p>
            <a:pPr lvl="1"/>
            <a:r>
              <a:rPr lang="en-US" dirty="0"/>
              <a:t>Input: 10 numbers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3 specific heads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5E735-4024-77EE-DFAC-6ACA4E118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03/23/26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40F77-E1BC-BC0C-B547-3808F3ABE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DCC78-740D-B7CB-E2BF-EF8CF64B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88DBAF-C7E8-9072-A3B9-DB94CB87D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327" y="1328631"/>
            <a:ext cx="7772400" cy="436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305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E40D8-892E-79A4-F879-46179C435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E7E6-35B4-9E7B-5767-9CB54E5A4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767" y="311498"/>
            <a:ext cx="9552633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Model: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53E4A-6162-75DE-EDAA-B5F2087DE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" y="1249199"/>
            <a:ext cx="3215639" cy="51071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 err="1"/>
              <a:t>Optuna</a:t>
            </a:r>
            <a:r>
              <a:rPr lang="en-US" sz="2000" dirty="0"/>
              <a:t> framework with </a:t>
            </a:r>
            <a:r>
              <a:rPr lang="en-US" sz="2000" dirty="0" err="1"/>
              <a:t>MedianPruner</a:t>
            </a:r>
            <a:r>
              <a:rPr lang="en-US" sz="2000" dirty="0"/>
              <a:t> — prunes unpromising trials early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Tunes: learning rate, weight decay, batch size, hidden dimensions, # expert blocks, dropout rate, loss function wight and parameters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E36AB-2940-6712-F1EE-FA1BD6E0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03/23/26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2BF19-3B83-3246-F061-5F0BB11F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E7F4F-272E-C142-295B-DBCDD4C1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9417CC-AA75-14FF-FB9A-D97F1EDC9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637" y="1020010"/>
            <a:ext cx="8910443" cy="571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642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C4F2F-9A2C-0406-47A7-453CCC70E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3AD84-9F43-B09C-3C31-7A7402A88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767" y="311498"/>
            <a:ext cx="9552633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Evaluation on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FBB0E-A499-2067-142C-6670302F5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" y="1198960"/>
            <a:ext cx="3040379" cy="4668440"/>
          </a:xfrm>
        </p:spPr>
        <p:txBody>
          <a:bodyPr>
            <a:normAutofit/>
          </a:bodyPr>
          <a:lstStyle/>
          <a:p>
            <a:r>
              <a:rPr lang="en-US" sz="1800" dirty="0"/>
              <a:t>Very good accuracy</a:t>
            </a:r>
          </a:p>
          <a:p>
            <a:r>
              <a:rPr lang="en-US" sz="1800" dirty="0"/>
              <a:t>Combined metrics:</a:t>
            </a:r>
          </a:p>
          <a:p>
            <a:pPr lvl="1"/>
            <a:r>
              <a:rPr lang="en-US" sz="1400" dirty="0"/>
              <a:t>Exact match: 0.59</a:t>
            </a:r>
          </a:p>
          <a:p>
            <a:pPr lvl="1"/>
            <a:r>
              <a:rPr lang="en-US" sz="1400" dirty="0"/>
              <a:t>wedge +/-1: 0.91</a:t>
            </a:r>
          </a:p>
          <a:p>
            <a:pPr lvl="1"/>
            <a:r>
              <a:rPr lang="en-US" sz="1400" dirty="0"/>
              <a:t>Sector + Layer (2 of 3): 0.9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1EA30-CF58-D09B-336F-C4DE180AFF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03/23/26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8D876-F8D6-0D07-C42E-3A8EAFB0A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5807C-E07A-325B-B95C-707EC21F9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2E02201-9382-6590-59C8-B91ABE8B5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340" y="1101589"/>
            <a:ext cx="8999220" cy="503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63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B88F5-4BC9-DA30-60B1-378EEC8C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AA45-011B-5ABC-277F-7CED04039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767" y="311498"/>
            <a:ext cx="9552633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Small test 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A0384-B8FC-E27A-7649-71C0D0D1B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" y="1198960"/>
            <a:ext cx="11988180" cy="5157391"/>
          </a:xfrm>
        </p:spPr>
        <p:txBody>
          <a:bodyPr>
            <a:normAutofit/>
          </a:bodyPr>
          <a:lstStyle/>
          <a:p>
            <a:r>
              <a:rPr lang="en-US" dirty="0"/>
              <a:t>Just to see that we are not losing too much tracks </a:t>
            </a:r>
          </a:p>
          <a:p>
            <a:r>
              <a:rPr lang="en-US" dirty="0"/>
              <a:t>Use 2.2 GeV proton run and check how many track match by the two models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========================================</a:t>
            </a:r>
          </a:p>
          <a:p>
            <a:pPr marL="0" indent="0">
              <a:buNone/>
            </a:pPr>
            <a:r>
              <a:rPr lang="en-US" sz="2000" dirty="0"/>
              <a:t>  Event-by-event comparison (50000 events)</a:t>
            </a:r>
          </a:p>
          <a:p>
            <a:pPr marL="0" indent="0">
              <a:buNone/>
            </a:pPr>
            <a:r>
              <a:rPr lang="en-US" sz="2000" dirty="0"/>
              <a:t>========================================</a:t>
            </a:r>
          </a:p>
          <a:p>
            <a:pPr marL="0" indent="0">
              <a:buNone/>
            </a:pPr>
            <a:r>
              <a:rPr lang="en-US" sz="2000" dirty="0"/>
              <a:t>  Events where new has MORE matched tracks:  108</a:t>
            </a:r>
          </a:p>
          <a:p>
            <a:pPr marL="0" indent="0">
              <a:buNone/>
            </a:pPr>
            <a:r>
              <a:rPr lang="en-US" sz="2000" dirty="0"/>
              <a:t>  Events where new has FEWER matched tracks: 87</a:t>
            </a:r>
          </a:p>
          <a:p>
            <a:pPr marL="0" indent="0">
              <a:buNone/>
            </a:pPr>
            <a:r>
              <a:rPr lang="en-US" sz="2000" dirty="0"/>
              <a:t>  Events where new has SAME matched tracks:  49805</a:t>
            </a:r>
          </a:p>
          <a:p>
            <a:pPr marL="0" indent="0">
              <a:buNone/>
            </a:pPr>
            <a:r>
              <a:rPr lang="en-US" sz="2000" dirty="0"/>
              <a:t>  Old total matched: 1016  |  New total matched: 1042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EA25F-0AB4-473F-DA16-401E4AF13F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03/23/26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D0633-3866-B3B5-797F-9324AC6D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93361-1050-00C8-B776-08468366A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4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AC4A2-5103-D907-E8E8-77DB5C850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E7D0-8C82-5C06-50E1-0F09AC780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767" y="311498"/>
            <a:ext cx="9552633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Other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B9560-0780-1E50-543D-291805DF7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" y="1198960"/>
            <a:ext cx="11988180" cy="5157391"/>
          </a:xfrm>
        </p:spPr>
        <p:txBody>
          <a:bodyPr>
            <a:normAutofit/>
          </a:bodyPr>
          <a:lstStyle/>
          <a:p>
            <a:r>
              <a:rPr lang="en-US" dirty="0"/>
              <a:t>The new model is in the networks repository (in a merge request):</a:t>
            </a:r>
          </a:p>
          <a:p>
            <a:pPr lvl="1"/>
            <a:r>
              <a:rPr lang="en-US" dirty="0">
                <a:hlinkClick r:id="rId2"/>
              </a:rPr>
              <a:t>https://code.jlab.org/hallb/clas12/coatjava/networks</a:t>
            </a:r>
            <a:endParaRPr lang="en-US" dirty="0"/>
          </a:p>
          <a:p>
            <a:r>
              <a:rPr lang="en-US" dirty="0"/>
              <a:t>Not available in COATJAVA yet need a pull request</a:t>
            </a:r>
          </a:p>
          <a:p>
            <a:endParaRPr lang="en-US" dirty="0"/>
          </a:p>
          <a:p>
            <a:r>
              <a:rPr lang="en-US" dirty="0"/>
              <a:t>Code to train and evaluated the network is available on GitLab: </a:t>
            </a:r>
          </a:p>
          <a:p>
            <a:pPr lvl="1"/>
            <a:r>
              <a:rPr lang="en-US" dirty="0">
                <a:hlinkClick r:id="rId3"/>
              </a:rPr>
              <a:t>https://gitlab.com/MathieuOuillon/alert-track-finding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D270D-D525-2462-671D-3FCABC1BD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03/23/26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80E2E-B807-555C-2577-8116118B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9424D-B4FF-DDAF-6953-D6160FC8F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02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7685</TotalTime>
  <Words>310</Words>
  <Application>Microsoft Macintosh PowerPoint</Application>
  <PresentationFormat>Widescreen</PresentationFormat>
  <Paragraphs>55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Fira Sans Book</vt:lpstr>
      <vt:lpstr>Fira Sans Light</vt:lpstr>
      <vt:lpstr>Office Theme</vt:lpstr>
      <vt:lpstr>Update of the track matching network</vt:lpstr>
      <vt:lpstr>Model: Description and Training</vt:lpstr>
      <vt:lpstr>Model: Optimization</vt:lpstr>
      <vt:lpstr>Evaluation on simulation</vt:lpstr>
      <vt:lpstr>Small test on data</vt:lpstr>
      <vt:lpstr>Other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310</cp:revision>
  <dcterms:created xsi:type="dcterms:W3CDTF">2019-12-03T01:04:10Z</dcterms:created>
  <dcterms:modified xsi:type="dcterms:W3CDTF">2026-03-23T14:47:41Z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