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Nunito"/>
      <p:regular r:id="rId20"/>
      <p:bold r:id="rId21"/>
      <p:italic r:id="rId22"/>
      <p:boldItalic r:id="rId23"/>
    </p:embeddedFont>
    <p:embeddedFont>
      <p:font typeface="Nunito Medium"/>
      <p:regular r:id="rId24"/>
      <p:bold r:id="rId25"/>
      <p:italic r:id="rId26"/>
      <p:boldItalic r:id="rId27"/>
    </p:embeddedFont>
    <p:embeddedFont>
      <p:font typeface="Roboto Mon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regular.fntdata"/><Relationship Id="rId22" Type="http://schemas.openxmlformats.org/officeDocument/2006/relationships/font" Target="fonts/Nunito-italic.fntdata"/><Relationship Id="rId21" Type="http://schemas.openxmlformats.org/officeDocument/2006/relationships/font" Target="fonts/Nunito-bold.fntdata"/><Relationship Id="rId24" Type="http://schemas.openxmlformats.org/officeDocument/2006/relationships/font" Target="fonts/NunitoMedium-regular.fntdata"/><Relationship Id="rId23" Type="http://schemas.openxmlformats.org/officeDocument/2006/relationships/font" Target="fonts/Nuni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NunitoMedium-italic.fntdata"/><Relationship Id="rId25" Type="http://schemas.openxmlformats.org/officeDocument/2006/relationships/font" Target="fonts/NunitoMedium-bold.fntdata"/><Relationship Id="rId28" Type="http://schemas.openxmlformats.org/officeDocument/2006/relationships/font" Target="fonts/RobotoMono-regular.fntdata"/><Relationship Id="rId27" Type="http://schemas.openxmlformats.org/officeDocument/2006/relationships/font" Target="fonts/NunitoMedium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Mon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ono-boldItalic.fntdata"/><Relationship Id="rId30" Type="http://schemas.openxmlformats.org/officeDocument/2006/relationships/font" Target="fonts/RobotoMon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52ee8b038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52ee8b038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52ee8b038b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52ee8b038b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52ee8b038b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52ee8b038b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2ee8b038b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2ee8b038b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52ee8b038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52ee8b038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4824efc005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4824efc005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4824efc005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4824efc005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500ab3e651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500ab3e651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4824efc005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4824efc005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4824efc005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4824efc005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500ab3e651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500ab3e651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500ab3e651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500ab3e651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500ab3e651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500ab3e651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1700" y="2077800"/>
            <a:ext cx="6412200" cy="6474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B6D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703475"/>
            <a:ext cx="8520600" cy="126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077800"/>
            <a:ext cx="6412200" cy="64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/>
        </p:nvSpPr>
        <p:spPr>
          <a:xfrm>
            <a:off x="0" y="0"/>
            <a:ext cx="9144000" cy="6474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B6D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" name="Google Shape;19;p4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Nunito Medium"/>
              <a:buNone/>
              <a:defRPr sz="25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Font typeface="Nunito Medium"/>
              <a:buChar char="●"/>
              <a:defRPr>
                <a:solidFill>
                  <a:srgbClr val="434343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400"/>
              <a:buFont typeface="Nunito Medium"/>
              <a:buChar char="○"/>
              <a:defRPr>
                <a:solidFill>
                  <a:srgbClr val="434343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400"/>
              <a:buFont typeface="Nunito Medium"/>
              <a:buChar char="■"/>
              <a:defRPr>
                <a:solidFill>
                  <a:srgbClr val="434343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400"/>
              <a:buFont typeface="Nunito Medium"/>
              <a:buChar char="●"/>
              <a:defRPr>
                <a:solidFill>
                  <a:srgbClr val="434343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unito Medium"/>
              <a:buChar char="○"/>
              <a:defRPr>
                <a:solidFill>
                  <a:srgbClr val="434343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unito Medium"/>
              <a:buChar char="■"/>
              <a:defRPr>
                <a:solidFill>
                  <a:srgbClr val="434343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unito Medium"/>
              <a:buChar char="●"/>
              <a:defRPr>
                <a:solidFill>
                  <a:srgbClr val="434343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unito Medium"/>
              <a:buChar char="○"/>
              <a:defRPr>
                <a:solidFill>
                  <a:srgbClr val="434343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unito Medium"/>
              <a:buChar char="■"/>
              <a:defRPr>
                <a:solidFill>
                  <a:srgbClr val="434343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9pPr>
          </a:lstStyle>
          <a:p/>
        </p:txBody>
      </p:sp>
      <p:sp>
        <p:nvSpPr>
          <p:cNvPr id="21" name="Google Shape;21;p4"/>
          <p:cNvSpPr/>
          <p:nvPr/>
        </p:nvSpPr>
        <p:spPr>
          <a:xfrm rot="-5400000">
            <a:off x="8447400" y="-49200"/>
            <a:ext cx="647400" cy="7458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6AA84F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cxnSp>
        <p:nvCxnSpPr>
          <p:cNvPr id="23" name="Google Shape;23;p4"/>
          <p:cNvCxnSpPr/>
          <p:nvPr/>
        </p:nvCxnSpPr>
        <p:spPr>
          <a:xfrm>
            <a:off x="155650" y="4743825"/>
            <a:ext cx="8889900" cy="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" name="Google Shape;24;p4"/>
          <p:cNvSpPr txBox="1"/>
          <p:nvPr/>
        </p:nvSpPr>
        <p:spPr>
          <a:xfrm>
            <a:off x="5005450" y="4787400"/>
            <a:ext cx="40092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CalCom Meeting</a:t>
            </a:r>
            <a:r>
              <a:rPr lang="fr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(2 May, 2025)</a:t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/>
          <p:nvPr/>
        </p:nvSpPr>
        <p:spPr>
          <a:xfrm>
            <a:off x="0" y="0"/>
            <a:ext cx="9144000" cy="6474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B6D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Nunito Medium"/>
              <a:buNone/>
              <a:defRPr sz="25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Font typeface="Nunito Medium"/>
              <a:buChar char="●"/>
              <a:defRPr>
                <a:solidFill>
                  <a:srgbClr val="434343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400"/>
              <a:buFont typeface="Nunito Medium"/>
              <a:buChar char="○"/>
              <a:defRPr>
                <a:solidFill>
                  <a:srgbClr val="434343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400"/>
              <a:buFont typeface="Nunito Medium"/>
              <a:buChar char="■"/>
              <a:defRPr>
                <a:solidFill>
                  <a:srgbClr val="434343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400"/>
              <a:buFont typeface="Nunito Medium"/>
              <a:buChar char="●"/>
              <a:defRPr>
                <a:solidFill>
                  <a:srgbClr val="434343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unito Medium"/>
              <a:buChar char="○"/>
              <a:defRPr>
                <a:solidFill>
                  <a:srgbClr val="434343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unito Medium"/>
              <a:buChar char="■"/>
              <a:defRPr>
                <a:solidFill>
                  <a:srgbClr val="434343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unito Medium"/>
              <a:buChar char="●"/>
              <a:defRPr>
                <a:solidFill>
                  <a:srgbClr val="434343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unito Medium"/>
              <a:buChar char="○"/>
              <a:defRPr>
                <a:solidFill>
                  <a:srgbClr val="434343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unito Medium"/>
              <a:buChar char="■"/>
              <a:defRPr>
                <a:solidFill>
                  <a:srgbClr val="434343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9pPr>
          </a:lstStyle>
          <a:p/>
        </p:txBody>
      </p:sp>
      <p:sp>
        <p:nvSpPr>
          <p:cNvPr id="29" name="Google Shape;29;p5"/>
          <p:cNvSpPr/>
          <p:nvPr/>
        </p:nvSpPr>
        <p:spPr>
          <a:xfrm rot="-5400000">
            <a:off x="8447400" y="-49200"/>
            <a:ext cx="647400" cy="7458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6AA84F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1" name="Google Shape;41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4" name="Google Shape;5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7" name="Google Shape;57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gitlab.in2p3.fr/dupre/sidis_mc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github.com/JeffersonLab/coatjava/blob/development/bin/trigger-filter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gitlab.in2p3.fr/dupre/sidis_mc/" TargetMode="External"/><Relationship Id="rId4" Type="http://schemas.openxmlformats.org/officeDocument/2006/relationships/hyperlink" Target="https://github.com/JeffersonLab/coatjava/blob/development/bin/bg-merger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gitlab.in2p3.fr/dupre/sidis_mc/" TargetMode="External"/><Relationship Id="rId4" Type="http://schemas.openxmlformats.org/officeDocument/2006/relationships/hyperlink" Target="https://github.com/JeffersonLab/coatjava/blob/development/bin/bg-merger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ctrTitle"/>
          </p:nvPr>
        </p:nvSpPr>
        <p:spPr>
          <a:xfrm>
            <a:off x="311700" y="156575"/>
            <a:ext cx="8520600" cy="169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sz="4000">
                <a:solidFill>
                  <a:srgbClr val="434343"/>
                </a:solidFill>
              </a:rPr>
              <a:t>RG-D Background Merging and Efficiency Studies</a:t>
            </a:r>
            <a:endParaRPr sz="4000">
              <a:solidFill>
                <a:srgbClr val="434343"/>
              </a:solidFill>
            </a:endParaRPr>
          </a:p>
        </p:txBody>
      </p:sp>
      <p:sp>
        <p:nvSpPr>
          <p:cNvPr id="66" name="Google Shape;66;p14"/>
          <p:cNvSpPr txBox="1"/>
          <p:nvPr>
            <p:ph idx="1" type="subTitle"/>
          </p:nvPr>
        </p:nvSpPr>
        <p:spPr>
          <a:xfrm>
            <a:off x="311700" y="2077800"/>
            <a:ext cx="64122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fr" sz="198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Mathieu Ouillon (Mississippi State University)</a:t>
            </a:r>
            <a:endParaRPr sz="198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1166750" y="2843275"/>
            <a:ext cx="41325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CalColm Meeting </a:t>
            </a:r>
            <a:endParaRPr sz="20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May 2</a:t>
            </a:r>
            <a:r>
              <a:rPr baseline="30000" lang="fr" sz="2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nd</a:t>
            </a:r>
            <a:r>
              <a:rPr lang="fr" sz="2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, 2025</a:t>
            </a:r>
            <a:endParaRPr sz="20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68" name="Google Shape;6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475" y="4245800"/>
            <a:ext cx="3863174" cy="74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30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Background Merging</a:t>
            </a:r>
            <a:r>
              <a:rPr lang="fr" sz="3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endParaRPr/>
          </a:p>
        </p:txBody>
      </p:sp>
      <p:sp>
        <p:nvSpPr>
          <p:cNvPr id="74" name="Google Shape;74;p15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fr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‹#›</a:t>
            </a:fld>
            <a:endParaRPr b="1" sz="21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0" y="647400"/>
            <a:ext cx="9144000" cy="408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57823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3C47D"/>
              </a:buClr>
              <a:buSzPct val="100000"/>
              <a:buFont typeface="Nunito"/>
              <a:buChar char="●"/>
            </a:pPr>
            <a:r>
              <a:rPr lang="fr" sz="22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Goal: Study DC efficiency vs. current for simulation and data using AI-assisted and conventional tracking (CV)</a:t>
            </a:r>
            <a:endParaRPr sz="2200">
              <a:solidFill>
                <a:srgbClr val="40404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7823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ct val="100000"/>
              <a:buFont typeface="Nunito"/>
              <a:buChar char="●"/>
            </a:pPr>
            <a:r>
              <a:rPr lang="fr" sz="22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Focus on CuSn this time</a:t>
            </a:r>
            <a:endParaRPr sz="2200">
              <a:solidFill>
                <a:srgbClr val="40404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7823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ct val="100000"/>
              <a:buFont typeface="Nunito"/>
              <a:buChar char="●"/>
            </a:pPr>
            <a:r>
              <a:rPr lang="fr" sz="22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Currents: </a:t>
            </a:r>
            <a:endParaRPr sz="2200">
              <a:solidFill>
                <a:srgbClr val="40404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5122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ct val="100000"/>
              <a:buFont typeface="Nunito"/>
              <a:buChar char="○"/>
            </a:pPr>
            <a:r>
              <a:rPr lang="fr" sz="1984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Simulation: 90, 95, 100, 110, 130, 150, and 175 nA</a:t>
            </a:r>
            <a:endParaRPr sz="1984">
              <a:solidFill>
                <a:srgbClr val="40404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5122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ct val="100000"/>
              <a:buFont typeface="Nunito"/>
              <a:buChar char="○"/>
            </a:pPr>
            <a:r>
              <a:rPr lang="fr" sz="1984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Data: 100, 110, 130, 150, 175 nA</a:t>
            </a:r>
            <a:endParaRPr sz="1984">
              <a:solidFill>
                <a:srgbClr val="40404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7823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ct val="100000"/>
              <a:buFont typeface="Nunito"/>
              <a:buChar char="●"/>
            </a:pPr>
            <a:r>
              <a:rPr lang="fr" sz="22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Generate background events for all of them</a:t>
            </a:r>
            <a:endParaRPr sz="2200">
              <a:solidFill>
                <a:srgbClr val="40404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7823" lvl="0" marL="457200" rtl="0" algn="l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ct val="100000"/>
              <a:buChar char="●"/>
            </a:pPr>
            <a:r>
              <a:rPr lang="fr" sz="2200"/>
              <a:t>Generated SIDIS events with a modified Phythia-based </a:t>
            </a:r>
            <a:r>
              <a:rPr lang="fr" sz="22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event generator</a:t>
            </a:r>
            <a:endParaRPr sz="2200"/>
          </a:p>
          <a:p>
            <a:pPr indent="-357823" lvl="0" marL="457200" rtl="0" algn="l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ct val="100000"/>
              <a:buChar char="●"/>
            </a:pPr>
            <a:r>
              <a:rPr lang="fr" sz="2200"/>
              <a:t>Used </a:t>
            </a:r>
            <a:endParaRPr sz="2200"/>
          </a:p>
          <a:p>
            <a:pPr indent="-345122" lvl="1" marL="914400" rtl="0" algn="l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ct val="100000"/>
              <a:buChar char="○"/>
            </a:pPr>
            <a:r>
              <a:rPr lang="fr" sz="1984"/>
              <a:t>GEMC 5.11 with inbending configuration</a:t>
            </a:r>
            <a:endParaRPr sz="1984"/>
          </a:p>
          <a:p>
            <a:pPr indent="-345122" lvl="1" marL="914400" rtl="0" algn="l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ct val="100000"/>
              <a:buChar char="○"/>
            </a:pPr>
            <a:r>
              <a:rPr lang="fr" sz="1984"/>
              <a:t>COATJAVA: 12.0.4t for real data and simulation</a:t>
            </a:r>
            <a:endParaRPr sz="1984"/>
          </a:p>
          <a:p>
            <a:pPr indent="-345122" lvl="1" marL="914400" rtl="0" algn="l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ct val="100000"/>
              <a:buChar char="○"/>
            </a:pPr>
            <a:r>
              <a:rPr lang="fr" sz="1984"/>
              <a:t>AI-assisted reconstruction with the newly trained network of one LD2 outbending run</a:t>
            </a:r>
            <a:endParaRPr sz="1984">
              <a:solidFill>
                <a:srgbClr val="40404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fr" sz="30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Efficiency Results for Simulation and Data</a:t>
            </a:r>
            <a:endParaRPr/>
          </a:p>
        </p:txBody>
      </p:sp>
      <p:sp>
        <p:nvSpPr>
          <p:cNvPr id="81" name="Google Shape;81;p16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82" name="Google Shape;8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050" y="647400"/>
            <a:ext cx="8027904" cy="4496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fr" sz="30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Efficiency Results for Simulation and Data</a:t>
            </a:r>
            <a:endParaRPr/>
          </a:p>
        </p:txBody>
      </p:sp>
      <p:sp>
        <p:nvSpPr>
          <p:cNvPr id="88" name="Google Shape;88;p17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89" name="Google Shape;8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200" y="647400"/>
            <a:ext cx="8056008" cy="4496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fr" sz="30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Efficiency Results for Simulation and Data</a:t>
            </a:r>
            <a:endParaRPr sz="3000">
              <a:solidFill>
                <a:srgbClr val="40404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14700" y="3162850"/>
            <a:ext cx="9009000" cy="191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unito"/>
              <a:buChar char="-"/>
            </a:pPr>
            <a:r>
              <a:rPr lang="fr" sz="22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Slope of the simulation is lower than the data, as expected!</a:t>
            </a:r>
            <a:endParaRPr sz="2200">
              <a:solidFill>
                <a:srgbClr val="40404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unito"/>
              <a:buChar char="-"/>
            </a:pPr>
            <a:r>
              <a:rPr lang="fr" sz="22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Bigger difference between MC and Data (</a:t>
            </a:r>
            <a:r>
              <a:rPr i="1" lang="fr" sz="20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approx. 20/52% for positive/negative</a:t>
            </a:r>
            <a:r>
              <a:rPr lang="fr" sz="22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) compared to LD2 case. </a:t>
            </a:r>
            <a:endParaRPr sz="2900">
              <a:solidFill>
                <a:srgbClr val="40404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97" name="Google Shape;97;p18"/>
          <p:cNvSpPr txBox="1"/>
          <p:nvPr/>
        </p:nvSpPr>
        <p:spPr>
          <a:xfrm>
            <a:off x="437100" y="1501688"/>
            <a:ext cx="17076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Positive:</a:t>
            </a:r>
            <a:endParaRPr sz="18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8" name="Google Shape;98;p18"/>
          <p:cNvSpPr txBox="1"/>
          <p:nvPr/>
        </p:nvSpPr>
        <p:spPr>
          <a:xfrm>
            <a:off x="437100" y="2370363"/>
            <a:ext cx="17076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Negative:</a:t>
            </a:r>
            <a:endParaRPr sz="18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9" name="Google Shape;99;p18"/>
          <p:cNvSpPr/>
          <p:nvPr/>
        </p:nvSpPr>
        <p:spPr>
          <a:xfrm>
            <a:off x="7921950" y="1258500"/>
            <a:ext cx="792900" cy="271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8"/>
          <p:cNvSpPr/>
          <p:nvPr/>
        </p:nvSpPr>
        <p:spPr>
          <a:xfrm>
            <a:off x="7921950" y="2140800"/>
            <a:ext cx="792900" cy="271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8"/>
          <p:cNvSpPr txBox="1"/>
          <p:nvPr>
            <p:ph idx="1" type="body"/>
          </p:nvPr>
        </p:nvSpPr>
        <p:spPr>
          <a:xfrm>
            <a:off x="14700" y="647400"/>
            <a:ext cx="91146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unito"/>
              <a:buChar char="-"/>
            </a:pPr>
            <a:r>
              <a:rPr lang="fr" sz="22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OB </a:t>
            </a:r>
            <a:r>
              <a:rPr lang="fr" sz="22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LD2 </a:t>
            </a:r>
            <a:r>
              <a:rPr lang="fr" sz="22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AI-network with denoising:</a:t>
            </a:r>
            <a:endParaRPr>
              <a:solidFill>
                <a:srgbClr val="404040"/>
              </a:solidFill>
            </a:endParaRPr>
          </a:p>
        </p:txBody>
      </p:sp>
      <p:pic>
        <p:nvPicPr>
          <p:cNvPr id="102" name="Google Shape;10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5539" y="1118752"/>
            <a:ext cx="5861811" cy="91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8"/>
          <p:cNvSpPr/>
          <p:nvPr/>
        </p:nvSpPr>
        <p:spPr>
          <a:xfrm>
            <a:off x="7322700" y="1118750"/>
            <a:ext cx="792900" cy="271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4" name="Google Shape;10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45550" y="2160076"/>
            <a:ext cx="6013239" cy="91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Nunito Medium"/>
                <a:ea typeface="Nunito Medium"/>
                <a:cs typeface="Nunito Medium"/>
                <a:sym typeface="Nunito Medium"/>
              </a:rPr>
              <a:t>Background</a:t>
            </a:r>
            <a:endParaRPr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10" name="Google Shape;11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30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Background Merging</a:t>
            </a:r>
            <a:r>
              <a:rPr lang="fr" sz="3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endParaRPr sz="3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6" name="Google Shape;116;p20"/>
          <p:cNvSpPr txBox="1"/>
          <p:nvPr>
            <p:ph idx="1" type="body"/>
          </p:nvPr>
        </p:nvSpPr>
        <p:spPr>
          <a:xfrm>
            <a:off x="250" y="647400"/>
            <a:ext cx="9144000" cy="42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Nunito"/>
              <a:buChar char="●"/>
            </a:pPr>
            <a:r>
              <a:rPr lang="fr" sz="22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Goal: Study DC efficiency vs. current for simulation and data </a:t>
            </a:r>
            <a:r>
              <a:rPr lang="fr" sz="22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using</a:t>
            </a:r>
            <a:r>
              <a:rPr lang="fr" sz="22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 AI-assisted and conventional tracking (CV)</a:t>
            </a:r>
            <a:endParaRPr sz="2200">
              <a:solidFill>
                <a:srgbClr val="40404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683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Nunito"/>
              <a:buChar char="●"/>
            </a:pPr>
            <a:r>
              <a:rPr lang="fr" sz="22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RG-D has </a:t>
            </a:r>
            <a:r>
              <a:rPr lang="fr" sz="22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three</a:t>
            </a:r>
            <a:r>
              <a:rPr lang="fr" sz="22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 target configurations: LD2, CxC and CuSn               ⇒ Focus on LD2 first then CuSn</a:t>
            </a:r>
            <a:endParaRPr sz="2200">
              <a:solidFill>
                <a:srgbClr val="40404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683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Nunito"/>
              <a:buChar char="●"/>
            </a:pPr>
            <a:r>
              <a:rPr lang="fr" sz="22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First step: extract background events using</a:t>
            </a:r>
            <a:endParaRPr sz="2200">
              <a:solidFill>
                <a:srgbClr val="40404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Nunito"/>
              <a:buChar char="○"/>
            </a:pPr>
            <a:r>
              <a:rPr lang="fr" sz="20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two current settings: 50 and 60 nA</a:t>
            </a:r>
            <a:endParaRPr sz="2000">
              <a:solidFill>
                <a:srgbClr val="40404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Nunito"/>
              <a:buChar char="○"/>
            </a:pPr>
            <a:r>
              <a:rPr lang="fr" sz="1800" u="sng">
                <a:solidFill>
                  <a:schemeClr val="hlink"/>
                </a:solidFill>
                <a:latin typeface="Roboto Mono"/>
                <a:ea typeface="Roboto Mono"/>
                <a:cs typeface="Roboto Mono"/>
                <a:sym typeface="Roboto Mono"/>
                <a:hlinkClick r:id="rId3"/>
              </a:rPr>
              <a:t>trigger-filter</a:t>
            </a:r>
            <a:r>
              <a:rPr lang="fr" sz="20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 to extract background events based on the trigger </a:t>
            </a:r>
            <a:r>
              <a:rPr lang="fr" sz="20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bitmask</a:t>
            </a:r>
            <a:r>
              <a:rPr lang="fr" sz="20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: 0x0000008000000000</a:t>
            </a:r>
            <a:endParaRPr sz="2000">
              <a:solidFill>
                <a:srgbClr val="40404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Nunito"/>
              <a:buChar char="○"/>
            </a:pPr>
            <a:r>
              <a:rPr lang="fr" sz="20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20 random files for each current, which yields 5k background events per file and thus </a:t>
            </a:r>
            <a:r>
              <a:rPr lang="fr" sz="20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100k background events </a:t>
            </a:r>
            <a:r>
              <a:rPr lang="fr" sz="20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per current</a:t>
            </a:r>
            <a:endParaRPr sz="2000">
              <a:solidFill>
                <a:srgbClr val="40404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7" name="Google Shape;117;p20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3000">
                <a:solidFill>
                  <a:srgbClr val="434343"/>
                </a:solidFill>
              </a:rPr>
              <a:t>Simulation vs. Data</a:t>
            </a:r>
            <a:endParaRPr sz="3000">
              <a:solidFill>
                <a:srgbClr val="434343"/>
              </a:solidFill>
            </a:endParaRPr>
          </a:p>
        </p:txBody>
      </p:sp>
      <p:sp>
        <p:nvSpPr>
          <p:cNvPr id="123" name="Google Shape;123;p21"/>
          <p:cNvSpPr txBox="1"/>
          <p:nvPr>
            <p:ph idx="1" type="body"/>
          </p:nvPr>
        </p:nvSpPr>
        <p:spPr>
          <a:xfrm>
            <a:off x="0" y="647400"/>
            <a:ext cx="9218100" cy="406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fr" sz="2200"/>
              <a:t>Generated</a:t>
            </a:r>
            <a:r>
              <a:rPr lang="fr" sz="2200"/>
              <a:t> SIDIS events with a modified Phythia-based </a:t>
            </a:r>
            <a:r>
              <a:rPr lang="fr" sz="2200" u="sng">
                <a:solidFill>
                  <a:schemeClr val="hlink"/>
                </a:solidFill>
                <a:hlinkClick r:id="rId3"/>
              </a:rPr>
              <a:t>event generator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fr" sz="2200"/>
              <a:t>Used 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fr" sz="2200"/>
              <a:t>GEMC 5.11 with inbending configuration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fr" sz="2200"/>
              <a:t>COATJAVA: 12.0.4t for real data and simulation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fr" sz="2200"/>
              <a:t>AI-assisted reconstruction with the newly trained network of one </a:t>
            </a:r>
            <a:r>
              <a:rPr lang="fr" sz="2200"/>
              <a:t>LD2 outbending run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fr" sz="2200"/>
              <a:t>Merged </a:t>
            </a:r>
            <a:r>
              <a:rPr lang="fr" sz="2200"/>
              <a:t>background and simulation events with </a:t>
            </a:r>
            <a:r>
              <a:rPr lang="fr" sz="2000" u="sng">
                <a:solidFill>
                  <a:schemeClr val="hlink"/>
                </a:solidFill>
                <a:latin typeface="Roboto Mono"/>
                <a:ea typeface="Roboto Mono"/>
                <a:cs typeface="Roboto Mono"/>
                <a:sym typeface="Roboto Mono"/>
                <a:hlinkClick r:id="rId4"/>
              </a:rPr>
              <a:t>bg-merger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fr" sz="2200"/>
              <a:t>Reconstruction d</a:t>
            </a:r>
            <a:r>
              <a:rPr lang="fr" sz="2200"/>
              <a:t>one with and without denoising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fr" sz="2200"/>
              <a:t>Comparison performed for LD2</a:t>
            </a:r>
            <a:r>
              <a:rPr lang="fr" sz="2200"/>
              <a:t> l</a:t>
            </a:r>
            <a:r>
              <a:rPr lang="fr" sz="2200"/>
              <a:t>uminosity scan runs taken with beam currents of 5, 20, 35, 50, 75 &amp; 100 nA</a:t>
            </a:r>
            <a:endParaRPr sz="2200"/>
          </a:p>
        </p:txBody>
      </p:sp>
      <p:sp>
        <p:nvSpPr>
          <p:cNvPr id="124" name="Google Shape;124;p21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fr" sz="30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Efficiency Results for Simulation and Data</a:t>
            </a:r>
            <a:endParaRPr sz="3000">
              <a:solidFill>
                <a:srgbClr val="434343"/>
              </a:solidFill>
            </a:endParaRPr>
          </a:p>
        </p:txBody>
      </p:sp>
      <p:sp>
        <p:nvSpPr>
          <p:cNvPr id="130" name="Google Shape;130;p22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31" name="Google Shape;13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100" y="647400"/>
            <a:ext cx="8041928" cy="449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fr" sz="30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E</a:t>
            </a:r>
            <a:r>
              <a:rPr lang="fr" sz="30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fficiency Results for Simulation and Data</a:t>
            </a:r>
            <a:endParaRPr sz="3000">
              <a:solidFill>
                <a:srgbClr val="434343"/>
              </a:solidFill>
            </a:endParaRPr>
          </a:p>
        </p:txBody>
      </p:sp>
      <p:sp>
        <p:nvSpPr>
          <p:cNvPr id="137" name="Google Shape;137;p23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38" name="Google Shape;13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7919" y="647400"/>
            <a:ext cx="8041933" cy="449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4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fr" sz="30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Efficiency Results for Simulation and Data</a:t>
            </a:r>
            <a:endParaRPr sz="3000">
              <a:solidFill>
                <a:srgbClr val="40404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4" name="Google Shape;144;p24"/>
          <p:cNvSpPr txBox="1"/>
          <p:nvPr>
            <p:ph idx="1" type="body"/>
          </p:nvPr>
        </p:nvSpPr>
        <p:spPr>
          <a:xfrm>
            <a:off x="14700" y="3162850"/>
            <a:ext cx="9203400" cy="191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unito"/>
              <a:buChar char="-"/>
            </a:pPr>
            <a:r>
              <a:rPr lang="fr" sz="22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Slope of the simulation is lower than the data, as expected!</a:t>
            </a:r>
            <a:endParaRPr sz="2200">
              <a:solidFill>
                <a:srgbClr val="40404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unito"/>
              <a:buChar char="-"/>
            </a:pPr>
            <a:r>
              <a:rPr lang="fr" sz="22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Smaller difference between MC and Data </a:t>
            </a:r>
            <a:r>
              <a:rPr lang="fr" sz="22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(</a:t>
            </a:r>
            <a:r>
              <a:rPr i="1" lang="fr" sz="20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approx. 18/4% for positive/ negative</a:t>
            </a:r>
            <a:r>
              <a:rPr lang="fr" sz="22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) compared</a:t>
            </a:r>
            <a:r>
              <a:rPr lang="fr" sz="22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 to the former study with fall 2023 AI-network </a:t>
            </a:r>
            <a:endParaRPr sz="2200">
              <a:solidFill>
                <a:srgbClr val="40404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unito"/>
              <a:buChar char="-"/>
            </a:pPr>
            <a:r>
              <a:rPr lang="fr" sz="22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Next step: repeat the same study for solid-foil configuration, CuSn</a:t>
            </a:r>
            <a:endParaRPr sz="2900">
              <a:solidFill>
                <a:srgbClr val="40404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5" name="Google Shape;145;p24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46" name="Google Shape;146;p24"/>
          <p:cNvSpPr txBox="1"/>
          <p:nvPr/>
        </p:nvSpPr>
        <p:spPr>
          <a:xfrm>
            <a:off x="437100" y="1501688"/>
            <a:ext cx="17076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Positive:</a:t>
            </a:r>
            <a:endParaRPr sz="18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7" name="Google Shape;147;p24"/>
          <p:cNvSpPr txBox="1"/>
          <p:nvPr/>
        </p:nvSpPr>
        <p:spPr>
          <a:xfrm>
            <a:off x="437100" y="2370363"/>
            <a:ext cx="17076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Negative:</a:t>
            </a:r>
            <a:endParaRPr sz="18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48" name="Google Shape;14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6100" y="1160453"/>
            <a:ext cx="6531550" cy="98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16100" y="2140800"/>
            <a:ext cx="6660314" cy="98757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4"/>
          <p:cNvSpPr/>
          <p:nvPr/>
        </p:nvSpPr>
        <p:spPr>
          <a:xfrm>
            <a:off x="7921950" y="1258500"/>
            <a:ext cx="792900" cy="271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4"/>
          <p:cNvSpPr/>
          <p:nvPr/>
        </p:nvSpPr>
        <p:spPr>
          <a:xfrm>
            <a:off x="7921950" y="2140800"/>
            <a:ext cx="792900" cy="271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4"/>
          <p:cNvSpPr txBox="1"/>
          <p:nvPr>
            <p:ph idx="1" type="body"/>
          </p:nvPr>
        </p:nvSpPr>
        <p:spPr>
          <a:xfrm>
            <a:off x="14700" y="647400"/>
            <a:ext cx="91146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unito"/>
              <a:buChar char="-"/>
            </a:pPr>
            <a:r>
              <a:rPr lang="fr" sz="22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OB LD2 AI-network with denoising:</a:t>
            </a:r>
            <a:endParaRPr>
              <a:solidFill>
                <a:srgbClr val="404040"/>
              </a:solidFill>
            </a:endParaRPr>
          </a:p>
        </p:txBody>
      </p:sp>
      <p:sp>
        <p:nvSpPr>
          <p:cNvPr id="153" name="Google Shape;153;p24"/>
          <p:cNvSpPr/>
          <p:nvPr/>
        </p:nvSpPr>
        <p:spPr>
          <a:xfrm>
            <a:off x="7783525" y="1078925"/>
            <a:ext cx="792900" cy="271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5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3000">
                <a:solidFill>
                  <a:srgbClr val="434343"/>
                </a:solidFill>
              </a:rPr>
              <a:t>Simulation vs. Data</a:t>
            </a:r>
            <a:r>
              <a:rPr lang="fr" sz="30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: Study done April 4</a:t>
            </a:r>
            <a:r>
              <a:rPr baseline="30000" lang="fr" sz="30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th</a:t>
            </a:r>
            <a:endParaRPr sz="3000">
              <a:solidFill>
                <a:srgbClr val="434343"/>
              </a:solidFill>
            </a:endParaRPr>
          </a:p>
        </p:txBody>
      </p:sp>
      <p:sp>
        <p:nvSpPr>
          <p:cNvPr id="159" name="Google Shape;159;p25"/>
          <p:cNvSpPr txBox="1"/>
          <p:nvPr>
            <p:ph idx="1" type="body"/>
          </p:nvPr>
        </p:nvSpPr>
        <p:spPr>
          <a:xfrm>
            <a:off x="0" y="647400"/>
            <a:ext cx="9087600" cy="406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fr" sz="2200"/>
              <a:t>Simulate SIDIS events with this Pythia-based </a:t>
            </a:r>
            <a:r>
              <a:rPr lang="fr" sz="2200" u="sng">
                <a:solidFill>
                  <a:schemeClr val="hlink"/>
                </a:solidFill>
                <a:hlinkClick r:id="rId3"/>
              </a:rPr>
              <a:t>event generator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fr" sz="2200"/>
              <a:t>GEMC 5.11: Inbending configuration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fr" sz="2200"/>
              <a:t>COATJAVA: 11.1.0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fr" sz="2200"/>
              <a:t>AI-assisted reconstruction using the trained network by the end of data taking back in December 2023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fr" sz="2200"/>
              <a:t>Merge background and simulation events with </a:t>
            </a:r>
            <a:r>
              <a:rPr lang="fr" sz="2000" u="sng">
                <a:solidFill>
                  <a:schemeClr val="hlink"/>
                </a:solidFill>
                <a:latin typeface="Roboto Mono"/>
                <a:ea typeface="Roboto Mono"/>
                <a:cs typeface="Roboto Mono"/>
                <a:sym typeface="Roboto Mono"/>
                <a:hlinkClick r:id="rId4"/>
              </a:rPr>
              <a:t>bg-merger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fr" sz="2200"/>
              <a:t>Use Luminosity scan runs with current: 5, 20, 35, 50, 75 &amp; 100 nA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fr" sz="2200"/>
              <a:t>Cooked data with COATJAVA 11.1.0</a:t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60" name="Google Shape;160;p25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6"/>
          <p:cNvSpPr txBox="1"/>
          <p:nvPr>
            <p:ph type="title"/>
          </p:nvPr>
        </p:nvSpPr>
        <p:spPr>
          <a:xfrm>
            <a:off x="0" y="0"/>
            <a:ext cx="83982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fr" sz="22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Efficiency Results for Simulation and Data</a:t>
            </a:r>
            <a:r>
              <a:rPr lang="fr" sz="22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: Study done on April 4</a:t>
            </a:r>
            <a:r>
              <a:rPr baseline="30000" lang="fr" sz="22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th</a:t>
            </a:r>
            <a:endParaRPr sz="2200">
              <a:solidFill>
                <a:srgbClr val="434343"/>
              </a:solidFill>
            </a:endParaRPr>
          </a:p>
        </p:txBody>
      </p:sp>
      <p:sp>
        <p:nvSpPr>
          <p:cNvPr id="166" name="Google Shape;166;p26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67" name="Google Shape;16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47400"/>
            <a:ext cx="9115576" cy="4041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7"/>
          <p:cNvSpPr txBox="1"/>
          <p:nvPr>
            <p:ph type="title"/>
          </p:nvPr>
        </p:nvSpPr>
        <p:spPr>
          <a:xfrm>
            <a:off x="0" y="0"/>
            <a:ext cx="83982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990"/>
              <a:buNone/>
            </a:pPr>
            <a:r>
              <a:rPr lang="fr" sz="22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Efficiency Results for Simulation and Data</a:t>
            </a:r>
            <a:r>
              <a:rPr lang="fr" sz="22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: Study done on April 4</a:t>
            </a:r>
            <a:r>
              <a:rPr baseline="30000" lang="fr" sz="22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th</a:t>
            </a:r>
            <a:endParaRPr sz="2200">
              <a:solidFill>
                <a:srgbClr val="40404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3" name="Google Shape;173;p27"/>
          <p:cNvSpPr txBox="1"/>
          <p:nvPr>
            <p:ph idx="1" type="body"/>
          </p:nvPr>
        </p:nvSpPr>
        <p:spPr>
          <a:xfrm>
            <a:off x="14700" y="2974000"/>
            <a:ext cx="9114600" cy="191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-347345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Nunito"/>
              <a:buChar char="-"/>
            </a:pPr>
            <a:r>
              <a:rPr lang="fr" sz="2200">
                <a:latin typeface="Nunito"/>
                <a:ea typeface="Nunito"/>
                <a:cs typeface="Nunito"/>
                <a:sym typeface="Nunito"/>
              </a:rPr>
              <a:t>Difference between simulation and data: ~30%</a:t>
            </a:r>
            <a:endParaRPr sz="2200">
              <a:latin typeface="Nunito"/>
              <a:ea typeface="Nunito"/>
              <a:cs typeface="Nunito"/>
              <a:sym typeface="Nunito"/>
            </a:endParaRPr>
          </a:p>
          <a:p>
            <a:pPr indent="-347345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Nunito"/>
              <a:buChar char="-"/>
            </a:pPr>
            <a:r>
              <a:rPr lang="fr" sz="2200">
                <a:latin typeface="Nunito"/>
                <a:ea typeface="Nunito"/>
                <a:cs typeface="Nunito"/>
                <a:sym typeface="Nunito"/>
              </a:rPr>
              <a:t>Slope of the simulation is lower than the data, as expected!</a:t>
            </a:r>
            <a:endParaRPr sz="2200">
              <a:latin typeface="Nunito"/>
              <a:ea typeface="Nunito"/>
              <a:cs typeface="Nunito"/>
              <a:sym typeface="Nunito"/>
            </a:endParaRPr>
          </a:p>
          <a:p>
            <a:pPr indent="-347345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Nunito"/>
              <a:buChar char="-"/>
            </a:pPr>
            <a:r>
              <a:rPr lang="fr" sz="2200">
                <a:latin typeface="Nunito"/>
                <a:ea typeface="Nunito"/>
                <a:cs typeface="Nunito"/>
                <a:sym typeface="Nunito"/>
              </a:rPr>
              <a:t>Difference could be due to the old trained network online before the offline alignment and calibrations!? </a:t>
            </a:r>
            <a:endParaRPr sz="2200">
              <a:latin typeface="Nunito"/>
              <a:ea typeface="Nunito"/>
              <a:cs typeface="Nunito"/>
              <a:sym typeface="Nunito"/>
            </a:endParaRPr>
          </a:p>
          <a:p>
            <a:pPr indent="-347345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Nunito"/>
              <a:buChar char="-"/>
            </a:pPr>
            <a:r>
              <a:rPr lang="fr" sz="2200">
                <a:latin typeface="Nunito"/>
                <a:ea typeface="Nunito"/>
                <a:cs typeface="Nunito"/>
                <a:sym typeface="Nunito"/>
              </a:rPr>
              <a:t>Next step: redo it with the new AI network &amp; try other nuclear target, carbon</a:t>
            </a:r>
            <a:endParaRPr/>
          </a:p>
        </p:txBody>
      </p:sp>
      <p:sp>
        <p:nvSpPr>
          <p:cNvPr id="174" name="Google Shape;174;p27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75" name="Google Shape;175;p27"/>
          <p:cNvSpPr txBox="1"/>
          <p:nvPr/>
        </p:nvSpPr>
        <p:spPr>
          <a:xfrm>
            <a:off x="562475" y="887750"/>
            <a:ext cx="17076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Positive</a:t>
            </a:r>
            <a:endParaRPr sz="18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6" name="Google Shape;176;p27"/>
          <p:cNvSpPr txBox="1"/>
          <p:nvPr/>
        </p:nvSpPr>
        <p:spPr>
          <a:xfrm>
            <a:off x="2782050" y="887750"/>
            <a:ext cx="17076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Negative</a:t>
            </a:r>
            <a:endParaRPr sz="18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77" name="Google Shape;17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249" y="1192850"/>
            <a:ext cx="2015275" cy="181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13050" y="1192850"/>
            <a:ext cx="1975300" cy="1776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