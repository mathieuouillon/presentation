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Cai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Cairo-bold.fntdata"/><Relationship Id="rId10" Type="http://schemas.openxmlformats.org/officeDocument/2006/relationships/slide" Target="slides/slide5.xml"/><Relationship Id="rId21" Type="http://schemas.openxmlformats.org/officeDocument/2006/relationships/font" Target="fonts/Cai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d7334aab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d7334aab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49981d64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49981d6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49981d6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49981d6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49981d64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49981d64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49981d64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49981d64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49981d6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49981d6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49981d64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49981d64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9981d64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49981d64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49981d64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49981d64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49981d64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49981d64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9981d64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49981d64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9981d64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49981d64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49981d64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49981d64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49981d64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49981d64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454125"/>
            <a:ext cx="8520600" cy="19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5200"/>
              <a:buNone/>
              <a:defRPr sz="5200">
                <a:solidFill>
                  <a:srgbClr val="4B38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99182" y="1744719"/>
            <a:ext cx="6858000" cy="476400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Mathieu Ouillon (Mississippi State University)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0900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flipH="1" rot="-5400000">
            <a:off x="8616463" y="-16651"/>
            <a:ext cx="510900" cy="544200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8599813" y="0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7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 sz="27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22" name="Google Shape;22;p4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/>
        </p:nvSpPr>
        <p:spPr>
          <a:xfrm>
            <a:off x="0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Mathieu Ouillon</a:t>
            </a:r>
            <a:endParaRPr i="0" sz="9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07/08/25</a:t>
            </a:r>
            <a:endParaRPr sz="9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4856421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CLAS Collaboration Meeting (8-11 July 2025)</a:t>
            </a:r>
            <a:endParaRPr sz="9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9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5290457" y="4869656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113260" y="0"/>
            <a:ext cx="10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510900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0" y="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68575" spcFirstLastPara="1" rIns="68575" wrap="square" tIns="685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3300"/>
              <a:buFont typeface="Cairo"/>
              <a:buNone/>
              <a:defRPr i="0" sz="33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Cairo"/>
              <a:buChar char="•"/>
              <a:defRPr i="0" sz="21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o"/>
              <a:defRPr i="0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Cairo"/>
              <a:buChar char="•"/>
              <a:defRPr i="0" sz="15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856421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4"/>
          <p:cNvSpPr/>
          <p:nvPr/>
        </p:nvSpPr>
        <p:spPr>
          <a:xfrm flipH="1" rot="-5400000">
            <a:off x="8616463" y="-16651"/>
            <a:ext cx="510900" cy="544200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0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9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2800"/>
              <a:buFont typeface="Cairo"/>
              <a:buNone/>
              <a:defRPr sz="2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  <a:defRPr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●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●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213975" y="-536475"/>
            <a:ext cx="7840800" cy="19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4B3832"/>
                </a:solidFill>
              </a:rPr>
              <a:t>AHDC AI Tracking</a:t>
            </a:r>
            <a:endParaRPr sz="5400">
              <a:solidFill>
                <a:srgbClr val="4B3832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1850"/>
            <a:ext cx="3791631" cy="72881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261050" y="3260050"/>
            <a:ext cx="151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07/08/25</a:t>
            </a:r>
            <a:endParaRPr sz="2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4850" y="4180462"/>
            <a:ext cx="1799149" cy="9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188803" y="3650350"/>
            <a:ext cx="5589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2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CLAS Collaboration </a:t>
            </a:r>
            <a:r>
              <a:rPr lang="en" sz="2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Meeting</a:t>
            </a:r>
            <a:r>
              <a:rPr i="0" lang="en" sz="22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(8-11 July, 2025)</a:t>
            </a:r>
            <a:endParaRPr i="0" sz="22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4125" y="4219263"/>
            <a:ext cx="3161401" cy="8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ALERT Experimental Setup</a:t>
            </a:r>
            <a:endParaRPr sz="30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0" y="521100"/>
            <a:ext cx="9093900" cy="1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ALERT have two sub-detectors: A Hyperbolic Drift Chamber (AHDC) and A Time of Flight (ATOF)</a:t>
            </a:r>
            <a:endParaRPr sz="2000"/>
          </a:p>
        </p:txBody>
      </p:sp>
      <p:sp>
        <p:nvSpPr>
          <p:cNvPr id="88" name="Google Shape;88;p16"/>
          <p:cNvSpPr/>
          <p:nvPr/>
        </p:nvSpPr>
        <p:spPr>
          <a:xfrm>
            <a:off x="1479825" y="1329875"/>
            <a:ext cx="1662300" cy="3444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4E6"/>
                </a:solidFill>
                <a:latin typeface="Cairo"/>
                <a:ea typeface="Cairo"/>
                <a:cs typeface="Cairo"/>
                <a:sym typeface="Cairo"/>
              </a:rPr>
              <a:t>ATOF</a:t>
            </a:r>
            <a:endParaRPr sz="2000">
              <a:solidFill>
                <a:srgbClr val="FFF4E6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479825" y="3017275"/>
            <a:ext cx="1662300" cy="344400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4E6"/>
                </a:solidFill>
                <a:latin typeface="Cairo"/>
                <a:ea typeface="Cairo"/>
                <a:cs typeface="Cairo"/>
                <a:sym typeface="Cairo"/>
              </a:rPr>
              <a:t>AHDC</a:t>
            </a:r>
            <a:endParaRPr sz="2000">
              <a:solidFill>
                <a:srgbClr val="FFF4E6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62975" y="1626775"/>
            <a:ext cx="42177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Time of flight: used for Particle IDentification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Small barrel of segmented scintillators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The TOF measurement is degenerate for </a:t>
            </a:r>
            <a:r>
              <a:rPr baseline="30000"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2</a:t>
            </a: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 and </a:t>
            </a:r>
            <a:r>
              <a:rPr baseline="30000"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4</a:t>
            </a: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He, but dE/dx can distinguish the two nuclei bands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62975" y="3323250"/>
            <a:ext cx="4217700" cy="1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Aluminum wires: 2 mm apart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20-degree stereo angle (hyperbolic shape)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5 superlayers, each composed of 2 layers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●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576 signal wires (6 ground wires of each signal)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8841" y="1285200"/>
            <a:ext cx="4795059" cy="352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Finding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0" y="510900"/>
            <a:ext cx="4230900" cy="4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Track finding is a clustering problem: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Set of points (hits) ⇒ cluster in sets (tracks) originating from the same particle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Hits: particles deposit energy when interacting with the detector material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Tracks: reconstructed sequences of hits representing charged particle trajectories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0020" lvl="0" marL="18288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algorithms: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Distance between hits + fit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Hough transform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Combinatorial Kalman Filter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Artificial Intelligence models (MLP, GNN…)</a:t>
            </a:r>
            <a:endParaRPr sz="1600"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5075" y="560250"/>
            <a:ext cx="4369975" cy="426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AI-assisted model: Description and Training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0" y="4037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Model: MultiLayer Perceptron, 10 inputs, 1/3/5 hidden layer (15/20/100 neurons), 1 output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Inputs: x and y values of the five inter-clusters 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the training ⇒ Need good and bad tracks:</a:t>
            </a:r>
            <a:endParaRPr sz="1600"/>
          </a:p>
          <a:p>
            <a:pPr indent="-167640" lvl="1" marL="32004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Good tracks: GEANT4 simulation (particle with p ∈ [0.07, 1.5] GeV/c, φ ∈ [0, 360]°, θ ∈ [30, 150]</a:t>
            </a:r>
            <a:r>
              <a:rPr lang="en" sz="1200"/>
              <a:t>° </a:t>
            </a:r>
            <a:r>
              <a:rPr lang="en" sz="1200"/>
              <a:t>, and Vz ∈ [-15, 15] cm)</a:t>
            </a:r>
            <a:endParaRPr sz="1200"/>
          </a:p>
          <a:p>
            <a:pPr indent="-167640" lvl="1" marL="32004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False tracks: Interchanging randomly up to two inter-clusters with another event</a:t>
            </a:r>
            <a:endParaRPr sz="1200"/>
          </a:p>
          <a:p>
            <a:pPr indent="-167640" lvl="1" marL="32004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Generate 5M events composed of all light nuclei (flat distribution for all variables)</a:t>
            </a:r>
            <a:endParaRPr sz="1200"/>
          </a:p>
          <a:p>
            <a:pPr indent="-167640" lvl="1" marL="32004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Output: Number between 0 and 1, with 0/1 means bad/good track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50" y="2161000"/>
            <a:ext cx="8637698" cy="269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Simulation Validation: Efficiency and Purity vs. Threshold</a:t>
            </a:r>
            <a:endParaRPr sz="26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0" y="521100"/>
            <a:ext cx="91440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Threshold: if output above/lower than the threshold ⇒ good/bad tracks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evaluate the model: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928" y="1010450"/>
            <a:ext cx="5559222" cy="35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0" y="1166900"/>
            <a:ext cx="3709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Efficiency: Number of good tracks classified as good normalized by the number of events.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Purity: Number of good tracks classified as good normalized by the number of tracks (good or bad) classified as good.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Events need to have at least one track candidate.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Set the threshold to 0.2 to have a higher efficiency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4A86E8"/>
                </a:solidFill>
                <a:latin typeface="Cairo"/>
                <a:ea typeface="Cairo"/>
                <a:cs typeface="Cairo"/>
                <a:sym typeface="Cairo"/>
              </a:rPr>
              <a:t>Blue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20 neurons in 3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9900FF"/>
                </a:solidFill>
                <a:latin typeface="Cairo"/>
                <a:ea typeface="Cairo"/>
                <a:cs typeface="Cairo"/>
                <a:sym typeface="Cairo"/>
              </a:rPr>
              <a:t>Violet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100 neurons in 3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20 neurons in 5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888888"/>
                </a:solidFill>
                <a:latin typeface="Cairo"/>
                <a:ea typeface="Cairo"/>
                <a:cs typeface="Cairo"/>
                <a:sym typeface="Cairo"/>
              </a:rPr>
              <a:t>Gray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15 neurons in 1 hidden layer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Simulation Validation: Efficiency and Purity vs. Current</a:t>
            </a:r>
            <a:endParaRPr sz="2700"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0" y="5211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 is always higher than 90% and the purity is between 55% and 95%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Char char="●"/>
            </a:pPr>
            <a:r>
              <a:rPr lang="en">
                <a:solidFill>
                  <a:srgbClr val="4B3832"/>
                </a:solidFill>
              </a:rPr>
              <a:t>More current means more background</a:t>
            </a:r>
            <a:endParaRPr>
              <a:solidFill>
                <a:srgbClr val="4B383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425" y="1235400"/>
            <a:ext cx="5504001" cy="34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0" y="1235400"/>
            <a:ext cx="3709200" cy="3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Efficiency: Number of good tracks classified as good normalized by the number of events.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Purity: Number of good tracks classified as good normalized by the number of tracks (good or bad) classified as good.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Events need to have at least one track candidate.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7399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300"/>
              <a:buFont typeface="Cairo"/>
              <a:buChar char="○"/>
            </a:pPr>
            <a:r>
              <a:rPr lang="en" sz="13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Threshold set to 0.2 to have a higher efficiency</a:t>
            </a:r>
            <a:endParaRPr sz="13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4A86E8"/>
                </a:solidFill>
                <a:latin typeface="Cairo"/>
                <a:ea typeface="Cairo"/>
                <a:cs typeface="Cairo"/>
                <a:sym typeface="Cairo"/>
              </a:rPr>
              <a:t>Blue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20 neurons in 3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9900FF"/>
                </a:solidFill>
                <a:latin typeface="Cairo"/>
                <a:ea typeface="Cairo"/>
                <a:cs typeface="Cairo"/>
                <a:sym typeface="Cairo"/>
              </a:rPr>
              <a:t>Violet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100 neurons in 3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20 neurons in 5 hidden layers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67640" lvl="1" marL="3200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Cairo"/>
              <a:buChar char="○"/>
            </a:pPr>
            <a:r>
              <a:rPr lang="en" sz="1200">
                <a:solidFill>
                  <a:srgbClr val="888888"/>
                </a:solidFill>
                <a:latin typeface="Cairo"/>
                <a:ea typeface="Cairo"/>
                <a:cs typeface="Cairo"/>
                <a:sym typeface="Cairo"/>
              </a:rPr>
              <a:t>Gray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model with 15 neurons in 1 hidden layer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r>
              <a:rPr lang="en"/>
              <a:t> with Proton data: Elastic Scattering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0" y="5211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evaluate the performance of the AI, use elastic scattering on proton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AHDC, want the low momentum proton ⇒ use electron at low θ 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Δϕ using electron and AHDC hits ⇒ shift in Δϕ approx. 20</a:t>
            </a:r>
            <a:r>
              <a:rPr baseline="30000" lang="en"/>
              <a:t>o</a:t>
            </a:r>
            <a:endParaRPr baseline="30000"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0" y="1694949"/>
            <a:ext cx="8213950" cy="31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r>
              <a:rPr lang="en"/>
              <a:t> on Proton Data: AI Efficiency and Purity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0" y="521100"/>
            <a:ext cx="8520600" cy="5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Efficiency and purity as a function of the threshold: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025" y="873550"/>
            <a:ext cx="5906525" cy="39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0" y="873550"/>
            <a:ext cx="3089100" cy="3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4620" lvl="0" marL="182880" rtl="0" algn="l">
              <a:spcBef>
                <a:spcPts val="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Threshold: if output above/lower than the threshold ⇒ good/bad tracks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134620" lvl="0" marL="182880" rtl="0" algn="l">
              <a:spcBef>
                <a:spcPts val="100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Efficiency: Number of good tracks classified as good normalized by the number of events.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134620" lvl="0" marL="182880" rtl="0" algn="l">
              <a:spcBef>
                <a:spcPts val="100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Purity: Number of good tracks classified as good normalized by the number of tracks (good or bad) classified as good. 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iro"/>
              <a:buChar char="-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We have an efficiency of 96%, and a purity of 90% at 0.2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r>
              <a:rPr lang="en"/>
              <a:t> with Proton data: Event Display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50" y="539450"/>
            <a:ext cx="8839197" cy="4260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r>
              <a:rPr lang="en"/>
              <a:t> with </a:t>
            </a:r>
            <a:r>
              <a:rPr baseline="30000" lang="en"/>
              <a:t>4</a:t>
            </a:r>
            <a:r>
              <a:rPr lang="en"/>
              <a:t>He Data: Elastic Scattering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evaluate the performance of the AI, use elastic scattering on 4He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AHDC, want the low momentum </a:t>
            </a:r>
            <a:r>
              <a:rPr baseline="30000" lang="en"/>
              <a:t>4</a:t>
            </a:r>
            <a:r>
              <a:rPr lang="en"/>
              <a:t>He ⇒ use electron in FD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Δϕ using electron and AHDC hits</a:t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4306"/>
            <a:ext cx="9143999" cy="3448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  <a:r>
              <a:rPr lang="en"/>
              <a:t> with </a:t>
            </a:r>
            <a:r>
              <a:rPr baseline="30000" lang="en"/>
              <a:t>4</a:t>
            </a:r>
            <a:r>
              <a:rPr lang="en"/>
              <a:t>He data: AI Efficiency and Purity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Efficiency and purity as a function of the threshold:</a:t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300" y="880075"/>
            <a:ext cx="5816874" cy="39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0" y="873550"/>
            <a:ext cx="3396300" cy="3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4620" lvl="0" marL="182880" rtl="0" algn="l">
              <a:spcBef>
                <a:spcPts val="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Threshold: if output above/lower than the threshold ⇒ good/bad tracks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134620" lvl="0" marL="182880" rtl="0" algn="l">
              <a:spcBef>
                <a:spcPts val="100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Efficiency: Number of good tracks classified as good normalized by the number of events.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134620" lvl="0" marL="182880" rtl="0" algn="l">
              <a:spcBef>
                <a:spcPts val="1000"/>
              </a:spcBef>
              <a:spcAft>
                <a:spcPts val="0"/>
              </a:spcAft>
              <a:buSzPts val="1400"/>
              <a:buFont typeface="Cairo"/>
              <a:buChar char="●"/>
            </a:pPr>
            <a:r>
              <a:rPr lang="en">
                <a:latin typeface="Cairo"/>
                <a:ea typeface="Cairo"/>
                <a:cs typeface="Cairo"/>
                <a:sym typeface="Cairo"/>
              </a:rPr>
              <a:t>Purity: Number of good tracks classified as good normalized by the number of tracks (good or bad) classified as good. </a:t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Cairo"/>
              <a:buChar char="-"/>
            </a:pPr>
            <a:r>
              <a:rPr lang="en" sz="1700">
                <a:latin typeface="Cairo"/>
                <a:ea typeface="Cairo"/>
                <a:cs typeface="Cairo"/>
                <a:sym typeface="Cairo"/>
              </a:rPr>
              <a:t>We have an efficiency of 81%, and a purity of 93% at 0.2</a:t>
            </a:r>
            <a:endParaRPr sz="17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275" y="598100"/>
            <a:ext cx="3584151" cy="27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 AI-Assisted PID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0" y="521100"/>
            <a:ext cx="5404200" cy="4622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Ongoing efforts to deploy AI techniques to improve particle identification by a </a:t>
            </a:r>
            <a:r>
              <a:rPr lang="en">
                <a:highlight>
                  <a:schemeClr val="lt1"/>
                </a:highlight>
              </a:rPr>
              <a:t>teammate</a:t>
            </a:r>
            <a:r>
              <a:rPr lang="en">
                <a:highlight>
                  <a:schemeClr val="lt1"/>
                </a:highlight>
              </a:rPr>
              <a:t> Uditha Weerasinghe:</a:t>
            </a:r>
            <a:endParaRPr>
              <a:highlight>
                <a:schemeClr val="lt1"/>
              </a:highlight>
            </a:endParaRPr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highlight>
                  <a:schemeClr val="lt1"/>
                </a:highlight>
              </a:rPr>
              <a:t>perfect task for machine learning</a:t>
            </a:r>
            <a:endParaRPr sz="1600">
              <a:highlight>
                <a:schemeClr val="lt1"/>
              </a:highlight>
            </a:endParaRPr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highlight>
                  <a:schemeClr val="lt1"/>
                </a:highlight>
              </a:rPr>
              <a:t>can learn non-trivial relations between different track parameters and PID</a:t>
            </a:r>
            <a:endParaRPr sz="1600">
              <a:highlight>
                <a:schemeClr val="lt1"/>
              </a:highlight>
            </a:endParaRPr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MultiLayer </a:t>
            </a:r>
            <a:r>
              <a:rPr lang="en">
                <a:highlight>
                  <a:schemeClr val="lt1"/>
                </a:highlight>
              </a:rPr>
              <a:t>Perceptron</a:t>
            </a:r>
            <a:r>
              <a:rPr lang="en">
                <a:highlight>
                  <a:schemeClr val="lt1"/>
                </a:highlight>
              </a:rPr>
              <a:t> model has been used to classify recoil nuclear-target fragments that are detected by ALERT</a:t>
            </a:r>
            <a:endParaRPr>
              <a:highlight>
                <a:schemeClr val="lt1"/>
              </a:highlight>
            </a:endParaRPr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A set of 27 features to include: </a:t>
            </a:r>
            <a:endParaRPr>
              <a:highlight>
                <a:schemeClr val="lt1"/>
              </a:highlight>
            </a:endParaRPr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highlight>
                  <a:schemeClr val="lt1"/>
                </a:highlight>
              </a:rPr>
              <a:t>momentum, energy deposited, inter-cluster position, AHDC residual, ATOF cluster position,  time, and path length</a:t>
            </a:r>
            <a:r>
              <a:rPr lang="en" sz="1600">
                <a:highlight>
                  <a:schemeClr val="lt1"/>
                </a:highlight>
              </a:rPr>
              <a:t>. </a:t>
            </a:r>
            <a:endParaRPr sz="1600">
              <a:highlight>
                <a:schemeClr val="lt1"/>
              </a:highlight>
            </a:endParaRPr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Main limitation: Quality of the classifier will depend on the MC sample 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 AI-Assisted PID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0" y="937100"/>
            <a:ext cx="8839197" cy="3052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580175" y="557725"/>
            <a:ext cx="33183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For </a:t>
            </a: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reconstructed momentum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5202300" y="557725"/>
            <a:ext cx="33183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For</a:t>
            </a: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generated momentum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1314875" y="3944100"/>
            <a:ext cx="1616700" cy="11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Protons: 83.9 %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Deuterons: 64.9 %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Tritium: 73.7 %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Helium-3: 64.4%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Helium-4: 79.3%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6219250" y="3944100"/>
            <a:ext cx="1575300" cy="11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Protons: 95.3 %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Deuterons: 87.0 %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Tritium: 92.9 %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Helium-3: 75.4%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Helium-4: 89.7%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Outlook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0" y="521100"/>
            <a:ext cx="9144000" cy="43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574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</a:t>
            </a:r>
            <a:r>
              <a:rPr lang="en"/>
              <a:t> MLP have been </a:t>
            </a:r>
            <a:r>
              <a:rPr lang="en"/>
              <a:t>developed</a:t>
            </a:r>
            <a:r>
              <a:rPr lang="en"/>
              <a:t> to improve track finding for ALERT: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Evaluated efficiency and purity as a function of momentum, threshold, and current for </a:t>
            </a:r>
            <a:r>
              <a:rPr lang="en" sz="1600"/>
              <a:t>simulation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Evaluated efficiency and purity as a function of momentum and threshold for</a:t>
            </a:r>
            <a:r>
              <a:rPr lang="en" sz="1600"/>
              <a:t> elastic data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Efficiency is always higher than 90% on proton and 80% on </a:t>
            </a:r>
            <a:r>
              <a:rPr baseline="30000" lang="en" sz="1600"/>
              <a:t>4</a:t>
            </a:r>
            <a:r>
              <a:rPr lang="en" sz="1600"/>
              <a:t>He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Worked on a classifier for the PID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5740" lvl="0" marL="2286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Remaining works: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Matching hit in the ATOF with track in the AHDC using AI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Improve the performance of the PID classifier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