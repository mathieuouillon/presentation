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9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9" r:id="rId23"/>
    <p:sldId id="31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66" autoAdjust="0"/>
    <p:restoredTop sz="94637" autoAdjust="0"/>
  </p:normalViewPr>
  <p:slideViewPr>
    <p:cSldViewPr snapToGrid="0" snapToObjects="1">
      <p:cViewPr varScale="1">
        <p:scale>
          <a:sx n="166" d="100"/>
          <a:sy n="166" d="100"/>
        </p:scale>
        <p:origin x="208" y="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31-03-26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31-03-26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03/31/26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140/epja/i2018-12548-8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909.07879v2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03/31/26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21624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958E8-30F0-8D69-0D21-47118FCF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" y="1433214"/>
            <a:ext cx="11678511" cy="337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8670-351E-6B15-0847-0D3697C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AA01-687F-321D-8FA8-B36D292C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51DB-FC12-4E27-491A-9AA62694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7243-D7B8-A610-342A-0CC10971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B6DD-8A96-0684-8915-E99EC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00FD27-B243-CD34-0D33-986E92D0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39818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Still 34 jobs in to run, they can’t run on the farm</a:t>
            </a:r>
          </a:p>
          <a:p>
            <a:r>
              <a:rPr lang="en-US" sz="2000" dirty="0"/>
              <a:t>I need to run them manually: the decoding failed for these files. </a:t>
            </a:r>
          </a:p>
          <a:p>
            <a:r>
              <a:rPr lang="en-US" sz="2000" dirty="0"/>
              <a:t>Nathan fix the decoder for these files.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DB0C8D-178E-D1B4-78BE-E3A00242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31" y="2472768"/>
            <a:ext cx="3658887" cy="4248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0FBC8-0150-2D74-A703-FC91DDFCF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510" y="2472768"/>
            <a:ext cx="3658563" cy="2542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38BFA1-67C6-3CE1-C398-0A0D14FCA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2474558"/>
            <a:ext cx="3658563" cy="429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0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F1E8-D2E8-7221-2822-51A1E6B3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2B5E-C91B-54DA-6DA1-5E7F5B19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4F62-F716-4BC0-41E3-9BE401D2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5FD46-FEA1-2962-234A-0284D753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4D720-E16F-0D13-2791-C61C45CC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0A7E72-64C3-2C89-21AC-F5661DF1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39818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Still 34 jobs in to run, they can’t run on the farm</a:t>
            </a:r>
          </a:p>
          <a:p>
            <a:r>
              <a:rPr lang="en-US" sz="2000" dirty="0"/>
              <a:t>I need to run them manually: the decoding failed for these files. </a:t>
            </a:r>
          </a:p>
          <a:p>
            <a:r>
              <a:rPr lang="en-US" sz="2000" dirty="0"/>
              <a:t>Nathan fix the decoder for these files.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B9F171-2565-0094-7255-F4F26B99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" y="2434151"/>
            <a:ext cx="3641725" cy="4284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65C8A2-6739-BF09-C340-2F463381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435" y="2434151"/>
            <a:ext cx="3511789" cy="42843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971DD8-544B-AE0E-C79E-906331DDF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2434151"/>
            <a:ext cx="3651176" cy="433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7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676C-CE2F-765D-900D-92285DE1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585B-47FA-80E8-F863-FB3A7FF99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63880"/>
          </a:xfrm>
        </p:spPr>
        <p:txBody>
          <a:bodyPr/>
          <a:lstStyle/>
          <a:p>
            <a:r>
              <a:rPr lang="en-US" dirty="0"/>
              <a:t>I added to the DOE report the pion vertex cut, </a:t>
            </a:r>
            <a:r>
              <a:rPr lang="en-US" dirty="0" err="1"/>
              <a:t>ΔVz</a:t>
            </a:r>
            <a:r>
              <a:rPr lang="en-US" dirty="0"/>
              <a:t> and the </a:t>
            </a:r>
            <a:r>
              <a:rPr lang="en-US" dirty="0" err="1"/>
              <a:t>Δt</a:t>
            </a:r>
            <a:r>
              <a:rPr lang="en-US" dirty="0"/>
              <a:t> vs p cut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0D7F4-BCA7-3CDB-F95C-A68E1A26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3788B-910E-5DE8-C44A-804ADB23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374D9-1A8A-CF25-408D-88BAC0EC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EB3BA-2D83-1E6B-3C42-D6142D7A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884" y="1656481"/>
            <a:ext cx="7218172" cy="508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4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CA20D-4786-488F-02EE-3709E150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BE06-4CB1-79A6-91D2-22A21A21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4BF18-01FD-BA04-C8E6-70BBBE23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C897-C3E1-B2AE-83F7-CCC4D4E3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919A3-6D2D-2FE1-EF36-DDC77D48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8937FB-8648-17BD-5A39-88DE1DED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7629"/>
            <a:ext cx="7772400" cy="55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6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7224-2C08-3424-06EB-CD2FABD0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DBE6-98D5-1F14-D634-EC48C843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19D2-8A98-38FC-0E5F-28BA30FD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E4067-D291-8203-F331-C9119AB7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87C04-7E88-31E0-0DCA-7C7F9237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5BA59C-D9CC-BBBD-4F69-F61C8CA9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7629"/>
            <a:ext cx="7772400" cy="55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A635-9D49-D740-9128-9048F042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4754-8388-74E8-CDF4-A6AAB9D2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52781-4341-4785-AEA7-5949F90B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9BA8C-DE00-6798-13D6-244C11E8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E457A-8333-5EC4-43CC-FE518061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F720C-66A3-58BD-14B2-3C1CDA3ED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4" y="751269"/>
            <a:ext cx="8387363" cy="595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92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D2FA-145A-7625-6CD5-CF8D555B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46D6-3775-D0D6-87DD-8291B7F6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36CCE-8824-EA6F-0032-79EA9A2C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744FA-3268-96CF-969D-61C3B0A5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E1CE3-39CF-FBEF-6DF9-5D589DA1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32252B-6FA6-9FB9-3B31-F8E33DD9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742135"/>
            <a:ext cx="8448963" cy="599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0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09C2-065F-C71B-6B03-01EFB5A6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C0C0-0BF3-1C6D-096E-130940D3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31B9D-1684-9B5C-20F2-7DD9F783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13486-EE18-7BC2-9D29-1306D03E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48323-66E8-6244-0837-2B36FBF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AF9F3E-ECD4-6BFF-2836-6F681383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0" y="1003009"/>
            <a:ext cx="10675173" cy="449538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E2711E-D5A3-291F-9C9A-3E9FB3A47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24" y="5580799"/>
            <a:ext cx="10972800" cy="548384"/>
          </a:xfrm>
        </p:spPr>
        <p:txBody>
          <a:bodyPr>
            <a:normAutofit/>
          </a:bodyPr>
          <a:lstStyle/>
          <a:p>
            <a:r>
              <a:rPr lang="en-US" sz="2000" dirty="0"/>
              <a:t>I want to check the impact of sector depend cuts on ρ</a:t>
            </a:r>
            <a:r>
              <a:rPr lang="en-US" sz="2000" baseline="30000" dirty="0"/>
              <a:t>0 </a:t>
            </a:r>
            <a:r>
              <a:rPr lang="en-US" sz="2000" dirty="0"/>
              <a:t>yields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71312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6221-5E75-A582-05FB-C7A49695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46D7B-3E6D-044F-65B8-9231CDE1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A225E-CF11-025D-6FBC-116226D2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AAC9-BBFC-7269-CE39-941C2386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A7A233-05D5-0743-ADC8-7034C57AB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" y="1369551"/>
            <a:ext cx="10982192" cy="450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6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470D-FDF1-803D-05AF-5CB02E62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0EA6-85D1-30DF-0F4A-6BCA4F1A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4B95B-EF80-A377-2DEA-1CB2E427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5A483-A8B7-47A5-EEC2-A0DB5747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FAD46-88AF-CA29-B0C2-35A1D1D1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176344-8977-6075-B74B-868763A7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350015"/>
            <a:ext cx="11303000" cy="463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9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8472-6A43-2540-B1F4-769A36A1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1E59-D501-8E40-5FAF-CF719A00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Pion cuts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A0BF6-90E0-A314-786F-00ED83F4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3AD0-DE88-D504-3056-91D3E09F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FB448-644C-4787-268C-7F6EA70C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3D3640-DCE6-3A71-7DEE-751A0D75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0" y="1348459"/>
            <a:ext cx="11376359" cy="466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09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EEF1-1061-FC42-F635-E7B7D456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1FBAC-9705-BCAF-DE9F-8ABA0933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AD773-4F9C-490E-C7FE-061A1499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84B94-0733-FE6F-ED56-C085EF00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5DF2-4BB2-5E08-E475-D814F757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CD8EE3-0037-1E33-B5F4-ED74B4D5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get the background event for all the 6 configurations (target, and torus polarity)</a:t>
            </a:r>
          </a:p>
          <a:p>
            <a:r>
              <a:rPr lang="en-US" sz="2000" dirty="0"/>
              <a:t>I fix the bug from last week: it was a issue this the </a:t>
            </a:r>
            <a:r>
              <a:rPr lang="en-US" sz="2000" dirty="0" err="1"/>
              <a:t>jcache</a:t>
            </a:r>
            <a:r>
              <a:rPr lang="en-US" sz="2000" dirty="0"/>
              <a:t> command to get the decoded files, the command sometimes fail when use *.</a:t>
            </a:r>
            <a:r>
              <a:rPr lang="en-US" sz="2000" dirty="0" err="1"/>
              <a:t>hipo</a:t>
            </a:r>
            <a:r>
              <a:rPr lang="en-US" sz="2000" dirty="0"/>
              <a:t> to get all </a:t>
            </a:r>
            <a:r>
              <a:rPr lang="en-US" sz="2000" dirty="0" err="1"/>
              <a:t>hipo</a:t>
            </a:r>
            <a:r>
              <a:rPr lang="en-US" sz="2000" dirty="0"/>
              <a:t> files in a folder.</a:t>
            </a:r>
          </a:p>
          <a:p>
            <a:endParaRPr lang="en-US" sz="2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64400C-30A0-2BF5-35DF-DB3287D10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003136"/>
              </p:ext>
            </p:extLst>
          </p:nvPr>
        </p:nvGraphicFramePr>
        <p:xfrm>
          <a:off x="170873" y="2567940"/>
          <a:ext cx="11559541" cy="30403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70624">
                  <a:extLst>
                    <a:ext uri="{9D8B030D-6E8A-4147-A177-3AD203B41FA5}">
                      <a16:colId xmlns:a16="http://schemas.microsoft.com/office/drawing/2014/main" val="956114472"/>
                    </a:ext>
                  </a:extLst>
                </a:gridCol>
                <a:gridCol w="1032102">
                  <a:extLst>
                    <a:ext uri="{9D8B030D-6E8A-4147-A177-3AD203B41FA5}">
                      <a16:colId xmlns:a16="http://schemas.microsoft.com/office/drawing/2014/main" val="885965371"/>
                    </a:ext>
                  </a:extLst>
                </a:gridCol>
                <a:gridCol w="1032102">
                  <a:extLst>
                    <a:ext uri="{9D8B030D-6E8A-4147-A177-3AD203B41FA5}">
                      <a16:colId xmlns:a16="http://schemas.microsoft.com/office/drawing/2014/main" val="3937924656"/>
                    </a:ext>
                  </a:extLst>
                </a:gridCol>
                <a:gridCol w="1651363">
                  <a:extLst>
                    <a:ext uri="{9D8B030D-6E8A-4147-A177-3AD203B41FA5}">
                      <a16:colId xmlns:a16="http://schemas.microsoft.com/office/drawing/2014/main" val="4232160756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3433259611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3190212007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907291542"/>
                    </a:ext>
                  </a:extLst>
                </a:gridCol>
                <a:gridCol w="1238521">
                  <a:extLst>
                    <a:ext uri="{9D8B030D-6E8A-4147-A177-3AD203B41FA5}">
                      <a16:colId xmlns:a16="http://schemas.microsoft.com/office/drawing/2014/main" val="3161150000"/>
                    </a:ext>
                  </a:extLst>
                </a:gridCol>
              </a:tblGrid>
              <a:tr h="2234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beam_current_request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target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n_runs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total_events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torus_scale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pct_events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Fira Sans" panose="020B0503050000020004" pitchFamily="34" charset="0"/>
                        </a:rPr>
                        <a:t>pct_filtered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pct_diff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8303453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130.0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550,916,728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47.28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52.62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5.34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1332232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496,105,782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42.58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47.38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4.80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20487510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Fira Sans" panose="020B0503050000020004" pitchFamily="34" charset="0"/>
                        </a:rPr>
                        <a:t>CxC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373,558,009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86.76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13.24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3400371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35.0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706,491,728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57.86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70.55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12.69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37732678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294,980,214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5.29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68489040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3,636,858,354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19.89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20.24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58867393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95.0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9,856,091,334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53.91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54.85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0.94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3574299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4,475,796,456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0.43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57001435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CxC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8,797,963,851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99.32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0.68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55875556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2,798,555,356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27.87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29.72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1.85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22816477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86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6,618,079,189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65.92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4.36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914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24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1A59-D230-E838-F478-06028D99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A1D6-3D6F-1E3C-57CC-23E66EFC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96A9E-604A-6788-D4C4-DEBC772C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AAA75-E4A4-4786-4409-3AF41DE1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7EF13-B55E-EDF4-5908-CCA1C4F1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3FD406-DEA6-046D-02B7-DBA1B7870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get the background event for all the 6 configurations (target, and torus polarity)</a:t>
            </a: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9AA65E-79F9-DC66-8A4E-4FAB1AA2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2" y="1677924"/>
            <a:ext cx="5120278" cy="4283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EA52A-B597-7B29-A879-23E18423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877" y="1641408"/>
            <a:ext cx="5208319" cy="43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22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EA49-DBEC-CC13-478D-9F829DDF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BB8C-FBC9-136D-5368-60A81A0F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100E0-B0B7-41EA-A388-16A95585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9A6CA-04CE-F87A-4782-4045B069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A8954-31D3-52EB-591D-0C079E56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C7293C-E050-C6F0-DE92-048C40222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get the background event for all the 6 configurations (target, and torus polarity)</a:t>
            </a:r>
          </a:p>
          <a:p>
            <a:r>
              <a:rPr lang="en-US" sz="2000" dirty="0"/>
              <a:t>I asked Raffaella about that why 2M events, and she said they use this value after some test for RG-A/B to have enough events for background merging and not reusing events to much and not using too much disk space on work.</a:t>
            </a:r>
          </a:p>
          <a:p>
            <a:r>
              <a:rPr lang="en-US" sz="2000" dirty="0"/>
              <a:t>Discussed with Mauri about moving them to work/</a:t>
            </a:r>
            <a:r>
              <a:rPr lang="en-US" sz="2000" dirty="0" err="1"/>
              <a:t>osgpull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files are now in /work/</a:t>
            </a:r>
            <a:r>
              <a:rPr lang="en-US" sz="2000" dirty="0" err="1"/>
              <a:t>osgpull</a:t>
            </a:r>
            <a:r>
              <a:rPr lang="en-US" sz="2000" dirty="0"/>
              <a:t>/…</a:t>
            </a:r>
          </a:p>
          <a:p>
            <a:r>
              <a:rPr lang="en-US" sz="2000" dirty="0"/>
              <a:t>I need to do a pull request to clas12-config to make them available in OSG</a:t>
            </a: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1C027-1D07-D6AC-82D2-AEFA3924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" y="4555646"/>
            <a:ext cx="12004776" cy="53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8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892C-145B-BD57-20A6-B09EED7E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4FE5-BB82-71B4-CB10-1375F405B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Implement the mixing event technique for the multidimensional binning</a:t>
            </a:r>
          </a:p>
          <a:p>
            <a:r>
              <a:rPr lang="en-US" sz="2000" dirty="0"/>
              <a:t>Photons from different events in the same DIS kinematic bin are paired to build a background shape, which is then subtracted from the same-event distribution</a:t>
            </a:r>
          </a:p>
          <a:p>
            <a:r>
              <a:rPr lang="en-US" sz="2000" dirty="0"/>
              <a:t>Pooling &amp; Binning:</a:t>
            </a:r>
          </a:p>
          <a:p>
            <a:pPr lvl="1"/>
            <a:r>
              <a:rPr lang="en-US" sz="1800" dirty="0"/>
              <a:t>Photons are pooled per DIS bin defined by (Q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): events in the same bin are kinematically similar</a:t>
            </a:r>
          </a:p>
          <a:p>
            <a:pPr lvl="1"/>
            <a:r>
              <a:rPr lang="en-US" sz="1800" dirty="0"/>
              <a:t>Mix 50 photons</a:t>
            </a:r>
          </a:p>
          <a:p>
            <a:pPr lvl="1"/>
            <a:r>
              <a:rPr lang="en-US" sz="1800" dirty="0"/>
              <a:t>Q</a:t>
            </a:r>
            <a:r>
              <a:rPr lang="en-US" sz="1800" baseline="30000" dirty="0"/>
              <a:t>2</a:t>
            </a:r>
            <a:r>
              <a:rPr lang="en-US" sz="1800" dirty="0"/>
              <a:t> edges: [1.0, 1.5, 2.0, 2.5, 3.0, 4.0, 5.0, 7.0, 11.0] (8 bins)</a:t>
            </a:r>
          </a:p>
          <a:p>
            <a:pPr lvl="1"/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 edges: [0.1, 0.15, 0.2, 0.25, 0.3, 0.4, 0.5, 0.7] (7 bins)</a:t>
            </a:r>
          </a:p>
          <a:p>
            <a:pPr lvl="1"/>
            <a:r>
              <a:rPr lang="en-US" sz="1800" dirty="0"/>
              <a:t>Total DIS bins: 8 × 7 = 56</a:t>
            </a:r>
          </a:p>
          <a:p>
            <a:r>
              <a:rPr lang="en-US" sz="2000" dirty="0"/>
              <a:t>4D binning: Q</a:t>
            </a:r>
            <a:r>
              <a:rPr lang="en-US" sz="2000" baseline="30000" dirty="0"/>
              <a:t>2</a:t>
            </a:r>
            <a:r>
              <a:rPr lang="en-US" sz="2000" dirty="0"/>
              <a:t>×x</a:t>
            </a:r>
            <a:r>
              <a:rPr lang="en-US" sz="2000" baseline="-25000" dirty="0"/>
              <a:t>B</a:t>
            </a:r>
            <a:r>
              <a:rPr lang="en-US" sz="2000" dirty="0"/>
              <a:t>×z×p</a:t>
            </a:r>
            <a:r>
              <a:rPr lang="en-US" sz="2000" baseline="-25000" dirty="0"/>
              <a:t>T</a:t>
            </a:r>
            <a:r>
              <a:rPr lang="en-US" sz="2000" dirty="0"/>
              <a:t> (8×7×8×3 = 1344 bins)</a:t>
            </a:r>
          </a:p>
          <a:p>
            <a:r>
              <a:rPr lang="en-US" sz="2000" dirty="0"/>
              <a:t>z edges: [0.0, 0.15, 0.25, 0.35, 0.45, 0.55, 0.65, 0.8, 1.0]</a:t>
            </a:r>
          </a:p>
          <a:p>
            <a:r>
              <a:rPr lang="en-US" sz="2000" dirty="0" err="1"/>
              <a:t>pT</a:t>
            </a:r>
            <a:r>
              <a:rPr lang="en-US" sz="2000" dirty="0"/>
              <a:t> edges: [0.0, 0.15, 0.30, 0.50]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2DE1C-A61A-1A76-753A-D4144323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C9C29-2C69-22DF-C498-8C258214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51DD-1AC5-3CC0-6FC3-2F571D1B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03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4108-E6D4-90CB-1567-120AD555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3C04-28C0-F3EA-BD85-D39399E9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A36C8-9424-9BA1-046B-F141CF77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63F4D-444F-9042-75D0-0EC795F16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075B7-C493-120E-6DC0-FA814DAF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A5A5F4-CF77-A07E-C9E4-1FD81A3E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220" y="92841"/>
            <a:ext cx="7601645" cy="662863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CD236A-F691-1498-13EF-3361FA86E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5560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LD2 Target </a:t>
            </a:r>
          </a:p>
          <a:p>
            <a:r>
              <a:rPr lang="en-US" sz="2000" dirty="0"/>
              <a:t>1% of the data</a:t>
            </a:r>
          </a:p>
          <a:p>
            <a:r>
              <a:rPr lang="en-US" sz="2000" dirty="0"/>
              <a:t>50 photons for the mixing</a:t>
            </a:r>
          </a:p>
        </p:txBody>
      </p:sp>
    </p:spTree>
    <p:extLst>
      <p:ext uri="{BB962C8B-B14F-4D97-AF65-F5344CB8AC3E}">
        <p14:creationId xmlns:p14="http://schemas.microsoft.com/office/powerpoint/2010/main" val="1319832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5B9-D06E-CCB3-95C1-43452FE6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Graph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6E6D-E053-7E9D-5F13-0FE8BBA4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9680"/>
            <a:ext cx="4319978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The goal of track reconstruction:</a:t>
            </a:r>
          </a:p>
          <a:p>
            <a:pPr lvl="1"/>
            <a:r>
              <a:rPr lang="en-US" sz="1800" dirty="0"/>
              <a:t>Given set of hits in a detector from particles, assign label(s) to each hit.</a:t>
            </a:r>
          </a:p>
          <a:p>
            <a:pPr lvl="1"/>
            <a:r>
              <a:rPr lang="en-US" sz="1800" dirty="0"/>
              <a:t>Perfect classification: All hits from a particle (and only those hits) share the same label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83AA-D6FF-3753-EC17-EB913BFA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7E8F4-CEF3-7EA0-B852-89E5239F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13A55-D499-3B81-C4C3-D3C1087F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AE1CE-25D5-D042-0980-9C1DB1DE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78" y="1249680"/>
            <a:ext cx="7772400" cy="262211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F7171-06B1-D402-0139-FD683B145867}"/>
              </a:ext>
            </a:extLst>
          </p:cNvPr>
          <p:cNvSpPr txBox="1">
            <a:spLocks/>
          </p:cNvSpPr>
          <p:nvPr/>
        </p:nvSpPr>
        <p:spPr>
          <a:xfrm>
            <a:off x="0" y="3871797"/>
            <a:ext cx="11894884" cy="2198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000" dirty="0"/>
          </a:p>
          <a:p>
            <a:r>
              <a:rPr lang="en-US" sz="2000" dirty="0"/>
              <a:t>What does it mean to represent an event with a graph?</a:t>
            </a:r>
          </a:p>
          <a:p>
            <a:pPr lvl="1"/>
            <a:r>
              <a:rPr lang="en-US" sz="1800" dirty="0"/>
              <a:t>Treat each hit as a node</a:t>
            </a:r>
          </a:p>
          <a:p>
            <a:pPr lvl="1"/>
            <a:r>
              <a:rPr lang="en-US" sz="1800" dirty="0"/>
              <a:t>A node can have features (e.g. position, charge deposit, etc.)</a:t>
            </a:r>
          </a:p>
          <a:p>
            <a:pPr lvl="1"/>
            <a:r>
              <a:rPr lang="en-US" sz="1800" dirty="0"/>
              <a:t>Nodes can be connected by edges, that represent the possibility of belonging to the same track</a:t>
            </a:r>
          </a:p>
          <a:p>
            <a:pPr lvl="1"/>
            <a:r>
              <a:rPr lang="en-US" sz="1800" dirty="0"/>
              <a:t>Goal: classify edges as "same track" or "different track" to reconstruct particle trajectories</a:t>
            </a:r>
          </a:p>
        </p:txBody>
      </p:sp>
      <p:sp>
        <p:nvSpPr>
          <p:cNvPr id="9" name="Google Shape;170;p28">
            <a:extLst>
              <a:ext uri="{FF2B5EF4-FFF2-40B4-BE49-F238E27FC236}">
                <a16:creationId xmlns:a16="http://schemas.microsoft.com/office/drawing/2014/main" id="{1526391F-7C97-93AB-B3F5-8A81EBD94EF3}"/>
              </a:ext>
            </a:extLst>
          </p:cNvPr>
          <p:cNvSpPr txBox="1"/>
          <p:nvPr/>
        </p:nvSpPr>
        <p:spPr>
          <a:xfrm>
            <a:off x="8490856" y="787645"/>
            <a:ext cx="340402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3"/>
              </a:rPr>
              <a:t>Feren</a:t>
            </a: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3"/>
              </a:rPr>
              <a:t>c S</a:t>
            </a: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3"/>
              </a:rPr>
              <a:t>ikler CTD 201</a:t>
            </a: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3"/>
              </a:rPr>
              <a:t>7</a:t>
            </a: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3"/>
              </a:rPr>
              <a:t> </a:t>
            </a:r>
            <a:r>
              <a:rPr lang="en" sz="1600" dirty="0">
                <a:latin typeface="Fira Sans" panose="020B0503050000020004" pitchFamily="34" charset="0"/>
              </a:rPr>
              <a:t> </a:t>
            </a:r>
            <a:r>
              <a:rPr lang="en" sz="1600" u="sng" dirty="0">
                <a:solidFill>
                  <a:schemeClr val="hlink"/>
                </a:solidFill>
                <a:latin typeface="Fira Sans" panose="020B0503050000020004" pitchFamily="34" charset="0"/>
                <a:hlinkClick r:id="rId4"/>
              </a:rPr>
              <a:t>CTD 2019</a:t>
            </a:r>
            <a:endParaRPr sz="1600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02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2B20-662F-F404-1AA2-3BF79328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AA13-46FB-C5E1-CAED-B1FF31F5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Graph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848C-0B73-8141-A796-5F5F15DF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F4FC-3F34-861B-0268-7F4906A6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E7F98-356D-BC07-EFF0-F5F70E32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609CC1-13CA-399E-8DD3-33C8A164D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8" y="1364381"/>
            <a:ext cx="12005482" cy="273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35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08D2-0C91-06BC-1FC3-6FAD4FFB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9034-9E7D-E505-5051-474BFEBD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Graph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01109-012B-338C-EA22-63931BC5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70CD9-FD02-B7CF-EC06-BDFAE535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1741-F2D0-BC61-4113-5FDC411A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49B5-008A-D952-6C9F-B1180E2E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 Graph Construction</a:t>
            </a:r>
          </a:p>
          <a:p>
            <a:r>
              <a:rPr lang="en-US" dirty="0"/>
              <a:t>Nodes = detector hits (AHDC wires, ATOF bars and wedge)</a:t>
            </a:r>
          </a:p>
          <a:p>
            <a:pPr lvl="1"/>
            <a:r>
              <a:rPr lang="en-US" dirty="0"/>
              <a:t>Features: layer position, azimuthal angle, stereo angle and radius for AHDC hits</a:t>
            </a:r>
          </a:p>
          <a:p>
            <a:pPr lvl="1"/>
            <a:r>
              <a:rPr lang="en-US" dirty="0"/>
              <a:t>Wedge x, y and z</a:t>
            </a:r>
          </a:p>
          <a:p>
            <a:pPr lvl="1"/>
            <a:r>
              <a:rPr lang="en-US" dirty="0"/>
              <a:t>Bar x and y</a:t>
            </a:r>
          </a:p>
          <a:p>
            <a:r>
              <a:rPr lang="en-US" dirty="0"/>
              <a:t>Edges = candidate connections between hits in adjacent layers</a:t>
            </a:r>
          </a:p>
          <a:p>
            <a:pPr lvl="1"/>
            <a:r>
              <a:rPr lang="en-US" dirty="0"/>
              <a:t>Constraints: layer gap of 1–2, Euclidean proximity in (x, y) </a:t>
            </a:r>
          </a:p>
          <a:p>
            <a:pPr lvl="1"/>
            <a:r>
              <a:rPr lang="en-US" dirty="0"/>
              <a:t>Features: delta-phi, delta-layer</a:t>
            </a:r>
          </a:p>
          <a:p>
            <a:pPr lvl="1"/>
            <a:r>
              <a:rPr lang="en-US" dirty="0"/>
              <a:t>Directed graph: inner layers → outer layers (follows particle trajectory)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8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49FD-D2F9-F67E-35CB-1E9A8F29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AC7A-7547-6842-15C1-A6EF2F1D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Graph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A64AB-A5D3-FF05-6FBA-C0A24314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BFF0-D34E-2370-2FD1-44A9DDC8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BEE5-DB22-D632-D376-F8DFCBE0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B2D7-96E3-D2D3-76EC-E47A83401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 Edge Classification</a:t>
            </a:r>
          </a:p>
          <a:p>
            <a:r>
              <a:rPr lang="en-US" sz="1800" dirty="0"/>
              <a:t>Use the information from edge and neighbor nodes to predicts if an edge belongs to a true track segment with a score from 0 to 1</a:t>
            </a:r>
          </a:p>
          <a:p>
            <a:r>
              <a:rPr lang="en-US" sz="1800" dirty="0"/>
              <a:t>Score ≈ 1 means these two hits very likely belong to the same track</a:t>
            </a:r>
          </a:p>
          <a:p>
            <a:r>
              <a:rPr lang="en-US" sz="1800" dirty="0"/>
              <a:t>Score ≈ 0 means likely different tracks or 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3 Graph Segmentation: From Scores to Tracks</a:t>
            </a:r>
          </a:p>
          <a:p>
            <a:r>
              <a:rPr lang="en-US" sz="2000" dirty="0"/>
              <a:t>A threshold (e.g., 0.5) is applied to edge scores, removing low-confidence edges</a:t>
            </a:r>
          </a:p>
          <a:p>
            <a:r>
              <a:rPr lang="en-US" sz="2000" dirty="0"/>
              <a:t>The remaining high-score edges form connected subgraphs: each connected graph is a track candidate</a:t>
            </a:r>
          </a:p>
          <a:p>
            <a:r>
              <a:rPr lang="en-US" sz="2000" dirty="0"/>
              <a:t>Ambiguities (nodes connected to multiple candidate tracks) are resolved by higher threshold</a:t>
            </a:r>
          </a:p>
        </p:txBody>
      </p:sp>
    </p:spTree>
    <p:extLst>
      <p:ext uri="{BB962C8B-B14F-4D97-AF65-F5344CB8AC3E}">
        <p14:creationId xmlns:p14="http://schemas.microsoft.com/office/powerpoint/2010/main" val="53768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3434-FFAA-23E8-3495-ECD0D414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1705-D65C-BB7E-5DC8-1DBC5663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Graph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7238C-BCCA-962D-F523-6E810B20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5AEA2-D342-8D72-8FCA-69FB8809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92555-18C6-CE5F-2C1B-04FA23C6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3C967-D729-1599-4F16-63BA36CA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045" y="-4542"/>
            <a:ext cx="6769632" cy="67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9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0B18-A4F7-1D81-1070-A5EF48BE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88E9-D918-2CB6-D9DC-2265DDB3F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96340"/>
            <a:ext cx="11986260" cy="50596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RG-D:</a:t>
            </a:r>
          </a:p>
          <a:p>
            <a:r>
              <a:rPr lang="en-US" dirty="0"/>
              <a:t>Background for ρ</a:t>
            </a:r>
            <a:r>
              <a:rPr lang="en-US" baseline="30000" dirty="0"/>
              <a:t>0</a:t>
            </a:r>
            <a:r>
              <a:rPr lang="en-US" dirty="0"/>
              <a:t> with simulation</a:t>
            </a:r>
          </a:p>
          <a:p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 </a:t>
            </a:r>
          </a:p>
          <a:p>
            <a:pPr lvl="1"/>
            <a:r>
              <a:rPr lang="en-US" dirty="0"/>
              <a:t>Maybe simulation will not work (maybe the </a:t>
            </a:r>
            <a:r>
              <a:rPr lang="en-US" dirty="0" err="1"/>
              <a:t>sPlot</a:t>
            </a:r>
            <a:r>
              <a:rPr lang="en-US" dirty="0"/>
              <a:t> technique)</a:t>
            </a:r>
          </a:p>
          <a:p>
            <a:r>
              <a:rPr lang="en-US" dirty="0"/>
              <a:t>Continue to work on the π</a:t>
            </a:r>
            <a:r>
              <a:rPr lang="en-US" baseline="30000" dirty="0"/>
              <a:t>0</a:t>
            </a:r>
            <a:r>
              <a:rPr lang="en-US" dirty="0"/>
              <a:t> analysis:</a:t>
            </a:r>
          </a:p>
          <a:p>
            <a:pPr lvl="1"/>
            <a:r>
              <a:rPr lang="en-US" dirty="0"/>
              <a:t>The difference in invariant mass at high value between same event and mixed</a:t>
            </a:r>
          </a:p>
          <a:p>
            <a:pPr lvl="1"/>
            <a:r>
              <a:rPr lang="en-US" dirty="0"/>
              <a:t>Extraction of the azimuthal sin and cos phi modulation</a:t>
            </a:r>
          </a:p>
          <a:p>
            <a:pPr lvl="1"/>
            <a:r>
              <a:rPr lang="en-US" dirty="0"/>
              <a:t>Work on the binning</a:t>
            </a:r>
          </a:p>
          <a:p>
            <a:pPr lvl="1"/>
            <a:r>
              <a:rPr lang="en-US" dirty="0"/>
              <a:t>Radiative and acceptance correction</a:t>
            </a:r>
          </a:p>
          <a:p>
            <a:r>
              <a:rPr lang="en-US" dirty="0"/>
              <a:t>Work on the RG-D Common analysis note to add pion cuts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ALERT:</a:t>
            </a:r>
          </a:p>
          <a:p>
            <a:r>
              <a:rPr lang="en-US" dirty="0"/>
              <a:t>Continue the work on Graph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467E-E16E-B3BB-473F-9358B861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03/31/26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6CE8E-A65D-3795-FB76-5060DC60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0B29-0A2C-84A9-10C4-CF8F85B9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11885</TotalTime>
  <Words>1160</Words>
  <Application>Microsoft Macintosh PowerPoint</Application>
  <PresentationFormat>Widescreen</PresentationFormat>
  <Paragraphs>265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Fira Sans</vt:lpstr>
      <vt:lpstr>Fira Sans Book</vt:lpstr>
      <vt:lpstr>Fira Sans Light</vt:lpstr>
      <vt:lpstr>Office Theme</vt:lpstr>
      <vt:lpstr>Group meeting</vt:lpstr>
      <vt:lpstr>RG-D: cooking</vt:lpstr>
      <vt:lpstr>RG-D: cooking</vt:lpstr>
      <vt:lpstr>RG-D: cooking</vt:lpstr>
      <vt:lpstr>RG-D: Pion cuts </vt:lpstr>
      <vt:lpstr>RG-D: Pion cuts </vt:lpstr>
      <vt:lpstr>RG-D: Pion cuts </vt:lpstr>
      <vt:lpstr>RG-D: Pion cuts </vt:lpstr>
      <vt:lpstr>RG-D: Pion cuts </vt:lpstr>
      <vt:lpstr>RG-D: Pion cuts </vt:lpstr>
      <vt:lpstr>RG-D: Pion cuts </vt:lpstr>
      <vt:lpstr>RG-D: Pion cuts </vt:lpstr>
      <vt:lpstr>RG-D: Pion cuts </vt:lpstr>
      <vt:lpstr>RG-D: Background merging</vt:lpstr>
      <vt:lpstr>RG-D: Background merging</vt:lpstr>
      <vt:lpstr>RG-D: Background merging</vt:lpstr>
      <vt:lpstr>RG-D: π0 analysis </vt:lpstr>
      <vt:lpstr>RG-D: π0 analysis </vt:lpstr>
      <vt:lpstr>ALERT: Graph Neural Network</vt:lpstr>
      <vt:lpstr>ALERT: Graph Neural Network</vt:lpstr>
      <vt:lpstr>ALERT: Graph Neural Network</vt:lpstr>
      <vt:lpstr>ALERT: Graph Neural Network</vt:lpstr>
      <vt:lpstr>ALERT: Graph Neural Network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530</cp:revision>
  <dcterms:created xsi:type="dcterms:W3CDTF">2019-12-03T01:04:10Z</dcterms:created>
  <dcterms:modified xsi:type="dcterms:W3CDTF">2026-03-31T20:14:12Z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