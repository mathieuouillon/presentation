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5143500" cx="9144000"/>
  <p:notesSz cx="6858000" cy="9144000"/>
  <p:embeddedFontLst>
    <p:embeddedFont>
      <p:font typeface="Fira Sans ExtraLight"/>
      <p:regular r:id="rId36"/>
      <p:bold r:id="rId37"/>
      <p:italic r:id="rId38"/>
      <p:boldItalic r:id="rId39"/>
    </p:embeddedFont>
    <p:embeddedFont>
      <p:font typeface="Nunito"/>
      <p:regular r:id="rId40"/>
      <p:bold r:id="rId41"/>
      <p:italic r:id="rId42"/>
      <p:boldItalic r:id="rId43"/>
    </p:embeddedFont>
    <p:embeddedFont>
      <p:font typeface="Fira Sans Medium"/>
      <p:regular r:id="rId44"/>
      <p:bold r:id="rId45"/>
      <p:italic r:id="rId46"/>
      <p:boldItalic r:id="rId47"/>
    </p:embeddedFont>
    <p:embeddedFont>
      <p:font typeface="Nunito Medium"/>
      <p:regular r:id="rId48"/>
      <p:bold r:id="rId49"/>
      <p:italic r:id="rId50"/>
      <p:boldItalic r:id="rId51"/>
    </p:embeddedFont>
    <p:embeddedFont>
      <p:font typeface="Fira Sans"/>
      <p:regular r:id="rId52"/>
      <p:bold r:id="rId53"/>
      <p:italic r:id="rId54"/>
      <p:boldItalic r:id="rId55"/>
    </p:embeddedFont>
    <p:embeddedFont>
      <p:font typeface="Fira Sans Ligh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5995E9-97B1-4BC0-9FE7-45BCDA8F77F2}">
  <a:tblStyle styleId="{535995E9-97B1-4BC0-9FE7-45BCDA8F77F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44" Type="http://schemas.openxmlformats.org/officeDocument/2006/relationships/font" Target="fonts/FiraSansMedium-regular.fntdata"/><Relationship Id="rId43" Type="http://schemas.openxmlformats.org/officeDocument/2006/relationships/font" Target="fonts/Nunito-boldItalic.fntdata"/><Relationship Id="rId46" Type="http://schemas.openxmlformats.org/officeDocument/2006/relationships/font" Target="fonts/FiraSansMedium-italic.fntdata"/><Relationship Id="rId45" Type="http://schemas.openxmlformats.org/officeDocument/2006/relationships/font" Target="fonts/FiraSa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NunitoMedium-regular.fntdata"/><Relationship Id="rId47" Type="http://schemas.openxmlformats.org/officeDocument/2006/relationships/font" Target="fonts/FiraSansMedium-boldItalic.fntdata"/><Relationship Id="rId49" Type="http://schemas.openxmlformats.org/officeDocument/2006/relationships/font" Target="fonts/Nunito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FiraSansExtraLight-bold.fntdata"/><Relationship Id="rId36" Type="http://schemas.openxmlformats.org/officeDocument/2006/relationships/font" Target="fonts/FiraSansExtraLight-regular.fntdata"/><Relationship Id="rId39" Type="http://schemas.openxmlformats.org/officeDocument/2006/relationships/font" Target="fonts/FiraSansExtraLight-boldItalic.fntdata"/><Relationship Id="rId38" Type="http://schemas.openxmlformats.org/officeDocument/2006/relationships/font" Target="fonts/FiraSansExtraLight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NunitoMedium-boldItalic.fntdata"/><Relationship Id="rId50" Type="http://schemas.openxmlformats.org/officeDocument/2006/relationships/font" Target="fonts/NunitoMedium-italic.fntdata"/><Relationship Id="rId53" Type="http://schemas.openxmlformats.org/officeDocument/2006/relationships/font" Target="fonts/FiraSans-bold.fntdata"/><Relationship Id="rId52" Type="http://schemas.openxmlformats.org/officeDocument/2006/relationships/font" Target="fonts/FiraSans-regular.fntdata"/><Relationship Id="rId11" Type="http://schemas.openxmlformats.org/officeDocument/2006/relationships/slide" Target="slides/slide4.xml"/><Relationship Id="rId55" Type="http://schemas.openxmlformats.org/officeDocument/2006/relationships/font" Target="fonts/FiraSans-boldItalic.fntdata"/><Relationship Id="rId10" Type="http://schemas.openxmlformats.org/officeDocument/2006/relationships/slide" Target="slides/slide3.xml"/><Relationship Id="rId54" Type="http://schemas.openxmlformats.org/officeDocument/2006/relationships/font" Target="fonts/FiraSans-italic.fntdata"/><Relationship Id="rId13" Type="http://schemas.openxmlformats.org/officeDocument/2006/relationships/slide" Target="slides/slide6.xml"/><Relationship Id="rId57" Type="http://schemas.openxmlformats.org/officeDocument/2006/relationships/font" Target="fonts/FiraSansLight-bold.fntdata"/><Relationship Id="rId12" Type="http://schemas.openxmlformats.org/officeDocument/2006/relationships/slide" Target="slides/slide5.xml"/><Relationship Id="rId56" Type="http://schemas.openxmlformats.org/officeDocument/2006/relationships/font" Target="fonts/FiraSansLight-regular.fntdata"/><Relationship Id="rId15" Type="http://schemas.openxmlformats.org/officeDocument/2006/relationships/slide" Target="slides/slide8.xml"/><Relationship Id="rId59" Type="http://schemas.openxmlformats.org/officeDocument/2006/relationships/font" Target="fonts/FiraSansLight-boldItalic.fntdata"/><Relationship Id="rId14" Type="http://schemas.openxmlformats.org/officeDocument/2006/relationships/slide" Target="slides/slide7.xml"/><Relationship Id="rId58" Type="http://schemas.openxmlformats.org/officeDocument/2006/relationships/font" Target="fonts/FiraSansLight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b208be983_2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cb208be983_2_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b208be983_2_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7938ef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57938ef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6bcc0e9a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6bcc0e9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b251870f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b251870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6bcc0e9a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6bcc0e9a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6bcc0e9a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6bcc0e9a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6bcc0e9a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6bcc0e9a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6bcc0e9a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86bcc0e9a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86bcc0e9a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86bcc0e9a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86bcc0e9a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86bcc0e9a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86bcc0e9a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86bcc0e9a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6bcc0e9a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86bcc0e9a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86bcc0e9a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86bcc0e9a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86bcc0e9a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86bcc0e9a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86bcc0e9a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86bcc0e9a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cc976e0e8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cc976e0e8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86bcc0e9a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86bcc0e9a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cc976e0e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cc976e0e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86bcc0e9a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86bcc0e9a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86bcc0e9a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86bcc0e9a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86bcc0e9a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86bcc0e9a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86bcc0e9a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86bcc0e9a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cc30e29d6c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cc30e29d6c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c976e0e8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cc976e0e8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86bcc0e9a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86bcc0e9a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cc976e0e8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cc976e0e8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86bcc0e9a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86bcc0e9a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cc976e0e8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cc976e0e8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AFAF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4"/>
          <p:cNvSpPr/>
          <p:nvPr/>
        </p:nvSpPr>
        <p:spPr>
          <a:xfrm>
            <a:off x="1903250" y="512675"/>
            <a:ext cx="1910400" cy="963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blue background with white text and a white logo  AI-generated content may be incorrect." id="56" name="Google Shape;56;p14"/>
          <p:cNvPicPr preferRelativeResize="0"/>
          <p:nvPr/>
        </p:nvPicPr>
        <p:blipFill rotWithShape="1">
          <a:blip r:embed="rId2">
            <a:alphaModFix/>
          </a:blip>
          <a:srcRect b="0" l="-1" r="28388" t="0"/>
          <a:stretch/>
        </p:blipFill>
        <p:spPr>
          <a:xfrm>
            <a:off x="4066575" y="3500"/>
            <a:ext cx="50774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 rot="10800000">
            <a:off x="2707550" y="75"/>
            <a:ext cx="3421800" cy="5140800"/>
          </a:xfrm>
          <a:prstGeom prst="trapezoid">
            <a:avLst>
              <a:gd fmla="val 25000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300035" y="1548377"/>
            <a:ext cx="7772400" cy="731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2400"/>
              <a:buFont typeface="Fira Sans"/>
              <a:buNone/>
              <a:defRPr b="1">
                <a:solidFill>
                  <a:srgbClr val="304D5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00035" y="2864739"/>
            <a:ext cx="6400800" cy="5030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  <a:defRPr sz="1800">
                <a:solidFill>
                  <a:srgbClr val="304D59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65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63" name="Google Shape;63;p15"/>
          <p:cNvCxnSpPr/>
          <p:nvPr/>
        </p:nvCxnSpPr>
        <p:spPr>
          <a:xfrm>
            <a:off x="119657" y="4861300"/>
            <a:ext cx="89046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background with white text and a white circle  AI-generated content may be incorrect." id="64" name="Google Shape;6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023" y="-7023"/>
            <a:ext cx="1066199" cy="912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42150" y="4902075"/>
            <a:ext cx="3216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88888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03/11/26 | CLAS Collaboration meeting</a:t>
            </a:r>
            <a:endParaRPr sz="1100">
              <a:solidFill>
                <a:srgbClr val="888888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0"/>
            <a:ext cx="8229600" cy="661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63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3373B"/>
              </a:buClr>
              <a:buSzPts val="1800"/>
              <a:buChar char="•"/>
              <a:defRPr sz="1800">
                <a:solidFill>
                  <a:srgbClr val="23373B"/>
                </a:solidFill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69" name="Google Shape;69;p16"/>
          <p:cNvSpPr txBox="1"/>
          <p:nvPr>
            <p:ph idx="2" type="body"/>
          </p:nvPr>
        </p:nvSpPr>
        <p:spPr>
          <a:xfrm>
            <a:off x="4648200" y="936900"/>
            <a:ext cx="4038600" cy="3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>
                <a:latin typeface="Fira Sans Light"/>
                <a:ea typeface="Fira Sans Light"/>
                <a:cs typeface="Fira Sans Light"/>
                <a:sym typeface="Fira Sans Light"/>
              </a:defRPr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>
                <a:latin typeface="Fira Sans Light"/>
                <a:ea typeface="Fira Sans Light"/>
                <a:cs typeface="Fira Sans Light"/>
                <a:sym typeface="Fira Sans Light"/>
              </a:defRPr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>
                <a:latin typeface="Fira Sans Light"/>
                <a:ea typeface="Fira Sans Light"/>
                <a:cs typeface="Fira Sans Light"/>
                <a:sym typeface="Fira Sans Light"/>
              </a:defRPr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>
                <a:latin typeface="Fira Sans Light"/>
                <a:ea typeface="Fira Sans Light"/>
                <a:cs typeface="Fira Sans Light"/>
                <a:sym typeface="Fira Sans Light"/>
              </a:defRPr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3373B"/>
              </a:buClr>
              <a:buSzPts val="3000"/>
              <a:buFont typeface="Fira Sans"/>
              <a:buNone/>
              <a:defRPr b="1" sz="3000" cap="none">
                <a:solidFill>
                  <a:srgbClr val="23373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-21310"/>
            <a:ext cx="9144000" cy="731043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inverted colors">
  <p:cSld name="Section header inverted colors">
    <p:bg>
      <p:bgPr>
        <a:solidFill>
          <a:srgbClr val="23373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3000"/>
              <a:buFont typeface="Fira Sans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0" y="-21310"/>
            <a:ext cx="9144000" cy="1125140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wo columns with two subtitles">
  <p:cSld name="title, two columns with two subtitle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199" y="689787"/>
            <a:ext cx="4040188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197449"/>
            <a:ext cx="4040188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6" y="689787"/>
            <a:ext cx="40417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6" y="1197449"/>
            <a:ext cx="4041775" cy="339717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lumn and imagen with caption">
  <p:cSld name="Title, column and imagen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57200" y="704851"/>
            <a:ext cx="3008313" cy="39062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0"/>
          <p:cNvSpPr txBox="1"/>
          <p:nvPr>
            <p:ph idx="2" type="body"/>
          </p:nvPr>
        </p:nvSpPr>
        <p:spPr>
          <a:xfrm>
            <a:off x="3579814" y="3895059"/>
            <a:ext cx="5106986" cy="6995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0"/>
          <p:cNvSpPr/>
          <p:nvPr>
            <p:ph idx="3" type="pic"/>
          </p:nvPr>
        </p:nvSpPr>
        <p:spPr>
          <a:xfrm>
            <a:off x="3579814" y="712476"/>
            <a:ext cx="5106986" cy="313205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0" name="Google Shape;110;p21"/>
          <p:cNvSpPr txBox="1"/>
          <p:nvPr>
            <p:ph idx="2" type="body"/>
          </p:nvPr>
        </p:nvSpPr>
        <p:spPr>
          <a:xfrm>
            <a:off x="457200" y="1212814"/>
            <a:ext cx="8229599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two columns">
  <p:cSld name="title, subtitle two column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2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u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61057" y="697469"/>
            <a:ext cx="8225742" cy="47982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7" name="Google Shape;117;p22"/>
          <p:cNvSpPr txBox="1"/>
          <p:nvPr>
            <p:ph idx="2" type="body"/>
          </p:nvPr>
        </p:nvSpPr>
        <p:spPr>
          <a:xfrm>
            <a:off x="457199" y="1212814"/>
            <a:ext cx="4056017" cy="33768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8" name="Google Shape;118;p22"/>
          <p:cNvSpPr txBox="1"/>
          <p:nvPr>
            <p:ph idx="3" type="body"/>
          </p:nvPr>
        </p:nvSpPr>
        <p:spPr>
          <a:xfrm>
            <a:off x="4630784" y="1212814"/>
            <a:ext cx="4056017" cy="33667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243643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21" name="Google Shape;121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3"/>
          <p:cNvSpPr/>
          <p:nvPr/>
        </p:nvSpPr>
        <p:spPr>
          <a:xfrm>
            <a:off x="0" y="0"/>
            <a:ext cx="9144000" cy="712177"/>
          </a:xfrm>
          <a:prstGeom prst="rect">
            <a:avLst/>
          </a:prstGeom>
          <a:solidFill>
            <a:srgbClr val="FAFAFA"/>
          </a:solidFill>
          <a:ln cap="flat" cmpd="sng" w="254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>
            <p:ph idx="2" type="pic"/>
          </p:nvPr>
        </p:nvSpPr>
        <p:spPr>
          <a:xfrm>
            <a:off x="1792288" y="459581"/>
            <a:ext cx="5486400" cy="351043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">
  <p:cSld name="Only 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4"/>
          <p:cNvSpPr txBox="1"/>
          <p:nvPr>
            <p:ph type="title"/>
          </p:nvPr>
        </p:nvSpPr>
        <p:spPr>
          <a:xfrm>
            <a:off x="457200" y="-2743"/>
            <a:ext cx="8229600" cy="6646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ean slide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"/>
              <a:buNone/>
              <a:defRPr sz="2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>
              <a:spcBef>
                <a:spcPts val="4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23850" lvl="1" marL="914400">
              <a:spcBef>
                <a:spcPts val="300"/>
              </a:spcBef>
              <a:spcAft>
                <a:spcPts val="0"/>
              </a:spcAft>
              <a:buClr>
                <a:srgbClr val="93C47D"/>
              </a:buClr>
              <a:buSzPts val="1500"/>
              <a:buFont typeface="Nunito Medium"/>
              <a:buChar char="–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30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04800" lvl="3" marL="1828800">
              <a:spcBef>
                <a:spcPts val="20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–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04800" lvl="4" marL="2286000">
              <a:spcBef>
                <a:spcPts val="200"/>
              </a:spcBef>
              <a:spcAft>
                <a:spcPts val="0"/>
              </a:spcAft>
              <a:buClr>
                <a:srgbClr val="93C47D"/>
              </a:buClr>
              <a:buSzPts val="1200"/>
              <a:buFont typeface="Nunito Medium"/>
              <a:buChar char="»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23850" lvl="5" marL="27432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23850" lvl="6" marL="32004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23850" lvl="7" marL="36576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23850" lvl="8" marL="4114800">
              <a:spcBef>
                <a:spcPts val="300"/>
              </a:spcBef>
              <a:spcAft>
                <a:spcPts val="0"/>
              </a:spcAft>
              <a:buSzPts val="1500"/>
              <a:buFont typeface="Nunito Medium"/>
              <a:buChar char="•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cxnSp>
        <p:nvCxnSpPr>
          <p:cNvPr id="139" name="Google Shape;139;p26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6"/>
          <p:cNvSpPr/>
          <p:nvPr/>
        </p:nvSpPr>
        <p:spPr>
          <a:xfrm rot="10800000">
            <a:off x="8547000" y="3000"/>
            <a:ext cx="597000" cy="641400"/>
          </a:xfrm>
          <a:prstGeom prst="round1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5216950" y="4787400"/>
            <a:ext cx="37977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CLAS Collaboration (5 March, 2025)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8546700" y="0"/>
            <a:ext cx="5976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57200" y="1097281"/>
            <a:ext cx="8229600" cy="34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24364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2385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24364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04800" lvl="3" marL="18288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04800" lvl="4" marL="2286000" marR="0" rtl="0" algn="l">
              <a:spcBef>
                <a:spcPts val="200"/>
              </a:spcBef>
              <a:spcAft>
                <a:spcPts val="0"/>
              </a:spcAft>
              <a:buClr>
                <a:srgbClr val="243643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rgbClr val="243643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059175" y="147484"/>
            <a:ext cx="8084700" cy="7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400"/>
              <a:buFont typeface="Fira Sans"/>
              <a:buNone/>
              <a:defRPr b="0" i="0" sz="2400" u="none" cap="none" strike="noStrike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9.png"/><Relationship Id="rId6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hyperlink" Target="https://github.com/Gregtom3/clas12_photon_classifier" TargetMode="External"/><Relationship Id="rId5" Type="http://schemas.openxmlformats.org/officeDocument/2006/relationships/hyperlink" Target="https://github.com/Gregtom3/clas12_photon_classifier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ctrTitle"/>
          </p:nvPr>
        </p:nvSpPr>
        <p:spPr>
          <a:xfrm>
            <a:off x="94375" y="1098800"/>
            <a:ext cx="5844600" cy="16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4500"/>
              <a:buFont typeface="Fira Sans"/>
              <a:buNone/>
            </a:pPr>
            <a:r>
              <a:rPr lang="en" sz="3800">
                <a:solidFill>
                  <a:schemeClr val="dk2"/>
                </a:solidFill>
              </a:rPr>
              <a:t>RG-D Experiments: Status</a:t>
            </a:r>
            <a:br>
              <a:rPr lang="en" sz="3800">
                <a:solidFill>
                  <a:schemeClr val="dk2"/>
                </a:solidFill>
              </a:rPr>
            </a:br>
            <a:r>
              <a:rPr lang="en" sz="3800">
                <a:solidFill>
                  <a:schemeClr val="dk2"/>
                </a:solidFill>
              </a:rPr>
              <a:t>and Analysis Plans</a:t>
            </a:r>
            <a:endParaRPr sz="3800">
              <a:solidFill>
                <a:schemeClr val="dk2"/>
              </a:solidFill>
            </a:endParaRPr>
          </a:p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94375" y="2614240"/>
            <a:ext cx="64008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04D59"/>
              </a:buClr>
              <a:buSzPts val="1800"/>
              <a:buNone/>
            </a:pPr>
            <a:r>
              <a:rPr lang="en"/>
              <a:t>Mathieu Ouillon (Mississippi State University)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2275"/>
            <a:ext cx="3417775" cy="6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7775" y="4557640"/>
            <a:ext cx="1865524" cy="585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1059174" y="240325"/>
            <a:ext cx="80847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Run Group D</a:t>
            </a:r>
            <a:endParaRPr sz="3200"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42150" y="937250"/>
            <a:ext cx="8644800" cy="3564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Run Group D is composed of two experiments:</a:t>
            </a:r>
            <a:endParaRPr sz="2000"/>
          </a:p>
        </p:txBody>
      </p:sp>
      <p:sp>
        <p:nvSpPr>
          <p:cNvPr id="158" name="Google Shape;158;p28"/>
          <p:cNvSpPr txBox="1"/>
          <p:nvPr/>
        </p:nvSpPr>
        <p:spPr>
          <a:xfrm>
            <a:off x="6223800" y="4819586"/>
            <a:ext cx="2757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HERMES Collaboration arXiv:0704.3270</a:t>
            </a:r>
            <a:endParaRPr sz="12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154925" y="1368200"/>
            <a:ext cx="4337100" cy="1530900"/>
          </a:xfrm>
          <a:prstGeom prst="rect">
            <a:avLst/>
          </a:prstGeom>
          <a:noFill/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32742"/>
                </a:solidFill>
                <a:latin typeface="Fira Sans"/>
                <a:ea typeface="Fira Sans"/>
                <a:cs typeface="Fira Sans"/>
                <a:sym typeface="Fira Sans"/>
              </a:rPr>
              <a:t>Color Transparency (CT)</a:t>
            </a:r>
            <a:endParaRPr sz="1800">
              <a:solidFill>
                <a:srgbClr val="13274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 Exclusive Vector Meson Electro-production off Nuclei </a:t>
            </a:r>
            <a:r>
              <a:rPr lang="en" sz="1600">
                <a:solidFill>
                  <a:srgbClr val="00A5C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E12-06-106</a:t>
            </a:r>
            <a:endParaRPr sz="1600">
              <a:solidFill>
                <a:srgbClr val="00A5C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Spokespersons: W. Armstrong¹, L. El Fassi³,</a:t>
            </a:r>
            <a:endParaRPr sz="1600">
              <a:solidFill>
                <a:srgbClr val="475569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K. Hafidi¹, M. Holtrop⁴, B. Mustapha¹</a:t>
            </a:r>
            <a:endParaRPr sz="1600">
              <a:solidFill>
                <a:srgbClr val="475569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25" y="1323799"/>
            <a:ext cx="4343401" cy="4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4763" y="1323800"/>
            <a:ext cx="4114801" cy="4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/>
        </p:nvSpPr>
        <p:spPr>
          <a:xfrm>
            <a:off x="4918250" y="1368200"/>
            <a:ext cx="4114800" cy="1530900"/>
          </a:xfrm>
          <a:prstGeom prst="rect">
            <a:avLst/>
          </a:prstGeom>
          <a:noFill/>
          <a:ln cap="flat" cmpd="sng" w="9525">
            <a:solidFill>
              <a:srgbClr val="AA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132742"/>
                </a:solidFill>
                <a:latin typeface="Fira Sans"/>
                <a:ea typeface="Fira Sans"/>
                <a:cs typeface="Fira Sans"/>
                <a:sym typeface="Fira Sans"/>
              </a:rPr>
              <a:t>Nuclear TMDs (nTMDs)</a:t>
            </a:r>
            <a:endParaRPr sz="1800">
              <a:solidFill>
                <a:srgbClr val="13274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04040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 CLAS12 </a:t>
            </a:r>
            <a:r>
              <a:rPr lang="en" sz="1600">
                <a:solidFill>
                  <a:srgbClr val="0D6E8A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E12-06-106A</a:t>
            </a:r>
            <a:endParaRPr sz="1600">
              <a:solidFill>
                <a:srgbClr val="0D6E8A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Spokespersons: R. Dupré², L. El Fassi³,</a:t>
            </a:r>
            <a:endParaRPr sz="1600">
              <a:solidFill>
                <a:srgbClr val="475569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75569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Z.-E. Meziani¹, H. Szumila-Vance⁵</a:t>
            </a:r>
            <a:r>
              <a:rPr lang="en" sz="1600">
                <a:solidFill>
                  <a:schemeClr val="dk1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</a:t>
            </a:r>
            <a:endParaRPr sz="1600">
              <a:solidFill>
                <a:srgbClr val="132742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7859225" y="3959900"/>
            <a:ext cx="1284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The COMPASS Collaboration</a:t>
            </a:r>
            <a:endParaRPr sz="12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arxiv.org:1912.10322</a:t>
            </a:r>
            <a:endParaRPr sz="12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5320175" y="392625"/>
            <a:ext cx="3876000" cy="9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1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Argonne National Lab, </a:t>
            </a: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2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IJCLAB, Orsay, France</a:t>
            </a:r>
            <a:endParaRPr sz="13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3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Mississippi State U., </a:t>
            </a: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4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University of New-Hampshire, </a:t>
            </a:r>
            <a:r>
              <a:rPr baseline="30000"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5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: </a:t>
            </a:r>
            <a:r>
              <a:rPr lang="en" sz="13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Florida International University</a:t>
            </a:r>
            <a:endParaRPr sz="13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182" y="2796863"/>
            <a:ext cx="2756999" cy="2022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 rotWithShape="1">
          <a:blip r:embed="rId6">
            <a:alphaModFix/>
          </a:blip>
          <a:srcRect b="0" l="0" r="0" t="2162"/>
          <a:stretch/>
        </p:blipFill>
        <p:spPr>
          <a:xfrm>
            <a:off x="785275" y="2928125"/>
            <a:ext cx="1998574" cy="222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/>
        </p:nvSpPr>
        <p:spPr>
          <a:xfrm>
            <a:off x="2845775" y="4477350"/>
            <a:ext cx="14142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L. El Fassi, Physics 4, no. 3 (2022)</a:t>
            </a:r>
            <a:endParaRPr sz="12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23139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28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278384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3202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3266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3329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393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0" name="Google Shape;180;p28"/>
          <p:cNvSpPr/>
          <p:nvPr/>
        </p:nvSpPr>
        <p:spPr>
          <a:xfrm>
            <a:off x="3456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3520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2" name="Google Shape;182;p28"/>
          <p:cNvSpPr/>
          <p:nvPr/>
        </p:nvSpPr>
        <p:spPr>
          <a:xfrm>
            <a:off x="3583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37998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4396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4460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4523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4587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4650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4714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4777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49936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55206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RG-D: CT Experiment</a:t>
            </a:r>
            <a:endParaRPr sz="3200"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0" y="905125"/>
            <a:ext cx="4951500" cy="19923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E12-06-106: Color Transparency: suppression of interactions of colorless small size configuration in nuclear medium</a:t>
            </a:r>
            <a:endParaRPr>
              <a:solidFill>
                <a:srgbClr val="1B3A5C"/>
              </a:solidFill>
            </a:endParaRPr>
          </a:p>
          <a:p>
            <a:pPr indent="-1600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Experimental signature: rise of the nuclear transparency, </a:t>
            </a:r>
            <a:r>
              <a:rPr i="1" lang="en">
                <a:solidFill>
                  <a:srgbClr val="1B3A5C"/>
                </a:solidFill>
              </a:rPr>
              <a:t>T</a:t>
            </a:r>
            <a:r>
              <a:rPr baseline="-25000" lang="en">
                <a:solidFill>
                  <a:srgbClr val="1B3A5C"/>
                </a:solidFill>
              </a:rPr>
              <a:t>A</a:t>
            </a:r>
            <a:r>
              <a:rPr lang="en">
                <a:solidFill>
                  <a:srgbClr val="1B3A5C"/>
                </a:solidFill>
              </a:rPr>
              <a:t> as a function of Q</a:t>
            </a:r>
            <a:r>
              <a:rPr baseline="30000" lang="en">
                <a:solidFill>
                  <a:srgbClr val="1B3A5C"/>
                </a:solidFill>
              </a:rPr>
              <a:t>2</a:t>
            </a:r>
            <a:r>
              <a:rPr lang="en">
                <a:solidFill>
                  <a:srgbClr val="1B3A5C"/>
                </a:solidFill>
              </a:rPr>
              <a:t>: ​</a:t>
            </a:r>
            <a:endParaRPr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i="1" lang="en" sz="1600">
                <a:solidFill>
                  <a:srgbClr val="1B3A5C"/>
                </a:solidFill>
              </a:rPr>
              <a:t>T</a:t>
            </a:r>
            <a:r>
              <a:rPr baseline="-25000" lang="en" sz="1600">
                <a:solidFill>
                  <a:srgbClr val="1B3A5C"/>
                </a:solidFill>
              </a:rPr>
              <a:t>A</a:t>
            </a:r>
            <a:r>
              <a:rPr lang="en" sz="1600">
                <a:solidFill>
                  <a:srgbClr val="1B3A5C"/>
                </a:solidFill>
              </a:rPr>
              <a:t>: ratio of the cross section per nucleon on a bound nucleon to that on a free nucleon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8975" y="2404469"/>
            <a:ext cx="3858915" cy="243423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0" y="3402825"/>
            <a:ext cx="5099100" cy="174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Objective: understanding the dynamical evolution from small-size configurations into ordinary hadrons, and validating the QCD factorization theorem</a:t>
            </a:r>
            <a:endParaRPr sz="15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Coherence length, l</a:t>
            </a:r>
            <a:r>
              <a:rPr baseline="-25000"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c</a:t>
            </a: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: the lifetime of the qq-bar pair</a:t>
            </a:r>
            <a:endParaRPr sz="11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Formation time, l</a:t>
            </a:r>
            <a:r>
              <a:rPr baseline="-25000"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</a:t>
            </a: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: the time evolution of SSC to an on-shell ρ</a:t>
            </a:r>
            <a:r>
              <a:rPr baseline="30000"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0</a:t>
            </a:r>
            <a:r>
              <a:rPr lang="en" sz="11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meson​​</a:t>
            </a:r>
            <a:endParaRPr sz="11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8975" y="349100"/>
            <a:ext cx="3813799" cy="19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23774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278384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3202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3266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3329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3393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3456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3520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3583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37998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4396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4460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4523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2" name="Google Shape;222;p29"/>
          <p:cNvSpPr/>
          <p:nvPr/>
        </p:nvSpPr>
        <p:spPr>
          <a:xfrm>
            <a:off x="4587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3" name="Google Shape;223;p29"/>
          <p:cNvSpPr/>
          <p:nvPr/>
        </p:nvSpPr>
        <p:spPr>
          <a:xfrm>
            <a:off x="4650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4" name="Google Shape;224;p29"/>
          <p:cNvSpPr/>
          <p:nvPr/>
        </p:nvSpPr>
        <p:spPr>
          <a:xfrm>
            <a:off x="4714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777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49936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55206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229" name="Google Shape;229;p29" title="{&quot;red&quot;:36,&quot;green&quot;:54,&quot;blue&quot;:67,&quot;origURL&quot;:&quot;https://www.codecogs.com/eqnedit.php?latex=T_A%20%3D%20%5Cfrac%7B%5Csigma_A%7D%7BA%5Csigma_N%7D#0&quot;,&quot;size&quot;:18,&quot;width&quot;:370.2755905511811,&quot;height&quot;:43.20472440944882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00" y="2826006"/>
            <a:ext cx="1542799" cy="6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/>
        </p:nvSpPr>
        <p:spPr>
          <a:xfrm>
            <a:off x="1972850" y="2856918"/>
            <a:ext cx="300000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σ</a:t>
            </a:r>
            <a:r>
              <a:rPr baseline="-25000"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A</a:t>
            </a: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− nuclei cross section</a:t>
            </a:r>
            <a:endParaRPr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σ</a:t>
            </a:r>
            <a:r>
              <a:rPr baseline="-25000"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</a:t>
            </a:r>
            <a:r>
              <a:rPr lang="en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− free nucleon cross section</a:t>
            </a:r>
            <a:endParaRPr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6875" y="3156125"/>
            <a:ext cx="4341974" cy="14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RG-D: Nuclear TMDs</a:t>
            </a:r>
            <a:endParaRPr sz="3200"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42150" y="937250"/>
            <a:ext cx="53109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E12-06-106A: nTMDs study uses the same CT running conditions except the beam polarization, and aims to study​:</a:t>
            </a:r>
            <a:endParaRPr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Nuclear effect on SIDIS asymmetries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Transport coefficient of the nuclear matter</a:t>
            </a:r>
            <a:endParaRPr sz="1600">
              <a:solidFill>
                <a:srgbClr val="1B3A5C"/>
              </a:solidFill>
            </a:endParaRPr>
          </a:p>
          <a:p>
            <a:pPr indent="-1600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800"/>
              <a:buChar char="•"/>
            </a:pPr>
            <a:r>
              <a:rPr lang="en">
                <a:solidFill>
                  <a:srgbClr val="1B3A5C"/>
                </a:solidFill>
              </a:rPr>
              <a:t>For that, measure different observables:</a:t>
            </a:r>
            <a:endParaRPr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cos φ, sin φ, cos(2φ)</a:t>
            </a:r>
            <a:r>
              <a:rPr baseline="30000" lang="en" sz="1600">
                <a:solidFill>
                  <a:srgbClr val="1B3A5C"/>
                </a:solidFill>
              </a:rPr>
              <a:t>1</a:t>
            </a:r>
            <a:r>
              <a:rPr lang="en" sz="1600">
                <a:solidFill>
                  <a:srgbClr val="1B3A5C"/>
                </a:solidFill>
              </a:rPr>
              <a:t> moments for different hadrons (π</a:t>
            </a:r>
            <a:r>
              <a:rPr baseline="30000" lang="en" sz="1600">
                <a:solidFill>
                  <a:srgbClr val="1B3A5C"/>
                </a:solidFill>
              </a:rPr>
              <a:t>+</a:t>
            </a:r>
            <a:r>
              <a:rPr lang="en" sz="1600">
                <a:solidFill>
                  <a:srgbClr val="1B3A5C"/>
                </a:solidFill>
              </a:rPr>
              <a:t>,π</a:t>
            </a:r>
            <a:r>
              <a:rPr baseline="30000" lang="en" sz="1600">
                <a:solidFill>
                  <a:srgbClr val="1B3A5C"/>
                </a:solidFill>
              </a:rPr>
              <a:t>-</a:t>
            </a:r>
            <a:r>
              <a:rPr lang="en" sz="1600">
                <a:solidFill>
                  <a:srgbClr val="1B3A5C"/>
                </a:solidFill>
              </a:rPr>
              <a:t>, and π</a:t>
            </a:r>
            <a:r>
              <a:rPr baseline="30000" lang="en" sz="1600">
                <a:solidFill>
                  <a:srgbClr val="1B3A5C"/>
                </a:solidFill>
              </a:rPr>
              <a:t>0</a:t>
            </a:r>
            <a:r>
              <a:rPr lang="en" sz="1600">
                <a:solidFill>
                  <a:srgbClr val="1B3A5C"/>
                </a:solidFill>
              </a:rPr>
              <a:t>):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0600" y="733929"/>
            <a:ext cx="3567750" cy="274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 txBox="1"/>
          <p:nvPr/>
        </p:nvSpPr>
        <p:spPr>
          <a:xfrm>
            <a:off x="5430600" y="505850"/>
            <a:ext cx="3567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ExtraLight"/>
                <a:ea typeface="Fira Sans ExtraLight"/>
                <a:cs typeface="Fira Sans ExtraLight"/>
                <a:sym typeface="Fira Sans ExtraLight"/>
              </a:rPr>
              <a:t>Song, Y. et al. (2014) Physical Review D, 89 014005.</a:t>
            </a:r>
            <a:endParaRPr sz="1200">
              <a:solidFill>
                <a:srgbClr val="1B3A5C"/>
              </a:solidFill>
              <a:latin typeface="Fira Sans ExtraLight"/>
              <a:ea typeface="Fira Sans ExtraLight"/>
              <a:cs typeface="Fira Sans ExtraLight"/>
              <a:sym typeface="Fira Sans ExtraLight"/>
            </a:endParaRPr>
          </a:p>
        </p:txBody>
      </p:sp>
      <p:pic>
        <p:nvPicPr>
          <p:cNvPr id="240" name="Google Shape;24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575" y="3081356"/>
            <a:ext cx="4422551" cy="13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0"/>
          <p:cNvSpPr txBox="1"/>
          <p:nvPr/>
        </p:nvSpPr>
        <p:spPr>
          <a:xfrm>
            <a:off x="42150" y="432107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q</a:t>
            </a:r>
            <a:r>
              <a:rPr baseline="-25000"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F</a:t>
            </a: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(ξ</a:t>
            </a:r>
            <a:r>
              <a:rPr baseline="-25000"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</a:t>
            </a: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): the quark transport parameter</a:t>
            </a:r>
            <a:endParaRPr sz="12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1 </a:t>
            </a:r>
            <a:r>
              <a:rPr lang="en" sz="12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No predictions exist for this observable</a:t>
            </a:r>
            <a:endParaRPr sz="12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2892400" y="4550275"/>
            <a:ext cx="6251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The heavier the nucleus, the wider the TMD gaussian width (Nuclear Broadening)</a:t>
            </a:r>
            <a:endParaRPr sz="13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6" name="Google Shape;246;p30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7" name="Google Shape;247;p30"/>
          <p:cNvSpPr/>
          <p:nvPr/>
        </p:nvSpPr>
        <p:spPr>
          <a:xfrm>
            <a:off x="24409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8" name="Google Shape;248;p30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49" name="Google Shape;249;p30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278384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3202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2" name="Google Shape;252;p30"/>
          <p:cNvSpPr/>
          <p:nvPr/>
        </p:nvSpPr>
        <p:spPr>
          <a:xfrm>
            <a:off x="3266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3329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3393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3456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3520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3583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37998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59" name="Google Shape;259;p30"/>
          <p:cNvSpPr/>
          <p:nvPr/>
        </p:nvSpPr>
        <p:spPr>
          <a:xfrm>
            <a:off x="4396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0" name="Google Shape;260;p30"/>
          <p:cNvSpPr/>
          <p:nvPr/>
        </p:nvSpPr>
        <p:spPr>
          <a:xfrm>
            <a:off x="4460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1" name="Google Shape;261;p30"/>
          <p:cNvSpPr/>
          <p:nvPr/>
        </p:nvSpPr>
        <p:spPr>
          <a:xfrm>
            <a:off x="4523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2" name="Google Shape;262;p30"/>
          <p:cNvSpPr/>
          <p:nvPr/>
        </p:nvSpPr>
        <p:spPr>
          <a:xfrm>
            <a:off x="4587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3" name="Google Shape;263;p30"/>
          <p:cNvSpPr/>
          <p:nvPr/>
        </p:nvSpPr>
        <p:spPr>
          <a:xfrm>
            <a:off x="4650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4" name="Google Shape;264;p30"/>
          <p:cNvSpPr/>
          <p:nvPr/>
        </p:nvSpPr>
        <p:spPr>
          <a:xfrm>
            <a:off x="4714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4777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6" name="Google Shape;266;p30"/>
          <p:cNvSpPr/>
          <p:nvPr/>
        </p:nvSpPr>
        <p:spPr>
          <a:xfrm>
            <a:off x="49936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55206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68" name="Google Shape;268;p3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3/20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RG-D: Run Configuration</a:t>
            </a:r>
            <a:endParaRPr sz="3200"/>
          </a:p>
        </p:txBody>
      </p:sp>
      <p:sp>
        <p:nvSpPr>
          <p:cNvPr id="274" name="Google Shape;274;p31"/>
          <p:cNvSpPr txBox="1"/>
          <p:nvPr>
            <p:ph idx="1" type="body"/>
          </p:nvPr>
        </p:nvSpPr>
        <p:spPr>
          <a:xfrm>
            <a:off x="42150" y="937250"/>
            <a:ext cx="8896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RG-D experiments collected data in the fall of 2023 with</a:t>
            </a:r>
            <a:endParaRPr sz="20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10.54 GeV polarized beam energy and 𝐼=5–175 nA for luminosity scans and production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Standard CLAS12 configuration with FT-OFF and three layers of FMT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Three target configurations, LD2, CxC, and CuSn, deployed with InBending and OutBending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New cryogenic LD2 and the nuclear-foil flag assembly centered at -5 cm for each configuration</a:t>
            </a:r>
            <a:endParaRPr sz="1600">
              <a:solidFill>
                <a:srgbClr val="1B3A5C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Main run hiccups:</a:t>
            </a:r>
            <a:endParaRPr sz="20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Faraday Cup vacuum contamination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Moller cone sagging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275" name="Google Shape;27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2" y="3067350"/>
            <a:ext cx="4865076" cy="19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400" y="2251475"/>
            <a:ext cx="3765698" cy="289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25044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2567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278384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3202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3266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3329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3393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3456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3520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1" name="Google Shape;291;p31"/>
          <p:cNvSpPr/>
          <p:nvPr/>
        </p:nvSpPr>
        <p:spPr>
          <a:xfrm>
            <a:off x="3583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37998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4396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4460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4523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4587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4650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4714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4777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49936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55206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4/20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Status: Cooking Summary</a:t>
            </a:r>
            <a:endParaRPr sz="3200"/>
          </a:p>
        </p:txBody>
      </p:sp>
      <p:sp>
        <p:nvSpPr>
          <p:cNvPr id="308" name="Google Shape;308;p32"/>
          <p:cNvSpPr txBox="1"/>
          <p:nvPr>
            <p:ph idx="1" type="body"/>
          </p:nvPr>
        </p:nvSpPr>
        <p:spPr>
          <a:xfrm>
            <a:off x="0" y="842874"/>
            <a:ext cx="9115800" cy="13116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RG-D successfully passed Pass1 review on May 27</a:t>
            </a:r>
            <a:r>
              <a:rPr baseline="30000" lang="en" sz="2000">
                <a:solidFill>
                  <a:srgbClr val="1B3A5C"/>
                </a:solidFill>
              </a:rPr>
              <a:t>th</a:t>
            </a:r>
            <a:r>
              <a:rPr lang="en" sz="2000">
                <a:solidFill>
                  <a:srgbClr val="1B3A5C"/>
                </a:solidFill>
              </a:rPr>
              <a:t> 2025</a:t>
            </a:r>
            <a:endParaRPr sz="2000">
              <a:solidFill>
                <a:srgbClr val="1B3A5C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Pass1 cooking initiated on June 13</a:t>
            </a:r>
            <a:r>
              <a:rPr baseline="30000" lang="en" sz="2000">
                <a:solidFill>
                  <a:srgbClr val="1B3A5C"/>
                </a:solidFill>
              </a:rPr>
              <a:t>th</a:t>
            </a:r>
            <a:r>
              <a:rPr lang="en" sz="2000">
                <a:solidFill>
                  <a:srgbClr val="1B3A5C"/>
                </a:solidFill>
              </a:rPr>
              <a:t> 2025 using COATJAVA 13.0.0</a:t>
            </a:r>
            <a:endParaRPr sz="2000">
              <a:solidFill>
                <a:srgbClr val="1B3A5C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2000"/>
              <a:buChar char="•"/>
            </a:pPr>
            <a:r>
              <a:rPr lang="en" sz="2000">
                <a:solidFill>
                  <a:srgbClr val="1B3A5C"/>
                </a:solidFill>
              </a:rPr>
              <a:t>The cooking is at 87%:</a:t>
            </a:r>
            <a:endParaRPr sz="2000">
              <a:solidFill>
                <a:srgbClr val="1B3A5C"/>
              </a:solidFill>
            </a:endParaRPr>
          </a:p>
          <a:p>
            <a:pPr indent="-14097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–"/>
            </a:pPr>
            <a:r>
              <a:rPr lang="en">
                <a:solidFill>
                  <a:srgbClr val="1B3A5C"/>
                </a:solidFill>
              </a:rPr>
              <a:t>Mainly due to the high usage of the farms, their recent downtime, and modification of the job scheduling and fair-share</a:t>
            </a:r>
            <a:endParaRPr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</p:txBody>
      </p:sp>
      <p:sp>
        <p:nvSpPr>
          <p:cNvPr id="309" name="Google Shape;309;p32"/>
          <p:cNvSpPr txBox="1"/>
          <p:nvPr/>
        </p:nvSpPr>
        <p:spPr>
          <a:xfrm>
            <a:off x="2566543" y="4500352"/>
            <a:ext cx="6914700" cy="4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 Thanks to CalCom Experts for their support for calibration and cooking</a:t>
            </a:r>
            <a:endParaRPr sz="16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1270000" y="38100"/>
            <a:ext cx="1005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2" name="Google Shape;312;p32"/>
          <p:cNvSpPr/>
          <p:nvPr/>
        </p:nvSpPr>
        <p:spPr>
          <a:xfrm>
            <a:off x="2313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2377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4" name="Google Shape;314;p32"/>
          <p:cNvSpPr/>
          <p:nvPr/>
        </p:nvSpPr>
        <p:spPr>
          <a:xfrm>
            <a:off x="24409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5" name="Google Shape;315;p32"/>
          <p:cNvSpPr/>
          <p:nvPr/>
        </p:nvSpPr>
        <p:spPr>
          <a:xfrm>
            <a:off x="250444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6" name="Google Shape;316;p32"/>
          <p:cNvSpPr/>
          <p:nvPr/>
        </p:nvSpPr>
        <p:spPr>
          <a:xfrm>
            <a:off x="25679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7" name="Google Shape;317;p32"/>
          <p:cNvSpPr/>
          <p:nvPr/>
        </p:nvSpPr>
        <p:spPr>
          <a:xfrm>
            <a:off x="278384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8" name="Google Shape;318;p32"/>
          <p:cNvSpPr/>
          <p:nvPr/>
        </p:nvSpPr>
        <p:spPr>
          <a:xfrm>
            <a:off x="3202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3266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3329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3393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3456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35204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35839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5" name="Google Shape;325;p32"/>
          <p:cNvSpPr/>
          <p:nvPr/>
        </p:nvSpPr>
        <p:spPr>
          <a:xfrm>
            <a:off x="379984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6" name="Google Shape;326;p32"/>
          <p:cNvSpPr/>
          <p:nvPr/>
        </p:nvSpPr>
        <p:spPr>
          <a:xfrm>
            <a:off x="4396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4460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8" name="Google Shape;328;p32"/>
          <p:cNvSpPr/>
          <p:nvPr/>
        </p:nvSpPr>
        <p:spPr>
          <a:xfrm>
            <a:off x="4523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4587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4650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" name="Google Shape;331;p32"/>
          <p:cNvSpPr/>
          <p:nvPr/>
        </p:nvSpPr>
        <p:spPr>
          <a:xfrm>
            <a:off x="47142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2" name="Google Shape;332;p32"/>
          <p:cNvSpPr/>
          <p:nvPr/>
        </p:nvSpPr>
        <p:spPr>
          <a:xfrm>
            <a:off x="477774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32"/>
          <p:cNvSpPr/>
          <p:nvPr/>
        </p:nvSpPr>
        <p:spPr>
          <a:xfrm>
            <a:off x="499364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4" name="Google Shape;334;p32"/>
          <p:cNvSpPr/>
          <p:nvPr/>
        </p:nvSpPr>
        <p:spPr>
          <a:xfrm>
            <a:off x="552069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5" name="Google Shape;335;p3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5/20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336" name="Google Shape;3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13" y="2214650"/>
            <a:ext cx="9019674" cy="240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Electron</a:t>
            </a:r>
            <a:endParaRPr sz="3200"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42150" y="937250"/>
            <a:ext cx="8988300" cy="2964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900"/>
              <a:t>Both refinement and fiducial cuts have been </a:t>
            </a:r>
            <a:r>
              <a:rPr lang="en" sz="1900"/>
              <a:t>developed</a:t>
            </a:r>
            <a:r>
              <a:rPr lang="en" sz="1900"/>
              <a:t> and optimized for RG-D:</a:t>
            </a:r>
            <a:endParaRPr sz="19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3"/>
          <p:cNvSpPr txBox="1"/>
          <p:nvPr>
            <p:ph idx="1" type="body"/>
          </p:nvPr>
        </p:nvSpPr>
        <p:spPr>
          <a:xfrm>
            <a:off x="0" y="1233625"/>
            <a:ext cx="2146200" cy="8343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40970" lvl="0" marL="18288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pid = 11, status &lt; 0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2000 ≤ |status| &lt; 4000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|chi2pid| &lt; 5</a:t>
            </a:r>
            <a:endParaRPr sz="1500">
              <a:solidFill>
                <a:srgbClr val="1B3A5C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A5C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344" name="Google Shape;3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375" y="1233625"/>
            <a:ext cx="7062625" cy="38485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2616200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303530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4" name="Google Shape;354;p33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6" name="Google Shape;356;p33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7" name="Google Shape;357;p33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8" name="Google Shape;358;p33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59" name="Google Shape;359;p33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" name="Google Shape;360;p33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1" name="Google Shape;361;p33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6/20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4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376" name="Google Shape;376;p34"/>
          <p:cNvSpPr txBox="1"/>
          <p:nvPr>
            <p:ph idx="1" type="body"/>
          </p:nvPr>
        </p:nvSpPr>
        <p:spPr>
          <a:xfrm>
            <a:off x="42150" y="937250"/>
            <a:ext cx="2883000" cy="38202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B3A5C"/>
                </a:solidFill>
              </a:rPr>
              <a:t>The pion identification is very important for RG-D analyses (both CT and TMDs):</a:t>
            </a:r>
            <a:endParaRPr>
              <a:solidFill>
                <a:srgbClr val="1B3A5C"/>
              </a:solidFill>
            </a:endParaRPr>
          </a:p>
          <a:p>
            <a:pPr indent="-14732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600"/>
              <a:buChar char="-"/>
            </a:pPr>
            <a:r>
              <a:rPr lang="en" sz="1600">
                <a:solidFill>
                  <a:srgbClr val="1B3A5C"/>
                </a:solidFill>
              </a:rPr>
              <a:t>Develop refinement cuts: Δt vs p, and Vz</a:t>
            </a:r>
            <a:endParaRPr sz="1600">
              <a:solidFill>
                <a:srgbClr val="1B3A5C"/>
              </a:solidFill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-"/>
            </a:pPr>
            <a:r>
              <a:rPr lang="en" sz="1600">
                <a:solidFill>
                  <a:srgbClr val="1B3A5C"/>
                </a:solidFill>
              </a:rPr>
              <a:t>Slice </a:t>
            </a:r>
            <a:r>
              <a:rPr lang="en" sz="1600">
                <a:solidFill>
                  <a:srgbClr val="1B3A5C"/>
                </a:solidFill>
              </a:rPr>
              <a:t>Δt vs p in slices, fit each with Gaussian</a:t>
            </a:r>
            <a:endParaRPr sz="1600">
              <a:solidFill>
                <a:srgbClr val="1B3A5C"/>
              </a:solidFill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-"/>
            </a:pPr>
            <a:r>
              <a:rPr lang="en" sz="1600">
                <a:solidFill>
                  <a:srgbClr val="1B3A5C"/>
                </a:solidFill>
              </a:rPr>
              <a:t>Fit the mean of the Gaussian with 2</a:t>
            </a:r>
            <a:r>
              <a:rPr baseline="30000" lang="en" sz="1600">
                <a:solidFill>
                  <a:srgbClr val="1B3A5C"/>
                </a:solidFill>
              </a:rPr>
              <a:t>rd</a:t>
            </a:r>
            <a:r>
              <a:rPr lang="en" sz="1600">
                <a:solidFill>
                  <a:srgbClr val="1B3A5C"/>
                </a:solidFill>
              </a:rPr>
              <a:t> order polynomial and σ with:</a:t>
            </a:r>
            <a:endParaRPr sz="1600">
              <a:solidFill>
                <a:srgbClr val="1B3A5C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-14732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600"/>
              <a:buChar char="-"/>
            </a:pPr>
            <a:r>
              <a:rPr lang="en" sz="1600">
                <a:solidFill>
                  <a:srgbClr val="1B3A5C"/>
                </a:solidFill>
              </a:rPr>
              <a:t>Use μ±3σ for the cut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</a:endParaRPr>
          </a:p>
        </p:txBody>
      </p:sp>
      <p:pic>
        <p:nvPicPr>
          <p:cNvPr id="377" name="Google Shape;377;p34" title="{&quot;red&quot;:0,&quot;green&quot;:0,&quot;blue&quot;:0,&quot;origURL&quot;:&quot;https://www.codecogs.com/eqnedit.php?latex=%5Csigma(p)%20%3D%20%5Csqrt%7B%5Csigma_0%5E2%20%2B%20(k%2Fp)%5E2%7D%20%2B%20c%20%5Ccdot%20p#0&quot;,&quot;size&quot;:14,&quot;width&quot;:236.2204724409449,&quot;height&quot;:47.76377952755905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38" y="3905425"/>
            <a:ext cx="2847024" cy="4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5150" y="757900"/>
            <a:ext cx="6164352" cy="43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0" name="Google Shape;380;p3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2" name="Google Shape;382;p34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3" name="Google Shape;383;p34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4" name="Google Shape;384;p34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5" name="Google Shape;385;p34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2616200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309880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1" name="Google Shape;391;p34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7/20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410" name="Google Shape;410;p35"/>
          <p:cNvSpPr txBox="1"/>
          <p:nvPr>
            <p:ph idx="1" type="body"/>
          </p:nvPr>
        </p:nvSpPr>
        <p:spPr>
          <a:xfrm>
            <a:off x="42150" y="937250"/>
            <a:ext cx="9101700" cy="66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The pion identification is very important for RG-D analyses (both CT and TMDs):</a:t>
            </a:r>
            <a:endParaRPr sz="2000"/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 refinement cuts: Δt vs p, and Vz based on Double sided Crystal Ball function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525" y="1571025"/>
            <a:ext cx="6799657" cy="357247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2616200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316230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4" name="Google Shape;424;p35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6" name="Google Shape;426;p35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7" name="Google Shape;427;p35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8" name="Google Shape;428;p35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29" name="Google Shape;429;p35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0" name="Google Shape;430;p35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1" name="Google Shape;431;p35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2" name="Google Shape;432;p35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3" name="Google Shape;433;p35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4" name="Google Shape;434;p35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5" name="Google Shape;435;p35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6" name="Google Shape;436;p35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37" name="Google Shape;437;p35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8/20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pic>
        <p:nvPicPr>
          <p:cNvPr id="443" name="Google Shape;44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38" y="1602050"/>
            <a:ext cx="7864724" cy="35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6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5" name="Google Shape;445;p36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6" name="Google Shape;446;p36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7" name="Google Shape;447;p36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8" name="Google Shape;448;p36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9" name="Google Shape;449;p36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0" name="Google Shape;450;p36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1" name="Google Shape;451;p36"/>
          <p:cNvSpPr/>
          <p:nvPr/>
        </p:nvSpPr>
        <p:spPr>
          <a:xfrm>
            <a:off x="2616200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2" name="Google Shape;452;p36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3" name="Google Shape;453;p36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4" name="Google Shape;454;p36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5" name="Google Shape;455;p36"/>
          <p:cNvSpPr/>
          <p:nvPr/>
        </p:nvSpPr>
        <p:spPr>
          <a:xfrm>
            <a:off x="322580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6" name="Google Shape;456;p36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7" name="Google Shape;457;p36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8" name="Google Shape;458;p36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9/20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0" name="Google Shape;470;p36"/>
          <p:cNvSpPr txBox="1"/>
          <p:nvPr>
            <p:ph idx="1" type="body"/>
          </p:nvPr>
        </p:nvSpPr>
        <p:spPr>
          <a:xfrm>
            <a:off x="42150" y="937250"/>
            <a:ext cx="9101700" cy="66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The pion identification is very important for RG-D analyses (both CT and TMDs):</a:t>
            </a:r>
            <a:endParaRPr sz="2000"/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 refinement cuts: Δt vs p, and Vz based on Double sided Crystal Ball function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7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476" name="Google Shape;476;p37"/>
          <p:cNvSpPr txBox="1"/>
          <p:nvPr>
            <p:ph idx="1" type="body"/>
          </p:nvPr>
        </p:nvSpPr>
        <p:spPr>
          <a:xfrm>
            <a:off x="42150" y="937250"/>
            <a:ext cx="9101700" cy="6453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The pion </a:t>
            </a:r>
            <a:r>
              <a:rPr lang="en" sz="2000"/>
              <a:t>identification</a:t>
            </a:r>
            <a:r>
              <a:rPr lang="en" sz="2000"/>
              <a:t> is very important for RG-D analyses (both CT and TMDs)</a:t>
            </a:r>
            <a:endParaRPr sz="2000"/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 also DC fiducial cuts following similar technique as for electrons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7" name="Google Shape;4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51" y="1582550"/>
            <a:ext cx="7737702" cy="35287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2616200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6" name="Google Shape;486;p37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7" name="Google Shape;487;p37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8" name="Google Shape;488;p37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89" name="Google Shape;489;p37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0" name="Google Shape;490;p37"/>
          <p:cNvSpPr/>
          <p:nvPr/>
        </p:nvSpPr>
        <p:spPr>
          <a:xfrm>
            <a:off x="328930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1" name="Google Shape;491;p37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2" name="Google Shape;492;p37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3" name="Google Shape;493;p37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4" name="Google Shape;494;p37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6" name="Google Shape;496;p37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7" name="Google Shape;497;p37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8" name="Google Shape;498;p37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9" name="Google Shape;499;p37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0" name="Google Shape;500;p37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1" name="Google Shape;501;p37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2" name="Google Shape;502;p37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3" name="Google Shape;503;p3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10/20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4" name="Google Shape;504;p37"/>
          <p:cNvSpPr txBox="1"/>
          <p:nvPr/>
        </p:nvSpPr>
        <p:spPr>
          <a:xfrm>
            <a:off x="4514900" y="1819200"/>
            <a:ext cx="489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  <a:latin typeface="Fira Sans"/>
                <a:ea typeface="Fira Sans"/>
                <a:cs typeface="Fira Sans"/>
                <a:sym typeface="Fira Sans"/>
              </a:rPr>
              <a:t>π</a:t>
            </a:r>
            <a:r>
              <a:rPr baseline="30000" lang="en" sz="2000">
                <a:solidFill>
                  <a:srgbClr val="1B3A5C"/>
                </a:solidFill>
                <a:latin typeface="Fira Sans"/>
                <a:ea typeface="Fira Sans"/>
                <a:cs typeface="Fira Sans"/>
                <a:sym typeface="Fira Sans"/>
              </a:rPr>
              <a:t>-</a:t>
            </a:r>
            <a:endParaRPr baseline="30000" sz="2000">
              <a:solidFill>
                <a:srgbClr val="1B3A5C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5" name="Google Shape;505;p37"/>
          <p:cNvSpPr txBox="1"/>
          <p:nvPr/>
        </p:nvSpPr>
        <p:spPr>
          <a:xfrm>
            <a:off x="4483100" y="3692675"/>
            <a:ext cx="4890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π</a:t>
            </a:r>
            <a:r>
              <a:rPr baseline="30000" lang="en" sz="20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+</a:t>
            </a:r>
            <a:endParaRPr baseline="30000" sz="20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511" name="Google Shape;511;p38"/>
          <p:cNvSpPr txBox="1"/>
          <p:nvPr>
            <p:ph idx="1" type="body"/>
          </p:nvPr>
        </p:nvSpPr>
        <p:spPr>
          <a:xfrm>
            <a:off x="42150" y="937250"/>
            <a:ext cx="90735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The pion identification is very important for RG-D analyses (both CT and TMDs)</a:t>
            </a:r>
            <a:endParaRPr sz="2000"/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Develop also DC fiducial cuts following similar technique as for electrons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3" y="1682525"/>
            <a:ext cx="9023877" cy="25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4" name="Google Shape;514;p38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5" name="Google Shape;515;p38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6" name="Google Shape;516;p38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7" name="Google Shape;517;p38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8" name="Google Shape;518;p38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19" name="Google Shape;519;p38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0" name="Google Shape;520;p38"/>
          <p:cNvSpPr/>
          <p:nvPr/>
        </p:nvSpPr>
        <p:spPr>
          <a:xfrm>
            <a:off x="2616200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1" name="Google Shape;521;p38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2" name="Google Shape;522;p38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4" name="Google Shape;524;p38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5" name="Google Shape;525;p38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6" name="Google Shape;526;p38"/>
          <p:cNvSpPr/>
          <p:nvPr/>
        </p:nvSpPr>
        <p:spPr>
          <a:xfrm>
            <a:off x="335280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7" name="Google Shape;527;p38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8" name="Google Shape;528;p38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9" name="Google Shape;529;p38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0" name="Google Shape;530;p38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1" name="Google Shape;531;p38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2" name="Google Shape;532;p38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3" name="Google Shape;533;p38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5" name="Google Shape;535;p38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6" name="Google Shape;536;p38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7" name="Google Shape;537;p38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38" name="Google Shape;538;p3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11/20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9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544" name="Google Shape;544;p39"/>
          <p:cNvSpPr txBox="1"/>
          <p:nvPr>
            <p:ph idx="1" type="body"/>
          </p:nvPr>
        </p:nvSpPr>
        <p:spPr>
          <a:xfrm>
            <a:off x="42150" y="937250"/>
            <a:ext cx="91020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/>
              <a:t>The pion identification is very important for RG-D analyses (both CT and TMDs)</a:t>
            </a:r>
            <a:endParaRPr sz="2000"/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Look into the i</a:t>
            </a:r>
            <a:r>
              <a:rPr lang="en"/>
              <a:t>mpact of the pions cuts on the invariant mass of the two pions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545" name="Google Shape;5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25" y="1661125"/>
            <a:ext cx="8993126" cy="32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9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7" name="Google Shape;547;p39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8" name="Google Shape;548;p39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9" name="Google Shape;549;p39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0" name="Google Shape;550;p39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1" name="Google Shape;551;p39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2" name="Google Shape;552;p39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3" name="Google Shape;553;p39"/>
          <p:cNvSpPr/>
          <p:nvPr/>
        </p:nvSpPr>
        <p:spPr>
          <a:xfrm>
            <a:off x="2616200" y="381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5" name="Google Shape;555;p39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7" name="Google Shape;557;p39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8" name="Google Shape;558;p39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59" name="Google Shape;559;p39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0" name="Google Shape;560;p39"/>
          <p:cNvSpPr/>
          <p:nvPr/>
        </p:nvSpPr>
        <p:spPr>
          <a:xfrm>
            <a:off x="341630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1" name="Google Shape;561;p39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2" name="Google Shape;562;p39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3" name="Google Shape;563;p39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4" name="Google Shape;564;p39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7" name="Google Shape;567;p39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9" name="Google Shape;569;p39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0" name="Google Shape;570;p39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1" name="Google Shape;571;p39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12/20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0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π</a:t>
            </a:r>
            <a:r>
              <a:rPr baseline="30000" lang="en" sz="3200">
                <a:solidFill>
                  <a:srgbClr val="1B3A5C"/>
                </a:solidFill>
              </a:rPr>
              <a:t>0</a:t>
            </a:r>
            <a:r>
              <a:rPr lang="en" sz="3200">
                <a:solidFill>
                  <a:srgbClr val="1B3A5C"/>
                </a:solidFill>
              </a:rPr>
              <a:t> analysis 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577" name="Google Shape;577;p40"/>
          <p:cNvSpPr txBox="1"/>
          <p:nvPr>
            <p:ph idx="1" type="body"/>
          </p:nvPr>
        </p:nvSpPr>
        <p:spPr>
          <a:xfrm>
            <a:off x="42150" y="937250"/>
            <a:ext cx="89949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First look at the π</a:t>
            </a:r>
            <a:r>
              <a:rPr baseline="30000" lang="en" sz="2000">
                <a:solidFill>
                  <a:srgbClr val="1B3A5C"/>
                </a:solidFill>
              </a:rPr>
              <a:t>0</a:t>
            </a:r>
            <a:r>
              <a:rPr lang="en" sz="2000">
                <a:solidFill>
                  <a:srgbClr val="1B3A5C"/>
                </a:solidFill>
              </a:rPr>
              <a:t> channel to extract multiplicity ratios and azimuthal asymmetries: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578" name="Google Shape;5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225" y="1258825"/>
            <a:ext cx="4891801" cy="3818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0"/>
          <p:cNvSpPr txBox="1"/>
          <p:nvPr/>
        </p:nvSpPr>
        <p:spPr>
          <a:xfrm>
            <a:off x="8350" y="1729975"/>
            <a:ext cx="41958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In-progress efforts to employ the event mixing technique to subtract the background underneath the two-photon mass peak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Electron cuts: Standard RG-D cuts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Photon cuts: pid = 22 and E &gt; 0.2 GeV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+ AI develop by</a:t>
            </a:r>
            <a:r>
              <a:rPr lang="en" sz="1800">
                <a:solidFill>
                  <a:srgbClr val="1B3A5C"/>
                </a:solidFill>
                <a:uFill>
                  <a:noFill/>
                </a:uFill>
                <a:latin typeface="Fira Sans Light"/>
                <a:ea typeface="Fira Sans Light"/>
                <a:cs typeface="Fira Sans Light"/>
                <a:sym typeface="Fira Sans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800" u="sng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Gregory Matousek</a:t>
            </a:r>
            <a:endParaRPr sz="1800" u="sng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580" name="Google Shape;580;p4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1" name="Google Shape;581;p40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2" name="Google Shape;582;p40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3" name="Google Shape;583;p40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4" name="Google Shape;584;p40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5" name="Google Shape;585;p40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6" name="Google Shape;586;p40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7" name="Google Shape;587;p40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8" name="Google Shape;588;p40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89" name="Google Shape;589;p40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0" name="Google Shape;590;p40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1" name="Google Shape;591;p40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2" name="Google Shape;592;p40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3" name="Google Shape;593;p40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4" name="Google Shape;594;p40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5" name="Google Shape;595;p40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6" name="Google Shape;596;p40"/>
          <p:cNvSpPr/>
          <p:nvPr/>
        </p:nvSpPr>
        <p:spPr>
          <a:xfrm>
            <a:off x="43408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7" name="Google Shape;597;p40"/>
          <p:cNvSpPr/>
          <p:nvPr/>
        </p:nvSpPr>
        <p:spPr>
          <a:xfrm>
            <a:off x="4404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8" name="Google Shape;598;p40"/>
          <p:cNvSpPr/>
          <p:nvPr/>
        </p:nvSpPr>
        <p:spPr>
          <a:xfrm>
            <a:off x="4467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9" name="Google Shape;599;p40"/>
          <p:cNvSpPr/>
          <p:nvPr/>
        </p:nvSpPr>
        <p:spPr>
          <a:xfrm>
            <a:off x="4531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0" name="Google Shape;600;p40"/>
          <p:cNvSpPr/>
          <p:nvPr/>
        </p:nvSpPr>
        <p:spPr>
          <a:xfrm>
            <a:off x="4594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1" name="Google Shape;601;p40"/>
          <p:cNvSpPr/>
          <p:nvPr/>
        </p:nvSpPr>
        <p:spPr>
          <a:xfrm>
            <a:off x="4658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2" name="Google Shape;602;p40"/>
          <p:cNvSpPr/>
          <p:nvPr/>
        </p:nvSpPr>
        <p:spPr>
          <a:xfrm>
            <a:off x="4721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3" name="Google Shape;603;p40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4" name="Google Shape;604;p40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5" name="Google Shape;605;p4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13/20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1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</a:t>
            </a:r>
            <a:r>
              <a:rPr lang="en" sz="3200">
                <a:solidFill>
                  <a:srgbClr val="1B3A5C"/>
                </a:solidFill>
              </a:rPr>
              <a:t>π</a:t>
            </a:r>
            <a:r>
              <a:rPr baseline="30000" lang="en" sz="3200">
                <a:solidFill>
                  <a:srgbClr val="1B3A5C"/>
                </a:solidFill>
              </a:rPr>
              <a:t>0</a:t>
            </a:r>
            <a:r>
              <a:rPr lang="en" sz="3200">
                <a:solidFill>
                  <a:srgbClr val="1B3A5C"/>
                </a:solidFill>
              </a:rPr>
              <a:t> analysis 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611" name="Google Shape;611;p41"/>
          <p:cNvSpPr txBox="1"/>
          <p:nvPr>
            <p:ph idx="1" type="body"/>
          </p:nvPr>
        </p:nvSpPr>
        <p:spPr>
          <a:xfrm>
            <a:off x="42150" y="937250"/>
            <a:ext cx="8644800" cy="66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B3A5C"/>
                </a:solidFill>
              </a:rPr>
              <a:t>First look at the π</a:t>
            </a:r>
            <a:r>
              <a:rPr baseline="30000" lang="en" sz="2000">
                <a:solidFill>
                  <a:srgbClr val="1B3A5C"/>
                </a:solidFill>
              </a:rPr>
              <a:t>0</a:t>
            </a:r>
            <a:r>
              <a:rPr lang="en" sz="2000">
                <a:solidFill>
                  <a:srgbClr val="1B3A5C"/>
                </a:solidFill>
              </a:rPr>
              <a:t> channel to extract multiplicity ratios and azimuthal asymmetries: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sp>
        <p:nvSpPr>
          <p:cNvPr id="612" name="Google Shape;612;p41"/>
          <p:cNvSpPr txBox="1"/>
          <p:nvPr/>
        </p:nvSpPr>
        <p:spPr>
          <a:xfrm>
            <a:off x="0" y="3217000"/>
            <a:ext cx="3507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SIDIS cut: 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-160020" lvl="0" marL="18288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B3A5C"/>
              </a:buClr>
              <a:buSzPts val="1800"/>
              <a:buFont typeface="Fira Sans Light"/>
              <a:buChar char="-"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Q</a:t>
            </a:r>
            <a:r>
              <a:rPr baseline="30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 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&gt; 1 GeV</a:t>
            </a:r>
            <a:r>
              <a:rPr baseline="30000"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2</a:t>
            </a: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, W &gt; 2 GeV, y &lt; 0.85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graphicFrame>
        <p:nvGraphicFramePr>
          <p:cNvPr id="613" name="Google Shape;613;p41"/>
          <p:cNvGraphicFramePr/>
          <p:nvPr/>
        </p:nvGraphicFramePr>
        <p:xfrm>
          <a:off x="4230965" y="187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{535995E9-97B1-4BC0-9FE7-45BCDA8F77F2}</a:tableStyleId>
              </a:tblPr>
              <a:tblGrid>
                <a:gridCol w="798325"/>
                <a:gridCol w="568300"/>
                <a:gridCol w="3320575"/>
              </a:tblGrid>
              <a:tr h="390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Variable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Bins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Edges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Q²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3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[1.0, 1.33, 1.96, 10.98]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x</a:t>
                      </a:r>
                      <a:r>
                        <a:rPr baseline="-25000"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B</a:t>
                      </a:r>
                      <a:endParaRPr baseline="-25000"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3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[0.06, 0.13, 0.21, 2.21]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z</a:t>
                      </a:r>
                      <a:r>
                        <a:rPr baseline="-25000"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h</a:t>
                      </a:r>
                      <a:endParaRPr baseline="-25000"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7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[0.04, 0.13, 0.17, 0.21, 0.26, 0.33, 0.44, 1.0]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p</a:t>
                      </a:r>
                      <a:r>
                        <a:rPr baseline="-25000"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T</a:t>
                      </a:r>
                      <a:endParaRPr baseline="-25000"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3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1B3A5C"/>
                          </a:solidFill>
                          <a:latin typeface="Fira Sans Light"/>
                          <a:ea typeface="Fira Sans Light"/>
                          <a:cs typeface="Fira Sans Light"/>
                          <a:sym typeface="Fira Sans Light"/>
                        </a:rPr>
                        <a:t>[0.00, 0.21, 0.36, 1.99]</a:t>
                      </a:r>
                      <a:endParaRPr sz="1700">
                        <a:solidFill>
                          <a:srgbClr val="1B3A5C"/>
                        </a:solidFill>
                        <a:latin typeface="Fira Sans Light"/>
                        <a:ea typeface="Fira Sans Light"/>
                        <a:cs typeface="Fira Sans Light"/>
                        <a:sym typeface="Fira Sans Ligh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4" name="Google Shape;614;p41" title="{&quot;red&quot;:0,&quot;green&quot;:0,&quot;blue&quot;:0,&quot;origURL&quot;:&quot;https://www.codecogs.com/eqnedit.php?latex=R%5E%7BA%7D_%7B%5Cpi%5E0%7D(Q%5E2%2C%20x_B%2C%20z%2C%20p_T)%20%3D%20%5Cfrac%7B%5Cfrac%7BN%5E%7B%5Cpi%5E0%7D_A(Q%5E2%2C%20x_B%2C%20z%2C%20p_T)%7D%7BN%5E%7Be%5E-%7D_A(Q%5E2%2C%20x_B)%7D%7D%7B%5Cfrac%7BN%5E%7B%5Cpi%5E0%7D_%7B%5Cmathrm%7BLD2%7D%7D(Q%5E2%2C%20x_B%2C%20z%2C%20p_T)%7D%7BN%5E%7Be%5E-%7D_%7B%5Cmathrm%7BLD2%7D%7D(Q%5E2%2C%20x_B)%7D%7D#0&quot;,&quot;size&quot;:14,&quot;width&quot;:236.2204724409449,&quot;height&quot;:236.2204724409449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1" y="1877250"/>
            <a:ext cx="4102049" cy="1175943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8" name="Google Shape;618;p41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9" name="Google Shape;619;p41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0" name="Google Shape;620;p41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1" name="Google Shape;621;p41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2" name="Google Shape;622;p41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3" name="Google Shape;623;p41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4" name="Google Shape;624;p41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5" name="Google Shape;625;p41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6" name="Google Shape;626;p41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7" name="Google Shape;627;p41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8" name="Google Shape;628;p41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9" name="Google Shape;629;p41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0" name="Google Shape;630;p41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4340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44043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3" name="Google Shape;633;p41"/>
          <p:cNvSpPr/>
          <p:nvPr/>
        </p:nvSpPr>
        <p:spPr>
          <a:xfrm>
            <a:off x="4467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4" name="Google Shape;634;p41"/>
          <p:cNvSpPr/>
          <p:nvPr/>
        </p:nvSpPr>
        <p:spPr>
          <a:xfrm>
            <a:off x="4531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5" name="Google Shape;635;p41"/>
          <p:cNvSpPr/>
          <p:nvPr/>
        </p:nvSpPr>
        <p:spPr>
          <a:xfrm>
            <a:off x="4594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6" name="Google Shape;636;p41"/>
          <p:cNvSpPr/>
          <p:nvPr/>
        </p:nvSpPr>
        <p:spPr>
          <a:xfrm>
            <a:off x="4658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7" name="Google Shape;637;p41"/>
          <p:cNvSpPr/>
          <p:nvPr/>
        </p:nvSpPr>
        <p:spPr>
          <a:xfrm>
            <a:off x="4721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8" name="Google Shape;638;p41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39" name="Google Shape;639;p41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0" name="Google Shape;640;p4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14/20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1" name="Google Shape;641;p41"/>
          <p:cNvSpPr txBox="1"/>
          <p:nvPr/>
        </p:nvSpPr>
        <p:spPr>
          <a:xfrm>
            <a:off x="4230975" y="1375600"/>
            <a:ext cx="3000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B3A5C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Multidimensional binning:</a:t>
            </a:r>
            <a:endParaRPr sz="1800">
              <a:solidFill>
                <a:srgbClr val="1B3A5C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2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π</a:t>
            </a:r>
            <a:r>
              <a:rPr baseline="30000" lang="en" sz="3200">
                <a:solidFill>
                  <a:srgbClr val="1B3A5C"/>
                </a:solidFill>
              </a:rPr>
              <a:t>0</a:t>
            </a:r>
            <a:r>
              <a:rPr lang="en" sz="3200">
                <a:solidFill>
                  <a:srgbClr val="1B3A5C"/>
                </a:solidFill>
              </a:rPr>
              <a:t> analysis 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647" name="Google Shape;647;p4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8" name="Google Shape;648;p42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9" name="Google Shape;649;p42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0" name="Google Shape;650;p42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1" name="Google Shape;651;p42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2" name="Google Shape;652;p42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3" name="Google Shape;653;p42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4" name="Google Shape;654;p42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5" name="Google Shape;655;p42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6" name="Google Shape;656;p42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7" name="Google Shape;657;p42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8" name="Google Shape;658;p42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9" name="Google Shape;659;p42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0" name="Google Shape;660;p42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1" name="Google Shape;661;p42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2" name="Google Shape;662;p42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3" name="Google Shape;663;p42"/>
          <p:cNvSpPr/>
          <p:nvPr/>
        </p:nvSpPr>
        <p:spPr>
          <a:xfrm>
            <a:off x="4340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4" name="Google Shape;664;p42"/>
          <p:cNvSpPr/>
          <p:nvPr/>
        </p:nvSpPr>
        <p:spPr>
          <a:xfrm>
            <a:off x="44043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5" name="Google Shape;665;p42"/>
          <p:cNvSpPr/>
          <p:nvPr/>
        </p:nvSpPr>
        <p:spPr>
          <a:xfrm>
            <a:off x="4467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6" name="Google Shape;666;p42"/>
          <p:cNvSpPr/>
          <p:nvPr/>
        </p:nvSpPr>
        <p:spPr>
          <a:xfrm>
            <a:off x="4531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7" name="Google Shape;667;p42"/>
          <p:cNvSpPr/>
          <p:nvPr/>
        </p:nvSpPr>
        <p:spPr>
          <a:xfrm>
            <a:off x="4594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8" name="Google Shape;668;p42"/>
          <p:cNvSpPr/>
          <p:nvPr/>
        </p:nvSpPr>
        <p:spPr>
          <a:xfrm>
            <a:off x="4658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9" name="Google Shape;669;p42"/>
          <p:cNvSpPr/>
          <p:nvPr/>
        </p:nvSpPr>
        <p:spPr>
          <a:xfrm>
            <a:off x="4721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0" name="Google Shape;670;p42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1" name="Google Shape;671;p42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2" name="Google Shape;672;p4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14/20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73" name="Google Shape;67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725" y="793864"/>
            <a:ext cx="7088748" cy="4035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3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1B3A5C"/>
                </a:solidFill>
              </a:rPr>
              <a:t>RG-D TMDs Studies: </a:t>
            </a:r>
            <a:r>
              <a:rPr lang="en" sz="2700">
                <a:solidFill>
                  <a:srgbClr val="1B3A5C"/>
                </a:solidFill>
              </a:rPr>
              <a:t>π</a:t>
            </a:r>
            <a:r>
              <a:rPr baseline="30000" lang="en" sz="2700">
                <a:solidFill>
                  <a:srgbClr val="1B3A5C"/>
                </a:solidFill>
              </a:rPr>
              <a:t>+</a:t>
            </a:r>
            <a:r>
              <a:rPr lang="en" sz="2700">
                <a:solidFill>
                  <a:srgbClr val="1B3A5C"/>
                </a:solidFill>
              </a:rPr>
              <a:t> analysis</a:t>
            </a:r>
            <a:endParaRPr sz="2700">
              <a:solidFill>
                <a:srgbClr val="1B3A5C"/>
              </a:solidFill>
            </a:endParaRPr>
          </a:p>
        </p:txBody>
      </p:sp>
      <p:sp>
        <p:nvSpPr>
          <p:cNvPr id="679" name="Google Shape;679;p43"/>
          <p:cNvSpPr txBox="1"/>
          <p:nvPr>
            <p:ph idx="1" type="body"/>
          </p:nvPr>
        </p:nvSpPr>
        <p:spPr>
          <a:xfrm>
            <a:off x="42150" y="937250"/>
            <a:ext cx="5821200" cy="4153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637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900"/>
              <a:buChar char="•"/>
            </a:pPr>
            <a:r>
              <a:rPr lang="en" sz="1900">
                <a:solidFill>
                  <a:srgbClr val="1B3A5C"/>
                </a:solidFill>
              </a:rPr>
              <a:t>Motivation</a:t>
            </a:r>
            <a:endParaRPr sz="19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SIDIS: Electron scattering off a target nucleus producing hadrons through virtual photon exchange. Nuclear effects influence SIDIS behavior in nuclear targets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Goal: compare nuclear targets to deuterium reference to study medium induced modifications</a:t>
            </a:r>
            <a:endParaRPr sz="1600">
              <a:solidFill>
                <a:srgbClr val="1B3A5C"/>
              </a:solidFill>
            </a:endParaRPr>
          </a:p>
          <a:p>
            <a:pPr indent="-1663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900"/>
              <a:buChar char="•"/>
            </a:pPr>
            <a:r>
              <a:rPr lang="en" sz="1900">
                <a:solidFill>
                  <a:srgbClr val="1B3A5C"/>
                </a:solidFill>
              </a:rPr>
              <a:t>Main observables</a:t>
            </a:r>
            <a:endParaRPr sz="19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Hadron multiplicity ratio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Transverse momentum broadening Δ⟨p</a:t>
            </a:r>
            <a:r>
              <a:rPr baseline="-25000" lang="en" sz="1600">
                <a:solidFill>
                  <a:srgbClr val="1B3A5C"/>
                </a:solidFill>
              </a:rPr>
              <a:t>T</a:t>
            </a:r>
            <a:r>
              <a:rPr lang="en" sz="1600">
                <a:solidFill>
                  <a:srgbClr val="1B3A5C"/>
                </a:solidFill>
              </a:rPr>
              <a:t>²⟩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Azimuthal modulations over hadronic angle ϕ</a:t>
            </a:r>
            <a:r>
              <a:rPr baseline="-25000" lang="en" sz="1600">
                <a:solidFill>
                  <a:srgbClr val="1B3A5C"/>
                </a:solidFill>
              </a:rPr>
              <a:t>h</a:t>
            </a:r>
            <a:endParaRPr baseline="-25000" sz="16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Study in multi-dimensional bins (Q², xB, p</a:t>
            </a:r>
            <a:r>
              <a:rPr baseline="-25000" lang="en" sz="1600">
                <a:solidFill>
                  <a:srgbClr val="1B3A5C"/>
                </a:solidFill>
              </a:rPr>
              <a:t>T</a:t>
            </a:r>
            <a:r>
              <a:rPr lang="en" sz="1600">
                <a:solidFill>
                  <a:srgbClr val="1B3A5C"/>
                </a:solidFill>
              </a:rPr>
              <a:t>², z) covering different kinematic ranges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21 two-dimensional bins in x</a:t>
            </a:r>
            <a:r>
              <a:rPr baseline="-25000" lang="en" sz="1600">
                <a:solidFill>
                  <a:srgbClr val="1B3A5C"/>
                </a:solidFill>
              </a:rPr>
              <a:t>B</a:t>
            </a:r>
            <a:r>
              <a:rPr lang="en" sz="1600">
                <a:solidFill>
                  <a:srgbClr val="1B3A5C"/>
                </a:solidFill>
              </a:rPr>
              <a:t> and Q² kinematics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5x5 binning in hadron kinematics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Total bins: 525 across SIDIS kinematics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</p:txBody>
      </p:sp>
      <p:pic>
        <p:nvPicPr>
          <p:cNvPr id="680" name="Google Shape;6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3980" y="316575"/>
            <a:ext cx="3167074" cy="4474574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43"/>
          <p:cNvSpPr txBox="1"/>
          <p:nvPr/>
        </p:nvSpPr>
        <p:spPr>
          <a:xfrm>
            <a:off x="6144000" y="4792950"/>
            <a:ext cx="3000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Ongoing analysis by D. Matamoros</a:t>
            </a:r>
            <a:endParaRPr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sp>
        <p:nvSpPr>
          <p:cNvPr id="682" name="Google Shape;682;p4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3" name="Google Shape;683;p4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4" name="Google Shape;684;p43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5" name="Google Shape;685;p43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6" name="Google Shape;686;p43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7" name="Google Shape;687;p43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8" name="Google Shape;688;p43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89" name="Google Shape;689;p43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0" name="Google Shape;690;p43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1" name="Google Shape;691;p43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3" name="Google Shape;693;p43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4" name="Google Shape;694;p43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5" name="Google Shape;695;p43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6" name="Google Shape;696;p43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8" name="Google Shape;698;p43"/>
          <p:cNvSpPr/>
          <p:nvPr/>
        </p:nvSpPr>
        <p:spPr>
          <a:xfrm>
            <a:off x="4340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99" name="Google Shape;699;p43"/>
          <p:cNvSpPr/>
          <p:nvPr/>
        </p:nvSpPr>
        <p:spPr>
          <a:xfrm>
            <a:off x="4404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44678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1" name="Google Shape;701;p43"/>
          <p:cNvSpPr/>
          <p:nvPr/>
        </p:nvSpPr>
        <p:spPr>
          <a:xfrm>
            <a:off x="4531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4594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3" name="Google Shape;703;p43"/>
          <p:cNvSpPr/>
          <p:nvPr/>
        </p:nvSpPr>
        <p:spPr>
          <a:xfrm>
            <a:off x="4658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4721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5" name="Google Shape;705;p43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6" name="Google Shape;706;p43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15/20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4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1B3A5C"/>
                </a:solidFill>
              </a:rPr>
              <a:t>RG-D TMDs Studies: π</a:t>
            </a:r>
            <a:r>
              <a:rPr baseline="30000" lang="en" sz="2800">
                <a:solidFill>
                  <a:srgbClr val="1B3A5C"/>
                </a:solidFill>
              </a:rPr>
              <a:t>+</a:t>
            </a:r>
            <a:r>
              <a:rPr lang="en" sz="2800">
                <a:solidFill>
                  <a:srgbClr val="1B3A5C"/>
                </a:solidFill>
              </a:rPr>
              <a:t> analysis</a:t>
            </a:r>
            <a:endParaRPr sz="2800">
              <a:solidFill>
                <a:srgbClr val="1B3A5C"/>
              </a:solidFill>
            </a:endParaRPr>
          </a:p>
        </p:txBody>
      </p:sp>
      <p:sp>
        <p:nvSpPr>
          <p:cNvPr id="713" name="Google Shape;713;p44"/>
          <p:cNvSpPr txBox="1"/>
          <p:nvPr>
            <p:ph idx="1" type="body"/>
          </p:nvPr>
        </p:nvSpPr>
        <p:spPr>
          <a:xfrm>
            <a:off x="42150" y="937250"/>
            <a:ext cx="6861600" cy="8148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637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900"/>
              <a:buChar char="•"/>
            </a:pPr>
            <a:r>
              <a:rPr lang="en">
                <a:solidFill>
                  <a:srgbClr val="1B3A5C"/>
                </a:solidFill>
              </a:rPr>
              <a:t>Extract</a:t>
            </a:r>
            <a:r>
              <a:rPr lang="en" sz="1900">
                <a:solidFill>
                  <a:srgbClr val="1B3A5C"/>
                </a:solidFill>
              </a:rPr>
              <a:t>:</a:t>
            </a:r>
            <a:endParaRPr sz="19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Nuclear Dependence of Transverse momentum Broadening </a:t>
            </a:r>
            <a:endParaRPr sz="1600">
              <a:solidFill>
                <a:srgbClr val="1B3A5C"/>
              </a:solidFill>
            </a:endParaRPr>
          </a:p>
          <a:p>
            <a:pPr indent="-147320" lvl="1" marL="36576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600"/>
              <a:buChar char="–"/>
            </a:pPr>
            <a:r>
              <a:rPr lang="en" sz="1600">
                <a:solidFill>
                  <a:srgbClr val="1B3A5C"/>
                </a:solidFill>
              </a:rPr>
              <a:t>Azimuthal Modulation Ratio 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B3A5C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A5C"/>
              </a:solidFill>
            </a:endParaRPr>
          </a:p>
        </p:txBody>
      </p:sp>
      <p:sp>
        <p:nvSpPr>
          <p:cNvPr id="714" name="Google Shape;714;p44"/>
          <p:cNvSpPr txBox="1"/>
          <p:nvPr/>
        </p:nvSpPr>
        <p:spPr>
          <a:xfrm>
            <a:off x="6111275" y="473975"/>
            <a:ext cx="30000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Ongoing analysis by D. Matamoros</a:t>
            </a:r>
            <a:endParaRPr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715" name="Google Shape;7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3650" y="1751925"/>
            <a:ext cx="3860407" cy="33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0" y="1771557"/>
            <a:ext cx="4616200" cy="334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9675" y="937250"/>
            <a:ext cx="2768863" cy="6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9" name="Google Shape;719;p4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0" name="Google Shape;720;p44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1" name="Google Shape;721;p44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2" name="Google Shape;722;p44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3" name="Google Shape;723;p44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4" name="Google Shape;724;p44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5" name="Google Shape;725;p44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6" name="Google Shape;726;p44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7" name="Google Shape;727;p44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8" name="Google Shape;728;p44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29" name="Google Shape;729;p44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0" name="Google Shape;730;p44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1" name="Google Shape;731;p44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2" name="Google Shape;732;p44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3" name="Google Shape;733;p44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4" name="Google Shape;734;p44"/>
          <p:cNvSpPr/>
          <p:nvPr/>
        </p:nvSpPr>
        <p:spPr>
          <a:xfrm>
            <a:off x="4340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5" name="Google Shape;735;p44"/>
          <p:cNvSpPr/>
          <p:nvPr/>
        </p:nvSpPr>
        <p:spPr>
          <a:xfrm>
            <a:off x="4404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6" name="Google Shape;736;p44"/>
          <p:cNvSpPr/>
          <p:nvPr/>
        </p:nvSpPr>
        <p:spPr>
          <a:xfrm>
            <a:off x="4467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7" name="Google Shape;737;p44"/>
          <p:cNvSpPr/>
          <p:nvPr/>
        </p:nvSpPr>
        <p:spPr>
          <a:xfrm>
            <a:off x="45313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8" name="Google Shape;738;p44"/>
          <p:cNvSpPr/>
          <p:nvPr/>
        </p:nvSpPr>
        <p:spPr>
          <a:xfrm>
            <a:off x="4594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9" name="Google Shape;739;p44"/>
          <p:cNvSpPr/>
          <p:nvPr/>
        </p:nvSpPr>
        <p:spPr>
          <a:xfrm>
            <a:off x="4658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0" name="Google Shape;740;p44"/>
          <p:cNvSpPr/>
          <p:nvPr/>
        </p:nvSpPr>
        <p:spPr>
          <a:xfrm>
            <a:off x="4721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1" name="Google Shape;741;p44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2" name="Google Shape;742;p44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43" name="Google Shape;743;p4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16/20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5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RG-D TMDs Studies: pions analysis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749" name="Google Shape;749;p45"/>
          <p:cNvSpPr txBox="1"/>
          <p:nvPr>
            <p:ph idx="1" type="body"/>
          </p:nvPr>
        </p:nvSpPr>
        <p:spPr>
          <a:xfrm>
            <a:off x="42150" y="937250"/>
            <a:ext cx="9047400" cy="10707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Study multiplicity ratio,</a:t>
            </a:r>
            <a:r>
              <a:rPr lang="en" sz="2000">
                <a:solidFill>
                  <a:srgbClr val="1B3A5C"/>
                </a:solidFill>
              </a:rPr>
              <a:t> transverse momentum broadening and azimuthal moments for both negatively and positively charged pions:</a:t>
            </a:r>
            <a:endParaRPr sz="2000">
              <a:solidFill>
                <a:srgbClr val="1B3A5C"/>
              </a:solidFill>
            </a:endParaRPr>
          </a:p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800"/>
              <a:buChar char="-"/>
            </a:pPr>
            <a:r>
              <a:rPr lang="en">
                <a:solidFill>
                  <a:srgbClr val="1B3A5C"/>
                </a:solidFill>
              </a:rPr>
              <a:t>Multidimensional binning in Q</a:t>
            </a:r>
            <a:r>
              <a:rPr baseline="30000" lang="en">
                <a:solidFill>
                  <a:srgbClr val="1B3A5C"/>
                </a:solidFill>
              </a:rPr>
              <a:t>2</a:t>
            </a:r>
            <a:r>
              <a:rPr lang="en">
                <a:solidFill>
                  <a:srgbClr val="1B3A5C"/>
                </a:solidFill>
              </a:rPr>
              <a:t>, x</a:t>
            </a:r>
            <a:r>
              <a:rPr baseline="-25000" lang="en">
                <a:solidFill>
                  <a:srgbClr val="1B3A5C"/>
                </a:solidFill>
              </a:rPr>
              <a:t>B</a:t>
            </a:r>
            <a:r>
              <a:rPr lang="en">
                <a:solidFill>
                  <a:srgbClr val="1B3A5C"/>
                </a:solidFill>
              </a:rPr>
              <a:t>, z</a:t>
            </a:r>
            <a:r>
              <a:rPr baseline="-25000" lang="en">
                <a:solidFill>
                  <a:srgbClr val="1B3A5C"/>
                </a:solidFill>
              </a:rPr>
              <a:t>h</a:t>
            </a:r>
            <a:r>
              <a:rPr lang="en">
                <a:solidFill>
                  <a:srgbClr val="1B3A5C"/>
                </a:solidFill>
              </a:rPr>
              <a:t> and p</a:t>
            </a:r>
            <a:r>
              <a:rPr baseline="-25000" lang="en">
                <a:solidFill>
                  <a:srgbClr val="1B3A5C"/>
                </a:solidFill>
              </a:rPr>
              <a:t>T</a:t>
            </a:r>
            <a:r>
              <a:rPr baseline="30000" lang="en">
                <a:solidFill>
                  <a:srgbClr val="1B3A5C"/>
                </a:solidFill>
              </a:rPr>
              <a:t>2</a:t>
            </a:r>
            <a:endParaRPr baseline="30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B3A5C"/>
              </a:solidFill>
            </a:endParaRPr>
          </a:p>
        </p:txBody>
      </p:sp>
      <p:pic>
        <p:nvPicPr>
          <p:cNvPr id="750" name="Google Shape;75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9025" y="1961150"/>
            <a:ext cx="3182350" cy="31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63" y="2427804"/>
            <a:ext cx="2496874" cy="98247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45"/>
          <p:cNvSpPr txBox="1"/>
          <p:nvPr/>
        </p:nvSpPr>
        <p:spPr>
          <a:xfrm>
            <a:off x="-33437" y="3934525"/>
            <a:ext cx="2572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Ongoing analysis by S. </a:t>
            </a:r>
            <a:r>
              <a:rPr lang="en">
                <a:solidFill>
                  <a:srgbClr val="00315F"/>
                </a:solidFill>
                <a:latin typeface="Fira Sans Light"/>
                <a:ea typeface="Fira Sans Light"/>
                <a:cs typeface="Fira Sans Light"/>
                <a:sym typeface="Fira Sans Light"/>
              </a:rPr>
              <a:t>Shrestha</a:t>
            </a:r>
            <a:endParaRPr>
              <a:solidFill>
                <a:srgbClr val="00315F"/>
              </a:solidFill>
              <a:latin typeface="Fira Sans Light"/>
              <a:ea typeface="Fira Sans Light"/>
              <a:cs typeface="Fira Sans Light"/>
              <a:sym typeface="Fira Sans Light"/>
            </a:endParaRPr>
          </a:p>
        </p:txBody>
      </p:sp>
      <p:pic>
        <p:nvPicPr>
          <p:cNvPr id="753" name="Google Shape;75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7200" y="1961150"/>
            <a:ext cx="3182350" cy="31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5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5" name="Google Shape;755;p45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6" name="Google Shape;756;p45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7" name="Google Shape;757;p45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8" name="Google Shape;758;p45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59" name="Google Shape;759;p45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0" name="Google Shape;760;p45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1" name="Google Shape;761;p45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2" name="Google Shape;762;p45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3" name="Google Shape;763;p45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4" name="Google Shape;764;p45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5" name="Google Shape;765;p45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6" name="Google Shape;766;p45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7" name="Google Shape;767;p45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8" name="Google Shape;768;p45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69" name="Google Shape;769;p45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0" name="Google Shape;770;p45"/>
          <p:cNvSpPr/>
          <p:nvPr/>
        </p:nvSpPr>
        <p:spPr>
          <a:xfrm>
            <a:off x="4340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1" name="Google Shape;771;p45"/>
          <p:cNvSpPr/>
          <p:nvPr/>
        </p:nvSpPr>
        <p:spPr>
          <a:xfrm>
            <a:off x="4404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2" name="Google Shape;772;p45"/>
          <p:cNvSpPr/>
          <p:nvPr/>
        </p:nvSpPr>
        <p:spPr>
          <a:xfrm>
            <a:off x="4467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3" name="Google Shape;773;p45"/>
          <p:cNvSpPr/>
          <p:nvPr/>
        </p:nvSpPr>
        <p:spPr>
          <a:xfrm>
            <a:off x="4531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4" name="Google Shape;774;p45"/>
          <p:cNvSpPr/>
          <p:nvPr/>
        </p:nvSpPr>
        <p:spPr>
          <a:xfrm>
            <a:off x="45948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5" name="Google Shape;775;p45"/>
          <p:cNvSpPr/>
          <p:nvPr/>
        </p:nvSpPr>
        <p:spPr>
          <a:xfrm>
            <a:off x="4658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6" name="Google Shape;776;p45"/>
          <p:cNvSpPr/>
          <p:nvPr/>
        </p:nvSpPr>
        <p:spPr>
          <a:xfrm>
            <a:off x="4721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7" name="Google Shape;777;p45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8" name="Google Shape;778;p45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9" name="Google Shape;779;p45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17/20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6"/>
          <p:cNvSpPr txBox="1"/>
          <p:nvPr>
            <p:ph type="title"/>
          </p:nvPr>
        </p:nvSpPr>
        <p:spPr>
          <a:xfrm>
            <a:off x="1059174" y="240325"/>
            <a:ext cx="80742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B3A5C"/>
                </a:solidFill>
              </a:rPr>
              <a:t>RG-D </a:t>
            </a:r>
            <a:r>
              <a:rPr lang="en" sz="2500">
                <a:solidFill>
                  <a:srgbClr val="1B3A5C"/>
                </a:solidFill>
              </a:rPr>
              <a:t>CT Study: Very Preliminary Nuclear Transparency </a:t>
            </a:r>
            <a:endParaRPr sz="2500">
              <a:solidFill>
                <a:srgbClr val="1B3A5C"/>
              </a:solidFill>
            </a:endParaRPr>
          </a:p>
        </p:txBody>
      </p:sp>
      <p:sp>
        <p:nvSpPr>
          <p:cNvPr id="785" name="Google Shape;785;p46"/>
          <p:cNvSpPr txBox="1"/>
          <p:nvPr>
            <p:ph idx="1" type="body"/>
          </p:nvPr>
        </p:nvSpPr>
        <p:spPr>
          <a:xfrm>
            <a:off x="0" y="937250"/>
            <a:ext cx="9144000" cy="8556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B3A5C"/>
                </a:solidFill>
              </a:rPr>
              <a:t>Fit oppositely charged pions invariant mass with a Breit-Wigner and 3</a:t>
            </a:r>
            <a:r>
              <a:rPr baseline="30000" lang="en">
                <a:solidFill>
                  <a:srgbClr val="1B3A5C"/>
                </a:solidFill>
              </a:rPr>
              <a:t>rd</a:t>
            </a:r>
            <a:r>
              <a:rPr lang="en">
                <a:solidFill>
                  <a:srgbClr val="1B3A5C"/>
                </a:solidFill>
              </a:rPr>
              <a:t>-order polynomial</a:t>
            </a:r>
            <a:endParaRPr>
              <a:solidFill>
                <a:srgbClr val="1B3A5C"/>
              </a:solidFill>
            </a:endParaRPr>
          </a:p>
          <a:p>
            <a:pPr indent="-147320" lvl="0" marL="18288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600"/>
              <a:buChar char="-"/>
            </a:pPr>
            <a:r>
              <a:rPr lang="en" sz="1600">
                <a:solidFill>
                  <a:srgbClr val="1B3A5C"/>
                </a:solidFill>
              </a:rPr>
              <a:t>Extract ρ</a:t>
            </a:r>
            <a:r>
              <a:rPr baseline="30000" lang="en" sz="1600">
                <a:solidFill>
                  <a:srgbClr val="1B3A5C"/>
                </a:solidFill>
              </a:rPr>
              <a:t>0</a:t>
            </a:r>
            <a:r>
              <a:rPr lang="en" sz="1600">
                <a:solidFill>
                  <a:srgbClr val="1B3A5C"/>
                </a:solidFill>
              </a:rPr>
              <a:t> yield by integrating the background-subtracted BW</a:t>
            </a:r>
            <a:r>
              <a:rPr lang="en" sz="1600">
                <a:solidFill>
                  <a:srgbClr val="1B3A5C"/>
                </a:solidFill>
              </a:rPr>
              <a:t> within a 3σ range using 10% of the Pass1 reconstruction data</a:t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786" name="Google Shape;78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92750"/>
            <a:ext cx="4568307" cy="335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5056" y="1792750"/>
            <a:ext cx="4568258" cy="335075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6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89" name="Google Shape;789;p46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0" name="Google Shape;790;p46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1" name="Google Shape;791;p46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2" name="Google Shape;792;p46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3" name="Google Shape;793;p46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4" name="Google Shape;794;p46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5" name="Google Shape;795;p46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6" name="Google Shape;796;p46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7" name="Google Shape;797;p46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8" name="Google Shape;798;p46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99" name="Google Shape;799;p46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0" name="Google Shape;800;p46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1" name="Google Shape;801;p46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2" name="Google Shape;802;p46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3" name="Google Shape;803;p46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4" name="Google Shape;804;p46"/>
          <p:cNvSpPr/>
          <p:nvPr/>
        </p:nvSpPr>
        <p:spPr>
          <a:xfrm>
            <a:off x="4340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5" name="Google Shape;805;p46"/>
          <p:cNvSpPr/>
          <p:nvPr/>
        </p:nvSpPr>
        <p:spPr>
          <a:xfrm>
            <a:off x="4404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6" name="Google Shape;806;p46"/>
          <p:cNvSpPr/>
          <p:nvPr/>
        </p:nvSpPr>
        <p:spPr>
          <a:xfrm>
            <a:off x="4467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7" name="Google Shape;807;p46"/>
          <p:cNvSpPr/>
          <p:nvPr/>
        </p:nvSpPr>
        <p:spPr>
          <a:xfrm>
            <a:off x="4531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8" name="Google Shape;808;p46"/>
          <p:cNvSpPr/>
          <p:nvPr/>
        </p:nvSpPr>
        <p:spPr>
          <a:xfrm>
            <a:off x="4594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09" name="Google Shape;809;p46"/>
          <p:cNvSpPr/>
          <p:nvPr/>
        </p:nvSpPr>
        <p:spPr>
          <a:xfrm>
            <a:off x="46583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0" name="Google Shape;810;p46"/>
          <p:cNvSpPr/>
          <p:nvPr/>
        </p:nvSpPr>
        <p:spPr>
          <a:xfrm>
            <a:off x="4721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1" name="Google Shape;811;p46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2" name="Google Shape;812;p46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3" name="Google Shape;813;p46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18/20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7"/>
          <p:cNvSpPr txBox="1"/>
          <p:nvPr>
            <p:ph type="title"/>
          </p:nvPr>
        </p:nvSpPr>
        <p:spPr>
          <a:xfrm>
            <a:off x="1059174" y="240325"/>
            <a:ext cx="79911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B3A5C"/>
                </a:solidFill>
              </a:rPr>
              <a:t>RG-D CT Study: Very Preliminary Nuclear Transparency </a:t>
            </a:r>
            <a:endParaRPr sz="2500">
              <a:solidFill>
                <a:srgbClr val="1B3A5C"/>
              </a:solidFill>
            </a:endParaRPr>
          </a:p>
        </p:txBody>
      </p:sp>
      <p:sp>
        <p:nvSpPr>
          <p:cNvPr id="819" name="Google Shape;819;p47"/>
          <p:cNvSpPr txBox="1"/>
          <p:nvPr>
            <p:ph idx="1" type="body"/>
          </p:nvPr>
        </p:nvSpPr>
        <p:spPr>
          <a:xfrm>
            <a:off x="0" y="826006"/>
            <a:ext cx="3906600" cy="40176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B3A5C"/>
                </a:solidFill>
              </a:rPr>
              <a:t>Extract (raw) nuclear transparency as currently available Pass1 reconstructed data (around 10% of total)</a:t>
            </a:r>
            <a:endParaRPr sz="20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40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LD2</a:t>
            </a:r>
            <a:r>
              <a:rPr lang="en" sz="1500">
                <a:solidFill>
                  <a:srgbClr val="1B3A5C"/>
                </a:solidFill>
              </a:rPr>
              <a:t>= 5 cm: LD2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C</a:t>
            </a:r>
            <a:r>
              <a:rPr lang="en" sz="1500">
                <a:solidFill>
                  <a:srgbClr val="1B3A5C"/>
                </a:solidFill>
              </a:rPr>
              <a:t> = 0.4 cm: CxC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Cu</a:t>
            </a:r>
            <a:r>
              <a:rPr lang="en" sz="1500">
                <a:solidFill>
                  <a:srgbClr val="1B3A5C"/>
                </a:solidFill>
              </a:rPr>
              <a:t>= 93 μm: Copper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r</a:t>
            </a:r>
            <a:r>
              <a:rPr baseline="-25000" lang="en" sz="1500">
                <a:solidFill>
                  <a:srgbClr val="1B3A5C"/>
                </a:solidFill>
              </a:rPr>
              <a:t>Sn</a:t>
            </a:r>
            <a:r>
              <a:rPr lang="en" sz="1500">
                <a:solidFill>
                  <a:srgbClr val="1B3A5C"/>
                </a:solidFill>
              </a:rPr>
              <a:t> = 171 μm: Tin thickness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LD2</a:t>
            </a:r>
            <a:r>
              <a:rPr lang="en" sz="1500">
                <a:solidFill>
                  <a:srgbClr val="1B3A5C"/>
                </a:solidFill>
              </a:rPr>
              <a:t>= 0.164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LD2 density 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C</a:t>
            </a:r>
            <a:r>
              <a:rPr lang="en" sz="1500">
                <a:solidFill>
                  <a:srgbClr val="1B3A5C"/>
                </a:solidFill>
              </a:rPr>
              <a:t>= 2.2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Carbon density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Cu</a:t>
            </a:r>
            <a:r>
              <a:rPr lang="en" sz="1500">
                <a:solidFill>
                  <a:srgbClr val="1B3A5C"/>
                </a:solidFill>
              </a:rPr>
              <a:t>= 8.96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Copper density </a:t>
            </a:r>
            <a:endParaRPr sz="1500">
              <a:solidFill>
                <a:srgbClr val="1B3A5C"/>
              </a:solidFill>
            </a:endParaRPr>
          </a:p>
          <a:p>
            <a:pPr indent="-140970" lvl="0" marL="182880" rtl="0" algn="l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1500"/>
              <a:buChar char="•"/>
            </a:pPr>
            <a:r>
              <a:rPr lang="en" sz="1500">
                <a:solidFill>
                  <a:srgbClr val="1B3A5C"/>
                </a:solidFill>
              </a:rPr>
              <a:t>ρ</a:t>
            </a:r>
            <a:r>
              <a:rPr baseline="-25000" lang="en" sz="1500">
                <a:solidFill>
                  <a:srgbClr val="1B3A5C"/>
                </a:solidFill>
              </a:rPr>
              <a:t>Sn</a:t>
            </a:r>
            <a:r>
              <a:rPr lang="en" sz="1500">
                <a:solidFill>
                  <a:srgbClr val="1B3A5C"/>
                </a:solidFill>
              </a:rPr>
              <a:t>= 7.31 g/cm</a:t>
            </a:r>
            <a:r>
              <a:rPr baseline="30000" lang="en" sz="1500">
                <a:solidFill>
                  <a:srgbClr val="1B3A5C"/>
                </a:solidFill>
              </a:rPr>
              <a:t>3</a:t>
            </a:r>
            <a:r>
              <a:rPr lang="en" sz="1500">
                <a:solidFill>
                  <a:srgbClr val="1B3A5C"/>
                </a:solidFill>
              </a:rPr>
              <a:t>: Tin density</a:t>
            </a:r>
            <a:endParaRPr sz="15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B3A5C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B3A5C"/>
              </a:solidFill>
            </a:endParaRPr>
          </a:p>
        </p:txBody>
      </p:sp>
      <p:pic>
        <p:nvPicPr>
          <p:cNvPr id="820" name="Google Shape;820;p47"/>
          <p:cNvPicPr preferRelativeResize="0"/>
          <p:nvPr/>
        </p:nvPicPr>
        <p:blipFill rotWithShape="1">
          <a:blip r:embed="rId3">
            <a:alphaModFix/>
          </a:blip>
          <a:srcRect b="0" l="0" r="0" t="833"/>
          <a:stretch/>
        </p:blipFill>
        <p:spPr>
          <a:xfrm>
            <a:off x="3906600" y="858720"/>
            <a:ext cx="5206577" cy="381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47" title="{&quot;red&quot;:0,&quot;green&quot;:0,&quot;blue&quot;:0,&quot;origURL&quot;:&quot;https://www.codecogs.com/eqnedit.php?latex=T_A%3D%5Cfrac%7BN_%7B%5Crho%5E0%7D%5EA%7D%7BN_%7B%5Crho%5E0%7D%5E%7BL%20D%202%7D%7D%20%5Cfrac%7Br_%7BL%20D%202%7D%20%5Crho_%7BL%20D%202%7D%7D%7Br_A%20%5Crho_A%7D%20%5Cfrac%7BQ_%7BLD2%7D%7D%7BQ_A%7D#0&quot;,&quot;size&quot;:14,&quot;width&quot;:236.50393700787404,&quot;height&quot;:97.91338582677166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00" y="2150750"/>
            <a:ext cx="3409598" cy="841989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7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3" name="Google Shape;823;p47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4" name="Google Shape;824;p47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5" name="Google Shape;825;p47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6" name="Google Shape;826;p47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7" name="Google Shape;827;p47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8" name="Google Shape;828;p47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9" name="Google Shape;829;p47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0" name="Google Shape;830;p47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1" name="Google Shape;831;p47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2" name="Google Shape;832;p47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3" name="Google Shape;833;p47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4" name="Google Shape;834;p47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5" name="Google Shape;835;p47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6" name="Google Shape;836;p47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7" name="Google Shape;837;p47"/>
          <p:cNvSpPr/>
          <p:nvPr/>
        </p:nvSpPr>
        <p:spPr>
          <a:xfrm>
            <a:off x="3632200" y="38100"/>
            <a:ext cx="670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8" name="Google Shape;838;p47"/>
          <p:cNvSpPr/>
          <p:nvPr/>
        </p:nvSpPr>
        <p:spPr>
          <a:xfrm>
            <a:off x="4340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39" name="Google Shape;839;p47"/>
          <p:cNvSpPr/>
          <p:nvPr/>
        </p:nvSpPr>
        <p:spPr>
          <a:xfrm>
            <a:off x="4404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0" name="Google Shape;840;p47"/>
          <p:cNvSpPr/>
          <p:nvPr/>
        </p:nvSpPr>
        <p:spPr>
          <a:xfrm>
            <a:off x="4467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1" name="Google Shape;841;p47"/>
          <p:cNvSpPr/>
          <p:nvPr/>
        </p:nvSpPr>
        <p:spPr>
          <a:xfrm>
            <a:off x="4531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2" name="Google Shape;842;p47"/>
          <p:cNvSpPr/>
          <p:nvPr/>
        </p:nvSpPr>
        <p:spPr>
          <a:xfrm>
            <a:off x="45948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3" name="Google Shape;843;p47"/>
          <p:cNvSpPr/>
          <p:nvPr/>
        </p:nvSpPr>
        <p:spPr>
          <a:xfrm>
            <a:off x="4658360" y="92075"/>
            <a:ext cx="31800" cy="31800"/>
          </a:xfrm>
          <a:prstGeom prst="ellipse">
            <a:avLst/>
          </a:prstGeom>
          <a:solidFill>
            <a:srgbClr val="7A9B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4" name="Google Shape;844;p47"/>
          <p:cNvSpPr/>
          <p:nvPr/>
        </p:nvSpPr>
        <p:spPr>
          <a:xfrm>
            <a:off x="472186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5" name="Google Shape;845;p47"/>
          <p:cNvSpPr/>
          <p:nvPr/>
        </p:nvSpPr>
        <p:spPr>
          <a:xfrm>
            <a:off x="493776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6" name="Google Shape;846;p47"/>
          <p:cNvSpPr/>
          <p:nvPr/>
        </p:nvSpPr>
        <p:spPr>
          <a:xfrm>
            <a:off x="546481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47" name="Google Shape;847;p47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19/20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8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1B3A5C"/>
                </a:solidFill>
              </a:rPr>
              <a:t>Summary and Outlook</a:t>
            </a:r>
            <a:endParaRPr sz="3200">
              <a:solidFill>
                <a:srgbClr val="1B3A5C"/>
              </a:solidFill>
            </a:endParaRPr>
          </a:p>
        </p:txBody>
      </p:sp>
      <p:sp>
        <p:nvSpPr>
          <p:cNvPr id="853" name="Google Shape;853;p48"/>
          <p:cNvSpPr txBox="1"/>
          <p:nvPr>
            <p:ph idx="1" type="body"/>
          </p:nvPr>
        </p:nvSpPr>
        <p:spPr>
          <a:xfrm>
            <a:off x="42150" y="937250"/>
            <a:ext cx="90342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Font typeface="Fira Sans"/>
              <a:buChar char="•"/>
            </a:pPr>
            <a:r>
              <a:rPr lang="en" sz="2000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RG-D has passed the Pass1 review, and the cooking continue</a:t>
            </a:r>
            <a:endParaRPr sz="2000"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Cooking will take three/four more months</a:t>
            </a:r>
            <a:endParaRPr sz="1800">
              <a:solidFill>
                <a:srgbClr val="00315F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15F"/>
              </a:solidFill>
            </a:endParaRPr>
          </a:p>
          <a:p>
            <a:pPr indent="-17272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000"/>
              <a:buFont typeface="Fira Sans"/>
              <a:buChar char="•"/>
            </a:pPr>
            <a:r>
              <a:rPr lang="en" sz="2000">
                <a:solidFill>
                  <a:srgbClr val="00315F"/>
                </a:solidFill>
                <a:latin typeface="Fira Sans"/>
                <a:ea typeface="Fira Sans"/>
                <a:cs typeface="Fira Sans"/>
                <a:sym typeface="Fira Sans"/>
              </a:rPr>
              <a:t>Optimizing analysis tools for CT and nTMDs studies to</a:t>
            </a:r>
            <a:endParaRPr sz="2000">
              <a:solidFill>
                <a:srgbClr val="00315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Study the hadron/electron contamination in pion sample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Correct for contamination with the CuSn target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Deploy the ρ</a:t>
            </a:r>
            <a:r>
              <a:rPr baseline="30000" lang="en" sz="1800">
                <a:solidFill>
                  <a:srgbClr val="00315F"/>
                </a:solidFill>
              </a:rPr>
              <a:t>0</a:t>
            </a:r>
            <a:r>
              <a:rPr lang="en" sz="1800">
                <a:solidFill>
                  <a:srgbClr val="00315F"/>
                </a:solidFill>
              </a:rPr>
              <a:t> event generator for the two-pion invariant mass background subtraction and apply necessary corrections for the extraction of the preliminary CT results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Implement radiative </a:t>
            </a:r>
            <a:r>
              <a:rPr lang="en" sz="1800">
                <a:solidFill>
                  <a:srgbClr val="00315F"/>
                </a:solidFill>
              </a:rPr>
              <a:t>and acceptance</a:t>
            </a:r>
            <a:r>
              <a:rPr lang="en" sz="1800">
                <a:solidFill>
                  <a:srgbClr val="00315F"/>
                </a:solidFill>
              </a:rPr>
              <a:t> correction for the nuclear transparency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Finalize the π</a:t>
            </a:r>
            <a:r>
              <a:rPr baseline="30000" lang="en" sz="1800">
                <a:solidFill>
                  <a:srgbClr val="00315F"/>
                </a:solidFill>
              </a:rPr>
              <a:t>0</a:t>
            </a:r>
            <a:r>
              <a:rPr lang="en" sz="1800">
                <a:solidFill>
                  <a:srgbClr val="00315F"/>
                </a:solidFill>
              </a:rPr>
              <a:t> event mixing background-subtraction and extract its preliminary asymmetry results</a:t>
            </a:r>
            <a:endParaRPr sz="1800">
              <a:solidFill>
                <a:srgbClr val="00315F"/>
              </a:solidFill>
            </a:endParaRPr>
          </a:p>
          <a:p>
            <a:pPr indent="-160020" lvl="1" marL="3657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0"/>
              <a:buChar char="–"/>
            </a:pPr>
            <a:r>
              <a:rPr lang="en" sz="1800">
                <a:solidFill>
                  <a:srgbClr val="00315F"/>
                </a:solidFill>
              </a:rPr>
              <a:t>Obtain the preliminary asymmetry results for charged pions nTMDs studies</a:t>
            </a:r>
            <a:endParaRPr sz="1800">
              <a:solidFill>
                <a:srgbClr val="00315F"/>
              </a:solidFill>
            </a:endParaRPr>
          </a:p>
        </p:txBody>
      </p:sp>
      <p:sp>
        <p:nvSpPr>
          <p:cNvPr id="854" name="Google Shape;854;p48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5" name="Google Shape;855;p48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6" name="Google Shape;856;p48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7" name="Google Shape;857;p48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8" name="Google Shape;858;p48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9" name="Google Shape;859;p48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0" name="Google Shape;860;p48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1" name="Google Shape;861;p48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2" name="Google Shape;862;p48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3" name="Google Shape;863;p48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4" name="Google Shape;864;p48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5" name="Google Shape;865;p48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6" name="Google Shape;866;p48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7" name="Google Shape;867;p48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8" name="Google Shape;868;p48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9" name="Google Shape;869;p48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0" name="Google Shape;870;p48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1" name="Google Shape;871;p48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2" name="Google Shape;872;p48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3" name="Google Shape;873;p48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4" name="Google Shape;874;p48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5" name="Google Shape;875;p48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6" name="Google Shape;876;p48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7" name="Google Shape;877;p48"/>
          <p:cNvSpPr/>
          <p:nvPr/>
        </p:nvSpPr>
        <p:spPr>
          <a:xfrm>
            <a:off x="4826000" y="38100"/>
            <a:ext cx="586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b="1" sz="60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8" name="Google Shape;878;p48"/>
          <p:cNvSpPr/>
          <p:nvPr/>
        </p:nvSpPr>
        <p:spPr>
          <a:xfrm>
            <a:off x="5450840" y="85725"/>
            <a:ext cx="44400" cy="44400"/>
          </a:xfrm>
          <a:prstGeom prst="ellipse">
            <a:avLst/>
          </a:prstGeom>
          <a:solidFill>
            <a:srgbClr val="0031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79" name="Google Shape;879;p48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3162"/>
                </a:solidFill>
                <a:latin typeface="Fira Sans"/>
                <a:ea typeface="Fira Sans"/>
                <a:cs typeface="Fira Sans"/>
                <a:sym typeface="Fira Sans"/>
              </a:rPr>
              <a:t>20/20</a:t>
            </a:r>
            <a:endParaRPr sz="1350">
              <a:solidFill>
                <a:srgbClr val="00316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9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5" name="Google Shape;88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49"/>
          <p:cNvPicPr preferRelativeResize="0"/>
          <p:nvPr/>
        </p:nvPicPr>
        <p:blipFill rotWithShape="1">
          <a:blip r:embed="rId3">
            <a:alphaModFix/>
          </a:blip>
          <a:srcRect b="90114" l="92441" r="3766" t="3016"/>
          <a:stretch/>
        </p:blipFill>
        <p:spPr>
          <a:xfrm>
            <a:off x="8160225" y="0"/>
            <a:ext cx="256916" cy="26174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49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0"/>
          <p:cNvSpPr txBox="1"/>
          <p:nvPr>
            <p:ph type="title"/>
          </p:nvPr>
        </p:nvSpPr>
        <p:spPr>
          <a:xfrm>
            <a:off x="685788" y="1806601"/>
            <a:ext cx="7772400" cy="1021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3162"/>
                </a:solidFill>
              </a:rPr>
              <a:t>Backup slides</a:t>
            </a:r>
            <a:endParaRPr sz="4000">
              <a:solidFill>
                <a:srgbClr val="003162"/>
              </a:solidFill>
            </a:endParaRPr>
          </a:p>
        </p:txBody>
      </p:sp>
      <p:sp>
        <p:nvSpPr>
          <p:cNvPr id="893" name="Google Shape;893;p50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4" name="Google Shape;894;p50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5" name="Google Shape;895;p50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6" name="Google Shape;896;p50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7" name="Google Shape;897;p50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8" name="Google Shape;898;p50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9" name="Google Shape;899;p50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0" name="Google Shape;900;p50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1" name="Google Shape;901;p50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2" name="Google Shape;902;p50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3" name="Google Shape;903;p50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4" name="Google Shape;904;p50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5" name="Google Shape;905;p50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6" name="Google Shape;906;p50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7" name="Google Shape;907;p50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8" name="Google Shape;908;p50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09" name="Google Shape;909;p50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0" name="Google Shape;910;p50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1" name="Google Shape;911;p50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2" name="Google Shape;912;p50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3" name="Google Shape;913;p50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4" name="Google Shape;914;p50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5" name="Google Shape;915;p50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6" name="Google Shape;916;p50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7" name="Google Shape;917;p50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8" name="Google Shape;918;p50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1"/>
          <p:cNvSpPr txBox="1"/>
          <p:nvPr>
            <p:ph type="title"/>
          </p:nvPr>
        </p:nvSpPr>
        <p:spPr>
          <a:xfrm>
            <a:off x="1059174" y="240325"/>
            <a:ext cx="80721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 Fiducial</a:t>
            </a:r>
            <a:endParaRPr sz="3200"/>
          </a:p>
        </p:txBody>
      </p:sp>
      <p:sp>
        <p:nvSpPr>
          <p:cNvPr id="924" name="Google Shape;924;p51"/>
          <p:cNvSpPr txBox="1"/>
          <p:nvPr>
            <p:ph idx="1" type="body"/>
          </p:nvPr>
        </p:nvSpPr>
        <p:spPr>
          <a:xfrm>
            <a:off x="42150" y="937250"/>
            <a:ext cx="34821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The goal is to remove tracks near the drift chamber edges where tracking quality degrades</a:t>
            </a:r>
            <a:endParaRPr sz="1300"/>
          </a:p>
          <a:p>
            <a:pPr indent="-115570" lvl="0" marL="182880" rtl="0" algn="l">
              <a:spcBef>
                <a:spcPts val="40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profile the chi2/ndf of the track fit as a function of distance from the DC edge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Near the edge: chi2/ndf fluctuates due to poor tracking resolution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Far from the edge: chi2/ndf is stable (good tracking)</a:t>
            </a:r>
            <a:endParaRPr sz="1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To find the transition between these two regimes automatically:</a:t>
            </a:r>
            <a:endParaRPr sz="1300"/>
          </a:p>
          <a:p>
            <a:pPr indent="-115570" lvl="0" marL="182880" rtl="0" algn="l">
              <a:spcBef>
                <a:spcPts val="40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Compute a moving variance of the chi2/ndf profile using a sliding window of 5 bins 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Scan from right to left (from the stable region toward the edge)</a:t>
            </a:r>
            <a:endParaRPr sz="1100"/>
          </a:p>
          <a:p>
            <a:pPr indent="-11557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The first bin where the variance exceeds a threshold (0.05) marks the boundary — this is the cut position</a:t>
            </a:r>
            <a:endParaRPr sz="1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Tracks closer to the edge than the cut position are rejected; tracks beyond are kept</a:t>
            </a:r>
            <a:endParaRPr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00"/>
              <a:t>The method is applied independently for each target, pion charge, and DC region (R1, R2, R3)</a:t>
            </a:r>
            <a:endParaRPr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925" name="Google Shape;92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00" y="1204774"/>
            <a:ext cx="5607025" cy="30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1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7" name="Google Shape;927;p51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8" name="Google Shape;928;p51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29" name="Google Shape;929;p51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0" name="Google Shape;930;p51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1" name="Google Shape;931;p51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2" name="Google Shape;932;p51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3" name="Google Shape;933;p51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4" name="Google Shape;934;p51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5" name="Google Shape;935;p51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6" name="Google Shape;936;p51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7" name="Google Shape;937;p51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9" name="Google Shape;939;p51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0" name="Google Shape;940;p51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1" name="Google Shape;941;p51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3" name="Google Shape;943;p51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5" name="Google Shape;945;p51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6" name="Google Shape;946;p51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7" name="Google Shape;947;p51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8" name="Google Shape;948;p51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49" name="Google Shape;949;p51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0" name="Google Shape;950;p51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1" name="Google Shape;951;p51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2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957" name="Google Shape;957;p52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The pion identification is very important for RG-D analyses (both CT and TMDs)</a:t>
            </a:r>
            <a:endParaRPr/>
          </a:p>
          <a:p>
            <a:pPr indent="-147320" lvl="0" marL="182880" rtl="0" algn="l">
              <a:spcBef>
                <a:spcPts val="4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Also look into the pions detected in the central detector (CD)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π</a:t>
            </a:r>
            <a:r>
              <a:rPr baseline="30000" lang="en" sz="1600"/>
              <a:t>+</a:t>
            </a:r>
            <a:r>
              <a:rPr lang="en" sz="1600"/>
              <a:t>: Central 46.2%, Forward 53.8%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π</a:t>
            </a:r>
            <a:r>
              <a:rPr baseline="30000" lang="en" sz="1600"/>
              <a:t>-</a:t>
            </a:r>
            <a:r>
              <a:rPr lang="en" sz="1600"/>
              <a:t>: Central 30.5%, Forward 69.5%</a:t>
            </a:r>
            <a:endParaRPr sz="1600"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Font typeface="Fira Sans Medium"/>
              <a:buChar char="-"/>
            </a:pPr>
            <a:r>
              <a:rPr lang="en" sz="1600">
                <a:latin typeface="Fira Sans Medium"/>
                <a:ea typeface="Fira Sans Medium"/>
                <a:cs typeface="Fira Sans Medium"/>
                <a:sym typeface="Fira Sans Medium"/>
              </a:rPr>
              <a:t>Between a third and half of the statistic is in the central</a:t>
            </a:r>
            <a:endParaRPr sz="1600">
              <a:latin typeface="Fira Sans Medium"/>
              <a:ea typeface="Fira Sans Medium"/>
              <a:cs typeface="Fira Sans Medium"/>
              <a:sym typeface="Fira Sans Medium"/>
            </a:endParaRPr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Worse β and chi2pid in the central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central pions don’t have any cuts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58" name="Google Shape;95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050" y="764349"/>
            <a:ext cx="5939149" cy="41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52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0" name="Google Shape;960;p52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1" name="Google Shape;961;p52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2" name="Google Shape;962;p52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3" name="Google Shape;963;p52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4" name="Google Shape;964;p52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5" name="Google Shape;965;p52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6" name="Google Shape;966;p52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7" name="Google Shape;967;p52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8" name="Google Shape;968;p52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69" name="Google Shape;969;p52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0" name="Google Shape;970;p52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1" name="Google Shape;971;p52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2" name="Google Shape;972;p52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3" name="Google Shape;973;p52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4" name="Google Shape;974;p52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5" name="Google Shape;975;p52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6" name="Google Shape;976;p52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7" name="Google Shape;977;p52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8" name="Google Shape;978;p52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9" name="Google Shape;979;p52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0" name="Google Shape;980;p52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1" name="Google Shape;981;p52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2" name="Google Shape;982;p52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3" name="Google Shape;983;p52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4" name="Google Shape;984;p52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3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RG-D Particle IDentification: Pions</a:t>
            </a:r>
            <a:endParaRPr sz="3200"/>
          </a:p>
        </p:txBody>
      </p:sp>
      <p:sp>
        <p:nvSpPr>
          <p:cNvPr id="990" name="Google Shape;990;p53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The pion identification is very important for RG-D analyses (both CT and TMDs)</a:t>
            </a:r>
            <a:endParaRPr/>
          </a:p>
          <a:p>
            <a:pPr indent="-147320" lvl="0" marL="182880" rtl="0" algn="l">
              <a:spcBef>
                <a:spcPts val="4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Also look into invariant mass for the pions detected in the central detector (CD)</a:t>
            </a:r>
            <a:endParaRPr sz="1600"/>
          </a:p>
          <a:p>
            <a:pPr indent="-147320" lvl="0" marL="18288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After applying cuts: z</a:t>
            </a:r>
            <a:r>
              <a:rPr baseline="-25000" lang="en" sz="1600"/>
              <a:t>h </a:t>
            </a:r>
            <a:r>
              <a:rPr lang="en" sz="1600"/>
              <a:t>&gt; 0.9, 0.1 &lt; -t &lt; 0.5 GeV</a:t>
            </a:r>
            <a:r>
              <a:rPr baseline="30000" lang="en" sz="1600"/>
              <a:t>2</a:t>
            </a:r>
            <a:r>
              <a:rPr lang="en" sz="1600"/>
              <a:t>, l</a:t>
            </a:r>
            <a:r>
              <a:rPr baseline="-25000" lang="en" sz="1600"/>
              <a:t>c</a:t>
            </a:r>
            <a:r>
              <a:rPr lang="en" sz="1600"/>
              <a:t>&lt; 1 fm</a:t>
            </a:r>
            <a:endParaRPr sz="16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91" name="Google Shape;99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63" y="1934600"/>
            <a:ext cx="7885476" cy="2872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53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3" name="Google Shape;993;p53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4" name="Google Shape;994;p53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5" name="Google Shape;995;p53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6" name="Google Shape;996;p53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7" name="Google Shape;997;p53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8" name="Google Shape;998;p53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99" name="Google Shape;999;p53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0" name="Google Shape;1000;p53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1" name="Google Shape;1001;p53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2" name="Google Shape;1002;p53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3" name="Google Shape;1003;p53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4" name="Google Shape;1004;p53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5" name="Google Shape;1005;p53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6" name="Google Shape;1006;p53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7" name="Google Shape;1007;p53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8" name="Google Shape;1008;p53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09" name="Google Shape;1009;p53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0" name="Google Shape;1010;p53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1" name="Google Shape;1011;p53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2" name="Google Shape;1012;p53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3" name="Google Shape;1013;p53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4" name="Google Shape;1014;p53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5" name="Google Shape;1015;p53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6" name="Google Shape;1016;p53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17" name="Google Shape;1017;p53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4"/>
          <p:cNvSpPr txBox="1"/>
          <p:nvPr>
            <p:ph type="title"/>
          </p:nvPr>
        </p:nvSpPr>
        <p:spPr>
          <a:xfrm>
            <a:off x="1059181" y="240317"/>
            <a:ext cx="7122300" cy="664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CT Study: Two-pion Invariant Mass</a:t>
            </a:r>
            <a:endParaRPr sz="3200"/>
          </a:p>
        </p:txBody>
      </p:sp>
      <p:sp>
        <p:nvSpPr>
          <p:cNvPr id="1023" name="Google Shape;1023;p54"/>
          <p:cNvSpPr txBox="1"/>
          <p:nvPr>
            <p:ph idx="1" type="body"/>
          </p:nvPr>
        </p:nvSpPr>
        <p:spPr>
          <a:xfrm>
            <a:off x="42150" y="937250"/>
            <a:ext cx="8644800" cy="3645000"/>
          </a:xfrm>
          <a:prstGeom prst="rect">
            <a:avLst/>
          </a:prstGeom>
        </p:spPr>
        <p:txBody>
          <a:bodyPr anchorCtr="0" anchor="t" bIns="34275" lIns="0" spcFirstLastPara="1" rIns="0" wrap="square" tIns="36575">
            <a:noAutofit/>
          </a:bodyPr>
          <a:lstStyle/>
          <a:p>
            <a:pPr indent="-160020" lvl="0" marL="182880" rtl="0" algn="l"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Our event generator incorporates the measured cross sections by Cassel et al. for the electroproduction of ρ0 and the three main background processes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4" name="Google Shape;102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725" y="1558925"/>
            <a:ext cx="6829852" cy="358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54"/>
          <p:cNvSpPr/>
          <p:nvPr/>
        </p:nvSpPr>
        <p:spPr>
          <a:xfrm>
            <a:off x="7714550" y="4923050"/>
            <a:ext cx="267000" cy="22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54"/>
          <p:cNvSpPr/>
          <p:nvPr/>
        </p:nvSpPr>
        <p:spPr>
          <a:xfrm>
            <a:off x="0" y="0"/>
            <a:ext cx="9144000" cy="19200"/>
          </a:xfrm>
          <a:prstGeom prst="rect">
            <a:avLst/>
          </a:prstGeom>
          <a:solidFill>
            <a:srgbClr val="0031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7" name="Google Shape;1027;p54"/>
          <p:cNvSpPr/>
          <p:nvPr/>
        </p:nvSpPr>
        <p:spPr>
          <a:xfrm>
            <a:off x="1270000" y="50800"/>
            <a:ext cx="838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Introduction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8" name="Google Shape;1028;p54"/>
          <p:cNvSpPr/>
          <p:nvPr/>
        </p:nvSpPr>
        <p:spPr>
          <a:xfrm>
            <a:off x="214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29" name="Google Shape;1029;p54"/>
          <p:cNvSpPr/>
          <p:nvPr/>
        </p:nvSpPr>
        <p:spPr>
          <a:xfrm>
            <a:off x="2209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0" name="Google Shape;1030;p54"/>
          <p:cNvSpPr/>
          <p:nvPr/>
        </p:nvSpPr>
        <p:spPr>
          <a:xfrm>
            <a:off x="2273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1" name="Google Shape;1031;p54"/>
          <p:cNvSpPr/>
          <p:nvPr/>
        </p:nvSpPr>
        <p:spPr>
          <a:xfrm>
            <a:off x="2336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2" name="Google Shape;1032;p54"/>
          <p:cNvSpPr/>
          <p:nvPr/>
        </p:nvSpPr>
        <p:spPr>
          <a:xfrm>
            <a:off x="2400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3" name="Google Shape;1033;p54"/>
          <p:cNvSpPr/>
          <p:nvPr/>
        </p:nvSpPr>
        <p:spPr>
          <a:xfrm>
            <a:off x="2616200" y="50800"/>
            <a:ext cx="3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PID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4" name="Google Shape;1034;p54"/>
          <p:cNvSpPr/>
          <p:nvPr/>
        </p:nvSpPr>
        <p:spPr>
          <a:xfrm>
            <a:off x="3035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5" name="Google Shape;1035;p54"/>
          <p:cNvSpPr/>
          <p:nvPr/>
        </p:nvSpPr>
        <p:spPr>
          <a:xfrm>
            <a:off x="3098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6" name="Google Shape;1036;p54"/>
          <p:cNvSpPr/>
          <p:nvPr/>
        </p:nvSpPr>
        <p:spPr>
          <a:xfrm>
            <a:off x="3162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7" name="Google Shape;1037;p54"/>
          <p:cNvSpPr/>
          <p:nvPr/>
        </p:nvSpPr>
        <p:spPr>
          <a:xfrm>
            <a:off x="3225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8" name="Google Shape;1038;p54"/>
          <p:cNvSpPr/>
          <p:nvPr/>
        </p:nvSpPr>
        <p:spPr>
          <a:xfrm>
            <a:off x="3289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9" name="Google Shape;1039;p54"/>
          <p:cNvSpPr/>
          <p:nvPr/>
        </p:nvSpPr>
        <p:spPr>
          <a:xfrm>
            <a:off x="33528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0" name="Google Shape;1040;p54"/>
          <p:cNvSpPr/>
          <p:nvPr/>
        </p:nvSpPr>
        <p:spPr>
          <a:xfrm>
            <a:off x="34163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1" name="Google Shape;1041;p54"/>
          <p:cNvSpPr/>
          <p:nvPr/>
        </p:nvSpPr>
        <p:spPr>
          <a:xfrm>
            <a:off x="3632200" y="50800"/>
            <a:ext cx="55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Analysis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2" name="Google Shape;1042;p54"/>
          <p:cNvSpPr/>
          <p:nvPr/>
        </p:nvSpPr>
        <p:spPr>
          <a:xfrm>
            <a:off x="4229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3" name="Google Shape;1043;p54"/>
          <p:cNvSpPr/>
          <p:nvPr/>
        </p:nvSpPr>
        <p:spPr>
          <a:xfrm>
            <a:off x="4292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4" name="Google Shape;1044;p54"/>
          <p:cNvSpPr/>
          <p:nvPr/>
        </p:nvSpPr>
        <p:spPr>
          <a:xfrm>
            <a:off x="4356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5" name="Google Shape;1045;p54"/>
          <p:cNvSpPr/>
          <p:nvPr/>
        </p:nvSpPr>
        <p:spPr>
          <a:xfrm>
            <a:off x="4419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6" name="Google Shape;1046;p54"/>
          <p:cNvSpPr/>
          <p:nvPr/>
        </p:nvSpPr>
        <p:spPr>
          <a:xfrm>
            <a:off x="4483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7" name="Google Shape;1047;p54"/>
          <p:cNvSpPr/>
          <p:nvPr/>
        </p:nvSpPr>
        <p:spPr>
          <a:xfrm>
            <a:off x="45466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8" name="Google Shape;1048;p54"/>
          <p:cNvSpPr/>
          <p:nvPr/>
        </p:nvSpPr>
        <p:spPr>
          <a:xfrm>
            <a:off x="461010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49" name="Google Shape;1049;p54"/>
          <p:cNvSpPr/>
          <p:nvPr/>
        </p:nvSpPr>
        <p:spPr>
          <a:xfrm>
            <a:off x="4826000" y="50800"/>
            <a:ext cx="489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sz="50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50" name="Google Shape;1050;p54"/>
          <p:cNvSpPr/>
          <p:nvPr/>
        </p:nvSpPr>
        <p:spPr>
          <a:xfrm>
            <a:off x="5353050" y="92075"/>
            <a:ext cx="31800" cy="31800"/>
          </a:xfrm>
          <a:prstGeom prst="ellipse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51" name="Google Shape;1051;p54"/>
          <p:cNvSpPr/>
          <p:nvPr/>
        </p:nvSpPr>
        <p:spPr>
          <a:xfrm>
            <a:off x="8255000" y="127000"/>
            <a:ext cx="888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AAAAAA"/>
                </a:solidFill>
                <a:latin typeface="Fira Sans"/>
                <a:ea typeface="Fira Sans"/>
                <a:cs typeface="Fira Sans"/>
                <a:sym typeface="Fira Sans"/>
              </a:rPr>
              <a:t>Backup</a:t>
            </a:r>
            <a:endParaRPr sz="950">
              <a:solidFill>
                <a:srgbClr val="AAAAAA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