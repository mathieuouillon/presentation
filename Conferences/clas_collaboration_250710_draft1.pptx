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120D46-7E22-494F-BECF-91AFBBB92D69}">
  <a:tblStyle styleId="{18120D46-7E22-494F-BECF-91AFBBB92D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48343" y="68965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48343" y="3299959"/>
            <a:ext cx="9144000" cy="635227"/>
          </a:xfrm>
          <a:prstGeom prst="rect">
            <a:avLst/>
          </a:prstGeom>
          <a:solidFill>
            <a:srgbClr val="FFF4E6"/>
          </a:solidFill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9862457" y="4421074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682467"/>
            <a:ext cx="5055507" cy="971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  <a:defRPr b="0" i="0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 rot="-5400000">
            <a:off x="11488690" y="-22274"/>
            <a:ext cx="681036" cy="725582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" name="Google Shape;23;p3"/>
          <p:cNvCxnSpPr/>
          <p:nvPr/>
        </p:nvCxnSpPr>
        <p:spPr>
          <a:xfrm rot="10800000">
            <a:off x="0" y="649287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3"/>
          <p:cNvSpPr txBox="1"/>
          <p:nvPr/>
        </p:nvSpPr>
        <p:spPr>
          <a:xfrm>
            <a:off x="0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Mathieu Ouillon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4400"/>
              <a:buFont typeface="Avenir"/>
              <a:buNone/>
              <a:defRPr b="0" i="0" sz="44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 rot="-5400000">
            <a:off x="11488690" y="-22274"/>
            <a:ext cx="681036" cy="725582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6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3147445" y="-2297680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jlab.org/exp_prog/proposals/20/E12-06-106A_Proposal.pdf" TargetMode="External"/><Relationship Id="rId4" Type="http://schemas.openxmlformats.org/officeDocument/2006/relationships/hyperlink" Target="https://misportal.jlab.org/mis/physics/experiments/viewProposal.cfm?paperId=68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Gregtom3/clas12_photon_classifier" TargetMode="External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5321" y="5379407"/>
            <a:ext cx="4600353" cy="143761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type="ctrTitle"/>
          </p:nvPr>
        </p:nvSpPr>
        <p:spPr>
          <a:xfrm>
            <a:off x="348343" y="689656"/>
            <a:ext cx="87876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6000"/>
              <a:buFont typeface="Arial"/>
              <a:buNone/>
            </a:pPr>
            <a:r>
              <a:rPr lang="en-US"/>
              <a:t>RG-D Experiments: Status and Analysis Plans</a:t>
            </a:r>
            <a:endParaRPr sz="6600"/>
          </a:p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348343" y="3299959"/>
            <a:ext cx="9144000" cy="635227"/>
          </a:xfrm>
          <a:prstGeom prst="rect">
            <a:avLst/>
          </a:prstGeom>
          <a:solidFill>
            <a:srgbClr val="FFF4E6"/>
          </a:solidFill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Mathieu Ouillon (Mississippi State University)</a:t>
            </a:r>
            <a:endParaRPr/>
          </a:p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>
            <a:off x="9983972" y="4346744"/>
            <a:ext cx="1719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07/10/25</a:t>
            </a:r>
            <a:endParaRPr sz="2400"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7298" y="5433062"/>
            <a:ext cx="2488023" cy="133180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595384" y="4765524"/>
            <a:ext cx="61084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CLAS Collaboration (8-11 July 2025)</a:t>
            </a:r>
            <a:endParaRPr b="0" i="0" sz="2400" u="none" cap="none" strike="noStrike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Run Group D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0" y="784451"/>
            <a:ext cx="10664455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RG-D is composed of two experiments:</a:t>
            </a:r>
            <a:endParaRPr/>
          </a:p>
          <a:p>
            <a:pPr indent="932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105" name="Google Shape;105;p15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-2721" y="6130788"/>
            <a:ext cx="1219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Argonne National Lab, </a:t>
            </a:r>
            <a:r>
              <a:rPr b="0" baseline="3000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IJCLAB, Orsay, France </a:t>
            </a:r>
            <a:r>
              <a:rPr b="0" baseline="3000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Mississippi State U., </a:t>
            </a:r>
            <a:r>
              <a:rPr b="0" baseline="3000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University of New-Hampshire, </a:t>
            </a:r>
            <a:r>
              <a:rPr b="0" baseline="3000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Jefferson Lab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098724" y="1788257"/>
            <a:ext cx="609327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Nuclear Transverse Momentum Distributions (nTMDs) in CLAS12 (</a:t>
            </a:r>
            <a:r>
              <a:rPr lang="en-US" sz="2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E12-06-106A</a:t>
            </a:r>
            <a:r>
              <a:rPr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)​: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Spokespeoples: R. Dupré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, L. El Fassi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, Zein-Eddine Meziani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, and Holly Szumila-Vance​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7636" y="1761136"/>
            <a:ext cx="601020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Study of Color Transparency (CT) in Exclusive Vector Meson Electro-production off Nuclei (</a:t>
            </a:r>
            <a:r>
              <a:rPr lang="en-US" sz="2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E12-06-106</a:t>
            </a:r>
            <a:r>
              <a:rPr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)​: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Spokespeoples: W. Armstrong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, L. El Fassi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, K. Hafidi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, M. Holtrop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, and B. Mustapha</a:t>
            </a:r>
            <a:r>
              <a:rPr b="0" baseline="30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1​</a:t>
            </a:r>
            <a:endParaRPr b="0" i="0" sz="2400" u="none" cap="none" strike="noStrike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15"/>
          <p:cNvCxnSpPr/>
          <p:nvPr/>
        </p:nvCxnSpPr>
        <p:spPr>
          <a:xfrm>
            <a:off x="6093279" y="1389288"/>
            <a:ext cx="0" cy="3704080"/>
          </a:xfrm>
          <a:prstGeom prst="straightConnector1">
            <a:avLst/>
          </a:prstGeom>
          <a:noFill/>
          <a:ln cap="flat" cmpd="sng" w="28575">
            <a:solidFill>
              <a:srgbClr val="BE9B7B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2107" y="701201"/>
            <a:ext cx="5577172" cy="244469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RG-D: CT Experiment​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-1" y="694645"/>
            <a:ext cx="6929694" cy="2504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E12-06-106, Color Transparency: suppression of interactions of the colorless small size configuration in the nuclear medium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Experimental signature: rise of the nuclear transparency, </a:t>
            </a:r>
            <a:r>
              <a:rPr i="1" lang="en-US" sz="2400"/>
              <a:t>T</a:t>
            </a:r>
            <a:r>
              <a:rPr baseline="-25000" lang="en-US" sz="2400"/>
              <a:t>A</a:t>
            </a:r>
            <a:r>
              <a:rPr lang="en-US" sz="2400"/>
              <a:t> as a function of Q</a:t>
            </a:r>
            <a:r>
              <a:rPr baseline="30000" lang="en-US" sz="2400"/>
              <a:t>2</a:t>
            </a:r>
            <a:r>
              <a:rPr lang="en-US" sz="2400"/>
              <a:t>: ​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o"/>
            </a:pPr>
            <a:r>
              <a:rPr i="1" lang="en-US" sz="2000"/>
              <a:t>T</a:t>
            </a:r>
            <a:r>
              <a:rPr baseline="-25000" lang="en-US" sz="2000"/>
              <a:t>A</a:t>
            </a:r>
            <a:r>
              <a:rPr lang="en-US" sz="2000"/>
              <a:t>: ratio of the cross section per nucleon on a bound nucleon to that on a free nucleon</a:t>
            </a:r>
            <a:endParaRPr/>
          </a:p>
          <a:p>
            <a:pPr indent="678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19" name="Google Shape;119;p16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120" name="Google Shape;120;p16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7157" y="3198975"/>
            <a:ext cx="5187072" cy="3263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562" y="3142153"/>
            <a:ext cx="2063513" cy="88918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2903643" y="3175166"/>
            <a:ext cx="33808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Arial"/>
              <a:buNone/>
            </a:pPr>
            <a:r>
              <a:rPr b="0" i="0" lang="en-US" sz="18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-US" sz="18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− nuclei cross section</a:t>
            </a:r>
            <a:endParaRPr sz="1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-US" sz="18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− free nucleon cross section</a:t>
            </a:r>
            <a:endParaRPr sz="1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-1" y="5798422"/>
            <a:ext cx="67576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Arial"/>
              <a:buNone/>
            </a:pPr>
            <a:r>
              <a:rPr b="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Coherence length, l</a:t>
            </a:r>
            <a:r>
              <a:rPr b="0" baseline="-2500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the lifetime of the qq-bar pair</a:t>
            </a:r>
            <a:endParaRPr sz="16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Formation time, l</a:t>
            </a:r>
            <a:r>
              <a:rPr b="0" baseline="-2500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the time evolution of SSC</a:t>
            </a:r>
            <a:r>
              <a:rPr lang="en-US" sz="16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to an on-shell ρ</a:t>
            </a:r>
            <a:r>
              <a:rPr b="0" baseline="3000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600" u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meson​​</a:t>
            </a:r>
            <a:endParaRPr sz="16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-18940" y="4170220"/>
            <a:ext cx="672261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Objective: understanding the dynamical evolution from small-size configurations into ordinary hadrons, and validating the QCD factorization theorem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RG-D: Nuclear TMDs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0" y="712936"/>
            <a:ext cx="7825563" cy="5592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E12-06-106A: nTMDs study uses the same CT running conditions except the beam polarization, and aims to study​: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Nuclear effect on SIDIS asymmetries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Transport coefficient of the nuclear matter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For that, measure: 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cos φ, sin φ, cos(2φ)</a:t>
            </a:r>
            <a:r>
              <a:rPr baseline="30000" lang="en-US"/>
              <a:t>1</a:t>
            </a:r>
            <a:r>
              <a:rPr lang="en-US"/>
              <a:t> moments for different hadrons: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14" y="3718735"/>
            <a:ext cx="34036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3815" y="3718735"/>
            <a:ext cx="33528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14" y="4811380"/>
            <a:ext cx="34036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5314" y="5766224"/>
            <a:ext cx="62306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(ξ</a:t>
            </a:r>
            <a:r>
              <a:rPr baseline="-25000" lang="en-US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): the quark transport parameter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No predictions exist for this observable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4669"/>
          <a:stretch/>
        </p:blipFill>
        <p:spPr>
          <a:xfrm>
            <a:off x="7618425" y="882412"/>
            <a:ext cx="4509254" cy="3460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2821" y="4129197"/>
            <a:ext cx="4123637" cy="233919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039495" y="681037"/>
            <a:ext cx="3874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Song, Y. et al. (2014) Physical Review D, 89 014005.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 Run Configuration</a:t>
            </a:r>
            <a:endParaRPr/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-9114" y="678124"/>
            <a:ext cx="12201114" cy="2852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400"/>
              <a:buChar char="•"/>
            </a:pPr>
            <a:r>
              <a:rPr lang="en-US" sz="2400"/>
              <a:t>RG-D experiments collected data in the fall of 2023 with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o"/>
            </a:pPr>
            <a:r>
              <a:rPr lang="en-US" sz="2000"/>
              <a:t>10.54 GeV polarized beam energy and 𝐼=5–175 nA for luminosity scans and production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o"/>
            </a:pPr>
            <a:r>
              <a:rPr lang="en-US" sz="2000"/>
              <a:t>Standard CLAS12 configuration with FT-OFF and three layers of FMT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o"/>
            </a:pPr>
            <a:r>
              <a:rPr lang="en-US" sz="2000"/>
              <a:t>Three target configurations, LD2, CxC, and CuSn, deployed with InBending and OutBending</a:t>
            </a:r>
            <a:endParaRPr sz="2000"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o"/>
            </a:pPr>
            <a:r>
              <a:rPr lang="en-US" sz="2000"/>
              <a:t>New cryogenic LD2 and the nuclear-foil flag assembly centered at -5 cm for each configuration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400"/>
              <a:buChar char="•"/>
            </a:pPr>
            <a:r>
              <a:rPr lang="en-US" sz="2400"/>
              <a:t>Main run hiccups: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o"/>
            </a:pPr>
            <a:r>
              <a:rPr lang="en-US" sz="2000"/>
              <a:t>Faraday Cup vacuum contamination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o"/>
            </a:pPr>
            <a:r>
              <a:rPr lang="en-US" sz="2000"/>
              <a:t>Moller cone sagging</a:t>
            </a:r>
            <a:endParaRPr/>
          </a:p>
        </p:txBody>
      </p:sp>
      <p:sp>
        <p:nvSpPr>
          <p:cNvPr id="150" name="Google Shape;150;p18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151" name="Google Shape;151;p18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152" name="Google Shape;152;p18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97" y="3579664"/>
            <a:ext cx="6748982" cy="275200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6920303" y="2477384"/>
            <a:ext cx="5268975" cy="399422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155" name="Google Shape;155;p18"/>
          <p:cNvCxnSpPr>
            <a:stCxn id="156" idx="2"/>
          </p:cNvCxnSpPr>
          <p:nvPr/>
        </p:nvCxnSpPr>
        <p:spPr>
          <a:xfrm>
            <a:off x="8403764" y="5521050"/>
            <a:ext cx="290100" cy="4236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18"/>
          <p:cNvSpPr txBox="1"/>
          <p:nvPr/>
        </p:nvSpPr>
        <p:spPr>
          <a:xfrm>
            <a:off x="7921256" y="5097421"/>
            <a:ext cx="965016" cy="423629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LD2 entrance window</a:t>
            </a:r>
            <a:endParaRPr sz="12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8"/>
          <p:cNvCxnSpPr>
            <a:stCxn id="158" idx="2"/>
          </p:cNvCxnSpPr>
          <p:nvPr/>
        </p:nvCxnSpPr>
        <p:spPr>
          <a:xfrm>
            <a:off x="8925946" y="4802251"/>
            <a:ext cx="199200" cy="10206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18"/>
          <p:cNvSpPr txBox="1"/>
          <p:nvPr/>
        </p:nvSpPr>
        <p:spPr>
          <a:xfrm>
            <a:off x="8537944" y="4378623"/>
            <a:ext cx="776003" cy="423628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LD2 exit window</a:t>
            </a:r>
            <a:endParaRPr sz="12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8"/>
          <p:cNvCxnSpPr>
            <a:stCxn id="160" idx="2"/>
          </p:cNvCxnSpPr>
          <p:nvPr/>
        </p:nvCxnSpPr>
        <p:spPr>
          <a:xfrm>
            <a:off x="9135297" y="3494013"/>
            <a:ext cx="441600" cy="3453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18"/>
          <p:cNvSpPr txBox="1"/>
          <p:nvPr/>
        </p:nvSpPr>
        <p:spPr>
          <a:xfrm>
            <a:off x="8693847" y="3154688"/>
            <a:ext cx="882900" cy="339325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Cu target</a:t>
            </a:r>
            <a:endParaRPr sz="12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18"/>
          <p:cNvCxnSpPr>
            <a:stCxn id="162" idx="2"/>
          </p:cNvCxnSpPr>
          <p:nvPr/>
        </p:nvCxnSpPr>
        <p:spPr>
          <a:xfrm flipH="1">
            <a:off x="9994711" y="3298415"/>
            <a:ext cx="582300" cy="4803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18"/>
          <p:cNvSpPr txBox="1"/>
          <p:nvPr/>
        </p:nvSpPr>
        <p:spPr>
          <a:xfrm>
            <a:off x="10181222" y="3010961"/>
            <a:ext cx="791578" cy="287454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Sn target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18"/>
          <p:cNvCxnSpPr>
            <a:stCxn id="164" idx="2"/>
          </p:cNvCxnSpPr>
          <p:nvPr/>
        </p:nvCxnSpPr>
        <p:spPr>
          <a:xfrm flipH="1">
            <a:off x="11220207" y="4953098"/>
            <a:ext cx="78300" cy="5679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18"/>
          <p:cNvSpPr txBox="1"/>
          <p:nvPr/>
        </p:nvSpPr>
        <p:spPr>
          <a:xfrm>
            <a:off x="10577011" y="4472798"/>
            <a:ext cx="1442991" cy="480300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Scattering Chamber exit window</a:t>
            </a:r>
            <a:endParaRPr sz="12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 Status: Calibration Summary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0" y="694644"/>
            <a:ext cx="12192000" cy="5738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Since March, full calibration has been completed with the following points: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Completion of DC calibration using the new suite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Training of 3 new AIs and testing on OB/IB LD2 and OB CuSn data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Validation that the AI trained on OB LD2 data performs well on all targets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Completion and validation of background merging through MC/Data tracking efficiency comparison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The timelines (v11) have been produced, along with the high-level QA one</a:t>
            </a:r>
            <a:endParaRPr/>
          </a:p>
          <a:p>
            <a:pPr indent="0" lvl="1" marL="9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RG-D successfully passed Pass1 review on May 27th 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Pass1 cooking initiated on June 13th using COATJAVA 13.0.0</a:t>
            </a:r>
            <a:endParaRPr/>
          </a:p>
        </p:txBody>
      </p:sp>
      <p:sp>
        <p:nvSpPr>
          <p:cNvPr id="171" name="Google Shape;171;p19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172" name="Google Shape;172;p19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098721" y="5971477"/>
            <a:ext cx="60932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Thanks to CalCom Experts for their support </a:t>
            </a:r>
            <a:endParaRPr sz="24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Tracking efficiency: Different target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0" y="694644"/>
            <a:ext cx="12192000" cy="581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For inbending LD2 vs inbending CuSn as function of DC occupancy</a:t>
            </a:r>
            <a:endParaRPr/>
          </a:p>
        </p:txBody>
      </p:sp>
      <p:sp>
        <p:nvSpPr>
          <p:cNvPr id="181" name="Google Shape;181;p20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182" name="Google Shape;182;p20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183" name="Google Shape;183;p20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212649" y="1275906"/>
            <a:ext cx="8888819" cy="477637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5" name="Google Shape;185;p20"/>
          <p:cNvSpPr txBox="1"/>
          <p:nvPr/>
        </p:nvSpPr>
        <p:spPr>
          <a:xfrm>
            <a:off x="9101468" y="1389288"/>
            <a:ext cx="3087811" cy="485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Solid line: LD2</a:t>
            </a:r>
            <a:endParaRPr/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Dashed line: CuSn</a:t>
            </a:r>
            <a:endParaRPr b="0" i="0" sz="20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-US" sz="20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AI</a:t>
            </a:r>
            <a:endParaRPr/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Black: Conventional</a:t>
            </a:r>
            <a:endParaRPr/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-US" sz="20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ratio AI/CV</a:t>
            </a:r>
            <a:endParaRPr/>
          </a:p>
          <a:p>
            <a:pPr indent="424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None/>
            </a:pPr>
            <a:r>
              <a:t/>
            </a:r>
            <a:endParaRPr b="0" i="0" sz="20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24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None/>
            </a:pPr>
            <a:r>
              <a:t/>
            </a:r>
            <a:endParaRPr b="0" i="0" sz="20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400"/>
              <a:buFont typeface="Arial"/>
              <a:buNone/>
            </a:pPr>
            <a:r>
              <a:rPr b="0" i="0" lang="en-US" sz="24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Only a small difference between LD2 and CuSn</a:t>
            </a:r>
            <a:endParaRPr b="0" i="0" sz="24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Tracking efficiency: MC vs Data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-1" y="694643"/>
            <a:ext cx="12189279" cy="815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Monte Carlo vs Data, for LD2 target</a:t>
            </a:r>
            <a:endParaRPr/>
          </a:p>
        </p:txBody>
      </p:sp>
      <p:sp>
        <p:nvSpPr>
          <p:cNvPr id="192" name="Google Shape;192;p21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193" name="Google Shape;193;p21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44049" y="1158048"/>
            <a:ext cx="9291014" cy="50053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6" name="Google Shape;196;p21"/>
          <p:cNvSpPr txBox="1"/>
          <p:nvPr/>
        </p:nvSpPr>
        <p:spPr>
          <a:xfrm>
            <a:off x="9377916" y="1286540"/>
            <a:ext cx="2770035" cy="473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400"/>
              <a:buFont typeface="Arial"/>
              <a:buNone/>
            </a:pPr>
            <a:r>
              <a:rPr b="0" i="0" lang="en-US" sz="24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Simulation well produce the data for LD2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None/>
            </a:pPr>
            <a:r>
              <a:t/>
            </a:r>
            <a:endParaRPr b="0" i="0" sz="2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400"/>
              <a:buFont typeface="Arial"/>
              <a:buNone/>
            </a:pPr>
            <a:r>
              <a:rPr b="0" i="0" lang="en-US" sz="24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Bigger difference for CuSn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Electron fiducial cuts</a:t>
            </a: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0" y="694644"/>
            <a:ext cx="12192000" cy="5798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Event builder is used as a basis for all particles, and some refinements are developed to improve electron identification</a:t>
            </a:r>
            <a:endParaRPr/>
          </a:p>
          <a:p>
            <a:pPr indent="932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None/>
            </a:pPr>
            <a:r>
              <a:t/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Raw electron cuts: 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pid = 11, status &lt; 0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2000 ≤ |status| &lt; 4000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|chi2pid| &lt; 5</a:t>
            </a:r>
            <a:endParaRPr/>
          </a:p>
          <a:p>
            <a:pPr indent="932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None/>
            </a:pPr>
            <a:r>
              <a:t/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Refinements: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Sampling fraction vs momentum: should be constant for an electron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v and w for the calorimeter: defined at lengths that are multiples of 4.5cm 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DC fiducial cut using θ</a:t>
            </a:r>
            <a:r>
              <a:rPr baseline="-25000" lang="en-US"/>
              <a:t>DC</a:t>
            </a:r>
            <a:r>
              <a:rPr lang="en-US"/>
              <a:t> vs edge: remove the edges of each region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Vz cut: select an electron that comes from the target, and select which one</a:t>
            </a:r>
            <a:endParaRPr/>
          </a:p>
          <a:p>
            <a:pPr indent="-1143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04" name="Google Shape;204;p22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05" name="Google Shape;205;p22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type="title"/>
          </p:nvPr>
        </p:nvSpPr>
        <p:spPr>
          <a:xfrm>
            <a:off x="-1" y="1"/>
            <a:ext cx="11466417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Electron fiducial cuts: Sampling fraction vs p</a:t>
            </a:r>
            <a:endParaRPr/>
          </a:p>
        </p:txBody>
      </p:sp>
      <p:sp>
        <p:nvSpPr>
          <p:cNvPr id="211" name="Google Shape;211;p23"/>
          <p:cNvSpPr txBox="1"/>
          <p:nvPr>
            <p:ph idx="1" type="body"/>
          </p:nvPr>
        </p:nvSpPr>
        <p:spPr>
          <a:xfrm>
            <a:off x="1219" y="1467267"/>
            <a:ext cx="5385229" cy="490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32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50 slices, fit with a Gaussian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Extract the μ and σ and </a:t>
            </a:r>
            <a:r>
              <a:rPr lang="en-US"/>
              <a:t>f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it with:</a:t>
            </a:r>
            <a:endParaRPr/>
          </a:p>
          <a:p>
            <a:pPr indent="932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932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13" name="Google Shape;213;p23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14" name="Google Shape;214;p23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\documentclass{article}&#10;\usepackage{amsmath}&#10;\pagestyle{empty}&#10;\begin{document}&#10;&#10;$$&#10;f(p;a,b,c,d) = a + bp + cp^2 + dp^3&#10;$$&#10;&#10;&#10;\end{document}" id="215" name="Google Shape;215;p23" title="IguanaTex Picture Display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99" y="2222710"/>
            <a:ext cx="4995765" cy="3836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/>
          <p:nvPr/>
        </p:nvSpPr>
        <p:spPr>
          <a:xfrm>
            <a:off x="5292256" y="1411090"/>
            <a:ext cx="6801330" cy="49608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7" name="Google Shape;217;p23"/>
          <p:cNvSpPr txBox="1"/>
          <p:nvPr/>
        </p:nvSpPr>
        <p:spPr>
          <a:xfrm>
            <a:off x="-1" y="681037"/>
            <a:ext cx="1218927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6400" lvl="0" marL="86400" marR="0" rtl="0" algn="l"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a fit of the total sampling fraction in momentum slices, a mean ± 3σ band cut around the mean: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200799" y="2606371"/>
            <a:ext cx="4760187" cy="42516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-1" y="1"/>
            <a:ext cx="11466417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Electron fiducial cuts: Sampling fraction vs p</a:t>
            </a:r>
            <a:endParaRPr/>
          </a:p>
        </p:txBody>
      </p:sp>
      <p:sp>
        <p:nvSpPr>
          <p:cNvPr id="224" name="Google Shape;224;p24"/>
          <p:cNvSpPr txBox="1"/>
          <p:nvPr>
            <p:ph idx="1" type="body"/>
          </p:nvPr>
        </p:nvSpPr>
        <p:spPr>
          <a:xfrm>
            <a:off x="24062" y="718228"/>
            <a:ext cx="12189279" cy="463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Comparison between different targets:</a:t>
            </a:r>
            <a:endParaRPr/>
          </a:p>
        </p:txBody>
      </p:sp>
      <p:sp>
        <p:nvSpPr>
          <p:cNvPr id="225" name="Google Shape;225;p24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26" name="Google Shape;226;p24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27" name="Google Shape;227;p24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27069" y="1249289"/>
            <a:ext cx="11802139" cy="530667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Electron fiducial cuts: Calorimeter v and w</a:t>
            </a:r>
            <a:endParaRPr/>
          </a:p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0" y="708251"/>
            <a:ext cx="12076987" cy="1155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Use standard CLAS12 cuts for the calorimeter: v, w &gt; 9cm (2 bars)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Comparison between target: No difference</a:t>
            </a:r>
            <a:endParaRPr/>
          </a:p>
        </p:txBody>
      </p:sp>
      <p:sp>
        <p:nvSpPr>
          <p:cNvPr id="235" name="Google Shape;235;p25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36" name="Google Shape;236;p25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37" name="Google Shape;237;p25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799594" y="1640990"/>
            <a:ext cx="10592812" cy="483827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Electron fiducial cuts: θ</a:t>
            </a:r>
            <a:r>
              <a:rPr baseline="-25000" lang="en-US"/>
              <a:t>DC</a:t>
            </a:r>
            <a:r>
              <a:rPr lang="en-US"/>
              <a:t> vs edge</a:t>
            </a:r>
            <a:endParaRPr/>
          </a:p>
        </p:txBody>
      </p:sp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65314" y="784451"/>
            <a:ext cx="5787428" cy="5595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Remove the edges of the DC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Slice the θ</a:t>
            </a:r>
            <a:r>
              <a:rPr baseline="-25000" lang="en-US"/>
              <a:t>DC</a:t>
            </a:r>
            <a:r>
              <a:rPr lang="en-US"/>
              <a:t> vs edge histogram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Fit the peak of the derivative with a Gaussian and get threshold (μ+3σ)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Fit all thresholds with a constant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Do that for all regions and targets</a:t>
            </a:r>
            <a:endParaRPr/>
          </a:p>
        </p:txBody>
      </p:sp>
      <p:sp>
        <p:nvSpPr>
          <p:cNvPr id="245" name="Google Shape;245;p26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46" name="Google Shape;246;p26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47" name="Google Shape;247;p26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6"/>
          <p:cNvSpPr/>
          <p:nvPr/>
        </p:nvSpPr>
        <p:spPr>
          <a:xfrm>
            <a:off x="5358373" y="694644"/>
            <a:ext cx="6768314" cy="567944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389" y="3100444"/>
            <a:ext cx="4395537" cy="336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Vz cuts: Impact of the other cuts</a:t>
            </a:r>
            <a:endParaRPr/>
          </a:p>
        </p:txBody>
      </p:sp>
      <p:sp>
        <p:nvSpPr>
          <p:cNvPr id="255" name="Google Shape;255;p27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56" name="Google Shape;256;p27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57" name="Google Shape;257;p27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6490850" y="694644"/>
            <a:ext cx="5701150" cy="578462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9" name="Google Shape;259;p27"/>
          <p:cNvSpPr txBox="1"/>
          <p:nvPr/>
        </p:nvSpPr>
        <p:spPr>
          <a:xfrm>
            <a:off x="0" y="694644"/>
            <a:ext cx="5911516" cy="5798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6400" lvl="0" marL="86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670"/>
              <a:buFont typeface="Arial"/>
              <a:buChar char="•"/>
            </a:pPr>
            <a:r>
              <a:rPr b="0" i="0"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The study aimed to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solid-foil peaks from the empty LD2 cell and scattering chamber exit windows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None/>
            </a:pPr>
            <a:r>
              <a:t/>
            </a:r>
            <a:endParaRPr b="0" i="0" sz="2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Fit with 4 Double-Sided Crystal Ball function</a:t>
            </a:r>
            <a:endParaRPr/>
          </a:p>
          <a:p>
            <a:pPr indent="-1143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None/>
            </a:pPr>
            <a:r>
              <a:t/>
            </a:r>
            <a:endParaRPr b="0" i="0" sz="2400" u="none" cap="none" strike="noStrike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27"/>
          <p:cNvGraphicFramePr/>
          <p:nvPr/>
        </p:nvGraphicFramePr>
        <p:xfrm>
          <a:off x="242445" y="3683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{18120D46-7E22-494F-BECF-91AFBBB92D69}</a:tableStyleId>
              </a:tblPr>
              <a:tblGrid>
                <a:gridCol w="1452475"/>
                <a:gridCol w="1162575"/>
                <a:gridCol w="1622900"/>
                <a:gridCol w="1615600"/>
              </a:tblGrid>
              <a:tr h="41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Without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Improvement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 LD2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0.7691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0.7068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Entrance LD2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0.7799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0.7158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0.0641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CxC1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1.1182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0.8586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0.2596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CxC2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1.2309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0.9139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0.3170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Vz cuts: Impact of the other cuts</a:t>
            </a:r>
            <a:endParaRPr/>
          </a:p>
        </p:txBody>
      </p:sp>
      <p:sp>
        <p:nvSpPr>
          <p:cNvPr id="266" name="Google Shape;266;p28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67" name="Google Shape;267;p28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0" y="694644"/>
            <a:ext cx="5911516" cy="5798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6400" lvl="0" marL="86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670"/>
              <a:buFont typeface="Arial"/>
              <a:buChar char="•"/>
            </a:pPr>
            <a:r>
              <a:rPr b="0" i="0"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The study aimed to</a:t>
            </a:r>
            <a:endParaRPr/>
          </a:p>
          <a:p>
            <a:pPr indent="-194400" lvl="1" marL="32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289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the Cu and Sn foil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solid-foil peaks from the empty LD2 cell and scattering chamber exit windows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None/>
            </a:pPr>
            <a:r>
              <a:t/>
            </a:r>
            <a:endParaRPr b="0" i="0" sz="2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Fit with 4 Double-Sided Crystal Ball function</a:t>
            </a:r>
            <a:endParaRPr/>
          </a:p>
        </p:txBody>
      </p:sp>
      <p:graphicFrame>
        <p:nvGraphicFramePr>
          <p:cNvPr id="270" name="Google Shape;270;p28"/>
          <p:cNvGraphicFramePr/>
          <p:nvPr/>
        </p:nvGraphicFramePr>
        <p:xfrm>
          <a:off x="242445" y="3867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{18120D46-7E22-494F-BECF-91AFBBB92D69}</a:tableStyleId>
              </a:tblPr>
              <a:tblGrid>
                <a:gridCol w="1452475"/>
                <a:gridCol w="1162575"/>
                <a:gridCol w="1622900"/>
                <a:gridCol w="1615600"/>
              </a:tblGrid>
              <a:tr h="41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Without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Improvement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 LD2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1.0045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0.1291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Entrance LD2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0.8162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0.1162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3832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0.6798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0.0827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3832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0.7439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0.6631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p28"/>
          <p:cNvSpPr/>
          <p:nvPr/>
        </p:nvSpPr>
        <p:spPr>
          <a:xfrm>
            <a:off x="6338445" y="694644"/>
            <a:ext cx="5853555" cy="577029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 nTMDs Studies: π</a:t>
            </a:r>
            <a:r>
              <a:rPr baseline="30000" lang="en-US"/>
              <a:t>0</a:t>
            </a:r>
            <a:r>
              <a:rPr lang="en-US"/>
              <a:t> analysis</a:t>
            </a:r>
            <a:endParaRPr/>
          </a:p>
        </p:txBody>
      </p:sp>
      <p:sp>
        <p:nvSpPr>
          <p:cNvPr id="277" name="Google Shape;277;p29"/>
          <p:cNvSpPr txBox="1"/>
          <p:nvPr>
            <p:ph idx="1" type="body"/>
          </p:nvPr>
        </p:nvSpPr>
        <p:spPr>
          <a:xfrm>
            <a:off x="0" y="694644"/>
            <a:ext cx="6246646" cy="573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-US"/>
              <a:t>First look at the π</a:t>
            </a:r>
            <a:r>
              <a:rPr baseline="30000" lang="en-US"/>
              <a:t>0</a:t>
            </a:r>
            <a:r>
              <a:rPr lang="en-US"/>
              <a:t> channel to extract multiplicity ratios and azimuthal asymmetries: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5000"/>
              <a:buChar char="o"/>
            </a:pPr>
            <a:r>
              <a:rPr lang="en-US"/>
              <a:t>In-progress efforts to employ the event mixing technique to subtract the background  underneath the two-photon mass peak</a:t>
            </a:r>
            <a:endParaRPr/>
          </a:p>
          <a:p>
            <a:pPr indent="79865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-US"/>
              <a:t>Electron cuts: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5000"/>
              <a:buChar char="o"/>
            </a:pPr>
            <a:r>
              <a:rPr lang="en-US"/>
              <a:t>pid = 11, status &lt; 0, 2000 ≤ |status| &lt; 4000, |chi2pid| &lt; 5 and Vz cut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-US"/>
              <a:t>Photon cuts: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5000"/>
              <a:buChar char="o"/>
            </a:pPr>
            <a:r>
              <a:rPr lang="en-US"/>
              <a:t>pid = 22 and E &gt; 0.2 GeV 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5000"/>
              <a:buChar char="o"/>
            </a:pPr>
            <a:r>
              <a:rPr lang="en-US"/>
              <a:t>+ AI develop by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Gregory Matousek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-US"/>
              <a:t>SIDIS cuts: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5000"/>
              <a:buChar char="o"/>
            </a:pPr>
            <a:r>
              <a:rPr lang="en-US"/>
              <a:t>Q</a:t>
            </a:r>
            <a:r>
              <a:rPr baseline="30000" lang="en-US"/>
              <a:t>2 </a:t>
            </a:r>
            <a:r>
              <a:rPr lang="en-US"/>
              <a:t>&gt; 1 GeV</a:t>
            </a:r>
            <a:r>
              <a:rPr baseline="30000" lang="en-US"/>
              <a:t>2</a:t>
            </a:r>
            <a:r>
              <a:rPr lang="en-US"/>
              <a:t>, W &gt; 2 GeV  μ ± 3σ on the two photon mass for the π</a:t>
            </a:r>
            <a:r>
              <a:rPr baseline="30000" lang="en-US"/>
              <a:t>0</a:t>
            </a:r>
            <a:endParaRPr/>
          </a:p>
        </p:txBody>
      </p:sp>
      <p:sp>
        <p:nvSpPr>
          <p:cNvPr id="278" name="Google Shape;278;p29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79" name="Google Shape;279;p29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80" name="Google Shape;280;p29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1" name="Google Shape;28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9055" y="1331265"/>
            <a:ext cx="5942633" cy="44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 nTMDs Studies: π</a:t>
            </a:r>
            <a:r>
              <a:rPr baseline="30000" lang="en-US"/>
              <a:t>0</a:t>
            </a:r>
            <a:r>
              <a:rPr lang="en-US"/>
              <a:t> analysis</a:t>
            </a:r>
            <a:endParaRPr/>
          </a:p>
        </p:txBody>
      </p:sp>
      <p:sp>
        <p:nvSpPr>
          <p:cNvPr id="287" name="Google Shape;287;p30"/>
          <p:cNvSpPr txBox="1"/>
          <p:nvPr>
            <p:ph idx="1" type="body"/>
          </p:nvPr>
        </p:nvSpPr>
        <p:spPr>
          <a:xfrm>
            <a:off x="65313" y="784451"/>
            <a:ext cx="12123965" cy="5439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First look at the π</a:t>
            </a:r>
            <a:r>
              <a:rPr baseline="30000" lang="en-US"/>
              <a:t>0</a:t>
            </a:r>
            <a:r>
              <a:rPr lang="en-US"/>
              <a:t> channel to extract multiplicity ratios and azimuthal asymmetries: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1D multiplicity ratio: z</a:t>
            </a:r>
            <a:r>
              <a:rPr baseline="-25000" lang="en-US"/>
              <a:t>h</a:t>
            </a:r>
            <a:endParaRPr baseline="-25000"/>
          </a:p>
          <a:p>
            <a:pPr indent="-1143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aseline="-25000"/>
          </a:p>
          <a:p>
            <a:pPr indent="-1143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aseline="-25000"/>
          </a:p>
          <a:p>
            <a:pPr indent="-1143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aseline="-25000"/>
          </a:p>
          <a:p>
            <a:pPr indent="-1143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aseline="-25000"/>
          </a:p>
          <a:p>
            <a:pPr indent="-1143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aseline="-25000"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Statistical error only</a:t>
            </a:r>
            <a:endParaRPr/>
          </a:p>
          <a:p>
            <a:pPr indent="-228600" lvl="1" marL="32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</a:pPr>
            <a:r>
              <a:rPr lang="en-US"/>
              <a:t>SIDIS cut:</a:t>
            </a:r>
            <a:endParaRPr/>
          </a:p>
          <a:p>
            <a:pPr indent="-158400" lvl="2" marL="338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Q</a:t>
            </a:r>
            <a:r>
              <a:rPr baseline="30000" lang="en-US"/>
              <a:t>2 </a:t>
            </a:r>
            <a:r>
              <a:rPr lang="en-US"/>
              <a:t>&gt; 1 GeV</a:t>
            </a:r>
            <a:r>
              <a:rPr baseline="30000" lang="en-US"/>
              <a:t>2</a:t>
            </a:r>
            <a:r>
              <a:rPr lang="en-US"/>
              <a:t>, W &gt; 2 GeV and</a:t>
            </a:r>
            <a:endParaRPr/>
          </a:p>
          <a:p>
            <a:pPr indent="0" lvl="2" marL="180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 μ ± 3σ on the two-photon mass</a:t>
            </a:r>
            <a:endParaRPr/>
          </a:p>
          <a:p>
            <a:pPr indent="0" lvl="2" marL="180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/>
              <a:t> for the π</a:t>
            </a:r>
            <a:r>
              <a:rPr baseline="30000" lang="en-US"/>
              <a:t>0</a:t>
            </a:r>
            <a:endParaRPr/>
          </a:p>
          <a:p>
            <a:pPr indent="932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8" name="Google Shape;288;p30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289" name="Google Shape;289;p30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290" name="Google Shape;290;p30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30"/>
          <p:cNvSpPr txBox="1"/>
          <p:nvPr/>
        </p:nvSpPr>
        <p:spPr>
          <a:xfrm>
            <a:off x="594834" y="250666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93200" lvl="0" marL="84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None/>
            </a:pPr>
            <a:r>
              <a:t/>
            </a:r>
            <a:endParaRPr b="0" i="0" sz="2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\documentclass{article}&#10;\usepackage{amsmath}&#10;\pagestyle{empty}&#10;\begin{document}&#10;&#10;$$&#10;R = \frac{N^{\pi^0}_{\text{A}}(z_h)}{N^{e}_{\text{A}}}\frac{N^{e}_{\text{LD2}}}{N^{\pi^0}_{\text{LD2}}(z_h)}&#10;$$&#10;&#10;&#10;\end{document}" id="292" name="Google Shape;292;p30" title="IguanaTex Picture Display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663" y="2229994"/>
            <a:ext cx="4009735" cy="1076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4821" y="1148664"/>
            <a:ext cx="7241866" cy="534420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 txBox="1"/>
          <p:nvPr/>
        </p:nvSpPr>
        <p:spPr>
          <a:xfrm>
            <a:off x="5859213" y="4242493"/>
            <a:ext cx="38141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Very preliminary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 nTMDs Studies: π</a:t>
            </a:r>
            <a:r>
              <a:rPr baseline="30000" lang="en-US"/>
              <a:t>+</a:t>
            </a:r>
            <a:r>
              <a:rPr lang="en-US"/>
              <a:t> analysis</a:t>
            </a:r>
            <a:endParaRPr/>
          </a:p>
        </p:txBody>
      </p:sp>
      <p:sp>
        <p:nvSpPr>
          <p:cNvPr id="300" name="Google Shape;300;p31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Char char="•"/>
            </a:pPr>
            <a:r>
              <a:rPr lang="en-US"/>
              <a:t>Ongoing analysis by D. Matamoros</a:t>
            </a:r>
            <a:endParaRPr/>
          </a:p>
        </p:txBody>
      </p:sp>
      <p:sp>
        <p:nvSpPr>
          <p:cNvPr id="301" name="Google Shape;301;p31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302" name="Google Shape;302;p31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303" name="Google Shape;303;p31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RG-D nTMDs Studies: π</a:t>
            </a:r>
            <a:r>
              <a:rPr baseline="30000" lang="en-US"/>
              <a:t>+</a:t>
            </a:r>
            <a:r>
              <a:rPr lang="en-US"/>
              <a:t> analysis</a:t>
            </a:r>
            <a:endParaRPr/>
          </a:p>
        </p:txBody>
      </p:sp>
      <p:sp>
        <p:nvSpPr>
          <p:cNvPr id="309" name="Google Shape;309;p32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932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0" name="Google Shape;310;p32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311" name="Google Shape;311;p32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312" name="Google Shape;312;p32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18" name="Google Shape;318;p33"/>
          <p:cNvSpPr txBox="1"/>
          <p:nvPr>
            <p:ph idx="1" type="body"/>
          </p:nvPr>
        </p:nvSpPr>
        <p:spPr>
          <a:xfrm>
            <a:off x="65313" y="784451"/>
            <a:ext cx="12123965" cy="569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8799" lvl="0" marL="2087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RG-D has passed the Pass1 review, and the cooking has started.</a:t>
            </a:r>
            <a:endParaRPr/>
          </a:p>
          <a:p>
            <a:pPr indent="-342900" lvl="1" marL="579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C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alibration is completed, thanks to all the CalCom</a:t>
            </a:r>
            <a:r>
              <a:rPr lang="en-US"/>
              <a:t> experts</a:t>
            </a:r>
            <a:endParaRPr/>
          </a:p>
          <a:p>
            <a:pPr indent="-342900" lvl="1" marL="579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AI network trains on outbending LD2 work well on all targets</a:t>
            </a:r>
            <a:endParaRPr/>
          </a:p>
          <a:p>
            <a:pPr indent="-342900" lvl="1" marL="579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lang="en-US"/>
              <a:t>MC vs data efficiency studies show a small difference for LD2, larger for CuSn</a:t>
            </a:r>
            <a:endParaRPr/>
          </a:p>
          <a:p>
            <a:pPr indent="-215900" lvl="1" marL="579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81799" lvl="0" marL="2087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208799" lvl="0" marL="2087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Optimizing analysis tools for CT and nTMDs studies to</a:t>
            </a:r>
            <a:endParaRPr/>
          </a:p>
          <a:p>
            <a:pPr indent="-181649" lvl="1" marL="3419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Improve Particle </a:t>
            </a:r>
            <a:r>
              <a:rPr lang="en-US"/>
              <a:t>Identification and implement fiducial cuts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for all final-state particles</a:t>
            </a:r>
            <a:endParaRPr/>
          </a:p>
          <a:p>
            <a:pPr indent="-181649" lvl="1" marL="3419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en-US"/>
              <a:t>Correct for contamination with the CuSn target.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81649" lvl="1" marL="3419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Deploy the ρ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event generator for its two-pion invariant mass background subtraction and apply necessary corrections for the extraction of the preliminary CT results</a:t>
            </a:r>
            <a:endParaRPr/>
          </a:p>
          <a:p>
            <a:pPr indent="-181649" lvl="1" marL="3419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Finalize the π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event mixing background-subtraction and extract its preliminary asymmetry results</a:t>
            </a:r>
            <a:endParaRPr/>
          </a:p>
          <a:p>
            <a:pPr indent="-181649" lvl="1" marL="34199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Obtain the preliminary asymmetry results for charged pions nTMDs studies</a:t>
            </a:r>
            <a:endParaRPr/>
          </a:p>
        </p:txBody>
      </p:sp>
      <p:sp>
        <p:nvSpPr>
          <p:cNvPr id="319" name="Google Shape;319;p33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320" name="Google Shape;320;p33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321" name="Google Shape;321;p33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générée" id="326" name="Google Shape;3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>
            <p:ph type="title"/>
          </p:nvPr>
        </p:nvSpPr>
        <p:spPr>
          <a:xfrm>
            <a:off x="838200" y="200263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6000"/>
              <a:buFont typeface="Arial"/>
              <a:buNone/>
            </a:pPr>
            <a:r>
              <a:rPr lang="en-US">
                <a:solidFill>
                  <a:srgbClr val="4B3832"/>
                </a:solidFill>
              </a:rPr>
              <a:t>Back-up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 txBox="1"/>
          <p:nvPr>
            <p:ph type="title"/>
          </p:nvPr>
        </p:nvSpPr>
        <p:spPr>
          <a:xfrm>
            <a:off x="-1" y="1"/>
            <a:ext cx="11466417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CT Study: Very Preliminary Nuclear Transparency</a:t>
            </a:r>
            <a:endParaRPr/>
          </a:p>
        </p:txBody>
      </p:sp>
      <p:sp>
        <p:nvSpPr>
          <p:cNvPr id="337" name="Google Shape;337;p36"/>
          <p:cNvSpPr txBox="1"/>
          <p:nvPr>
            <p:ph idx="1" type="body"/>
          </p:nvPr>
        </p:nvSpPr>
        <p:spPr>
          <a:xfrm>
            <a:off x="65313" y="784450"/>
            <a:ext cx="6522301" cy="5865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84600" lvl="0" marL="84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Extract (raw) nuclear transparency as</a:t>
            </a:r>
            <a:endParaRPr/>
          </a:p>
          <a:p>
            <a:pPr indent="79865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79865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79865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</a:t>
            </a:r>
            <a:r>
              <a:rPr baseline="-25000" lang="en-US"/>
              <a:t>LD2</a:t>
            </a:r>
            <a:r>
              <a:rPr lang="en-US"/>
              <a:t>= 5 cm: LD2 thickness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</a:t>
            </a:r>
            <a:r>
              <a:rPr baseline="-25000" lang="en-US"/>
              <a:t>CxC</a:t>
            </a:r>
            <a:r>
              <a:rPr lang="en-US"/>
              <a:t> = 0.4 cm: CxC thickness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</a:t>
            </a:r>
            <a:r>
              <a:rPr baseline="-25000" lang="en-US"/>
              <a:t>Cu</a:t>
            </a:r>
            <a:r>
              <a:rPr lang="en-US"/>
              <a:t>= 93 μm: Copper thickness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</a:t>
            </a:r>
            <a:r>
              <a:rPr baseline="-25000" lang="en-US"/>
              <a:t>Sn</a:t>
            </a:r>
            <a:r>
              <a:rPr lang="en-US"/>
              <a:t> = 171 μm: Tin thickness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ρ</a:t>
            </a:r>
            <a:r>
              <a:rPr baseline="-25000" lang="en-US"/>
              <a:t>LD2</a:t>
            </a:r>
            <a:r>
              <a:rPr lang="en-US"/>
              <a:t>= 0.164 g/cm</a:t>
            </a:r>
            <a:r>
              <a:rPr baseline="30000" lang="en-US"/>
              <a:t>3</a:t>
            </a:r>
            <a:r>
              <a:rPr lang="en-US"/>
              <a:t>: LD2 density 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ρ</a:t>
            </a:r>
            <a:r>
              <a:rPr baseline="-25000" lang="en-US"/>
              <a:t>C</a:t>
            </a:r>
            <a:r>
              <a:rPr lang="en-US"/>
              <a:t>= 2.2g/cm</a:t>
            </a:r>
            <a:r>
              <a:rPr baseline="30000" lang="en-US"/>
              <a:t>3 </a:t>
            </a:r>
            <a:r>
              <a:rPr lang="en-US"/>
              <a:t>: Carbon density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ρ</a:t>
            </a:r>
            <a:r>
              <a:rPr baseline="-25000" lang="en-US"/>
              <a:t>Cu</a:t>
            </a:r>
            <a:r>
              <a:rPr lang="en-US"/>
              <a:t>= 8.96 g/cm</a:t>
            </a:r>
            <a:r>
              <a:rPr baseline="30000" lang="en-US"/>
              <a:t>3</a:t>
            </a:r>
            <a:r>
              <a:rPr lang="en-US"/>
              <a:t>: Copper density </a:t>
            </a:r>
            <a:endParaRPr/>
          </a:p>
          <a:p>
            <a:pPr indent="-84600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ρ</a:t>
            </a:r>
            <a:r>
              <a:rPr baseline="-25000" lang="en-US"/>
              <a:t>Sn</a:t>
            </a:r>
            <a:r>
              <a:rPr lang="en-US"/>
              <a:t>= 7.31g/cm</a:t>
            </a:r>
            <a:r>
              <a:rPr baseline="30000" lang="en-US"/>
              <a:t>3 </a:t>
            </a:r>
            <a:r>
              <a:rPr lang="en-US"/>
              <a:t>: Tin density</a:t>
            </a:r>
            <a:endParaRPr/>
          </a:p>
          <a:p>
            <a:pPr indent="79865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  <a:p>
            <a:pPr indent="79865" lvl="0" marL="84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Ongoing analysis by M. Maynes</a:t>
            </a:r>
            <a:endParaRPr/>
          </a:p>
        </p:txBody>
      </p:sp>
      <p:sp>
        <p:nvSpPr>
          <p:cNvPr id="338" name="Google Shape;338;p36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339" name="Google Shape;339;p36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340" name="Google Shape;340;p36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1" name="Google Shape;34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5340" y="1304244"/>
            <a:ext cx="6522301" cy="503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052" y="1232356"/>
            <a:ext cx="2929021" cy="9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-US"/>
              <a:t>Vz cuts: Impact of the other cuts</a:t>
            </a:r>
            <a:endParaRPr/>
          </a:p>
        </p:txBody>
      </p:sp>
      <p:sp>
        <p:nvSpPr>
          <p:cNvPr id="348" name="Google Shape;348;p37"/>
          <p:cNvSpPr txBox="1"/>
          <p:nvPr>
            <p:ph idx="1" type="body"/>
          </p:nvPr>
        </p:nvSpPr>
        <p:spPr>
          <a:xfrm>
            <a:off x="6368716" y="694644"/>
            <a:ext cx="5820563" cy="5737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9" name="Google Shape;349;p37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07/10/25</a:t>
            </a:r>
            <a:endParaRPr/>
          </a:p>
        </p:txBody>
      </p:sp>
      <p:sp>
        <p:nvSpPr>
          <p:cNvPr id="350" name="Google Shape;350;p37"/>
          <p:cNvSpPr txBox="1"/>
          <p:nvPr>
            <p:ph idx="11" type="ftr"/>
          </p:nvPr>
        </p:nvSpPr>
        <p:spPr>
          <a:xfrm>
            <a:off x="6475228" y="6492875"/>
            <a:ext cx="46935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 Collaboration (8-11 July 2025)</a:t>
            </a:r>
            <a:endParaRPr/>
          </a:p>
        </p:txBody>
      </p:sp>
      <p:sp>
        <p:nvSpPr>
          <p:cNvPr id="351" name="Google Shape;351;p37"/>
          <p:cNvSpPr txBox="1"/>
          <p:nvPr>
            <p:ph idx="12" type="sldNum"/>
          </p:nvPr>
        </p:nvSpPr>
        <p:spPr>
          <a:xfrm>
            <a:off x="11466417" y="0"/>
            <a:ext cx="725582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37"/>
          <p:cNvSpPr txBox="1"/>
          <p:nvPr/>
        </p:nvSpPr>
        <p:spPr>
          <a:xfrm>
            <a:off x="0" y="694644"/>
            <a:ext cx="6184232" cy="5798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86400" lvl="0" marL="86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670"/>
              <a:buFont typeface="Arial"/>
              <a:buChar char="•"/>
            </a:pPr>
            <a:r>
              <a:rPr b="0" i="0"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The study aimed to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Reduce the contamination for the target configuration with two different foils, Cu and Sn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solid-foil peaks from the empty LD2 cell and scattering chamber exit windows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None/>
            </a:pPr>
            <a:r>
              <a:t/>
            </a:r>
            <a:endParaRPr b="0" i="0" sz="2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Fit with 4 Double-Sided Crystal Ball function</a:t>
            </a:r>
            <a:endParaRPr/>
          </a:p>
          <a:p>
            <a:pPr indent="-84600" lvl="0" marL="84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Before refinement cuts: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Exit LD2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0.7691 cm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Entrance LD2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0.7799 cm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CxC1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1.1182 cm</a:t>
            </a:r>
            <a:endParaRPr/>
          </a:p>
          <a:p>
            <a:pPr indent="-228600" lvl="1" marL="32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CxC2</a:t>
            </a:r>
            <a:r>
              <a:rPr b="0" i="0" lang="en-US" sz="24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1.2309 cm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_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