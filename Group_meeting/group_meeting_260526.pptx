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35" r:id="rId3"/>
    <p:sldId id="337" r:id="rId4"/>
    <p:sldId id="343" r:id="rId5"/>
    <p:sldId id="344" r:id="rId6"/>
    <p:sldId id="348" r:id="rId7"/>
    <p:sldId id="349" r:id="rId8"/>
    <p:sldId id="350" r:id="rId9"/>
    <p:sldId id="355" r:id="rId10"/>
    <p:sldId id="357" r:id="rId11"/>
    <p:sldId id="356" r:id="rId12"/>
    <p:sldId id="351" r:id="rId13"/>
    <p:sldId id="352" r:id="rId14"/>
    <p:sldId id="353" r:id="rId15"/>
    <p:sldId id="354" r:id="rId16"/>
    <p:sldId id="338" r:id="rId17"/>
    <p:sldId id="339" r:id="rId18"/>
    <p:sldId id="340" r:id="rId19"/>
    <p:sldId id="341" r:id="rId20"/>
    <p:sldId id="342" r:id="rId21"/>
    <p:sldId id="346" r:id="rId22"/>
    <p:sldId id="347" r:id="rId23"/>
    <p:sldId id="345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37"/>
            <p14:sldId id="343"/>
            <p14:sldId id="344"/>
            <p14:sldId id="348"/>
            <p14:sldId id="349"/>
            <p14:sldId id="350"/>
            <p14:sldId id="355"/>
            <p14:sldId id="357"/>
            <p14:sldId id="356"/>
            <p14:sldId id="351"/>
            <p14:sldId id="352"/>
            <p14:sldId id="353"/>
            <p14:sldId id="354"/>
            <p14:sldId id="338"/>
            <p14:sldId id="339"/>
            <p14:sldId id="340"/>
            <p14:sldId id="341"/>
            <p14:sldId id="342"/>
            <p14:sldId id="346"/>
            <p14:sldId id="347"/>
            <p14:sldId id="345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7" autoAdjust="0"/>
    <p:restoredTop sz="94637" autoAdjust="0"/>
  </p:normalViewPr>
  <p:slideViewPr>
    <p:cSldViewPr snapToGrid="0" snapToObjects="1">
      <p:cViewPr varScale="1">
        <p:scale>
          <a:sx n="167" d="100"/>
          <a:sy n="167" d="100"/>
        </p:scale>
        <p:origin x="200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26-05-26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26-05-26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05/26/26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05/26/26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DEE-22C9-7031-D658-E0B76465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0E175-4471-897D-0352-0615CEEC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48981"/>
          </a:xfrm>
        </p:spPr>
        <p:txBody>
          <a:bodyPr/>
          <a:lstStyle/>
          <a:p>
            <a:pPr marL="57150" indent="0">
              <a:buNone/>
            </a:pPr>
            <a:r>
              <a:rPr lang="en-US" dirty="0"/>
              <a:t>Fix an issue in my code: I was applying the VZ correction on MC 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457200" lvl="1" indent="0">
              <a:buNone/>
            </a:pP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DE40-634B-6437-8CC3-0FD061C7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86C5-59DE-A182-C626-DDC5A883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CA7899-BC11-B864-DD2C-7010ED1A3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444943"/>
            <a:ext cx="9152328" cy="53610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B42B9F-72BD-8157-8F99-D26D2377796C}"/>
              </a:ext>
            </a:extLst>
          </p:cNvPr>
          <p:cNvSpPr txBox="1"/>
          <p:nvPr/>
        </p:nvSpPr>
        <p:spPr>
          <a:xfrm>
            <a:off x="9406328" y="1858780"/>
            <a:ext cx="2675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OB,  reconstructed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Δt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vs p, chi2pid, momentum, and DC fiducial cuts</a:t>
            </a:r>
          </a:p>
        </p:txBody>
      </p:sp>
    </p:spTree>
    <p:extLst>
      <p:ext uri="{BB962C8B-B14F-4D97-AF65-F5344CB8AC3E}">
        <p14:creationId xmlns:p14="http://schemas.microsoft.com/office/powerpoint/2010/main" val="213646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D180E-343C-2850-C04F-2BDA1148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C25B-71FF-B04E-2613-ED18B894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7E47-B4D9-0D47-6E81-69D9D4C8A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14400"/>
            <a:ext cx="11922474" cy="548981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Strange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distributions, </a:t>
            </a:r>
            <a:r>
              <a:rPr lang="en-US" dirty="0"/>
              <a:t>I was expecting a Gaussian distribution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78068-A5E1-FDA7-FAA3-22C00522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C9F30-4FE3-51A0-D320-2FED4F41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3D3C2-45BE-9BFB-32E4-D05249CA5BDB}"/>
              </a:ext>
            </a:extLst>
          </p:cNvPr>
          <p:cNvSpPr txBox="1"/>
          <p:nvPr/>
        </p:nvSpPr>
        <p:spPr>
          <a:xfrm>
            <a:off x="9406328" y="1858780"/>
            <a:ext cx="2675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OB,  reconstructed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Δt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vs p, chi2pid, momentum,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PCal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and DC fiducial cuts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26EDBC-FAFB-CE2B-8FA4-9E4C4813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" y="1281776"/>
            <a:ext cx="9359242" cy="51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27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2B3A-B321-D625-CE7B-143972E2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D72F1-9A2E-CC74-D6EF-BF6B9A4B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0B00E-9108-1205-119B-ABE78F3AB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2538" y="914400"/>
            <a:ext cx="4494698" cy="4092315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Look at th</a:t>
            </a:r>
            <a:r>
              <a:rPr lang="en-US" sz="2000" dirty="0"/>
              <a:t>e MC no cuts (reconstructed </a:t>
            </a:r>
            <a:r>
              <a:rPr lang="en-US" sz="2000" dirty="0" err="1"/>
              <a:t>pions</a:t>
            </a:r>
            <a:r>
              <a:rPr lang="en-US" sz="2000" dirty="0"/>
              <a:t> that are a pion without any cuts) vs Q &gt; 0.92 (reconstructed </a:t>
            </a:r>
            <a:r>
              <a:rPr lang="en-US" sz="2000" dirty="0" err="1"/>
              <a:t>pions</a:t>
            </a:r>
            <a:r>
              <a:rPr lang="en-US" sz="2000" dirty="0"/>
              <a:t> that are in MC </a:t>
            </a:r>
            <a:r>
              <a:rPr lang="en-US" sz="2000" dirty="0" err="1"/>
              <a:t>pions</a:t>
            </a:r>
            <a:r>
              <a:rPr lang="en-US" sz="2000" dirty="0"/>
              <a:t>) and Q &lt; 0.5 (reconstructed </a:t>
            </a:r>
            <a:r>
              <a:rPr lang="en-US" sz="2000" dirty="0" err="1"/>
              <a:t>pions</a:t>
            </a:r>
            <a:r>
              <a:rPr lang="en-US" sz="2000" dirty="0"/>
              <a:t> that are not a associate to a MC particle)</a:t>
            </a: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F6844-E7C2-D83D-6D48-2CEBF1FD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D153-014F-FD9B-53F1-CB45FDC1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BA512-F20C-1911-3CAB-E7A4DF04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40"/>
          <a:stretch>
            <a:fillRect/>
          </a:stretch>
        </p:blipFill>
        <p:spPr>
          <a:xfrm>
            <a:off x="59814" y="1011834"/>
            <a:ext cx="7514133" cy="572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7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7AE5-EBA2-C295-4D99-790C3DED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715F-B560-BE60-8BBE-3E06C4DC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4CDFF-ADF0-A978-1F92-238DB039C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360" y="914400"/>
            <a:ext cx="4224875" cy="4092315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All reconstructed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that pass the usual cuts expect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</a:p>
          <a:p>
            <a:pPr marL="57150" indent="0">
              <a:buNone/>
            </a:pP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a momentum below 1 have a very bad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</a:t>
            </a:r>
          </a:p>
          <a:p>
            <a:pPr marL="57150" indent="0">
              <a:buNone/>
            </a:pPr>
            <a:r>
              <a:rPr lang="en-US" sz="2000" dirty="0"/>
              <a:t>Same with </a:t>
            </a:r>
            <a:r>
              <a:rPr lang="en-US" sz="2000" dirty="0" err="1"/>
              <a:t>θ</a:t>
            </a:r>
            <a:r>
              <a:rPr lang="en-US" sz="2000" dirty="0"/>
              <a:t> &lt; 10 deg </a:t>
            </a:r>
          </a:p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Even on simulation</a:t>
            </a:r>
            <a:r>
              <a:rPr lang="en-US" sz="2000" dirty="0"/>
              <a:t>, interesting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825E2-5378-4EAE-85FF-6CF1319A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13A8-F9C6-04B0-9330-5441B516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A82A9B-C3DF-E2AD-9580-030286487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350995"/>
            <a:ext cx="7812601" cy="3500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CC56E-F59E-4768-D41A-2757C88F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12602" cy="349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7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C257B-3FF1-8BD8-AE38-49827AEF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DF34-B974-A08A-556F-D227C42E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4B7B-2CD6-EC12-9B77-5CBC1326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2360" y="914400"/>
            <a:ext cx="4224875" cy="4092315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000" dirty="0"/>
              <a:t>Reconstructed </a:t>
            </a:r>
            <a:r>
              <a:rPr lang="en-US" sz="2000" dirty="0" err="1"/>
              <a:t>pions</a:t>
            </a:r>
            <a:r>
              <a:rPr lang="en-US" sz="2000" dirty="0"/>
              <a:t> (|</a:t>
            </a:r>
            <a:r>
              <a:rPr lang="en-US" sz="2000" dirty="0" err="1"/>
              <a:t>pid</a:t>
            </a:r>
            <a:r>
              <a:rPr lang="en-US" sz="2000" dirty="0"/>
              <a:t>|=211) no other cuts + Truth matching, they are real </a:t>
            </a:r>
            <a:r>
              <a:rPr lang="en-US" sz="2000" dirty="0" err="1"/>
              <a:t>pions</a:t>
            </a:r>
            <a:r>
              <a:rPr lang="en-US" sz="2000" dirty="0"/>
              <a:t> (MC)</a:t>
            </a: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57150" indent="0">
              <a:buNone/>
            </a:pPr>
            <a:endParaRPr lang="en-US" sz="20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marL="57150" indent="0">
              <a:buNone/>
            </a:pP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a momentum below 1 have a very bad </a:t>
            </a:r>
            <a:r>
              <a:rPr lang="en-US" sz="2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</a:t>
            </a:r>
          </a:p>
          <a:p>
            <a:pPr marL="57150" indent="0">
              <a:buNone/>
            </a:pPr>
            <a:r>
              <a:rPr lang="en-US" sz="2000" dirty="0"/>
              <a:t>Same with </a:t>
            </a:r>
            <a:r>
              <a:rPr lang="en-US" sz="2000" dirty="0" err="1"/>
              <a:t>θ</a:t>
            </a:r>
            <a:r>
              <a:rPr lang="en-US" sz="2000" dirty="0"/>
              <a:t> &lt; 10 deg </a:t>
            </a:r>
          </a:p>
          <a:p>
            <a:pPr marL="57150" indent="0">
              <a:buNone/>
            </a:pP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Even on simulation</a:t>
            </a:r>
            <a:r>
              <a:rPr lang="en-US" sz="2000" dirty="0"/>
              <a:t>, interesting</a:t>
            </a:r>
            <a:r>
              <a:rPr lang="en-US" sz="2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804F-6033-D62C-1BBC-ECF2AB3B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5D4C-D313-CD3D-C9FA-2792F4DC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E2D25-914D-86D5-94A2-B8EE48DF9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31"/>
          <a:stretch>
            <a:fillRect/>
          </a:stretch>
        </p:blipFill>
        <p:spPr>
          <a:xfrm>
            <a:off x="59960" y="3392107"/>
            <a:ext cx="7712440" cy="3449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E55A9D-70BD-75D7-7234-8AB0E80A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359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61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5FA2-1247-85D4-F4C2-4E843CD7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145E-BAA1-F138-BC28-3D787F90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E3184-C884-7102-CE5D-DD103145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FF505-8297-9D39-BE85-A39D4549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DC64A0-3247-F74A-C6BA-22C80185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" y="1335364"/>
            <a:ext cx="11972036" cy="522601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5BF2B1-3B73-5D64-C0AB-F242E9970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After Raffaella comment to try smaller bin and check the generated </a:t>
            </a:r>
            <a:r>
              <a:rPr lang="en-US" dirty="0" err="1"/>
              <a:t>Vz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1087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5C9B-FFBA-397D-F6A2-065563D6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1A9F-FFF9-E25F-6B6F-0B02A520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0D1EB-90E3-E134-5D70-B9882E63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A1445-42E4-89CD-2C9D-13DCC69B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7D3C5C-E116-3367-C82D-DE53AF79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After Raffaella comment to try smaller bin and check the generated </a:t>
            </a:r>
            <a:r>
              <a:rPr lang="en-US" dirty="0" err="1"/>
              <a:t>Vz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01975-EEB7-1EE7-B065-D72332B37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04984"/>
            <a:ext cx="12166787" cy="529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3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E1A5-455E-BFD9-F65F-EB3D78DD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5A25-6AE5-F060-1E96-D0F4FE17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2771A-5705-9A02-131D-715F311D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EAD9-378B-E497-74B5-6221B27C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9ACD625-4B25-55BC-D6B1-9420F877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After Raffaella comment to try smaller bin and check the generated </a:t>
            </a:r>
            <a:r>
              <a:rPr lang="en-US" dirty="0" err="1"/>
              <a:t>Vz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F0EF3E-7B48-E0B4-9118-B09AC59A8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" y="1397606"/>
            <a:ext cx="11974319" cy="44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A9E8-56FD-4626-07A0-C9F102E6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5A74-9F6C-0E78-572F-83DBBEF9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0D1D-F363-07A6-A0F7-EF7657B7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AD1D-2C8A-0949-2EB9-3E664BB2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B83763-4654-D764-0ABE-1CFA51A5B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After Raffaella comment to try smaller bin and check the generated </a:t>
            </a:r>
            <a:r>
              <a:rPr lang="en-US" dirty="0" err="1"/>
              <a:t>Vz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59F373-BEB0-44C0-13FA-F40442ED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" y="1397606"/>
            <a:ext cx="11974319" cy="44279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CC97AE-0365-8D70-C224-1BC28624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9690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5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24C7-C61E-13E8-08AF-0D9F570C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29CA-4A28-33F5-67D5-CA84937F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5D6F-276C-9436-C334-13C9761A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3A90-3288-CF1D-85AB-0C02F5B3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3AC96D-7C4E-E219-4A68-86DAB6D02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After Raffaella comment to try smaller bin and check the generated </a:t>
            </a:r>
            <a:r>
              <a:rPr lang="en-US" dirty="0" err="1"/>
              <a:t>Vz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761FB-9583-BB22-8F1A-5285DE8F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4" y="1397606"/>
            <a:ext cx="11944882" cy="442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1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73D3E-5387-B3B2-CABC-640EB6C5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09D9-07C0-DC63-3AE6-F66AA66C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E0383-9DCA-0214-55F8-B6748DD3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9D40-535A-C0D9-77A1-D4B9BA04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E056C8-413D-6D4E-D239-58AD07CA6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comparison between Truth and Reconstructed </a:t>
            </a:r>
            <a:r>
              <a:rPr lang="en-US" dirty="0" err="1"/>
              <a:t>pions</a:t>
            </a:r>
            <a:r>
              <a:rPr lang="en-US" dirty="0"/>
              <a:t> in MC for all particle that are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006E73-A31C-EA7D-483D-E1C0E4E54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" y="1397605"/>
            <a:ext cx="12015888" cy="512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9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27EA-69DB-E75A-39AD-632FA7AC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43C-9BF9-E144-6850-BB349D70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8C3A9-A831-9DCF-C89E-3B943420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F7DD8-B44F-9E88-C920-3A963C92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6A0744-D2BF-33F7-3A7C-A907DBE5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comparison between Truth and Reconstructed </a:t>
            </a:r>
            <a:r>
              <a:rPr lang="en-US" dirty="0" err="1"/>
              <a:t>pions</a:t>
            </a:r>
            <a:r>
              <a:rPr lang="en-US" dirty="0"/>
              <a:t> in MC for all particle that are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7BCDA-21F8-4F7C-2DF9-88382C6B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1" y="1307377"/>
            <a:ext cx="11805611" cy="50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8F8C-9E23-DBCD-97DF-D3EE9800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D143-A74B-2CE2-AC64-CE0637DE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F4FA7-04D5-2407-2455-E3050143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20A18-1BA0-4683-F04B-3524A5E8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E15F92-BE7A-F9FF-6EB3-4C340453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comparison between Truth and Reconstructed </a:t>
            </a:r>
            <a:r>
              <a:rPr lang="en-US" dirty="0" err="1"/>
              <a:t>pions</a:t>
            </a:r>
            <a:r>
              <a:rPr lang="en-US" dirty="0"/>
              <a:t> in MC for all particle that are </a:t>
            </a:r>
            <a:r>
              <a:rPr lang="en-US" dirty="0" err="1"/>
              <a:t>pions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DD9AE6-3E8A-E835-1CE1-6EC1C0DFD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" y="1337357"/>
            <a:ext cx="11922474" cy="50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0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9108-DB32-443A-9459-4054C200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603-D14C-08C5-5456-B3FC6EC7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RG-D: </a:t>
            </a:r>
            <a:r>
              <a:rPr lang="en-US" cap="small" dirty="0" err="1"/>
              <a:t>Vz</a:t>
            </a:r>
            <a:r>
              <a:rPr lang="en-US" cap="small" dirty="0"/>
              <a:t> correction MC vs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572-A406-A3BE-C73D-A16E2E3F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D9579-69A1-5864-C988-E88FD087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955FB9-C577-0BD1-232F-8876AADCB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comparison between Truth and Reconstructed </a:t>
            </a:r>
            <a:r>
              <a:rPr lang="en-US" dirty="0" err="1"/>
              <a:t>pions</a:t>
            </a:r>
            <a:r>
              <a:rPr lang="en-US" dirty="0"/>
              <a:t> in MC for REC </a:t>
            </a:r>
            <a:r>
              <a:rPr lang="en-US" dirty="0" err="1"/>
              <a:t>pions</a:t>
            </a:r>
            <a:r>
              <a:rPr lang="en-US" dirty="0"/>
              <a:t> that pass cuts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968BF0-1A72-7CEF-82AD-115B23477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0" y="1299883"/>
            <a:ext cx="12086239" cy="515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84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1C2E-02C1-44B2-6998-B3BAC5D5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B2848-3F42-CF56-98AD-1428A604A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extracted multiplicity ratio and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broadening, the next step is azimuthal modulation: </a:t>
            </a:r>
          </a:p>
          <a:p>
            <a:pPr lvl="1"/>
            <a:r>
              <a:rPr lang="en-US" dirty="0"/>
              <a:t>First, it took me some time to understand A</a:t>
            </a:r>
            <a:r>
              <a:rPr lang="en-US" baseline="-25000" dirty="0"/>
              <a:t>LU</a:t>
            </a:r>
            <a:r>
              <a:rPr lang="en-US" dirty="0"/>
              <a:t> and &lt;</a:t>
            </a:r>
            <a:r>
              <a:rPr lang="en-US" dirty="0" err="1"/>
              <a:t>cosφ</a:t>
            </a:r>
            <a:r>
              <a:rPr lang="en-US" baseline="-25000" dirty="0" err="1"/>
              <a:t>h</a:t>
            </a:r>
            <a:r>
              <a:rPr lang="en-US" dirty="0"/>
              <a:t>&gt; are the same things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4D611-2B28-CDAB-5622-F3C76A32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680E2-8ECE-D1FD-8E44-C7090BB0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2EB1F3-94F3-EBB4-8C20-C5BBC5F85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51" y="2357114"/>
            <a:ext cx="52959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20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53EE-254F-ACFC-9184-51A54209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D6D9-18B0-1C4B-3757-51598C2B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014E-A61B-D245-624B-0A672A84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extracted multiplicity ratio and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broadening, the next step is azimuthal modulation: </a:t>
            </a:r>
          </a:p>
          <a:p>
            <a:pPr lvl="1"/>
            <a:r>
              <a:rPr lang="en-US" dirty="0"/>
              <a:t>First, it took me some time to understand A</a:t>
            </a:r>
            <a:r>
              <a:rPr lang="en-US" baseline="-25000" dirty="0"/>
              <a:t>LU</a:t>
            </a:r>
            <a:r>
              <a:rPr lang="en-US" dirty="0"/>
              <a:t> and &lt;</a:t>
            </a:r>
            <a:r>
              <a:rPr lang="en-US" dirty="0" err="1"/>
              <a:t>cosφ</a:t>
            </a:r>
            <a:r>
              <a:rPr lang="en-US" baseline="-25000" dirty="0" err="1"/>
              <a:t>h</a:t>
            </a:r>
            <a:r>
              <a:rPr lang="en-US" dirty="0"/>
              <a:t>&gt; are the same things </a:t>
            </a:r>
          </a:p>
          <a:p>
            <a:pPr lvl="1"/>
            <a:r>
              <a:rPr lang="en-US" dirty="0"/>
              <a:t>Two techniques to extract these observables: BSA fitting and </a:t>
            </a:r>
            <a:r>
              <a:rPr lang="en-US" dirty="0" err="1"/>
              <a:t>Unbinning</a:t>
            </a:r>
            <a:r>
              <a:rPr lang="en-US" dirty="0"/>
              <a:t> Maximum Likelihood </a:t>
            </a:r>
          </a:p>
          <a:p>
            <a:pPr lvl="1"/>
            <a:r>
              <a:rPr lang="en-US" dirty="0"/>
              <a:t>Then it was much easier, BSA are defined thus: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where 𝑑𝜎+ and 𝑑𝜎− are the differential cross sections for each beam helicity state (+/-)</a:t>
            </a:r>
          </a:p>
          <a:p>
            <a:pPr marL="457200" lvl="1" indent="0">
              <a:buNone/>
            </a:pPr>
            <a:r>
              <a:rPr lang="en-US" dirty="0"/>
              <a:t>BSA can be extracted from the number of counts with positive and negative helicity (𝑁</a:t>
            </a:r>
            <a:r>
              <a:rPr lang="en-US" baseline="30000" dirty="0"/>
              <a:t>±</a:t>
            </a:r>
            <a:r>
              <a:rPr lang="en-US" baseline="-25000" dirty="0"/>
              <a:t>𝑖 </a:t>
            </a:r>
            <a:r>
              <a:rPr lang="en-US" dirty="0"/>
              <a:t>) in a specific bin 𝑖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35BF-5361-6DA1-9C19-4C53004F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3F755-918D-79A2-78C2-B3974B0C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5989A2-902E-09DC-C1D0-FF86D955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455" y="3062871"/>
            <a:ext cx="7772400" cy="996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775B4-8772-4628-B900-CA60E3613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4724471"/>
            <a:ext cx="50165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82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57AA-3816-831B-A967-936B1D70D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5F46-5F9D-7268-445C-732B8BC0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8D087-B008-4DC7-FA1D-09AF81E80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extracted multiplicity ratio and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broadening, the next step is azimuthal modulation: </a:t>
            </a:r>
          </a:p>
          <a:p>
            <a:pPr lvl="1"/>
            <a:r>
              <a:rPr lang="en-US" dirty="0"/>
              <a:t>In each kinematic bin, the BSAs were binned in 𝜑</a:t>
            </a:r>
            <a:r>
              <a:rPr lang="en-US" dirty="0" err="1"/>
              <a:t>ℎ</a:t>
            </a:r>
            <a:r>
              <a:rPr lang="en-US" dirty="0"/>
              <a:t> and fit to determine 𝐴</a:t>
            </a:r>
            <a:r>
              <a:rPr lang="en-US" baseline="30000" dirty="0"/>
              <a:t>sin 𝜑</a:t>
            </a:r>
            <a:r>
              <a:rPr lang="en-US" baseline="30000" dirty="0" err="1"/>
              <a:t>ℎ</a:t>
            </a:r>
            <a:r>
              <a:rPr lang="en-US" baseline="-25000" dirty="0" err="1"/>
              <a:t>LU</a:t>
            </a:r>
            <a:r>
              <a:rPr lang="en-US" dirty="0"/>
              <a:t> , 𝐴</a:t>
            </a:r>
            <a:r>
              <a:rPr lang="en-US" baseline="30000" dirty="0"/>
              <a:t>cos𝜑</a:t>
            </a:r>
            <a:r>
              <a:rPr lang="en-US" baseline="30000" dirty="0" err="1"/>
              <a:t>ℎ</a:t>
            </a:r>
            <a:r>
              <a:rPr lang="en-US" baseline="-25000" dirty="0" err="1"/>
              <a:t>UU</a:t>
            </a:r>
            <a:r>
              <a:rPr lang="en-US" dirty="0"/>
              <a:t> , and 𝐴</a:t>
            </a:r>
            <a:r>
              <a:rPr lang="en-US" baseline="30000" dirty="0"/>
              <a:t>cos 2𝜑</a:t>
            </a:r>
            <a:r>
              <a:rPr lang="en-US" baseline="30000" dirty="0" err="1"/>
              <a:t>ℎ</a:t>
            </a:r>
            <a:r>
              <a:rPr lang="en-US" baseline="30000" dirty="0"/>
              <a:t> </a:t>
            </a:r>
            <a:r>
              <a:rPr lang="en-US" baseline="-25000" dirty="0"/>
              <a:t>UU</a:t>
            </a:r>
            <a:r>
              <a:rPr lang="en-US" dirty="0"/>
              <a:t> .</a:t>
            </a:r>
          </a:p>
          <a:p>
            <a:pPr lvl="1"/>
            <a:r>
              <a:rPr lang="en-US" dirty="0"/>
              <a:t>The fitting function 𝑓(𝜑</a:t>
            </a:r>
            <a:r>
              <a:rPr lang="en-US" dirty="0" err="1"/>
              <a:t>ℎ</a:t>
            </a:r>
            <a:r>
              <a:rPr lang="en-US" dirty="0"/>
              <a:t>) was derived from the expression for 𝐴</a:t>
            </a:r>
            <a:r>
              <a:rPr lang="en-US" baseline="-25000" dirty="0"/>
              <a:t>LU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A583-31D6-1999-4886-A16C9C79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0F125-1175-1E47-7D65-6CF4CEE4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DDAD8-AD2D-F2E5-3EAB-5A419E3E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659" y="2978150"/>
            <a:ext cx="3860800" cy="901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71BE9-0460-3FFF-1963-3A4C57C014D6}"/>
              </a:ext>
            </a:extLst>
          </p:cNvPr>
          <p:cNvSpPr txBox="1"/>
          <p:nvPr/>
        </p:nvSpPr>
        <p:spPr>
          <a:xfrm>
            <a:off x="609600" y="5305481"/>
            <a:ext cx="6097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Come mostly from: Beam-spin Asymmetries from Semi-inclusive Pion Electroproduction https://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arxiv.org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/pdf/1402.4097</a:t>
            </a:r>
          </a:p>
        </p:txBody>
      </p:sp>
    </p:spTree>
    <p:extLst>
      <p:ext uri="{BB962C8B-B14F-4D97-AF65-F5344CB8AC3E}">
        <p14:creationId xmlns:p14="http://schemas.microsoft.com/office/powerpoint/2010/main" val="4063703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197-DD35-0EA9-9C59-44C0A243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8976-FCA8-EFC8-68B4-8EA0FAA9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3944B-806D-705D-BCE3-80A32FE81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extracted multiplicity ratio and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broadening, the next step is azimuthal modulation: </a:t>
            </a:r>
          </a:p>
          <a:p>
            <a:pPr lvl="1"/>
            <a:r>
              <a:rPr lang="en-US" dirty="0"/>
              <a:t>Other method to extract these asymmetry amplitudes: </a:t>
            </a:r>
            <a:r>
              <a:rPr lang="en-US" dirty="0" err="1"/>
              <a:t>unbinned</a:t>
            </a:r>
            <a:r>
              <a:rPr lang="en-US" dirty="0"/>
              <a:t> maximum likelihood </a:t>
            </a:r>
          </a:p>
          <a:p>
            <a:pPr lvl="1"/>
            <a:r>
              <a:rPr lang="en-US" dirty="0"/>
              <a:t>This avoids any dependence on the choice of binning in 𝜑</a:t>
            </a:r>
            <a:r>
              <a:rPr lang="en-US" baseline="-25000" dirty="0" err="1"/>
              <a:t>ℎ</a:t>
            </a:r>
            <a:r>
              <a:rPr lang="en-US" dirty="0"/>
              <a:t> and makes optimal use of the available statistics, which is especially advantageous in sparsely populated multidimensional kinematic bins.</a:t>
            </a:r>
          </a:p>
          <a:p>
            <a:pPr lvl="1"/>
            <a:r>
              <a:rPr lang="en-US" dirty="0"/>
              <a:t>For a longitudinally polarized beam and an unpolarized target, the probability for a single event 𝑖 with measured azimuthal angle 𝜑</a:t>
            </a:r>
            <a:r>
              <a:rPr lang="en-US" baseline="-25000" dirty="0" err="1"/>
              <a:t>ℎ</a:t>
            </a:r>
            <a:r>
              <a:rPr lang="en-US" baseline="-25000" dirty="0"/>
              <a:t>,𝑖 </a:t>
            </a:r>
            <a:r>
              <a:rPr lang="en-US" dirty="0"/>
              <a:t>and helicity state </a:t>
            </a:r>
            <a:r>
              <a:rPr lang="en-US" dirty="0" err="1"/>
              <a:t>ℎ</a:t>
            </a:r>
            <a:r>
              <a:rPr lang="en-US" baseline="-25000" dirty="0"/>
              <a:t>𝑖</a:t>
            </a:r>
            <a:r>
              <a:rPr lang="en-US" dirty="0"/>
              <a:t> = ±1 is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where 𝑃 is the average magnitude of the beam polarization and 𝐴LU(𝜑</a:t>
            </a:r>
            <a:r>
              <a:rPr lang="en-US" dirty="0" err="1"/>
              <a:t>ℎ</a:t>
            </a:r>
            <a:r>
              <a:rPr lang="en-US" dirty="0"/>
              <a:t>) carries the same functional form used for the binned fit,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83039-7444-B294-FD06-38579AC6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CD1B6-19AA-6775-8D2F-C185ADA5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3E5291-FCB7-2C2B-2535-04B6BBF3E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619" y="3891509"/>
            <a:ext cx="4775200" cy="723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D6FA9B-8BEB-BED7-8AF9-B4BFA82C3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50" y="5260194"/>
            <a:ext cx="39751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9A8CA4-E8D9-3F6F-8B0E-25049FBD4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531" y="6049911"/>
            <a:ext cx="7772400" cy="47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07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028A-E5EB-ABAE-1C2C-93FB8234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C1550-764B-D091-A01C-78BE757F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A8A35-9256-BDFF-5248-C77D050C1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extracted multiplicity ratio and </a:t>
            </a:r>
            <a:r>
              <a:rPr lang="en-US" dirty="0" err="1"/>
              <a:t>p</a:t>
            </a:r>
            <a:r>
              <a:rPr lang="en-US" baseline="-25000" dirty="0" err="1"/>
              <a:t>T</a:t>
            </a:r>
            <a:r>
              <a:rPr lang="en-US" dirty="0"/>
              <a:t> broadening, the next step is azimuthal modulation: </a:t>
            </a:r>
          </a:p>
          <a:p>
            <a:pPr lvl="1"/>
            <a:r>
              <a:rPr lang="en-US" dirty="0"/>
              <a:t>Other method to extract these asymmetry amplitudes: </a:t>
            </a:r>
            <a:r>
              <a:rPr lang="en-US" dirty="0" err="1"/>
              <a:t>unbinned</a:t>
            </a:r>
            <a:r>
              <a:rPr lang="en-US" dirty="0"/>
              <a:t> maximum likelihood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38BB2-C4C0-2BF1-66D3-75E9B93A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BE8B-8503-98A0-86E6-711E3D39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C913D-72CA-50E0-B043-38340358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67977"/>
            <a:ext cx="9503764" cy="3004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DE9123-5E9D-7DF2-4607-35F1A6856C6B}"/>
              </a:ext>
            </a:extLst>
          </p:cNvPr>
          <p:cNvSpPr txBox="1"/>
          <p:nvPr/>
        </p:nvSpPr>
        <p:spPr>
          <a:xfrm>
            <a:off x="356018" y="5408431"/>
            <a:ext cx="110989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References (2 CLAS note/analysis note from Timothy B. Hayward): </a:t>
            </a:r>
          </a:p>
          <a:p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https://</a:t>
            </a:r>
            <a:r>
              <a:rPr lang="en-US" sz="14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www.jlab.org</a:t>
            </a:r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/Hall-B/shifts/admin/</a:t>
            </a:r>
            <a:r>
              <a:rPr lang="en-US" sz="14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paper_reviews</a:t>
            </a:r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/2020/</a:t>
            </a:r>
            <a:r>
              <a:rPr lang="en-US" sz="14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Note_CLAS_Dihadron_BSA</a:t>
            </a:r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_</a:t>
            </a:r>
          </a:p>
          <a:p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PRL_from_RGA-6137329-2020-08-31-v1.pdf</a:t>
            </a:r>
          </a:p>
          <a:p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https://clas12-docdb.jlab.org/</a:t>
            </a:r>
            <a:r>
              <a:rPr lang="en-US" sz="14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DocDB</a:t>
            </a:r>
            <a:r>
              <a:rPr lang="en-US" sz="14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/0011/001176/001/</a:t>
            </a:r>
            <a:r>
              <a:rPr lang="en-US" sz="14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CLAS_MLM_Analysis_Note.pdf</a:t>
            </a:r>
            <a:endParaRPr lang="en-US" sz="1400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1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F356-AD36-7462-0E6E-8BE610F4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EDCA-78E9-6165-A2C0-9F134AFD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0D90-B5CD-A56B-4DE1-CD6424350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26232"/>
            <a:ext cx="11922474" cy="1350955"/>
          </a:xfrm>
        </p:spPr>
        <p:txBody>
          <a:bodyPr/>
          <a:lstStyle/>
          <a:p>
            <a:r>
              <a:rPr lang="en-US" dirty="0"/>
              <a:t>Started working on BSA extraction with bin and chi2 fit: </a:t>
            </a:r>
          </a:p>
          <a:p>
            <a:pPr lvl="1"/>
            <a:r>
              <a:rPr lang="en-US" dirty="0"/>
              <a:t>Started with an easier fit function: 𝑓(𝜑</a:t>
            </a:r>
            <a:r>
              <a:rPr lang="en-US" baseline="-25000" dirty="0" err="1"/>
              <a:t>ℎ</a:t>
            </a:r>
            <a:r>
              <a:rPr lang="en-US" dirty="0"/>
              <a:t>) = Asin(𝜑</a:t>
            </a:r>
            <a:r>
              <a:rPr lang="en-US" baseline="-25000" dirty="0" err="1"/>
              <a:t>ℎ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60199-13F8-E72B-61A3-6E142726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17AD5-DDAD-33AF-0761-14CAD43F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FBCC33-CA05-98D3-6CDC-982121240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29" y="1968696"/>
            <a:ext cx="6276674" cy="411731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7DC86D-F862-BEF5-AF1F-78931677FEC2}"/>
              </a:ext>
            </a:extLst>
          </p:cNvPr>
          <p:cNvSpPr txBox="1">
            <a:spLocks/>
          </p:cNvSpPr>
          <p:nvPr/>
        </p:nvSpPr>
        <p:spPr>
          <a:xfrm>
            <a:off x="6902969" y="2137664"/>
            <a:ext cx="5154267" cy="2443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000" dirty="0"/>
              <a:t>Lot of empty bin and low statistics: </a:t>
            </a:r>
          </a:p>
          <a:p>
            <a:pPr marL="57150" indent="0">
              <a:buNone/>
            </a:pPr>
            <a:r>
              <a:rPr lang="en-US" sz="2000" dirty="0"/>
              <a:t>1344 bins in Q2,xB,pT and z * 12 bin in 𝜑</a:t>
            </a:r>
            <a:r>
              <a:rPr lang="en-US" sz="2000" baseline="-25000" dirty="0" err="1"/>
              <a:t>ℎ</a:t>
            </a:r>
            <a:r>
              <a:rPr lang="en-US" sz="2000" dirty="0"/>
              <a:t> 		</a:t>
            </a:r>
          </a:p>
          <a:p>
            <a:pPr marL="57150" indent="0">
              <a:buNone/>
            </a:pPr>
            <a:r>
              <a:rPr lang="en-US" sz="2000" dirty="0"/>
              <a:t>Too many bins need to reduce that</a:t>
            </a:r>
          </a:p>
        </p:txBody>
      </p:sp>
    </p:spTree>
    <p:extLst>
      <p:ext uri="{BB962C8B-B14F-4D97-AF65-F5344CB8AC3E}">
        <p14:creationId xmlns:p14="http://schemas.microsoft.com/office/powerpoint/2010/main" val="547602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6F17-3034-F3D6-7FD8-5C290D13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DFA8-B9C9-6C4B-BECF-CE093014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ᴨ</a:t>
            </a:r>
            <a:r>
              <a:rPr lang="en-US" baseline="30000" dirty="0"/>
              <a:t>0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E6A8E-C838-009F-D9EC-6EC9E9FEF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26232"/>
            <a:ext cx="11922474" cy="1350955"/>
          </a:xfrm>
        </p:spPr>
        <p:txBody>
          <a:bodyPr/>
          <a:lstStyle/>
          <a:p>
            <a:r>
              <a:rPr lang="en-US" dirty="0"/>
              <a:t>Started working on BSA extraction with bin and chi2 fit: </a:t>
            </a:r>
          </a:p>
          <a:p>
            <a:pPr lvl="1"/>
            <a:r>
              <a:rPr lang="en-US" dirty="0"/>
              <a:t>Started with an easier fit function: 𝑓(𝜑</a:t>
            </a:r>
            <a:r>
              <a:rPr lang="en-US" baseline="-25000" dirty="0" err="1"/>
              <a:t>ℎ</a:t>
            </a:r>
            <a:r>
              <a:rPr lang="en-US" dirty="0"/>
              <a:t>) = Asin(𝜑</a:t>
            </a:r>
            <a:r>
              <a:rPr lang="en-US" baseline="-25000" dirty="0" err="1"/>
              <a:t>ℎ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59A8-48A3-695E-1739-B0F305E1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866F-1235-EEF2-708A-02672DF0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C83FF0-6E91-C63A-0BDB-017B463FD0FE}"/>
              </a:ext>
            </a:extLst>
          </p:cNvPr>
          <p:cNvSpPr txBox="1">
            <a:spLocks/>
          </p:cNvSpPr>
          <p:nvPr/>
        </p:nvSpPr>
        <p:spPr>
          <a:xfrm>
            <a:off x="6902969" y="2137664"/>
            <a:ext cx="5154267" cy="2443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000" dirty="0"/>
              <a:t>But can extract something at least </a:t>
            </a:r>
          </a:p>
          <a:p>
            <a:pPr marL="57150" indent="0">
              <a:buNone/>
            </a:pPr>
            <a:endParaRPr lang="en-US" sz="2000" dirty="0"/>
          </a:p>
          <a:p>
            <a:pPr marL="57150" indent="0">
              <a:buNone/>
            </a:pPr>
            <a:r>
              <a:rPr lang="en-US" sz="2000" dirty="0"/>
              <a:t>My plan would be to use UML as systematic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378E1-9439-95F7-98D3-A5813054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41" y="2137664"/>
            <a:ext cx="6639317" cy="38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93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D657-FA6A-B8D1-FB50-E37E949E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RG-L: GNN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F66C-C69A-7D90-0A7F-5EFB8C5A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64" y="968310"/>
            <a:ext cx="11922474" cy="9565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also worked on the comment left by Whitney about the GNN. I respond to all of them.  And Nathan merge it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3E8E8-2A20-6724-D0D1-71121BEF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0673-7C6D-92DE-29D5-6CF1720F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271A7F-1206-1BA1-D560-F4BE4EC1882A}"/>
              </a:ext>
            </a:extLst>
          </p:cNvPr>
          <p:cNvSpPr txBox="1">
            <a:spLocks/>
          </p:cNvSpPr>
          <p:nvPr/>
        </p:nvSpPr>
        <p:spPr>
          <a:xfrm>
            <a:off x="8169639" y="1656413"/>
            <a:ext cx="3912380" cy="4616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Now I am waiting for him to reply.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AB7580-E9A0-CD42-9F35-56780100D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62" y="1807839"/>
            <a:ext cx="7772400" cy="4827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ED9572-84DE-20E2-AB37-C1443ABB4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180"/>
          <a:stretch>
            <a:fillRect/>
          </a:stretch>
        </p:blipFill>
        <p:spPr>
          <a:xfrm>
            <a:off x="7764073" y="2730998"/>
            <a:ext cx="4402578" cy="29053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EAAA8F-3C64-9E42-2776-4260FDFCD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5690211"/>
            <a:ext cx="7772400" cy="60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23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ontamination study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/Understanding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for pion in simulation </a:t>
            </a:r>
          </a:p>
          <a:p>
            <a:pPr lvl="1"/>
            <a:r>
              <a:rPr lang="en-US" dirty="0"/>
              <a:t>Work on the binning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 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r>
              <a:rPr lang="en-US" dirty="0"/>
              <a:t>Write README and analysis details about the code </a:t>
            </a:r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05/26/26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19220</TotalTime>
  <Words>1125</Words>
  <Application>Microsoft Macintosh PowerPoint</Application>
  <PresentationFormat>Widescreen</PresentationFormat>
  <Paragraphs>144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Fira Sans</vt:lpstr>
      <vt:lpstr>Fira Sans Light</vt:lpstr>
      <vt:lpstr>Office Theme</vt:lpstr>
      <vt:lpstr>Group meeting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Vz correction MC vs Data</vt:lpstr>
      <vt:lpstr>RG-D: ᴨ0 Analysis</vt:lpstr>
      <vt:lpstr>RG-D: ᴨ0 Analysis</vt:lpstr>
      <vt:lpstr>RG-D: ᴨ0 Analysis</vt:lpstr>
      <vt:lpstr>RG-D: ᴨ0 Analysis</vt:lpstr>
      <vt:lpstr>RG-D: ᴨ0 Analysis</vt:lpstr>
      <vt:lpstr>RG-D: ᴨ0 Analysis</vt:lpstr>
      <vt:lpstr>RG-D: ᴨ0 Analysis</vt:lpstr>
      <vt:lpstr>RG-L: GNN Pull Request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700</cp:revision>
  <dcterms:created xsi:type="dcterms:W3CDTF">2019-12-03T01:04:10Z</dcterms:created>
  <dcterms:modified xsi:type="dcterms:W3CDTF">2026-05-26T19:51:16Z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