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99" r:id="rId3"/>
    <p:sldId id="31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13" r:id="rId14"/>
    <p:sldId id="330" r:id="rId15"/>
    <p:sldId id="331" r:id="rId16"/>
    <p:sldId id="257" r:id="rId17"/>
    <p:sldId id="263" r:id="rId18"/>
    <p:sldId id="259" r:id="rId19"/>
    <p:sldId id="258" r:id="rId20"/>
    <p:sldId id="260" r:id="rId21"/>
    <p:sldId id="264" r:id="rId22"/>
    <p:sldId id="332" r:id="rId23"/>
    <p:sldId id="333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28" autoAdjust="0"/>
    <p:restoredTop sz="94637" autoAdjust="0"/>
  </p:normalViewPr>
  <p:slideViewPr>
    <p:cSldViewPr snapToGrid="0" snapToObjects="1">
      <p:cViewPr>
        <p:scale>
          <a:sx n="174" d="100"/>
          <a:sy n="174" d="100"/>
        </p:scale>
        <p:origin x="88" y="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07-04-26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07-04-26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04/07/26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04/07/26</a:t>
            </a:r>
            <a:endParaRPr lang="es-CL" sz="2000" kern="1200" noProof="0" dirty="0">
              <a:solidFill>
                <a:srgbClr val="304D59"/>
              </a:solidFill>
              <a:latin typeface="Fira Sans Book" panose="020B0503050000020004" pitchFamily="34" charset="0"/>
              <a:ea typeface="Fira Sans Book" panose="020B0503050000020004" pitchFamily="34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8670-351E-6B15-0847-0D3697CB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AA01-687F-321D-8FA8-B36D292C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51DB-FC12-4E27-491A-9AA62694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07243-D7B8-A610-342A-0CC10971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B6DD-8A96-0684-8915-E99EC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00FD27-B243-CD34-0D33-986E92D0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874327" cy="4860000"/>
          </a:xfrm>
        </p:spPr>
        <p:txBody>
          <a:bodyPr>
            <a:normAutofit/>
          </a:bodyPr>
          <a:lstStyle/>
          <a:p>
            <a:r>
              <a:rPr lang="en-US" sz="2000" dirty="0"/>
              <a:t>Finish all the decoding and reconstruction</a:t>
            </a:r>
          </a:p>
          <a:p>
            <a:r>
              <a:rPr lang="en-US" sz="2000" dirty="0"/>
              <a:t>Work on the trains</a:t>
            </a:r>
          </a:p>
          <a:p>
            <a:r>
              <a:rPr lang="en-US" sz="2000" dirty="0"/>
              <a:t>Should be done this week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EFA4A-00C1-A4E6-954F-3A87FEE69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436" y="116756"/>
            <a:ext cx="2727602" cy="6285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3DDA75-C95F-5ADC-3BCE-1B8B6EB4F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038" y="116755"/>
            <a:ext cx="2537391" cy="466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2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EEF1-1061-FC42-F635-E7B7D456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1FBAC-9705-BCAF-DE9F-8ABA0933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Background merging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AD773-4F9C-490E-C7FE-061A1499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84B94-0733-FE6F-ED56-C085EF00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A5DF2-4BB2-5E08-E475-D814F757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CD8EE3-0037-1E33-B5F4-ED74B4D5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839" y="1249680"/>
            <a:ext cx="11645374" cy="4860000"/>
          </a:xfrm>
        </p:spPr>
        <p:txBody>
          <a:bodyPr>
            <a:normAutofit/>
          </a:bodyPr>
          <a:lstStyle/>
          <a:p>
            <a:r>
              <a:rPr lang="en-US" sz="2000" dirty="0"/>
              <a:t>The background merging is do between the GEMC simulation and the reconstruction:</a:t>
            </a:r>
          </a:p>
          <a:p>
            <a:pPr lvl="1"/>
            <a:r>
              <a:rPr lang="en-US" dirty="0"/>
              <a:t>Use the tool: </a:t>
            </a:r>
            <a:r>
              <a:rPr lang="en-US" dirty="0" err="1"/>
              <a:t>bg</a:t>
            </a:r>
            <a:r>
              <a:rPr lang="en-US" dirty="0"/>
              <a:t>-merger –</a:t>
            </a:r>
            <a:r>
              <a:rPr lang="en-US" dirty="0" err="1"/>
              <a:t>i</a:t>
            </a:r>
            <a:r>
              <a:rPr lang="en-US" dirty="0"/>
              <a:t> &lt;</a:t>
            </a:r>
            <a:r>
              <a:rPr lang="en-US" dirty="0" err="1"/>
              <a:t>input_simulation</a:t>
            </a:r>
            <a:r>
              <a:rPr lang="en-US" dirty="0"/>
              <a:t>&gt;.</a:t>
            </a:r>
            <a:r>
              <a:rPr lang="en-US" dirty="0" err="1"/>
              <a:t>hipo</a:t>
            </a:r>
            <a:r>
              <a:rPr lang="en-US" dirty="0"/>
              <a:t> –o &lt;</a:t>
            </a:r>
            <a:r>
              <a:rPr lang="en-US" dirty="0" err="1"/>
              <a:t>output_simulation</a:t>
            </a:r>
            <a:r>
              <a:rPr lang="en-US" dirty="0"/>
              <a:t>&gt;.</a:t>
            </a:r>
            <a:r>
              <a:rPr lang="en-US" dirty="0" err="1"/>
              <a:t>hipo</a:t>
            </a:r>
            <a:r>
              <a:rPr lang="en-US" dirty="0"/>
              <a:t> &lt;</a:t>
            </a:r>
            <a:r>
              <a:rPr lang="en-US" dirty="0" err="1"/>
              <a:t>background_file</a:t>
            </a:r>
            <a:r>
              <a:rPr lang="en-US" dirty="0"/>
              <a:t>&gt;.</a:t>
            </a:r>
            <a:r>
              <a:rPr lang="en-US" dirty="0" err="1"/>
              <a:t>hipo</a:t>
            </a:r>
            <a:endParaRPr lang="en-US" dirty="0"/>
          </a:p>
          <a:p>
            <a:pPr lvl="1"/>
            <a:r>
              <a:rPr lang="en-US" sz="1800" dirty="0"/>
              <a:t>Path for the background files: /work/</a:t>
            </a:r>
            <a:r>
              <a:rPr lang="en-US" sz="1800" dirty="0" err="1"/>
              <a:t>osgpool</a:t>
            </a:r>
            <a:r>
              <a:rPr lang="en-US" sz="1800" dirty="0"/>
              <a:t>/</a:t>
            </a:r>
            <a:r>
              <a:rPr lang="en-US" sz="1800" dirty="0" err="1"/>
              <a:t>hallb</a:t>
            </a:r>
            <a:r>
              <a:rPr lang="en-US" sz="1800" dirty="0"/>
              <a:t>/clas12/</a:t>
            </a:r>
            <a:r>
              <a:rPr lang="en-US" sz="1800" dirty="0" err="1"/>
              <a:t>backgroundfiles</a:t>
            </a:r>
            <a:r>
              <a:rPr lang="en-US" sz="1800" dirty="0"/>
              <a:t>/</a:t>
            </a:r>
          </a:p>
          <a:p>
            <a:r>
              <a:rPr lang="en-US" sz="2000" dirty="0"/>
              <a:t>The pull request to make the background files for RG-D available to OSG have been accepted</a:t>
            </a:r>
          </a:p>
          <a:p>
            <a:r>
              <a:rPr lang="en-US" sz="2000" dirty="0"/>
              <a:t>Now people can run simulation on OSG with </a:t>
            </a:r>
            <a:r>
              <a:rPr lang="en-US" sz="2000" dirty="0" err="1"/>
              <a:t>backgroung</a:t>
            </a:r>
            <a:r>
              <a:rPr lang="en-US" sz="2000" dirty="0"/>
              <a:t> merging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BDFB8-891D-C861-95F2-841BE8D4C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57" y="3603196"/>
            <a:ext cx="7772400" cy="9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4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E38F-3A2F-C70E-F554-0366CC75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7F97B-9B55-7BEA-B32F-A0A0A3CC5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4867564" cy="4860000"/>
          </a:xfrm>
        </p:spPr>
        <p:txBody>
          <a:bodyPr>
            <a:normAutofit/>
          </a:bodyPr>
          <a:lstStyle/>
          <a:p>
            <a:r>
              <a:rPr lang="en-US" sz="2000" dirty="0"/>
              <a:t>Work on the Cu and Sn contamination using simulation: </a:t>
            </a:r>
          </a:p>
          <a:p>
            <a:pPr lvl="1"/>
            <a:r>
              <a:rPr lang="en-US" sz="1600" dirty="0"/>
              <a:t>Simulated 1M events for the Cu using Raphael/Daniel event generator at -8.5 cm</a:t>
            </a:r>
          </a:p>
          <a:p>
            <a:pPr lvl="1"/>
            <a:r>
              <a:rPr lang="en-US" sz="1600" dirty="0"/>
              <a:t>1M events for the Sn target at -3.5 cm</a:t>
            </a:r>
          </a:p>
          <a:p>
            <a:pPr lvl="1"/>
            <a:r>
              <a:rPr lang="en-US" sz="1600" dirty="0"/>
              <a:t>Reconstructed them with CJ 13.0.0</a:t>
            </a:r>
          </a:p>
          <a:p>
            <a:pPr lvl="1"/>
            <a:r>
              <a:rPr lang="en-US" sz="1600" dirty="0"/>
              <a:t>No background merging (it will be the next step)</a:t>
            </a:r>
          </a:p>
          <a:p>
            <a:r>
              <a:rPr lang="en-US" sz="2000" dirty="0"/>
              <a:t>Simulation to reproduce the data</a:t>
            </a:r>
          </a:p>
          <a:p>
            <a:r>
              <a:rPr lang="en-US" sz="2000" dirty="0"/>
              <a:t>Scale the Sn peak in simulation to match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65CE4-2622-E6A1-049C-7416119F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BFC49-17E3-6F3B-1C8A-C9582CD8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BF4E-C3CF-0EB8-646F-92924626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FBFCD-32CB-4784-3410-7BD5C1BB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067" y="1067780"/>
            <a:ext cx="64897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2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25FE-FB20-D92C-B1D0-5309FDAE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0D58-7727-E899-7356-96668BDB0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2A012-F73F-B639-22CB-92139007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80EC-5949-BB14-EA9A-90261A8F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3D21-F987-2752-2F53-AD123388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034EA-4CD5-FB69-BBCA-F80C110B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725959" y="1387506"/>
            <a:ext cx="10239283" cy="446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9536-D437-15B4-5DFC-A785F0A4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73F59-7331-7489-348F-B214608C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E4189-4544-C382-FA19-E471D277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9D03E-2CB4-0F2C-0360-17B493A09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0B599-3B5F-CE0D-87C1-12191E0C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0D74-A1CF-5F1B-D1D6-7611974E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9680"/>
            <a:ext cx="5477164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 can try to estimate the contamination in the simulation</a:t>
            </a:r>
          </a:p>
          <a:p>
            <a:r>
              <a:rPr lang="en-US" sz="2000" dirty="0"/>
              <a:t>Regions: Cu region [-10.6, -6.5] cm, Sn region [-5.5, 5.0] cm</a:t>
            </a:r>
          </a:p>
          <a:p>
            <a:r>
              <a:rPr lang="en-US" sz="2000" dirty="0"/>
              <a:t>Look into Cu leakage into the Sn region and Sn leakage into the Cu region </a:t>
            </a:r>
          </a:p>
          <a:p>
            <a:r>
              <a:rPr lang="en-US" sz="2000" dirty="0"/>
              <a:t>Contamination fractions computed as the ratio of wrong-target counts to total counts in each cut window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08A2AB-9222-CA10-25C6-D22CBBED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0" y="1003009"/>
            <a:ext cx="6591300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5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6F69-98B8-447F-D076-251A054CC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D0F6-E310-805C-FC16-531BF8A0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1C7E-E74F-2B26-1BC7-896479DD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E7992-CA8C-47DD-53AA-77C6CD5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37C66-D21E-8E6C-8796-17E237D1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B15B0-F502-7A55-FB02-AD52543B8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71" y="1249680"/>
            <a:ext cx="5327493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 can smear the simulation distribution to try to mimic the data</a:t>
            </a:r>
          </a:p>
          <a:p>
            <a:r>
              <a:rPr lang="en-US" sz="2000" dirty="0"/>
              <a:t>MC truth Cu/Sn shapes used as templates, fitted to inclusive data vertex distribution</a:t>
            </a:r>
          </a:p>
          <a:p>
            <a:r>
              <a:rPr lang="en-US" sz="2000" dirty="0"/>
              <a:t>Templates are shifted to account for data-MC peak position offsets (</a:t>
            </a:r>
            <a:r>
              <a:rPr lang="en-US" sz="2000" dirty="0" err="1"/>
              <a:t>dz_Cu</a:t>
            </a:r>
            <a:r>
              <a:rPr lang="en-US" sz="2000" dirty="0"/>
              <a:t> = +0.260 cm, </a:t>
            </a:r>
            <a:r>
              <a:rPr lang="en-US" sz="2000" dirty="0" err="1"/>
              <a:t>dz_Sn</a:t>
            </a:r>
            <a:r>
              <a:rPr lang="en-US" sz="2000" dirty="0"/>
              <a:t> = +0.130 cm)</a:t>
            </a:r>
          </a:p>
          <a:p>
            <a:r>
              <a:rPr lang="en-US" sz="2000" dirty="0"/>
              <a:t>Gaussian smearing applied to templates to match data resolution — smearing widths determined from top 50% of each peak independently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6C28F4-969B-1DCD-70A0-DFBAAEBDD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0" y="1003009"/>
            <a:ext cx="64516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5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A3EE-6975-8173-218C-9A64AC0C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571A-9E65-39FA-6AC3-502539BD6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4756727" cy="4860000"/>
          </a:xfrm>
        </p:spPr>
        <p:txBody>
          <a:bodyPr>
            <a:normAutofit/>
          </a:bodyPr>
          <a:lstStyle/>
          <a:p>
            <a:r>
              <a:rPr lang="en-US" sz="2000" dirty="0"/>
              <a:t>At this point, I discussed with Raffaella about the difference between simulation and MC.</a:t>
            </a:r>
          </a:p>
          <a:p>
            <a:r>
              <a:rPr lang="en-US" sz="2000" dirty="0"/>
              <a:t>She told me that the </a:t>
            </a:r>
            <a:r>
              <a:rPr lang="en-US" sz="2000" dirty="0" err="1"/>
              <a:t>Vz</a:t>
            </a:r>
            <a:r>
              <a:rPr lang="en-US" sz="2000" dirty="0"/>
              <a:t> distribution is </a:t>
            </a:r>
            <a:r>
              <a:rPr lang="en-US" sz="2000" dirty="0" err="1"/>
              <a:t>θ</a:t>
            </a:r>
            <a:r>
              <a:rPr lang="en-US" sz="2000" dirty="0"/>
              <a:t> dependent (and momentum dependent too)</a:t>
            </a:r>
          </a:p>
          <a:p>
            <a:r>
              <a:rPr lang="en-US" sz="2000" dirty="0"/>
              <a:t>We already discussed that right before the pass1 review, but I never look to much into it</a:t>
            </a:r>
          </a:p>
          <a:p>
            <a:r>
              <a:rPr lang="en-US" sz="2000" dirty="0"/>
              <a:t>The </a:t>
            </a:r>
            <a:r>
              <a:rPr lang="en-US" sz="2000" dirty="0" err="1"/>
              <a:t>Vz</a:t>
            </a:r>
            <a:r>
              <a:rPr lang="en-US" sz="2000" dirty="0"/>
              <a:t> distribution is shifted, and larger at low </a:t>
            </a:r>
            <a:r>
              <a:rPr lang="en-US" sz="2000" dirty="0" err="1"/>
              <a:t>θ</a:t>
            </a:r>
            <a:endParaRPr lang="en-US" sz="2000" dirty="0"/>
          </a:p>
          <a:p>
            <a:r>
              <a:rPr lang="en-US" sz="2000" dirty="0"/>
              <a:t>That modification is also charge dependent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B6F0-3351-C450-080D-A8C26DF66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3D8FE-6902-ECF0-BF8E-FED720CB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A73F0-C350-3C69-683D-8C667AC7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B2870E-2394-4FA7-7F0A-B54F0EE28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327" y="1003009"/>
            <a:ext cx="6705145" cy="518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A1172-B46F-F4DA-4C5F-3F020697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0D87-C780-4E53-1701-A4A1E1AC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CD474-EA96-D2E0-B09A-AF847421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4A78-B22F-C897-99B1-6715CE55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5D812-22A6-6F63-F62C-4424856B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1ADFE8-D092-0A61-4B36-F0D6C388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79"/>
            <a:ext cx="4119418" cy="4617429"/>
          </a:xfrm>
        </p:spPr>
        <p:txBody>
          <a:bodyPr>
            <a:normAutofit/>
          </a:bodyPr>
          <a:lstStyle/>
          <a:p>
            <a:r>
              <a:rPr lang="en-US" sz="2000" dirty="0"/>
              <a:t>We can look at slices in </a:t>
            </a:r>
            <a:r>
              <a:rPr lang="en-US" sz="2000" dirty="0" err="1"/>
              <a:t>θ</a:t>
            </a:r>
            <a:endParaRPr lang="en-US" sz="2000" dirty="0"/>
          </a:p>
          <a:p>
            <a:r>
              <a:rPr lang="en-US" sz="2000" dirty="0"/>
              <a:t>Clear shift between 5 and 10 deg, small shift between 10 and 15, and stable after that</a:t>
            </a:r>
          </a:p>
          <a:p>
            <a:r>
              <a:rPr lang="en-US" sz="2000" dirty="0"/>
              <a:t>Most of the event are between 5 and 20 deg</a:t>
            </a:r>
          </a:p>
          <a:p>
            <a:r>
              <a:rPr lang="en-US" sz="2000" dirty="0"/>
              <a:t>Above 20 deg, the peaks are symmetric and more gaussian like.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2134A4-74E9-06E2-30C1-F427ECCA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267" y="861956"/>
            <a:ext cx="6886969" cy="526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7C6C-DCFD-AD98-6891-B761489C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95D6-618E-4515-589F-99E5F47B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C9F2-9A9F-F801-5E31-0BADAA98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6925F-D084-40BF-084C-7B3572E4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72F52-87FB-BBBA-A3B9-B1098292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85D08-584D-445E-9E9B-F9BBF9A2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67" y="802343"/>
            <a:ext cx="10995470" cy="60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6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41B9-C461-7FE0-1DF8-90C994D9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A369-C1CC-8741-C356-E8026E62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A9E1F-8DCF-1F2A-B739-029B7A85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EB8E-492A-03C4-D411-CB4E8AED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F7777-E641-CA9B-B44E-450ED50D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DB4FB8-616A-3FF9-EA82-65C07E4FE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79"/>
            <a:ext cx="4119418" cy="4617429"/>
          </a:xfrm>
        </p:spPr>
        <p:txBody>
          <a:bodyPr>
            <a:normAutofit/>
          </a:bodyPr>
          <a:lstStyle/>
          <a:p>
            <a:r>
              <a:rPr lang="en-US" sz="2000" dirty="0"/>
              <a:t>So, in high momentum high </a:t>
            </a:r>
            <a:r>
              <a:rPr lang="en-US" sz="2000" dirty="0" err="1"/>
              <a:t>θ</a:t>
            </a:r>
            <a:r>
              <a:rPr lang="en-US" sz="2000" dirty="0"/>
              <a:t> bins the </a:t>
            </a:r>
            <a:r>
              <a:rPr lang="en-US" sz="2000" dirty="0" err="1"/>
              <a:t>Vz</a:t>
            </a:r>
            <a:r>
              <a:rPr lang="en-US" sz="2000" dirty="0"/>
              <a:t> distribution is more symmetric and gaussian like.</a:t>
            </a:r>
          </a:p>
          <a:p>
            <a:r>
              <a:rPr lang="en-US" sz="2000" dirty="0"/>
              <a:t>I can compare simulation with data when </a:t>
            </a:r>
            <a:r>
              <a:rPr lang="en-US" sz="2000" dirty="0" err="1"/>
              <a:t>θ</a:t>
            </a:r>
            <a:r>
              <a:rPr lang="en-US" sz="2000" dirty="0"/>
              <a:t> is between 20 and 40 deg</a:t>
            </a:r>
          </a:p>
          <a:p>
            <a:r>
              <a:rPr lang="en-US" sz="2000" dirty="0"/>
              <a:t>Already much better, the proportion of Cu and Sn is not exactly 50-50%, but more 40-60%</a:t>
            </a:r>
          </a:p>
          <a:p>
            <a:r>
              <a:rPr lang="en-US" sz="2000" dirty="0"/>
              <a:t>The peaks are scaled independently for the dashed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DD008-580C-C26D-8C08-106EF7B8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996950"/>
            <a:ext cx="66167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4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42F2-3549-5602-C321-8BBEDF19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D466-B3CB-63F2-A094-020FB7DE1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3710-4FF4-E611-B110-138B4831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339ED-E24B-86E5-080B-BEB29554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2AF6-7ED4-0758-22B1-4C88A7F2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B462B7-00D3-72CB-D60D-D3900D730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79"/>
            <a:ext cx="4119418" cy="4617429"/>
          </a:xfrm>
        </p:spPr>
        <p:txBody>
          <a:bodyPr>
            <a:normAutofit/>
          </a:bodyPr>
          <a:lstStyle/>
          <a:p>
            <a:r>
              <a:rPr lang="en-US" sz="2000" dirty="0"/>
              <a:t>Can add a be of smearing (gaussian) to the simulation to be closer to the data.</a:t>
            </a:r>
          </a:p>
          <a:p>
            <a:r>
              <a:rPr lang="en-US" sz="2000" dirty="0"/>
              <a:t>The middle part is still larger in data than in simulation</a:t>
            </a:r>
          </a:p>
          <a:p>
            <a:r>
              <a:rPr lang="en-US" sz="2000" dirty="0"/>
              <a:t>Maybe background merging can help? </a:t>
            </a:r>
          </a:p>
          <a:p>
            <a:r>
              <a:rPr lang="en-US" sz="2000" dirty="0"/>
              <a:t>I need to develop a </a:t>
            </a:r>
            <a:r>
              <a:rPr lang="en-US" sz="2000" dirty="0" err="1"/>
              <a:t>θ</a:t>
            </a:r>
            <a:r>
              <a:rPr lang="en-US" sz="2000" dirty="0"/>
              <a:t> and momentum correction for </a:t>
            </a:r>
            <a:r>
              <a:rPr lang="en-US" sz="2000" dirty="0" err="1"/>
              <a:t>Vz</a:t>
            </a:r>
            <a:endParaRPr lang="en-US" sz="2000" dirty="0"/>
          </a:p>
          <a:p>
            <a:r>
              <a:rPr lang="en-US" sz="2000" dirty="0"/>
              <a:t>The high momentum high </a:t>
            </a:r>
            <a:r>
              <a:rPr lang="en-US" sz="2000" dirty="0" err="1"/>
              <a:t>θ</a:t>
            </a:r>
            <a:r>
              <a:rPr lang="en-US" sz="2000" dirty="0"/>
              <a:t> </a:t>
            </a:r>
            <a:r>
              <a:rPr lang="en-US" sz="2000" dirty="0" err="1"/>
              <a:t>Vz</a:t>
            </a:r>
            <a:r>
              <a:rPr lang="en-US" sz="2000" dirty="0"/>
              <a:t> distribution is correct, I need to correct the low region to match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D5D7C9-1BE8-EED6-4E07-122A8287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038" y="1003009"/>
            <a:ext cx="65913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4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892C-145B-BD57-20A6-B09EED7E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4FE5-BB82-71B4-CB10-1375F405B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49680"/>
            <a:ext cx="530755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Implement the mixing event technique for the multidimensional binning</a:t>
            </a:r>
          </a:p>
          <a:p>
            <a:pPr lvl="1"/>
            <a:r>
              <a:rPr lang="en-US" sz="1800" dirty="0"/>
              <a:t>Photons are pooled per DIS bin defined by (Q</a:t>
            </a:r>
            <a:r>
              <a:rPr lang="en-US" sz="1800" baseline="30000" dirty="0"/>
              <a:t>2</a:t>
            </a:r>
            <a:r>
              <a:rPr lang="en-US" sz="1800" dirty="0"/>
              <a:t>, </a:t>
            </a:r>
            <a:r>
              <a:rPr lang="en-US" sz="1800" dirty="0" err="1"/>
              <a:t>x</a:t>
            </a:r>
            <a:r>
              <a:rPr lang="en-US" sz="1800" baseline="-25000" dirty="0" err="1"/>
              <a:t>B</a:t>
            </a:r>
            <a:r>
              <a:rPr lang="en-US" sz="1800" dirty="0"/>
              <a:t>): events in the same bin are kinematically similar</a:t>
            </a:r>
          </a:p>
          <a:p>
            <a:pPr lvl="1"/>
            <a:r>
              <a:rPr lang="en-US" sz="1800" dirty="0"/>
              <a:t>Mix photons from 100 events</a:t>
            </a:r>
          </a:p>
          <a:p>
            <a:r>
              <a:rPr lang="en-US" sz="2000" dirty="0"/>
              <a:t>I try different things to get ride of the difference at high invariant mass: </a:t>
            </a:r>
          </a:p>
          <a:p>
            <a:pPr lvl="1"/>
            <a:r>
              <a:rPr lang="en-US" sz="1600" dirty="0"/>
              <a:t>Add a bin in </a:t>
            </a:r>
            <a:r>
              <a:rPr lang="el-GR" sz="1600" dirty="0"/>
              <a:t>ν</a:t>
            </a:r>
            <a:r>
              <a:rPr lang="en-US" sz="1600" dirty="0"/>
              <a:t>, to have photon with similar energy, doesn’t change</a:t>
            </a:r>
          </a:p>
          <a:p>
            <a:pPr lvl="1"/>
            <a:r>
              <a:rPr lang="en-US" sz="1600" dirty="0"/>
              <a:t>Add a bin in W, to have similar hadron mass </a:t>
            </a:r>
          </a:p>
          <a:p>
            <a:pPr lvl="1"/>
            <a:r>
              <a:rPr lang="en-US" sz="1600" dirty="0"/>
              <a:t>Try to rotate the photon from the same event to keep the same kinematics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2DE1C-A61A-1A76-753A-D4144323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C9C29-2C69-22DF-C498-8C258214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51DD-1AC5-3CC0-6FC3-2F571D1B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3BAF98-149E-9E47-3180-A4EBE84E0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93" b="66754"/>
          <a:stretch>
            <a:fillRect/>
          </a:stretch>
        </p:blipFill>
        <p:spPr>
          <a:xfrm>
            <a:off x="5917151" y="491381"/>
            <a:ext cx="6056736" cy="5047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6FD8C-30A2-D7CB-686A-9AB71B25C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1" y="5213630"/>
            <a:ext cx="5177603" cy="1019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733DBB-5CA4-4FF0-2434-00556C14D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091" y="5213630"/>
            <a:ext cx="6404796" cy="107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0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566B7-2806-CA05-0DFC-5957DBB3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1D07-0081-A16F-9F1E-14E4C28F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52454-A74B-A3DA-F5FD-3AA45456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49680"/>
            <a:ext cx="11239814" cy="4860000"/>
          </a:xfrm>
        </p:spPr>
        <p:txBody>
          <a:bodyPr>
            <a:normAutofit/>
          </a:bodyPr>
          <a:lstStyle/>
          <a:p>
            <a:r>
              <a:rPr lang="en-US" sz="2000" dirty="0"/>
              <a:t>To estimate the quality of the mixed distribution:</a:t>
            </a:r>
          </a:p>
          <a:p>
            <a:pPr lvl="1"/>
            <a:r>
              <a:rPr lang="en-US" sz="1600" dirty="0"/>
              <a:t>Compute chi2/</a:t>
            </a:r>
            <a:r>
              <a:rPr lang="en-US" sz="1600" dirty="0" err="1"/>
              <a:t>ndf</a:t>
            </a:r>
            <a:r>
              <a:rPr lang="en-US" sz="1600" dirty="0"/>
              <a:t> in the sideband of the M(gamma gamma) distribution, 0.17 &lt; M(gg) &lt; 0.28 GeV</a:t>
            </a:r>
          </a:p>
          <a:p>
            <a:pPr lvl="1"/>
            <a:r>
              <a:rPr lang="en-US" sz="1600" dirty="0"/>
              <a:t>a bin fails if chi2/</a:t>
            </a:r>
            <a:r>
              <a:rPr lang="en-US" sz="1600" dirty="0" err="1"/>
              <a:t>ndf</a:t>
            </a:r>
            <a:r>
              <a:rPr lang="en-US" sz="1600" dirty="0"/>
              <a:t> &gt; 5.0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8B096-D23C-231A-5022-1AD4250A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87807-A982-5204-4F0C-DDE6F167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11626-35F0-F7DC-BCCD-B00F8EB2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82811B-2C6C-530C-F92D-E3A5DD81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16" y="2323404"/>
            <a:ext cx="11154167" cy="37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10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EDE48-6C5F-FEB0-1F66-5AA2966F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5E9B-766E-4D52-F55B-65EDB6A4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π</a:t>
            </a:r>
            <a:r>
              <a:rPr lang="en-US" baseline="30000" dirty="0"/>
              <a:t>0</a:t>
            </a:r>
            <a:r>
              <a:rPr lang="en-US" dirty="0"/>
              <a:t>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C34C4-8D5A-BDBD-221A-9A282918F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49680"/>
            <a:ext cx="4433454" cy="4860000"/>
          </a:xfrm>
        </p:spPr>
        <p:txBody>
          <a:bodyPr>
            <a:normAutofit/>
          </a:bodyPr>
          <a:lstStyle/>
          <a:p>
            <a:r>
              <a:rPr lang="en-US" sz="2000" dirty="0"/>
              <a:t>Where is the bins that fail the chi2/</a:t>
            </a:r>
            <a:r>
              <a:rPr lang="en-US" sz="2000" dirty="0" err="1"/>
              <a:t>ndf</a:t>
            </a:r>
            <a:r>
              <a:rPr lang="en-US" sz="2000" dirty="0"/>
              <a:t> test</a:t>
            </a:r>
          </a:p>
          <a:p>
            <a:r>
              <a:rPr lang="en-US" sz="2000" dirty="0"/>
              <a:t>Still not too bad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1670D-2315-920F-CC79-587DDA4B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F1D4D-6D98-4F01-1977-2A256633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362C-B0A7-FE9E-868D-80489A69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F5BE26-9F8B-7D82-E1FB-83422661E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764" y="304170"/>
            <a:ext cx="6997331" cy="580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56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ED84-43E8-7232-00D4-54C3A803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Graph and Graph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99326E-70F1-8E61-77CD-BAF8D6F951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590" y="1249680"/>
                <a:ext cx="6342607" cy="486000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A graph consists of two things: nodes, which represent entities (for us detector hits), and edges, which represent the connections between them.</a:t>
                </a:r>
              </a:p>
              <a:p>
                <a:r>
                  <a:rPr lang="en-US" sz="2000" dirty="0"/>
                  <a:t>Nodes can carry features (attributes describing that entity), and edges can also carry their own features (like weight, type, or distance).</a:t>
                </a:r>
              </a:p>
              <a:p>
                <a:r>
                  <a:rPr lang="en-US" sz="2000" dirty="0"/>
                  <a:t>A graph is a mathematical structure: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sz="1800" b="0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ar-AE" sz="1800" dirty="0"/>
                  <a:t>: </a:t>
                </a:r>
                <a:r>
                  <a:rPr lang="en-US" sz="1800" dirty="0"/>
                  <a:t>set of nodes (or vertices)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800" dirty="0"/>
                  <a:t>: set of edges (connections between nodes)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99326E-70F1-8E61-77CD-BAF8D6F95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590" y="1249680"/>
                <a:ext cx="6342607" cy="4860000"/>
              </a:xfrm>
              <a:blipFill>
                <a:blip r:embed="rId2"/>
                <a:stretch>
                  <a:fillRect l="-798" t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0C31-87E9-F9B5-71D9-E57E9A5E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8D85B-674F-2BE5-9C7B-3A8E49D2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67A5-6901-0453-573B-4100912D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Data Structures and Algorithms Cheat Sheet + PDF | Zero To Mastery">
            <a:extLst>
              <a:ext uri="{FF2B5EF4-FFF2-40B4-BE49-F238E27FC236}">
                <a16:creationId xmlns:a16="http://schemas.microsoft.com/office/drawing/2014/main" id="{F7C3AA21-C458-30AF-825E-4B407B4FB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525" y="1249680"/>
            <a:ext cx="5179767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74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BD41-B7E6-C390-007D-738CF9036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34D4-54A4-0482-493F-661E18C5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 Neural Networks for Track Finding?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2C5B8-FDD2-DB82-33C1-5C4D22A2C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6342607" cy="4860000"/>
          </a:xfrm>
        </p:spPr>
        <p:txBody>
          <a:bodyPr>
            <a:normAutofit/>
          </a:bodyPr>
          <a:lstStyle/>
          <a:p>
            <a:r>
              <a:rPr lang="en-US" sz="2000" dirty="0"/>
              <a:t>Track finding = connecting detector hits into particle trajectories</a:t>
            </a:r>
          </a:p>
          <a:p>
            <a:pPr lvl="1"/>
            <a:r>
              <a:rPr lang="en-US" sz="1600" dirty="0"/>
              <a:t>Variable number of hits per event</a:t>
            </a:r>
          </a:p>
          <a:p>
            <a:pPr lvl="1"/>
            <a:r>
              <a:rPr lang="en-US" sz="1600" dirty="0"/>
              <a:t>No fixed ordering or regular grid structure</a:t>
            </a:r>
          </a:p>
          <a:p>
            <a:pPr lvl="1"/>
            <a:r>
              <a:rPr lang="en-US" sz="1600" dirty="0"/>
              <a:t>Relationships between hits are naturally graph-like</a:t>
            </a:r>
          </a:p>
          <a:p>
            <a:r>
              <a:rPr lang="en-US" sz="2000" dirty="0"/>
              <a:t>Traditional approaches struggle with this:</a:t>
            </a:r>
          </a:p>
          <a:p>
            <a:pPr lvl="1"/>
            <a:r>
              <a:rPr lang="en-US" sz="1600" dirty="0"/>
              <a:t>CNNs expect grid inputs (images)</a:t>
            </a:r>
          </a:p>
          <a:p>
            <a:pPr lvl="1"/>
            <a:r>
              <a:rPr lang="en-US" sz="1600" dirty="0"/>
              <a:t>MLPs expect fixed-size inputs</a:t>
            </a:r>
          </a:p>
          <a:p>
            <a:r>
              <a:rPr lang="en-US" sz="2000" dirty="0"/>
              <a:t>GNNs operate directly on graph structure via message passing</a:t>
            </a:r>
          </a:p>
          <a:p>
            <a:pPr lvl="1"/>
            <a:r>
              <a:rPr lang="en-US" sz="1600" dirty="0"/>
              <a:t>Each node gathers information from its neighbors</a:t>
            </a:r>
          </a:p>
          <a:p>
            <a:pPr lvl="1"/>
            <a:r>
              <a:rPr lang="en-US" sz="1600" dirty="0"/>
              <a:t>Learns both local hit correlations </a:t>
            </a:r>
            <a:r>
              <a:rPr lang="en-US" sz="1600" b="1" dirty="0"/>
              <a:t>and</a:t>
            </a:r>
            <a:r>
              <a:rPr lang="en-US" sz="1600" dirty="0"/>
              <a:t> global track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20A3-73FD-6EA3-C84E-3AADE439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0875-879E-3BDA-499F-CDC8A3A0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EDC9D-3E40-9AAF-30A9-FE429D09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170BC-F37F-0379-818C-4F9F9928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08"/>
          <a:stretch>
            <a:fillRect/>
          </a:stretch>
        </p:blipFill>
        <p:spPr>
          <a:xfrm>
            <a:off x="6604000" y="1587500"/>
            <a:ext cx="54610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19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317F-AE53-ECBB-0B89-99BCD77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Finding with Graph Neural Networks (GNNs)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43E9-9FA7-1FFE-836A-F099BCA28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6357597" cy="4860000"/>
          </a:xfrm>
        </p:spPr>
        <p:txBody>
          <a:bodyPr>
            <a:normAutofit/>
          </a:bodyPr>
          <a:lstStyle/>
          <a:p>
            <a:r>
              <a:rPr lang="en-US" sz="2000" dirty="0"/>
              <a:t>Edge Classification: Predict whether two hits belong to the same track</a:t>
            </a:r>
          </a:p>
          <a:p>
            <a:r>
              <a:rPr lang="en-US" sz="2000" dirty="0"/>
              <a:t>Pipeline:</a:t>
            </a:r>
          </a:p>
          <a:p>
            <a:pPr lvl="1"/>
            <a:r>
              <a:rPr lang="en-US" sz="1800" dirty="0"/>
              <a:t>Construct graph from hits using geometric constraints</a:t>
            </a:r>
          </a:p>
          <a:p>
            <a:pPr lvl="1"/>
            <a:r>
              <a:rPr lang="en-US" sz="1800" dirty="0"/>
              <a:t>Apply GNN </a:t>
            </a:r>
          </a:p>
          <a:p>
            <a:pPr lvl="1"/>
            <a:r>
              <a:rPr lang="en-US" sz="1800" dirty="0"/>
              <a:t>Threshold edges → reconstruct tracks</a:t>
            </a:r>
          </a:p>
          <a:p>
            <a:pPr lvl="1"/>
            <a:r>
              <a:rPr lang="en-US" sz="1800" dirty="0"/>
              <a:t>Optionally, perform post-processing to merge/split tracks</a:t>
            </a:r>
          </a:p>
          <a:p>
            <a:r>
              <a:rPr lang="en-US" sz="2000" dirty="0"/>
              <a:t>Advantages of GNNs</a:t>
            </a:r>
          </a:p>
          <a:p>
            <a:pPr lvl="1"/>
            <a:r>
              <a:rPr lang="en-US" sz="1800" dirty="0"/>
              <a:t>Learn both local hit correlations and global track structure</a:t>
            </a:r>
          </a:p>
          <a:p>
            <a:pPr lvl="1"/>
            <a:r>
              <a:rPr lang="en-US" sz="1800" dirty="0"/>
              <a:t>Can handle noise, missing hits, and variable hit densities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815C-D97A-5E17-D278-095CB46C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B8E8C-60DE-B217-0519-5DB9675B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5AFAB-7F42-5D85-AB58-A669426F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108A2-2316-AF91-EC52-9E21019E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3"/>
          <a:stretch>
            <a:fillRect/>
          </a:stretch>
        </p:blipFill>
        <p:spPr>
          <a:xfrm>
            <a:off x="6813030" y="932066"/>
            <a:ext cx="5378970" cy="59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14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AC9F-B007-A28B-7239-4ECBE8AF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Finding as a Graph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B4ED3-9511-3D4F-BAF4-CD87D1AE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80160"/>
            <a:ext cx="5522892" cy="4785360"/>
          </a:xfrm>
        </p:spPr>
        <p:txBody>
          <a:bodyPr>
            <a:normAutofit/>
          </a:bodyPr>
          <a:lstStyle/>
          <a:p>
            <a:r>
              <a:rPr lang="en-US" sz="2000" dirty="0"/>
              <a:t>Idea: Represent hits and their relationships as a graph</a:t>
            </a:r>
          </a:p>
          <a:p>
            <a:pPr lvl="1"/>
            <a:r>
              <a:rPr lang="en-US" sz="1800" dirty="0"/>
              <a:t>Nodes = detector hits (AHDC + ATOF)</a:t>
            </a:r>
          </a:p>
          <a:p>
            <a:pPr lvl="1"/>
            <a:r>
              <a:rPr lang="en-US" sz="1800" dirty="0"/>
              <a:t>Edges = candidate connections between hits</a:t>
            </a:r>
          </a:p>
          <a:p>
            <a:pPr lvl="2"/>
            <a:r>
              <a:rPr lang="en-US" sz="1600" dirty="0"/>
              <a:t>Layer gap: 1-2 layers apart</a:t>
            </a:r>
          </a:p>
          <a:p>
            <a:pPr lvl="2"/>
            <a:r>
              <a:rPr lang="en-US" sz="1600" dirty="0"/>
              <a:t>Euclidean distance &lt; 50 mm</a:t>
            </a:r>
          </a:p>
          <a:p>
            <a:pPr lvl="2"/>
            <a:r>
              <a:rPr lang="en-US" sz="1600" dirty="0"/>
              <a:t>Directed: inner layer to outer layer</a:t>
            </a:r>
          </a:p>
          <a:p>
            <a:r>
              <a:rPr lang="en-US" sz="2000" dirty="0"/>
              <a:t>Task: Classify each edge as same-track (1) or different-track (0)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48288-D514-94D8-C09E-A9C9693A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E63C-F48F-EED5-00EF-08379BFE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4E594-5B21-FF49-615F-D8381561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C644F6-5080-3417-3C23-2242B1425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388" y="948559"/>
            <a:ext cx="6544955" cy="57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39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D2E3-4CB6-2717-9707-66084C54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0761-E516-214A-CB32-86A065A75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6070910" cy="4860000"/>
          </a:xfrm>
        </p:spPr>
        <p:txBody>
          <a:bodyPr>
            <a:normAutofit/>
          </a:bodyPr>
          <a:lstStyle/>
          <a:p>
            <a:r>
              <a:rPr lang="en-US" dirty="0"/>
              <a:t>MC Sample used to build the same-track edge and add noise hits and multi-track events for the different-track edge</a:t>
            </a:r>
          </a:p>
          <a:p>
            <a:r>
              <a:rPr lang="en-US" dirty="0"/>
              <a:t>Use all light ions, flat distribution in momentum (0.05 to 1.5 GeV), </a:t>
            </a:r>
            <a:r>
              <a:rPr lang="en-US" dirty="0" err="1"/>
              <a:t>φ</a:t>
            </a:r>
            <a:r>
              <a:rPr lang="en-US" dirty="0"/>
              <a:t>, </a:t>
            </a:r>
            <a:r>
              <a:rPr lang="en-US" dirty="0" err="1"/>
              <a:t>θ</a:t>
            </a:r>
            <a:r>
              <a:rPr lang="en-US" dirty="0"/>
              <a:t> and </a:t>
            </a:r>
            <a:r>
              <a:rPr lang="en-US" dirty="0" err="1"/>
              <a:t>Vz</a:t>
            </a:r>
            <a:endParaRPr lang="en-US" dirty="0"/>
          </a:p>
          <a:p>
            <a:r>
              <a:rPr lang="en-US" dirty="0"/>
              <a:t>1-5 tracks merged per event + 5-30 noise hits</a:t>
            </a:r>
          </a:p>
          <a:p>
            <a:endParaRPr lang="en-US" dirty="0"/>
          </a:p>
          <a:p>
            <a:r>
              <a:rPr lang="en-US" dirty="0"/>
              <a:t>Node features:</a:t>
            </a:r>
          </a:p>
          <a:p>
            <a:pPr lvl="1"/>
            <a:r>
              <a:rPr lang="en-US" sz="1800" dirty="0"/>
              <a:t>Position, stereo-angle</a:t>
            </a:r>
          </a:p>
          <a:p>
            <a:r>
              <a:rPr lang="en-US" dirty="0"/>
              <a:t>Edge features:</a:t>
            </a:r>
          </a:p>
          <a:p>
            <a:pPr lvl="1"/>
            <a:r>
              <a:rPr lang="en-US" sz="1800" dirty="0" err="1"/>
              <a:t>Δφ</a:t>
            </a:r>
            <a:r>
              <a:rPr lang="en-US" sz="1800" baseline="-25000" dirty="0" err="1"/>
              <a:t>ij</a:t>
            </a:r>
            <a:r>
              <a:rPr lang="en-US" sz="1800" dirty="0"/>
              <a:t>, </a:t>
            </a:r>
            <a:r>
              <a:rPr lang="en-US" sz="1800" dirty="0" err="1"/>
              <a:t>Δl</a:t>
            </a:r>
            <a:r>
              <a:rPr lang="en-US" sz="1800" baseline="-25000" dirty="0" err="1"/>
              <a:t>ij</a:t>
            </a:r>
            <a:endParaRPr lang="en-US" sz="1800" baseline="-25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D5097-2EA6-C4FE-5A32-899015D2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BE2F-BF10-9B93-D23A-A1735915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A928-4C5B-CEE7-206D-F058B48C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EB4C1C4-7A44-6510-861C-BC434CE2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62" y="356622"/>
            <a:ext cx="6052338" cy="26304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34E2BA-B678-0170-4F15-35E7BC4AE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04" y="3159801"/>
            <a:ext cx="3279758" cy="29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43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3CD7-6010-A023-3DBE-1F345336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on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BB4C3-AC68-E479-744E-3BB5EF888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9680"/>
                <a:ext cx="10891982" cy="5106672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Track Efficiency (how many true tracks did we find?):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 smtClean="0"/>
                      <m:t>Efficiency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 dirty="0"/>
                              <m:t>matched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tracks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 dirty="0"/>
                              <m:t>true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tracks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A true track is considered "matched" to a reconstructed track if they share at least 80% of their hits </a:t>
                </a:r>
              </a:p>
              <a:p>
                <a:pPr lvl="1"/>
                <a:r>
                  <a:rPr lang="en-US" sz="1400" dirty="0"/>
                  <a:t>Efficiency of 84.28%</a:t>
                </a:r>
              </a:p>
              <a:p>
                <a:pPr lvl="1"/>
                <a:r>
                  <a:rPr lang="en-US" sz="1400" b="1" dirty="0"/>
                  <a:t>Efficiency of </a:t>
                </a:r>
                <a:r>
                  <a:rPr lang="en-US" sz="1400" b="1" dirty="0" err="1"/>
                  <a:t>reconstructable</a:t>
                </a:r>
                <a:r>
                  <a:rPr lang="en-US" sz="1400" b="1" dirty="0"/>
                  <a:t> tracks (tracks with at least 7 AHDC hits and at least 1 ATOF hit): 99.99%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BB4C3-AC68-E479-744E-3BB5EF8880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9680"/>
                <a:ext cx="10891982" cy="5106672"/>
              </a:xfrm>
              <a:blipFill>
                <a:blip r:embed="rId2"/>
                <a:stretch>
                  <a:fillRect l="-117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1B395-F84C-123A-AD05-F1E879C0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80F52-63C8-EFA0-5D2A-2D8E4795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0F16-3283-348B-DF2F-A2015E08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E5761B-D7FE-F0BE-3B29-7CD89D6B9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4" y="2885879"/>
            <a:ext cx="4632456" cy="3938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73FBE7-61E1-BC71-35AF-8C5F9740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743" y="2885878"/>
            <a:ext cx="4720621" cy="394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37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AEBA-614A-89B0-8EB4-4A72B996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726E-87D4-E572-C67D-EF9EB318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on simulation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17BD4E-C233-4FE6-C7EB-22424C3B5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9680"/>
                <a:ext cx="7924800" cy="5106672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Contamination (how many wrong hits are in a reconstructed track?):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 smtClean="0"/>
                      <m:t>Contamination</m:t>
                    </m:r>
                    <m:r>
                      <a:rPr lang="en-US" sz="1400" b="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  <m:r>
                          <a:rPr lang="en-US" sz="1400" b="0" i="0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</m:den>
                    </m:f>
                    <m:r>
                      <a:rPr lang="en-US" sz="1400" b="0" i="0" dirty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nor/>
                      </m:rPr>
                      <a:rPr lang="en-US" sz="1400" dirty="0"/>
                      <m:t>Purity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where R is the set of hits in a reconstructed track and T is the set of hits from its best-matching true track. </a:t>
                </a:r>
              </a:p>
              <a:p>
                <a:pPr lvl="1"/>
                <a:r>
                  <a:rPr lang="en-US" sz="1400" dirty="0"/>
                  <a:t>Contamination = 0: every hit in the </a:t>
                </a:r>
                <a:r>
                  <a:rPr lang="en-US" sz="1400" dirty="0" err="1"/>
                  <a:t>reco</a:t>
                </a:r>
                <a:r>
                  <a:rPr lang="en-US" sz="1400" dirty="0"/>
                  <a:t> track is correct</a:t>
                </a:r>
              </a:p>
              <a:p>
                <a:pPr lvl="1"/>
                <a:r>
                  <a:rPr lang="en-US" sz="1400" dirty="0"/>
                  <a:t>Contamination = 1: no hits in the </a:t>
                </a:r>
                <a:r>
                  <a:rPr lang="en-US" sz="1400" dirty="0" err="1"/>
                  <a:t>reco</a:t>
                </a:r>
                <a:r>
                  <a:rPr lang="en-US" sz="1400" dirty="0"/>
                  <a:t> track match the true track</a:t>
                </a:r>
              </a:p>
              <a:p>
                <a:r>
                  <a:rPr lang="en-US" sz="1400" dirty="0">
                    <a:solidFill>
                      <a:schemeClr val="tx2"/>
                    </a:solidFill>
                  </a:rPr>
                  <a:t>Completeness (how much of a true track did we recover?):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 smtClean="0"/>
                      <m:t>Completeness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den>
                    </m:f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where T is the set of hits in a true track and R is the set of hits in its matched reconstructed track. A completeness of 1.0 means every hit from the true particle was included in the </a:t>
                </a:r>
                <a:r>
                  <a:rPr lang="en-US" sz="1400" dirty="0" err="1"/>
                  <a:t>reco</a:t>
                </a:r>
                <a:r>
                  <a:rPr lang="en-US" sz="1400" dirty="0"/>
                  <a:t> track.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17BD4E-C233-4FE6-C7EB-22424C3B5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9680"/>
                <a:ext cx="7924800" cy="5106672"/>
              </a:xfrm>
              <a:blipFill>
                <a:blip r:embed="rId2"/>
                <a:stretch>
                  <a:fillRect l="-160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44E53-A9CE-6071-9672-77A6A660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16A01-026E-A9EF-49CF-AE60CE3B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A558-CE2B-C37D-D92C-20B10769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65135E-E895-8161-54A2-89B68944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0" y="3134216"/>
            <a:ext cx="3797300" cy="309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3D036-480A-EE17-0462-9EBA72C52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100" y="35415"/>
            <a:ext cx="37973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1A1E-4103-8ADA-D031-BBB6486E8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D1C51-A7EC-0BB9-90F1-ABAC5B408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updated the RG-D Common analysis note with all the new cuts for electron and </a:t>
            </a:r>
            <a:r>
              <a:rPr lang="en-US" dirty="0" err="1"/>
              <a:t>pions</a:t>
            </a:r>
            <a:r>
              <a:rPr lang="en-US" dirty="0"/>
              <a:t> cuts</a:t>
            </a:r>
          </a:p>
          <a:p>
            <a:endParaRPr lang="en-US" dirty="0"/>
          </a:p>
          <a:p>
            <a:r>
              <a:rPr lang="en-US" dirty="0"/>
              <a:t>I have shifts starting this Saturday to Tuesday (swing shift)</a:t>
            </a:r>
          </a:p>
          <a:p>
            <a:pPr lvl="1"/>
            <a:r>
              <a:rPr lang="en-US" dirty="0"/>
              <a:t>It should not impact this meeting next week</a:t>
            </a:r>
          </a:p>
          <a:p>
            <a:pPr lvl="1"/>
            <a:r>
              <a:rPr lang="en-US" dirty="0"/>
              <a:t>Also, my Tuesday shit is likely to be cancel (accelerator will be done)</a:t>
            </a:r>
          </a:p>
          <a:p>
            <a:pPr lvl="1"/>
            <a:endParaRPr lang="en-US" dirty="0"/>
          </a:p>
          <a:p>
            <a:r>
              <a:rPr lang="en-US" dirty="0"/>
              <a:t>I have nothing to show for that, but I also worked on extracting </a:t>
            </a:r>
            <a:r>
              <a:rPr lang="en-US" dirty="0" err="1"/>
              <a:t>pT</a:t>
            </a:r>
            <a:r>
              <a:rPr lang="en-US" dirty="0"/>
              <a:t> broadening and azimuthal modulation sin </a:t>
            </a:r>
            <a:r>
              <a:rPr lang="en-US" dirty="0" err="1"/>
              <a:t>phih</a:t>
            </a:r>
            <a:r>
              <a:rPr lang="en-US" dirty="0"/>
              <a:t> and cos </a:t>
            </a:r>
            <a:r>
              <a:rPr lang="en-US" dirty="0" err="1"/>
              <a:t>phih</a:t>
            </a:r>
            <a:r>
              <a:rPr lang="en-US" dirty="0"/>
              <a:t> for the </a:t>
            </a:r>
            <a:r>
              <a:rPr lang="el-GR" dirty="0"/>
              <a:t>π</a:t>
            </a:r>
            <a:r>
              <a:rPr lang="en-US" baseline="30000" dirty="0"/>
              <a:t>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6432-5299-FE42-8FB5-88D1176F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02A4E-0725-D65F-09CC-6B1C9361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288BD-0817-35A1-1ED1-18944137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98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RG-D:	</a:t>
            </a:r>
          </a:p>
          <a:p>
            <a:pPr lvl="1"/>
            <a:r>
              <a:rPr lang="en-US" dirty="0"/>
              <a:t>Continue to work on </a:t>
            </a:r>
            <a:r>
              <a:rPr lang="en-US" dirty="0" err="1"/>
              <a:t>CuSn</a:t>
            </a:r>
            <a:r>
              <a:rPr lang="en-US" dirty="0"/>
              <a:t> contamination, develop correction for </a:t>
            </a:r>
            <a:r>
              <a:rPr lang="en-US" dirty="0" err="1"/>
              <a:t>Vz</a:t>
            </a:r>
            <a:r>
              <a:rPr lang="en-US" dirty="0"/>
              <a:t> distribution</a:t>
            </a:r>
          </a:p>
          <a:p>
            <a:pPr lvl="1"/>
            <a:r>
              <a:rPr lang="en-US" dirty="0"/>
              <a:t>Get multiplicity ratio for π</a:t>
            </a:r>
            <a:r>
              <a:rPr lang="en-US" baseline="30000" dirty="0"/>
              <a:t>0 </a:t>
            </a:r>
            <a:r>
              <a:rPr lang="en-US" dirty="0"/>
              <a:t>after the event mixing </a:t>
            </a:r>
            <a:r>
              <a:rPr lang="en-US" dirty="0" err="1"/>
              <a:t>substraction</a:t>
            </a:r>
            <a:endParaRPr lang="en-US" dirty="0"/>
          </a:p>
          <a:p>
            <a:pPr lvl="1"/>
            <a:r>
              <a:rPr lang="en-US" dirty="0"/>
              <a:t>Continue the work on </a:t>
            </a:r>
            <a:r>
              <a:rPr lang="en-US" dirty="0" err="1"/>
              <a:t>pT</a:t>
            </a:r>
            <a:r>
              <a:rPr lang="en-US" dirty="0"/>
              <a:t> broadening and cos and sin </a:t>
            </a:r>
            <a:r>
              <a:rPr lang="en-US" dirty="0" err="1"/>
              <a:t>phih</a:t>
            </a:r>
            <a:r>
              <a:rPr lang="en-US" dirty="0"/>
              <a:t> extraction</a:t>
            </a:r>
          </a:p>
          <a:p>
            <a:pPr lvl="1"/>
            <a:r>
              <a:rPr lang="en-US" dirty="0"/>
              <a:t>Work on the binning</a:t>
            </a:r>
          </a:p>
          <a:p>
            <a:pPr lvl="1"/>
            <a:r>
              <a:rPr lang="en-US" dirty="0"/>
              <a:t>Radiative and acceptance correction</a:t>
            </a:r>
          </a:p>
          <a:p>
            <a:pPr lvl="1"/>
            <a:r>
              <a:rPr lang="en-US" dirty="0"/>
              <a:t>Background for ρ</a:t>
            </a:r>
            <a:r>
              <a:rPr lang="en-US" baseline="30000" dirty="0"/>
              <a:t>0</a:t>
            </a:r>
            <a:r>
              <a:rPr lang="en-US" dirty="0"/>
              <a:t> with simulation for CT analysis</a:t>
            </a:r>
          </a:p>
          <a:p>
            <a:pPr lvl="1"/>
            <a:endParaRPr lang="en-US" dirty="0"/>
          </a:p>
          <a:p>
            <a:r>
              <a:rPr lang="en-US" dirty="0"/>
              <a:t>ALERT:</a:t>
            </a:r>
          </a:p>
          <a:p>
            <a:pPr lvl="1"/>
            <a:r>
              <a:rPr lang="en-US" dirty="0"/>
              <a:t>Continue the work on Graph Neural Network: optimization and implementation in </a:t>
            </a:r>
            <a:r>
              <a:rPr lang="en-US" dirty="0" err="1"/>
              <a:t>coatjava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04/07/26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13387</TotalTime>
  <Words>1560</Words>
  <Application>Microsoft Macintosh PowerPoint</Application>
  <PresentationFormat>Widescreen</PresentationFormat>
  <Paragraphs>219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 Math</vt:lpstr>
      <vt:lpstr>Fira Sans Book</vt:lpstr>
      <vt:lpstr>Fira Sans Light</vt:lpstr>
      <vt:lpstr>Office Theme</vt:lpstr>
      <vt:lpstr>Group meeting</vt:lpstr>
      <vt:lpstr>RG-D: cooking</vt:lpstr>
      <vt:lpstr>RG-D: Background merging</vt:lpstr>
      <vt:lpstr>RG-D: CuSn Contamination</vt:lpstr>
      <vt:lpstr>RG-D: CuSn Contamination</vt:lpstr>
      <vt:lpstr>RG-D: CuSn Contamination</vt:lpstr>
      <vt:lpstr>RG-D: CuSn Contamination</vt:lpstr>
      <vt:lpstr>RG-D: CuSn Contamination</vt:lpstr>
      <vt:lpstr>RG-D: CuSn Contamination</vt:lpstr>
      <vt:lpstr>RG-D: CuSn Contamination</vt:lpstr>
      <vt:lpstr>RG-D: CuSn Contamination</vt:lpstr>
      <vt:lpstr>RG-D: CuSn Contamination</vt:lpstr>
      <vt:lpstr>RG-D: π0 analysis </vt:lpstr>
      <vt:lpstr>RG-D: π0 analysis </vt:lpstr>
      <vt:lpstr>RG-D: π0 analysis </vt:lpstr>
      <vt:lpstr>Introduction to Graph and Graph Neural Networks</vt:lpstr>
      <vt:lpstr>Why Graph Neural Networks for Track Finding?</vt:lpstr>
      <vt:lpstr>Track Finding with Graph Neural Networks (GNNs)</vt:lpstr>
      <vt:lpstr>Track Finding as a Graph Problem</vt:lpstr>
      <vt:lpstr>Training setup</vt:lpstr>
      <vt:lpstr>Evaluation on simulation</vt:lpstr>
      <vt:lpstr>Evaluation on simulation</vt:lpstr>
      <vt:lpstr>Other things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554</cp:revision>
  <dcterms:created xsi:type="dcterms:W3CDTF">2019-12-03T01:04:10Z</dcterms:created>
  <dcterms:modified xsi:type="dcterms:W3CDTF">2026-04-07T22:13:17Z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