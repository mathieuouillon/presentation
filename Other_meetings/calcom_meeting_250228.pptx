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Nunito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Medium-italic.fntdata"/><Relationship Id="rId30" Type="http://schemas.openxmlformats.org/officeDocument/2006/relationships/font" Target="fonts/Nunito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Nunito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a516930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a516930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a516930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a516930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a516930d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a516930d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a516930d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a516930d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a516930d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a516930d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a516930d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a516930d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a516930d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a516930d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a516930d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a516930d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a516930d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a516930d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a516930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a516930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a516930d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a516930d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a516930d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a516930d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a516930d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a516930d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a516930d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a516930d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a516930d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a516930d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a516930d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a516930d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a516930d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a516930d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a516930d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a516930d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CalCom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(28 February,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hyperlink" Target="https://clas12mon.jlab.org/rgd/pass0v9_qa/phys_qa/timeline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clas12mon.jlab.org/rgd/pass0v9_qa/phys_qa/timelin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s://clas12mon.jlab.org/rgd/pass0v9_qa/phys_qa/timeline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las12mon.jlab.org/rgd/pass0v9_qa/phys_qa/timeline/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308975"/>
            <a:ext cx="8520600" cy="12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RG-D High-level Physics QA Timelines 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166750" y="2843275"/>
            <a:ext cx="4132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CalColm Meeting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28 February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Cross-check High-level Physics QA Timeline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0" y="647400"/>
            <a:ext cx="90186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Goal: Understand the high-level QA timelines, its relevance for RG-D, and cross-check its results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99107"/>
              <a:buChar char="●"/>
            </a:pPr>
            <a:r>
              <a:rPr lang="fr"/>
              <a:t>Beam charge asymmetry </a:t>
            </a:r>
            <a:r>
              <a:rPr lang="fr" sz="1816"/>
              <a:t>(</a:t>
            </a:r>
            <a:r>
              <a:rPr i="1" lang="fr" sz="1816"/>
              <a:t>should be removed; see next slide</a:t>
            </a:r>
            <a:r>
              <a:rPr lang="fr" sz="1816"/>
              <a:t>)</a:t>
            </a:r>
            <a:endParaRPr sz="1816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Beam spin asymmetry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Define helicity fraction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Electron FD normalized yield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98667"/>
              <a:buChar char="●"/>
            </a:pPr>
            <a:r>
              <a:rPr lang="fr"/>
              <a:t>Electron FT normalized yield: No FT in RG-D, set to 0 </a:t>
            </a:r>
            <a:r>
              <a:rPr lang="fr" sz="1824"/>
              <a:t>(</a:t>
            </a:r>
            <a:r>
              <a:rPr i="1" lang="fr" sz="1824"/>
              <a:t>could be removed as FT was OFF </a:t>
            </a:r>
            <a:r>
              <a:rPr lang="fr" sz="1824"/>
              <a:t>)</a:t>
            </a:r>
            <a:endParaRPr sz="1824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Faraday cup charge gated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Faraday cup charge gated accumulated </a:t>
            </a:r>
            <a:r>
              <a:rPr i="1" lang="fr" sz="1918"/>
              <a:t>(</a:t>
            </a:r>
            <a:r>
              <a:rPr i="1" lang="fr" sz="1792"/>
              <a:t>not significant for RG-D with various target configurations as it can’t be compared with the live accumulated charge plot</a:t>
            </a:r>
            <a:r>
              <a:rPr lang="fr"/>
              <a:t>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453"/>
              <a:buChar char="●"/>
            </a:pPr>
            <a:r>
              <a:rPr lang="fr"/>
              <a:t>Faraday cup gated non-monotonicity: Set to 1 </a:t>
            </a:r>
            <a:r>
              <a:rPr i="1" lang="fr" sz="1792"/>
              <a:t>(</a:t>
            </a:r>
            <a:r>
              <a:rPr i="1" lang="fr" sz="1792"/>
              <a:t>could be removed)</a:t>
            </a:r>
            <a:endParaRPr i="1" sz="1792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453"/>
              <a:buChar char="●"/>
            </a:pPr>
            <a:r>
              <a:rPr lang="fr"/>
              <a:t>Faraday cup charge ungated: Same as gated for RG-D </a:t>
            </a:r>
            <a:r>
              <a:rPr i="1" lang="fr" sz="1792"/>
              <a:t>(</a:t>
            </a:r>
            <a:r>
              <a:rPr i="1" lang="fr" sz="1792"/>
              <a:t>could</a:t>
            </a:r>
            <a:r>
              <a:rPr i="1" lang="fr" sz="1792"/>
              <a:t> be removed)</a:t>
            </a:r>
            <a:endParaRPr i="1" sz="1792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Livetime from fc charge totals: Set to 1 </a:t>
            </a:r>
            <a:r>
              <a:rPr i="1" lang="fr" sz="1792"/>
              <a:t>(could be removed)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2857"/>
              <a:buChar char="●"/>
            </a:pPr>
            <a:r>
              <a:rPr lang="fr" sz="1750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750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750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 sz="1750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 sz="1600"/>
              <a:t> K</a:t>
            </a:r>
            <a:r>
              <a:rPr lang="fr"/>
              <a:t>inematics means/stddevs (</a:t>
            </a:r>
            <a:r>
              <a:rPr i="1" lang="fr"/>
              <a:t>require further tweaks; more later</a:t>
            </a:r>
            <a:r>
              <a:rPr lang="fr"/>
              <a:t>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Q</a:t>
            </a:r>
            <a:r>
              <a:rPr baseline="30000" lang="fr"/>
              <a:t>2</a:t>
            </a:r>
            <a:r>
              <a:rPr lang="fr"/>
              <a:t>, W, x, y means/stddevs </a:t>
            </a:r>
            <a:r>
              <a:rPr lang="fr"/>
              <a:t>(</a:t>
            </a:r>
            <a:r>
              <a:rPr i="1" lang="fr"/>
              <a:t>require further tweaks; more later</a:t>
            </a:r>
            <a:r>
              <a:rPr lang="fr"/>
              <a:t>)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Charge Asymmetry 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7425" y="715150"/>
            <a:ext cx="8965500" cy="40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charge asymmetry based on the total accumulated charge with positive and negative helicities: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charge is read from the HEL::scalers bank, where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Q</a:t>
            </a:r>
            <a:r>
              <a:rPr baseline="30000" lang="fr" sz="1600"/>
              <a:t>+</a:t>
            </a:r>
            <a:r>
              <a:rPr lang="fr" sz="1600"/>
              <a:t> is the total accumulated charge </a:t>
            </a:r>
            <a:r>
              <a:rPr lang="fr" sz="1600"/>
              <a:t>per run </a:t>
            </a:r>
            <a:r>
              <a:rPr lang="fr" sz="1600"/>
              <a:t>when the helicity is positive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Q</a:t>
            </a:r>
            <a:r>
              <a:rPr baseline="30000" lang="fr" sz="1600"/>
              <a:t>−</a:t>
            </a:r>
            <a:r>
              <a:rPr lang="fr" sz="1600"/>
              <a:t> is the total accumulated charge per run when the helicity is negative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For RG-D, the charge in the HEL::scalers bank is corrupted due to the FCup vacuum </a:t>
            </a:r>
            <a:r>
              <a:rPr lang="fr"/>
              <a:t>contamination</a:t>
            </a:r>
            <a:r>
              <a:rPr lang="fr"/>
              <a:t> issue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075" y="1558775"/>
            <a:ext cx="2585325" cy="10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Charge Asymmetry 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8878"/>
            <a:ext cx="9144003" cy="315664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164800" y="412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From </a:t>
            </a:r>
            <a:r>
              <a:rPr lang="fr" sz="1800" u="sng">
                <a:solidFill>
                  <a:schemeClr val="accent5"/>
                </a:solidFill>
                <a:latin typeface="Nunito Medium"/>
                <a:ea typeface="Nunito Medium"/>
                <a:cs typeface="Nunito Medium"/>
                <a:sym typeface="Nuni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timeline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Spin Asymmetry 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0" y="787125"/>
            <a:ext cx="9144000" cy="3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BSA extraction is done by performing a SIDIS-type analysis for 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and 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with the following criteria: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trigger electron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selected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with pid= 11, status&lt; 0, 2000≤ |status|&lt; 8000, &amp; -3&lt; chi2pid &lt; 3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DIS cuts: Q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&gt; 1 GeV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W &gt; 2 GeV, and y &lt; 0.8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charged pions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(π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selected with pid = 211/-211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Then, BSA is computed as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What is monitored in the timelines is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Amplitude: the slope of the asymmetry (fitted with a first-order polynomial function)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Offset: intercept of the first-order polynomial function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100" y="2390325"/>
            <a:ext cx="2197125" cy="10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Spin Asymmetry 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" y="758600"/>
            <a:ext cx="8978724" cy="30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164800" y="412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From </a:t>
            </a:r>
            <a:r>
              <a:rPr lang="fr" sz="1800" u="sng">
                <a:solidFill>
                  <a:schemeClr val="accent5"/>
                </a:solidFill>
                <a:latin typeface="Nunito Medium"/>
                <a:ea typeface="Nunito Medium"/>
                <a:cs typeface="Nunito Medium"/>
                <a:sym typeface="Nuni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timeline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Spin Asymmetry </a:t>
            </a:r>
            <a:endParaRPr/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75" y="748925"/>
            <a:ext cx="8839204" cy="3957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9"/>
          <p:cNvCxnSpPr/>
          <p:nvPr/>
        </p:nvCxnSpPr>
        <p:spPr>
          <a:xfrm rot="10800000">
            <a:off x="1058550" y="2917825"/>
            <a:ext cx="0" cy="37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9"/>
          <p:cNvSpPr txBox="1"/>
          <p:nvPr/>
        </p:nvSpPr>
        <p:spPr>
          <a:xfrm>
            <a:off x="729375" y="3284250"/>
            <a:ext cx="3823800" cy="1058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Run 18331: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0.00166, offset: -0.00190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0.00164, offset: -0.00192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0.01861, offset: 0.00518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0.001866, offset: -0.00517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1" name="Google Shape;111;p19"/>
          <p:cNvCxnSpPr/>
          <p:nvPr/>
        </p:nvCxnSpPr>
        <p:spPr>
          <a:xfrm rot="10800000">
            <a:off x="6225525" y="2866675"/>
            <a:ext cx="0" cy="37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9"/>
          <p:cNvSpPr txBox="1"/>
          <p:nvPr/>
        </p:nvSpPr>
        <p:spPr>
          <a:xfrm>
            <a:off x="5000650" y="3284250"/>
            <a:ext cx="3823800" cy="1090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Run 18852: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-0.0052, offset: -0.00322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-0.0054, offset: -0.00320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-0.0149, offset: 0.00798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-0.00143, offset: 0.00804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3039425" y="1750700"/>
            <a:ext cx="0" cy="414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 txBox="1"/>
          <p:nvPr/>
        </p:nvSpPr>
        <p:spPr>
          <a:xfrm>
            <a:off x="2473550" y="820375"/>
            <a:ext cx="3823800" cy="909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Run 18532: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0.0141, offset: 0.00656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0.0142, offset: 0.00653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0.0110, offset: 0.00766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0.01087, offset: 0.00765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</a:t>
            </a:r>
            <a:r>
              <a:rPr lang="fr"/>
              <a:t>efined Helicity Fraction</a:t>
            </a:r>
            <a:endParaRPr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50" y="1426750"/>
            <a:ext cx="8839204" cy="30298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/>
        </p:nvSpPr>
        <p:spPr>
          <a:xfrm>
            <a:off x="0" y="719300"/>
            <a:ext cx="91440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Computed as a ratio of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 number of events with defined helicity (1 or -1) and the total number of events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E</a:t>
            </a:r>
            <a:r>
              <a:rPr lang="fr"/>
              <a:t>lectron FD Normalized Yield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0" y="628600"/>
            <a:ext cx="927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Represents the number of identified trigger electrons normalized by the </a:t>
            </a:r>
            <a:r>
              <a:rPr lang="fr"/>
              <a:t>accumulated</a:t>
            </a:r>
            <a:r>
              <a:rPr lang="fr"/>
              <a:t> gated beam-charge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00" y="1333625"/>
            <a:ext cx="8441298" cy="289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0" y="4125725"/>
            <a:ext cx="914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i="1" lang="fr" sz="1560"/>
              <a:t>Outliers are expected to diminish once full runs are processed since the normalization is done with the accumulated gated per-run beam-charge (current timelines has only 20 files per run)</a:t>
            </a:r>
            <a:endParaRPr i="1" sz="15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Faraday Cup Charge Gated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0" y="647400"/>
            <a:ext cx="90735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2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fr" sz="1695"/>
              <a:t>Represents BPM/BCM accumulated livetime-corrected charge extracted by Maurik H. by reading BCM currents and livetime information stored in the MYA database </a:t>
            </a:r>
            <a:endParaRPr sz="1695"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50" y="1419600"/>
            <a:ext cx="8839204" cy="287878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50750" y="42221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From </a:t>
            </a:r>
            <a:r>
              <a:rPr lang="fr" u="sng">
                <a:solidFill>
                  <a:schemeClr val="hlink"/>
                </a:solidFill>
                <a:hlinkClick r:id="rId4"/>
              </a:rPr>
              <a:t>the timeline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Faraday Cup Charge Gated</a:t>
            </a:r>
            <a:endParaRPr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723600"/>
            <a:ext cx="8839204" cy="334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My cross-check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Faraday Cup Charge Accumulated </a:t>
            </a:r>
            <a:endParaRPr sz="2200"/>
          </a:p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From </a:t>
            </a:r>
            <a:r>
              <a:rPr lang="fr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timeline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5" y="1074000"/>
            <a:ext cx="9059348" cy="2937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0" y="647400"/>
            <a:ext cx="90735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210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918"/>
              <a:t>Extracted by performing a per-run charge accumulation throughout the whole run-period</a:t>
            </a:r>
            <a:endParaRPr sz="1918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Faraday Cup Charge Accumulated</a:t>
            </a:r>
            <a:endParaRPr sz="2200"/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My cross-check</a:t>
            </a:r>
            <a:endParaRPr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765900"/>
            <a:ext cx="9043948" cy="34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Faraday Cup Charge Accumulated</a:t>
            </a:r>
            <a:endParaRPr sz="2200"/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0" y="647400"/>
            <a:ext cx="8520600" cy="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0678" lvl="0" marL="457200" rtl="0" algn="l">
              <a:spcBef>
                <a:spcPts val="0"/>
              </a:spcBef>
              <a:spcAft>
                <a:spcPts val="0"/>
              </a:spcAft>
              <a:buSzPts val="1765"/>
              <a:buChar char="●"/>
            </a:pPr>
            <a:r>
              <a:rPr lang="fr" sz="1765"/>
              <a:t>The same accumulated per-run charge throughout the whole run period but separated by target configurations</a:t>
            </a:r>
            <a:endParaRPr sz="1765"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1323025"/>
            <a:ext cx="8839204" cy="3379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-25" y="723600"/>
            <a:ext cx="9144000" cy="4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fr" sz="1900"/>
              <a:t>To compute the values for these timelines: </a:t>
            </a:r>
            <a:endParaRPr sz="19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Each run is divided into three bins: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AutoNum type="alphaLcPeriod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Bin 1: Contains only the first event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AutoNum type="alphaLcPeriod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Bin 2: Spans from the first event to the last event within the RUN::scaler bank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AutoNum type="alphaLcPeriod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Bin 3: Extends from the end of Bin 2 until the end of the run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For each of these three bins, histograms are filled for the following kinematical variables: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p, p</a:t>
            </a:r>
            <a:r>
              <a:rPr baseline="-25000" i="1" lang="fr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phiH,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θ, and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 weighted mean is then calculated for each histogram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Next, five new histograms get created and filled with the previously extracted weighted means for each kinematical variable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Then, the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weighted mean for these five histograms is computed and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displayed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in the corresponding timeline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for each kinematical variable</a:t>
            </a:r>
            <a:endParaRPr sz="105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 sz="1900"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0" y="647400"/>
            <a:ext cx="9144000" cy="5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Compared to other run group, RG-D has only 3 bins. The first is always empty.</a:t>
            </a:r>
            <a:endParaRPr/>
          </a:p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" y="1043600"/>
            <a:ext cx="4406344" cy="21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857925" y="3209150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RG-B Pass2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1043600"/>
            <a:ext cx="4406349" cy="219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-125000" y="3970250"/>
            <a:ext cx="92691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This kinematical binning is used to reject part of the run if some issues are observed in the timelines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94875" y="3567525"/>
            <a:ext cx="1558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Step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5428725" y="3178575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Pass0v9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/>
          </a:p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44" y="1016389"/>
            <a:ext cx="4031402" cy="199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721" y="688050"/>
            <a:ext cx="4633853" cy="228746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 txBox="1"/>
          <p:nvPr/>
        </p:nvSpPr>
        <p:spPr>
          <a:xfrm>
            <a:off x="94875" y="3567525"/>
            <a:ext cx="1558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Step 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857925" y="3056750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RG-B Pass2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5428725" y="3026175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Pass0v9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 sz="1900"/>
          </a:p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75" y="982775"/>
            <a:ext cx="8839204" cy="301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0" y="647400"/>
            <a:ext cx="9144000" cy="4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There are some issues with such a binning for RG-D: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Weighted means are computed of two values instead of 3xx as other run-groups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Same weight is assigned to the second bin which have most events compared to the third bin that is almost empty, the fact that biases the means </a:t>
            </a:r>
            <a:r>
              <a:rPr lang="fr" sz="1600"/>
              <a:t>calculation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To fix it for RG-D, Chris agreed to modify the mentioned steps by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Filling a single histogram for each kinematical variable for the entire run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Taking the weighted mean of these histograms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Plotting the obtained weighted means in their respective timelines </a:t>
            </a:r>
            <a:endParaRPr sz="1600"/>
          </a:p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