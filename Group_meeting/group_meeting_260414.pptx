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99" r:id="rId3"/>
    <p:sldId id="300" r:id="rId4"/>
    <p:sldId id="301" r:id="rId5"/>
    <p:sldId id="302" r:id="rId6"/>
    <p:sldId id="303" r:id="rId7"/>
    <p:sldId id="304" r:id="rId8"/>
    <p:sldId id="305" r:id="rId9"/>
    <p:sldId id="341" r:id="rId10"/>
    <p:sldId id="335" r:id="rId11"/>
    <p:sldId id="336" r:id="rId12"/>
    <p:sldId id="337" r:id="rId13"/>
    <p:sldId id="342" r:id="rId14"/>
    <p:sldId id="343" r:id="rId15"/>
    <p:sldId id="344" r:id="rId16"/>
    <p:sldId id="33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D1C603-28A2-1340-9515-120EA66DFE1A}">
          <p14:sldIdLst>
            <p14:sldId id="256"/>
            <p14:sldId id="299"/>
            <p14:sldId id="300"/>
            <p14:sldId id="301"/>
            <p14:sldId id="302"/>
            <p14:sldId id="303"/>
            <p14:sldId id="304"/>
            <p14:sldId id="305"/>
            <p14:sldId id="341"/>
            <p14:sldId id="335"/>
            <p14:sldId id="336"/>
            <p14:sldId id="337"/>
            <p14:sldId id="342"/>
            <p14:sldId id="343"/>
            <p14:sldId id="344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73B"/>
    <a:srgbClr val="304D59"/>
    <a:srgbClr val="243643"/>
    <a:srgbClr val="00315F"/>
    <a:srgbClr val="262626"/>
    <a:srgbClr val="FAFAFA"/>
    <a:srgbClr val="FFFFFF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83" autoAdjust="0"/>
    <p:restoredTop sz="94637" autoAdjust="0"/>
  </p:normalViewPr>
  <p:slideViewPr>
    <p:cSldViewPr snapToGrid="0" snapToObjects="1">
      <p:cViewPr varScale="1">
        <p:scale>
          <a:sx n="127" d="100"/>
          <a:sy n="127" d="100"/>
        </p:scale>
        <p:origin x="960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14-04-26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14-04-26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304D59"/>
                </a:solidFill>
                <a:latin typeface="Sofia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360" y="16635"/>
            <a:ext cx="9496425" cy="897765"/>
          </a:xfrm>
          <a:prstGeom prst="rect">
            <a:avLst/>
          </a:prstGeom>
        </p:spPr>
        <p:txBody>
          <a:bodyPr/>
          <a:lstStyle>
            <a:lvl1pPr algn="l">
              <a:defRPr b="0" i="0">
                <a:latin typeface="Sofia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087667"/>
          </a:xfrm>
        </p:spPr>
        <p:txBody>
          <a:bodyPr>
            <a:normAutofit/>
          </a:bodyPr>
          <a:lstStyle>
            <a:lvl1pPr>
              <a:defRPr sz="2400" b="0" i="0">
                <a:latin typeface="Sofia Sans Light" pitchFamily="2" charset="0"/>
                <a:ea typeface="Sofia Sans Light" pitchFamily="2" charset="0"/>
              </a:defRPr>
            </a:lvl1pPr>
            <a:lvl2pPr>
              <a:defRPr sz="2000" b="0" i="0">
                <a:latin typeface="Sofia Sans Light" pitchFamily="2" charset="0"/>
                <a:ea typeface="Sofia Sans Light" pitchFamily="2" charset="0"/>
              </a:defRPr>
            </a:lvl2pPr>
            <a:lvl3pPr>
              <a:defRPr sz="1800" b="0" i="0">
                <a:latin typeface="Sofia Sans Light" pitchFamily="2" charset="0"/>
                <a:ea typeface="Sofia Sans Light" pitchFamily="2" charset="0"/>
              </a:defRPr>
            </a:lvl3pPr>
            <a:lvl4pPr>
              <a:defRPr sz="1600" b="0" i="0">
                <a:latin typeface="Sofia Sans Light" pitchFamily="2" charset="0"/>
                <a:ea typeface="Sofia Sans Light" pitchFamily="2" charset="0"/>
              </a:defRPr>
            </a:lvl4pPr>
            <a:lvl5pPr>
              <a:defRPr sz="1600" b="0" i="0">
                <a:latin typeface="Sofia Sans Light" pitchFamily="2" charset="0"/>
                <a:ea typeface="Sofia Sans Ligh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2993"/>
            <a:ext cx="2844800" cy="365125"/>
          </a:xfrm>
        </p:spPr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52993"/>
            <a:ext cx="3860800" cy="365125"/>
          </a:xfrm>
        </p:spPr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52993"/>
            <a:ext cx="2844800" cy="365125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38694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57" y="1463041"/>
            <a:ext cx="11374243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04/14/26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6" y="1"/>
            <a:ext cx="9410700" cy="930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b="24538"/>
          <a:stretch>
            <a:fillRect/>
          </a:stretch>
        </p:blipFill>
        <p:spPr>
          <a:xfrm>
            <a:off x="208157" y="1"/>
            <a:ext cx="1421599" cy="93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rgbClr val="00315F"/>
          </a:solidFill>
          <a:latin typeface="Sofia Sans" pitchFamily="2" charset="0"/>
          <a:ea typeface="Sofia Sans" pitchFamily="2" charset="0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243643"/>
          </a:solidFill>
          <a:latin typeface="Sofia Sans Light" pitchFamily="2" charset="0"/>
          <a:ea typeface="Sofia Sans Light" pitchFamily="2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rgbClr val="243643"/>
          </a:solidFill>
          <a:latin typeface="Sofia Sans Light" pitchFamily="2" charset="0"/>
          <a:ea typeface="Sofia Sans Light" pitchFamily="2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243643"/>
          </a:solidFill>
          <a:latin typeface="Sofia Sans Light" pitchFamily="2" charset="0"/>
          <a:ea typeface="Sofia Sans Light" pitchFamily="2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243643"/>
          </a:solidFill>
          <a:latin typeface="Sofia Sans Light" pitchFamily="2" charset="0"/>
          <a:ea typeface="Sofia Sans Light" pitchFamily="2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rgbClr val="243643"/>
          </a:solidFill>
          <a:latin typeface="Sofia Sans Light" pitchFamily="2" charset="0"/>
          <a:ea typeface="Sofia Sans Light" pitchFamily="2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33385"/>
            <a:ext cx="6978580" cy="2234317"/>
          </a:xfrm>
        </p:spPr>
        <p:txBody>
          <a:bodyPr>
            <a:normAutofit/>
          </a:bodyPr>
          <a:lstStyle/>
          <a:p>
            <a:pPr lvl="0" algn="l"/>
            <a:r>
              <a:rPr lang="en-US" sz="6000" b="0" dirty="0">
                <a:latin typeface="Sofia Sans" pitchFamily="2" charset="0"/>
              </a:rPr>
              <a:t>Group meeting</a:t>
            </a:r>
            <a:endParaRPr sz="6000" b="0" dirty="0">
              <a:latin typeface="Sofia Sans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853440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>
                <a:latin typeface="Sofia Sans Light" pitchFamily="2" charset="0"/>
              </a:rPr>
              <a:t>Mathieu Ouillon (Mississippi State University)</a:t>
            </a:r>
            <a:endParaRPr dirty="0">
              <a:latin typeface="Sofia Sans Light" pitchFamily="2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63A573-154D-7B40-5738-504DAF2B226D}"/>
              </a:ext>
            </a:extLst>
          </p:cNvPr>
          <p:cNvSpPr txBox="1">
            <a:spLocks/>
          </p:cNvSpPr>
          <p:nvPr/>
        </p:nvSpPr>
        <p:spPr>
          <a:xfrm>
            <a:off x="457200" y="4746014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Sofia Sans Light" pitchFamily="2" charset="0"/>
                <a:ea typeface="Fira Sans Book" panose="020B0503050000020004" pitchFamily="34" charset="0"/>
              </a:rPr>
              <a:t>04/14/26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88670-351E-6B15-0847-0D3697CB9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BAA01-687F-321D-8FA8-B36D292C9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RG-D: cooking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651DB-FC12-4E27-491A-9AA62694FF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07243-D7B8-A610-342A-0CC109715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7B6DD-8A96-0684-8915-E99EC3274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00FD27-B243-CD34-0D33-986E92D08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226" y="1003009"/>
            <a:ext cx="11813548" cy="12753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Sadly, not done yet. Still remain the train for one run: 018960</a:t>
            </a:r>
          </a:p>
          <a:p>
            <a:pPr marL="0" indent="0">
              <a:buNone/>
            </a:pPr>
            <a:r>
              <a:rPr lang="en-US" sz="2000" dirty="0"/>
              <a:t>Then, I need to copy all the decoded, reconstructed and train files to /cache and /</a:t>
            </a:r>
            <a:r>
              <a:rPr lang="en-US" sz="2000" dirty="0" err="1"/>
              <a:t>mss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4D1512-D816-F929-75B4-79816BD7D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27" y="2007909"/>
            <a:ext cx="2799504" cy="30730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A94BEE-2D1A-5EC6-7539-62F08406D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173" y="2007909"/>
            <a:ext cx="2611699" cy="30730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70E624-E486-A681-CDD1-AE0C34EC1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1122" y="2007909"/>
            <a:ext cx="2540728" cy="30730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C68FB7-8545-1B91-8EB4-BEAF73BDDA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8882" y="2007909"/>
            <a:ext cx="2535158" cy="155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920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D26CC-15FC-7ABC-6D72-8EE0C9FBC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 /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D59494-44C3-1C17-9638-F1CEC3EC70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 worked on the </a:t>
                </a:r>
                <a:r>
                  <a:rPr lang="en-US" dirty="0" err="1"/>
                  <a:t>Vz</a:t>
                </a:r>
                <a:r>
                  <a:rPr lang="en-US" dirty="0"/>
                  <a:t> correction for most of the week: </a:t>
                </a:r>
              </a:p>
              <a:p>
                <a:pPr>
                  <a:buFontTx/>
                  <a:buChar char="-"/>
                </a:pPr>
                <a:r>
                  <a:rPr lang="en-US" sz="2000" dirty="0"/>
                  <a:t>First, I try to look online: in CLAS paper or thesis if someone have already done a </a:t>
                </a:r>
                <a:r>
                  <a:rPr lang="en-US" sz="2000" dirty="0" err="1"/>
                  <a:t>Vz</a:t>
                </a:r>
                <a:r>
                  <a:rPr lang="en-US" sz="2000" dirty="0"/>
                  <a:t> correction like we want like that. I didn’t find anything to correct. </a:t>
                </a:r>
              </a:p>
              <a:p>
                <a:pPr>
                  <a:buFontTx/>
                  <a:buChar char="-"/>
                </a:pPr>
                <a:r>
                  <a:rPr lang="en-US" sz="2000" dirty="0"/>
                  <a:t>I started by a similar technique used for momentum correction. The goal is do find a function like: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𝑐𝑜𝑟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𝑉𝑧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br>
                  <a:rPr lang="en-US" sz="2000" dirty="0"/>
                </a:br>
                <a:r>
                  <a:rPr lang="en-US" sz="2000" dirty="0"/>
                  <a:t>f would be a polynomial function, or exponential. </a:t>
                </a:r>
              </a:p>
              <a:p>
                <a:pPr>
                  <a:buFontTx/>
                  <a:buChar char="-"/>
                </a:pPr>
                <a:r>
                  <a:rPr lang="en-US" sz="2000" dirty="0"/>
                  <a:t>I try that by make some slice of the </a:t>
                </a:r>
                <a:r>
                  <a:rPr lang="en-US" sz="2000" dirty="0" err="1"/>
                  <a:t>Vz</a:t>
                </a:r>
                <a:r>
                  <a:rPr lang="en-US" sz="2000" dirty="0"/>
                  <a:t> distribution in momentum and theta bins, fit each peak with a Gaussian, extract the mean and sigma. Then fitting that with a polynomial function (order 2, 3, or 4). </a:t>
                </a:r>
              </a:p>
              <a:p>
                <a:pPr>
                  <a:buFontTx/>
                  <a:buChar char="-"/>
                </a:pPr>
                <a:r>
                  <a:rPr lang="en-US" sz="2000" dirty="0"/>
                  <a:t>It work for the shift in position but not for the skewness.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D59494-44C3-1C17-9638-F1CEC3EC7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1" t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FA6B4-F6E5-B2AF-DC7D-9C8EC774A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67CF7-D0A8-1AEC-415A-2D72AC19E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4D89E-2DE1-E097-B81E-7D349475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586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9E07C-E8F6-9753-C5D1-BA2A81488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 /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89807-2B26-FF49-E6CA-C89104F29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48AFC-6709-DA52-086E-701C844D9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19D87-A1A0-9D19-D2DA-11E7916C4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ECC1D7-13C8-10FE-C27E-F3FCDEA4A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997" y="616176"/>
            <a:ext cx="8044733" cy="620194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89AA53-699F-AB21-6F62-84730F04C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2481"/>
            <a:ext cx="3810000" cy="50876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 want to show the problem first: </a:t>
            </a:r>
          </a:p>
          <a:p>
            <a:pPr marL="0" indent="0">
              <a:buNone/>
            </a:pPr>
            <a:r>
              <a:rPr lang="en-US" sz="2000" dirty="0"/>
              <a:t>Data: 10% of the </a:t>
            </a:r>
            <a:r>
              <a:rPr lang="en-US" sz="2000" dirty="0" err="1"/>
              <a:t>CuSn</a:t>
            </a:r>
            <a:r>
              <a:rPr lang="en-US" sz="2000" dirty="0"/>
              <a:t> dataset, only </a:t>
            </a:r>
            <a:r>
              <a:rPr lang="en-US" sz="2000" dirty="0" err="1"/>
              <a:t>outbending</a:t>
            </a:r>
            <a:r>
              <a:rPr lang="en-US" sz="2000" dirty="0"/>
              <a:t>.  </a:t>
            </a:r>
          </a:p>
          <a:p>
            <a:pPr marL="0" indent="0">
              <a:buNone/>
            </a:pPr>
            <a:r>
              <a:rPr lang="en-US" sz="2000" dirty="0"/>
              <a:t>Electron with the standard cuts and fiducial cuts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Between 0.8 and 1, we don’t see any peaks. Between 1 and 1.5, a peak starts to emerge for 8&lt;</a:t>
            </a:r>
            <a:r>
              <a:rPr lang="en-US" sz="2000" dirty="0" err="1"/>
              <a:t>θ</a:t>
            </a:r>
            <a:r>
              <a:rPr lang="en-US" sz="2000" dirty="0"/>
              <a:t>&lt;9 deg. </a:t>
            </a:r>
          </a:p>
        </p:txBody>
      </p:sp>
    </p:spTree>
    <p:extLst>
      <p:ext uri="{BB962C8B-B14F-4D97-AF65-F5344CB8AC3E}">
        <p14:creationId xmlns:p14="http://schemas.microsoft.com/office/powerpoint/2010/main" val="384749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5F92-0F70-F0BA-D603-4BC7F8DB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 /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C76ED-EE57-1934-3AAB-8A346533E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6907B-89C2-8A1A-9C08-5EC4DDC76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485C3-DEF8-4025-4DE2-0D5E4D83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F97765D-47EE-9C4B-3A88-A7F1DB15DA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9614" y="16635"/>
            <a:ext cx="8877426" cy="685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2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0D963-5DF1-B06C-A116-E72420737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534BC-7604-006C-43A5-BF4F692FC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 /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7758C-CBF2-2F28-8BEB-ADDB3F61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932B9-7F66-F18B-C1E1-77BDC64A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05E3F-5239-5C49-3BA2-B9762BE31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561BD0-02EB-770E-EB9A-03AB075A6E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723560" y="39881"/>
            <a:ext cx="8632020" cy="673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983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087A1-66F7-21FB-E622-410471F04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BA872-4ACA-6A3F-A433-B764274FD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 /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32608-AF56-33E8-5C0D-FEEB519C8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2481"/>
            <a:ext cx="4635338" cy="5087667"/>
          </a:xfrm>
        </p:spPr>
        <p:txBody>
          <a:bodyPr>
            <a:normAutofit/>
          </a:bodyPr>
          <a:lstStyle/>
          <a:p>
            <a:r>
              <a:rPr lang="en-US" sz="2000" dirty="0"/>
              <a:t>So, for high momenta and high </a:t>
            </a:r>
            <a:r>
              <a:rPr lang="en-US" sz="2000" dirty="0" err="1"/>
              <a:t>θ</a:t>
            </a:r>
            <a:r>
              <a:rPr lang="en-US" sz="2000" dirty="0"/>
              <a:t> bins, the </a:t>
            </a:r>
            <a:r>
              <a:rPr lang="en-US" sz="2000" dirty="0" err="1"/>
              <a:t>Vz</a:t>
            </a:r>
            <a:r>
              <a:rPr lang="en-US" sz="2000" dirty="0"/>
              <a:t> distribution shows two nicely separated Gaussian peaks. The issue is with the low-momentum and low-</a:t>
            </a:r>
            <a:r>
              <a:rPr lang="el-GR" sz="2000" dirty="0"/>
              <a:t>θ</a:t>
            </a:r>
            <a:r>
              <a:rPr lang="en-US" sz="2000" dirty="0"/>
              <a:t> bins. </a:t>
            </a:r>
          </a:p>
          <a:p>
            <a:r>
              <a:rPr lang="en-US" sz="2000" dirty="0"/>
              <a:t>One easy solution would be to cut that region:</a:t>
            </a:r>
            <a:endParaRPr lang="en-US" sz="1800" dirty="0"/>
          </a:p>
          <a:p>
            <a:pPr lvl="1"/>
            <a:r>
              <a:rPr lang="en-US" sz="1600" dirty="0"/>
              <a:t>Cut </a:t>
            </a:r>
            <a:r>
              <a:rPr lang="el-GR" sz="1600" dirty="0"/>
              <a:t>θ</a:t>
            </a:r>
            <a:r>
              <a:rPr lang="en-US" sz="1600" dirty="0"/>
              <a:t> &gt; 10 deg and p &gt; 2 GeV</a:t>
            </a:r>
          </a:p>
          <a:p>
            <a:pPr lvl="1"/>
            <a:r>
              <a:rPr lang="en-US" sz="1600" dirty="0"/>
              <a:t>The momentum cut doesn’t impact the statistic significantly </a:t>
            </a:r>
          </a:p>
          <a:p>
            <a:pPr lvl="1"/>
            <a:r>
              <a:rPr lang="en-US" sz="1600" dirty="0"/>
              <a:t>But the </a:t>
            </a:r>
            <a:r>
              <a:rPr lang="el-GR" sz="1600" dirty="0"/>
              <a:t>θ</a:t>
            </a:r>
            <a:r>
              <a:rPr lang="en-US" sz="1600" dirty="0"/>
              <a:t> cut removes most of the stats </a:t>
            </a:r>
          </a:p>
          <a:p>
            <a:pPr lvl="1"/>
            <a:r>
              <a:rPr lang="en-US" sz="1600" dirty="0"/>
              <a:t>So we can't use that technique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E4A74-5C43-0559-1CFA-0F4DFB073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AE1B7-07BE-4DAB-E723-3A2636505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CFC0F-B12A-F3F1-B55B-B391EF3E3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6A81AE-5E78-5BB4-214A-D614EAD29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338" y="747241"/>
            <a:ext cx="7520257" cy="590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47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30428-00B4-DA37-1C72-E316EC898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C0B74-2702-B246-F9A4-BAF32F6B0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 /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8D7E5-4EE6-C851-FB2D-ED1F0167EF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032481"/>
                <a:ext cx="12009120" cy="5087667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2600" dirty="0"/>
                  <a:t>Try the polynomial fit technique: </a:t>
                </a:r>
              </a:p>
              <a:p>
                <a:r>
                  <a:rPr lang="en-US" dirty="0"/>
                  <a:t>Step 1: Fit a Gaussian peak in every $(\theta, p)$ bin</a:t>
                </a:r>
              </a:p>
              <a:p>
                <a:pPr lvl="1"/>
                <a:r>
                  <a:rPr lang="en-US" dirty="0"/>
                  <a:t>Loop over the 600 bins (p, </a:t>
                </a:r>
                <a:r>
                  <a:rPr lang="en-US" dirty="0" err="1"/>
                  <a:t>θ</a:t>
                </a:r>
                <a:r>
                  <a:rPr lang="en-US" dirty="0"/>
                  <a:t>). For each bin, get the VZ distribution, then extract:</a:t>
                </a:r>
              </a:p>
              <a:p>
                <a:pPr lvl="1"/>
                <a:r>
                  <a:rPr lang="en-US" dirty="0"/>
                  <a:t>for Sn window = (-6, 1) → returns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bin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Sn</m:t>
                            </m:r>
                          </m:sup>
                        </m:sSub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bin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Sn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 and their fit errors</a:t>
                </a:r>
              </a:p>
              <a:p>
                <a:pPr lvl="1"/>
                <a:r>
                  <a:rPr lang="en-US" dirty="0"/>
                  <a:t>for Cu window = (-12, -6) → returns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bin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Cu</m:t>
                            </m:r>
                          </m:sup>
                        </m:sSub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bin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Cu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Each fit is a Gaussian  on a narrow ±5-bin window around the peak maximum (captures the core, not the shoulders).→ This gives 4 measurements per (</a:t>
                </a:r>
                <a:r>
                  <a:rPr lang="el-GR" dirty="0"/>
                  <a:t>θ, </a:t>
                </a:r>
                <a:r>
                  <a:rPr lang="en-US" dirty="0"/>
                  <a:t>p) bin: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Sn</m:t>
                        </m:r>
                      </m:sub>
                    </m:sSub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Sn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Cu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Cu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dirty="0"/>
                  <a:t> plus their errors.</a:t>
                </a:r>
              </a:p>
              <a:p>
                <a:r>
                  <a:rPr lang="en-US" dirty="0"/>
                  <a:t>Step 2: Extract the reference $\mu_0$ and $\sigma_0$</a:t>
                </a:r>
              </a:p>
              <a:p>
                <a:pPr lvl="1"/>
                <a:r>
                  <a:rPr lang="en-US" dirty="0"/>
                  <a:t>sum the histograms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≥5</m:t>
                    </m:r>
                  </m:oMath>
                </a14:m>
                <a:r>
                  <a:rPr lang="en-US" dirty="0"/>
                  <a:t> GeV/c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≥20°</m:t>
                    </m:r>
                  </m:oMath>
                </a14:m>
                <a:r>
                  <a:rPr lang="en-US" dirty="0"/>
                  <a:t>, and extract reference value for Cu and Sn separately: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$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mu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_0^\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text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Cu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},</m:t>
                    </m:r>
                    <m:r>
                      <m:rPr>
                        <m:lit/>
                      </m:rP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sigma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_0^\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text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Cu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},</m:t>
                    </m:r>
                    <m:r>
                      <m:rPr>
                        <m:lit/>
                      </m:rP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mu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_0^\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text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Sn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},</m:t>
                    </m:r>
                    <m:r>
                      <m:rPr>
                        <m:lit/>
                      </m:rP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sigma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_0^\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text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Sn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$</m:t>
                    </m:r>
                  </m:oMath>
                </a14:m>
              </a:p>
              <a:p>
                <a:pPr lvl="1"/>
                <a:r>
                  <a:rPr lang="en-US" dirty="0"/>
                  <a:t>These are the target positions and widths reference</a:t>
                </a:r>
              </a:p>
              <a:p>
                <a:r>
                  <a:rPr lang="en-US" dirty="0"/>
                  <a:t>Step 3: Fit smooth polynomials through the bin-level measurements</a:t>
                </a:r>
              </a:p>
              <a:p>
                <a:pPr lvl="1"/>
                <a:r>
                  <a:rPr lang="en-US" dirty="0"/>
                  <a:t>For each of the four quantities $\mu_\text{Sn} - \mu_0^\text{Sn}$, $\mu_\text{Cu} - \mu_0^\text{Cu}$, $\sigma_\text{Sn}$, $\sigma_\text{Cu}$, fit a polynomial in </a:t>
                </a:r>
                <a:r>
                  <a:rPr lang="el-GR" dirty="0"/>
                  <a:t>θ (</a:t>
                </a:r>
                <a:r>
                  <a:rPr lang="en-US" dirty="0"/>
                  <a:t>degree 3), independently per p bin.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8D7E5-4EE6-C851-FB2D-ED1F0167EF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32481"/>
                <a:ext cx="12009120" cy="5087667"/>
              </a:xfrm>
              <a:blipFill>
                <a:blip r:embed="rId2"/>
                <a:stretch>
                  <a:fillRect l="-846" t="-2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CB1C7-2F92-BB61-A2D7-A06980BCF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7C842-D703-4BB1-4C3C-A41E3C929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69869-9784-0BFA-7978-277DA0AAB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51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835D1-9CB1-5A75-E37A-F0E099C33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F584E-B279-DC4D-FCA9-6F387A035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 /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3E93A-8D18-6F5A-1958-BF54FF1D2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6DE30-D378-6457-D200-B722F3936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B958C-CCFE-9A82-39CF-FD977E38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9E7370-8A5C-30BC-C4E2-89FDC6C9CB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5" r="-1"/>
          <a:stretch>
            <a:fillRect/>
          </a:stretch>
        </p:blipFill>
        <p:spPr>
          <a:xfrm>
            <a:off x="121919" y="1134964"/>
            <a:ext cx="11715387" cy="387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040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A7181-61D6-44EA-9326-94CB5D805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 /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F288F-F02E-3ADA-90CD-34DEF6DD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A10CC-99FD-C819-E44E-5E5644452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0C7B1-ACC8-5C78-F740-854EB8F2D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77F1C9-1910-C1F7-C186-2060C44FD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760" y="669639"/>
            <a:ext cx="8566163" cy="608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557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751AE-BFEE-8B3A-2395-A5E739928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752F-222C-DF19-6980-F3A8E375B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 /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C279C-C870-C645-9256-5D5689311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BA345-69C3-D6B7-F460-F71B3DCA9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56D22-0C74-55CC-AAA4-CF4E90807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964948-8B87-445A-0986-E710C5BA3F9F}"/>
              </a:ext>
            </a:extLst>
          </p:cNvPr>
          <p:cNvSpPr txBox="1"/>
          <p:nvPr/>
        </p:nvSpPr>
        <p:spPr>
          <a:xfrm>
            <a:off x="129540" y="1002804"/>
            <a:ext cx="92659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def </a:t>
            </a:r>
            <a:r>
              <a:rPr lang="en-US" dirty="0" err="1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correct_vz_event</a:t>
            </a: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(</a:t>
            </a:r>
            <a:r>
              <a:rPr lang="en-US" dirty="0" err="1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vz</a:t>
            </a: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, theta, p):</a:t>
            </a:r>
          </a:p>
          <a:p>
            <a:pPr algn="l">
              <a:buNone/>
            </a:pP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if </a:t>
            </a:r>
            <a:r>
              <a:rPr lang="en-US" dirty="0" err="1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vz</a:t>
            </a: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&lt; VZ_BOUNDARY:</a:t>
            </a:r>
          </a:p>
          <a:p>
            <a:pPr algn="l">
              <a:buNone/>
            </a:pP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    </a:t>
            </a:r>
            <a:r>
              <a:rPr lang="en-US" dirty="0" err="1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dz</a:t>
            </a: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= </a:t>
            </a:r>
            <a:r>
              <a:rPr lang="en-US" dirty="0" err="1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eval_poly</a:t>
            </a: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(</a:t>
            </a:r>
            <a:r>
              <a:rPr lang="en-US" dirty="0" err="1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poly_cu_dz</a:t>
            </a: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,  theta, p)</a:t>
            </a:r>
          </a:p>
          <a:p>
            <a:pPr algn="l">
              <a:buNone/>
            </a:pP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    </a:t>
            </a:r>
            <a:r>
              <a:rPr lang="el-GR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σ   = </a:t>
            </a:r>
            <a:r>
              <a:rPr lang="en-US" dirty="0" err="1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eval_poly</a:t>
            </a: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(</a:t>
            </a:r>
            <a:r>
              <a:rPr lang="en-US" dirty="0" err="1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poly_cu_sig</a:t>
            </a: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, theta, p)</a:t>
            </a:r>
          </a:p>
          <a:p>
            <a:pPr algn="l">
              <a:buNone/>
            </a:pP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    return mu0_cu + (</a:t>
            </a:r>
            <a:r>
              <a:rPr lang="en-US" dirty="0" err="1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vz</a:t>
            </a: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- </a:t>
            </a:r>
            <a:r>
              <a:rPr lang="en-US" dirty="0" err="1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dz</a:t>
            </a: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- mu0_cu)</a:t>
            </a:r>
          </a:p>
          <a:p>
            <a:pPr algn="l">
              <a:buNone/>
            </a:pP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else:</a:t>
            </a:r>
          </a:p>
          <a:p>
            <a:pPr algn="l">
              <a:buNone/>
            </a:pP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    </a:t>
            </a:r>
            <a:r>
              <a:rPr lang="en-US" dirty="0" err="1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dz</a:t>
            </a: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= </a:t>
            </a:r>
            <a:r>
              <a:rPr lang="en-US" dirty="0" err="1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eval_poly</a:t>
            </a: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(</a:t>
            </a:r>
            <a:r>
              <a:rPr lang="en-US" dirty="0" err="1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poly_sn_dz</a:t>
            </a: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,  theta, p)</a:t>
            </a:r>
          </a:p>
          <a:p>
            <a:pPr algn="l">
              <a:buNone/>
            </a:pP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    </a:t>
            </a:r>
            <a:r>
              <a:rPr lang="el-GR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σ   = </a:t>
            </a:r>
            <a:r>
              <a:rPr lang="en-US" dirty="0" err="1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eval_poly</a:t>
            </a: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(</a:t>
            </a:r>
            <a:r>
              <a:rPr lang="en-US" dirty="0" err="1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poly_sn_sig</a:t>
            </a: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, theta, p)</a:t>
            </a:r>
          </a:p>
          <a:p>
            <a:pPr algn="l">
              <a:buNone/>
            </a:pP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    return mu0_sn + (</a:t>
            </a:r>
            <a:r>
              <a:rPr lang="en-US" dirty="0" err="1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vz</a:t>
            </a: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- </a:t>
            </a:r>
            <a:r>
              <a:rPr lang="en-US" dirty="0" err="1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dz</a:t>
            </a:r>
            <a:r>
              <a:rPr lang="en-US" dirty="0">
                <a:solidFill>
                  <a:srgbClr val="243643"/>
                </a:solidFill>
                <a:effectLst/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- mu0_sn)</a:t>
            </a:r>
          </a:p>
        </p:txBody>
      </p:sp>
    </p:spTree>
    <p:extLst>
      <p:ext uri="{BB962C8B-B14F-4D97-AF65-F5344CB8AC3E}">
        <p14:creationId xmlns:p14="http://schemas.microsoft.com/office/powerpoint/2010/main" val="930646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D3949-C30D-8052-5FC0-7CB7DF235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 /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95309-06FE-DC99-BB2A-26F5CFA8F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0A788-6254-C5D4-4183-5ADCFD847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4DB93-5D89-3676-5BA4-1809A165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873F8D-5313-AEE2-DFFC-C6F37CD93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67" y="748818"/>
            <a:ext cx="11026333" cy="606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846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FE80E-9A1E-6200-8847-E925DDA5F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 /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7837A-5A7A-55BB-61AE-6A919E8AA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3981958" cy="34328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Raffaella told me this morning that we should not use trigger electron with p &lt; 2 GeV (due to the </a:t>
            </a:r>
            <a:r>
              <a:rPr lang="en-US" dirty="0" err="1"/>
              <a:t>Ecal</a:t>
            </a:r>
            <a:r>
              <a:rPr lang="en-US" dirty="0"/>
              <a:t> trigger threshold) and </a:t>
            </a:r>
            <a:r>
              <a:rPr lang="en-US" dirty="0" err="1"/>
              <a:t>θ</a:t>
            </a:r>
            <a:r>
              <a:rPr lang="en-US" dirty="0"/>
              <a:t> &lt; 6 deg (due to the FT material)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8EFC1-A42D-DE65-13DD-B8D70F1D9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295DA-C326-CCAD-3214-FB0429583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C9FD3-3946-9560-6501-3A6D0290D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19291A-18F7-83DD-BA1D-B291FA071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618" y="692072"/>
            <a:ext cx="7772400" cy="547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78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74695-E13A-9962-88AD-42DD7D1A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CuSn</a:t>
            </a:r>
            <a:r>
              <a:rPr lang="en-US" dirty="0"/>
              <a:t> Contamination /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BE6FC97-6675-85C8-78BC-00D075E68A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8873" y="1031875"/>
            <a:ext cx="9243454" cy="50879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456DC-CD19-CC57-8FF5-253A14DD4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415D5-4E31-6730-2A71-F5DF040C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06B22-E1D6-202F-4A56-B5707D97C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99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0212-EA50-6FD1-EB18-81850279C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stuff this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14354-5DD3-E67E-32C7-BEB0B2E59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my shifts so far have been canceled, we may receive beam today during the </a:t>
            </a:r>
            <a:r>
              <a:rPr lang="en-US" dirty="0" err="1"/>
              <a:t>swif</a:t>
            </a:r>
            <a:r>
              <a:rPr lang="en-US" dirty="0"/>
              <a:t> shift (mine).</a:t>
            </a:r>
          </a:p>
          <a:p>
            <a:endParaRPr lang="en-US" dirty="0"/>
          </a:p>
          <a:p>
            <a:r>
              <a:rPr lang="en-US" dirty="0"/>
              <a:t>Work on ALERT/RG-L to fix the cooking for pass0v10 and the GNN: </a:t>
            </a:r>
          </a:p>
          <a:p>
            <a:pPr lvl="1"/>
            <a:r>
              <a:rPr lang="en-US" dirty="0"/>
              <a:t>Noemie has not been able to reproduce the bug in </a:t>
            </a:r>
            <a:r>
              <a:rPr lang="en-US" dirty="0" err="1"/>
              <a:t>ifarm</a:t>
            </a:r>
            <a:r>
              <a:rPr lang="en-US" dirty="0"/>
              <a:t>, and so wasn’t able to fix it</a:t>
            </a:r>
          </a:p>
          <a:p>
            <a:pPr lvl="1"/>
            <a:r>
              <a:rPr lang="en-US" dirty="0"/>
              <a:t>GNN showed very good efficiency, purity, and completeness compared to MLP</a:t>
            </a:r>
          </a:p>
          <a:p>
            <a:pPr lvl="1"/>
            <a:r>
              <a:rPr lang="en-US" dirty="0"/>
              <a:t>Next step: work on COATJAVA implementation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3838F-DA76-34B3-C9DA-3DD105FED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068F3-2D59-2245-95A5-E4F32EB6E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17D9-31A3-EEAD-45E1-7ACA64F9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546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195E4-88D7-69F5-83A6-D0E5C893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2598-B386-02D3-ECE4-6A6D09FB6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RG-D:	</a:t>
            </a:r>
          </a:p>
          <a:p>
            <a:pPr lvl="1"/>
            <a:r>
              <a:rPr lang="en-US" dirty="0"/>
              <a:t>Continue to work on </a:t>
            </a:r>
            <a:r>
              <a:rPr lang="en-US" dirty="0" err="1"/>
              <a:t>CuSn</a:t>
            </a:r>
            <a:r>
              <a:rPr lang="en-US" dirty="0"/>
              <a:t> contamination, develop a correction for </a:t>
            </a:r>
            <a:r>
              <a:rPr lang="en-US" dirty="0" err="1"/>
              <a:t>Vz</a:t>
            </a:r>
            <a:r>
              <a:rPr lang="en-US" dirty="0"/>
              <a:t> distribution</a:t>
            </a:r>
          </a:p>
          <a:p>
            <a:pPr lvl="2"/>
            <a:r>
              <a:rPr lang="en-US" dirty="0"/>
              <a:t>Idea from Raffaella: </a:t>
            </a:r>
          </a:p>
          <a:p>
            <a:pPr lvl="3"/>
            <a:r>
              <a:rPr lang="en-US" dirty="0"/>
              <a:t>Check the </a:t>
            </a:r>
            <a:r>
              <a:rPr lang="en-US" dirty="0" err="1"/>
              <a:t>Vz</a:t>
            </a:r>
            <a:r>
              <a:rPr lang="en-US" dirty="0"/>
              <a:t> distribution with the FMT for different p, </a:t>
            </a:r>
            <a:r>
              <a:rPr lang="en-US" dirty="0" err="1"/>
              <a:t>θ</a:t>
            </a:r>
            <a:r>
              <a:rPr lang="en-US" dirty="0"/>
              <a:t> bins </a:t>
            </a:r>
          </a:p>
          <a:p>
            <a:pPr lvl="3"/>
            <a:r>
              <a:rPr lang="en-US" dirty="0"/>
              <a:t>Remove </a:t>
            </a:r>
            <a:r>
              <a:rPr lang="en-US" dirty="0" err="1"/>
              <a:t>θ</a:t>
            </a:r>
            <a:r>
              <a:rPr lang="en-US" dirty="0"/>
              <a:t> &lt; 6 deg and p &lt; 2 GeV badly reconstructed electron (remove 3.3% of the statistics)</a:t>
            </a:r>
          </a:p>
          <a:p>
            <a:pPr lvl="3"/>
            <a:r>
              <a:rPr lang="en-US" dirty="0"/>
              <a:t>Look at sector dependence and add a </a:t>
            </a:r>
            <a:r>
              <a:rPr lang="en-US" dirty="0" err="1"/>
              <a:t>φ</a:t>
            </a:r>
            <a:r>
              <a:rPr lang="en-US" dirty="0"/>
              <a:t> dependence in the fit/CDF</a:t>
            </a:r>
          </a:p>
          <a:p>
            <a:pPr lvl="3"/>
            <a:r>
              <a:rPr lang="en-US" dirty="0"/>
              <a:t>Check the same things for </a:t>
            </a:r>
            <a:r>
              <a:rPr lang="en-US" dirty="0" err="1"/>
              <a:t>pions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Get the multiplicity ratio for π</a:t>
            </a:r>
            <a:r>
              <a:rPr lang="en-US" baseline="30000" dirty="0"/>
              <a:t>0 </a:t>
            </a:r>
            <a:r>
              <a:rPr lang="en-US" dirty="0"/>
              <a:t>after the event mixing subtraction</a:t>
            </a:r>
          </a:p>
          <a:p>
            <a:pPr lvl="1"/>
            <a:r>
              <a:rPr lang="en-US" dirty="0"/>
              <a:t>Continue the work on </a:t>
            </a:r>
            <a:r>
              <a:rPr lang="en-US" dirty="0" err="1"/>
              <a:t>pT</a:t>
            </a:r>
            <a:r>
              <a:rPr lang="en-US" dirty="0"/>
              <a:t> broadening and cos and sin </a:t>
            </a:r>
            <a:r>
              <a:rPr lang="en-US" dirty="0" err="1"/>
              <a:t>phi_h</a:t>
            </a:r>
            <a:r>
              <a:rPr lang="en-US" dirty="0"/>
              <a:t> extraction</a:t>
            </a:r>
          </a:p>
          <a:p>
            <a:pPr lvl="1"/>
            <a:r>
              <a:rPr lang="en-US" dirty="0"/>
              <a:t>Work on the binning</a:t>
            </a:r>
          </a:p>
          <a:p>
            <a:pPr lvl="1"/>
            <a:r>
              <a:rPr lang="en-US" dirty="0"/>
              <a:t>Radiative and acceptance correction</a:t>
            </a:r>
          </a:p>
          <a:p>
            <a:pPr lvl="1"/>
            <a:r>
              <a:rPr lang="en-US" dirty="0"/>
              <a:t>Background for ρ</a:t>
            </a:r>
            <a:r>
              <a:rPr lang="en-US" baseline="30000" dirty="0"/>
              <a:t>0</a:t>
            </a:r>
            <a:r>
              <a:rPr lang="en-US" dirty="0"/>
              <a:t> with simulation for CT analysis</a:t>
            </a:r>
          </a:p>
          <a:p>
            <a:pPr lvl="1"/>
            <a:endParaRPr lang="en-US" dirty="0"/>
          </a:p>
          <a:p>
            <a:r>
              <a:rPr lang="en-US" dirty="0"/>
              <a:t>ALERT:</a:t>
            </a:r>
          </a:p>
          <a:p>
            <a:pPr lvl="1"/>
            <a:r>
              <a:rPr lang="en-US" dirty="0"/>
              <a:t>Continue the work on Graph Neural Network: optimization and implementation in </a:t>
            </a:r>
            <a:r>
              <a:rPr lang="en-US" dirty="0" err="1"/>
              <a:t>coatjava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120B9-0D55-C183-E2CD-1FE69337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EEDA0-BAB5-9130-2D7E-F16A3E74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4FCEA-620F-8086-B86F-5A1E2FD7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77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5496074-1DCC-FD49-93DA-4F2CC4561AA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b46c37d-841d-4d0b-b2b7-fe02fdbc604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C88D9CA-47B6-6A4B-8F47-1A768226DC03}">
  <we:reference id="wa200007297" version="1.5.0.0" store="en-US" storeType="OMEX"/>
  <we:alternateReferences>
    <we:reference id="WA200007297" version="1.5.0.0" store="WA2000072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15449</TotalTime>
  <Words>1124</Words>
  <Application>Microsoft Macintosh PowerPoint</Application>
  <PresentationFormat>Widescreen</PresentationFormat>
  <Paragraphs>126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Cambria Math</vt:lpstr>
      <vt:lpstr>Fira Sans Book</vt:lpstr>
      <vt:lpstr>Fira Sans Light</vt:lpstr>
      <vt:lpstr>FiraCode Nerd Font Light</vt:lpstr>
      <vt:lpstr>Sofia Sans</vt:lpstr>
      <vt:lpstr>Sofia Sans Light</vt:lpstr>
      <vt:lpstr>Office Theme</vt:lpstr>
      <vt:lpstr>Group meeting</vt:lpstr>
      <vt:lpstr>RG-D: cooking</vt:lpstr>
      <vt:lpstr>RG-D: CuSn Contamination / Vz correction</vt:lpstr>
      <vt:lpstr>RG-D: CuSn Contamination / Vz correction</vt:lpstr>
      <vt:lpstr>RG-D: CuSn Contamination / Vz correction</vt:lpstr>
      <vt:lpstr>RG-D: CuSn Contamination / Vz correction</vt:lpstr>
      <vt:lpstr>RG-D: CuSn Contamination / Vz correction</vt:lpstr>
      <vt:lpstr>RG-D: CuSn Contamination / Vz correction</vt:lpstr>
      <vt:lpstr>RG-D: CuSn Contamination / Vz correction</vt:lpstr>
      <vt:lpstr>RG-D: CuSn Contamination / Vz correction</vt:lpstr>
      <vt:lpstr>RG-D: CuSn Contamination / Vz correction</vt:lpstr>
      <vt:lpstr>RG-D: CuSn Contamination / Vz correction</vt:lpstr>
      <vt:lpstr>RG-D: CuSn Contamination / Vz correction</vt:lpstr>
      <vt:lpstr>RG-D: CuSn Contamination / Vz correction</vt:lpstr>
      <vt:lpstr>Other stuff this week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458</cp:revision>
  <dcterms:created xsi:type="dcterms:W3CDTF">2019-12-03T01:04:10Z</dcterms:created>
  <dcterms:modified xsi:type="dcterms:W3CDTF">2026-04-14T19:23:13Z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