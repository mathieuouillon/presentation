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6" autoAdjust="0"/>
    <p:restoredTop sz="94637" autoAdjust="0"/>
  </p:normalViewPr>
  <p:slideViewPr>
    <p:cSldViewPr snapToGrid="0" snapToObjects="1">
      <p:cViewPr varScale="1">
        <p:scale>
          <a:sx n="159" d="100"/>
          <a:sy n="159" d="100"/>
        </p:scale>
        <p:origin x="216" y="3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13-07-26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13-07-26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04/27/26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ALERT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7444740" cy="2234317"/>
          </a:xfrm>
        </p:spPr>
        <p:txBody>
          <a:bodyPr>
            <a:normAutofit fontScale="90000"/>
          </a:bodyPr>
          <a:lstStyle/>
          <a:p>
            <a:pPr lvl="0"/>
            <a:r>
              <a:rPr lang="en-US" sz="7200" cap="small" dirty="0"/>
              <a:t>T0 and Beam Spot</a:t>
            </a:r>
            <a:br>
              <a:rPr lang="en-US" sz="7200" cap="small" dirty="0"/>
            </a:br>
            <a:r>
              <a:rPr lang="en-US" sz="7200" cap="small" dirty="0"/>
              <a:t>Calibration 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07/13/26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C324-E4ED-AF57-386C-51EEB9E6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030D-4486-E06D-C1C7-3D2748EB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056269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First on elastic D2 run: 22990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A8C6-9F4A-1AF4-F884-2FA51D26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5998-064A-03DC-4AE7-1F28BC29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0D569-5FC8-56FC-01B5-DE953F0B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471AD-70A6-5EFA-A0F9-46A4DD9F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251" y="572346"/>
            <a:ext cx="6915767" cy="525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6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79BF-60DD-C628-81A2-2EA57B82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A051-77F7-41EA-323C-554FACFB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09BDA-9841-8033-F2A7-64C077A37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056269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First on elastic D2 run: 22990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B9FF2-4EF6-F8A0-CF54-1972880B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B080-D9AC-9981-3FD3-3D6547D2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105D-A9D2-09CF-655A-703D4572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916DB-A9F6-10DE-0CCB-E54F4C5A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316" y="158694"/>
            <a:ext cx="7045422" cy="618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2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BD9C-0555-7543-ABCD-A0C19EF2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7F6B-D3D2-CDBF-8524-3427A02E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D74E-B1EE-0269-2832-E16C44421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056269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Then on </a:t>
            </a:r>
            <a:r>
              <a:rPr lang="en-US" baseline="30000" dirty="0"/>
              <a:t>4</a:t>
            </a:r>
            <a:r>
              <a:rPr lang="en-US" dirty="0"/>
              <a:t>He 10.6 GeV run (22083)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C1D3-BD3A-B5A1-7939-80716353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E182-35D5-9F10-00D6-1D600049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33A8-5B7A-4C12-2B18-C58427CC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AA67C-F251-ED4B-69EE-09B3CA45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1" y="99059"/>
            <a:ext cx="6941620" cy="617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1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8C2D-3D1E-F879-6C5B-68CBA3DF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86B1-14B9-632A-0C91-2A79D9D2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4CCD-E577-D740-B703-3199144C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3" y="1032481"/>
            <a:ext cx="4728718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Then on D2 10.6 GeV run (22598)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8B7B-F704-A95F-9FB9-BA2C3147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869D-817A-A711-96BF-C47A344A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ADEF5-A712-14A8-7A31-E498A1D6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A750B-6B47-C013-332D-75691AC4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328" y="114300"/>
            <a:ext cx="7077152" cy="616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4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369F-AF76-17B2-7379-3A14B5FC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42CC-2488-7200-B91F-70248893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D44B-9412-937A-D84B-B29324199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To find T0:</a:t>
            </a:r>
          </a:p>
          <a:p>
            <a:r>
              <a:rPr lang="en-US" dirty="0"/>
              <a:t>Find the peak (5-bin method):</a:t>
            </a:r>
          </a:p>
          <a:p>
            <a:pPr lvl="1"/>
            <a:r>
              <a:rPr lang="en-US" dirty="0"/>
              <a:t>Smooth the spectrum with a 5-bin moving sum (each bin replaced by the sum of itself ±2 </a:t>
            </a:r>
            <a:r>
              <a:rPr lang="en-US" dirty="0" err="1"/>
              <a:t>neighbours</a:t>
            </a:r>
            <a:r>
              <a:rPr lang="en-US" dirty="0"/>
              <a:t>) to suppress bin-to-bin noise.</a:t>
            </a:r>
          </a:p>
          <a:p>
            <a:pPr lvl="1"/>
            <a:r>
              <a:rPr lang="en-US" dirty="0"/>
              <a:t>Take the max bin of the smoothed spectrum as the coarse peak.</a:t>
            </a:r>
          </a:p>
          <a:p>
            <a:r>
              <a:rPr lang="en-US" dirty="0"/>
              <a:t>Define t0: t0 = peak − 100 ns. </a:t>
            </a:r>
          </a:p>
          <a:p>
            <a:r>
              <a:rPr lang="en-US" dirty="0"/>
              <a:t>Fill every wire (all 576 from geometry):</a:t>
            </a:r>
          </a:p>
          <a:p>
            <a:pPr lvl="1"/>
            <a:r>
              <a:rPr lang="en-US" dirty="0"/>
              <a:t>a wire with a good peak → its measured peak − 100.</a:t>
            </a:r>
          </a:p>
          <a:p>
            <a:pPr lvl="1"/>
            <a:r>
              <a:rPr lang="en-US" dirty="0"/>
              <a:t>a wire with too few counts / no usable peak → the per-(</a:t>
            </a:r>
            <a:r>
              <a:rPr lang="en-US" dirty="0" err="1"/>
              <a:t>SL,layer</a:t>
            </a:r>
            <a:r>
              <a:rPr lang="en-US" dirty="0"/>
              <a:t>) median t0 as a fallback (no wire left blank).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A915A-FF95-23D8-08B3-1698D98F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5FBF8-85A9-D645-A824-0E4AE060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FF875-5BC7-09FC-1A1C-EA795486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E375-5A10-4EC6-E1C9-0860EDEC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0CD2-F0DD-3468-C61C-E445D193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956A-5FD8-3172-EC3A-218CE828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All T0s for 1 run (22083):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F092-1B03-4621-3A61-F9E29B47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0E69F-E6BC-F38A-384F-F4C277F8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10DD-898C-5402-275C-110E81E9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CA7026-8B8F-F814-E13A-40D7483C3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52574"/>
            <a:ext cx="12143337" cy="38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0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AA68-7495-22A5-4E65-5B2EFD9B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1E4-7175-30DC-B50F-1C6368F4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C350-9D9B-5228-15DE-B1239D4A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Compare T0s for different runs: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6FD7-6A83-584F-08A3-EA90F961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88994-898B-D447-E17C-0BB71C29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4506-21A0-7BEB-FEE2-E28E4C0B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1B8AB-7562-F702-8ACF-4545E736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503"/>
            <a:ext cx="12139598" cy="419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99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1557-FCDF-343F-0845-1BC1CA39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88128-73BE-5877-E4B4-B7131C82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23E33-43C3-837B-0B84-34B836FA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Compare T0s for different runs: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4753-B863-01BD-8A65-4BD070BE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91EF8-86B0-C7F3-E367-0C22703D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FA08D-F11B-E0EC-1C88-4A72B230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53DD1-1628-6512-4A8F-FF641FC03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1" y="1472767"/>
            <a:ext cx="11980451" cy="412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0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E5DB-D777-EB1B-1B9B-284CCB3A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0C77-8490-5F1D-B766-D12575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03043-E2CB-32E1-F23A-2928CD09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Compare T0s for different runs: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434F2-60BF-A885-A6FE-4A45F0FA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222F2-727F-BDC5-E928-9507A42B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05461-03B9-C9C9-805A-C54F3A25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054F48-EE06-351D-9927-40C740DF2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91" y="1474576"/>
            <a:ext cx="7772400" cy="46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9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6A2D9-77BC-8BA9-F4EE-A8DE81A9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A558-AB92-B195-62A8-33858109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290B0-9848-8DC7-09E1-D5D9C00D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981971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On 4He 10.6 GeV run (22083)</a:t>
            </a:r>
          </a:p>
          <a:p>
            <a:r>
              <a:rPr lang="en-US" dirty="0"/>
              <a:t>For all hits coming from random trigger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F5FE-62FB-86E9-BE7A-96A73F94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B4BD3-8141-8DAB-1D51-E7601B6B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C8059-5769-A343-7058-0058F621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7F539D-CF10-7F55-161B-8AE44250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953" y="53763"/>
            <a:ext cx="6990065" cy="623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5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F3DD-0CA4-5FFC-E807-0305D9CC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EEFE-A0A7-638A-1209-2B197003B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the transverse (𝑥, 𝑦) offset between the ALERT recoil detector and the forward- CLAS / beamline frame using coherent elastic 𝑒 + 𝑑 → 𝑒′ + 𝑑′ events. </a:t>
            </a:r>
          </a:p>
          <a:p>
            <a:r>
              <a:rPr lang="en-US" dirty="0"/>
              <a:t>The electron is reconstructed in forward CLAS (defining the CLAS frame); the recoil deuteron is seen in ALERT/AHDC.</a:t>
            </a:r>
          </a:p>
          <a:p>
            <a:r>
              <a:rPr lang="en-US" dirty="0"/>
              <a:t>For elastic kinematics the two are coplanar, so a transverse misalignment appears as a sinusoidal modulation of the azimuthal coplanarity </a:t>
            </a:r>
            <a:r>
              <a:rPr lang="el-GR" dirty="0"/>
              <a:t>Δ𝜑 </a:t>
            </a:r>
            <a:r>
              <a:rPr lang="en-US" dirty="0"/>
              <a:t>versus the electron azimuth 𝜑𝑒.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First test it on simulation: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6B60-4EF2-3936-4BD0-08F65A8A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9E67A-519B-6695-0838-18C2EA30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23E9-B770-F507-F60B-DBEE9AB6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2D65B-A5A6-D55F-218C-1B386E17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972017"/>
            <a:ext cx="7772400" cy="666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D174B-3BB5-54FF-56C4-AE42F0B6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7"/>
          <a:stretch>
            <a:fillRect/>
          </a:stretch>
        </p:blipFill>
        <p:spPr>
          <a:xfrm>
            <a:off x="7696200" y="4736477"/>
            <a:ext cx="365252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8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A9BB-979F-5B4A-E22F-FE9DF671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F72D-09B8-F829-D2B0-0ECD4198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CAE7-252B-3BFC-E746-1DBC1096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test it on simulation: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36C6-8CB9-7F1E-2097-C5AF939A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2EE88-814F-A148-BADD-4B1C504F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04F7-7ECE-0F7C-B015-CFC122BD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BA3AD5-864B-8F06-5019-C01C58EC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1448577"/>
            <a:ext cx="8676640" cy="484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589E-40D7-EAC8-6196-C1BB82C2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2F2E-E1B3-8FD8-8E61-77985547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72BC-276C-17EF-A1F5-2B0E59BFD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on data found (−0.75, +0.26). It is the difference between CLAS and ALERT </a:t>
            </a:r>
            <a:r>
              <a:rPr lang="en-US" dirty="0" err="1"/>
              <a:t>beamspot</a:t>
            </a:r>
            <a:r>
              <a:rPr lang="en-US" dirty="0"/>
              <a:t> NOT the absolute </a:t>
            </a:r>
            <a:r>
              <a:rPr lang="en-US" dirty="0" err="1"/>
              <a:t>beamspot</a:t>
            </a:r>
            <a:r>
              <a:rPr lang="en-US" dirty="0"/>
              <a:t> position of ALERT</a:t>
            </a:r>
          </a:p>
          <a:p>
            <a:r>
              <a:rPr lang="en-US" dirty="0"/>
              <a:t>For the run 22990, CLAS absolute position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the absolute ALERT </a:t>
            </a:r>
            <a:r>
              <a:rPr lang="en-US" dirty="0" err="1"/>
              <a:t>beamspot</a:t>
            </a:r>
            <a:r>
              <a:rPr lang="en-US" dirty="0"/>
              <a:t> position 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3DF54-AAA5-D3D8-5A57-47343B05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E4D0E-63C3-A176-BC6D-F0D29C4A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2C7E-FE16-F0F4-5C69-6E34470F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18C16-D04B-93CE-838D-A42152B3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373630"/>
            <a:ext cx="6477000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43F545-E9BD-C72A-83E8-965D26464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39" y="4103024"/>
            <a:ext cx="9041527" cy="60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16511</TotalTime>
  <Words>536</Words>
  <Application>Microsoft Macintosh PowerPoint</Application>
  <PresentationFormat>Widescreen</PresentationFormat>
  <Paragraphs>108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Fira Sans</vt:lpstr>
      <vt:lpstr>Fira Sans Light</vt:lpstr>
      <vt:lpstr>Office Theme</vt:lpstr>
      <vt:lpstr>T0 and Beam Spot Calibration </vt:lpstr>
      <vt:lpstr>T0 Calibration</vt:lpstr>
      <vt:lpstr>T0 Calibration</vt:lpstr>
      <vt:lpstr>T0 Calibration</vt:lpstr>
      <vt:lpstr>T0 Calibration</vt:lpstr>
      <vt:lpstr>T0 Calibration</vt:lpstr>
      <vt:lpstr>T0 Calibration</vt:lpstr>
      <vt:lpstr>T0 Calibration</vt:lpstr>
      <vt:lpstr>T0 Calibration</vt:lpstr>
      <vt:lpstr>T0 Calibration</vt:lpstr>
      <vt:lpstr>T0 Calibration</vt:lpstr>
      <vt:lpstr>ALERT Beamspot position</vt:lpstr>
      <vt:lpstr>ALERT Beamspot position</vt:lpstr>
      <vt:lpstr>ALERT Beamspot position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554</cp:revision>
  <dcterms:created xsi:type="dcterms:W3CDTF">2019-12-03T01:04:10Z</dcterms:created>
  <dcterms:modified xsi:type="dcterms:W3CDTF">2026-07-13T17:05:45Z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