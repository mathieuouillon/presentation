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Nunito Medium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Medium-regular.fntdata"/><Relationship Id="rId22" Type="http://schemas.openxmlformats.org/officeDocument/2006/relationships/font" Target="fonts/NunitoMedium-italic.fntdata"/><Relationship Id="rId21" Type="http://schemas.openxmlformats.org/officeDocument/2006/relationships/font" Target="fonts/NunitoMedium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Nunit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824efc00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824efc00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824efc00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824efc00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00ab3e65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00ab3e65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824efc00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824efc00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824efc00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824efc00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00ab3e65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00ab3e65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00ab3e65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00ab3e65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00ab3e65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00ab3e6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00ab3e65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00ab3e65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CalCom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(25 April,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●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○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 Medium"/>
              <a:buChar char="■"/>
              <a:defRPr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JeffersonLab/coatjava/blob/development/bin/trigger-filte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lab.in2p3.fr/dupre/sidis_mc/" TargetMode="External"/><Relationship Id="rId4" Type="http://schemas.openxmlformats.org/officeDocument/2006/relationships/hyperlink" Target="https://github.com/JeffersonLab/coatjava/blob/development/bin/bg-merger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lab.in2p3.fr/dupre/sidis_mc/" TargetMode="External"/><Relationship Id="rId4" Type="http://schemas.openxmlformats.org/officeDocument/2006/relationships/hyperlink" Target="https://github.com/JeffersonLab/coatjava/blob/development/bin/bg-merg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0" y="156575"/>
            <a:ext cx="8520600" cy="16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00">
                <a:solidFill>
                  <a:srgbClr val="434343"/>
                </a:solidFill>
              </a:rPr>
              <a:t>RG-D Background Merging and Efficiency Studies</a:t>
            </a:r>
            <a:endParaRPr sz="4000">
              <a:solidFill>
                <a:srgbClr val="434343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166750" y="2843275"/>
            <a:ext cx="4132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CalColm Meeting </a:t>
            </a:r>
            <a:endParaRPr sz="2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25 April</a:t>
            </a:r>
            <a:r>
              <a:rPr lang="fr" sz="2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2025</a:t>
            </a:r>
            <a:endParaRPr sz="2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Background Merging</a:t>
            </a:r>
            <a:r>
              <a:rPr lang="fr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250" y="647400"/>
            <a:ext cx="9144000" cy="4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Goal: Study DC efficiency vs. current for simulation and data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using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AI-assisted and conventional tracking (CV)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RG-D has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three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target configurations: LD2, CxC and CuSn               ⇒ Focus on LD2 first then CuSn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Nunito"/>
              <a:buChar char="●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First step: extract background events using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two current settings: 50 and 60 nA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fr" sz="18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trigger-filter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to extract background events based on the trigger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bitmask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0x0000008000000000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20 random files for each current, which yields 5k background events per file and thus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100k background events </a:t>
            </a:r>
            <a:r>
              <a:rPr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per current</a:t>
            </a:r>
            <a:endParaRPr sz="2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34343"/>
                </a:solidFill>
              </a:rPr>
              <a:t>Simulation vs.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0" y="647400"/>
            <a:ext cx="92181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Generated</a:t>
            </a:r>
            <a:r>
              <a:rPr lang="fr" sz="2200"/>
              <a:t> SIDIS events with a modified Phythia-based </a:t>
            </a:r>
            <a:r>
              <a:rPr lang="fr" sz="2200" u="sng">
                <a:solidFill>
                  <a:schemeClr val="hlink"/>
                </a:solidFill>
                <a:hlinkClick r:id="rId3"/>
              </a:rPr>
              <a:t>event generator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fr" sz="2200"/>
              <a:t>Used 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GEMC 5.11 with inbending configuration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COATJAVA: 12.0.4t for real data and simulation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AI-assisted reconstruction with the newly trained network of one </a:t>
            </a:r>
            <a:r>
              <a:rPr lang="fr" sz="2200"/>
              <a:t>LD2 outbending run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Merged </a:t>
            </a:r>
            <a:r>
              <a:rPr lang="fr" sz="2200"/>
              <a:t>background and simulation events with </a:t>
            </a:r>
            <a:r>
              <a:rPr lang="fr" sz="2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bg-merger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Reconstruction d</a:t>
            </a:r>
            <a:r>
              <a:rPr lang="fr" sz="2200"/>
              <a:t>one with and without denoising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fr" sz="2200"/>
              <a:t>Comparison performed for LD2</a:t>
            </a:r>
            <a:r>
              <a:rPr lang="fr" sz="2200"/>
              <a:t> l</a:t>
            </a:r>
            <a:r>
              <a:rPr lang="fr" sz="2200"/>
              <a:t>uminosity scan runs taken with beam currents of 5, 20, 35, 50, 75 &amp; 100 nA</a:t>
            </a:r>
            <a:endParaRPr sz="2200"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00" y="647400"/>
            <a:ext cx="8041928" cy="4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fficiency Results for Simulation and Data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19" y="647400"/>
            <a:ext cx="8041933" cy="4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endParaRPr sz="30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14700" y="3162850"/>
            <a:ext cx="92034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Smaller difference between MC and Data 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i="1" lang="fr" sz="2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approx. 18/4% for positive/ negative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) compared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 to the former study with fall 2023 AI-network 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Next step: repeat the same study for solid-foil configuration, CuSn</a:t>
            </a:r>
            <a:endParaRPr sz="29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437100" y="1501688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37100" y="2370363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100" y="1160453"/>
            <a:ext cx="6531550" cy="9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100" y="2140800"/>
            <a:ext cx="6660314" cy="9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/>
          <p:nvPr/>
        </p:nvSpPr>
        <p:spPr>
          <a:xfrm>
            <a:off x="7921950" y="12585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7921950" y="2140800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14700" y="647400"/>
            <a:ext cx="91146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unito"/>
              <a:buChar char="-"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OB LD2 AI-network with denoising:</a:t>
            </a:r>
            <a:endParaRPr>
              <a:solidFill>
                <a:srgbClr val="404040"/>
              </a:solidFill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7783525" y="1078925"/>
            <a:ext cx="792900" cy="27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600" u="sng">
                <a:solidFill>
                  <a:srgbClr val="434343"/>
                </a:solidFill>
                <a:latin typeface="Nunito Medium"/>
                <a:ea typeface="Nunito Medium"/>
                <a:cs typeface="Nunito Medium"/>
                <a:sym typeface="Nunito Medium"/>
              </a:rPr>
              <a:t>Backup</a:t>
            </a:r>
            <a:endParaRPr sz="4600" u="sng">
              <a:solidFill>
                <a:srgbClr val="434343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434343"/>
                </a:solidFill>
              </a:rPr>
              <a:t>Simulation vs. Data</a:t>
            </a:r>
            <a:r>
              <a:rPr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Study done April 4</a:t>
            </a:r>
            <a:r>
              <a:rPr baseline="30000" lang="fr" sz="30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endParaRPr sz="3000">
              <a:solidFill>
                <a:srgbClr val="434343"/>
              </a:solidFill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0" y="647400"/>
            <a:ext cx="90876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Simulate SIDIS events with this Pythia-based </a:t>
            </a:r>
            <a:r>
              <a:rPr lang="fr" sz="2200" u="sng">
                <a:solidFill>
                  <a:schemeClr val="hlink"/>
                </a:solidFill>
                <a:hlinkClick r:id="rId3"/>
              </a:rPr>
              <a:t>event generator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GEMC 5.11: Inbending configuration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COATJAVA: 11.1.0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AI-assisted reconstruction using the trained network by the end of data taking back in December 2023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Merge background and simulation events with </a:t>
            </a:r>
            <a:r>
              <a:rPr lang="fr" sz="20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bg-merger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Use Luminosity scan runs with current: 5, 20, 35, 50, 75 &amp; 100 nA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fr" sz="2200"/>
              <a:t>Cooked data with COATJAVA 11.1.0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Study done on April 4</a:t>
            </a:r>
            <a:r>
              <a:rPr baseline="30000"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9115576" cy="40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Efficiency Results for Simulation and Data</a:t>
            </a:r>
            <a:r>
              <a:rPr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: Study done on April 4</a:t>
            </a:r>
            <a:r>
              <a:rPr baseline="30000" lang="fr" sz="2200">
                <a:solidFill>
                  <a:srgbClr val="404040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endParaRPr sz="2200">
              <a:solidFill>
                <a:srgbClr val="4040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14700" y="2974000"/>
            <a:ext cx="91146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Difference between simulation and data: ~30%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Slope of the simulation is lower than the data, as expected!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Difference could be due to the old trained network online before the offline alignment and calibrations!? 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-"/>
            </a:pPr>
            <a:r>
              <a:rPr lang="fr" sz="2200">
                <a:latin typeface="Nunito"/>
                <a:ea typeface="Nunito"/>
                <a:cs typeface="Nunito"/>
                <a:sym typeface="Nunito"/>
              </a:rPr>
              <a:t>Next step: redo it with the new AI network &amp; try other nuclear target, carbon</a:t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562475" y="887750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Positive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782050" y="887750"/>
            <a:ext cx="1707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Negative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49" y="1192850"/>
            <a:ext cx="2015275" cy="181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3050" y="1192850"/>
            <a:ext cx="1975300" cy="177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